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f5bdb7ac6a4256" /><Relationship Type="http://schemas.openxmlformats.org/officeDocument/2006/relationships/extended-properties" Target="/docProps/app.xml" Id="R7d18d8d3b9164cc2" /><Relationship Type="http://schemas.openxmlformats.org/officeDocument/2006/relationships/officeDocument" Target="/ppt/presentation.xml" Id="Re2e974ce9b1347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c595ec2d6f4cd5"/>
  </p:sldMasterIdLst>
  <p:notesMasterIdLst>
    <p:notesMasterId xmlns:r="http://schemas.openxmlformats.org/officeDocument/2006/relationships" r:id="Ra2907d22a137453e"/>
  </p:notesMasterIdLst>
  <p:sldIdLst>
    <p:sldId xmlns:r="http://schemas.openxmlformats.org/officeDocument/2006/relationships" id="256" r:id="R9c1eea088ee04e99"/>
    <p:sldId xmlns:r="http://schemas.openxmlformats.org/officeDocument/2006/relationships" id="257" r:id="Rbad0c288c6bf48b1"/>
    <p:sldId xmlns:r="http://schemas.openxmlformats.org/officeDocument/2006/relationships" id="258" r:id="R81e509136e2349f1"/>
    <p:sldId xmlns:r="http://schemas.openxmlformats.org/officeDocument/2006/relationships" id="259" r:id="R3e73b4471fd04eeb"/>
    <p:sldId xmlns:r="http://schemas.openxmlformats.org/officeDocument/2006/relationships" id="260" r:id="Re596d9e1ccb74539"/>
    <p:sldId xmlns:r="http://schemas.openxmlformats.org/officeDocument/2006/relationships" id="261" r:id="R0ca965bbaf414cd6"/>
    <p:sldId xmlns:r="http://schemas.openxmlformats.org/officeDocument/2006/relationships" id="262" r:id="R42e2c2793d7b40b7"/>
    <p:sldId xmlns:r="http://schemas.openxmlformats.org/officeDocument/2006/relationships" id="263" r:id="Rb8c821594ecf4d4b"/>
    <p:sldId xmlns:r="http://schemas.openxmlformats.org/officeDocument/2006/relationships" id="264" r:id="R606b185512084b9d"/>
    <p:sldId xmlns:r="http://schemas.openxmlformats.org/officeDocument/2006/relationships" id="265" r:id="Ra8eec84424b24137"/>
    <p:sldId xmlns:r="http://schemas.openxmlformats.org/officeDocument/2006/relationships" id="266" r:id="R5fe10ef50f9f4a6f"/>
    <p:sldId xmlns:r="http://schemas.openxmlformats.org/officeDocument/2006/relationships" id="267" r:id="R43df338c733e486d"/>
    <p:sldId xmlns:r="http://schemas.openxmlformats.org/officeDocument/2006/relationships" id="268" r:id="Rbaa3084794aa42c2"/>
    <p:sldId xmlns:r="http://schemas.openxmlformats.org/officeDocument/2006/relationships" id="269" r:id="Redf6676607c34778"/>
    <p:sldId xmlns:r="http://schemas.openxmlformats.org/officeDocument/2006/relationships" id="270" r:id="R3d5db1c3c38044cd"/>
    <p:sldId xmlns:r="http://schemas.openxmlformats.org/officeDocument/2006/relationships" id="271" r:id="R6bdb00c7f3444e7b"/>
    <p:sldId xmlns:r="http://schemas.openxmlformats.org/officeDocument/2006/relationships" id="272" r:id="R6c3e2c7e8032453f"/>
    <p:sldId xmlns:r="http://schemas.openxmlformats.org/officeDocument/2006/relationships" id="273" r:id="Rcac8fa5272c2478d"/>
    <p:sldId xmlns:r="http://schemas.openxmlformats.org/officeDocument/2006/relationships" id="274" r:id="R42e20d048afe4588"/>
    <p:sldId xmlns:r="http://schemas.openxmlformats.org/officeDocument/2006/relationships" id="275" r:id="Rc4e70de0d75c4acb"/>
    <p:sldId xmlns:r="http://schemas.openxmlformats.org/officeDocument/2006/relationships" id="276" r:id="R1681c924171a44f0"/>
    <p:sldId xmlns:r="http://schemas.openxmlformats.org/officeDocument/2006/relationships" id="277" r:id="R12240d5ef693427d"/>
    <p:sldId xmlns:r="http://schemas.openxmlformats.org/officeDocument/2006/relationships" id="278" r:id="Rf1775dc249eb4e7b"/>
    <p:sldId xmlns:r="http://schemas.openxmlformats.org/officeDocument/2006/relationships" id="279" r:id="R2c4841865ce24b50"/>
    <p:sldId xmlns:r="http://schemas.openxmlformats.org/officeDocument/2006/relationships" id="280" r:id="Ra369b9e1d72e4944"/>
    <p:sldId xmlns:r="http://schemas.openxmlformats.org/officeDocument/2006/relationships" id="281" r:id="Re788b3053d0b4911"/>
    <p:sldId xmlns:r="http://schemas.openxmlformats.org/officeDocument/2006/relationships" id="282" r:id="Raa382fbfa7184a9f"/>
    <p:sldId xmlns:r="http://schemas.openxmlformats.org/officeDocument/2006/relationships" id="283" r:id="Reb4b10075c654cc5"/>
    <p:sldId xmlns:r="http://schemas.openxmlformats.org/officeDocument/2006/relationships" id="284" r:id="R7d0cdeda931b4cf9"/>
    <p:sldId xmlns:r="http://schemas.openxmlformats.org/officeDocument/2006/relationships" id="285" r:id="Rdbc5f1c5ccaa41fd"/>
    <p:sldId xmlns:r="http://schemas.openxmlformats.org/officeDocument/2006/relationships" id="286" r:id="R5cc9ae109b964512"/>
    <p:sldId xmlns:r="http://schemas.openxmlformats.org/officeDocument/2006/relationships" id="287" r:id="Rd3a8cb5b8b2e4112"/>
    <p:sldId xmlns:r="http://schemas.openxmlformats.org/officeDocument/2006/relationships" id="288" r:id="Rd35fe104e7b64374"/>
    <p:sldId xmlns:r="http://schemas.openxmlformats.org/officeDocument/2006/relationships" id="289" r:id="Rd74421549c964ab4"/>
    <p:sldId xmlns:r="http://schemas.openxmlformats.org/officeDocument/2006/relationships" id="290" r:id="R7f9e4200e1af40a4"/>
    <p:sldId xmlns:r="http://schemas.openxmlformats.org/officeDocument/2006/relationships" id="291" r:id="R7f2b429563a64323"/>
    <p:sldId xmlns:r="http://schemas.openxmlformats.org/officeDocument/2006/relationships" id="292" r:id="R4ac5340e41ee4071"/>
    <p:sldId xmlns:r="http://schemas.openxmlformats.org/officeDocument/2006/relationships" id="293" r:id="Rea0a081062a145a1"/>
    <p:sldId xmlns:r="http://schemas.openxmlformats.org/officeDocument/2006/relationships" id="294" r:id="Rcd8b478234df4991"/>
    <p:sldId xmlns:r="http://schemas.openxmlformats.org/officeDocument/2006/relationships" id="295" r:id="Rce7c98db22214972"/>
    <p:sldId xmlns:r="http://schemas.openxmlformats.org/officeDocument/2006/relationships" id="296" r:id="Rf58b5f5823e246af"/>
    <p:sldId xmlns:r="http://schemas.openxmlformats.org/officeDocument/2006/relationships" id="297" r:id="R33f11df9c9654bb5"/>
    <p:sldId xmlns:r="http://schemas.openxmlformats.org/officeDocument/2006/relationships" id="298" r:id="Rda432441412048e5"/>
    <p:sldId xmlns:r="http://schemas.openxmlformats.org/officeDocument/2006/relationships" id="299" r:id="R34ece9fa1866472c"/>
    <p:sldId xmlns:r="http://schemas.openxmlformats.org/officeDocument/2006/relationships" id="300" r:id="R1fb955282d4b4fb4"/>
    <p:sldId xmlns:r="http://schemas.openxmlformats.org/officeDocument/2006/relationships" id="301" r:id="R446f3aec38c04b01"/>
    <p:sldId xmlns:r="http://schemas.openxmlformats.org/officeDocument/2006/relationships" id="302" r:id="R3271f1e5e1f84bd5"/>
    <p:sldId xmlns:r="http://schemas.openxmlformats.org/officeDocument/2006/relationships" id="303" r:id="R6ecfc3fbdec64f13"/>
    <p:sldId xmlns:r="http://schemas.openxmlformats.org/officeDocument/2006/relationships" id="304" r:id="Re90b2978fcc34559"/>
    <p:sldId xmlns:r="http://schemas.openxmlformats.org/officeDocument/2006/relationships" id="305" r:id="R82c720be66f04c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dc276f28fc4579" /><Relationship Type="http://schemas.openxmlformats.org/officeDocument/2006/relationships/slideMaster" Target="/ppt/slideMasters/slideMaster1.xml" Id="R6fc595ec2d6f4cd5" /><Relationship Type="http://schemas.openxmlformats.org/officeDocument/2006/relationships/notesMaster" Target="/ppt/notesMasters/notesMaster1.xml" Id="Ra2907d22a137453e" /><Relationship Type="http://schemas.openxmlformats.org/officeDocument/2006/relationships/presProps" Target="/ppt/presProps.xml" Id="Refa239bc17c949fe" /><Relationship Type="http://schemas.openxmlformats.org/officeDocument/2006/relationships/tableStyles" Target="/ppt/tableStyles.xml" Id="R0486bbc8744e4f79" /><Relationship Type="http://schemas.openxmlformats.org/officeDocument/2006/relationships/slide" Target="/ppt/slides/slide1.xml" Id="R9c1eea088ee04e99" /><Relationship Type="http://schemas.openxmlformats.org/officeDocument/2006/relationships/slide" Target="/ppt/slides/slide2.xml" Id="Rbad0c288c6bf48b1" /><Relationship Type="http://schemas.openxmlformats.org/officeDocument/2006/relationships/slide" Target="/ppt/slides/slide3.xml" Id="R81e509136e2349f1" /><Relationship Type="http://schemas.openxmlformats.org/officeDocument/2006/relationships/slide" Target="/ppt/slides/slide4.xml" Id="R3e73b4471fd04eeb" /><Relationship Type="http://schemas.openxmlformats.org/officeDocument/2006/relationships/slide" Target="/ppt/slides/slide5.xml" Id="Re596d9e1ccb74539" /><Relationship Type="http://schemas.openxmlformats.org/officeDocument/2006/relationships/slide" Target="/ppt/slides/slide6.xml" Id="R0ca965bbaf414cd6" /><Relationship Type="http://schemas.openxmlformats.org/officeDocument/2006/relationships/slide" Target="/ppt/slides/slide7.xml" Id="R42e2c2793d7b40b7" /><Relationship Type="http://schemas.openxmlformats.org/officeDocument/2006/relationships/slide" Target="/ppt/slides/slide8.xml" Id="Rb8c821594ecf4d4b" /><Relationship Type="http://schemas.openxmlformats.org/officeDocument/2006/relationships/slide" Target="/ppt/slides/slide9.xml" Id="R606b185512084b9d" /><Relationship Type="http://schemas.openxmlformats.org/officeDocument/2006/relationships/slide" Target="/ppt/slides/slide10.xml" Id="Ra8eec84424b24137" /><Relationship Type="http://schemas.openxmlformats.org/officeDocument/2006/relationships/slide" Target="/ppt/slides/slide11.xml" Id="R5fe10ef50f9f4a6f" /><Relationship Type="http://schemas.openxmlformats.org/officeDocument/2006/relationships/slide" Target="/ppt/slides/slide12.xml" Id="R43df338c733e486d" /><Relationship Type="http://schemas.openxmlformats.org/officeDocument/2006/relationships/slide" Target="/ppt/slides/slide13.xml" Id="Rbaa3084794aa42c2" /><Relationship Type="http://schemas.openxmlformats.org/officeDocument/2006/relationships/slide" Target="/ppt/slides/slide14.xml" Id="Redf6676607c34778" /><Relationship Type="http://schemas.openxmlformats.org/officeDocument/2006/relationships/slide" Target="/ppt/slides/slide15.xml" Id="R3d5db1c3c38044cd" /><Relationship Type="http://schemas.openxmlformats.org/officeDocument/2006/relationships/slide" Target="/ppt/slides/slide16.xml" Id="R6bdb00c7f3444e7b" /><Relationship Type="http://schemas.openxmlformats.org/officeDocument/2006/relationships/slide" Target="/ppt/slides/slide17.xml" Id="R6c3e2c7e8032453f" /><Relationship Type="http://schemas.openxmlformats.org/officeDocument/2006/relationships/slide" Target="/ppt/slides/slide18.xml" Id="Rcac8fa5272c2478d" /><Relationship Type="http://schemas.openxmlformats.org/officeDocument/2006/relationships/slide" Target="/ppt/slides/slide19.xml" Id="R42e20d048afe4588" /><Relationship Type="http://schemas.openxmlformats.org/officeDocument/2006/relationships/slide" Target="/ppt/slides/slide20.xml" Id="Rc4e70de0d75c4acb" /><Relationship Type="http://schemas.openxmlformats.org/officeDocument/2006/relationships/slide" Target="/ppt/slides/slide21.xml" Id="R1681c924171a44f0" /><Relationship Type="http://schemas.openxmlformats.org/officeDocument/2006/relationships/slide" Target="/ppt/slides/slide22.xml" Id="R12240d5ef693427d" /><Relationship Type="http://schemas.openxmlformats.org/officeDocument/2006/relationships/slide" Target="/ppt/slides/slide23.xml" Id="Rf1775dc249eb4e7b" /><Relationship Type="http://schemas.openxmlformats.org/officeDocument/2006/relationships/slide" Target="/ppt/slides/slide24.xml" Id="R2c4841865ce24b50" /><Relationship Type="http://schemas.openxmlformats.org/officeDocument/2006/relationships/slide" Target="/ppt/slides/slide25.xml" Id="Ra369b9e1d72e4944" /><Relationship Type="http://schemas.openxmlformats.org/officeDocument/2006/relationships/slide" Target="/ppt/slides/slide26.xml" Id="Re788b3053d0b4911" /><Relationship Type="http://schemas.openxmlformats.org/officeDocument/2006/relationships/slide" Target="/ppt/slides/slide27.xml" Id="Raa382fbfa7184a9f" /><Relationship Type="http://schemas.openxmlformats.org/officeDocument/2006/relationships/slide" Target="/ppt/slides/slide28.xml" Id="Reb4b10075c654cc5" /><Relationship Type="http://schemas.openxmlformats.org/officeDocument/2006/relationships/slide" Target="/ppt/slides/slide29.xml" Id="R7d0cdeda931b4cf9" /><Relationship Type="http://schemas.openxmlformats.org/officeDocument/2006/relationships/slide" Target="/ppt/slides/slide30.xml" Id="Rdbc5f1c5ccaa41fd" /><Relationship Type="http://schemas.openxmlformats.org/officeDocument/2006/relationships/slide" Target="/ppt/slides/slide31.xml" Id="R5cc9ae109b964512" /><Relationship Type="http://schemas.openxmlformats.org/officeDocument/2006/relationships/slide" Target="/ppt/slides/slide32.xml" Id="Rd3a8cb5b8b2e4112" /><Relationship Type="http://schemas.openxmlformats.org/officeDocument/2006/relationships/slide" Target="/ppt/slides/slide33.xml" Id="Rd35fe104e7b64374" /><Relationship Type="http://schemas.openxmlformats.org/officeDocument/2006/relationships/slide" Target="/ppt/slides/slide34.xml" Id="Rd74421549c964ab4" /><Relationship Type="http://schemas.openxmlformats.org/officeDocument/2006/relationships/slide" Target="/ppt/slides/slide35.xml" Id="R7f9e4200e1af40a4" /><Relationship Type="http://schemas.openxmlformats.org/officeDocument/2006/relationships/slide" Target="/ppt/slides/slide36.xml" Id="R7f2b429563a64323" /><Relationship Type="http://schemas.openxmlformats.org/officeDocument/2006/relationships/slide" Target="/ppt/slides/slide37.xml" Id="R4ac5340e41ee4071" /><Relationship Type="http://schemas.openxmlformats.org/officeDocument/2006/relationships/slide" Target="/ppt/slides/slide38.xml" Id="Rea0a081062a145a1" /><Relationship Type="http://schemas.openxmlformats.org/officeDocument/2006/relationships/slide" Target="/ppt/slides/slide39.xml" Id="Rcd8b478234df4991" /><Relationship Type="http://schemas.openxmlformats.org/officeDocument/2006/relationships/slide" Target="/ppt/slides/slide40.xml" Id="Rce7c98db22214972" /><Relationship Type="http://schemas.openxmlformats.org/officeDocument/2006/relationships/slide" Target="/ppt/slides/slide41.xml" Id="Rf58b5f5823e246af" /><Relationship Type="http://schemas.openxmlformats.org/officeDocument/2006/relationships/slide" Target="/ppt/slides/slide42.xml" Id="R33f11df9c9654bb5" /><Relationship Type="http://schemas.openxmlformats.org/officeDocument/2006/relationships/slide" Target="/ppt/slides/slide43.xml" Id="Rda432441412048e5" /><Relationship Type="http://schemas.openxmlformats.org/officeDocument/2006/relationships/slide" Target="/ppt/slides/slide44.xml" Id="R34ece9fa1866472c" /><Relationship Type="http://schemas.openxmlformats.org/officeDocument/2006/relationships/slide" Target="/ppt/slides/slide45.xml" Id="R1fb955282d4b4fb4" /><Relationship Type="http://schemas.openxmlformats.org/officeDocument/2006/relationships/slide" Target="/ppt/slides/slide46.xml" Id="R446f3aec38c04b01" /><Relationship Type="http://schemas.openxmlformats.org/officeDocument/2006/relationships/slide" Target="/ppt/slides/slide47.xml" Id="R3271f1e5e1f84bd5" /><Relationship Type="http://schemas.openxmlformats.org/officeDocument/2006/relationships/slide" Target="/ppt/slides/slide48.xml" Id="R6ecfc3fbdec64f13" /><Relationship Type="http://schemas.openxmlformats.org/officeDocument/2006/relationships/slide" Target="/ppt/slides/slide49.xml" Id="Re90b2978fcc34559" /><Relationship Type="http://schemas.openxmlformats.org/officeDocument/2006/relationships/slide" Target="/ppt/slides/slide50.xml" Id="R82c720be66f04c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a8f45165f344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cbcbdaeb28424b" /><Relationship Type="http://schemas.openxmlformats.org/officeDocument/2006/relationships/notesMaster" Target="/ppt/notesMasters/notesMaster1.xml" Id="Re4bfc26cebc54f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a01f43bd7d427a" /><Relationship Type="http://schemas.openxmlformats.org/officeDocument/2006/relationships/notesMaster" Target="/ppt/notesMasters/notesMaster1.xml" Id="Rb0f6848a1bf048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c420ac465f47fe" /><Relationship Type="http://schemas.openxmlformats.org/officeDocument/2006/relationships/notesMaster" Target="/ppt/notesMasters/notesMaster1.xml" Id="R42a9faaf623146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ab89c4fde2437a" /><Relationship Type="http://schemas.openxmlformats.org/officeDocument/2006/relationships/notesMaster" Target="/ppt/notesMasters/notesMaster1.xml" Id="Rc5548f684c2a44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c5f768c5474e03" /><Relationship Type="http://schemas.openxmlformats.org/officeDocument/2006/relationships/notesMaster" Target="/ppt/notesMasters/notesMaster1.xml" Id="Rdedc38b59ba547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a12fc0aa4e4105" /><Relationship Type="http://schemas.openxmlformats.org/officeDocument/2006/relationships/notesMaster" Target="/ppt/notesMasters/notesMaster1.xml" Id="R170a165b0b7340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ba7b2277b241ef" /><Relationship Type="http://schemas.openxmlformats.org/officeDocument/2006/relationships/notesMaster" Target="/ppt/notesMasters/notesMaster1.xml" Id="Rebc61122bbe44b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c2af363f8c4c36" /><Relationship Type="http://schemas.openxmlformats.org/officeDocument/2006/relationships/notesMaster" Target="/ppt/notesMasters/notesMaster1.xml" Id="Rf5e986befdd14d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c7823097014201" /><Relationship Type="http://schemas.openxmlformats.org/officeDocument/2006/relationships/notesMaster" Target="/ppt/notesMasters/notesMaster1.xml" Id="R417bf16ec02a44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a9268f296a44ec" /><Relationship Type="http://schemas.openxmlformats.org/officeDocument/2006/relationships/notesMaster" Target="/ppt/notesMasters/notesMaster1.xml" Id="R4ed12e88b04842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12f757bcd74d58" /><Relationship Type="http://schemas.openxmlformats.org/officeDocument/2006/relationships/notesMaster" Target="/ppt/notesMasters/notesMaster1.xml" Id="R371a21b4deed4f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9aed0bd23e14d1b" /><Relationship Type="http://schemas.openxmlformats.org/officeDocument/2006/relationships/notesMaster" Target="/ppt/notesMasters/notesMaster1.xml" Id="R50dff0d8015b4cb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51da0c813404d84" /><Relationship Type="http://schemas.openxmlformats.org/officeDocument/2006/relationships/notesMaster" Target="/ppt/notesMasters/notesMaster1.xml" Id="Rb0fddbe1f36a422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c511e21860341f8" /><Relationship Type="http://schemas.openxmlformats.org/officeDocument/2006/relationships/notesMaster" Target="/ppt/notesMasters/notesMaster1.xml" Id="Rd4bc6bd0305e488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0146a980a894f4a" /><Relationship Type="http://schemas.openxmlformats.org/officeDocument/2006/relationships/notesMaster" Target="/ppt/notesMasters/notesMaster1.xml" Id="R778a822525c54d0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ff8d6962bb04139" /><Relationship Type="http://schemas.openxmlformats.org/officeDocument/2006/relationships/notesMaster" Target="/ppt/notesMasters/notesMaster1.xml" Id="Rb5524d81e711498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6e5d76298cd410a" /><Relationship Type="http://schemas.openxmlformats.org/officeDocument/2006/relationships/notesMaster" Target="/ppt/notesMasters/notesMaster1.xml" Id="R9439e5d2f49b464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d52f07a883c4850" /><Relationship Type="http://schemas.openxmlformats.org/officeDocument/2006/relationships/notesMaster" Target="/ppt/notesMasters/notesMaster1.xml" Id="Rfac386f4907048d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ab28ce2328346bc" /><Relationship Type="http://schemas.openxmlformats.org/officeDocument/2006/relationships/notesMaster" Target="/ppt/notesMasters/notesMaster1.xml" Id="R2bd5627c5e68495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3664442b00c4d07" /><Relationship Type="http://schemas.openxmlformats.org/officeDocument/2006/relationships/notesMaster" Target="/ppt/notesMasters/notesMaster1.xml" Id="R94fbe22b8ce74d8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33407f10bf14743" /><Relationship Type="http://schemas.openxmlformats.org/officeDocument/2006/relationships/notesMaster" Target="/ppt/notesMasters/notesMaster1.xml" Id="Rc356a805ffe5475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774d6a4f0834c24" /><Relationship Type="http://schemas.openxmlformats.org/officeDocument/2006/relationships/notesMaster" Target="/ppt/notesMasters/notesMaster1.xml" Id="R835dd281728542b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2ce81af4e2946a0" /><Relationship Type="http://schemas.openxmlformats.org/officeDocument/2006/relationships/notesMaster" Target="/ppt/notesMasters/notesMaster1.xml" Id="R7bd0d74828db43a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f51661a3aa44059" /><Relationship Type="http://schemas.openxmlformats.org/officeDocument/2006/relationships/notesMaster" Target="/ppt/notesMasters/notesMaster1.xml" Id="Rf1b5428dc33942c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46110e910ce419a" /><Relationship Type="http://schemas.openxmlformats.org/officeDocument/2006/relationships/notesMaster" Target="/ppt/notesMasters/notesMaster1.xml" Id="Rbbf92e18814b4b8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29114f4411845b7" /><Relationship Type="http://schemas.openxmlformats.org/officeDocument/2006/relationships/notesMaster" Target="/ppt/notesMasters/notesMaster1.xml" Id="Rc022a408314c468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8acf3be27364b6b" /><Relationship Type="http://schemas.openxmlformats.org/officeDocument/2006/relationships/notesMaster" Target="/ppt/notesMasters/notesMaster1.xml" Id="R046db93d513a43d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99796c988004d11" /><Relationship Type="http://schemas.openxmlformats.org/officeDocument/2006/relationships/notesMaster" Target="/ppt/notesMasters/notesMaster1.xml" Id="R981c36f818cb42a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7d8c63d1dbe4d2d" /><Relationship Type="http://schemas.openxmlformats.org/officeDocument/2006/relationships/notesMaster" Target="/ppt/notesMasters/notesMaster1.xml" Id="R776cc6ed8a8e475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3525472c1634a48" /><Relationship Type="http://schemas.openxmlformats.org/officeDocument/2006/relationships/notesMaster" Target="/ppt/notesMasters/notesMaster1.xml" Id="R05154002ff9f419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62b6525643246ae" /><Relationship Type="http://schemas.openxmlformats.org/officeDocument/2006/relationships/notesMaster" Target="/ppt/notesMasters/notesMaster1.xml" Id="Rab008a654d18461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5f7f694c1b34d23" /><Relationship Type="http://schemas.openxmlformats.org/officeDocument/2006/relationships/notesMaster" Target="/ppt/notesMasters/notesMaster1.xml" Id="R635b2837f0254aae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fb5b4e4527d441c" /><Relationship Type="http://schemas.openxmlformats.org/officeDocument/2006/relationships/notesMaster" Target="/ppt/notesMasters/notesMaster1.xml" Id="Ra4c67d7e3e92412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1ac94bf0f4c4f22" /><Relationship Type="http://schemas.openxmlformats.org/officeDocument/2006/relationships/notesMaster" Target="/ppt/notesMasters/notesMaster1.xml" Id="R051b93f8fc8d44e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91bb9cbb41f4583" /><Relationship Type="http://schemas.openxmlformats.org/officeDocument/2006/relationships/notesMaster" Target="/ppt/notesMasters/notesMaster1.xml" Id="R39b0178f1a5d477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2ecd3dd6e184a24" /><Relationship Type="http://schemas.openxmlformats.org/officeDocument/2006/relationships/notesMaster" Target="/ppt/notesMasters/notesMaster1.xml" Id="R3c5ee67991d7489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1e708d39ee947e7" /><Relationship Type="http://schemas.openxmlformats.org/officeDocument/2006/relationships/notesMaster" Target="/ppt/notesMasters/notesMaster1.xml" Id="Rba52f1bf292f43a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c4a9cefba0942e3" /><Relationship Type="http://schemas.openxmlformats.org/officeDocument/2006/relationships/notesMaster" Target="/ppt/notesMasters/notesMaster1.xml" Id="R78bbde73f30243b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a09dae6172d4388" /><Relationship Type="http://schemas.openxmlformats.org/officeDocument/2006/relationships/notesMaster" Target="/ppt/notesMasters/notesMaster1.xml" Id="R03f3c4c8fa05420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0a038bc585b4758" /><Relationship Type="http://schemas.openxmlformats.org/officeDocument/2006/relationships/notesMaster" Target="/ppt/notesMasters/notesMaster1.xml" Id="R02c1d5fff79b4d2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33beb25370e47f3" /><Relationship Type="http://schemas.openxmlformats.org/officeDocument/2006/relationships/notesMaster" Target="/ppt/notesMasters/notesMaster1.xml" Id="R4ab0cc56275c4db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7e15d8baf964db6" /><Relationship Type="http://schemas.openxmlformats.org/officeDocument/2006/relationships/notesMaster" Target="/ppt/notesMasters/notesMaster1.xml" Id="R7fe115bbc1214da2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18ea4ae741874132" /><Relationship Type="http://schemas.openxmlformats.org/officeDocument/2006/relationships/notesMaster" Target="/ppt/notesMasters/notesMaster1.xml" Id="Re67db5da0c3943e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bb0757981714a40" /><Relationship Type="http://schemas.openxmlformats.org/officeDocument/2006/relationships/notesMaster" Target="/ppt/notesMasters/notesMaster1.xml" Id="R1d2d2834982148e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4f27c87bda174890" /><Relationship Type="http://schemas.openxmlformats.org/officeDocument/2006/relationships/notesMaster" Target="/ppt/notesMasters/notesMaster1.xml" Id="Rd8cd2817189e40ca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64a1fa9fcb14511" /><Relationship Type="http://schemas.openxmlformats.org/officeDocument/2006/relationships/notesMaster" Target="/ppt/notesMasters/notesMaster1.xml" Id="R91f270f33ec343c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0f34d5129934e77" /><Relationship Type="http://schemas.openxmlformats.org/officeDocument/2006/relationships/notesMaster" Target="/ppt/notesMasters/notesMaster1.xml" Id="Rf313c4a7c2ad4d8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1b9c3ed67e6495e" /><Relationship Type="http://schemas.openxmlformats.org/officeDocument/2006/relationships/notesMaster" Target="/ppt/notesMasters/notesMaster1.xml" Id="Re0079911d7f2456b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4fe3ccaf594e4cc1" /><Relationship Type="http://schemas.openxmlformats.org/officeDocument/2006/relationships/notesMaster" Target="/ppt/notesMasters/notesMaster1.xml" Id="R0c108e2cddc44f4d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96a6fab8f4fa4766" /><Relationship Type="http://schemas.openxmlformats.org/officeDocument/2006/relationships/notesMaster" Target="/ppt/notesMasters/notesMaster1.xml" Id="R15b5c0f7f4394c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slide as a section reset. Reveal syllabus cluster first, then the big visual.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This is the internal cross-check slide. Reveal final status only after all rows are discussed.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roadmap row by row. Use it to set expectations for problem-solving and diagrams.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formulas one at a time. Ask students to name the assumptions behind each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Start from the names: each term tells what the circuit controls.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the circuit blocks left to right.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model, equations, and result separately.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as a recall activity. Reveal outer topics and ask for one formula or circuit use for each.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questions one by one. For each question, ask students to first sketch the circuit or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formulas one at a time. Ask students to name the assumptions behind each checkpoint.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Use this as a recall activity. Reveal outer topics and ask for one formula or circuit use for each.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Reveal questions one by one. For each question, ask students to first sketch the circuit or response.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[Animation]</a:t>
            </a:r>
          </a:p>
          <a:p xmlns:a="http://schemas.openxmlformats.org/drawingml/2006/main">
            <a:r>
              <a:t>Animate the givens first, then the solution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VTU 2025 scheme syllabus PDF for 1BEC304.</a:t>
            </a:r>
          </a:p>
          <a:p xmlns:a="http://schemas.openxmlformats.org/drawingml/2006/main">
            <a:r>
              <a:t>- Local syllabus images supplied in public/Analog Electronics and Linear Integrated Circuits/.</a:t>
            </a:r>
          </a:p>
          <a:p xmlns:a="http://schemas.openxmlformats.org/drawingml/2006/main">
            <a:r>
              <a:t>- Local textbook PDFs supplied in public/Analog Electronics and Linear Integrated Circuits/.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474e7cef2941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7e1a035030474f" /><Relationship Type="http://schemas.openxmlformats.org/officeDocument/2006/relationships/slideLayout" Target="/ppt/slideLayouts/slideLayout1.xml" Id="Rbbed2f7241e049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ed2f7241e049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aa1acb696425c" /><Relationship Type="http://schemas.openxmlformats.org/officeDocument/2006/relationships/notesSlide" Target="/ppt/notesSlides/notesSlide1.xml" Id="R0ff76546dc5d47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4be3e9e874760" /><Relationship Type="http://schemas.openxmlformats.org/officeDocument/2006/relationships/notesSlide" Target="/ppt/notesSlides/notesSlide2.xml" Id="Re767d13b40ce42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a808d30b094097" /><Relationship Type="http://schemas.openxmlformats.org/officeDocument/2006/relationships/notesSlide" Target="/ppt/notesSlides/notesSlide3.xml" Id="Rdb1a1091339849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de50822b34e36" /><Relationship Type="http://schemas.openxmlformats.org/officeDocument/2006/relationships/notesSlide" Target="/ppt/notesSlides/notesSlide4.xml" Id="R0897989cd9f74c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99358e5c24a96" /><Relationship Type="http://schemas.openxmlformats.org/officeDocument/2006/relationships/notesSlide" Target="/ppt/notesSlides/notesSlide5.xml" Id="R01f760bba3ab4b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6463dee4e44ce3" /><Relationship Type="http://schemas.openxmlformats.org/officeDocument/2006/relationships/notesSlide" Target="/ppt/notesSlides/notesSlide6.xml" Id="Re7b4fb251dcd4a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ffb8253c84973" /><Relationship Type="http://schemas.openxmlformats.org/officeDocument/2006/relationships/notesSlide" Target="/ppt/notesSlides/notesSlide7.xml" Id="Rc219f234f6224f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3f8eb2b2e4086" /><Relationship Type="http://schemas.openxmlformats.org/officeDocument/2006/relationships/notesSlide" Target="/ppt/notesSlides/notesSlide8.xml" Id="Rec9333d4acff4b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f18d6907d4904" /><Relationship Type="http://schemas.openxmlformats.org/officeDocument/2006/relationships/notesSlide" Target="/ppt/notesSlides/notesSlide9.xml" Id="R00fcfe64294e46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4f25dc9714f90" /><Relationship Type="http://schemas.openxmlformats.org/officeDocument/2006/relationships/notesSlide" Target="/ppt/notesSlides/notesSlide10.xml" Id="Rb755dd16b4a040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469acfbac4b5a" /><Relationship Type="http://schemas.openxmlformats.org/officeDocument/2006/relationships/notesSlide" Target="/ppt/notesSlides/notesSlide11.xml" Id="Rde999e33055c4b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c0fb20b5246ab" /><Relationship Type="http://schemas.openxmlformats.org/officeDocument/2006/relationships/notesSlide" Target="/ppt/notesSlides/notesSlide12.xml" Id="Rd7c59b119a83408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7468d90254441" /><Relationship Type="http://schemas.openxmlformats.org/officeDocument/2006/relationships/notesSlide" Target="/ppt/notesSlides/notesSlide13.xml" Id="Re9c87a73ffea4be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2380408d84cb7" /><Relationship Type="http://schemas.openxmlformats.org/officeDocument/2006/relationships/notesSlide" Target="/ppt/notesSlides/notesSlide14.xml" Id="Rb54df4b7d9e44dd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03cd3de8a4d29" /><Relationship Type="http://schemas.openxmlformats.org/officeDocument/2006/relationships/notesSlide" Target="/ppt/notesSlides/notesSlide15.xml" Id="R45f069d7e0d647e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eae8497c924860" /><Relationship Type="http://schemas.openxmlformats.org/officeDocument/2006/relationships/notesSlide" Target="/ppt/notesSlides/notesSlide16.xml" Id="R3ae4ba39358d4f1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b5102016446ec" /><Relationship Type="http://schemas.openxmlformats.org/officeDocument/2006/relationships/notesSlide" Target="/ppt/notesSlides/notesSlide17.xml" Id="R457855ba03b647d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268a48d3449b9" /><Relationship Type="http://schemas.openxmlformats.org/officeDocument/2006/relationships/notesSlide" Target="/ppt/notesSlides/notesSlide18.xml" Id="R26332cef4c0a421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8ff8c82284379" /><Relationship Type="http://schemas.openxmlformats.org/officeDocument/2006/relationships/notesSlide" Target="/ppt/notesSlides/notesSlide19.xml" Id="Rbb9634ffdd3c415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01b53edd14fb9" /><Relationship Type="http://schemas.openxmlformats.org/officeDocument/2006/relationships/notesSlide" Target="/ppt/notesSlides/notesSlide20.xml" Id="R8b9a8e612e894e0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4d672e8ea457d" /><Relationship Type="http://schemas.openxmlformats.org/officeDocument/2006/relationships/notesSlide" Target="/ppt/notesSlides/notesSlide21.xml" Id="R4730bb4cbb2b430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d6721c2544b83" /><Relationship Type="http://schemas.openxmlformats.org/officeDocument/2006/relationships/notesSlide" Target="/ppt/notesSlides/notesSlide22.xml" Id="R1c3ac338ba244e7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6ebd0036647a3" /><Relationship Type="http://schemas.openxmlformats.org/officeDocument/2006/relationships/notesSlide" Target="/ppt/notesSlides/notesSlide23.xml" Id="Rdaa6b698b98b45b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b35e69bca441b" /><Relationship Type="http://schemas.openxmlformats.org/officeDocument/2006/relationships/notesSlide" Target="/ppt/notesSlides/notesSlide24.xml" Id="R7d7826629a694f1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9bfe720c4443d" /><Relationship Type="http://schemas.openxmlformats.org/officeDocument/2006/relationships/notesSlide" Target="/ppt/notesSlides/notesSlide25.xml" Id="R69c0f6ec32bc434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3c50372a34364" /><Relationship Type="http://schemas.openxmlformats.org/officeDocument/2006/relationships/notesSlide" Target="/ppt/notesSlides/notesSlide26.xml" Id="Rd963d4f68195498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1a0d09272444c" /><Relationship Type="http://schemas.openxmlformats.org/officeDocument/2006/relationships/notesSlide" Target="/ppt/notesSlides/notesSlide27.xml" Id="R3047a7a412bb4c0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cd32e4e0e4c97" /><Relationship Type="http://schemas.openxmlformats.org/officeDocument/2006/relationships/notesSlide" Target="/ppt/notesSlides/notesSlide28.xml" Id="R4c7d15cf98ae428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af72da2a924ed7" /><Relationship Type="http://schemas.openxmlformats.org/officeDocument/2006/relationships/notesSlide" Target="/ppt/notesSlides/notesSlide29.xml" Id="R21e9140bd09a435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eb40443404032" /><Relationship Type="http://schemas.openxmlformats.org/officeDocument/2006/relationships/notesSlide" Target="/ppt/notesSlides/notesSlide30.xml" Id="R37318491ba2847c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5bfbba6224805" /><Relationship Type="http://schemas.openxmlformats.org/officeDocument/2006/relationships/notesSlide" Target="/ppt/notesSlides/notesSlide31.xml" Id="R3e3af80b9772437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83582527e403a" /><Relationship Type="http://schemas.openxmlformats.org/officeDocument/2006/relationships/notesSlide" Target="/ppt/notesSlides/notesSlide32.xml" Id="R4415779a9e704a3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205de89214566" /><Relationship Type="http://schemas.openxmlformats.org/officeDocument/2006/relationships/notesSlide" Target="/ppt/notesSlides/notesSlide33.xml" Id="R753a964e601743e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1e6d5152dc426c" /><Relationship Type="http://schemas.openxmlformats.org/officeDocument/2006/relationships/notesSlide" Target="/ppt/notesSlides/notesSlide34.xml" Id="R81e51a7f42e8451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88946343e4209" /><Relationship Type="http://schemas.openxmlformats.org/officeDocument/2006/relationships/notesSlide" Target="/ppt/notesSlides/notesSlide35.xml" Id="Rea6367be0a9e43d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5e67d082e43b8" /><Relationship Type="http://schemas.openxmlformats.org/officeDocument/2006/relationships/notesSlide" Target="/ppt/notesSlides/notesSlide36.xml" Id="Ra085aa610b8c4d7b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524d884324095" /><Relationship Type="http://schemas.openxmlformats.org/officeDocument/2006/relationships/notesSlide" Target="/ppt/notesSlides/notesSlide37.xml" Id="R447df15e46da4b1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8ffed8caee4aab" /><Relationship Type="http://schemas.openxmlformats.org/officeDocument/2006/relationships/notesSlide" Target="/ppt/notesSlides/notesSlide38.xml" Id="R9536e9ef0cf44e59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54945b7404193" /><Relationship Type="http://schemas.openxmlformats.org/officeDocument/2006/relationships/notesSlide" Target="/ppt/notesSlides/notesSlide39.xml" Id="R3b0fd6bddcc34e23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e3a6ddb754aef" /><Relationship Type="http://schemas.openxmlformats.org/officeDocument/2006/relationships/notesSlide" Target="/ppt/notesSlides/notesSlide40.xml" Id="Rc4dc1474bd0e4f2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80267c1304013" /><Relationship Type="http://schemas.openxmlformats.org/officeDocument/2006/relationships/notesSlide" Target="/ppt/notesSlides/notesSlide41.xml" Id="Rf8341805ea924cd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9c6810e48c4904" /><Relationship Type="http://schemas.openxmlformats.org/officeDocument/2006/relationships/notesSlide" Target="/ppt/notesSlides/notesSlide42.xml" Id="R173e179752204345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8360906c64691" /><Relationship Type="http://schemas.openxmlformats.org/officeDocument/2006/relationships/notesSlide" Target="/ppt/notesSlides/notesSlide43.xml" Id="Ref01a24e78294169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065bff4c64e3c" /><Relationship Type="http://schemas.openxmlformats.org/officeDocument/2006/relationships/notesSlide" Target="/ppt/notesSlides/notesSlide44.xml" Id="Rfa2c92602d6940c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a29126ec34a30" /><Relationship Type="http://schemas.openxmlformats.org/officeDocument/2006/relationships/notesSlide" Target="/ppt/notesSlides/notesSlide45.xml" Id="R127875c165c74aa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8e30c777e34299" /><Relationship Type="http://schemas.openxmlformats.org/officeDocument/2006/relationships/notesSlide" Target="/ppt/notesSlides/notesSlide46.xml" Id="R523349cae90f48a0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064ba1dc04f27" /><Relationship Type="http://schemas.openxmlformats.org/officeDocument/2006/relationships/notesSlide" Target="/ppt/notesSlides/notesSlide47.xml" Id="R49f0813f2ad04a1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db5fbe6e44033" /><Relationship Type="http://schemas.openxmlformats.org/officeDocument/2006/relationships/notesSlide" Target="/ppt/notesSlides/notesSlide48.xml" Id="Rb10a3b9082384919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67a8c48124059" /><Relationship Type="http://schemas.openxmlformats.org/officeDocument/2006/relationships/notesSlide" Target="/ppt/notesSlides/notesSlide49.xml" Id="Rd745af4bce884682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a9a9fe9254ef9" /><Relationship Type="http://schemas.openxmlformats.org/officeDocument/2006/relationships/notesSlide" Target="/ppt/notesSlides/notesSlide50.xml" Id="R459eedcaa21c48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360118-477E-453C-9090-58CFEC01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191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7C3AED"/>
                </a:solidFill>
              </a:defRPr>
            </a:pPr>
            <a:r>
              <a:rPr sz="3750" b="1">
                <a:solidFill>
                  <a:srgbClr val="7C3AED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34EE7-D7EE-4A4E-A60B-F82156BA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33"/>
                </a:solidFill>
              </a:defRPr>
            </a:pPr>
            <a:r>
              <a:rPr sz="3000" b="1">
                <a:solidFill>
                  <a:srgbClr val="102033"/>
                </a:solidFill>
              </a:rPr>
              <a:t>Negative Feedback, Oscillators, and 555 Timer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7BD82-2750-4121-9305-D6221EEE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8 teaching hours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B8D89-D1DF-4014-AE7D-A59E8DF7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Four feedback types / four types of negative feedback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VCVS voltage gain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Other VCVS equations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ICVS amplifier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VCIS amplifier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ICIS amplifier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No mathematical derivation</a:t>
            </a:r>
          </a:p>
          <a:p xmlns:a="http://schemas.openxmlformats.org/drawingml/2006/main">
            <a:pPr algn="l">
              <a:defRPr sz="1500" b="0">
                <a:solidFill>
                  <a:srgbClr val="102033"/>
                </a:solidFill>
              </a:defRPr>
            </a:pPr>
            <a:r>
              <a:rPr sz="1500" b="0">
                <a:solidFill>
                  <a:srgbClr val="102033"/>
                </a:solidFill>
              </a:rPr>
              <a:t>• Sinusoidal oscillator theory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385E55-CF9D-455D-8994-1AA9AF70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292E0-C6FB-4865-9C2C-5EE5A0BF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FB965-CAAF-4C1C-A08D-A6351620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E84B7-F8E6-42EA-8AA3-EC9A2D86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Four feedback types / four types of negative feedback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D09AE8-FDDC-4FB5-A213-99C4D9D3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VCVS voltage gain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ABDF9-D26F-424E-B72F-08E67BA7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Other VCVS equations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EA205D-6D78-43E5-BAE7-1EE26DC7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7B187-F697-48F1-B222-022C14C3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01/50</a:t>
            </a:r>
          </a:p>
        </p:txBody>
      </p:sp>
    </p:spTree>
    <p:extLst>
      <p:ext uri="{BB962C8B-B14F-4D97-AF65-F5344CB8AC3E}">
        <p14:creationId xmlns:p14="http://schemas.microsoft.com/office/powerpoint/2010/main" val="3216313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233356-1BD3-431B-A823-F02C4E87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COVERED / MISSING = 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96F23-6CFE-4D27-B7BB-1B0A5A29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3 syllabus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6A381E-674F-4694-A233-B6B28194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E44446-614B-4734-A08E-6DDA1D96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478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VTU 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7F2C54-DD00-4E32-ACE9-F0A4FA22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447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Coverage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97366-3A27-402E-849A-40C036F1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4478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C3AED"/>
                </a:solidFill>
              </a:defRPr>
            </a:pPr>
            <a:r>
              <a:rPr sz="1125" b="1">
                <a:solidFill>
                  <a:srgbClr val="7C3AED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1369A-B05C-413C-BC94-2D2CECF7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1. Four feedback types / four types of negative feedback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86516-E891-49A7-BD41-10AAD353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8E743-CAEB-436C-BDD0-C4A1D198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09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74CA54-25B3-4A50-8D56-DF4C07E57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2. VCVS voltage gain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4B136-0467-4D82-BE7A-18025F3F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76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126CA6-97DB-489E-961C-05CCE172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76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6F6DD-9482-4A03-B223-38D9DE7C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43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3. Other VCVS equations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33FA14-CC9A-4F48-8416-D0A05069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43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828604-38A8-415A-A725-875E554C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7260C3-67EC-4785-A3E7-59A89F53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4. ICVS amplifier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982CCE-E7CB-4FE9-8904-677544E7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09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4AA26E-B894-44CA-9C70-4C4A0E0D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09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CC3BC4-D8D7-401D-B806-6F6E7555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5. VCIS amplifier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21CA26-A2EE-48A7-AC13-E12E0C08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76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E04870-DA74-49A0-ADFD-7DC051BE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76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C357E0-2D22-4A08-9321-890ED267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6. ICIS amplifier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C2DA80-1261-4702-9859-16BAFCE7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D8EC1B-192E-461F-BFAA-121E3F5F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EDD3D4-6A6A-44A8-B4B4-9CDB22B8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099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7. No mathematical derivation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86B929-03BA-45BF-90C7-F863FEEA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09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FCDB4D-C91F-44B8-B14C-BF6C960A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09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8154A3-30FB-4DE7-B2C2-3DF21943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8. Sinusoidal oscillator theory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B20016-ADB4-4D17-A7AF-E91021CD2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766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18571A-EDD7-4CDB-B855-0D805511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76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6FF26F-F930-44D1-9F08-C6D62DED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9. Wein-bridge oscillator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080F69-BC96-4538-AFE2-87A61C64A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6ECBD8-E54C-4CA4-9640-B93BCA31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43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792BED-E27E-4686-8FBA-D023B574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10. RC phase-shift oscillator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2A8F98-4D3A-41CF-96BD-84A9F8B0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100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8EEC60-0566-4033-9A05-0225E226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100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0D041D-8F96-410E-902D-9E5632B2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11. Colpitts oscillator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2CE165-C6D7-4504-80C7-9371F7D6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76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A0E987-AE84-48AA-8EC6-33A3A628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767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6D2A11-3485-4AA9-A860-EE51E703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12. Hartley oscillator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C35353-0C19-4B68-B78C-1448D1AA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743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B509804-E5EB-47CF-A0AC-726002C8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43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2A6A0E5-D57D-461D-B475-68E6BF9E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101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13. Crystal oscillator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56BAD66-0DAE-4F6E-905E-5ABF9FB1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10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CCE3374-D020-44FA-87B6-A0C39F67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10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A8A63D-B53D-4ECC-90C9-641A04DE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76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14. 555 timer monostable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7BAFE1-E241-43BC-AFD7-9566759C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768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67A416-DF83-4345-B828-ABD85563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76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4BFAE6-9DE4-4092-88D7-2399073C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43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</a:defRPr>
            </a:pPr>
            <a:r>
              <a:rPr sz="975" b="0">
                <a:solidFill>
                  <a:srgbClr val="102033"/>
                </a:solidFill>
              </a:rPr>
              <a:t>15. 555 timer astable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32589D9-01BA-4947-9DDA-E42AC8F1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43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071"/>
                </a:solidFill>
              </a:defRPr>
            </a:pPr>
            <a:r>
              <a:rPr sz="900" b="0">
                <a:solidFill>
                  <a:srgbClr val="526071"/>
                </a:solidFill>
              </a:rPr>
              <a:t>Syllabus + textbook support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498911-CB30-40A0-BFFC-B3BDC569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43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A34A"/>
                </a:solidFill>
              </a:defRPr>
            </a:pPr>
            <a:r>
              <a:rPr sz="900" b="1">
                <a:solidFill>
                  <a:srgbClr val="16A34A"/>
                </a:solidFill>
              </a:rPr>
              <a:t>COVERED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3F062B-FCE2-4821-A5DB-10C08330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953125"/>
            <a:ext cx="476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Final status: no missing topics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3F69C3D-7147-4888-853F-210085BA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02/50</a:t>
            </a:r>
          </a:p>
        </p:txBody>
      </p:sp>
    </p:spTree>
    <p:extLst>
      <p:ext uri="{BB962C8B-B14F-4D97-AF65-F5344CB8AC3E}">
        <p14:creationId xmlns:p14="http://schemas.microsoft.com/office/powerpoint/2010/main" val="1361225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5DD174-022C-4AD0-81E6-8CC7103F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Teaching 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F2FE4-12D0-4B82-8D10-5D94D60D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Roadmap for Module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1FAA8-F6F5-4F74-8053-264D2005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7EAFA-30A5-4281-9347-10408350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1. Four feedback types / four types of negative feedback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6CD1D-77B0-4BF2-AE7E-D065D7A7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2. VCVS feedback amplifier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43E433-595A-4D56-937A-BD32F03B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3. ICVS, VCIS, and ICIS amplifiers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03AC6-9A69-44DD-9DE7-ECBAE30E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4. Oscillator theory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74A5B-CDD4-4683-9F22-B38D8F13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955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5. Wein-bridge oscillator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F813C-B0BF-4E2C-BEDE-AB023C2E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6. RC phase-shift oscillator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F116D-33C3-4B07-AA61-07E5C42F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7. Colpitts oscillator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A194B5-EDD5-4721-9D5D-3262CF94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8. Hartley oscillator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A8105-1D80-49A6-8812-2702E3FC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9. Crystal oscillator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AA322-BD18-45B1-B05E-2AD420D2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90900"/>
            <a:ext cx="180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10. 555 timer operation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D897C-E577-4CC2-92E6-4F90E631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353050"/>
            <a:ext cx="7810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Each topic becomes: concept -&gt; circuit -&gt; analysis -&gt; example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728383-7B23-4ECD-A37D-F57141EF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03/50</a:t>
            </a:r>
          </a:p>
        </p:txBody>
      </p:sp>
    </p:spTree>
    <p:extLst>
      <p:ext uri="{BB962C8B-B14F-4D97-AF65-F5344CB8AC3E}">
        <p14:creationId xmlns:p14="http://schemas.microsoft.com/office/powerpoint/2010/main" val="14229231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B48DFD-4974-4C8D-9767-25A36FA4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Exam quick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C4862-F2CC-4BF8-8764-F35D5577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3 formula and design checkpoints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B196B-684B-4F94-9979-F7235527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77393-139F-4621-916B-CCFEB34E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EABD2C-51D4-4815-9E0A-F3FBDC4D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6192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Feedback: Af = A / (1 + A beta)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8B6A6-38A1-4E57-A7C1-F2F6493A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7526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DE4CA-DDC3-4076-AC7E-0E13432F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E4F6D-6B21-4D1F-A2BA-0F54C556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955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Oscillation: loop phase 0 deg and gain &gt;=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E586E-DC66-47E1-B430-9FF0D219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289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B723CF-0CEE-47EC-B9BE-0C678592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B47EE2-0FE8-47EF-9151-471244CD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718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555 monostable pulse depends on R and 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15239D-79B0-4188-9712-BCA99467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5052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252C81-DF1A-4FC1-9B3F-13795479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FE8A41-BF8C-4E25-B4C0-67090D4C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2481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555 astable duty cycle depends on charge/discharge paths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5C41A2-EB14-4D0D-8543-7125E599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3815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53E344-AF4B-41E5-954A-7CDE9289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04/50</a:t>
            </a:r>
          </a:p>
        </p:txBody>
      </p:sp>
    </p:spTree>
    <p:extLst>
      <p:ext uri="{BB962C8B-B14F-4D97-AF65-F5344CB8AC3E}">
        <p14:creationId xmlns:p14="http://schemas.microsoft.com/office/powerpoint/2010/main" val="14382725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089F7-A999-4691-9A5A-154C1C38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655CA2-0D8C-4B85-92D8-5713D2FE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Four feedback types / four types of negative feedback: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A42BCC-F0E2-45F3-8E2A-9B1D388D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2DAC6-5DE8-4E34-9393-8472246B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Feedback type depends on what is sampled and how it is mixed at input.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17C5AF-2BD4-4EF0-816E-1D9DB447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voltage sampling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current sampling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series mixing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shunt mixing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B25E11-077B-45F6-9A84-DB568E85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BD672E-21CB-439D-9EB9-BB44A387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Feedback changes gain, impedance, distortion, and bandwidth.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4463A-2A3C-4CC9-AEB1-0A4D76BD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D9D53-1325-4474-A41D-77AB5600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13227-54B6-4DCA-A288-73B5D3F0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0DC9E4-1547-4B8F-BE50-AC74FA80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voltage sampling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18C26-FB48-43BB-8450-FFD4E5D1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current sampling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B200F9-EE23-4072-A54C-8C0EA473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series mixing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F937A5-A785-4415-A1FE-89517E0F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C5D5DA-C3EE-4811-9D60-DA04E6F5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05/50</a:t>
            </a:r>
          </a:p>
        </p:txBody>
      </p:sp>
    </p:spTree>
    <p:extLst>
      <p:ext uri="{BB962C8B-B14F-4D97-AF65-F5344CB8AC3E}">
        <p14:creationId xmlns:p14="http://schemas.microsoft.com/office/powerpoint/2010/main" val="9465611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D32FB0-555F-4146-828A-9FB43E7B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3095CE-AD11-4C81-9481-2B2EAD29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Four feedback types / four types of negative feedback: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DBB1F-0040-4CCB-8EBD-45BCF833B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114959-D8F7-4072-BE65-0B77DC14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7C1227-38DF-4250-9FB6-255F9B38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21883-8183-4438-BBD0-C31FAC6C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595A0-D040-409B-8D76-3E10B1A1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Feedback changes gain, impedance, distortion, and bandwidth.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853D8E-C2E3-449D-B0A2-7B644656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0E141-7145-4C53-94C8-97636DE0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54703-E141-468E-A6E7-01364079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58F8C-5686-43C4-AA30-3E3540BD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voltage sampling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D6D64A-DA5A-4BB1-94F9-33CFA518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current sampling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A20A42-C09F-423C-A3B7-BDFAD242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series mixing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E560A9-BB33-4720-8698-E0F63F5D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CC1B60-5333-4501-8068-560C95B8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06/50</a:t>
            </a:r>
          </a:p>
        </p:txBody>
      </p:sp>
    </p:spTree>
    <p:extLst>
      <p:ext uri="{BB962C8B-B14F-4D97-AF65-F5344CB8AC3E}">
        <p14:creationId xmlns:p14="http://schemas.microsoft.com/office/powerpoint/2010/main" val="20290529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FA36E4-54BD-44AE-AE53-29A065F1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2B873-88D3-4309-BBEE-8704C6C5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Four feedback types / four types of negative feedback: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B2E5C1-7139-4A9E-BDFA-413B8360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EF3E74-FFC7-4BCC-8B27-7605A2C5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four feedback types / four types of negative feedback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6E2554-1044-42DE-898E-845944B3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Feedback changes gain, impedance, distortion, and bandwidth.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C1132E-426A-4C29-B14A-87205C83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A67FC-C94E-4FFF-91A8-C12B056F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Feedback changes gain, impedance, distortion, and bandwidth.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0C622-2E09-4788-A7C3-C8D7C619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F615A-D291-4F56-8F17-70A2F1C26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5DB356-456E-4987-B959-1FC943A2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D46B9-3777-4876-9E91-878092D4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voltage sampling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A26EF-7872-4EF9-A07B-68C1AA55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current sampling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19088-48AA-416D-997B-626CE26C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series mixing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C44308-C793-42B0-B9A2-E255CD13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09C2E7-45BB-4B3C-A4DF-1CC18EE7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07/50</a:t>
            </a:r>
          </a:p>
        </p:txBody>
      </p:sp>
    </p:spTree>
    <p:extLst>
      <p:ext uri="{BB962C8B-B14F-4D97-AF65-F5344CB8AC3E}">
        <p14:creationId xmlns:p14="http://schemas.microsoft.com/office/powerpoint/2010/main" val="5431736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75E47-28A8-4412-BAA9-63E1C1DD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906D11-FBED-4AFA-BB9A-A64BDFAD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Four feedback types / four types of negative feedback: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70D5F-B278-4D48-9897-E903EAE8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FBEE8-1FC0-4441-B0F3-D34B7DA6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four feedback types / four types of negative feedback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9F79F-88F4-4ABB-A700-5D2B915A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voltage sampling and current sampling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1A44E1-554A-4757-A396-23BD7158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C317E-C239-4BA9-A3DF-C4844F278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Feedback changes gain, impedance, distortion, and bandwidth.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0BC91-6994-4D5E-AC3B-5CC3F7509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C66E9C-9E8E-40CF-8859-228623B5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EB2119-CFB1-4571-8DFB-108267D8B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FAD3A-5F86-48CB-9609-DA2D2D98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voltage sampling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11E9F-E3F6-412A-93DC-B5ABF365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current sampling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560D23-24C3-4A66-9DB7-89B96C8E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series mixing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2C8597-690D-4764-981D-DE633E44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0FAFB2-6CA7-434B-BA09-C6766DE4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08/50</a:t>
            </a:r>
          </a:p>
        </p:txBody>
      </p:sp>
    </p:spTree>
    <p:extLst>
      <p:ext uri="{BB962C8B-B14F-4D97-AF65-F5344CB8AC3E}">
        <p14:creationId xmlns:p14="http://schemas.microsoft.com/office/powerpoint/2010/main" val="2501070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D9378C-F56B-4F96-A11C-A53A12F3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D0DF7E-2413-474F-B808-CEA00554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VCVS feedback amplifier: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A39D3-97C6-4EF0-BECE-DF8443A6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D9FDA-F255-4AF7-B0CC-8DD0B178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VCVS amplifier uses voltage-series feedback for stable voltage gain.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33797-043A-4D6B-AF6C-AA06A1EC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voltage input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voltage output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closed-loop gain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gain stability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32B3A-7092-40C4-BEC5-D928DE2F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A514FE-6EA9-4E47-A5E5-F517A882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Closed-loop gain is less sensitive to device variation.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4D7254-9097-4E5F-AC3F-44D55192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7D257-AA79-4C09-9556-9585D211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1CDB9-C1E9-42C7-96A1-2143F0BF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3DAB0A-A3C0-4713-8ACF-55E8F947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voltage 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E62F1-AF64-42E6-B542-D9BF7FC0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voltage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1A4A8-6B6C-43AB-80AD-6597BB58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closed-loop gain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F99E8E-0635-471D-98CD-AC4864FE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FA5B5C-1ADA-4A61-9305-43EDC792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09/50</a:t>
            </a:r>
          </a:p>
        </p:txBody>
      </p:sp>
    </p:spTree>
    <p:extLst>
      <p:ext uri="{BB962C8B-B14F-4D97-AF65-F5344CB8AC3E}">
        <p14:creationId xmlns:p14="http://schemas.microsoft.com/office/powerpoint/2010/main" val="13227619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18E794-B37B-425B-B4A2-A3C59BDE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63DA3-25A8-4E5C-826C-57AC2FE9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VCVS feedback amplifier: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E138A-550B-45B5-85B7-770DB801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3694B2-AFD6-42F7-A175-096DFEE3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A37757-EA75-4FEA-9050-DA60E801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1EA77-4444-4F88-BB2E-AE779705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BA6337-7AA0-4E51-B18F-DEEEC473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Closed-loop gain is less sensitive to device variation.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0A0A82-222E-466F-8D43-B0B9D6F3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908CE7-47C4-4AC6-9AB1-823A4D28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BEEA3-85C3-4E32-BB68-230264CC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83BB8-12C9-473F-A6A5-2FEC3439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voltage 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078A0A-CD78-4953-B7F5-ABA0764F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voltage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989D08-343E-4483-B128-2FE6E9E1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closed-loop gain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8D61D-612F-4F82-B226-05A86AA2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547DEE-6FDE-42EE-BC42-361B83ED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10/50</a:t>
            </a:r>
          </a:p>
        </p:txBody>
      </p:sp>
    </p:spTree>
    <p:extLst>
      <p:ext uri="{BB962C8B-B14F-4D97-AF65-F5344CB8AC3E}">
        <p14:creationId xmlns:p14="http://schemas.microsoft.com/office/powerpoint/2010/main" val="15719967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04EE53-D552-46AA-8B70-DB41B751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11AA41-8582-4F4D-B739-4616E4B0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VCVS feedback amplifier: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C452D-375C-455F-A6FF-298C3307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E98E0-0458-46C1-AB18-E537819F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vcvs feedback amplifier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9EAFFE-C98F-4BD0-A891-349B3C73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Closed-loop gain is less sensitive to device variation.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DB48A-9AF7-45B5-A38F-07940C08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9B96A-3DE4-4816-82B8-4D63B699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Closed-loop gain is less sensitive to device variation.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9487F-FAC2-4E15-B8B6-3A1F802B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3D0067-75FE-4AAD-90EC-CF619B4E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C37BF-111B-4C5A-930E-3A26987E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FACD3-064E-4959-A7AD-49ED51CC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voltage 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0EDFD4-5F87-4227-BB8B-83C3B4EC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voltage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8D40D8-8312-4726-B3B7-7CA16657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closed-loop gain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108C07-AB35-4FCB-9798-0C1401F2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1C4D8-3B47-4448-888F-2BF133C4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11/50</a:t>
            </a:r>
          </a:p>
        </p:txBody>
      </p:sp>
    </p:spTree>
    <p:extLst>
      <p:ext uri="{BB962C8B-B14F-4D97-AF65-F5344CB8AC3E}">
        <p14:creationId xmlns:p14="http://schemas.microsoft.com/office/powerpoint/2010/main" val="2894323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32A9F-944B-4CD4-8E5F-0B668EF1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B80D4-0BD2-4AAE-ACB6-93D3122F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VCVS feedback amplifier: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9A98F0-64D3-47F7-B2EC-A8D0DD58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C6832-9D75-4E9E-A00A-36B69C0F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vcvs feedback amplifier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3C6B8-E9DE-4603-98E3-A02F169B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voltage input and voltage output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1B3BDC-2E2D-4F3C-AED9-5CA92D44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60A2A-868F-4A11-85E2-87E13537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Closed-loop gain is less sensitive to device variation.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44CC7-7095-4012-9844-C6CFA95B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0725D5-42B9-44C6-B3DE-A6CECD0B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9CF81C-0C61-4B13-92CF-1BF9F918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4CC973-FE4D-4ED0-9C86-E14F3EC6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voltage input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2D1052-B8FC-46AE-80DF-19B8FA6A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voltage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3355E-61F7-455D-823E-D75D1B0B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closed-loop gain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BE6F53-0B09-4D8E-BA73-609A2BBB8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3FA171-3C9D-4C29-9015-782A8E9A4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12/50</a:t>
            </a:r>
          </a:p>
        </p:txBody>
      </p:sp>
    </p:spTree>
    <p:extLst>
      <p:ext uri="{BB962C8B-B14F-4D97-AF65-F5344CB8AC3E}">
        <p14:creationId xmlns:p14="http://schemas.microsoft.com/office/powerpoint/2010/main" val="3539936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29F469-FB9A-472B-8D1A-D4315BE3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9942A-2E5F-4BAA-80E1-47CB3EC3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ICVS, VCIS, and ICIS amplifiers: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0C9DF-042A-47C1-9A5B-95C19EAB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77D6D-FD59-4972-AD5C-FF3CC39F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Feedback amplifiers can convert voltage/current inputs and outputs.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5AF95-8CEA-44BF-862E-7E6E93CB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current input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voltage output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transresistance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transconductance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1B09A-97E6-452F-B756-FE148579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5DCE1D-BA33-4160-8BF0-E0AE6DA3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The amplifier model must match the source and load.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027EA-B9E2-46B1-A32E-3F2DB87C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current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FA7E5-4DD8-4C1C-A2A7-23C7758D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voltage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2B4DE-C484-4401-9EB5-E7421FAE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transresistance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DC4DCA-8EBA-414E-9D4E-E561DEB4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transconductance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776AA-AF0E-4724-8B69-A895CE8C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8291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Use the sequence to explain the circuit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AB8482-AA3E-4D5F-9DF9-D9D30125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13/50</a:t>
            </a:r>
          </a:p>
        </p:txBody>
      </p:sp>
    </p:spTree>
    <p:extLst>
      <p:ext uri="{BB962C8B-B14F-4D97-AF65-F5344CB8AC3E}">
        <p14:creationId xmlns:p14="http://schemas.microsoft.com/office/powerpoint/2010/main" val="16236072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ABB93-2332-4413-AB00-A9C9C2CB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C31D1-6719-4935-AD32-184977EC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ICVS, VCIS, and ICIS amplifiers: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BD47C-495B-4813-AB17-63D25EAB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AD379-B91F-4E02-891A-04403F28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80BF24-AC51-4DE2-9E26-39D6F664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80C84B-D07A-453E-B747-2C487C8F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E366AD-C04B-4197-9F6D-7E1E114E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The amplifier model must match the source and load.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179DC-6D1D-4962-9F64-761154410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current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30633-E5A5-42E2-B19C-D1483413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voltage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5FB5BE-1543-499A-84D2-029C8308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transresistance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1DDDBE-F7EF-4F3F-B403-77377613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transconductance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C345CA-6BFB-4D2F-A8B8-A6EA34C8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8291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Use the sequence to explain the circuit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CB4E5D-35FF-47F1-BBEE-41AAF27A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14/50</a:t>
            </a:r>
          </a:p>
        </p:txBody>
      </p:sp>
    </p:spTree>
    <p:extLst>
      <p:ext uri="{BB962C8B-B14F-4D97-AF65-F5344CB8AC3E}">
        <p14:creationId xmlns:p14="http://schemas.microsoft.com/office/powerpoint/2010/main" val="94671324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BB424B-AAD8-4D2E-8E27-5FA3B7AD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AA46E-FDF6-425C-80EB-EB194268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ICVS, VCIS, and ICIS amplifiers: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F55C05-F0A0-44DC-8FC2-EF32D895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70F42-35C1-40AC-ABC8-F60A673C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icvs, vcis, and icis amplifiers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8574F-EE90-409B-BB57-869084093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The amplifier model must match the source and load.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2F602-7D49-43C1-B0C7-742810D6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79F152-46A3-46AB-B62C-D5FA323F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The amplifier model must match the source and load.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E2242-1584-40E0-8BF9-51F65664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current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62057-F4A3-412C-AE49-1C087AC2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voltage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7D3A5-503A-4E3F-936F-17223711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transresistance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4929D-86A0-4DD9-B43D-EBECEE54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transconductance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8E37C-DBA3-4D44-8B69-084CC6210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8291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Use the sequence to explain the circuit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E0118B-F502-45CC-A082-18A01A18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15/50</a:t>
            </a:r>
          </a:p>
        </p:txBody>
      </p:sp>
    </p:spTree>
    <p:extLst>
      <p:ext uri="{BB962C8B-B14F-4D97-AF65-F5344CB8AC3E}">
        <p14:creationId xmlns:p14="http://schemas.microsoft.com/office/powerpoint/2010/main" val="162577726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EE71BC-E2DC-4750-8A09-91771D10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5A8BE-6EF3-4D42-93FC-030500CE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ICVS, VCIS, and ICIS amplifiers: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932F4-4C1C-45E4-91EF-A2A3CCB3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A6B95-E442-47AB-853F-73D7463F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icvs, vcis, and icis amplifiers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2B1FE5-7F70-4E72-8153-FC067894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current input and voltage output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9E888-1EDC-4619-A052-458E6114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053635-507D-477D-BD1C-8DF90606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The amplifier model must match the source and load.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B4FA9-22F1-4CE3-A965-5B6361E5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current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1CA73D-3F15-464A-A958-FDE34137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voltage output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70AF3-AD28-42E8-A428-14C77B1B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2099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transresistance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E100AB-EFF6-4CBB-AAE9-4E6B4A53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552825"/>
            <a:ext cx="9334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033"/>
                </a:solidFill>
              </a:defRPr>
            </a:pPr>
            <a:r>
              <a:rPr sz="1125" b="1">
                <a:solidFill>
                  <a:srgbClr val="102033"/>
                </a:solidFill>
              </a:rPr>
              <a:t>transconductance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600D4-DEB5-40DE-9605-322CE9D7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48291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Use the sequence to explain the circuit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F38BAF-9EFE-4404-A3D6-F0CE70C1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16/50</a:t>
            </a:r>
          </a:p>
        </p:txBody>
      </p:sp>
    </p:spTree>
    <p:extLst>
      <p:ext uri="{BB962C8B-B14F-4D97-AF65-F5344CB8AC3E}">
        <p14:creationId xmlns:p14="http://schemas.microsoft.com/office/powerpoint/2010/main" val="60875852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C5CB6-7AF7-4321-9096-1D165F0D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F3260-4C99-404B-8EA6-344097AD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Oscillator theory: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EBC54F-8EF3-4C08-8185-0E66CAD7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EE900-DA40-4D46-86F5-082AE62A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An oscillator sustains output without external signal when loop conditions are met.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7250F-960D-4906-9A03-B51F49AF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positive feedback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loop gain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phase shift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Barkhausen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0331C-B6ED-4151-A7AA-F99B5C91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FA3818-A412-4DE8-8352-CBBFE81B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Magnitude and phase conditions decide oscillation.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5B410-0276-44E9-82E5-026C1559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C8AF0-779F-4DCE-BD60-5E8D8D94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F9D3DC-80C2-4FED-B3F9-FE088519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A2A80-CA98-4594-8CAF-60A233E3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positive feedback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E766AB-6F5E-4D54-A2CB-D4F525CE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loop gain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703A4E-AD54-4843-B52B-B029E784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phase shift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360B6-BCAC-4DF2-86B9-994F54A0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00BAA-49E9-49CA-8F0E-02FD9C7A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17/50</a:t>
            </a:r>
          </a:p>
        </p:txBody>
      </p:sp>
    </p:spTree>
    <p:extLst>
      <p:ext uri="{BB962C8B-B14F-4D97-AF65-F5344CB8AC3E}">
        <p14:creationId xmlns:p14="http://schemas.microsoft.com/office/powerpoint/2010/main" val="162726125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57D74A-575D-4028-AA07-C725B6F7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96C8F-0B7D-4546-B6AC-4FFF0B28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Oscillator theory: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C1272-663D-488E-98A5-459C1AA5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6023B-EDFD-4318-9A5F-7C953B82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76447F-98A8-4DA6-8E07-41A80BB4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B6BF9-47E5-4D5B-AD43-B9AC6CC8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03026-1949-4E2D-A940-0F9652F4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Magnitude and phase conditions decide oscillation.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6E0715-C48B-420A-9386-001EFB78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78D2F-47F8-4D22-B1AB-DA600538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F525A-9B56-4A5E-98EF-969C9F17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23049-697E-46B9-89E2-979B123D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positive feedback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587A6A-8D4A-436A-B22E-3C6EFAB5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loop gain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0BA2B6-FE51-4ACF-86AE-7E5C594C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phase shift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CE978-1A2F-405D-A689-A2A9444A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276A2B-17AD-4207-A55B-7A50B581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18/50</a:t>
            </a:r>
          </a:p>
        </p:txBody>
      </p:sp>
    </p:spTree>
    <p:extLst>
      <p:ext uri="{BB962C8B-B14F-4D97-AF65-F5344CB8AC3E}">
        <p14:creationId xmlns:p14="http://schemas.microsoft.com/office/powerpoint/2010/main" val="23707074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5065A-598C-4543-9BD3-37D60933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E494BA-4B57-4A82-92EB-CBD1BFCB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Oscillator theory: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FD6D2-EEC0-477A-BB95-05D3B3AE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6AB2D-30C4-4D65-8563-35AB0582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oscillator theory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F3C88-D44E-4629-B3D8-AFA722D0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Magnitude and phase conditions decide oscillation.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7C38A-49EC-4F7F-A218-2003BF01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CA58B-38DF-4860-A630-FA6BEADD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Magnitude and phase conditions decide oscillation.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B159B-DD59-4A0D-A0AB-A21E7513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8C2E75-4F1B-460A-94EE-6B7E2131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249357-37FD-4217-9501-A8EB8E4A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EE0CD-34D5-4B5A-A18D-E2C74D30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positive feedback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614AA-2CC0-48F7-ADDE-E8E1A029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loop gain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418130-D3C3-4EC7-8BC5-1CF93795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phase shift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C94E6-EA57-4FDB-B4F0-5C1CE750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083DE9-449A-4469-9CEB-30C35EDD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19/50</a:t>
            </a:r>
          </a:p>
        </p:txBody>
      </p:sp>
    </p:spTree>
    <p:extLst>
      <p:ext uri="{BB962C8B-B14F-4D97-AF65-F5344CB8AC3E}">
        <p14:creationId xmlns:p14="http://schemas.microsoft.com/office/powerpoint/2010/main" val="172384948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1970F7-A20F-42C8-A928-5FAC2C6D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08142-A8EF-42F6-B258-79294CB7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Oscillator theory: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CA3963-35B6-4E7A-98C2-CDE42C87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41674-D3AB-4652-B88E-BD90C8B3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oscillator theory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3C3DC-54E7-447E-988D-B8190EE4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positive feedback and loop gain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A8FC7E-7DE9-47F5-9861-21660C04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BBB788-E615-4EDD-BE7A-678D418F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Magnitude and phase conditions decide oscillation.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666AAA-0EA2-4BE3-BF77-85B49346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21F0F-D0E4-43F1-81E9-519FBE59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0CA9C-CDDF-45EE-9F62-5C13577D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B20A47-0015-4848-9DFD-14621A0A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positive feedback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17C71-2EBF-411E-BB43-67253D89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loop gain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B8BCF5-5670-49AE-BE2D-6AB14CF0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phase shift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142204-C564-4BAA-BFA2-F2231EC2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7AFD8E-06E7-483E-8C0E-35C13818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20/50</a:t>
            </a:r>
          </a:p>
        </p:txBody>
      </p:sp>
    </p:spTree>
    <p:extLst>
      <p:ext uri="{BB962C8B-B14F-4D97-AF65-F5344CB8AC3E}">
        <p14:creationId xmlns:p14="http://schemas.microsoft.com/office/powerpoint/2010/main" val="86126123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5A4282-22D2-4600-88EF-30E37BB5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5ACCF1-9810-4997-8A36-08DA4268F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Wein-bridge oscillator: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025C7-BDA0-4234-B60F-95A2060D5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0ABCE-5E74-48FB-84BB-A0590402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Wein-bridge oscillator uses an RC bridge to select sinusoidal frequency.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849AC-B526-43CC-98E2-8FEC348E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lead-lag network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low distortion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frequency selection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amplitude stabilization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0D21C-D25A-400B-8338-13B2BFAE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DA3A85-B9BE-4356-B69F-B8E11767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is a classic low-distortion sine-wave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69670-73D8-482A-BD30-C0519462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4F3BF-D61F-4136-BEDA-6E329C2C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8BDB0-DA49-49A6-9D97-69C4F1B6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BB1A99-5ADA-4B4B-AD9C-36493D7D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lead-lag network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FBAD1-9A9B-4594-AA1C-031F1835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low distortion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E1F6A5-1B0A-4906-A882-64A7B904F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frequency 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E7B30D-0DEA-4774-8D7B-85E79F45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48A5EC-0EA2-4D5A-80B4-1F319234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21/50</a:t>
            </a:r>
          </a:p>
        </p:txBody>
      </p:sp>
    </p:spTree>
    <p:extLst>
      <p:ext uri="{BB962C8B-B14F-4D97-AF65-F5344CB8AC3E}">
        <p14:creationId xmlns:p14="http://schemas.microsoft.com/office/powerpoint/2010/main" val="28063885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F812DA-8494-4DCA-A6AC-33F1AB29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19772-E8AE-4A7A-97E9-5D748660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Wein-bridge oscillator: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E8699-7F11-4ABA-85F8-80359922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F282F-B260-4E85-A94C-B00E33A1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49F77-A6E3-40B4-9E0E-BE3E6D6E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29F8F0-949B-4A08-88E6-9ACF5908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18BFF4-A89A-491D-A0F3-EA398875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is a classic low-distortion sine-wave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8F93F-9B03-48DD-8C4D-14618073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22CA8B-19BF-4628-BD6A-0605F9E5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1B30B6-9913-46DB-B12E-68448086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AF079-77D9-4F96-A247-AEDC6E94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lead-lag network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F4BB3-D75D-49CB-AE85-32455C70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low distortion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E4DE5-B5B0-4DC4-B1E0-E5145B72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frequency 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93A0D5-638D-447E-A274-EFD68B66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DD4996-DCBC-43A0-BA6A-497E2265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22/50</a:t>
            </a:r>
          </a:p>
        </p:txBody>
      </p:sp>
    </p:spTree>
    <p:extLst>
      <p:ext uri="{BB962C8B-B14F-4D97-AF65-F5344CB8AC3E}">
        <p14:creationId xmlns:p14="http://schemas.microsoft.com/office/powerpoint/2010/main" val="43583038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6B88F3-688D-404A-A21B-71E654B6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550DD8-C5D4-4D73-917E-0E5D34DA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Wein-bridge oscillator: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BB56D-37DF-4B5A-883E-BB9BD296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CAFFC-DA7B-425F-B4B8-1311DDD3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wein-bridge oscillator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429C7-614D-4371-B4D7-9A1667E9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It is a classic low-distortion sine-wave source.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D3E4D-CFDA-4AF2-B07C-9ED02E7C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DD952D-B708-4326-A4B4-59EE4FA4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is a classic low-distortion sine-wave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F10E4-7F99-4F32-BC68-3C8D64E6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CB719-0FEB-4ACF-BC43-F129E614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9653C-A1D7-40F0-B499-34DF4153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7B47B2-8A0C-45A3-9817-B83C7EF9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lead-lag network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976CF2-9F63-421E-8D49-2A05C288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low distortion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9AE8B-98E0-414D-86A2-82FF17A7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frequency 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3442ED-76C0-4938-B42E-B5E4D211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CC9199-4855-4412-87B0-965CC5B1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23/50</a:t>
            </a:r>
          </a:p>
        </p:txBody>
      </p:sp>
    </p:spTree>
    <p:extLst>
      <p:ext uri="{BB962C8B-B14F-4D97-AF65-F5344CB8AC3E}">
        <p14:creationId xmlns:p14="http://schemas.microsoft.com/office/powerpoint/2010/main" val="180078201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B9D016-02B5-464F-9004-9BECBA5F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F55A0-D814-4949-8D0B-57821539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Wein-bridge oscillator: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09A01-91D2-4113-AA30-E6408EFF9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6DC748-8275-48B7-A6D2-72E362B6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wein-bridge oscillator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ADA09E-E545-4DE9-81AF-137A87A1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lead-lag network and low distortion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E26D58-C26B-4F6F-A68A-A0E7C074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CBFB0E-47DC-49AA-92EF-20B14B5E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is a classic low-distortion sine-wave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6D8C41-4BDD-4973-B61A-AD579B26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BB0482-E380-446F-AABD-E558E036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912A5-F4CD-483E-AAE6-8A2266C1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F5CEF-E9A3-4E50-835A-E53CDFFE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lead-lag network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80FF8-8C7B-4065-A6FC-2B51F31E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low distortion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03FE78-715C-42A1-BFE6-5182DCE0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frequency 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FAC797-A975-4455-BD5E-8965B6BC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7D8514-D92B-431A-9C14-032A5DC9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24/50</a:t>
            </a:r>
          </a:p>
        </p:txBody>
      </p:sp>
    </p:spTree>
    <p:extLst>
      <p:ext uri="{BB962C8B-B14F-4D97-AF65-F5344CB8AC3E}">
        <p14:creationId xmlns:p14="http://schemas.microsoft.com/office/powerpoint/2010/main" val="90065114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75C48D-D620-4A76-A02C-910112DF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F4ADB-B413-4311-B35F-C4CC8ECE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RC phase-shift oscillator: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02057-483C-4576-B0FE-3B086D87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5B20B-053A-4913-B442-81C56A3D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RC sections create the needed phase shift for oscillation.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8533D-C97C-4ECE-AF06-204722C2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three RC sections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180 degrees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inverting amplifier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sine wave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B2974-F1D8-4C18-A8CE-87ADB05D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F697D4-1A4B-4493-BA16-497F1C7D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Phase accumulation is the key idea.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CE2385-8ADD-4649-AED9-CC504810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D4E24-DFD6-4758-B9B5-693D7323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E7BE6-40BE-4E7F-88A5-54DA0AA9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BCB368-B36A-431D-BCAE-E1EB3A49D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three RC sections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09520-C543-49AC-9A69-4649F682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180 degrees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7E4E80-C1CD-40B4-ADF2-D9D66B1A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inverting amplifier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D2B1C-DB54-400A-8032-6B4E6D76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58B98-F3F2-4EA6-AEBB-EF76B756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25/50</a:t>
            </a:r>
          </a:p>
        </p:txBody>
      </p:sp>
    </p:spTree>
    <p:extLst>
      <p:ext uri="{BB962C8B-B14F-4D97-AF65-F5344CB8AC3E}">
        <p14:creationId xmlns:p14="http://schemas.microsoft.com/office/powerpoint/2010/main" val="173960868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515B54-DB0F-4155-893D-021B0CDB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E9C69-D0E4-4032-8D8C-BFE4E3FC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RC phase-shift oscillator: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4EC38-E55C-4642-9661-6948AD74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793C45-6F17-49D1-89EA-BDEB713F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E7373-A8D7-4B82-A58E-9B3C0174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CFAC9-3481-4953-BD5D-67DC09BC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837585-38C0-4F09-A11D-A00C7983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Phase accumulation is the key idea.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5D61CB-B3E9-4B49-B2A2-92C49320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F5F079-FAAA-489F-8DC9-B3E334FF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4DB375-DE59-4F42-B32C-3D9C7762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CDF20-4425-42A4-BB34-61ECAE44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three RC sections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D82A0-C2AA-48E2-96F6-DFC948AD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180 degrees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693AA-4BC9-447D-892B-732C2BE6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inverting amplifier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89590F-9F6F-4C1C-80DC-F6D14281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67FE4-96AB-4686-9BC6-2D789EAC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26/50</a:t>
            </a:r>
          </a:p>
        </p:txBody>
      </p:sp>
    </p:spTree>
    <p:extLst>
      <p:ext uri="{BB962C8B-B14F-4D97-AF65-F5344CB8AC3E}">
        <p14:creationId xmlns:p14="http://schemas.microsoft.com/office/powerpoint/2010/main" val="148871810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C0D635-5985-4777-AADA-07915766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F80119-9D0F-402E-AC63-E30CA763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RC phase-shift oscillator: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50F3C-5E5C-469E-B73C-FD50ABC6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7D7E3C-DB2C-4D87-8FA1-602B29CC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rc phase-shift oscillator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1F912-BD4A-4F68-87AC-5A40C2BA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Phase accumulation is the key idea.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B8D0B-2D7D-402E-B6BD-7409B17D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88B1B-554E-43C4-86DE-FDB7558F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Phase accumulation is the key idea.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3B423-3A0E-450E-9B98-CB1D9602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09CC9-10D8-43FC-8EFD-20F01513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E1F02A-44F8-4006-9E58-48B8F6F2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0FF4D4-F302-476E-BF8D-2E478BA8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three RC sections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3270F3-D1A6-4FB7-9141-83874EA8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180 degrees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07167-024D-4515-BC6A-2EC10524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inverting amplifier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B33FD-7E1A-4F1B-9B6D-1CF52B1B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32DE7E-90B2-4DA9-A07B-905EAE90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27/50</a:t>
            </a:r>
          </a:p>
        </p:txBody>
      </p:sp>
    </p:spTree>
    <p:extLst>
      <p:ext uri="{BB962C8B-B14F-4D97-AF65-F5344CB8AC3E}">
        <p14:creationId xmlns:p14="http://schemas.microsoft.com/office/powerpoint/2010/main" val="197933250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4D9D1-AEAB-47C7-86D1-64B83EFC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53BAB6-60AF-4A30-A371-7EE661D55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RC phase-shift oscillator: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27E008-2DC9-41CC-A852-70A1E11C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92B83D-873F-4806-9D41-0B00AF82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rc phase-shift oscillator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650A3-4833-4E2B-9A9F-8D0AF533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three RC sections and 180 degrees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74A62-9841-40D3-9044-4CF60EE9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64B56E-1427-4DAA-838B-60C4F3FB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Phase accumulation is the key idea.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0FFD5F-370C-4742-BF7A-2B24A392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05004-1AE4-428F-BE03-49D56B0D6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1F86C8-50B7-4573-B615-16C73D96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26074-899D-46C6-9321-86537333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three RC sections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4677B6-4574-4CD5-AC77-1FC94B28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180 degrees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89F65-0B25-431D-84AF-413EB520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inverting amplifier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4A7B6D-1084-4354-A5CE-133B7721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7C38B3-2F47-47CE-A934-2AA93AD0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28/50</a:t>
            </a:r>
          </a:p>
        </p:txBody>
      </p:sp>
    </p:spTree>
    <p:extLst>
      <p:ext uri="{BB962C8B-B14F-4D97-AF65-F5344CB8AC3E}">
        <p14:creationId xmlns:p14="http://schemas.microsoft.com/office/powerpoint/2010/main" val="157197744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99F10E-A60E-4395-9844-186D9C43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C53BC-EB7B-412D-9FE4-B6D61EEA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Colpitts oscillator: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9BF4C-AB5D-423F-9F36-236DDA8E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ADB1B-84BB-4B33-9C9D-215A44C7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Colpitts uses a split capacitor tank for frequency selection and feedback.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12370-BA42-4340-A96F-A02C8499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capacitive divider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LC tank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feedback fraction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RF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29B88-A9FA-4295-B36C-36D21255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848C1B-501D-45E5-9668-9503F92D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LC oscillators suit higher-frequency sine generation.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08BE8D-D140-4C35-9741-00EF8DCA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9584D5-CE5E-4347-AE2D-15BD95CC7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074EE-4D46-4C0F-8608-A31913BF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D7F7EA-29D2-4FB8-A723-FEB9CB0D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capacitive divider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6A2EC1-70A2-4EC5-AE9D-2459C8EE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LC tank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EAA25A-90F1-4367-822D-24C31134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feedback fraction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9D03E6-8C4C-4BE6-A817-BFE4ABDD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E7F76C-FA23-4F1A-9B6D-CB47F3DA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29/50</a:t>
            </a:r>
          </a:p>
        </p:txBody>
      </p:sp>
    </p:spTree>
    <p:extLst>
      <p:ext uri="{BB962C8B-B14F-4D97-AF65-F5344CB8AC3E}">
        <p14:creationId xmlns:p14="http://schemas.microsoft.com/office/powerpoint/2010/main" val="86978719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6BC7D6-5358-47B6-8814-604822DB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7AF69-F3C9-4522-B9CB-8D52F2C1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Colpitts oscillator: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8EE8E-35EB-4CDB-AB1A-77D8BBFF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22C8A-CF33-4608-9EBE-4928EF19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B23D0-BE5B-491D-A520-C77F87D7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2C817-1B87-4E2E-93C6-1372EF40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7D359-910A-4AD1-A645-57B20D61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LC oscillators suit higher-frequency sine generation.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46A8D-8F86-4E55-A9F4-A978A910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6CB316-8F1D-4509-9073-CDD07F27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4EAEB-AD07-49FE-B4DA-DB5FDA55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6DC6DA-85EA-47FF-AE4D-69A02BC5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capacitive divider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FE3C1C-1390-451C-8B0E-7D3F66F4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LC tank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16BD67-2E92-4DA5-9284-5E66E3A5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feedback fraction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AD63E9-997D-4578-B292-DBBACB98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8F4306-2A3C-44BB-A027-1884B7A5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30/50</a:t>
            </a:r>
          </a:p>
        </p:txBody>
      </p:sp>
    </p:spTree>
    <p:extLst>
      <p:ext uri="{BB962C8B-B14F-4D97-AF65-F5344CB8AC3E}">
        <p14:creationId xmlns:p14="http://schemas.microsoft.com/office/powerpoint/2010/main" val="80734687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670DE7-C90D-4A10-8D91-C3CAE5FA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D08FD-8BB3-4EC7-9576-D1493D75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Colpitts oscillator: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5ED98-36B2-4B72-8DB3-8B130D9E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3F0D2-0ED7-45B4-BD30-DD42A8E0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colpitts oscillator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763FC7-5A67-40A7-970F-EDD7A53A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LC oscillators suit higher-frequency sine generation.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66723-2517-432E-B5CD-45C9E2C56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C677A8-9FF8-449E-B31C-C522C56C0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LC oscillators suit higher-frequency sine generation.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AAF880-19E8-441D-A119-F5AAABA4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F7CBF-CADC-446D-A675-9D669B5D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450FE0-8FBE-4071-9A9E-6AD70BEA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087E7-AA2A-4133-B05D-8102AC65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capacitive divider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E9CC6-612A-435E-8D2E-7E36C346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LC tank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8EAAE8-2A26-465A-A734-5D5CA04C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feedback fraction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2FC47-1AA2-4497-8B54-9E405424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8F72A-A0C5-4515-B147-11BCED51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31/50</a:t>
            </a:r>
          </a:p>
        </p:txBody>
      </p:sp>
    </p:spTree>
    <p:extLst>
      <p:ext uri="{BB962C8B-B14F-4D97-AF65-F5344CB8AC3E}">
        <p14:creationId xmlns:p14="http://schemas.microsoft.com/office/powerpoint/2010/main" val="211486719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9389E-3934-40FB-A63D-AB79741D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7C7B39-11D1-4A13-93CC-661553E0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Colpitts oscillator: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C67582-0804-44B3-A881-F1E8BF39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A826D-6306-466E-99C8-ED0C5DA8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colpitts oscillator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32BAF-525B-4964-B147-8AA53D8B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capacitive divider and LC tank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415B7-F97F-4FD9-A277-867A2A13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349B0E-3FAB-44AC-B249-EF5F9205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LC oscillators suit higher-frequency sine generation.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81EFC-2C50-46CC-A6CE-489175EC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102EC-BF99-4550-B4F0-36A1696B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89ACE8-4034-43A3-A3D2-76D935BA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0C14C-0320-45D3-A36B-60C6F70F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capacitive divider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90E38-7CDA-465F-B0D5-F6482B75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LC tank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7A4E5-A070-4FE4-9892-F4B356C0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feedback fraction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B13B22-7296-49EC-A90E-86E400EA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6775AA-4BF8-4587-92B7-BF9433C1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32/50</a:t>
            </a:r>
          </a:p>
        </p:txBody>
      </p:sp>
    </p:spTree>
    <p:extLst>
      <p:ext uri="{BB962C8B-B14F-4D97-AF65-F5344CB8AC3E}">
        <p14:creationId xmlns:p14="http://schemas.microsoft.com/office/powerpoint/2010/main" val="195043083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B6255E-5557-4E21-B823-EB37C058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6DA7E-3A59-4E15-878F-BACE7046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Hartley oscillator: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A8519-01DB-4331-B028-0EA9DA61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1E6D4-34C5-4F9F-98F6-57763E41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Hartley uses an inductive divider in the resonant tank.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C7949-14D8-4331-9D51-E74C4E8B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inductive divider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LC tank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feedback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tuning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36BEE-42F5-47C6-A2D5-02AA9994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431A5-F868-4549-8C01-1D1EDCAA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The tank stores and returns energy each cycle.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B8501-3C8A-496A-AD0F-BBFA2B9C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5EF7C-F42E-453B-9FD0-6A959421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02399-180A-441E-91DE-6CC014CE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7BDB7-9CB9-4014-A4F5-E7F13350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inductive divider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8E789-DE92-4002-9AB0-F43A4BA1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LC tank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C8612B-AFB9-4E0B-9014-56B9DB38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05BA21-7045-4CCE-A7B6-04CCFADC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1E8F56-B4CB-4403-B45C-27796979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33/50</a:t>
            </a:r>
          </a:p>
        </p:txBody>
      </p:sp>
    </p:spTree>
    <p:extLst>
      <p:ext uri="{BB962C8B-B14F-4D97-AF65-F5344CB8AC3E}">
        <p14:creationId xmlns:p14="http://schemas.microsoft.com/office/powerpoint/2010/main" val="150718915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871345-8C50-4FB0-89F7-676F9EBC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ED12F-DDCC-48E2-AC83-2250A897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Hartley oscillator: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1D789-C5E5-4DA8-9698-166750659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7B9AC-07AC-43B4-BE04-B9683D8C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411F87-EF83-42BE-A928-DF7A073D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31809-B389-4DA8-9636-97B6D523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A2BA5-5B88-48D1-8C24-21C053CA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The tank stores and returns energy each cycle.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3E41A-B17B-46CC-ACC1-D90D93DC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EBA5F5-9B1C-418D-8161-0849E5C5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594743-CDB8-49DD-A00A-2AABC352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000B30-F28C-4B2A-BEF1-32A5C299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inductive divider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5BF344-AD38-40A0-BF7F-3921E991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LC tank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12E29C-12A0-4F53-80DB-470A3195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4F20DB-41F1-4A32-B45D-029721BD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1AE718-17D3-44F1-AB55-F396838A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34/50</a:t>
            </a:r>
          </a:p>
        </p:txBody>
      </p:sp>
    </p:spTree>
    <p:extLst>
      <p:ext uri="{BB962C8B-B14F-4D97-AF65-F5344CB8AC3E}">
        <p14:creationId xmlns:p14="http://schemas.microsoft.com/office/powerpoint/2010/main" val="152702154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DDD65-C122-4C26-A005-1ECF493A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536C6-2C05-4D14-87AD-98C35C14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Hartley oscillator: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6532F3-139D-44F6-975A-020EBFA2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03631-1388-499A-875E-849176BF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hartley oscillator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5D312-B4DF-4DDB-B589-AD654C45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The tank stores and returns energy each cycle.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8D202-7242-4809-8103-D4037DCF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DED97-394D-4130-B21F-C7C0D108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The tank stores and returns energy each cycle.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53EF2-B5B7-4AC0-8F8D-BA57A787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514EE7-417B-461D-97B8-BA2E4EFC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D69DE-2A82-4DF7-842E-8477A920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9A5543-8A8D-4C9E-8754-52F029D7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inductive divider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82F70E-3CDA-4E5F-9C7B-DA65B9127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LC tank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4C2784-4FAE-478D-B9B6-6F35DFA8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26BD9-2F75-46D7-9B99-C9AAD5DD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40ECE-5355-4C40-A87C-206091AA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35/50</a:t>
            </a:r>
          </a:p>
        </p:txBody>
      </p:sp>
    </p:spTree>
    <p:extLst>
      <p:ext uri="{BB962C8B-B14F-4D97-AF65-F5344CB8AC3E}">
        <p14:creationId xmlns:p14="http://schemas.microsoft.com/office/powerpoint/2010/main" val="49266643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ECB566-1B4C-4629-8FB2-CB8E5850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4C13D-4D26-4344-ADF6-41021B6F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Hartley oscillator: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F5E92-5A61-4942-B8D5-6D6E2580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79FF8-F687-4B29-A934-607614FB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hartley oscillator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B87806-2A6D-4430-9C61-D3C79CD6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inductive divider and LC tank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9984E-6E87-4057-8C31-B38CCDEB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E389D0-4FB9-4C0E-8135-12749C2A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The tank stores and returns energy each cycle.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D1F467-1081-4CDF-8002-B959E7CA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AF747-8E48-47EC-98F0-C6B999E2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96936-94F2-4537-812B-BDB99EF9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A2A21-9DD1-431E-8167-C414044F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inductive divider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B2358-D3A2-4264-986D-35812C47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LC tank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382F3-BB75-4098-AC3D-1AFA7148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feedback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E5BAC5-7DB5-4DEA-811A-E1B8EB8B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C9D28A-4B22-4848-8E0C-35308348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36/50</a:t>
            </a:r>
          </a:p>
        </p:txBody>
      </p:sp>
    </p:spTree>
    <p:extLst>
      <p:ext uri="{BB962C8B-B14F-4D97-AF65-F5344CB8AC3E}">
        <p14:creationId xmlns:p14="http://schemas.microsoft.com/office/powerpoint/2010/main" val="30758007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D8C0ED-AD53-48FB-98DC-874694B5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43B65-CCA9-4381-A11E-32FA9B9D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Crystal oscillator: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06D0F-11D2-4AAF-81AF-2F90FE0D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2CC1D-7FE3-4083-9744-7967AE3A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crystal oscillator uses mechanical resonance for stable frequency.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9B8E0-17FB-41D7-8345-384A2EE5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piezoelectric crystal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high Q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frequency stability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clock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AD41F-5157-4777-A76E-62F2659A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759FAF-9AE6-48BC-828C-EEA913F0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High Q gives excellent frequency stability.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99D0B-56D7-41BF-8FA4-14752E29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478FD-0749-4B4C-A3E1-2E1054B9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6663E-6EF2-4D1C-B26B-A6CE53FB6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F0958E-BD47-466D-BD00-5A9B33EA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piezoelectric crystal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E89D07-8D7C-4B24-BDC8-8DD2239B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high 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EFF90-7A52-43B0-A805-324CD45A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frequency stability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CD5DD-6497-44E2-B6AF-6B0E5D35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E2B50A-E13D-46D1-8989-148D5CDE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37/50</a:t>
            </a:r>
          </a:p>
        </p:txBody>
      </p:sp>
    </p:spTree>
    <p:extLst>
      <p:ext uri="{BB962C8B-B14F-4D97-AF65-F5344CB8AC3E}">
        <p14:creationId xmlns:p14="http://schemas.microsoft.com/office/powerpoint/2010/main" val="31697874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F1E3A3-3877-48B2-A22C-73ED70D8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DB911-406F-48D6-B53E-8DFC7A23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Crystal oscillator: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22ED78-B63E-4637-8685-94C87283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2E7E3-3152-450D-91F3-E2C2C4954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FB6CB-36CB-4044-A1C1-88FE989C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44887-8E66-41C1-9CAF-3C57F7FA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161CE-3F38-4E59-88FF-F2E576A1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High Q gives excellent frequency stability.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20030B-23DB-4365-84A5-F0CA0608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13989-37B5-477F-94F6-2FA7E51F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EA326-CECF-4A7E-87B9-BF8F094E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C4369-E5BD-4581-A27E-B1A3AD7C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piezoelectric crystal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E6676F-DEC9-4225-8B02-4DBE1EE1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high 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5900E5-B37F-4820-9EDE-301A62E8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frequency stability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D7998-3528-4D35-8F1A-30C9B711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B8CDAC-7606-4BAE-9A59-B0F9F280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38/50</a:t>
            </a:r>
          </a:p>
        </p:txBody>
      </p:sp>
    </p:spTree>
    <p:extLst>
      <p:ext uri="{BB962C8B-B14F-4D97-AF65-F5344CB8AC3E}">
        <p14:creationId xmlns:p14="http://schemas.microsoft.com/office/powerpoint/2010/main" val="125229121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84C989-94B2-4287-A9A1-6AABD9B4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26D4C1-8E32-4CFE-ADD2-91FD9BAB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Crystal oscillator: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56FAF-27B1-4264-8E65-71137AC9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C4168D-5574-4759-810D-E933EFF1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crystal oscillator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5AFCB-929F-4C49-8403-624ABE39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High Q gives excellent frequency stability.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C505F-A29C-4F5E-B32A-00B7E428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50F92-2817-4361-A499-8CE5989D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High Q gives excellent frequency stability.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22473-CABF-49F5-9A88-576FBE6D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E421DF-37AA-40C5-9A48-D3BBE316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0C8E3-1A54-4F21-94A6-E8E1246C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E02495-1202-415D-BE0F-7E4102C3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piezoelectric crystal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6884F-132C-45AA-A1BA-AAD436CD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high 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B60088-D8E1-442A-9870-E9ECEB74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frequency stability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E54E0-6B46-437E-8577-6B0FCA3B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32E778-A017-49F1-864E-D64A702B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39/50</a:t>
            </a:r>
          </a:p>
        </p:txBody>
      </p:sp>
    </p:spTree>
    <p:extLst>
      <p:ext uri="{BB962C8B-B14F-4D97-AF65-F5344CB8AC3E}">
        <p14:creationId xmlns:p14="http://schemas.microsoft.com/office/powerpoint/2010/main" val="56215422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42D45F-41EE-478C-97B7-D8E85D2F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92092-E9D0-4B10-918E-56D05AE0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Crystal oscillator: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4A89E-06E5-46C1-9F17-F37AB348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1B300-0FCA-4F42-B2BF-4E7A71858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crystal oscillator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064302-65E1-41E9-B434-63CFD3E3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piezoelectric crystal and high Q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D3AB8-92A9-47EC-BD1C-C4297B09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5CD6B-8CF5-4C24-A512-0012B7DD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High Q gives excellent frequency stability.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4F613-D652-4A4D-80B8-BFF7FD7BF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76387-EFB3-4B33-9F35-144E6D09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3B43E-097A-4A7F-B246-B9D4D8C2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ED05C-6B59-43F0-AA3B-52CE4F00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piezoelectric crystal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A9256-EF83-4127-89C4-29485171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high Q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809FD0-87AF-4CA5-BE3E-30BEF7C2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frequency stability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27CECE-EFE1-46BF-BBD6-241BB97F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BCDB6E-0D88-46BF-B98A-DABBFBDA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40/50</a:t>
            </a:r>
          </a:p>
        </p:txBody>
      </p:sp>
    </p:spTree>
    <p:extLst>
      <p:ext uri="{BB962C8B-B14F-4D97-AF65-F5344CB8AC3E}">
        <p14:creationId xmlns:p14="http://schemas.microsoft.com/office/powerpoint/2010/main" val="3149051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A03F90-AF98-4C14-990C-C76105E7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F482B-A05E-4629-9998-A79985E5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555 timer operation: core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AC3A79-02F9-4EBF-9E81-A970D2EE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0FBE4-142A-41AF-A30C-33AA489A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The 555 timer uses comparators and an SR latch to generate timing waveforms.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1CDA6D-6B49-4C59-996C-C7B59846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monostable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astable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trigger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42B7C-CF79-4E67-BDA2-EC2C136B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DF0B8F-3E75-4C3C-AA6E-C01C99AA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Monostable makes one pulse; astable makes a clock.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2F8F0-05CC-4CA7-9987-B7AE599F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DCF0D-6430-42A6-8522-DF7C1D7D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9EE70-7123-49AD-BC88-CB43DF6F4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1DF413-860B-4223-9CE9-446DED53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monostable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96724-9219-41C7-82BE-4DB2835B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astable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FC0648-9C5F-4AF0-9699-6122BC89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threshold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FD0803-707E-4305-9028-5DC34F73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D95CE-B4FF-4247-B3F8-D233E232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41/50</a:t>
            </a:r>
          </a:p>
        </p:txBody>
      </p:sp>
    </p:spTree>
    <p:extLst>
      <p:ext uri="{BB962C8B-B14F-4D97-AF65-F5344CB8AC3E}">
        <p14:creationId xmlns:p14="http://schemas.microsoft.com/office/powerpoint/2010/main" val="132523644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CBB914-75FA-428A-A056-5F706935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5D2F5-26F8-48F2-80DB-920B4DF7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555 timer operation: circuit working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A58DCB-9BDA-4A96-9DD0-6010353F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888AF-DEFA-4C92-98DE-991393AEA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Follow the signal path and ask what each device or network contributes.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23631-B537-407C-AAA3-42746986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Identify input and output nodes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Mark DC bias and AC signal path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Track phase, gain, impedance, or threshold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Connect the result to the 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AE889A-A986-44BA-82D0-FFC1D401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9B69C1-A47D-4A70-8E25-58A0B797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Monostable makes one pulse; astable makes a clock.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18612-0446-4F35-9B42-27D1B367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052C9E-42F4-4987-9C8F-A2B6A7D0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9B2157-2E38-46DA-AA6F-0F914B65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1D148-F734-46E6-BE10-7053E096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monostable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D753D-8255-4484-89A0-0D831FCD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astable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0E1F9C-E4A3-48C5-87EC-F38D6B3B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threshold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D5E428-AFD6-4766-8944-D04BC651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D3982E-354C-4E11-8280-FE19DD607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42/50</a:t>
            </a:r>
          </a:p>
        </p:txBody>
      </p:sp>
    </p:spTree>
    <p:extLst>
      <p:ext uri="{BB962C8B-B14F-4D97-AF65-F5344CB8AC3E}">
        <p14:creationId xmlns:p14="http://schemas.microsoft.com/office/powerpoint/2010/main" val="124577485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C9AE03-4439-4B0E-826E-7ADF6074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987997-784B-4B89-ACA2-BA5754C9B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555 timer operation: analysis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2F0C9-3077-4F2F-ABCA-39EFABF0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FD156-54E0-4D21-B392-69942AD3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Use a small set of equations and assumptions to solve 555 timer operation problems.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534EB-6B03-44E7-86D7-915DFC14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Draw the equivalent model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Write known circuit relations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Substitute device parameters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State the result: Monostable makes one pulse; astable makes a clock.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1083C-1882-4547-954B-6B1AB3AD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BC05B-6292-42B7-8BD1-2E8EC901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Monostable makes one pulse; astable makes a clock.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B4AD37-7F65-4BF5-BDBD-8A0350DE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36129F-7DD5-49E2-9497-D5AD6D92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E2A520-0563-4265-9D40-61818E7F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CD56A-DA5D-4EED-A649-09E0D46D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monostable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F9B24-7A05-46A7-B4B3-D352B346E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astable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C25967-76C5-4834-A8B3-FD681350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threshold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8B3568-1938-42C5-B956-1D781E13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754CC7-3F8F-46D4-8BDD-A67748A74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43/50</a:t>
            </a:r>
          </a:p>
        </p:txBody>
      </p:sp>
    </p:spTree>
    <p:extLst>
      <p:ext uri="{BB962C8B-B14F-4D97-AF65-F5344CB8AC3E}">
        <p14:creationId xmlns:p14="http://schemas.microsoft.com/office/powerpoint/2010/main" val="123315650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70479F-A0BD-4A71-905F-E87BAA5C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15463-36B5-448E-8AD5-F086910A8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555 timer operation: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F71458-D482-49C8-BF0D-CFB1B09B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9CB7D-02F9-4EB0-979D-E87F3119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555 timer operation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5EC43-5F0A-4C08-AAA5-93F0270D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monostable and astable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ED9D9-3BE7-49C2-AE6B-02327BB3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E54B0C-355E-4D04-8783-DEE49F08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Monostable makes one pulse; astable makes a clock.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B2023-9D02-47E3-8DC2-37197B08E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EBD7A-EC07-49BD-83C5-17FF7616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3E92C-C9E0-4891-AA3D-F752467D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D48979-FD0B-4E9B-B2DC-A3B8E355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monostable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5BC32-821C-4F9C-81CE-E16615AD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astable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491CE1-348A-45E8-A612-32BE6BA9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threshold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FC68D-DA35-477D-B15E-75255316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E531A5-A0DC-42EC-8456-74913ABD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44/50</a:t>
            </a:r>
          </a:p>
        </p:txBody>
      </p:sp>
    </p:spTree>
    <p:extLst>
      <p:ext uri="{BB962C8B-B14F-4D97-AF65-F5344CB8AC3E}">
        <p14:creationId xmlns:p14="http://schemas.microsoft.com/office/powerpoint/2010/main" val="66465543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54A38E-D31D-4216-A5A8-0E7BD275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31E42A-0D98-4539-A7AC-94E5958A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3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AD259-EACB-475E-9BB3-4141596A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152FC6-CF28-43F9-94F9-193F9C24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3238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Negative Feedback, Oscillators, and 555 Timer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1F603-8520-491B-8BC0-022C13B1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Four feedback types / four types of negative feedback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C2E78-2F47-4CBD-B9F8-3F5B0EFB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VCVS feedback amplifier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13390C-D133-4CAE-8EB6-4B8C4C2D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ICVS, VCIS, and ICIS amplifiers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64021-044E-4FD1-A649-60DCFE18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Oscillator theory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9C8FFA-7441-4B7D-8169-485CD591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Wein-bridge oscillator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CF6911-F36C-4252-B83A-7E09CBA4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RC phase-shift oscillator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5B5469-6CD9-4CE9-80B2-F31D7EEE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Colpitts oscillator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E603C-879B-4772-A291-B42CA5FC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Hartley oscillator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3D1A37-D93C-45AC-BFAC-2F44CFE3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9120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If students can redraw this map, they can revise the module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6570B5-9660-40B2-9E66-C2AA2456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45/50</a:t>
            </a:r>
          </a:p>
        </p:txBody>
      </p:sp>
    </p:spTree>
    <p:extLst>
      <p:ext uri="{BB962C8B-B14F-4D97-AF65-F5344CB8AC3E}">
        <p14:creationId xmlns:p14="http://schemas.microsoft.com/office/powerpoint/2010/main" val="122182100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D90402-D93B-4494-9214-BE8C4178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FC21F-6385-4463-BFF5-E9C986FC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3 exam-focused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F053B0-7877-4415-B69C-F213FFED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34C17B-F1A7-4F31-8382-ECC1CC10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CC63B-DC80-4D07-B503-7432B9FB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287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Explain four feedback types / four types of negative feedback with a neat circuit diagram.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1E24B-0501-4FC8-ACE1-E53AF696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240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8FCE7-74E8-43F3-9311-4277DDD4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E07321-F3BC-417A-B7A2-5C03F361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52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Derive or outline the analysis method for vcvs feedback amplifier.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F975EC-7D97-4838-8DEA-249E6F0B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479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244CDA-4AF3-42E3-958A-BEB0FF33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C534D-5FBC-460F-9E25-3BD334989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765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Compare icvs, vcis, and icis amplifiers and oscillator theory.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471EC-2D8B-435C-8799-F6E000CD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71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5D40F0-7933-4F9A-8EC4-063AD461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992EE8-334A-46A4-85E9-5AFFAF3A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Solve a numerical design problem based on wein-bridge oscillator.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40E4E-8C86-4164-A729-6EB233AF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95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CE246B-4552-482D-8849-5EA6E659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68FC63-9A06-4E48-8BFF-A885F5EA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243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Draw the waveform/response for rc phase-shift oscillator and explain.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75E304-6838-4E42-9B14-4FC647F6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196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6B63F7-2B10-4481-B74A-F5FD04AF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E2D799-33AF-4B2B-ADEF-74496B21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48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short notes on colpitts oscillator and applications.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B36D95-FB40-4E70-AFDE-ABA39F8D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435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3A08A4-1E84-4674-B0DD-1908A286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46/50</a:t>
            </a:r>
          </a:p>
        </p:txBody>
      </p:sp>
    </p:spTree>
    <p:extLst>
      <p:ext uri="{BB962C8B-B14F-4D97-AF65-F5344CB8AC3E}">
        <p14:creationId xmlns:p14="http://schemas.microsoft.com/office/powerpoint/2010/main" val="132356896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DA1363-8C1F-44FA-A6ED-3A63D358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Exam quick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E94703-4AFF-4488-9412-52FB0DC0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3 formula and design checkpoints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5D17A-DA4E-4199-8F43-AB725C4B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C8EBE-D71E-47FE-A507-AEE2989B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BED64-71BF-4416-91BA-43CA9295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6192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Feedback: Af = A / (1 + A beta)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3C157-4FFA-4A52-9A3A-75F1FF51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7526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CFA35-1D11-4A8C-8CB7-7B6FE45B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2DAC8-2477-418D-8E0A-9BB49679A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955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Oscillation: loop phase 0 deg and gain &gt;=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DB85EF-A165-4819-B3C0-2387BDC6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289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B1DDE-4A30-413E-85D0-746791D5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D9625-4CD3-445D-B796-FB73C73F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3718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555 monostable pulse depends on R and 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37AD9B-6B69-4D9A-89B6-DF2A3988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5052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check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3F3A02-EACF-4176-89D8-9128400C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0600E-A3DE-4C62-9AB8-28E2A297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2481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033"/>
                </a:solidFill>
              </a:defRPr>
            </a:pPr>
            <a:r>
              <a:rPr sz="1875" b="1">
                <a:solidFill>
                  <a:srgbClr val="102033"/>
                </a:solidFill>
              </a:rPr>
              <a:t>555 astable duty cycle depends on charge/discharge paths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FFFFCD-2F75-4522-B1DA-59CDA303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381500"/>
            <a:ext cx="8763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F7ABEC-E438-4908-8CC7-6A630B78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47/50</a:t>
            </a:r>
          </a:p>
        </p:txBody>
      </p:sp>
    </p:spTree>
    <p:extLst>
      <p:ext uri="{BB962C8B-B14F-4D97-AF65-F5344CB8AC3E}">
        <p14:creationId xmlns:p14="http://schemas.microsoft.com/office/powerpoint/2010/main" val="30236471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CC607-0434-4B35-AE72-C2D12A5F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AA5BF-D6BB-4FCE-964E-670C42C5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3 summary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BC07F-8E3B-4886-9DB1-8CFF8E21D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5E50E-7158-4B9D-B826-8A7A9F06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3238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Negative Feedback, Oscillators, and 555 Timer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B0F6A-BA83-4D28-8996-4BB152C1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Four feedback types / four types of negative feedback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3953B-1DF6-49F7-83A0-A2AB59B3B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VCVS feedback amplifier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A9B09-F7C7-4EE2-A82B-32A4E785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ICVS, VCIS, and ICIS amplifiers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17549-5BCE-448C-A633-4FF4BA6C9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Oscillator theory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C2592-D3F7-4A79-A980-CB3B5B2E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Wein-bridge oscillator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DC45C3-B29E-40BD-8B6E-5FF10B30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RC phase-shift oscillator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44CD3-7B14-4658-B460-9EB47EEA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Colpitts oscillator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D618B4-B9A5-4E79-9AE9-67A2776C7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033"/>
                </a:solidFill>
              </a:defRPr>
            </a:pPr>
            <a:r>
              <a:rPr sz="1050" b="1">
                <a:solidFill>
                  <a:srgbClr val="102033"/>
                </a:solidFill>
              </a:rPr>
              <a:t>Hartley oscillator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7E0B3-5A5D-4AB0-984D-27DF34D0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79120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If students can redraw this map, they can revise the module quickly.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7D95D6-5BED-4B3A-9B1E-7EEAB36E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48/50</a:t>
            </a:r>
          </a:p>
        </p:txBody>
      </p:sp>
    </p:spTree>
    <p:extLst>
      <p:ext uri="{BB962C8B-B14F-4D97-AF65-F5344CB8AC3E}">
        <p14:creationId xmlns:p14="http://schemas.microsoft.com/office/powerpoint/2010/main" val="135272527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09BCC0-E789-4E10-8FEE-BF525A86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AB577B-8D4E-4DF7-90B6-4C302E01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Module 3 exam-focused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52FBF-DF47-42CE-8EB2-53018146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D1AE23-9E8B-4836-AE07-8B4E1194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D1992-4D18-402C-AEDA-384B7CFF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287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Explain four feedback types / four types of negative feedback with a neat circuit diagram.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46690-0565-4F02-A3FA-34EB2425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240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B2943-F2E5-4B25-A82C-A11E8B47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28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81950-E2FF-4FD2-AF3A-3F470779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526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Derive or outline the analysis method for vcvs feedback amplifier.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35206-0F40-4EB6-A5DD-DFBE2702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479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06A360-7664-4F20-BBE1-DBA24AAE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AED35-845D-46BC-97CE-2B3A5F7C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765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Compare icvs, vcis, and icis amplifiers and oscillator theory.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62C9C-884F-4044-8DCB-8AFE7B0D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9718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10 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E9D0D5-3D77-43FD-BDA0-EAA3F60F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3A4EA5-EA9B-4A35-AC3C-3FBAA248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6004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Solve a numerical design problem based on wein-bridge oscillator.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7919D-050F-42F1-A18F-73D8D83D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957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7977F3-466C-497D-8A3E-E6031CED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5DD7B0-C89B-454A-8003-5224044B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243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Draw the waveform/response for rc phase-shift oscillator and explain.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9D2E94-9588-4A3B-AD5A-F823FD03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4196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EA47C7-AEC5-4C98-ADC1-D748B05C3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24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143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33"/>
                </a:solidFill>
              </a:defRPr>
            </a:pPr>
            <a:r>
              <a:rPr sz="1200" b="1">
                <a:solidFill>
                  <a:srgbClr val="102033"/>
                </a:solidFill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0B9E49-A1C1-4D81-840A-5BFA195B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482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Write short notes on colpitts oscillator and applications.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48E633-5334-4A87-BE4F-81B06B57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143500"/>
            <a:ext cx="1047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02033"/>
                </a:solidFill>
              </a:defRPr>
            </a:pPr>
            <a:r>
              <a:rPr sz="975" b="1">
                <a:solidFill>
                  <a:srgbClr val="102033"/>
                </a:solidFill>
              </a:rPr>
              <a:t>short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16B002-473A-4B53-AE2D-BAEA20FD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49/50</a:t>
            </a:r>
          </a:p>
        </p:txBody>
      </p:sp>
    </p:spTree>
    <p:extLst>
      <p:ext uri="{BB962C8B-B14F-4D97-AF65-F5344CB8AC3E}">
        <p14:creationId xmlns:p14="http://schemas.microsoft.com/office/powerpoint/2010/main" val="33462416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C7E425-E807-4A88-BBA0-6FF9932A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3AED"/>
                </a:solidFill>
              </a:defRPr>
            </a:pPr>
            <a:r>
              <a:rPr sz="1050" b="1">
                <a:solidFill>
                  <a:srgbClr val="7C3AED"/>
                </a:solidFill>
              </a:rPr>
              <a:t>Module 3 / Negative Feedback, Oscillators, and 555 Timer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37E2F-5724-455D-AF43-23E2EF3F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33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33"/>
                </a:solidFill>
              </a:defRPr>
            </a:pPr>
            <a:r>
              <a:rPr sz="2700" b="1">
                <a:solidFill>
                  <a:srgbClr val="102033"/>
                </a:solidFill>
              </a:rPr>
              <a:t>Wein-bridge oscillator: 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913E8-8900-4ECA-A50B-F5500ECD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F2"/>
          </a:solidFill>
          <a:ln xmlns:a="http://schemas.openxmlformats.org/drawingml/2006/main" w="0">
            <a:solidFill>
              <a:srgbClr val="D9E2F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7B1DF8-5372-4892-B6CB-FE5B7A9A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</a:defRPr>
            </a:pPr>
            <a:r>
              <a:rPr sz="1800" b="1">
                <a:solidFill>
                  <a:srgbClr val="102033"/>
                </a:solidFill>
              </a:rPr>
              <a:t>A small numerical or waveform example makes wein-bridge oscillator exam-ready.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84504-5215-465F-9ABE-533286A5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Given: lead-lag network and low distortion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Find the target quantity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Check units and region of operation</a:t>
            </a:r>
          </a:p>
          <a:p xmlns:a="http://schemas.openxmlformats.org/drawingml/2006/main">
            <a:pPr algn="l">
              <a:defRPr sz="1575" b="0">
                <a:solidFill>
                  <a:srgbClr val="102033"/>
                </a:solidFill>
              </a:defRPr>
            </a:pPr>
            <a:r>
              <a:rPr sz="1575" b="0">
                <a:solidFill>
                  <a:srgbClr val="102033"/>
                </a:solidFill>
              </a:rPr>
              <a:t>• Explain the physical meaning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D6458-63AB-404B-A06C-49D7AA16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3144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Takeaway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F61DF-AE8B-4991-B3CF-09735718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0101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</a:defRPr>
            </a:pPr>
            <a:r>
              <a:rPr sz="1350" b="0">
                <a:solidFill>
                  <a:srgbClr val="102033"/>
                </a:solidFill>
              </a:rPr>
              <a:t>It is a classic low-distortion sine-wave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97A485-FB19-4A25-A213-FC9206C7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76550"/>
            <a:ext cx="1524000" cy="1143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19050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5DA05-50EB-4C32-BFB2-A988A2F5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62300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776511-2E96-4E4D-9D2C-9F2AF268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90925"/>
            <a:ext cx="28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033"/>
                </a:solidFill>
              </a:defRPr>
            </a:pPr>
            <a:r>
              <a:rPr sz="1950" b="1">
                <a:solidFill>
                  <a:srgbClr val="102033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C3544-7F11-4FFA-B412-F341ABDB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290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3EDFF"/>
          </a:solidFill>
          <a:ln xmlns:a="http://schemas.openxmlformats.org/drawingml/2006/main" w="1143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lead-lag network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17CBF-2BDF-4858-A970-C4CD105B8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238500"/>
            <a:ext cx="100012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11430">
            <a:solidFill>
              <a:srgbClr val="16A34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low distortion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E58352-98FA-4A68-A0A6-2463D693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971675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5DB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033"/>
                </a:solidFill>
              </a:defRPr>
            </a:pPr>
            <a:r>
              <a:rPr sz="1350" b="1">
                <a:solidFill>
                  <a:srgbClr val="102033"/>
                </a:solidFill>
              </a:rPr>
              <a:t>frequency selection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758F5-7191-44D2-BCDE-6ABC94BB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51625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033"/>
                </a:solidFill>
              </a:defRPr>
            </a:pPr>
            <a:r>
              <a:rPr sz="1650" b="1">
                <a:solidFill>
                  <a:srgbClr val="102033"/>
                </a:solidFill>
              </a:rPr>
              <a:t>Feedback decides linear or switching behavior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E00246-236B-4DFA-814C-4B986058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26071"/>
                </a:solidFill>
              </a:defRPr>
            </a:pPr>
            <a:r>
              <a:rPr sz="825" b="0">
                <a:solidFill>
                  <a:srgbClr val="526071"/>
                </a:solidFill>
              </a:rPr>
              <a:t>VTU 1BEC304 • Module 3 • 50/50</a:t>
            </a:r>
          </a:p>
        </p:txBody>
      </p:sp>
    </p:spTree>
    <p:extLst>
      <p:ext uri="{BB962C8B-B14F-4D97-AF65-F5344CB8AC3E}">
        <p14:creationId xmlns:p14="http://schemas.microsoft.com/office/powerpoint/2010/main" val="8606540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2026-08-21T07:02:37.1340000Z</dcterms:created>
  <dcterms:modified xsi:type="dcterms:W3CDTF">2026-08-21T07:02:37.1340000Z</dcterms:modified>
</coreProperties>
</file>