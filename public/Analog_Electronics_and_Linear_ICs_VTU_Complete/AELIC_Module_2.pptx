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e9643c7f5f4604" /><Relationship Type="http://schemas.openxmlformats.org/officeDocument/2006/relationships/extended-properties" Target="/docProps/app.xml" Id="Rbb84dd2e84314fef" /><Relationship Type="http://schemas.openxmlformats.org/officeDocument/2006/relationships/officeDocument" Target="/ppt/presentation.xml" Id="R8bc2a19719874e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4349dd1bb4a3d"/>
  </p:sldMasterIdLst>
  <p:notesMasterIdLst>
    <p:notesMasterId xmlns:r="http://schemas.openxmlformats.org/officeDocument/2006/relationships" r:id="Rea85c0148c71476d"/>
  </p:notesMasterIdLst>
  <p:sldIdLst>
    <p:sldId xmlns:r="http://schemas.openxmlformats.org/officeDocument/2006/relationships" id="256" r:id="Rd42ca7e56b50481f"/>
    <p:sldId xmlns:r="http://schemas.openxmlformats.org/officeDocument/2006/relationships" id="257" r:id="Rab284bf227934431"/>
    <p:sldId xmlns:r="http://schemas.openxmlformats.org/officeDocument/2006/relationships" id="258" r:id="Rcff67a2e2e964fee"/>
    <p:sldId xmlns:r="http://schemas.openxmlformats.org/officeDocument/2006/relationships" id="259" r:id="R441d623f9c334334"/>
    <p:sldId xmlns:r="http://schemas.openxmlformats.org/officeDocument/2006/relationships" id="260" r:id="Rc7d209a3e7414b4c"/>
    <p:sldId xmlns:r="http://schemas.openxmlformats.org/officeDocument/2006/relationships" id="261" r:id="R5b637c1223254c63"/>
    <p:sldId xmlns:r="http://schemas.openxmlformats.org/officeDocument/2006/relationships" id="262" r:id="Rdeff417c3e644186"/>
    <p:sldId xmlns:r="http://schemas.openxmlformats.org/officeDocument/2006/relationships" id="263" r:id="R9998b75dc12d4993"/>
    <p:sldId xmlns:r="http://schemas.openxmlformats.org/officeDocument/2006/relationships" id="264" r:id="R026bf051911c4a09"/>
    <p:sldId xmlns:r="http://schemas.openxmlformats.org/officeDocument/2006/relationships" id="265" r:id="R36c67232a3814fc8"/>
    <p:sldId xmlns:r="http://schemas.openxmlformats.org/officeDocument/2006/relationships" id="266" r:id="Rf9396c448f10496a"/>
    <p:sldId xmlns:r="http://schemas.openxmlformats.org/officeDocument/2006/relationships" id="267" r:id="R8a31eed251af47e3"/>
    <p:sldId xmlns:r="http://schemas.openxmlformats.org/officeDocument/2006/relationships" id="268" r:id="Rddc3bd729848494c"/>
    <p:sldId xmlns:r="http://schemas.openxmlformats.org/officeDocument/2006/relationships" id="269" r:id="R0e69512ec4d04028"/>
    <p:sldId xmlns:r="http://schemas.openxmlformats.org/officeDocument/2006/relationships" id="270" r:id="Rf5594c61b6c648df"/>
    <p:sldId xmlns:r="http://schemas.openxmlformats.org/officeDocument/2006/relationships" id="271" r:id="Rded673f5941e4cba"/>
    <p:sldId xmlns:r="http://schemas.openxmlformats.org/officeDocument/2006/relationships" id="272" r:id="R953d76faf9e94b56"/>
    <p:sldId xmlns:r="http://schemas.openxmlformats.org/officeDocument/2006/relationships" id="273" r:id="R556ef4c44b78443d"/>
    <p:sldId xmlns:r="http://schemas.openxmlformats.org/officeDocument/2006/relationships" id="274" r:id="R87dd8de5cd2f430a"/>
    <p:sldId xmlns:r="http://schemas.openxmlformats.org/officeDocument/2006/relationships" id="275" r:id="Rc7cd20be83e74db2"/>
    <p:sldId xmlns:r="http://schemas.openxmlformats.org/officeDocument/2006/relationships" id="276" r:id="R861a16b1ca3947c2"/>
    <p:sldId xmlns:r="http://schemas.openxmlformats.org/officeDocument/2006/relationships" id="277" r:id="Rf6e2bdba923e44cb"/>
    <p:sldId xmlns:r="http://schemas.openxmlformats.org/officeDocument/2006/relationships" id="278" r:id="R9a92eadc1b7f4aa0"/>
    <p:sldId xmlns:r="http://schemas.openxmlformats.org/officeDocument/2006/relationships" id="279" r:id="Ra864b0e5d1b84334"/>
    <p:sldId xmlns:r="http://schemas.openxmlformats.org/officeDocument/2006/relationships" id="280" r:id="R598e6bfaf8fd4a6e"/>
    <p:sldId xmlns:r="http://schemas.openxmlformats.org/officeDocument/2006/relationships" id="281" r:id="R56c894112b2c4f00"/>
    <p:sldId xmlns:r="http://schemas.openxmlformats.org/officeDocument/2006/relationships" id="282" r:id="R5cc42741447b43de"/>
    <p:sldId xmlns:r="http://schemas.openxmlformats.org/officeDocument/2006/relationships" id="283" r:id="Re8de18e9a543494f"/>
    <p:sldId xmlns:r="http://schemas.openxmlformats.org/officeDocument/2006/relationships" id="284" r:id="Ra8961909672b45be"/>
    <p:sldId xmlns:r="http://schemas.openxmlformats.org/officeDocument/2006/relationships" id="285" r:id="R85ae560e59ae40a0"/>
    <p:sldId xmlns:r="http://schemas.openxmlformats.org/officeDocument/2006/relationships" id="286" r:id="R05c1de783c40491f"/>
    <p:sldId xmlns:r="http://schemas.openxmlformats.org/officeDocument/2006/relationships" id="287" r:id="Rc9ffe945924e4102"/>
    <p:sldId xmlns:r="http://schemas.openxmlformats.org/officeDocument/2006/relationships" id="288" r:id="R8bbeb27bdac743c0"/>
    <p:sldId xmlns:r="http://schemas.openxmlformats.org/officeDocument/2006/relationships" id="289" r:id="R67a43a1171504761"/>
    <p:sldId xmlns:r="http://schemas.openxmlformats.org/officeDocument/2006/relationships" id="290" r:id="R2991b8a563874f08"/>
    <p:sldId xmlns:r="http://schemas.openxmlformats.org/officeDocument/2006/relationships" id="291" r:id="Ra6942920425b4a05"/>
    <p:sldId xmlns:r="http://schemas.openxmlformats.org/officeDocument/2006/relationships" id="292" r:id="Reccaa4ce4fb34baf"/>
    <p:sldId xmlns:r="http://schemas.openxmlformats.org/officeDocument/2006/relationships" id="293" r:id="R2f976f25acb04cc1"/>
    <p:sldId xmlns:r="http://schemas.openxmlformats.org/officeDocument/2006/relationships" id="294" r:id="R317193f128294cdc"/>
    <p:sldId xmlns:r="http://schemas.openxmlformats.org/officeDocument/2006/relationships" id="295" r:id="R77a5fff3c4254e9c"/>
    <p:sldId xmlns:r="http://schemas.openxmlformats.org/officeDocument/2006/relationships" id="296" r:id="Rdbfbca81b7194e38"/>
    <p:sldId xmlns:r="http://schemas.openxmlformats.org/officeDocument/2006/relationships" id="297" r:id="R311287aa7723496b"/>
    <p:sldId xmlns:r="http://schemas.openxmlformats.org/officeDocument/2006/relationships" id="298" r:id="R1e7f68b7044c4578"/>
    <p:sldId xmlns:r="http://schemas.openxmlformats.org/officeDocument/2006/relationships" id="299" r:id="Ra76277200eb340e3"/>
    <p:sldId xmlns:r="http://schemas.openxmlformats.org/officeDocument/2006/relationships" id="300" r:id="R4f6620bd9b6444dd"/>
    <p:sldId xmlns:r="http://schemas.openxmlformats.org/officeDocument/2006/relationships" id="301" r:id="Rbc0037cf48024c89"/>
    <p:sldId xmlns:r="http://schemas.openxmlformats.org/officeDocument/2006/relationships" id="302" r:id="Ra3cb4c2ce9a842cc"/>
    <p:sldId xmlns:r="http://schemas.openxmlformats.org/officeDocument/2006/relationships" id="303" r:id="R0f1114d63be6415a"/>
    <p:sldId xmlns:r="http://schemas.openxmlformats.org/officeDocument/2006/relationships" id="304" r:id="Rb136481848914777"/>
    <p:sldId xmlns:r="http://schemas.openxmlformats.org/officeDocument/2006/relationships" id="305" r:id="R7798778b8eed4a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0a6e86cc6d4f4d" /><Relationship Type="http://schemas.openxmlformats.org/officeDocument/2006/relationships/slideMaster" Target="/ppt/slideMasters/slideMaster1.xml" Id="R5114349dd1bb4a3d" /><Relationship Type="http://schemas.openxmlformats.org/officeDocument/2006/relationships/notesMaster" Target="/ppt/notesMasters/notesMaster1.xml" Id="Rea85c0148c71476d" /><Relationship Type="http://schemas.openxmlformats.org/officeDocument/2006/relationships/presProps" Target="/ppt/presProps.xml" Id="R1d080679ee1d4cce" /><Relationship Type="http://schemas.openxmlformats.org/officeDocument/2006/relationships/tableStyles" Target="/ppt/tableStyles.xml" Id="Rd8c87fce491f4de7" /><Relationship Type="http://schemas.openxmlformats.org/officeDocument/2006/relationships/slide" Target="/ppt/slides/slide1.xml" Id="Rd42ca7e56b50481f" /><Relationship Type="http://schemas.openxmlformats.org/officeDocument/2006/relationships/slide" Target="/ppt/slides/slide2.xml" Id="Rab284bf227934431" /><Relationship Type="http://schemas.openxmlformats.org/officeDocument/2006/relationships/slide" Target="/ppt/slides/slide3.xml" Id="Rcff67a2e2e964fee" /><Relationship Type="http://schemas.openxmlformats.org/officeDocument/2006/relationships/slide" Target="/ppt/slides/slide4.xml" Id="R441d623f9c334334" /><Relationship Type="http://schemas.openxmlformats.org/officeDocument/2006/relationships/slide" Target="/ppt/slides/slide5.xml" Id="Rc7d209a3e7414b4c" /><Relationship Type="http://schemas.openxmlformats.org/officeDocument/2006/relationships/slide" Target="/ppt/slides/slide6.xml" Id="R5b637c1223254c63" /><Relationship Type="http://schemas.openxmlformats.org/officeDocument/2006/relationships/slide" Target="/ppt/slides/slide7.xml" Id="Rdeff417c3e644186" /><Relationship Type="http://schemas.openxmlformats.org/officeDocument/2006/relationships/slide" Target="/ppt/slides/slide8.xml" Id="R9998b75dc12d4993" /><Relationship Type="http://schemas.openxmlformats.org/officeDocument/2006/relationships/slide" Target="/ppt/slides/slide9.xml" Id="R026bf051911c4a09" /><Relationship Type="http://schemas.openxmlformats.org/officeDocument/2006/relationships/slide" Target="/ppt/slides/slide10.xml" Id="R36c67232a3814fc8" /><Relationship Type="http://schemas.openxmlformats.org/officeDocument/2006/relationships/slide" Target="/ppt/slides/slide11.xml" Id="Rf9396c448f10496a" /><Relationship Type="http://schemas.openxmlformats.org/officeDocument/2006/relationships/slide" Target="/ppt/slides/slide12.xml" Id="R8a31eed251af47e3" /><Relationship Type="http://schemas.openxmlformats.org/officeDocument/2006/relationships/slide" Target="/ppt/slides/slide13.xml" Id="Rddc3bd729848494c" /><Relationship Type="http://schemas.openxmlformats.org/officeDocument/2006/relationships/slide" Target="/ppt/slides/slide14.xml" Id="R0e69512ec4d04028" /><Relationship Type="http://schemas.openxmlformats.org/officeDocument/2006/relationships/slide" Target="/ppt/slides/slide15.xml" Id="Rf5594c61b6c648df" /><Relationship Type="http://schemas.openxmlformats.org/officeDocument/2006/relationships/slide" Target="/ppt/slides/slide16.xml" Id="Rded673f5941e4cba" /><Relationship Type="http://schemas.openxmlformats.org/officeDocument/2006/relationships/slide" Target="/ppt/slides/slide17.xml" Id="R953d76faf9e94b56" /><Relationship Type="http://schemas.openxmlformats.org/officeDocument/2006/relationships/slide" Target="/ppt/slides/slide18.xml" Id="R556ef4c44b78443d" /><Relationship Type="http://schemas.openxmlformats.org/officeDocument/2006/relationships/slide" Target="/ppt/slides/slide19.xml" Id="R87dd8de5cd2f430a" /><Relationship Type="http://schemas.openxmlformats.org/officeDocument/2006/relationships/slide" Target="/ppt/slides/slide20.xml" Id="Rc7cd20be83e74db2" /><Relationship Type="http://schemas.openxmlformats.org/officeDocument/2006/relationships/slide" Target="/ppt/slides/slide21.xml" Id="R861a16b1ca3947c2" /><Relationship Type="http://schemas.openxmlformats.org/officeDocument/2006/relationships/slide" Target="/ppt/slides/slide22.xml" Id="Rf6e2bdba923e44cb" /><Relationship Type="http://schemas.openxmlformats.org/officeDocument/2006/relationships/slide" Target="/ppt/slides/slide23.xml" Id="R9a92eadc1b7f4aa0" /><Relationship Type="http://schemas.openxmlformats.org/officeDocument/2006/relationships/slide" Target="/ppt/slides/slide24.xml" Id="Ra864b0e5d1b84334" /><Relationship Type="http://schemas.openxmlformats.org/officeDocument/2006/relationships/slide" Target="/ppt/slides/slide25.xml" Id="R598e6bfaf8fd4a6e" /><Relationship Type="http://schemas.openxmlformats.org/officeDocument/2006/relationships/slide" Target="/ppt/slides/slide26.xml" Id="R56c894112b2c4f00" /><Relationship Type="http://schemas.openxmlformats.org/officeDocument/2006/relationships/slide" Target="/ppt/slides/slide27.xml" Id="R5cc42741447b43de" /><Relationship Type="http://schemas.openxmlformats.org/officeDocument/2006/relationships/slide" Target="/ppt/slides/slide28.xml" Id="Re8de18e9a543494f" /><Relationship Type="http://schemas.openxmlformats.org/officeDocument/2006/relationships/slide" Target="/ppt/slides/slide29.xml" Id="Ra8961909672b45be" /><Relationship Type="http://schemas.openxmlformats.org/officeDocument/2006/relationships/slide" Target="/ppt/slides/slide30.xml" Id="R85ae560e59ae40a0" /><Relationship Type="http://schemas.openxmlformats.org/officeDocument/2006/relationships/slide" Target="/ppt/slides/slide31.xml" Id="R05c1de783c40491f" /><Relationship Type="http://schemas.openxmlformats.org/officeDocument/2006/relationships/slide" Target="/ppt/slides/slide32.xml" Id="Rc9ffe945924e4102" /><Relationship Type="http://schemas.openxmlformats.org/officeDocument/2006/relationships/slide" Target="/ppt/slides/slide33.xml" Id="R8bbeb27bdac743c0" /><Relationship Type="http://schemas.openxmlformats.org/officeDocument/2006/relationships/slide" Target="/ppt/slides/slide34.xml" Id="R67a43a1171504761" /><Relationship Type="http://schemas.openxmlformats.org/officeDocument/2006/relationships/slide" Target="/ppt/slides/slide35.xml" Id="R2991b8a563874f08" /><Relationship Type="http://schemas.openxmlformats.org/officeDocument/2006/relationships/slide" Target="/ppt/slides/slide36.xml" Id="Ra6942920425b4a05" /><Relationship Type="http://schemas.openxmlformats.org/officeDocument/2006/relationships/slide" Target="/ppt/slides/slide37.xml" Id="Reccaa4ce4fb34baf" /><Relationship Type="http://schemas.openxmlformats.org/officeDocument/2006/relationships/slide" Target="/ppt/slides/slide38.xml" Id="R2f976f25acb04cc1" /><Relationship Type="http://schemas.openxmlformats.org/officeDocument/2006/relationships/slide" Target="/ppt/slides/slide39.xml" Id="R317193f128294cdc" /><Relationship Type="http://schemas.openxmlformats.org/officeDocument/2006/relationships/slide" Target="/ppt/slides/slide40.xml" Id="R77a5fff3c4254e9c" /><Relationship Type="http://schemas.openxmlformats.org/officeDocument/2006/relationships/slide" Target="/ppt/slides/slide41.xml" Id="Rdbfbca81b7194e38" /><Relationship Type="http://schemas.openxmlformats.org/officeDocument/2006/relationships/slide" Target="/ppt/slides/slide42.xml" Id="R311287aa7723496b" /><Relationship Type="http://schemas.openxmlformats.org/officeDocument/2006/relationships/slide" Target="/ppt/slides/slide43.xml" Id="R1e7f68b7044c4578" /><Relationship Type="http://schemas.openxmlformats.org/officeDocument/2006/relationships/slide" Target="/ppt/slides/slide44.xml" Id="Ra76277200eb340e3" /><Relationship Type="http://schemas.openxmlformats.org/officeDocument/2006/relationships/slide" Target="/ppt/slides/slide45.xml" Id="R4f6620bd9b6444dd" /><Relationship Type="http://schemas.openxmlformats.org/officeDocument/2006/relationships/slide" Target="/ppt/slides/slide46.xml" Id="Rbc0037cf48024c89" /><Relationship Type="http://schemas.openxmlformats.org/officeDocument/2006/relationships/slide" Target="/ppt/slides/slide47.xml" Id="Ra3cb4c2ce9a842cc" /><Relationship Type="http://schemas.openxmlformats.org/officeDocument/2006/relationships/slide" Target="/ppt/slides/slide48.xml" Id="R0f1114d63be6415a" /><Relationship Type="http://schemas.openxmlformats.org/officeDocument/2006/relationships/slide" Target="/ppt/slides/slide49.xml" Id="Rb136481848914777" /><Relationship Type="http://schemas.openxmlformats.org/officeDocument/2006/relationships/slide" Target="/ppt/slides/slide50.xml" Id="R7798778b8eed4a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54df6f6abc4d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097a0d3892430e" /><Relationship Type="http://schemas.openxmlformats.org/officeDocument/2006/relationships/notesMaster" Target="/ppt/notesMasters/notesMaster1.xml" Id="Rebca255e0c0042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da414d618e4cbc" /><Relationship Type="http://schemas.openxmlformats.org/officeDocument/2006/relationships/notesMaster" Target="/ppt/notesMasters/notesMaster1.xml" Id="Reca83da9b94048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7d9ae63a3043a8" /><Relationship Type="http://schemas.openxmlformats.org/officeDocument/2006/relationships/notesMaster" Target="/ppt/notesMasters/notesMaster1.xml" Id="Re8bfde59781e43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d304f3badd4331" /><Relationship Type="http://schemas.openxmlformats.org/officeDocument/2006/relationships/notesMaster" Target="/ppt/notesMasters/notesMaster1.xml" Id="R4268a8f0ed8543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89cb53ec704d72" /><Relationship Type="http://schemas.openxmlformats.org/officeDocument/2006/relationships/notesMaster" Target="/ppt/notesMasters/notesMaster1.xml" Id="Rdb312d0d95ed46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4e016c19ce4849" /><Relationship Type="http://schemas.openxmlformats.org/officeDocument/2006/relationships/notesMaster" Target="/ppt/notesMasters/notesMaster1.xml" Id="R07ce386b91fd42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87eca928984f4f" /><Relationship Type="http://schemas.openxmlformats.org/officeDocument/2006/relationships/notesMaster" Target="/ppt/notesMasters/notesMaster1.xml" Id="Re8e688c2e52841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66d5ddfe1b4b97" /><Relationship Type="http://schemas.openxmlformats.org/officeDocument/2006/relationships/notesMaster" Target="/ppt/notesMasters/notesMaster1.xml" Id="R735130739d904d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14e83c27d74ffb" /><Relationship Type="http://schemas.openxmlformats.org/officeDocument/2006/relationships/notesMaster" Target="/ppt/notesMasters/notesMaster1.xml" Id="R0fdcb62cdb4143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c8ed714d17441c" /><Relationship Type="http://schemas.openxmlformats.org/officeDocument/2006/relationships/notesMaster" Target="/ppt/notesMasters/notesMaster1.xml" Id="Rcad650d78d9244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ab030cf7b64a17" /><Relationship Type="http://schemas.openxmlformats.org/officeDocument/2006/relationships/notesMaster" Target="/ppt/notesMasters/notesMaster1.xml" Id="Reda0737ba70549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601347760e43a3" /><Relationship Type="http://schemas.openxmlformats.org/officeDocument/2006/relationships/notesMaster" Target="/ppt/notesMasters/notesMaster1.xml" Id="R372dba33795a4c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360b89ed254311" /><Relationship Type="http://schemas.openxmlformats.org/officeDocument/2006/relationships/notesMaster" Target="/ppt/notesMasters/notesMaster1.xml" Id="Rdf8dda9f76094d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591bbe255b4072" /><Relationship Type="http://schemas.openxmlformats.org/officeDocument/2006/relationships/notesMaster" Target="/ppt/notesMasters/notesMaster1.xml" Id="R407c6950e1ad4b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707cb8d16d4d27" /><Relationship Type="http://schemas.openxmlformats.org/officeDocument/2006/relationships/notesMaster" Target="/ppt/notesMasters/notesMaster1.xml" Id="R402a5e85cf4848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c2a3b676ad421d" /><Relationship Type="http://schemas.openxmlformats.org/officeDocument/2006/relationships/notesMaster" Target="/ppt/notesMasters/notesMaster1.xml" Id="R9be9e642be3640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60a647dfd243c1" /><Relationship Type="http://schemas.openxmlformats.org/officeDocument/2006/relationships/notesMaster" Target="/ppt/notesMasters/notesMaster1.xml" Id="R1b5188211e9d4e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b00577bbd34dbe" /><Relationship Type="http://schemas.openxmlformats.org/officeDocument/2006/relationships/notesMaster" Target="/ppt/notesMasters/notesMaster1.xml" Id="Rec4b6f52fac14d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0a732fc72a54217" /><Relationship Type="http://schemas.openxmlformats.org/officeDocument/2006/relationships/notesMaster" Target="/ppt/notesMasters/notesMaster1.xml" Id="Rd655e85bc1554e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88e7efcaac4322" /><Relationship Type="http://schemas.openxmlformats.org/officeDocument/2006/relationships/notesMaster" Target="/ppt/notesMasters/notesMaster1.xml" Id="Rc83f1dc8d919444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099a5b54b3487f" /><Relationship Type="http://schemas.openxmlformats.org/officeDocument/2006/relationships/notesMaster" Target="/ppt/notesMasters/notesMaster1.xml" Id="R6c1264adf61844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403a9ec1e2a4486" /><Relationship Type="http://schemas.openxmlformats.org/officeDocument/2006/relationships/notesMaster" Target="/ppt/notesMasters/notesMaster1.xml" Id="R23bb97c4fe1640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6588f0d5a6740e3" /><Relationship Type="http://schemas.openxmlformats.org/officeDocument/2006/relationships/notesMaster" Target="/ppt/notesMasters/notesMaster1.xml" Id="Rbbc00d373771428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99064bd90604922" /><Relationship Type="http://schemas.openxmlformats.org/officeDocument/2006/relationships/notesMaster" Target="/ppt/notesMasters/notesMaster1.xml" Id="R66f8abee28344ac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4cd49f091e4316" /><Relationship Type="http://schemas.openxmlformats.org/officeDocument/2006/relationships/notesMaster" Target="/ppt/notesMasters/notesMaster1.xml" Id="R110d1fde844f4fe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71d074b0094008" /><Relationship Type="http://schemas.openxmlformats.org/officeDocument/2006/relationships/notesMaster" Target="/ppt/notesMasters/notesMaster1.xml" Id="Rf2b02d939372444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122712adff454b" /><Relationship Type="http://schemas.openxmlformats.org/officeDocument/2006/relationships/notesMaster" Target="/ppt/notesMasters/notesMaster1.xml" Id="Rb331de93cec24e7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9eebbe89bdb433d" /><Relationship Type="http://schemas.openxmlformats.org/officeDocument/2006/relationships/notesMaster" Target="/ppt/notesMasters/notesMaster1.xml" Id="Rabfe8e4c045c4ab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65b28cc53244655" /><Relationship Type="http://schemas.openxmlformats.org/officeDocument/2006/relationships/notesMaster" Target="/ppt/notesMasters/notesMaster1.xml" Id="R831e9f876745402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ea5748a5d7400e" /><Relationship Type="http://schemas.openxmlformats.org/officeDocument/2006/relationships/notesMaster" Target="/ppt/notesMasters/notesMaster1.xml" Id="R76cfee0186264ca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f20f28f8e87428c" /><Relationship Type="http://schemas.openxmlformats.org/officeDocument/2006/relationships/notesMaster" Target="/ppt/notesMasters/notesMaster1.xml" Id="Rfb0087aee924451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1b0cdda88314f95" /><Relationship Type="http://schemas.openxmlformats.org/officeDocument/2006/relationships/notesMaster" Target="/ppt/notesMasters/notesMaster1.xml" Id="R06b91a1fefed474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0880caf4de6438a" /><Relationship Type="http://schemas.openxmlformats.org/officeDocument/2006/relationships/notesMaster" Target="/ppt/notesMasters/notesMaster1.xml" Id="R32fa60f5a9774c6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1c833eefc7e4f7a" /><Relationship Type="http://schemas.openxmlformats.org/officeDocument/2006/relationships/notesMaster" Target="/ppt/notesMasters/notesMaster1.xml" Id="Rb838b777e171468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784322ac9ca468d" /><Relationship Type="http://schemas.openxmlformats.org/officeDocument/2006/relationships/notesMaster" Target="/ppt/notesMasters/notesMaster1.xml" Id="Rfa5dd0d2799a460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a73acd563e64d19" /><Relationship Type="http://schemas.openxmlformats.org/officeDocument/2006/relationships/notesMaster" Target="/ppt/notesMasters/notesMaster1.xml" Id="Rdb3e5380797b44c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0fa2fa68dd04d95" /><Relationship Type="http://schemas.openxmlformats.org/officeDocument/2006/relationships/notesMaster" Target="/ppt/notesMasters/notesMaster1.xml" Id="Rad368dbab3ce445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58cb500ef204c07" /><Relationship Type="http://schemas.openxmlformats.org/officeDocument/2006/relationships/notesMaster" Target="/ppt/notesMasters/notesMaster1.xml" Id="R075e91b8c1b64f6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1a7f228229f46fd" /><Relationship Type="http://schemas.openxmlformats.org/officeDocument/2006/relationships/notesMaster" Target="/ppt/notesMasters/notesMaster1.xml" Id="Rf7e5723822fe43e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dce0592a4104f21" /><Relationship Type="http://schemas.openxmlformats.org/officeDocument/2006/relationships/notesMaster" Target="/ppt/notesMasters/notesMaster1.xml" Id="Re915e998405e4ac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e2b8c4be01740b3" /><Relationship Type="http://schemas.openxmlformats.org/officeDocument/2006/relationships/notesMaster" Target="/ppt/notesMasters/notesMaster1.xml" Id="R853986535d594cd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ea80265db7b4882" /><Relationship Type="http://schemas.openxmlformats.org/officeDocument/2006/relationships/notesMaster" Target="/ppt/notesMasters/notesMaster1.xml" Id="R0e2eb66cfa9a494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64e30fd42974b4b" /><Relationship Type="http://schemas.openxmlformats.org/officeDocument/2006/relationships/notesMaster" Target="/ppt/notesMasters/notesMaster1.xml" Id="Rbc8fded2442743c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fbf0276686e4a26" /><Relationship Type="http://schemas.openxmlformats.org/officeDocument/2006/relationships/notesMaster" Target="/ppt/notesMasters/notesMaster1.xml" Id="R0df663310462408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73cac47879f40df" /><Relationship Type="http://schemas.openxmlformats.org/officeDocument/2006/relationships/notesMaster" Target="/ppt/notesMasters/notesMaster1.xml" Id="R34cbf9bbaa834f5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0f143f24f4b4549" /><Relationship Type="http://schemas.openxmlformats.org/officeDocument/2006/relationships/notesMaster" Target="/ppt/notesMasters/notesMaster1.xml" Id="Rd37aecf7f5c846c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f8cf91da8d04c03" /><Relationship Type="http://schemas.openxmlformats.org/officeDocument/2006/relationships/notesMaster" Target="/ppt/notesMasters/notesMaster1.xml" Id="Ra281d5fbc0134a1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9ee64006f1c4a42" /><Relationship Type="http://schemas.openxmlformats.org/officeDocument/2006/relationships/notesMaster" Target="/ppt/notesMasters/notesMaster1.xml" Id="R55b15b063415488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5dcf0f581884f12" /><Relationship Type="http://schemas.openxmlformats.org/officeDocument/2006/relationships/notesMaster" Target="/ppt/notesMasters/notesMaster1.xml" Id="R967e57d9dc9248f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df022d067564ffe" /><Relationship Type="http://schemas.openxmlformats.org/officeDocument/2006/relationships/notesMaster" Target="/ppt/notesMasters/notesMaster1.xml" Id="Rafcbae4521d3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slide as a section reset. Reveal syllabus cluster first, then the big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This is the internal cross-check slide. Reveal final status only after all rows are discussed.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roadmap row by row. Use it to set expectations for problem-solving and diagrams.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formulas one at a time. Ask students to name the assumptions behind each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a recall activity. Reveal outer topics and ask for one formula or circuit use for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For each question, ask students to first sketch the circuit or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formulas one at a time. Ask students to name the assumptions behind each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a recall activity. Reveal outer topics and ask for one formula or circuit use for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For each question, ask students to first sketch the circuit or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546a0f3ab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a02f27bed64144" /><Relationship Type="http://schemas.openxmlformats.org/officeDocument/2006/relationships/slideLayout" Target="/ppt/slideLayouts/slideLayout1.xml" Id="R98f1a233596944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f1a233596944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b1b99ff484e82" /><Relationship Type="http://schemas.openxmlformats.org/officeDocument/2006/relationships/notesSlide" Target="/ppt/notesSlides/notesSlide1.xml" Id="Rd8a55e3cb85a4c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4cf7640944b6a" /><Relationship Type="http://schemas.openxmlformats.org/officeDocument/2006/relationships/notesSlide" Target="/ppt/notesSlides/notesSlide2.xml" Id="Rfc58e782c5e540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0a1a1291843ed" /><Relationship Type="http://schemas.openxmlformats.org/officeDocument/2006/relationships/notesSlide" Target="/ppt/notesSlides/notesSlide3.xml" Id="R69d89a8b923048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dd4d9742d471d" /><Relationship Type="http://schemas.openxmlformats.org/officeDocument/2006/relationships/notesSlide" Target="/ppt/notesSlides/notesSlide4.xml" Id="R937b1c5ee43d41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3316b2acf4a33" /><Relationship Type="http://schemas.openxmlformats.org/officeDocument/2006/relationships/notesSlide" Target="/ppt/notesSlides/notesSlide5.xml" Id="R909358fb28de41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e0feac5ff4a88" /><Relationship Type="http://schemas.openxmlformats.org/officeDocument/2006/relationships/notesSlide" Target="/ppt/notesSlides/notesSlide6.xml" Id="Rbacd2ee5fb7b4c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ef156b2ab4679" /><Relationship Type="http://schemas.openxmlformats.org/officeDocument/2006/relationships/notesSlide" Target="/ppt/notesSlides/notesSlide7.xml" Id="R019a08e1393f46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06808b7ba4140" /><Relationship Type="http://schemas.openxmlformats.org/officeDocument/2006/relationships/notesSlide" Target="/ppt/notesSlides/notesSlide8.xml" Id="Rd8ff2d1b23fc4a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6c93aedef4aef" /><Relationship Type="http://schemas.openxmlformats.org/officeDocument/2006/relationships/notesSlide" Target="/ppt/notesSlides/notesSlide9.xml" Id="R66b0747c70e144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6df458d3141cd" /><Relationship Type="http://schemas.openxmlformats.org/officeDocument/2006/relationships/notesSlide" Target="/ppt/notesSlides/notesSlide10.xml" Id="R0f729772b49747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d302c5c104f22" /><Relationship Type="http://schemas.openxmlformats.org/officeDocument/2006/relationships/notesSlide" Target="/ppt/notesSlides/notesSlide11.xml" Id="Ra2f6430af5a544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bd34b9f7146fd" /><Relationship Type="http://schemas.openxmlformats.org/officeDocument/2006/relationships/notesSlide" Target="/ppt/notesSlides/notesSlide12.xml" Id="R1b4c8935159d4c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149d8dc454963" /><Relationship Type="http://schemas.openxmlformats.org/officeDocument/2006/relationships/notesSlide" Target="/ppt/notesSlides/notesSlide13.xml" Id="R16dd7cd523874c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411007ca1456c" /><Relationship Type="http://schemas.openxmlformats.org/officeDocument/2006/relationships/notesSlide" Target="/ppt/notesSlides/notesSlide14.xml" Id="R3a4806e51cd545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202472ede4ed3" /><Relationship Type="http://schemas.openxmlformats.org/officeDocument/2006/relationships/notesSlide" Target="/ppt/notesSlides/notesSlide15.xml" Id="R9aa333541eac49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abaa9969d4c77" /><Relationship Type="http://schemas.openxmlformats.org/officeDocument/2006/relationships/notesSlide" Target="/ppt/notesSlides/notesSlide16.xml" Id="R537565038db84a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c1733a1b64d8a" /><Relationship Type="http://schemas.openxmlformats.org/officeDocument/2006/relationships/notesSlide" Target="/ppt/notesSlides/notesSlide17.xml" Id="Ra5b4ac6a326747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1a6a17d0f458d" /><Relationship Type="http://schemas.openxmlformats.org/officeDocument/2006/relationships/notesSlide" Target="/ppt/notesSlides/notesSlide18.xml" Id="R007a6b0b34824f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5ecd385e84126" /><Relationship Type="http://schemas.openxmlformats.org/officeDocument/2006/relationships/notesSlide" Target="/ppt/notesSlides/notesSlide19.xml" Id="R789e20d438764d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7857901e14cc9" /><Relationship Type="http://schemas.openxmlformats.org/officeDocument/2006/relationships/notesSlide" Target="/ppt/notesSlides/notesSlide20.xml" Id="R02eb46aa381841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b55b4fb9b4e7a" /><Relationship Type="http://schemas.openxmlformats.org/officeDocument/2006/relationships/notesSlide" Target="/ppt/notesSlides/notesSlide21.xml" Id="Rb35fa1c9fc3249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943e15c2e4816" /><Relationship Type="http://schemas.openxmlformats.org/officeDocument/2006/relationships/notesSlide" Target="/ppt/notesSlides/notesSlide22.xml" Id="R637a58c1d4f8426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29c9cdc5c41d3" /><Relationship Type="http://schemas.openxmlformats.org/officeDocument/2006/relationships/notesSlide" Target="/ppt/notesSlides/notesSlide23.xml" Id="R8cecc9e939154f1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2824893c0483a" /><Relationship Type="http://schemas.openxmlformats.org/officeDocument/2006/relationships/notesSlide" Target="/ppt/notesSlides/notesSlide24.xml" Id="R845490f412af445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8f815d274483a" /><Relationship Type="http://schemas.openxmlformats.org/officeDocument/2006/relationships/notesSlide" Target="/ppt/notesSlides/notesSlide25.xml" Id="Rf3056ac04e0b42c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5db954b634ed6" /><Relationship Type="http://schemas.openxmlformats.org/officeDocument/2006/relationships/notesSlide" Target="/ppt/notesSlides/notesSlide26.xml" Id="R4b1ac02301ee415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9d715c8cc4f2f" /><Relationship Type="http://schemas.openxmlformats.org/officeDocument/2006/relationships/notesSlide" Target="/ppt/notesSlides/notesSlide27.xml" Id="R663d01f5be8a45b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5071bc0e04099" /><Relationship Type="http://schemas.openxmlformats.org/officeDocument/2006/relationships/notesSlide" Target="/ppt/notesSlides/notesSlide28.xml" Id="R707d2489ea99484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2cce335e84211" /><Relationship Type="http://schemas.openxmlformats.org/officeDocument/2006/relationships/notesSlide" Target="/ppt/notesSlides/notesSlide29.xml" Id="R48bd69f14be24bf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fd9af9c3d4d6f" /><Relationship Type="http://schemas.openxmlformats.org/officeDocument/2006/relationships/notesSlide" Target="/ppt/notesSlides/notesSlide30.xml" Id="R81cff2a912604de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54707a95642a5" /><Relationship Type="http://schemas.openxmlformats.org/officeDocument/2006/relationships/notesSlide" Target="/ppt/notesSlides/notesSlide31.xml" Id="R1f3afc04a85d4d6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dd0ae5b904f7a" /><Relationship Type="http://schemas.openxmlformats.org/officeDocument/2006/relationships/notesSlide" Target="/ppt/notesSlides/notesSlide32.xml" Id="Rdb03b7173b934e6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ad9cfd83246b4" /><Relationship Type="http://schemas.openxmlformats.org/officeDocument/2006/relationships/notesSlide" Target="/ppt/notesSlides/notesSlide33.xml" Id="R33f5e30d6d704ad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bc6cbd3d843e8" /><Relationship Type="http://schemas.openxmlformats.org/officeDocument/2006/relationships/notesSlide" Target="/ppt/notesSlides/notesSlide34.xml" Id="Rfa63c4ce0a504a7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7cf46062a43d4" /><Relationship Type="http://schemas.openxmlformats.org/officeDocument/2006/relationships/notesSlide" Target="/ppt/notesSlides/notesSlide35.xml" Id="R20362f6a7fa3472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84b6cde3f484b" /><Relationship Type="http://schemas.openxmlformats.org/officeDocument/2006/relationships/notesSlide" Target="/ppt/notesSlides/notesSlide36.xml" Id="R1c0b284b7fe343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2cd580bd646fd" /><Relationship Type="http://schemas.openxmlformats.org/officeDocument/2006/relationships/notesSlide" Target="/ppt/notesSlides/notesSlide37.xml" Id="R57d58a6c68094cc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c2c02f08743a0" /><Relationship Type="http://schemas.openxmlformats.org/officeDocument/2006/relationships/notesSlide" Target="/ppt/notesSlides/notesSlide38.xml" Id="Rbf46334058514eb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437a85ef4473c" /><Relationship Type="http://schemas.openxmlformats.org/officeDocument/2006/relationships/notesSlide" Target="/ppt/notesSlides/notesSlide39.xml" Id="R097ad4e48c2c4f1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1941434e643d8" /><Relationship Type="http://schemas.openxmlformats.org/officeDocument/2006/relationships/notesSlide" Target="/ppt/notesSlides/notesSlide40.xml" Id="Rac48f9fd8b2041b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cee3d5f854d83" /><Relationship Type="http://schemas.openxmlformats.org/officeDocument/2006/relationships/notesSlide" Target="/ppt/notesSlides/notesSlide41.xml" Id="Rc29e6d60ca354f0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224a0299c47fe" /><Relationship Type="http://schemas.openxmlformats.org/officeDocument/2006/relationships/notesSlide" Target="/ppt/notesSlides/notesSlide42.xml" Id="R9af17361b4c843d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cb196edec40e0" /><Relationship Type="http://schemas.openxmlformats.org/officeDocument/2006/relationships/notesSlide" Target="/ppt/notesSlides/notesSlide43.xml" Id="Rfff036b6a44c414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2655426704ddc" /><Relationship Type="http://schemas.openxmlformats.org/officeDocument/2006/relationships/notesSlide" Target="/ppt/notesSlides/notesSlide44.xml" Id="R858e2cde350d4d9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be1727b624938" /><Relationship Type="http://schemas.openxmlformats.org/officeDocument/2006/relationships/notesSlide" Target="/ppt/notesSlides/notesSlide45.xml" Id="Ra4ce128be4cc4c1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d8cc09f454b95" /><Relationship Type="http://schemas.openxmlformats.org/officeDocument/2006/relationships/notesSlide" Target="/ppt/notesSlides/notesSlide46.xml" Id="Rc9a4187b5da84e9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91676758f4447" /><Relationship Type="http://schemas.openxmlformats.org/officeDocument/2006/relationships/notesSlide" Target="/ppt/notesSlides/notesSlide47.xml" Id="Re978516e5d57455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533a383e44cbd" /><Relationship Type="http://schemas.openxmlformats.org/officeDocument/2006/relationships/notesSlide" Target="/ppt/notesSlides/notesSlide48.xml" Id="R52ecc9babf77495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4b5ce05c344b4" /><Relationship Type="http://schemas.openxmlformats.org/officeDocument/2006/relationships/notesSlide" Target="/ppt/notesSlides/notesSlide49.xml" Id="R95813a10b1b043f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961e658a94110" /><Relationship Type="http://schemas.openxmlformats.org/officeDocument/2006/relationships/notesSlide" Target="/ppt/notesSlides/notesSlide50.xml" Id="Rd7eab4f6febf45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0CA12-F25F-497D-918A-D89B6A18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040BB-8C9E-420B-BB4A-3B9D33D2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</a:defRPr>
            </a:pPr>
            <a:r>
              <a:rPr sz="3000" b="1">
                <a:solidFill>
                  <a:srgbClr val="102033"/>
                </a:solidFill>
              </a:rPr>
              <a:t>MOSFET Biasing, Small Signal Models, and Amplifier Configurations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78AD2-691D-47C0-A2F8-BCFA9A3D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9 teaching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39E81-2249-48A3-954A-4A8D5426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Fixing VGS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Fixing VG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Drain-to-gate feedback resistor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DC bias point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Signal current in drain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Voltage gain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Small-signal equivalent circuit models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Transconductance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4074F-DECE-47BE-98D0-F812FE59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63031-F782-42FA-B6C9-4C34FA05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6B640-C7B9-435C-BA19-8F091648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14D5C-BEA6-4C63-A685-18406F32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EDE91-6970-4B93-90DE-9813BF96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6171C-CA8C-44D7-A4B0-E5C53F54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727CF-852E-4504-B832-317D75B6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01/50</a:t>
            </a:r>
          </a:p>
        </p:txBody>
      </p:sp>
    </p:spTree>
    <p:extLst>
      <p:ext uri="{BB962C8B-B14F-4D97-AF65-F5344CB8AC3E}">
        <p14:creationId xmlns:p14="http://schemas.microsoft.com/office/powerpoint/2010/main" val="347304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DE9A18-D6C9-45D5-B1A0-B5E92E21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377E5-6326-48B5-AB49-4CAE9BE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A03D7-5984-463F-9DB9-9DB7C97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A9867-2223-43C5-A815-B68517F6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VTU 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DDEF3-BCB5-492D-AB00-964979E8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47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58CD8-2E49-427D-8E83-176E1FE1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44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4399F-B125-4A68-A998-65575E74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1. Fixing VGS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F60F9-49A3-4CD3-A773-1CCB4864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47E85-24AB-459C-B118-5FB59230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D51A6-FF87-4D7F-A915-01919F08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2. Fixing VG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C187E-1D9A-4B31-B22D-DAF03E6E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28275-4988-4238-A742-C5CD2977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47A35-8A9F-4FB1-976A-74B0706F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3. Drain-to-gate feedback resistor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C5441-EF86-4B33-A43B-9F5C5B1A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891FF-4398-4AA0-859E-C62A1792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12C86-E6C0-4A76-B631-57330E7D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4. DC bias 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3E82D-202F-4EC6-BD44-DD1598B5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AABF8-4569-47BF-9A89-B0A539BC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F75E3-A9CA-4BD3-8486-479B61DB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5. Signal current in drain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4E301-B306-455B-9568-79C4D3A9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ADBA8-6505-47E4-A050-55ACB1F2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221A3-3A02-41F8-870A-58F5861B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6. Voltage gain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8A317-FF33-4373-BDAC-5E2FFE1A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6B84B-1CEE-4CDE-B246-7DF5BF39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AD409-5F01-4AA0-A6AB-DA532920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7. Small-signal equivalent circuit models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8C62C-45F4-43AD-8FD3-FA26E1AC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18CDD-6350-4CB1-AE28-D97AA19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DC6B3-11DB-412E-A300-61137B1C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8. Transconductance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749CFC-A08C-4CD5-8BDA-E543F39F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B24B2-955F-4484-B17A-527EA6BE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D49273-CD8B-4A62-8E3C-1887CF13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9. Equivalent circuit 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A6D072-7D60-4135-9BCC-E21AC902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33ADAB-91A1-46D4-B495-F198376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005AC6-F08F-4A57-A799-2F4D0CA4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10. Basic configurations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2CE356-B4AE-43A8-B3DF-31040112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B81BCC-869A-480B-8641-2A970D4C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61E0B-40D5-42A5-B7BF-66A0175E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11. Characterizing amplifiers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6EA77C-CD66-4B46-8232-24B6EDD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4F7AC-83C5-4D0E-9EF7-4DE9B095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094351-BED2-4807-94DF-A3D69C29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12. CS amplifier with and without source resistance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13A6E6-7E9E-4EDC-925B-BA1F8651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9BFDC2-E345-40EB-9E13-08475CD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533F45-533B-4B1C-BB44-7331CA1A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13. Common-gate amplifier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265D0-EEF7-48B3-8968-757661A6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295D45-E9A8-4268-B299-9EE62A3A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4E6D13-5398-438C-B559-1417BF44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14. Source follower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7F39D4-9C91-43F8-B280-5196883B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76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6D385B-5340-4A26-82A8-A46DA873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76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48A127-C67F-448F-9A3E-8B0FF4F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531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Final status: no missing topics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4E4D15-468F-46FE-AD04-E0A66AE3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02/50</a:t>
            </a:r>
          </a:p>
        </p:txBody>
      </p:sp>
    </p:spTree>
    <p:extLst>
      <p:ext uri="{BB962C8B-B14F-4D97-AF65-F5344CB8AC3E}">
        <p14:creationId xmlns:p14="http://schemas.microsoft.com/office/powerpoint/2010/main" val="739202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BCE0E-DFD8-4CE9-AB96-6F6F4042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Teaching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831F7-60AF-4A4E-AAAF-8886C735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Roadmap for Module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0BC90-4E94-44FE-990C-1980C96C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24448-7676-4F0C-92F2-20FF77DF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1. Fixing VGS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1A741-52E1-4501-9CD7-5FE753D2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2. Fixing VG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42CA9-AC23-45EC-B648-C062F120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3. Drain-to-gate feedback bias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181AC-605D-4783-BBE8-BD44976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4. DC bias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8DF04-5801-4798-9A31-F7D68D56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5. Signal current and voltage gain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02C2F-99E3-4F8D-8E49-A7302AE1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6. Small-signal equivalent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B6432-0EE4-4CE8-829C-9882A57B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7. Transconductance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54981-C7A6-4F25-82CC-740F8DD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8. Common-source amplifier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FE835-6559-4588-8987-BB3BAD90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9. Common-gate amplifier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CB02B-0EB2-496F-BD33-97ACD1A2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10. Source follower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14544-B4E7-43CF-91FF-CD163136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Each topic becomes: concept -&gt; circuit -&gt; analysis -&gt;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3C589-FD20-4165-9F60-47401D9E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03/50</a:t>
            </a:r>
          </a:p>
        </p:txBody>
      </p:sp>
    </p:spTree>
    <p:extLst>
      <p:ext uri="{BB962C8B-B14F-4D97-AF65-F5344CB8AC3E}">
        <p14:creationId xmlns:p14="http://schemas.microsoft.com/office/powerpoint/2010/main" val="1015100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C4EBF-CEC5-4C93-8F85-80B93D95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53AFB-4208-443A-A3F8-FE955AF2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formula and design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DC7AB-C131-4BB6-96CB-4597D035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7FB60-5906-4948-A590-1628B716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A3105-7E8E-467B-9E63-539BAB2D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id = gm vgs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21FCF-8933-4934-A519-F5500627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483FC-86B5-422B-AA38-65364758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52B15-3E9E-4141-BD57-8C2E27B3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Av roughly -gm 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612D4-44D3-40E3-9E81-936953E1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289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5032A-8450-4497-BC41-28E60164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F00C3-DC97-4666-BCAC-1EE20359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Source resistance lowers gain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00D78-71E2-4027-999B-47F702BC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C0F29-EED9-4E39-9832-61E740C5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D0351-75AE-4829-B60B-3400CEFE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Follower gain is below unity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1BF21-9308-4C09-B057-09132E6D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B00F0-FAC5-4B30-85ED-B9CB31C3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04/50</a:t>
            </a:r>
          </a:p>
        </p:txBody>
      </p:sp>
    </p:spTree>
    <p:extLst>
      <p:ext uri="{BB962C8B-B14F-4D97-AF65-F5344CB8AC3E}">
        <p14:creationId xmlns:p14="http://schemas.microsoft.com/office/powerpoint/2010/main" val="11358393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6A181-9E62-453D-AB29-411F055C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1BF6D-3102-4910-8A7D-60D6F17E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Fixing VGS: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9592D-B996-4218-82DF-E1E7CABB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AE7E8-FD9A-4273-B7B1-305D7CB8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Fixing VGS sets the MOSFET operating current from the transfer characteristic.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E0D0B-A509-404A-BACD-593DD9C9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gate-source voltage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bias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drain current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5E1E9-97F5-42F8-A8DB-2797BDF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E83FA-157B-4C86-976A-DC1A2269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Bias must place the device in the intended operating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9FA15-7117-4F23-9DFA-E338760C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30CA2-8D68-4D3D-B669-FB568D7D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02281-D400-46E9-9CA1-11268FA0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9F7D9-29D1-4D98-9963-7A2EC72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93DCD-0172-4060-9A8E-AB3041B1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528C7-2BDB-41FB-847F-C9411130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4AE3B-B9AA-4BA0-9E0C-84000898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05/50</a:t>
            </a:r>
          </a:p>
        </p:txBody>
      </p:sp>
    </p:spTree>
    <p:extLst>
      <p:ext uri="{BB962C8B-B14F-4D97-AF65-F5344CB8AC3E}">
        <p14:creationId xmlns:p14="http://schemas.microsoft.com/office/powerpoint/2010/main" val="201380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93314-6632-4EF1-BE73-E31C9F18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35A1E-6F21-4DFA-9933-679BCD9C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Fixing VGS: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E755-6406-41A8-89A3-44FAC5D1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23492-AFDA-4FC6-A5D8-5A4089F7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25ED9-8384-401B-BEFA-DAB0551A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23C67-C2E6-4FD7-8862-02AD57B8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D8F9B-1C8F-4DE5-BB8D-440BB48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Bias must place the device in the intended operating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61E83-FF91-4CF6-94FF-D7148AB3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54B02-6DCF-4851-83C8-8E164085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D986E-B200-4203-B41E-FDF96D21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6D8A0-B296-425F-B013-E93EA542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F3BCF-1ABD-4481-AFB4-BF48F800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CBB82-C64F-4068-919A-881E8A99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F6C68-0792-4AA9-AF89-62283A64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06/50</a:t>
            </a:r>
          </a:p>
        </p:txBody>
      </p:sp>
    </p:spTree>
    <p:extLst>
      <p:ext uri="{BB962C8B-B14F-4D97-AF65-F5344CB8AC3E}">
        <p14:creationId xmlns:p14="http://schemas.microsoft.com/office/powerpoint/2010/main" val="4035918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8AB62-8A00-4560-B1DF-2A82CACC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A3AF7-9DB7-4169-B0E9-30CF5924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Fixing VGS: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AAC13-2A33-4933-96DB-FF65161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0A212-BED0-46C1-9F11-5D2FB079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fixing vgs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1BB67-23E5-4C34-968D-BF9EBDCC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Bias must place the device in the intended operating region.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985B2-8B76-4449-890E-3EA21836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B6577-9E1B-4AD0-BEF6-E433246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Bias must place the device in the intended operating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92250-E6C0-4630-856C-1A4E4D2F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E441F-7AE6-4E29-B845-DF0774EE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E3A50-E53E-4445-B60D-FB740F7D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D1E65-67E7-4804-A880-3AFEC09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E1B76-A853-421A-A99F-B874D451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61EC2-73A3-424B-B8FF-BE64661C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6C387-33F4-4F69-9C36-479199C7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07/50</a:t>
            </a:r>
          </a:p>
        </p:txBody>
      </p:sp>
    </p:spTree>
    <p:extLst>
      <p:ext uri="{BB962C8B-B14F-4D97-AF65-F5344CB8AC3E}">
        <p14:creationId xmlns:p14="http://schemas.microsoft.com/office/powerpoint/2010/main" val="1811237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F1EB3-52D7-4FDC-A0D3-FA780D15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593D5-A25F-4447-9A1F-54B92270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Fixing VGS: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154FF-DB85-47F2-AC85-F3846875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663B0-E68A-46B2-92D9-30CEB39E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fixing vgs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1DE53-FF53-4010-81A8-04B76B11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gate-source voltage and bias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85A81-FC47-498C-8221-EC50A041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66625-1A34-4831-8FAD-F73E8626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Bias must place the device in the intended operating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67835-D5A4-4B90-8DB1-164E445C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93BE9-D711-4FE1-BC10-FEA3E533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D3571-DE96-44FE-A26C-2DB4F11E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62B7B-4EBE-4FE7-8CAD-3DC3B03F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A8A5A-2CF7-41E4-9E39-6BB59083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A36DB-7652-41CB-9E31-B65716C7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75B50-E83F-49CB-9388-EC154BA0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08/50</a:t>
            </a:r>
          </a:p>
        </p:txBody>
      </p:sp>
    </p:spTree>
    <p:extLst>
      <p:ext uri="{BB962C8B-B14F-4D97-AF65-F5344CB8AC3E}">
        <p14:creationId xmlns:p14="http://schemas.microsoft.com/office/powerpoint/2010/main" val="183806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5B0B4-168A-404E-ABEE-3DD660AF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2DA68-966E-4FF3-B32F-015B7624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Fixing VG: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C4CCF-6EA2-4C1A-85EF-8EFEBF9F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64220-9903-4929-8CCB-AF58F3A6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fixed gate voltage with source feedback stabilizes the operating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0D521-4BD0-4B25-BA23-06D71FD8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voltage divider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source resistor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self bias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9027D-CAF6-4EAF-A9FB-97610E74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82EFC-0E95-4352-AE10-AF9AB676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Source feedback reduces sensitivity to device variation.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5018D-B661-4FD8-9DA5-ACD86B8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EE4A5-1445-4FFE-B1C9-C77B1828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47FCB-20B9-41A7-A373-4A1DC7F9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B00A9-C109-4CD3-B615-3C7851FA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38F9F-ABD2-49D7-BC83-C6186E91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6E592-988D-4CE3-95B2-F85938E4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23A87-3C42-44E5-875F-5B454D43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09/50</a:t>
            </a:r>
          </a:p>
        </p:txBody>
      </p:sp>
    </p:spTree>
    <p:extLst>
      <p:ext uri="{BB962C8B-B14F-4D97-AF65-F5344CB8AC3E}">
        <p14:creationId xmlns:p14="http://schemas.microsoft.com/office/powerpoint/2010/main" val="1233256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E4E92-C624-4F96-8716-40CD8BBE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E8040-CA06-4E05-8260-BB542D53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Fixing VG: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465F5-0394-483B-AE11-A63E2E73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D9540-6B03-4525-83B6-66629EE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3512F-D80C-474E-AC1B-8C41391F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341E7-7CDD-4B91-AEDA-DF8CB9F9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93AA9-E5EE-437F-9A42-CA14F72A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Source feedback reduces sensitivity to device variation.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53BA4-4DDB-45FD-9846-2381D401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F14A0-B025-4A54-9129-14D4C30E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D5ADB-966A-4283-A3E6-3E7A85CD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78989-7E4A-4F74-A67A-E17ED971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46EB8-E16A-4A5E-91C9-B94C8458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9E169-5F1A-4335-A2CB-FB9505DE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00A07-0365-4114-A5E2-00E1283B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10/50</a:t>
            </a:r>
          </a:p>
        </p:txBody>
      </p:sp>
    </p:spTree>
    <p:extLst>
      <p:ext uri="{BB962C8B-B14F-4D97-AF65-F5344CB8AC3E}">
        <p14:creationId xmlns:p14="http://schemas.microsoft.com/office/powerpoint/2010/main" val="2662451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1A055-1A11-4479-9BF0-3011A0DD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DFAFA-C201-4B28-B918-8FAEC708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Fixing VG: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57629-2BB4-46F8-A7A1-F99D18BA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F7574-869E-4119-A3C5-04800B2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fixing vg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9197C-961C-4AF4-AA10-B7B1B9B0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Source feedback reduces sensitivity to device variation.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C5D96-75BF-48CC-B644-8275368B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B0D91-D1ED-4E47-B288-E9CCEDF2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Source feedback reduces sensitivity to device variation.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54815-E13A-45DB-B357-8FAB07C2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DC95C-378A-4371-951D-EFF533CC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FBF9B-1529-4341-AF58-514BDBC1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300B7-D53C-43B4-8839-9342F494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BBBAD-1E34-445D-9318-544FE3ED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ACA66-BBAA-464E-BC50-FA2FD940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F9F71-DAE2-4152-8191-12BBE3B0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11/50</a:t>
            </a:r>
          </a:p>
        </p:txBody>
      </p:sp>
    </p:spTree>
    <p:extLst>
      <p:ext uri="{BB962C8B-B14F-4D97-AF65-F5344CB8AC3E}">
        <p14:creationId xmlns:p14="http://schemas.microsoft.com/office/powerpoint/2010/main" val="1511630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485AA-961B-4469-8172-3846C27C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B9C64-5098-46A2-AEDE-70EF4605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Fixing VG: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83E59-4EEF-4A9D-BEB8-227AEDCB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0090D-AB10-439F-9884-D0ADCF94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fixing vg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A2BCA-D2DE-4839-9C3A-9AF86D13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voltage divider and source resistor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3A1BE-0A6E-44C9-B7CA-0FE45589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F1B00-FC21-4CDD-992E-7E43ACCB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Source feedback reduces sensitivity to device variation.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D58E9-9C74-464C-9AD3-3D37FD88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A6BAB-204C-4D72-BCAF-827B26D7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06F5B-2F57-4425-9ABE-05EFDDD7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B4716-36FC-41F7-887B-D46CEA60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83DFB-6B68-4095-86D9-007A35AB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5A729-BBE5-40E9-B293-86C0715F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B2C31-55AA-4BDC-8FA7-40C2233A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12/50</a:t>
            </a:r>
          </a:p>
        </p:txBody>
      </p:sp>
    </p:spTree>
    <p:extLst>
      <p:ext uri="{BB962C8B-B14F-4D97-AF65-F5344CB8AC3E}">
        <p14:creationId xmlns:p14="http://schemas.microsoft.com/office/powerpoint/2010/main" val="2146023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BAE84-67E2-4521-A5CC-39E08119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43276-DD07-451D-8F1A-0A5E7F5E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Drain-to-gate feedback bias: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F8FF9-C1EE-4F24-B9A5-D398BE81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A02B0-D9F4-4C99-B1B9-90A93017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Drain-to-gate feedback adjusts gate voltage when drain current shifts.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0FB8C-C0A0-48F5-A54B-F00B0CC5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feedback resistor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gate current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drain voltage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self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37B2F-5CBA-453A-A63A-14C0C57F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2B021-FBF1-4122-A886-85DEF6F9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Feedback makes bias less fragile.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A4420-6D27-42F5-BB96-D7A2E640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F0DA9-E34E-4E15-8086-738094E6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2D89E-DC10-4E64-B761-330F769F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E2C80-59A0-4D78-8B06-8FF9A8F1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5AF0A-02BD-4B29-974F-C5F0EA0E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257F7-4641-4EB9-BC3C-205FB513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8F9C1-579A-47CB-947F-2D9DFD08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13/50</a:t>
            </a:r>
          </a:p>
        </p:txBody>
      </p:sp>
    </p:spTree>
    <p:extLst>
      <p:ext uri="{BB962C8B-B14F-4D97-AF65-F5344CB8AC3E}">
        <p14:creationId xmlns:p14="http://schemas.microsoft.com/office/powerpoint/2010/main" val="5095107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B4F57-F40E-4FA3-8B98-F4B3E542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F0636-91D0-410B-84C2-EFE62952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Drain-to-gate feedback bias: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84591-41E2-4EEB-ACE6-CBEAAF82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0CA39-1CCC-4202-8545-55164DD8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6DE41-2FB7-4ED5-BF2D-74B729C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32A31-F266-4E9D-B72B-B6E3B60C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C9336-F7FA-498E-B5D9-0EF6ABFC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Feedback makes bias less fragile.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9A014-D3AC-42C3-AC62-9A5DEC7F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8D20D-D0AD-4F9D-8B24-49A73148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44ACC-6D59-4916-BA3C-3B7A9E11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64387-F825-4E13-9E50-DBE202BE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853F6-70F7-4824-B80D-94A824A5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A2631-A818-4C2B-A566-06380607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BC06B-DCCF-46A3-A0C0-1F17A0AC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14/50</a:t>
            </a:r>
          </a:p>
        </p:txBody>
      </p:sp>
    </p:spTree>
    <p:extLst>
      <p:ext uri="{BB962C8B-B14F-4D97-AF65-F5344CB8AC3E}">
        <p14:creationId xmlns:p14="http://schemas.microsoft.com/office/powerpoint/2010/main" val="1875406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8D60B-5644-47D8-BFCA-95236B4C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DD3C2-DF43-4ECA-8A7C-4802B449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Drain-to-gate feedback bias: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802A5-518E-4B56-B5A6-18E1E223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AA898-CF03-4290-9112-AB14039E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drain-to-gate feedback bias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E8544-6FFE-4B78-9A9F-0806BDB1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Feedback makes bias less fragile.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B980F-3CDE-47B6-877C-5CAE7AA7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A0892-8152-415C-A164-E7E0D5AD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Feedback makes bias less fragile.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4E21A-7AF6-485F-9BBF-80352D4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EF336-C925-4F09-A694-8FC6659F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23A58-7B27-4A88-83E3-582689E7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65E78-7122-4E61-9498-2A0A5EA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D41BA-B03E-4A75-84A4-82E4DFBC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AB82C-A57B-412A-B3B9-89764388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D00F0-9F95-4E56-940A-CB4163FE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15/50</a:t>
            </a:r>
          </a:p>
        </p:txBody>
      </p:sp>
    </p:spTree>
    <p:extLst>
      <p:ext uri="{BB962C8B-B14F-4D97-AF65-F5344CB8AC3E}">
        <p14:creationId xmlns:p14="http://schemas.microsoft.com/office/powerpoint/2010/main" val="14688812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C4258-9424-4531-BCE9-0722926A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C0419-FACD-40D7-B9F9-0099A3C4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Drain-to-gate feedback bias: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B3EDF-5B40-4307-8BC2-E7524E58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E3885-D35E-446C-B569-16B1FEE5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drain-to-gate feedback bias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44B1E-FDCD-4322-8123-19F9718C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feedback resistor and gate current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7CC34-35B5-43AF-8EFF-C9BC4D6C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73D67-2FAC-4852-9400-95772DFC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Feedback makes bias less fragile.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34ADF-6B2D-4950-8867-776C7C05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9C529-B729-42EE-B43C-63FFE8AF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2BF12-4FEC-47EE-B928-2FAE4C3E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9005F-3728-47B8-84DC-6D8DD92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1B97D-39F4-47FD-BB31-89ABB527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58EC1-032D-4E16-9159-38E2995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F8C13-2E8A-4B5B-9E9F-1C086B57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16/50</a:t>
            </a:r>
          </a:p>
        </p:txBody>
      </p:sp>
    </p:spTree>
    <p:extLst>
      <p:ext uri="{BB962C8B-B14F-4D97-AF65-F5344CB8AC3E}">
        <p14:creationId xmlns:p14="http://schemas.microsoft.com/office/powerpoint/2010/main" val="10279182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1C664-6836-40CA-B13A-D41E05F8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932A8-FB02-446F-AFBF-AF2E56DE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DC bias point: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116E5-F653-4521-9C4C-E39C2C9D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0D9E3-B423-419D-B7B2-D99299F8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The DC bias point determines available signal swing and linearity.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947BF-694E-4FB8-B618-39276539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Q point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load line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saturation region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signal swing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D08AD-7FE3-47A5-BC8E-5A5E3534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1B406-9CF1-44A7-8291-44D38AF6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Poor bias clips the signal before amplification helps.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FED2D-5DD5-4370-A1FD-7B8B0778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DE04D-B3E4-49F0-8B02-CCE03ECC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2540C-018C-435A-A866-B2C601DC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3FA7B-91DB-4048-8169-626700A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F6082-1565-4BA6-A449-8170E5D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04E0C-D780-4892-8482-03EB3D48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8C075-7AEE-416F-A9CA-6105C8C9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17/50</a:t>
            </a:r>
          </a:p>
        </p:txBody>
      </p:sp>
    </p:spTree>
    <p:extLst>
      <p:ext uri="{BB962C8B-B14F-4D97-AF65-F5344CB8AC3E}">
        <p14:creationId xmlns:p14="http://schemas.microsoft.com/office/powerpoint/2010/main" val="19441004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402F5-B8B1-4F06-BAC0-D405927C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9E774-5D94-4AD6-AA06-46CBA2DD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DC bias point: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F1428-AA5A-43B0-A794-4A460801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1502D-EA71-4282-882E-7B8F0D8F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B870E-CE88-4F6A-822A-4DD60076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EC97C-C182-4449-9F1F-3803F443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5394C-CD16-4762-AEC7-FA38D2D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Poor bias clips the signal before amplification helps.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50E39-A965-4E8C-9A13-F0B0F7C4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3D2C7-DF52-4F57-86D6-4518CCA1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6F440-B669-4D94-8B24-3500697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82C71-87F9-4097-BD5E-9B1F87B7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B898B-91DA-4DC7-942A-FD350000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AA417-4C63-4BB1-9831-EE139166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052F1-C618-49B6-B200-19B22840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18/50</a:t>
            </a:r>
          </a:p>
        </p:txBody>
      </p:sp>
    </p:spTree>
    <p:extLst>
      <p:ext uri="{BB962C8B-B14F-4D97-AF65-F5344CB8AC3E}">
        <p14:creationId xmlns:p14="http://schemas.microsoft.com/office/powerpoint/2010/main" val="21115733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D7C2C-18A6-4FBA-9D5F-36557996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C6DD0-68A6-48F0-A913-02BFD846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DC bias point: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2ABB7-B4B6-4F20-8B66-041106E1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08CFF-4979-47F7-B5CC-A153725C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dc bias point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044B0-A359-4004-B795-CD981AF4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Poor bias clips the signal before amplification helps.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7567C-05F4-4921-BED3-77EAA33D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14DC3-C16F-4C62-B1B4-B85729D4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Poor bias clips the signal before amplification helps.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90514-A2E1-4820-9ED2-4CBB746C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C05BD-5782-41B7-A58C-BBE279F1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35EF7-1A00-4D20-BEF8-B419F67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ACA62-3EBB-484E-8DAA-37439E19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D2A98-11B8-42B2-911D-2B1C8DC9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44B9A-7D49-4FA5-BA0B-D6AF6340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7E6C7-1500-47EB-A57E-C9B56C2A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19/50</a:t>
            </a:r>
          </a:p>
        </p:txBody>
      </p:sp>
    </p:spTree>
    <p:extLst>
      <p:ext uri="{BB962C8B-B14F-4D97-AF65-F5344CB8AC3E}">
        <p14:creationId xmlns:p14="http://schemas.microsoft.com/office/powerpoint/2010/main" val="5756125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18C75-4158-4448-9937-4707C907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CD333-FF92-41E5-97F3-0A2BA3AF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DC bias point: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B5D6C-F793-4B28-9339-ED4354E2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3C989-4180-4888-94FF-CE3F0510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dc bias point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35E99-8B4D-47A8-B204-82C696F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Q point and load line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F34D3-6DD8-4AE1-A487-84F31337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61F95-82F7-4861-B9BF-F38129DE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Poor bias clips the signal before amplification helps.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B56F8-3E15-4CE4-A1BF-8F397C3D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B97D9-6669-4E76-BCE5-372EACCF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70233-45C2-475E-A94F-1774D55F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8273A-E5BC-46F5-875F-52F1A5F5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C9E0D-2729-4535-ACF8-9FEA3993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9DCFA-059D-4CA9-9AFD-49D0DD53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65E11-9839-4186-880F-3A00E0B7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20/50</a:t>
            </a:r>
          </a:p>
        </p:txBody>
      </p:sp>
    </p:spTree>
    <p:extLst>
      <p:ext uri="{BB962C8B-B14F-4D97-AF65-F5344CB8AC3E}">
        <p14:creationId xmlns:p14="http://schemas.microsoft.com/office/powerpoint/2010/main" val="13286973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85EBC-F63A-4623-AC3D-386F54E7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B2124-E5D3-41DA-B4A1-A9EF0FA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Signal current and voltage gain: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4B23B-6836-43DE-8C05-F0F407A5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A8483-6C63-413D-A83F-0BD9DB68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Small drain-current changes through a load create output voltage 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8CF2F-89D8-49D6-B1A9-B651877D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gm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drain current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load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0EBA3-E6F4-4EE5-822A-07572EB3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2443C-51C9-4D6E-B532-3A377EBD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Gain is controlled mainly by transconductance and load resistance.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6178E-AAB7-4857-87CC-23FF0E76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67A0E-5FF8-417D-8ADF-DE8B24FE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59E41-A08D-4C84-84DE-28BB3CE6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CE9F6-17E0-4F72-B1EB-BE1583FC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DF7EB-FAB6-40E1-B6E1-2FC0FA81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9ACAE-3663-4DE7-A5D6-0A999304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E4485-14ED-45CD-A02A-B99044BC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21/50</a:t>
            </a:r>
          </a:p>
        </p:txBody>
      </p:sp>
    </p:spTree>
    <p:extLst>
      <p:ext uri="{BB962C8B-B14F-4D97-AF65-F5344CB8AC3E}">
        <p14:creationId xmlns:p14="http://schemas.microsoft.com/office/powerpoint/2010/main" val="19748436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C564C-233C-4114-AC07-A92258E2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8C211-BE1A-42D0-BC23-2BE28B6A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Signal current and voltage gain: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52498-45C4-4BC7-A654-851014DD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856B5-4CCC-4930-A965-A84E14EE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7D1A0-C8CA-44D9-B286-6E741AD3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5FACD-8583-437C-9D3A-CC39BDCE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384B6-1638-4759-B73E-C8E69BD8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Gain is controlled mainly by transconductance and load resistance.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4001F-D3E0-4CB3-B493-D901292B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F1E5F-320A-4554-A2A6-8D59F3F4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F958E-7AC0-4E03-97A8-DF892AC6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BC2D5-6B06-48C1-8C52-A1D6F79A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CDAE1-07AC-43B1-A568-21FF9F1F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04FFA-CE2F-4939-BE1B-EADFF12A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F23BE-8C52-470D-A04C-1EF04206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22/50</a:t>
            </a:r>
          </a:p>
        </p:txBody>
      </p:sp>
    </p:spTree>
    <p:extLst>
      <p:ext uri="{BB962C8B-B14F-4D97-AF65-F5344CB8AC3E}">
        <p14:creationId xmlns:p14="http://schemas.microsoft.com/office/powerpoint/2010/main" val="15383095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FB7D6-F26C-4B0E-8EF5-220555A3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6C786-90D7-460E-830C-CF6248ED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Signal current and voltage gain: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8FE94-C7CC-4E38-A0A1-789B6348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43885-2D4D-4E86-B67C-181ED8EB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signal current and voltage gain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E55FB-FB82-49C2-A5B5-5C653753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Gain is controlled mainly by transconductance and load resistance.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9F06C-F4CC-4520-94F3-CA36493F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1ADC4-D730-44D0-8768-172C10F7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Gain is controlled mainly by transconductance and load resistance.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3FA06-1FF8-431D-9905-96B12B19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A0CEF-40AC-4743-9FC7-668A6D55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52F9F-7E1A-4B92-A080-93061EB8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6D4CD-0C3B-4989-B6CD-F47CFAD7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D8818-2E78-4E2F-8246-385857AD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6B67D-04A8-40CB-AE02-D8E019B2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9674B-4242-4CBC-98DA-8CC6A511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23/50</a:t>
            </a:r>
          </a:p>
        </p:txBody>
      </p:sp>
    </p:spTree>
    <p:extLst>
      <p:ext uri="{BB962C8B-B14F-4D97-AF65-F5344CB8AC3E}">
        <p14:creationId xmlns:p14="http://schemas.microsoft.com/office/powerpoint/2010/main" val="11744086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228C8-F003-4D33-A9DD-368BC09B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30601-DB57-4D36-8CD4-AEA67BF5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Signal current and voltage gain: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41123-1872-48D3-B0F8-7430D78E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025F6-7E08-4DD3-9DB3-38B11B06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signal current and voltage gain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2BF60-CF10-4CD9-80BD-CFA4B741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gm and drain current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14BBA-4F90-4AC4-9440-E910CCB0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0926C-DA83-475D-A61C-62C79A8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Gain is controlled mainly by transconductance and load resistance.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79731-91E4-43AE-8E31-F0C9F88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B67C8-86A4-42DA-A63C-DAAD19DD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9C91B-BED3-4857-AC7D-29020BAE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C7AE4-5409-4D1E-B737-42FAF40B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A09B5-236A-4815-A86E-0B43D72B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E3BB1-F80A-4060-83FA-0E64797B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16A2C-B64D-4921-9AC9-E856C1FF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24/50</a:t>
            </a:r>
          </a:p>
        </p:txBody>
      </p:sp>
    </p:spTree>
    <p:extLst>
      <p:ext uri="{BB962C8B-B14F-4D97-AF65-F5344CB8AC3E}">
        <p14:creationId xmlns:p14="http://schemas.microsoft.com/office/powerpoint/2010/main" val="1306045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D32A4-B1A9-411B-9686-C137E5D7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09477-B17F-4253-A9FF-CB060D6E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Small-signal equivalent models: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ADBE5-2B89-4B50-A5BA-97CDB935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1550B-9FCF-42E0-85E6-20FF77E1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MOSFET model replaces the device with a controlled current source.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AD628-33FE-4005-85ED-CA72C789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controlled source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output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source resistance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BFC4F-FBB4-47A6-A29D-D0479B2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072FC-2549-4465-89B8-F882E01D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model turns device physics into circuit equations.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661DF-F3D8-4C00-9619-FDC199A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3C748-304B-4027-8334-16B37E4B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FE543-2CBE-4BBF-9FD4-E428D35B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05EE4-69FB-408B-8161-DFD84BEB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BFD64-7CDB-49B9-A12B-7407FFA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C323D-10D5-409F-9EB8-D0E4E394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B2CC1-5F85-4994-B2E9-A7F4B6F2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25/50</a:t>
            </a:r>
          </a:p>
        </p:txBody>
      </p:sp>
    </p:spTree>
    <p:extLst>
      <p:ext uri="{BB962C8B-B14F-4D97-AF65-F5344CB8AC3E}">
        <p14:creationId xmlns:p14="http://schemas.microsoft.com/office/powerpoint/2010/main" val="16187285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B9B7D-B5D7-4910-B65E-1EC1813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148D1-1950-47DA-B17C-07B8553D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Small-signal equivalent models: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29334-0613-421A-8DDE-56E9C8CB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9D0BC-62EC-476A-BDE8-1994DAD4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53823-E73A-4FA8-A26C-BF036DAF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F8CB5-ECA3-4708-A387-F8C1D1B5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7DD3E-7A11-4644-B7F6-867F4953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model turns device physics into circuit equations.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C2C4E-AD4A-4FA0-A1F8-3091EB3C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01B93-5416-49A5-AF72-29936AAD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0E974-28DE-4B1D-858D-B3A29698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C7DBB-8660-4058-A727-BC81401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2CC5B-2BDD-47DD-9425-512C996C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1801B-2968-4C2A-B4C6-AC9945B1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71057-9CDE-42F7-9336-DFC70D11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26/50</a:t>
            </a:r>
          </a:p>
        </p:txBody>
      </p:sp>
    </p:spTree>
    <p:extLst>
      <p:ext uri="{BB962C8B-B14F-4D97-AF65-F5344CB8AC3E}">
        <p14:creationId xmlns:p14="http://schemas.microsoft.com/office/powerpoint/2010/main" val="12848438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88B0E-1448-4A1B-8B11-4D95B748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315F1-6302-40E9-B97E-198DD7E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Small-signal equivalent models: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DF0F3-C66E-49D6-B84A-778F02F1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35B11-8A95-4930-8279-6F05EB6D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small-signal equivalent models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E5C2E-E9D7-4BD7-B154-8456E884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The model turns device physics into circuit equations.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B9ABD-BA63-4874-8B58-889A053E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CE0DC-5858-4D3A-A8E8-83EB29BF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model turns device physics into circuit equations.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37CCB-C871-4A59-90F7-C7FFD840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A7506-07AE-4A33-84AE-58C19C93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40F81-C65C-467F-AF40-A8641C1C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B8827-0D03-403F-9EA5-E636A3B4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D138-9BA5-46B9-B61D-AC88CD19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78524-5B7D-4A19-B363-906B761D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29035-C49D-42BB-AAEF-EF8AD5BE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27/50</a:t>
            </a:r>
          </a:p>
        </p:txBody>
      </p:sp>
    </p:spTree>
    <p:extLst>
      <p:ext uri="{BB962C8B-B14F-4D97-AF65-F5344CB8AC3E}">
        <p14:creationId xmlns:p14="http://schemas.microsoft.com/office/powerpoint/2010/main" val="21371964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672FF-952F-4C7E-9B73-5A11ECE4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E8331-6B5E-473B-9000-B08333E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Small-signal equivalent models: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17CDF-4770-46F5-BB58-CED86696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A828B-335F-4B40-91A5-67AF4443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small-signal equivalent models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A80A7-80D1-49FF-A9E8-40764D9A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controlled source and input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9EC10-27B8-4FAC-BAAD-ABC858E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63804-C06D-49A1-AE11-7BEA1D6D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model turns device physics into circuit equations.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1148C-4A4E-456B-B0CC-CDF0628B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17AB2-9DC2-43BC-A3BB-2E7EAFCE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EAD61-9D74-4B09-BC74-1CBE6BBD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6D7A5-4329-48C6-AB73-B1B23771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9D047-1857-444B-B554-91536832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37CA2-6F96-4851-8DB7-CB43A903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072C5-E878-41F5-9F68-B159DAC5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28/50</a:t>
            </a:r>
          </a:p>
        </p:txBody>
      </p:sp>
    </p:spTree>
    <p:extLst>
      <p:ext uri="{BB962C8B-B14F-4D97-AF65-F5344CB8AC3E}">
        <p14:creationId xmlns:p14="http://schemas.microsoft.com/office/powerpoint/2010/main" val="17914467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F211F-AB59-491F-BBDA-1F83E838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570E1-F8DD-41D0-9F6B-7CCB4BA2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Transconductance: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E7355-9D05-4F06-970E-082A23E9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E5384-833E-4223-BAF3-EB4E7A43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Transconductance measures how strongly gate voltage controls drain current.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0A267-198B-424C-8892-CE6D72A0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gm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slope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bias current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overdrive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66972-3B80-43C1-BCFE-55FF391E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D64AE-F90B-4EBE-B46F-951F0EB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Higher gm usually means higher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33FB9-D043-45E5-9589-1F289EFF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7C5F8-8B9D-4C38-BCCF-4ABDF415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8E771-7D8F-4109-97B7-D4A60586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E01E8-C57A-4702-A487-7E74659D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BF624-2C58-4DB7-A016-99808AE4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63F7D-B28C-44B0-8A97-6AD14F36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769CE-72EA-46BF-A6CC-8C5A6F50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29/50</a:t>
            </a:r>
          </a:p>
        </p:txBody>
      </p:sp>
    </p:spTree>
    <p:extLst>
      <p:ext uri="{BB962C8B-B14F-4D97-AF65-F5344CB8AC3E}">
        <p14:creationId xmlns:p14="http://schemas.microsoft.com/office/powerpoint/2010/main" val="3627770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A0778-69F9-4C7A-BB91-F9EFCF43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D7A92-BFAB-454A-A280-54CF60B9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Transconductance: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0167D-E9C4-4FDF-A3D9-741F3F45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AA75C-0AC2-44C4-A899-B36E88EC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1DE2F-17F4-4121-9381-C13AD22E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63C1F-2E38-498F-8A5A-151943F7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3A832-702D-415F-804C-CD8D26F8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Higher gm usually means higher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0688-96D5-4606-B4DE-A2E1E28A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185D6-8626-4E2F-99E9-88C3A5A1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9258F-4B87-4D5C-8E85-4255B5C2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B7E8C-3679-45A0-888A-27E416BA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D8BC2-C845-4FCC-ADEC-53804763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17DF7-42A8-4D59-BE07-8FDE41B7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D1537-7251-4A80-891A-0E31D9EB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30/50</a:t>
            </a:r>
          </a:p>
        </p:txBody>
      </p:sp>
    </p:spTree>
    <p:extLst>
      <p:ext uri="{BB962C8B-B14F-4D97-AF65-F5344CB8AC3E}">
        <p14:creationId xmlns:p14="http://schemas.microsoft.com/office/powerpoint/2010/main" val="2357731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69048-AC9B-4E69-B447-D8D4BCC4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3FD51-28D1-433D-821B-34C1CC60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Transconductance: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6A8AC-8AA8-4B41-B2BD-FA85AF2E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36ADC-91D5-4F9A-9268-725A1E8E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transconductance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8AF2B-A3DE-4E24-8D40-C66CDC68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Higher gm usually means higher gain.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9EE64-AD40-40C7-A97B-DAA32482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458E7-3B39-4BFF-A5D3-4939137A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Higher gm usually means higher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AAC2B-1483-4DC7-B57D-2058AC2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7C7C5-61EE-408B-A240-4BCAABDD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500F4-9842-4699-9C3A-CD6D645E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F9A95-74BE-46E9-938C-362F5B5A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3EFA6-1B97-4792-8C4A-44086560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0A4F4-3F7A-46A9-A06D-019EFDEC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23919-C4A1-48C3-865C-428A0B27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31/50</a:t>
            </a:r>
          </a:p>
        </p:txBody>
      </p:sp>
    </p:spTree>
    <p:extLst>
      <p:ext uri="{BB962C8B-B14F-4D97-AF65-F5344CB8AC3E}">
        <p14:creationId xmlns:p14="http://schemas.microsoft.com/office/powerpoint/2010/main" val="15095020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5BD2B-C8B4-4FE8-B499-F96A985E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92EE9-E447-4890-96B7-78A4AF8C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Transconductance: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9539D-F080-4BB2-A29E-015D388B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8B185-D6BD-466E-BC43-1A206F9F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transconductance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74D89-2C74-46AC-B064-0670F5D1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gm and slope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C2ADF-089B-4FED-90A8-7CB59F45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59258-6DE0-4FDA-91BF-9AC27082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Higher gm usually means higher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76B8E-1256-4A4E-96A6-58049F43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43C0F-E13D-4081-85FE-3C93E7E1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E77CC-2ECA-4DE3-911B-96FE1784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86E12-6F52-4F7B-B91B-2F4973D0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D17EF-3E7F-495B-B14C-CE0DA6EC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52297-7EDE-4F19-BBA4-30D175A5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58908-F6C1-4134-9C63-8B4F72AC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32/50</a:t>
            </a:r>
          </a:p>
        </p:txBody>
      </p:sp>
    </p:spTree>
    <p:extLst>
      <p:ext uri="{BB962C8B-B14F-4D97-AF65-F5344CB8AC3E}">
        <p14:creationId xmlns:p14="http://schemas.microsoft.com/office/powerpoint/2010/main" val="9717465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5A487-0E1B-4180-A47A-54617B4D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D9B62-DF19-4281-9255-58C9EC49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Common-source amplifier: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E0A51-7500-4C17-B716-C489A038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AA7BD-C143-4BD6-ACDF-E59D41E8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The CS amplifier is the MOSFET voltage-gain workhorse.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9AEBE-1E9D-4329-A5A1-3E0225A0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CS stage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source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bypass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phase inversion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54DE9-1B8E-4F02-A993-111E69EF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F0107-4B38-49F8-9AA0-B695A3CF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Source resistance improves stability but lowers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4B838-1903-4A22-9260-6A86BFD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499CC-7AA9-41E0-9B73-2E8095F1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F0276-AAEC-4945-AD6F-EE27309A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8FECB-18B9-4486-80AC-F9826DEC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67DC6-0227-45D5-B02E-F50D2D89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590D4-ED68-41FC-A898-A92177D7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14B44-44FB-4256-A0CD-BE451395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33/50</a:t>
            </a:r>
          </a:p>
        </p:txBody>
      </p:sp>
    </p:spTree>
    <p:extLst>
      <p:ext uri="{BB962C8B-B14F-4D97-AF65-F5344CB8AC3E}">
        <p14:creationId xmlns:p14="http://schemas.microsoft.com/office/powerpoint/2010/main" val="1021590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DA5E1-C295-4360-A35E-C45725E2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D66EA-24EA-49EA-A91A-9486108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Common-source amplifier: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38E3C-817E-48C8-871F-BE27234A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6CA72-3091-491F-95BF-9F50F311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C9B58-75ED-488E-BE77-797D6163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4A54C-ED4D-44D0-9AFC-453AAF6F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10FE5-A177-4822-8623-8DC6DFCE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Source resistance improves stability but lowers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06405-0BFD-4D37-84FA-C68A565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DA99F-D463-43AA-B4F5-E5A91A8C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C47ED-947A-453A-BA8F-EE8E8169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4F6FD-B638-4BA2-BA98-1497E590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5889A-3491-4C3A-85CA-3B37AA73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6B6A0-5637-4A22-96C7-1CC5862E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495CD-4F9B-4C05-9DD4-40934E9B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34/50</a:t>
            </a:r>
          </a:p>
        </p:txBody>
      </p:sp>
    </p:spTree>
    <p:extLst>
      <p:ext uri="{BB962C8B-B14F-4D97-AF65-F5344CB8AC3E}">
        <p14:creationId xmlns:p14="http://schemas.microsoft.com/office/powerpoint/2010/main" val="171289541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E4E50-3AAA-452A-B50C-A1148781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9E55E-048A-4959-BB03-2714633A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Common-source amplifier: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43E72-58E2-4E7E-80B5-F47CA8A5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5B116-B2F9-4922-976D-85EEDFC9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common-source amplifier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24319-3343-404E-894B-2F600EF2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Source resistance improves stability but lowers gain.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5D07E-08E0-4266-BEB5-B83286E3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9E3B3-D366-4E1B-ABAF-D0661129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Source resistance improves stability but lowers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80CAC-1E31-4745-AC89-9CC4BEF0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8E849-68E1-4A0E-8D13-D608D231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B9929-B2B3-4FA3-8D03-7CE872D2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DF68D-ECC3-40E4-9F82-5901A259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016B6-03B3-4BB4-9D6C-96BE3B59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65A26-A9E1-4B4E-AFB1-414FA912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D0127-FAD3-4899-971F-74BAE29F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35/50</a:t>
            </a:r>
          </a:p>
        </p:txBody>
      </p:sp>
    </p:spTree>
    <p:extLst>
      <p:ext uri="{BB962C8B-B14F-4D97-AF65-F5344CB8AC3E}">
        <p14:creationId xmlns:p14="http://schemas.microsoft.com/office/powerpoint/2010/main" val="110511289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629DA-7666-49C5-96A9-2F4E9030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53FC0-859F-471F-8472-93445DF9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Common-source amplifier: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613BB-F06D-402A-83A0-BA52E16F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25EE0-C52C-4ED2-B5E6-B2D5B0C0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common-source amplifier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9372F-6728-48DB-B82E-35EBB6D6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CS stage and source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91502-E74F-4AF9-8ACA-7C888561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AF692-C4A2-4EBB-A3B1-2B12E1D6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Source resistance improves stability but lowers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91DAB-7213-44DC-8067-995D8CA1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2F3A7-4E6D-4CB4-9469-165D510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52F76-2F9F-44BB-9781-1A2C720B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E39B0-3995-4FE6-A62F-FF80FF1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2386A-CFA5-4D39-B005-E11B089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F9D41-5DF2-47AC-B52C-8D122C47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C7523-6BAC-49C6-9BCD-E7B5B163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36/50</a:t>
            </a:r>
          </a:p>
        </p:txBody>
      </p:sp>
    </p:spTree>
    <p:extLst>
      <p:ext uri="{BB962C8B-B14F-4D97-AF65-F5344CB8AC3E}">
        <p14:creationId xmlns:p14="http://schemas.microsoft.com/office/powerpoint/2010/main" val="2409964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ED11C-0F51-4EFD-9A65-5DD37A00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100CA-9BD4-4B21-8950-080C340A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Common-gate amplifier: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B205D-F547-4693-8D39-C23BBDE5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A5D0F-D85C-4B51-93F1-B343D1C2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The CG amplifier accepts current-like input with low input resistance.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655BB-7421-46EA-92BF-2E1C2689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low input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current buffer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wideband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no phase inversion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D1F53-7698-42B1-8089-0D18F32D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14D99-F127-4CD7-9C66-29CD9191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CG stages are useful in wideband interfaces.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4B0BD-B185-47EB-9149-E518DDD2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67067-BBFE-46CA-806A-3ABAF9B1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63A46-FD0B-42AF-B6B3-A918C048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896D7-245B-4C46-A577-F4EE74DC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0DCAD-82B4-4D3F-8527-9FA8584E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58A7E-9483-4018-8629-73DB8F46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BD2F2-91A0-41F7-B466-006EDA0B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37/50</a:t>
            </a:r>
          </a:p>
        </p:txBody>
      </p:sp>
    </p:spTree>
    <p:extLst>
      <p:ext uri="{BB962C8B-B14F-4D97-AF65-F5344CB8AC3E}">
        <p14:creationId xmlns:p14="http://schemas.microsoft.com/office/powerpoint/2010/main" val="119491969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38739-F6F1-4494-B1AA-E22F805E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9061F-6CD4-4597-BE53-BBA9C8B0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Common-gate amplifier: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AC0EF-C178-4BC3-AE86-D96C00FF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7F156-4F7E-41E8-B4F3-1A8562CD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78672-B1CA-452C-A32F-AA9C1F07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20542-389F-4AC1-9454-7AEBDD02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D0DE2-B6E5-4229-B9B1-9002CB90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CG stages are useful in wideband interfaces.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4B0D1-9EEC-4A8C-8E4C-81F06205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431A5-2DBA-49E0-85A8-6A0453FD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04B86-0A4B-41B3-9D58-409EF688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7277D-8069-465B-AE6E-30CBA1B3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0F003-5E8E-4922-9AE7-1AC7032D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1E4B7-583E-4C02-890C-88F16B5A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7ADB9-E280-4D95-9C2E-B2A9D27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38/50</a:t>
            </a:r>
          </a:p>
        </p:txBody>
      </p:sp>
    </p:spTree>
    <p:extLst>
      <p:ext uri="{BB962C8B-B14F-4D97-AF65-F5344CB8AC3E}">
        <p14:creationId xmlns:p14="http://schemas.microsoft.com/office/powerpoint/2010/main" val="9378155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71152-E877-4584-9ADC-8863BBEA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BA71D-7F47-4C99-B027-5AEAFF6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Common-gate amplifier: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08657-34A3-4334-A9AD-B669828A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532A0-FC52-4287-BD23-1476F61D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common-gate amplifier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AA484-EE00-4B8D-BE45-41F6CC0F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CG stages are useful in wideband interfaces.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E7D6C-1D52-4371-8D83-56A1EE6C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4BE0D-BDDF-40F5-8BB9-CD26C473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CG stages are useful in wideband interfaces.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87B5C-8AED-4460-BB03-3A10E05C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FC4E2-3DBB-463E-B8E3-88A21D03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C5630-4745-4CC4-A25B-205C3F99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38CCE-0D2B-4C5D-B297-B6123BD3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A6D70-BB27-493D-A303-EAFE1659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BA838-E74B-4BF7-BA77-ADD68E30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757E1-EE97-4ED4-BCB9-7E06994C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39/50</a:t>
            </a:r>
          </a:p>
        </p:txBody>
      </p:sp>
    </p:spTree>
    <p:extLst>
      <p:ext uri="{BB962C8B-B14F-4D97-AF65-F5344CB8AC3E}">
        <p14:creationId xmlns:p14="http://schemas.microsoft.com/office/powerpoint/2010/main" val="207614286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80360-E79D-42D0-90E9-FB03741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90511-7DD1-44A8-ACBD-DCD5618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Common-gate amplifier: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4682A-7C92-42B8-9C17-541164D8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2F70E-8490-4A4E-BE66-F43AB6D2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common-gate amplifier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D9DBE-C900-43A8-92B9-45BA2D47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low input resistance and current buffer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0C56E-10DF-4739-B486-2690431B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C9A38-C2E4-4F36-9C03-078D6A07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CG stages are useful in wideband interfaces.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92489-556B-450E-AA3E-9698F71E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39C97-4FB3-4083-A411-3D41E310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83F2D-B3EF-44C6-A37C-898F2AF8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D2E0B-D3A6-463F-B23D-81EACBB4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0087C-41FB-4F9D-9B68-89F5CEC5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9B20B-4B84-4844-B3B8-23BF9A0F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23488-AF30-466B-AC7D-B95E091A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40/50</a:t>
            </a:r>
          </a:p>
        </p:txBody>
      </p:sp>
    </p:spTree>
    <p:extLst>
      <p:ext uri="{BB962C8B-B14F-4D97-AF65-F5344CB8AC3E}">
        <p14:creationId xmlns:p14="http://schemas.microsoft.com/office/powerpoint/2010/main" val="102125488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E470B-1B8B-4370-9101-A0FB02A9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E81DC-DC3E-4D01-88FA-E438DDAD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Source follower: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4D0F9-A2D7-4141-A030-18DDDC90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673E3-6A90-40AF-912B-BA55A47B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The source follower provides near-unity gain and strong buffering.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8F599-C95F-49A2-9EB1-25B557AE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common drain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buffer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high input 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low output resistance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A6A3F-D343-450B-AF79-7A0925A7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F4041-D641-4AD9-B356-59BF482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 it when impedance matching matters more than voltage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8DFC3-3337-4FE7-8828-AF5979B3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F5175-7B7E-4677-8558-41D745C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DFA15-BAB7-4D98-8370-C05FD2A8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A1CB9-8665-4B1E-ABAA-D27D3EFC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533B1-414C-4908-AC99-D99910C3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0F1F7-F05D-428E-B920-CF082E2C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0CD5B-70A3-48FF-8AF6-408DCD2B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41/50</a:t>
            </a:r>
          </a:p>
        </p:txBody>
      </p:sp>
    </p:spTree>
    <p:extLst>
      <p:ext uri="{BB962C8B-B14F-4D97-AF65-F5344CB8AC3E}">
        <p14:creationId xmlns:p14="http://schemas.microsoft.com/office/powerpoint/2010/main" val="173523923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0B546-80A8-4DEE-A450-68E66BDD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A5F50-5341-44DF-839D-B5B48BB2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Source follower: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E9CB3-4B25-4150-96BA-1A102F85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D7B92-BAB8-4395-A813-11A98486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6FDAD-DA02-46C6-ADC8-9CE08765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CDD86-28BE-41D7-8781-EB5D825A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6B180-71CF-413F-B1A6-CC610501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 it when impedance matching matters more than voltage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A35A4-E77E-4734-AC8C-9F9A8518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68F82-E521-41F6-91E5-7864406A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B44A4-7DEC-4D4B-97D2-C593C9E2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8E172-1F67-4144-A492-F0D4FE18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03345-623E-46D1-A7E8-C813A1F9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90208-01E9-44C0-9D4D-9720ABE8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39D83-51FA-46C9-AABF-452FA5F3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42/50</a:t>
            </a:r>
          </a:p>
        </p:txBody>
      </p:sp>
    </p:spTree>
    <p:extLst>
      <p:ext uri="{BB962C8B-B14F-4D97-AF65-F5344CB8AC3E}">
        <p14:creationId xmlns:p14="http://schemas.microsoft.com/office/powerpoint/2010/main" val="74493529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677E7-D784-4284-99D6-59DA9769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F6210-1165-4B7F-966F-E94776FD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Source follower: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651D2-AB63-4A91-A871-8893FE71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57AC5-7E94-4E4E-8B83-F010AF97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source follower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87A9F-D9E7-4E5D-B31E-AFE56B6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Use it when impedance matching matters more than voltage gain.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A1BC5-194B-4A9F-8D5F-B867C5F1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ED304-22F3-43CA-94DA-B270C08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 it when impedance matching matters more than voltage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6F6C9-768E-4F41-9DB3-72BDEF0B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EC685-C7D8-46D7-8F5B-E8CF1099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33EEA-8484-446B-9DDE-FE1F246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59C15-6F48-4EC8-BB28-D606CAD5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E2D76-414A-4D6B-880C-DA9F157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CC954-5000-43A0-A99F-033DC888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978E9-F919-425D-A890-781D8224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43/50</a:t>
            </a:r>
          </a:p>
        </p:txBody>
      </p:sp>
    </p:spTree>
    <p:extLst>
      <p:ext uri="{BB962C8B-B14F-4D97-AF65-F5344CB8AC3E}">
        <p14:creationId xmlns:p14="http://schemas.microsoft.com/office/powerpoint/2010/main" val="99574202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3F93C-E9B4-43AC-8230-2FC95CF1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A6030-EAA8-4CA4-96BD-2C697F27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Source follower: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5E938-E299-4699-8959-3F59E874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E1B50-28F2-4165-960A-77387303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source follower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E84BF-F77C-4A5F-92CD-A4FBCFB6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common drain and buffer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59DD4-28F6-418E-9A81-C2675C54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5F1E4-A670-48F2-B6A9-596662A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Use it when impedance matching matters more than voltage 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9D197-5808-4EDE-8CFF-5A33452A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10677-DE5A-4807-8AD4-69F97D40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4B004-9FD9-4972-8D94-9F92631B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0E3E6-43A1-4D4B-857D-EED5E43E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0A2BA-6F82-4CF5-BF69-5228A6D9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5CF87-E673-4372-ACA4-8A5ED518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A788C-7CE5-4ED2-8CB2-4F97AE80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44/50</a:t>
            </a:r>
          </a:p>
        </p:txBody>
      </p:sp>
    </p:spTree>
    <p:extLst>
      <p:ext uri="{BB962C8B-B14F-4D97-AF65-F5344CB8AC3E}">
        <p14:creationId xmlns:p14="http://schemas.microsoft.com/office/powerpoint/2010/main" val="207035823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3AF57-D830-460A-8E9A-EEFB8759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DA1CA-C099-4FA7-AF86-0DA629CD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49E1E-68C6-4648-9D2A-C1A7F437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4F739-718D-4B55-944F-C8B14F5E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3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 Biasing, Small Signal Models, and Amplifier Configurations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5C28F-2F90-4F24-9260-F76B2312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Fixing VGS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77E80-A639-42DC-8651-A748A122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Fixing 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199B7-951A-4E84-930C-16DBBDE1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Drain-to-gate feedback bias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97FB4-138B-4EB6-95AB-6E232DA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DC bias 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CE833-F877-4115-96E2-07B09B31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Signal current and voltage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F5134-0943-4F9F-83A2-70E7DDB0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Small-signal equivalent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D724A-7772-44C6-94D7-C5B9AB8E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Transconductance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D92A5-4E06-496F-B7AC-5ABF38DA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Common-source amplifier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B0B67-1368-4352-BAF1-FBB262B1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If students can redraw this map, they can revise the module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8A311-0B21-4072-BD54-8D2A7768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45/50</a:t>
            </a:r>
          </a:p>
        </p:txBody>
      </p:sp>
    </p:spTree>
    <p:extLst>
      <p:ext uri="{BB962C8B-B14F-4D97-AF65-F5344CB8AC3E}">
        <p14:creationId xmlns:p14="http://schemas.microsoft.com/office/powerpoint/2010/main" val="160751263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DA64D-84F2-43D3-8C83-B0B5B61B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F43D8-EF4C-4F3F-B52D-9CDDC27D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2A147-6B55-48FF-B6FB-30C41134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C6215-AD58-47B5-8A7E-8E1516DC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95680-E238-4C70-A50F-205A0F4A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fixing vgs with a neat circuit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06C18-4BE6-4A63-98F9-B00D9C1D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DB7B6-0184-4BA1-913F-F56DDCFD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114D8-B5B2-4B31-9CCA-CE26081D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Derive or outline the analysis method for fixing vg.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B2C6B-834B-4C18-A3DE-E697AE17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72E82-5B39-4F91-A281-F25B4F98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089A3-DDB6-47C9-B128-196ECE81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drain-to-gate feedback bias and dc bias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A82B4-2959-4DF7-98BF-2767B07C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695DA-FC06-4F09-B970-E69FC33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53BB8-C06C-4A4C-87CB-689FF8E5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Solve a numerical design problem based on signal current and voltage gain.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262BF-A5A7-4F41-A966-6C8A5722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F3A92-19A5-483E-A1F8-1210E15C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11D1E-3F32-4122-8BD6-CDC5E071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Draw the waveform/response for small-signal equivalent models and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7A902-5302-438D-9005-34BEC526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936B6-831A-4066-BFC8-FDDEC054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7EAF8-7778-454A-8900-ADCB8D78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transconductance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17D1B-137D-4721-A7B8-650793F1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0071F-CBAA-44A1-9617-8B408485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46/50</a:t>
            </a:r>
          </a:p>
        </p:txBody>
      </p:sp>
    </p:spTree>
    <p:extLst>
      <p:ext uri="{BB962C8B-B14F-4D97-AF65-F5344CB8AC3E}">
        <p14:creationId xmlns:p14="http://schemas.microsoft.com/office/powerpoint/2010/main" val="77725749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E3571-F845-475D-A644-1EA3D12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98895-18EB-44E1-93ED-AB1A7962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formula and design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18869-CC8B-4D40-821A-943CCAB7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D25C9-46A3-4195-BED3-71F71918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0EB02-9251-44D2-9AC9-D7EDD853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id = gm vgs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43745-97B2-4AB6-A285-9495A5D5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33EE3-B051-46CF-8AFF-9466B1E0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A6219-6700-4C91-81BE-69CBE71F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Av roughly -gm 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6BAFC-DC62-481C-9F05-CF661364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289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59997-1221-41F6-A2DC-BBBB186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60342-4044-4C20-BA86-04840393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Source resistance lowers gain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7A6AB-460D-4662-B0DB-6A2B2046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5D222-FFBE-4F6A-B069-1D99B091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51CB4-D4BA-497D-A585-6CB6712E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Follower gain is below unity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9806B-C331-4F06-9EE0-7EB98BA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B35B3-770D-4CFE-9DE1-7F34DBBC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47/50</a:t>
            </a:r>
          </a:p>
        </p:txBody>
      </p:sp>
    </p:spTree>
    <p:extLst>
      <p:ext uri="{BB962C8B-B14F-4D97-AF65-F5344CB8AC3E}">
        <p14:creationId xmlns:p14="http://schemas.microsoft.com/office/powerpoint/2010/main" val="136098233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6D36D-29CE-4541-BE4C-76574E54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4569C-4144-4E29-A160-430B1884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08E4E-FF3E-4057-B9FD-0C86A240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252D3-1732-4946-BB65-BF27E87B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3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 Biasing, Small Signal Models, and Amplifier Configurations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BFFCB-0460-4F33-ACAD-B6573E68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Fixing VGS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FD4B0-6265-44E0-94AF-CFC1E426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Fixing 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99EC5-4744-40A7-9CBC-1E9A8C02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Drain-to-gate feedback bias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7A35B-BE02-42F7-AA8E-B4DFC854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DC bias 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2FA44-5ED5-45B3-8AD8-5B337716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Signal current and voltage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07DF1-237B-4013-929D-A6F33317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Small-signal equivalent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29E8F-A0C3-4A71-B204-5E704C7E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Transconductance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23D38-D7D2-4C56-9E75-C10070B2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Common-source amplifier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2BCDB-6030-48A1-8F2F-329B266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If students can redraw this map, they can revise the module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544A4-D2BF-4F70-8886-B36AFAE4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48/50</a:t>
            </a:r>
          </a:p>
        </p:txBody>
      </p:sp>
    </p:spTree>
    <p:extLst>
      <p:ext uri="{BB962C8B-B14F-4D97-AF65-F5344CB8AC3E}">
        <p14:creationId xmlns:p14="http://schemas.microsoft.com/office/powerpoint/2010/main" val="76803907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2E218-6D33-4915-AD30-D7653965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FA5AE-EB14-4786-BBCC-C303C92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2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33619-1F18-4BDC-9A55-038295F0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20DF7-A1D4-4DBA-ADCF-1543994A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0210D-86A9-4D73-A4E3-13087EAF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fixing vgs with a neat circuit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7EEFE-304B-4B69-A9E5-E7E6E7CD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DA1BB-1CA4-4C87-9420-8575B0C5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3E3CA-154E-4542-A197-3E74F83E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Derive or outline the analysis method for fixing vg.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26AB9-FDDE-47D6-87E3-F2726649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2C37C-361C-44D9-A7A6-32DC74B5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BBC48-DBFE-4C3F-99DE-6AD21D87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drain-to-gate feedback bias and dc bias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52873-2AFD-441F-96EF-23E4433A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EAF96-E685-45A1-AFAB-0CF6C569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1466B-26EB-4AEF-99D8-6EC17865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Solve a numerical design problem based on signal current and voltage gain.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512FF-3DA6-4D3E-A4B7-510D162F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DBEAD-AE7D-4ED1-89BC-B81F2D2B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7E489-08F6-4943-B0FA-EAC17700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Draw the waveform/response for small-signal equivalent models and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14EDB-00EC-4FEA-AAD8-E4A9A9DE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C48D6-F7FD-4DCC-8844-FBF4F540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0A215-79E1-447D-9646-8E469BC0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transconductance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008D2-A1D1-47F0-B4F8-7BDF8C5C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25EBE-3B95-4427-920F-2D3F632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49/50</a:t>
            </a:r>
          </a:p>
        </p:txBody>
      </p:sp>
    </p:spTree>
    <p:extLst>
      <p:ext uri="{BB962C8B-B14F-4D97-AF65-F5344CB8AC3E}">
        <p14:creationId xmlns:p14="http://schemas.microsoft.com/office/powerpoint/2010/main" val="88715713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883FA-81F6-4393-9CBA-15E954CF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2 / MOSFET Biasing, Small Signal Models, and Amplifier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E43BF-DC20-4610-B178-7CC83348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DC bias point: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FC57B-30B2-47F9-A66B-1E27701C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1DA3C-6FF4-4D0C-9D37-DED9B085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dc bias point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7C0BE-7CCD-4AEB-9F44-558A2A50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Q point and load line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CB179-8B4D-47CB-99A2-702E1F80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5C0B8-09B4-43B9-B808-FFECEB69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Poor bias clips the signal before amplification helps.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3F6EA-6FBD-42B1-A1BE-3504D321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13CF9-A7F7-421C-AF16-D2CD3636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90850"/>
            <a:ext cx="1066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MOSFET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90F87-311D-43BB-80EB-DBB32336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C2B8B-8CDA-479C-9F77-B92FBDED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495300" cy="5715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</a:defRPr>
            </a:pPr>
            <a:r>
              <a:rPr sz="1125" b="0">
                <a:solidFill>
                  <a:srgbClr val="102033"/>
                </a:solidFill>
              </a:rPr>
              <a:t>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7E773-95BF-437B-AEA5-066647F2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526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Drain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86178-EAB7-4B12-9B7D-19F29889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19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gm converts gate voltage into drain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1E20A-D064-4973-9163-2FE01980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2 • 50/50</a:t>
            </a:r>
          </a:p>
        </p:txBody>
      </p:sp>
    </p:spTree>
    <p:extLst>
      <p:ext uri="{BB962C8B-B14F-4D97-AF65-F5344CB8AC3E}">
        <p14:creationId xmlns:p14="http://schemas.microsoft.com/office/powerpoint/2010/main" val="202875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2026-08-21T07:02:36.6820000Z</dcterms:created>
  <dcterms:modified xsi:type="dcterms:W3CDTF">2026-08-21T07:02:36.6820000Z</dcterms:modified>
</coreProperties>
</file>