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6603e88d5f49a5" /><Relationship Type="http://schemas.openxmlformats.org/officeDocument/2006/relationships/extended-properties" Target="/docProps/app.xml" Id="R0e67c0075ef74824" /><Relationship Type="http://schemas.openxmlformats.org/officeDocument/2006/relationships/officeDocument" Target="/ppt/presentation.xml" Id="R3c2f4e3322bf41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ef70e745a7481d"/>
  </p:sldMasterIdLst>
  <p:notesMasterIdLst>
    <p:notesMasterId xmlns:r="http://schemas.openxmlformats.org/officeDocument/2006/relationships" r:id="R2ce8258c300d40d7"/>
  </p:notesMasterIdLst>
  <p:sldIdLst>
    <p:sldId xmlns:r="http://schemas.openxmlformats.org/officeDocument/2006/relationships" id="256" r:id="R18c1a530572e40a7"/>
    <p:sldId xmlns:r="http://schemas.openxmlformats.org/officeDocument/2006/relationships" id="257" r:id="R74b676f701b5409d"/>
    <p:sldId xmlns:r="http://schemas.openxmlformats.org/officeDocument/2006/relationships" id="258" r:id="R9c289bd52e7f4d56"/>
    <p:sldId xmlns:r="http://schemas.openxmlformats.org/officeDocument/2006/relationships" id="259" r:id="R5ebe43f42d52446f"/>
    <p:sldId xmlns:r="http://schemas.openxmlformats.org/officeDocument/2006/relationships" id="260" r:id="R52468701ced344da"/>
    <p:sldId xmlns:r="http://schemas.openxmlformats.org/officeDocument/2006/relationships" id="261" r:id="R24aee305537b4731"/>
    <p:sldId xmlns:r="http://schemas.openxmlformats.org/officeDocument/2006/relationships" id="262" r:id="Rb1a68f8516724e0a"/>
    <p:sldId xmlns:r="http://schemas.openxmlformats.org/officeDocument/2006/relationships" id="263" r:id="R13114b4a07f840fb"/>
    <p:sldId xmlns:r="http://schemas.openxmlformats.org/officeDocument/2006/relationships" id="264" r:id="Rec2da2b701d349cd"/>
    <p:sldId xmlns:r="http://schemas.openxmlformats.org/officeDocument/2006/relationships" id="265" r:id="Rbf07142b84e44de2"/>
    <p:sldId xmlns:r="http://schemas.openxmlformats.org/officeDocument/2006/relationships" id="266" r:id="R8b77ad5c80094842"/>
    <p:sldId xmlns:r="http://schemas.openxmlformats.org/officeDocument/2006/relationships" id="267" r:id="R6aa0b9604dca456e"/>
    <p:sldId xmlns:r="http://schemas.openxmlformats.org/officeDocument/2006/relationships" id="268" r:id="R516ac5768e1549b0"/>
    <p:sldId xmlns:r="http://schemas.openxmlformats.org/officeDocument/2006/relationships" id="269" r:id="R1b5c2e1b98fb4f47"/>
    <p:sldId xmlns:r="http://schemas.openxmlformats.org/officeDocument/2006/relationships" id="270" r:id="Rb1afad38838e4b73"/>
    <p:sldId xmlns:r="http://schemas.openxmlformats.org/officeDocument/2006/relationships" id="271" r:id="R2a2dd7dbc4b54c1f"/>
    <p:sldId xmlns:r="http://schemas.openxmlformats.org/officeDocument/2006/relationships" id="272" r:id="R6a0f96a937244b00"/>
    <p:sldId xmlns:r="http://schemas.openxmlformats.org/officeDocument/2006/relationships" id="273" r:id="R8355f325345544d8"/>
    <p:sldId xmlns:r="http://schemas.openxmlformats.org/officeDocument/2006/relationships" id="274" r:id="R360e8ad42e384f7b"/>
    <p:sldId xmlns:r="http://schemas.openxmlformats.org/officeDocument/2006/relationships" id="275" r:id="R5f5f642aad014b25"/>
    <p:sldId xmlns:r="http://schemas.openxmlformats.org/officeDocument/2006/relationships" id="276" r:id="R2f7a737c62ff444f"/>
    <p:sldId xmlns:r="http://schemas.openxmlformats.org/officeDocument/2006/relationships" id="277" r:id="R1b6d1cfb94eb43af"/>
    <p:sldId xmlns:r="http://schemas.openxmlformats.org/officeDocument/2006/relationships" id="278" r:id="R13e58f63ceb349c9"/>
    <p:sldId xmlns:r="http://schemas.openxmlformats.org/officeDocument/2006/relationships" id="279" r:id="R61e4cee3370a46e7"/>
    <p:sldId xmlns:r="http://schemas.openxmlformats.org/officeDocument/2006/relationships" id="280" r:id="R47780d3b165c47b0"/>
    <p:sldId xmlns:r="http://schemas.openxmlformats.org/officeDocument/2006/relationships" id="281" r:id="R2221ab6008c142b6"/>
    <p:sldId xmlns:r="http://schemas.openxmlformats.org/officeDocument/2006/relationships" id="282" r:id="R05595ef1672d40f0"/>
    <p:sldId xmlns:r="http://schemas.openxmlformats.org/officeDocument/2006/relationships" id="283" r:id="R56e5405e21f64f42"/>
    <p:sldId xmlns:r="http://schemas.openxmlformats.org/officeDocument/2006/relationships" id="284" r:id="R335ed04d58a14cc4"/>
    <p:sldId xmlns:r="http://schemas.openxmlformats.org/officeDocument/2006/relationships" id="285" r:id="R3002f289ed7e4f26"/>
    <p:sldId xmlns:r="http://schemas.openxmlformats.org/officeDocument/2006/relationships" id="286" r:id="R9de192ac085a4300"/>
    <p:sldId xmlns:r="http://schemas.openxmlformats.org/officeDocument/2006/relationships" id="287" r:id="R27277369f27f4cd8"/>
    <p:sldId xmlns:r="http://schemas.openxmlformats.org/officeDocument/2006/relationships" id="288" r:id="Rb1fb96f8fd224260"/>
    <p:sldId xmlns:r="http://schemas.openxmlformats.org/officeDocument/2006/relationships" id="289" r:id="R8c667ea114694cc0"/>
    <p:sldId xmlns:r="http://schemas.openxmlformats.org/officeDocument/2006/relationships" id="290" r:id="R557ed88dc15c428b"/>
    <p:sldId xmlns:r="http://schemas.openxmlformats.org/officeDocument/2006/relationships" id="291" r:id="Rfa9d1b5b576a4fb9"/>
    <p:sldId xmlns:r="http://schemas.openxmlformats.org/officeDocument/2006/relationships" id="292" r:id="Rfc15e48bf53b4a2f"/>
    <p:sldId xmlns:r="http://schemas.openxmlformats.org/officeDocument/2006/relationships" id="293" r:id="R0e930795fdd340bd"/>
    <p:sldId xmlns:r="http://schemas.openxmlformats.org/officeDocument/2006/relationships" id="294" r:id="R6ece9bcaa1de4dce"/>
    <p:sldId xmlns:r="http://schemas.openxmlformats.org/officeDocument/2006/relationships" id="295" r:id="R65dafb62f75a4ae6"/>
    <p:sldId xmlns:r="http://schemas.openxmlformats.org/officeDocument/2006/relationships" id="296" r:id="Reb955a42caee4086"/>
    <p:sldId xmlns:r="http://schemas.openxmlformats.org/officeDocument/2006/relationships" id="297" r:id="Rcfa8ca54204f47cf"/>
    <p:sldId xmlns:r="http://schemas.openxmlformats.org/officeDocument/2006/relationships" id="298" r:id="R1b489dadf97a46ec"/>
    <p:sldId xmlns:r="http://schemas.openxmlformats.org/officeDocument/2006/relationships" id="299" r:id="R68526d99385340fd"/>
    <p:sldId xmlns:r="http://schemas.openxmlformats.org/officeDocument/2006/relationships" id="300" r:id="Ra12fc4a3cc8748cc"/>
    <p:sldId xmlns:r="http://schemas.openxmlformats.org/officeDocument/2006/relationships" id="301" r:id="R18b30299d2ac4f25"/>
    <p:sldId xmlns:r="http://schemas.openxmlformats.org/officeDocument/2006/relationships" id="302" r:id="Rad407d3eb27640f2"/>
    <p:sldId xmlns:r="http://schemas.openxmlformats.org/officeDocument/2006/relationships" id="303" r:id="R824f1752b6874cf4"/>
    <p:sldId xmlns:r="http://schemas.openxmlformats.org/officeDocument/2006/relationships" id="304" r:id="R3800d430305d4c2f"/>
    <p:sldId xmlns:r="http://schemas.openxmlformats.org/officeDocument/2006/relationships" id="305" r:id="R133bd21018364e2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ce971048a5404b" /><Relationship Type="http://schemas.openxmlformats.org/officeDocument/2006/relationships/slideMaster" Target="/ppt/slideMasters/slideMaster1.xml" Id="R7aef70e745a7481d" /><Relationship Type="http://schemas.openxmlformats.org/officeDocument/2006/relationships/notesMaster" Target="/ppt/notesMasters/notesMaster1.xml" Id="R2ce8258c300d40d7" /><Relationship Type="http://schemas.openxmlformats.org/officeDocument/2006/relationships/presProps" Target="/ppt/presProps.xml" Id="R84683a92261d4727" /><Relationship Type="http://schemas.openxmlformats.org/officeDocument/2006/relationships/tableStyles" Target="/ppt/tableStyles.xml" Id="R4f4b8a436eff4def" /><Relationship Type="http://schemas.openxmlformats.org/officeDocument/2006/relationships/slide" Target="/ppt/slides/slide1.xml" Id="R18c1a530572e40a7" /><Relationship Type="http://schemas.openxmlformats.org/officeDocument/2006/relationships/slide" Target="/ppt/slides/slide2.xml" Id="R74b676f701b5409d" /><Relationship Type="http://schemas.openxmlformats.org/officeDocument/2006/relationships/slide" Target="/ppt/slides/slide3.xml" Id="R9c289bd52e7f4d56" /><Relationship Type="http://schemas.openxmlformats.org/officeDocument/2006/relationships/slide" Target="/ppt/slides/slide4.xml" Id="R5ebe43f42d52446f" /><Relationship Type="http://schemas.openxmlformats.org/officeDocument/2006/relationships/slide" Target="/ppt/slides/slide5.xml" Id="R52468701ced344da" /><Relationship Type="http://schemas.openxmlformats.org/officeDocument/2006/relationships/slide" Target="/ppt/slides/slide6.xml" Id="R24aee305537b4731" /><Relationship Type="http://schemas.openxmlformats.org/officeDocument/2006/relationships/slide" Target="/ppt/slides/slide7.xml" Id="Rb1a68f8516724e0a" /><Relationship Type="http://schemas.openxmlformats.org/officeDocument/2006/relationships/slide" Target="/ppt/slides/slide8.xml" Id="R13114b4a07f840fb" /><Relationship Type="http://schemas.openxmlformats.org/officeDocument/2006/relationships/slide" Target="/ppt/slides/slide9.xml" Id="Rec2da2b701d349cd" /><Relationship Type="http://schemas.openxmlformats.org/officeDocument/2006/relationships/slide" Target="/ppt/slides/slide10.xml" Id="Rbf07142b84e44de2" /><Relationship Type="http://schemas.openxmlformats.org/officeDocument/2006/relationships/slide" Target="/ppt/slides/slide11.xml" Id="R8b77ad5c80094842" /><Relationship Type="http://schemas.openxmlformats.org/officeDocument/2006/relationships/slide" Target="/ppt/slides/slide12.xml" Id="R6aa0b9604dca456e" /><Relationship Type="http://schemas.openxmlformats.org/officeDocument/2006/relationships/slide" Target="/ppt/slides/slide13.xml" Id="R516ac5768e1549b0" /><Relationship Type="http://schemas.openxmlformats.org/officeDocument/2006/relationships/slide" Target="/ppt/slides/slide14.xml" Id="R1b5c2e1b98fb4f47" /><Relationship Type="http://schemas.openxmlformats.org/officeDocument/2006/relationships/slide" Target="/ppt/slides/slide15.xml" Id="Rb1afad38838e4b73" /><Relationship Type="http://schemas.openxmlformats.org/officeDocument/2006/relationships/slide" Target="/ppt/slides/slide16.xml" Id="R2a2dd7dbc4b54c1f" /><Relationship Type="http://schemas.openxmlformats.org/officeDocument/2006/relationships/slide" Target="/ppt/slides/slide17.xml" Id="R6a0f96a937244b00" /><Relationship Type="http://schemas.openxmlformats.org/officeDocument/2006/relationships/slide" Target="/ppt/slides/slide18.xml" Id="R8355f325345544d8" /><Relationship Type="http://schemas.openxmlformats.org/officeDocument/2006/relationships/slide" Target="/ppt/slides/slide19.xml" Id="R360e8ad42e384f7b" /><Relationship Type="http://schemas.openxmlformats.org/officeDocument/2006/relationships/slide" Target="/ppt/slides/slide20.xml" Id="R5f5f642aad014b25" /><Relationship Type="http://schemas.openxmlformats.org/officeDocument/2006/relationships/slide" Target="/ppt/slides/slide21.xml" Id="R2f7a737c62ff444f" /><Relationship Type="http://schemas.openxmlformats.org/officeDocument/2006/relationships/slide" Target="/ppt/slides/slide22.xml" Id="R1b6d1cfb94eb43af" /><Relationship Type="http://schemas.openxmlformats.org/officeDocument/2006/relationships/slide" Target="/ppt/slides/slide23.xml" Id="R13e58f63ceb349c9" /><Relationship Type="http://schemas.openxmlformats.org/officeDocument/2006/relationships/slide" Target="/ppt/slides/slide24.xml" Id="R61e4cee3370a46e7" /><Relationship Type="http://schemas.openxmlformats.org/officeDocument/2006/relationships/slide" Target="/ppt/slides/slide25.xml" Id="R47780d3b165c47b0" /><Relationship Type="http://schemas.openxmlformats.org/officeDocument/2006/relationships/slide" Target="/ppt/slides/slide26.xml" Id="R2221ab6008c142b6" /><Relationship Type="http://schemas.openxmlformats.org/officeDocument/2006/relationships/slide" Target="/ppt/slides/slide27.xml" Id="R05595ef1672d40f0" /><Relationship Type="http://schemas.openxmlformats.org/officeDocument/2006/relationships/slide" Target="/ppt/slides/slide28.xml" Id="R56e5405e21f64f42" /><Relationship Type="http://schemas.openxmlformats.org/officeDocument/2006/relationships/slide" Target="/ppt/slides/slide29.xml" Id="R335ed04d58a14cc4" /><Relationship Type="http://schemas.openxmlformats.org/officeDocument/2006/relationships/slide" Target="/ppt/slides/slide30.xml" Id="R3002f289ed7e4f26" /><Relationship Type="http://schemas.openxmlformats.org/officeDocument/2006/relationships/slide" Target="/ppt/slides/slide31.xml" Id="R9de192ac085a4300" /><Relationship Type="http://schemas.openxmlformats.org/officeDocument/2006/relationships/slide" Target="/ppt/slides/slide32.xml" Id="R27277369f27f4cd8" /><Relationship Type="http://schemas.openxmlformats.org/officeDocument/2006/relationships/slide" Target="/ppt/slides/slide33.xml" Id="Rb1fb96f8fd224260" /><Relationship Type="http://schemas.openxmlformats.org/officeDocument/2006/relationships/slide" Target="/ppt/slides/slide34.xml" Id="R8c667ea114694cc0" /><Relationship Type="http://schemas.openxmlformats.org/officeDocument/2006/relationships/slide" Target="/ppt/slides/slide35.xml" Id="R557ed88dc15c428b" /><Relationship Type="http://schemas.openxmlformats.org/officeDocument/2006/relationships/slide" Target="/ppt/slides/slide36.xml" Id="Rfa9d1b5b576a4fb9" /><Relationship Type="http://schemas.openxmlformats.org/officeDocument/2006/relationships/slide" Target="/ppt/slides/slide37.xml" Id="Rfc15e48bf53b4a2f" /><Relationship Type="http://schemas.openxmlformats.org/officeDocument/2006/relationships/slide" Target="/ppt/slides/slide38.xml" Id="R0e930795fdd340bd" /><Relationship Type="http://schemas.openxmlformats.org/officeDocument/2006/relationships/slide" Target="/ppt/slides/slide39.xml" Id="R6ece9bcaa1de4dce" /><Relationship Type="http://schemas.openxmlformats.org/officeDocument/2006/relationships/slide" Target="/ppt/slides/slide40.xml" Id="R65dafb62f75a4ae6" /><Relationship Type="http://schemas.openxmlformats.org/officeDocument/2006/relationships/slide" Target="/ppt/slides/slide41.xml" Id="Reb955a42caee4086" /><Relationship Type="http://schemas.openxmlformats.org/officeDocument/2006/relationships/slide" Target="/ppt/slides/slide42.xml" Id="Rcfa8ca54204f47cf" /><Relationship Type="http://schemas.openxmlformats.org/officeDocument/2006/relationships/slide" Target="/ppt/slides/slide43.xml" Id="R1b489dadf97a46ec" /><Relationship Type="http://schemas.openxmlformats.org/officeDocument/2006/relationships/slide" Target="/ppt/slides/slide44.xml" Id="R68526d99385340fd" /><Relationship Type="http://schemas.openxmlformats.org/officeDocument/2006/relationships/slide" Target="/ppt/slides/slide45.xml" Id="Ra12fc4a3cc8748cc" /><Relationship Type="http://schemas.openxmlformats.org/officeDocument/2006/relationships/slide" Target="/ppt/slides/slide46.xml" Id="R18b30299d2ac4f25" /><Relationship Type="http://schemas.openxmlformats.org/officeDocument/2006/relationships/slide" Target="/ppt/slides/slide47.xml" Id="Rad407d3eb27640f2" /><Relationship Type="http://schemas.openxmlformats.org/officeDocument/2006/relationships/slide" Target="/ppt/slides/slide48.xml" Id="R824f1752b6874cf4" /><Relationship Type="http://schemas.openxmlformats.org/officeDocument/2006/relationships/slide" Target="/ppt/slides/slide49.xml" Id="R3800d430305d4c2f" /><Relationship Type="http://schemas.openxmlformats.org/officeDocument/2006/relationships/slide" Target="/ppt/slides/slide50.xml" Id="R133bd21018364e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d9f66fdaf547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c7bf2f96634f58" /><Relationship Type="http://schemas.openxmlformats.org/officeDocument/2006/relationships/notesMaster" Target="/ppt/notesMasters/notesMaster1.xml" Id="R390a615ce0fc406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293835123f49b7" /><Relationship Type="http://schemas.openxmlformats.org/officeDocument/2006/relationships/notesMaster" Target="/ppt/notesMasters/notesMaster1.xml" Id="R1fbc741423a246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3fe2adc2314599" /><Relationship Type="http://schemas.openxmlformats.org/officeDocument/2006/relationships/notesMaster" Target="/ppt/notesMasters/notesMaster1.xml" Id="R3ba0bc4355204c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2c046cba124648" /><Relationship Type="http://schemas.openxmlformats.org/officeDocument/2006/relationships/notesMaster" Target="/ppt/notesMasters/notesMaster1.xml" Id="R4d42564804a8457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6b8a83da0d646bd" /><Relationship Type="http://schemas.openxmlformats.org/officeDocument/2006/relationships/notesMaster" Target="/ppt/notesMasters/notesMaster1.xml" Id="Rd4bacc0921de4d4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460472464f04e7f" /><Relationship Type="http://schemas.openxmlformats.org/officeDocument/2006/relationships/notesMaster" Target="/ppt/notesMasters/notesMaster1.xml" Id="R81dacf48fdd84a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be78e9bb367454e" /><Relationship Type="http://schemas.openxmlformats.org/officeDocument/2006/relationships/notesMaster" Target="/ppt/notesMasters/notesMaster1.xml" Id="R4c0ca3e05959403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8f9628da0fd4217" /><Relationship Type="http://schemas.openxmlformats.org/officeDocument/2006/relationships/notesMaster" Target="/ppt/notesMasters/notesMaster1.xml" Id="R6b604144e895465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6e685c3da9a4739" /><Relationship Type="http://schemas.openxmlformats.org/officeDocument/2006/relationships/notesMaster" Target="/ppt/notesMasters/notesMaster1.xml" Id="R5399d66ad1814ae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3b8a1a2087c4d18" /><Relationship Type="http://schemas.openxmlformats.org/officeDocument/2006/relationships/notesMaster" Target="/ppt/notesMasters/notesMaster1.xml" Id="Rc5259a428d9443e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fb882f8750345ad" /><Relationship Type="http://schemas.openxmlformats.org/officeDocument/2006/relationships/notesMaster" Target="/ppt/notesMasters/notesMaster1.xml" Id="Rc7aa1d8bbf2a45b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48cf760ab53489b" /><Relationship Type="http://schemas.openxmlformats.org/officeDocument/2006/relationships/notesMaster" Target="/ppt/notesMasters/notesMaster1.xml" Id="R8ac90fdda9be4e6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8c2a9ce936d4082" /><Relationship Type="http://schemas.openxmlformats.org/officeDocument/2006/relationships/notesMaster" Target="/ppt/notesMasters/notesMaster1.xml" Id="R06765c63421f4ec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60457b0daaa4527" /><Relationship Type="http://schemas.openxmlformats.org/officeDocument/2006/relationships/notesMaster" Target="/ppt/notesMasters/notesMaster1.xml" Id="Rfc0a9f9a322843c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cc506a65e8b4e94" /><Relationship Type="http://schemas.openxmlformats.org/officeDocument/2006/relationships/notesMaster" Target="/ppt/notesMasters/notesMaster1.xml" Id="R17f4090f7ced4d6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b2a9c4a22664c39" /><Relationship Type="http://schemas.openxmlformats.org/officeDocument/2006/relationships/notesMaster" Target="/ppt/notesMasters/notesMaster1.xml" Id="Ra4866b46ae6347e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7297ae0a2304ca8" /><Relationship Type="http://schemas.openxmlformats.org/officeDocument/2006/relationships/notesMaster" Target="/ppt/notesMasters/notesMaster1.xml" Id="R4e1ef5a7fd084de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847331f9b414900" /><Relationship Type="http://schemas.openxmlformats.org/officeDocument/2006/relationships/notesMaster" Target="/ppt/notesMasters/notesMaster1.xml" Id="R187f3f2ad2b346d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97b0bf4a0b04583" /><Relationship Type="http://schemas.openxmlformats.org/officeDocument/2006/relationships/notesMaster" Target="/ppt/notesMasters/notesMaster1.xml" Id="R6c63ab7b9af6420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cb19c210ab84ab3" /><Relationship Type="http://schemas.openxmlformats.org/officeDocument/2006/relationships/notesMaster" Target="/ppt/notesMasters/notesMaster1.xml" Id="R8f0608086b1d43a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d816b1d84384a11" /><Relationship Type="http://schemas.openxmlformats.org/officeDocument/2006/relationships/notesMaster" Target="/ppt/notesMasters/notesMaster1.xml" Id="Ra9e1f5acba39425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84a791b5bf84371" /><Relationship Type="http://schemas.openxmlformats.org/officeDocument/2006/relationships/notesMaster" Target="/ppt/notesMasters/notesMaster1.xml" Id="Rbbe0d35df6e043f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95cb883837b4378" /><Relationship Type="http://schemas.openxmlformats.org/officeDocument/2006/relationships/notesMaster" Target="/ppt/notesMasters/notesMaster1.xml" Id="R1e4fb17a68a947b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dcd256758454511" /><Relationship Type="http://schemas.openxmlformats.org/officeDocument/2006/relationships/notesMaster" Target="/ppt/notesMasters/notesMaster1.xml" Id="Rd2e173e5dfdf40d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5e40531e6c540d7" /><Relationship Type="http://schemas.openxmlformats.org/officeDocument/2006/relationships/notesMaster" Target="/ppt/notesMasters/notesMaster1.xml" Id="Rd65101f30a5c4c4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c93331be4054af0" /><Relationship Type="http://schemas.openxmlformats.org/officeDocument/2006/relationships/notesMaster" Target="/ppt/notesMasters/notesMaster1.xml" Id="R16a77dcf1a77409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e1f83a74168459d" /><Relationship Type="http://schemas.openxmlformats.org/officeDocument/2006/relationships/notesMaster" Target="/ppt/notesMasters/notesMaster1.xml" Id="Re9cc5d60d4e8453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97fb2c17fb348de" /><Relationship Type="http://schemas.openxmlformats.org/officeDocument/2006/relationships/notesMaster" Target="/ppt/notesMasters/notesMaster1.xml" Id="Ra9df12acc1c24d2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ec0ba6d55114b8e" /><Relationship Type="http://schemas.openxmlformats.org/officeDocument/2006/relationships/notesMaster" Target="/ppt/notesMasters/notesMaster1.xml" Id="R3803f2a4d24a4b8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6f36021a0f04275" /><Relationship Type="http://schemas.openxmlformats.org/officeDocument/2006/relationships/notesMaster" Target="/ppt/notesMasters/notesMaster1.xml" Id="Rf7fd80b2349e4f5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5b6f8e2e7f34378" /><Relationship Type="http://schemas.openxmlformats.org/officeDocument/2006/relationships/notesMaster" Target="/ppt/notesMasters/notesMaster1.xml" Id="R3a20937bf7bf443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3777b4e73f6414c" /><Relationship Type="http://schemas.openxmlformats.org/officeDocument/2006/relationships/notesMaster" Target="/ppt/notesMasters/notesMaster1.xml" Id="R58139bfbd7e54e3b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f9835bf770f40bf" /><Relationship Type="http://schemas.openxmlformats.org/officeDocument/2006/relationships/notesMaster" Target="/ppt/notesMasters/notesMaster1.xml" Id="Rac36d7be94904fb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3523bfebbf44d26" /><Relationship Type="http://schemas.openxmlformats.org/officeDocument/2006/relationships/notesMaster" Target="/ppt/notesMasters/notesMaster1.xml" Id="Rc0d9ce98604045d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a5cbba7981e41c9" /><Relationship Type="http://schemas.openxmlformats.org/officeDocument/2006/relationships/notesMaster" Target="/ppt/notesMasters/notesMaster1.xml" Id="R601f810a7ee8403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6b7583256ba4c84" /><Relationship Type="http://schemas.openxmlformats.org/officeDocument/2006/relationships/notesMaster" Target="/ppt/notesMasters/notesMaster1.xml" Id="Rfdaeee4ebd704b37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19f7a4ecba841ac" /><Relationship Type="http://schemas.openxmlformats.org/officeDocument/2006/relationships/notesMaster" Target="/ppt/notesMasters/notesMaster1.xml" Id="R4df008e6b6e442be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1ca83a23c0e64013" /><Relationship Type="http://schemas.openxmlformats.org/officeDocument/2006/relationships/notesMaster" Target="/ppt/notesMasters/notesMaster1.xml" Id="R424b7c7f36974c13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7e18cf9d86104de3" /><Relationship Type="http://schemas.openxmlformats.org/officeDocument/2006/relationships/notesMaster" Target="/ppt/notesMasters/notesMaster1.xml" Id="R9f7b9034ee294e4f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6404b3d9dab640b7" /><Relationship Type="http://schemas.openxmlformats.org/officeDocument/2006/relationships/notesMaster" Target="/ppt/notesMasters/notesMaster1.xml" Id="Rc443809e6a4844e7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625ab3806e1640c8" /><Relationship Type="http://schemas.openxmlformats.org/officeDocument/2006/relationships/notesMaster" Target="/ppt/notesMasters/notesMaster1.xml" Id="R8522e934894e4845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7baa0d4d6be940df" /><Relationship Type="http://schemas.openxmlformats.org/officeDocument/2006/relationships/notesMaster" Target="/ppt/notesMasters/notesMaster1.xml" Id="R26c84fa43b4c41c1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3c76e16798b045b1" /><Relationship Type="http://schemas.openxmlformats.org/officeDocument/2006/relationships/notesMaster" Target="/ppt/notesMasters/notesMaster1.xml" Id="R011220b629bb43cc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8769a6ae05964078" /><Relationship Type="http://schemas.openxmlformats.org/officeDocument/2006/relationships/notesMaster" Target="/ppt/notesMasters/notesMaster1.xml" Id="Ra4f32862c50a4466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c80164dd831a4b0f" /><Relationship Type="http://schemas.openxmlformats.org/officeDocument/2006/relationships/notesMaster" Target="/ppt/notesMasters/notesMaster1.xml" Id="R4ce17df1bb554000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a1131ce7a82a4edb" /><Relationship Type="http://schemas.openxmlformats.org/officeDocument/2006/relationships/notesMaster" Target="/ppt/notesMasters/notesMaster1.xml" Id="Ra59a964b032c44c1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0d412f3928b7497d" /><Relationship Type="http://schemas.openxmlformats.org/officeDocument/2006/relationships/notesMaster" Target="/ppt/notesMasters/notesMaster1.xml" Id="R5d2b94fdac8042f6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c208836557204e7d" /><Relationship Type="http://schemas.openxmlformats.org/officeDocument/2006/relationships/notesMaster" Target="/ppt/notesMasters/notesMaster1.xml" Id="R674ee86e4f274b27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b6dfdbf6c7f94ea9" /><Relationship Type="http://schemas.openxmlformats.org/officeDocument/2006/relationships/notesMaster" Target="/ppt/notesMasters/notesMaster1.xml" Id="Rc912cf3dff594d7b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bce207f9028b4c18" /><Relationship Type="http://schemas.openxmlformats.org/officeDocument/2006/relationships/notesMaster" Target="/ppt/notesMasters/notesMaster1.xml" Id="Rd73c39a539b54e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Use this slide as a section reset. Reveal syllabus cluster first, then the big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This is the internal cross-check slide. Reveal final status only after all rows are discussed.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roadmap row by row. Use it to set expectations for problem-solving and diagrams.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formulas one at a time. Ask students to name the assumptions behind each checkpoint.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Start from the names: each term tells what the circuit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circuit blocks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model, equations,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givens first, then the solution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Start from the names: each term tells what the circuit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circuit blocks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model, equations,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givens first, then the solution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Start from the names: each term tells what the circuit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circuit blocks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model, equations,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givens first, then the solution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Start from the names: each term tells what the circuit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circuit blocks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model, equations,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givens first, then the solution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Start from the names: each term tells what the circuit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circuit blocks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model, equations,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givens first, then the solution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Start from the names: each term tells what the circuit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circuit blocks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model, equations,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givens first, then the solution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Start from the names: each term tells what the circuit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circuit blocks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model, equations,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givens first, then the solution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Start from the names: each term tells what the circuit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circuit blocks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model, equations,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givens first, then the solution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Start from the names: each term tells what the circuit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circuit blocks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model, equations,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givens first, then the solution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Start from the names: each term tells what the circuit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circuit blocks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model, equations,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givens first, then the solution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Use this as a recall activity. Reveal outer topics and ask for one formula or circuit use for each.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questions one by one. For each question, ask students to first sketch the circuit or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formulas one at a time. Ask students to name the assumptions behind each checkpoint.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Use this as a recall activity. Reveal outer topics and ask for one formula or circuit use for each.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questions one by one. For each question, ask students to first sketch the circuit or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givens first, then the solution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eda99ca4c84d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a1cce159364284" /><Relationship Type="http://schemas.openxmlformats.org/officeDocument/2006/relationships/slideLayout" Target="/ppt/slideLayouts/slideLayout1.xml" Id="R058e0dda4e7644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8e0dda4e7644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1fdb1f71ac4ec3" /><Relationship Type="http://schemas.openxmlformats.org/officeDocument/2006/relationships/notesSlide" Target="/ppt/notesSlides/notesSlide1.xml" Id="R33a877dfcdcc43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c305d034f94d29" /><Relationship Type="http://schemas.openxmlformats.org/officeDocument/2006/relationships/notesSlide" Target="/ppt/notesSlides/notesSlide2.xml" Id="R592640d9c57b4f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8ee08e75ae4119" /><Relationship Type="http://schemas.openxmlformats.org/officeDocument/2006/relationships/notesSlide" Target="/ppt/notesSlides/notesSlide3.xml" Id="Rc022be1749ae41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81465374094c08" /><Relationship Type="http://schemas.openxmlformats.org/officeDocument/2006/relationships/notesSlide" Target="/ppt/notesSlides/notesSlide4.xml" Id="R6ffbe0e2cb974f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6911a6db824ddb" /><Relationship Type="http://schemas.openxmlformats.org/officeDocument/2006/relationships/notesSlide" Target="/ppt/notesSlides/notesSlide5.xml" Id="R12e7e11d043e458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6db58e7a5e4616" /><Relationship Type="http://schemas.openxmlformats.org/officeDocument/2006/relationships/notesSlide" Target="/ppt/notesSlides/notesSlide6.xml" Id="R699387f5191749f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9271908c584e68" /><Relationship Type="http://schemas.openxmlformats.org/officeDocument/2006/relationships/notesSlide" Target="/ppt/notesSlides/notesSlide7.xml" Id="Rdc8d0814c6044d1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b3ddb48caf4cfd" /><Relationship Type="http://schemas.openxmlformats.org/officeDocument/2006/relationships/notesSlide" Target="/ppt/notesSlides/notesSlide8.xml" Id="R597c77d92486473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b5c56793474356" /><Relationship Type="http://schemas.openxmlformats.org/officeDocument/2006/relationships/notesSlide" Target="/ppt/notesSlides/notesSlide9.xml" Id="Rdecb78924f3f49d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1956b16ee841a9" /><Relationship Type="http://schemas.openxmlformats.org/officeDocument/2006/relationships/notesSlide" Target="/ppt/notesSlides/notesSlide10.xml" Id="R743ebaeefa5b473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4e25d1b64d4198" /><Relationship Type="http://schemas.openxmlformats.org/officeDocument/2006/relationships/notesSlide" Target="/ppt/notesSlides/notesSlide11.xml" Id="Rac03e11fa3b647c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df14f2e22348c3" /><Relationship Type="http://schemas.openxmlformats.org/officeDocument/2006/relationships/notesSlide" Target="/ppt/notesSlides/notesSlide12.xml" Id="Rc66aea890e8f4e1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01754afef24a1e" /><Relationship Type="http://schemas.openxmlformats.org/officeDocument/2006/relationships/notesSlide" Target="/ppt/notesSlides/notesSlide13.xml" Id="Rb9ac9596190b445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a64e4380c84b26" /><Relationship Type="http://schemas.openxmlformats.org/officeDocument/2006/relationships/notesSlide" Target="/ppt/notesSlides/notesSlide14.xml" Id="R023da33d34f34cb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0f761f618d4a73" /><Relationship Type="http://schemas.openxmlformats.org/officeDocument/2006/relationships/notesSlide" Target="/ppt/notesSlides/notesSlide15.xml" Id="R7dc7b263b77541b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6a9578e3a640b1" /><Relationship Type="http://schemas.openxmlformats.org/officeDocument/2006/relationships/notesSlide" Target="/ppt/notesSlides/notesSlide16.xml" Id="R98bb2a70227448b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725ed7ed424af1" /><Relationship Type="http://schemas.openxmlformats.org/officeDocument/2006/relationships/notesSlide" Target="/ppt/notesSlides/notesSlide17.xml" Id="R33f50c38ada44f1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7e543db19a4db5" /><Relationship Type="http://schemas.openxmlformats.org/officeDocument/2006/relationships/notesSlide" Target="/ppt/notesSlides/notesSlide18.xml" Id="Reb65854d312b4be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44039b4a6047c1" /><Relationship Type="http://schemas.openxmlformats.org/officeDocument/2006/relationships/notesSlide" Target="/ppt/notesSlides/notesSlide19.xml" Id="R1cca5e51c5a64ed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0d92cfdbbd40ad" /><Relationship Type="http://schemas.openxmlformats.org/officeDocument/2006/relationships/notesSlide" Target="/ppt/notesSlides/notesSlide20.xml" Id="R4756e4e9c1f0470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c5739cc85248d4" /><Relationship Type="http://schemas.openxmlformats.org/officeDocument/2006/relationships/notesSlide" Target="/ppt/notesSlides/notesSlide21.xml" Id="R6a61dbf6714b41b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6377f981764eee" /><Relationship Type="http://schemas.openxmlformats.org/officeDocument/2006/relationships/notesSlide" Target="/ppt/notesSlides/notesSlide22.xml" Id="R386c34d0bb6b4d1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6f98366f6c4092" /><Relationship Type="http://schemas.openxmlformats.org/officeDocument/2006/relationships/notesSlide" Target="/ppt/notesSlides/notesSlide23.xml" Id="R973df50b8b3c4a7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ed3fad02c4496f" /><Relationship Type="http://schemas.openxmlformats.org/officeDocument/2006/relationships/notesSlide" Target="/ppt/notesSlides/notesSlide24.xml" Id="R63d1cb490e45460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6e786ddfa14969" /><Relationship Type="http://schemas.openxmlformats.org/officeDocument/2006/relationships/notesSlide" Target="/ppt/notesSlides/notesSlide25.xml" Id="Rd3f40541624845b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93e9873b6d4745" /><Relationship Type="http://schemas.openxmlformats.org/officeDocument/2006/relationships/notesSlide" Target="/ppt/notesSlides/notesSlide26.xml" Id="Rfb1dbae6e8ac41a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5352c7c9b44650" /><Relationship Type="http://schemas.openxmlformats.org/officeDocument/2006/relationships/notesSlide" Target="/ppt/notesSlides/notesSlide27.xml" Id="R128ff663904c4cb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bfd00e6d004da9" /><Relationship Type="http://schemas.openxmlformats.org/officeDocument/2006/relationships/notesSlide" Target="/ppt/notesSlides/notesSlide28.xml" Id="Ra832662fadb14d1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5082ea83d94beb" /><Relationship Type="http://schemas.openxmlformats.org/officeDocument/2006/relationships/notesSlide" Target="/ppt/notesSlides/notesSlide29.xml" Id="R89b9248b8ce644f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dd4ca86a794626" /><Relationship Type="http://schemas.openxmlformats.org/officeDocument/2006/relationships/notesSlide" Target="/ppt/notesSlides/notesSlide30.xml" Id="Rb6210dec5216498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1d86ffcd6c4079" /><Relationship Type="http://schemas.openxmlformats.org/officeDocument/2006/relationships/notesSlide" Target="/ppt/notesSlides/notesSlide31.xml" Id="R952cae3410484b8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32446ba7aa4dee" /><Relationship Type="http://schemas.openxmlformats.org/officeDocument/2006/relationships/notesSlide" Target="/ppt/notesSlides/notesSlide32.xml" Id="Re7b0c11c7bf1429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22432343ad4020" /><Relationship Type="http://schemas.openxmlformats.org/officeDocument/2006/relationships/notesSlide" Target="/ppt/notesSlides/notesSlide33.xml" Id="R171cd69f5eab486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6d5b6f29a54ecf" /><Relationship Type="http://schemas.openxmlformats.org/officeDocument/2006/relationships/notesSlide" Target="/ppt/notesSlides/notesSlide34.xml" Id="Rb14db9b8f2cc496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05839ecef74321" /><Relationship Type="http://schemas.openxmlformats.org/officeDocument/2006/relationships/notesSlide" Target="/ppt/notesSlides/notesSlide35.xml" Id="R074233787007406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bedca2c2db4f1b" /><Relationship Type="http://schemas.openxmlformats.org/officeDocument/2006/relationships/notesSlide" Target="/ppt/notesSlides/notesSlide36.xml" Id="Rb532618b49674b92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739c5d17b247ad" /><Relationship Type="http://schemas.openxmlformats.org/officeDocument/2006/relationships/notesSlide" Target="/ppt/notesSlides/notesSlide37.xml" Id="Rc5718992e24d484e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39defb6f034a50" /><Relationship Type="http://schemas.openxmlformats.org/officeDocument/2006/relationships/notesSlide" Target="/ppt/notesSlides/notesSlide38.xml" Id="Rc38b57b26684443e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377f2a4e014d6d" /><Relationship Type="http://schemas.openxmlformats.org/officeDocument/2006/relationships/notesSlide" Target="/ppt/notesSlides/notesSlide39.xml" Id="R7a89b99d76e54f31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b4a80dc397408b" /><Relationship Type="http://schemas.openxmlformats.org/officeDocument/2006/relationships/notesSlide" Target="/ppt/notesSlides/notesSlide40.xml" Id="Ra58d3301dafa44a2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e0f0deb1c84f62" /><Relationship Type="http://schemas.openxmlformats.org/officeDocument/2006/relationships/notesSlide" Target="/ppt/notesSlides/notesSlide41.xml" Id="R5f2da75e2b3b498d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11b41e2ed44f2e" /><Relationship Type="http://schemas.openxmlformats.org/officeDocument/2006/relationships/notesSlide" Target="/ppt/notesSlides/notesSlide42.xml" Id="Rf1281f3ac46c4cd1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76d10e48f340ff" /><Relationship Type="http://schemas.openxmlformats.org/officeDocument/2006/relationships/notesSlide" Target="/ppt/notesSlides/notesSlide43.xml" Id="Re1e1b5e65dad4ce7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cd603e577546e4" /><Relationship Type="http://schemas.openxmlformats.org/officeDocument/2006/relationships/notesSlide" Target="/ppt/notesSlides/notesSlide44.xml" Id="R91015df92cfe4a8b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e162263eac43c3" /><Relationship Type="http://schemas.openxmlformats.org/officeDocument/2006/relationships/notesSlide" Target="/ppt/notesSlides/notesSlide45.xml" Id="Re971bb6c480b408c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065d539da44150" /><Relationship Type="http://schemas.openxmlformats.org/officeDocument/2006/relationships/notesSlide" Target="/ppt/notesSlides/notesSlide46.xml" Id="Rd97a83bfe0a4478d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ac79dd983e4a0e" /><Relationship Type="http://schemas.openxmlformats.org/officeDocument/2006/relationships/notesSlide" Target="/ppt/notesSlides/notesSlide47.xml" Id="Rf69c0cb40a364f0d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ca2b4008284f9f" /><Relationship Type="http://schemas.openxmlformats.org/officeDocument/2006/relationships/notesSlide" Target="/ppt/notesSlides/notesSlide48.xml" Id="R7ef19b0a464d4c13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b2004700674fc2" /><Relationship Type="http://schemas.openxmlformats.org/officeDocument/2006/relationships/notesSlide" Target="/ppt/notesSlides/notesSlide49.xml" Id="R4776cab88abd4e2d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88f9bf382e4869" /><Relationship Type="http://schemas.openxmlformats.org/officeDocument/2006/relationships/notesSlide" Target="/ppt/notesSlides/notesSlide50.xml" Id="Rbcbc08ae67f24c7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E03E56-26D5-427F-9855-8C1F3A7B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191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7C3AED"/>
                </a:solidFill>
              </a:defRPr>
            </a:pPr>
            <a:r>
              <a:rPr sz="3750" b="1">
                <a:solidFill>
                  <a:srgbClr val="7C3AED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E718A5-0051-4425-817E-C83AF29A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43050"/>
            <a:ext cx="7429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033"/>
                </a:solidFill>
              </a:defRPr>
            </a:pPr>
            <a:r>
              <a:rPr sz="3000" b="1">
                <a:solidFill>
                  <a:srgbClr val="102033"/>
                </a:solidFill>
              </a:rPr>
              <a:t>Linear and Nonlinear Op-Amp Applications and DC Regulators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F1DC22-E111-4716-8CE0-5F1FE1F7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8 teaching hours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1455A3-EAC6-482C-9F80-EDB7AFE4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5143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Weighted resistor DAC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R-2R DAC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Analog to digital conversion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Digital ramp ADC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Successive approximation ADC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Signal processing circuits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Precision rectifier: saturating and non-saturating precision HWR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Precision FWR using HWR and summing circuit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BE6288-F05D-4448-99EF-07EC051A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6E6F6A-880C-439B-BA84-C3CC3486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CEF3DA-4ED1-4A8E-9D3F-F9711F6A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4D3344-44E8-4D07-9E91-FD00E878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Weighted resistor DAC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F96E1D-254F-4610-AF45-6F2B90DC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R-2R DAC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B9B29A-667B-49E2-848B-42E01933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Analog to digital conversion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D81FB3-71B4-4967-994F-0024B65A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65A755-614A-4301-9507-F3247DE9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5 • 01/50</a:t>
            </a:r>
          </a:p>
        </p:txBody>
      </p:sp>
    </p:spTree>
    <p:extLst>
      <p:ext uri="{BB962C8B-B14F-4D97-AF65-F5344CB8AC3E}">
        <p14:creationId xmlns:p14="http://schemas.microsoft.com/office/powerpoint/2010/main" val="12414871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20069E1-05F2-4A3C-B9DB-ACDCC9AA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COVERED / MISSING = 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2687EB-E9A7-450B-97E2-73E0A800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Module 5 syllabus audit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FF15B4-ACB2-4B35-8F47-499D502A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98003B-E69D-45F7-A37B-66EF4787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478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VTU 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AE3C8B-4F29-472D-ACD4-636570D5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447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Coverage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E6FF66-E783-441A-BED9-B61A2E81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4478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989629-B58D-4B37-88D8-8FB22F66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1. Weighted resistor DAC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7BB082-58CE-45E7-BBAE-AA3E5D67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 support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F0D4F4-B511-4F0A-9B4B-B1B0FC13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097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B0ECA5-E0BC-4D9A-9D26-FE6DA096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2. R-2R DAC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3D5EF3-173B-4392-ADAF-B3771252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764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 support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09B5EA-459F-4BD1-AD90-AF246362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76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C3F45C-9F59-433E-8411-1D1A7F27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3. Analog to digital conversion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6BF80F-4773-48A1-9300-FA4E1386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43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 support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6AFF58-0E6F-467F-ACF4-DB90E87B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0D5587-117D-4FAF-B9AB-6E0EE132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4. Digital ramp ADC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7A419C-AE29-41BE-9636-38C474B5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09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 support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D1442B-9FC0-4941-8197-DAAB0ABC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09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174FBE-3B55-4A60-8475-CAD5F821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5. Successive approximation ADC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96FF11-4082-4ACB-96DF-D171ECFF9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76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 support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029C9F-A78A-475E-8911-4B815FC44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76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1FD002-98A4-43B2-BAA1-90F8E2E1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6. Signal processing circuits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DD27A3-9126-4C2C-8758-F61B2956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432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 support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0C55B8-BD89-442F-BE39-4695F2AD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A12D93-7C3C-4522-ACD3-4F243001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99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7. Precision rectifier: saturating and non-saturating precision HWR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813E43-9732-4702-B9B6-CBA2CB3C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09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 support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B7AEDC-C6FC-4C4E-8675-8B71EA60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09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3653C5-763A-44E5-A62F-169EAA3A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8. Precision FWR using HWR and summing circuit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028C08-9C6A-4164-8ADD-7A1DE4C5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766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 support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4B7694-5E31-4C49-BEC6-408C508E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76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2D9291-9EC8-4B4E-AB11-A4179EDD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433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9. Zero crossing detector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47CC27-716F-4BF7-B1ED-0E837B1F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433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 support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E0057A-976A-470B-AD2F-451CD8C9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9433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8F0F25-AC2C-4FB5-8C1D-8E479A7F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10. Inverting Schmitt trigger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25913E-E5B4-42C7-8BA5-4B893DD8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10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 support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2040B2-BBE7-425C-973A-41E48A25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100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80A632E-8944-43C1-ABB7-B04102F3B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11. Non-inverting Schmitt trigger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A37593D-6A25-4AFF-88C1-511F21EF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76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 support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5C0EFD4-37B3-44CE-9A6B-7E18CB90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767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21EE495-926E-438A-AFA7-F470253F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434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12. DC voltage regulator introduction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6A16F71-C3C2-4EEA-988B-78693090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434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 support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E3DA94B-EDB0-4835-9B61-4B08CA5F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4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0DF6609-4414-4882-968C-6EE24DCD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0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13. Voltage regulator basics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E30548E-706C-4D39-8CE2-4BD389D7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10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 support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4636A1A-E1E3-4695-9432-D78621E5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010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216A639-FF39-4257-9F8F-8D91DB6B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953125"/>
            <a:ext cx="4762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Final status: no missing topics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2BEDBC9-7B58-48A8-8369-BC867786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5 • 02/50</a:t>
            </a:r>
          </a:p>
        </p:txBody>
      </p:sp>
    </p:spTree>
    <p:extLst>
      <p:ext uri="{BB962C8B-B14F-4D97-AF65-F5344CB8AC3E}">
        <p14:creationId xmlns:p14="http://schemas.microsoft.com/office/powerpoint/2010/main" val="15475735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D0312C-12AE-4AEC-81E6-2C341564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Teaching sequence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42019B-88C0-4609-90A4-B142A948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Roadmap for Module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A14E77-B927-4235-ACCF-A9AB9B25E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412237-3D39-4E56-8DC9-C32CF1FC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1. Weighted resistor DAC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41AD5A-F77F-40ED-84EF-C43555D4A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955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2. R-2R DAC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A52E21-9BD6-4DAE-9664-B7C26FC34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3. Analog to digital conversion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14E84B-869F-4E4E-813E-677025097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955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4. Digital ramp ADC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C97A7A-8FBF-416F-9FFF-E65E59CE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955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5. Successive approximation ADC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5C00EF-8037-4F0A-8CBA-0A3CB515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6. Precision rectifier circuits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5E9ED8-B0FE-4153-8C21-214E2A06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3909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7. Signal processing circuits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E7DF08-0A2C-476C-A6CF-70D2D40E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909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8. Zero crossing detector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1BE212-0064-449F-82CC-FD11357A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3909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9. Schmitt trigger circuits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EBB790-A85B-4058-A477-F35BC9E3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3909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10. DC voltage regulators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D06D21-00B3-46A5-80D4-AE946204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353050"/>
            <a:ext cx="7810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Each topic becomes: concept -&gt; circuit -&gt; analysis -&gt; example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D4EB79-38EF-472B-B088-BAE20E15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5 • 03/50</a:t>
            </a:r>
          </a:p>
        </p:txBody>
      </p:sp>
    </p:spTree>
    <p:extLst>
      <p:ext uri="{BB962C8B-B14F-4D97-AF65-F5344CB8AC3E}">
        <p14:creationId xmlns:p14="http://schemas.microsoft.com/office/powerpoint/2010/main" val="1659543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C51C43-BCAB-4D4F-A0FD-73D2AD1F5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Exam quick reference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378CCE-52EA-4B42-B771-EEA84FEE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Module 5 formula and design checkpoints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17A7F7-99BF-4368-A078-331C98AC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3CB3B6-6EC6-4DF3-992B-29E6C056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954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8436ED-348C-46DE-A0BB-066AFAB0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6192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033"/>
                </a:solidFill>
              </a:defRPr>
            </a:pPr>
            <a:r>
              <a:rPr sz="1875" b="1">
                <a:solidFill>
                  <a:srgbClr val="102033"/>
                </a:solidFill>
              </a:rPr>
              <a:t>DAC output follows digital weight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B3A2B9-A86C-45A8-909B-946D3303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752600"/>
            <a:ext cx="8763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35D55B-2BAB-4D18-B962-050E48CA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2DE733-787F-496C-ABCB-1E222083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4955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033"/>
                </a:solidFill>
              </a:defRPr>
            </a:pPr>
            <a:r>
              <a:rPr sz="1875" b="1">
                <a:solidFill>
                  <a:srgbClr val="102033"/>
                </a:solidFill>
              </a:rPr>
              <a:t>ADC resolution depends on number of bits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F0CCCC-3F91-46C4-8132-E61BCDD0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628900"/>
            <a:ext cx="8763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0FE49A-1DA8-47DA-A5D3-D4A736C9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480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336CB2-B012-4F35-93F4-5371DCEB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3718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033"/>
                </a:solidFill>
              </a:defRPr>
            </a:pPr>
            <a:r>
              <a:rPr sz="1875" b="1">
                <a:solidFill>
                  <a:srgbClr val="102033"/>
                </a:solidFill>
              </a:rPr>
              <a:t>Schmitt trigger has upper and lower thresholds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ADA43B-8597-4A16-B980-07858F53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505200"/>
            <a:ext cx="8763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check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9151EB-57EF-48D9-9E5A-2FA50A8F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24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5E6459-87E2-4B94-B65C-17B18BD0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2481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033"/>
                </a:solidFill>
              </a:defRPr>
            </a:pPr>
            <a:r>
              <a:rPr sz="1875" b="1">
                <a:solidFill>
                  <a:srgbClr val="102033"/>
                </a:solidFill>
              </a:rPr>
              <a:t>Regulator quality uses line and load regulation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88A5AE-7941-4393-A753-F8788C3F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381500"/>
            <a:ext cx="8763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check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C8A44A-35C6-4E9F-81B9-97914963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5 • 04/50</a:t>
            </a:r>
          </a:p>
        </p:txBody>
      </p:sp>
    </p:spTree>
    <p:extLst>
      <p:ext uri="{BB962C8B-B14F-4D97-AF65-F5344CB8AC3E}">
        <p14:creationId xmlns:p14="http://schemas.microsoft.com/office/powerpoint/2010/main" val="14916418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74FC82-3848-4787-BAE4-F2FC3352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Linear and Nonlinear Op-Amp Applications and DC Regulators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2D852A-F7FC-4B91-81C3-D5D1622A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Weighted resistor DAC: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B7FAB8-5BAA-4C51-A4BE-87AED73B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6358F7-F747-4EDC-86E6-39D4F0CC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weighted resistor DAC converts binary input into proportional analog voltage.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DD306A-185D-4D43-AA83-35F0465F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binary weights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summing amplifier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resolution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output voltage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459E34-E52B-442E-9B17-A4E64C98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0A0F96-DA6D-4E28-83C9-B302356B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Accurate resistor ratios are critical.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5641B8-549F-4AE6-A836-3112067E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6163A1-FEF5-4D31-8574-A5CF5F6E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BF6804-F594-4A6C-8D72-9EA8D501F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2EBA4F-777F-4CF8-807C-6622F0327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binary weights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D42C89-6197-478A-A82C-130BA952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summing amplifier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6C2EF6-DF6A-4ABA-8B74-031649F4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resolution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4AA3FF-C8AB-441E-9D6E-7584E868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003509-0E6D-4CA1-81D6-A90586BE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5 • 05/50</a:t>
            </a:r>
          </a:p>
        </p:txBody>
      </p:sp>
    </p:spTree>
    <p:extLst>
      <p:ext uri="{BB962C8B-B14F-4D97-AF65-F5344CB8AC3E}">
        <p14:creationId xmlns:p14="http://schemas.microsoft.com/office/powerpoint/2010/main" val="7440970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979DCF-2CC6-43C7-95D3-DC871E61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Linear and Nonlinear Op-Amp Applications and DC Regulators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5BD43D-8DB7-4BE5-ACCF-E9F22D82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Weighted resistor DAC: circuit working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2F0749-41B1-4235-B0E2-334A4E3A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CFB7A0-7A63-4A1A-8AA1-808F4B6F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Follow the signal path and ask what each device or network contributes.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143DC3-C080-424F-A7AC-617E133C8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input and output nodes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Mark DC bias and AC signal path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Track phase, gain, impedance, or threshold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Connect the result to the 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4C3F29-9A24-49B1-8EF9-AE40C57F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6116C8-3DBA-4FE4-96C1-EA62FD24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Accurate resistor ratios are critical.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CD3657-C0AF-492C-BE13-186DEE6C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54F85F-6570-4420-8941-DC67183E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7D704F-6C66-4238-83E8-E342D0D1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183046-DA4B-4E88-86D7-954FDEA44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binary weights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1CD420-7412-49AA-A670-AB9624A3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summing amplifier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CE80C8-AB45-4E05-9B7D-96D44E7E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resolution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3904CB-9EC9-45AE-BE05-C2692EDE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368D81-5BF9-48D7-803E-45FB55B3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5 • 06/50</a:t>
            </a:r>
          </a:p>
        </p:txBody>
      </p:sp>
    </p:spTree>
    <p:extLst>
      <p:ext uri="{BB962C8B-B14F-4D97-AF65-F5344CB8AC3E}">
        <p14:creationId xmlns:p14="http://schemas.microsoft.com/office/powerpoint/2010/main" val="14977134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2BDCF1-C588-46AB-90F7-7D2A8C80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Linear and Nonlinear Op-Amp Applications and DC Regulators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81D57B-5878-431D-A605-A96DA3FD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Weighted resistor DAC: analysis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75C047-AA4F-4DF3-BAEE-ACEC158C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32A36D-3853-4974-A2BE-E919B301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Use a small set of equations and assumptions to solve weighted resistor dac problems.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10AA87-7CC5-4CF0-9B97-D977426D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Draw the equivalent model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Write known circuit relations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Substitute device parameters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the result: Accurate resistor ratios are critical.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77D7C3-6A23-42E5-AA92-4A372CC0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6B58A9-0BA3-4C6F-A1F3-91B30CFA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Accurate resistor ratios are critical.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F7E5B0-9842-425E-B2D0-5C59E38E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36C79F-4410-4302-AC1D-64884B3B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1AD9C6-BE49-454A-978C-6730A38B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A6B49B-185D-49DE-A26A-57BB4D27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binary weights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07A61C-AEDC-4D12-87FF-B48C787D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summing amplifier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F5B713-4730-46BA-8C4D-358BC97B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resolution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844403-EED9-4163-B8CB-352C36587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220D5B-3370-4878-97C3-52009A14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5 • 07/50</a:t>
            </a:r>
          </a:p>
        </p:txBody>
      </p:sp>
    </p:spTree>
    <p:extLst>
      <p:ext uri="{BB962C8B-B14F-4D97-AF65-F5344CB8AC3E}">
        <p14:creationId xmlns:p14="http://schemas.microsoft.com/office/powerpoint/2010/main" val="4212021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14D5DA-4A38-4153-AB50-77AF5C44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Linear and Nonlinear Op-Amp Applications and DC Regulators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F78028-4ED5-4290-8E55-8AAC1E52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Weighted resistor DAC: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735B15-4680-4A33-94E0-4B8B079C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18E5F4-4508-48DE-B67E-EB083F1E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numerical or waveform example makes weighted resistor dac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CC2D87-3277-4303-B6FB-A9F8C4FF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Given: binary weights and summing amplifier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Find the target quantity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units and region of operation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Explain the physical meaning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D5A74A-FC9E-4645-8A32-8A49D1F2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427669-353C-489A-B9B7-31BDBFAD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Accurate resistor ratios are critical.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E846E8-EA5A-4C99-95CA-77E36CE3F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7176AA-9035-4893-8F41-D6CEC60B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0D114A-ECDB-4D3E-BBE3-7278293C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ADDADA-6C08-4A7E-A84B-968CCA20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binary weights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A5AA2E-C0D2-414E-A98D-33B4090A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summing amplifier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F663EF-B73C-45C6-8CE5-6E0295EB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resolution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232910-7E0B-4999-8733-D538EA4E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2B4E93-AD77-41FC-9802-8F048B97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5 • 08/50</a:t>
            </a:r>
          </a:p>
        </p:txBody>
      </p:sp>
    </p:spTree>
    <p:extLst>
      <p:ext uri="{BB962C8B-B14F-4D97-AF65-F5344CB8AC3E}">
        <p14:creationId xmlns:p14="http://schemas.microsoft.com/office/powerpoint/2010/main" val="13160627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3B332F-C275-46DB-B2A7-29B88AD0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Linear and Nonlinear Op-Amp Applications and DC Regulators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F954F7-6E06-43AA-9061-A7A63C10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R-2R DAC: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E849EB-E465-401B-9F68-FFE00826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132D64-15EA-4552-B1B4-A517FFBD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The R-2R ladder DAC uses only two resistor values for binary weighting.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CD7F06-C6FF-4921-825E-0857FA4B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ladder network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two resistor values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scalability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binary conversion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F64C9D-4BB1-4CF6-912D-8F3AC40F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A8A0E4-F30A-487A-AB70-E374BBF9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It is easier to scale than weighted resistors.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5E0A50-20E2-429B-B079-5A1F46B7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F34EB6-71ED-4486-8181-169626FA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BC5FD0-0A4E-4A9D-9C29-65457CFB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6F56B3-217A-49D8-82AB-FEF53B96A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ladder network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593A2B-1CCE-4355-92B9-8B4AC45A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two resistor values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F5198B-EB60-4A3A-9A32-B358F443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scalability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345803-FFA0-4764-8CC0-32929CAD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CCC51C-E547-43D5-BD9A-E034855C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5 • 09/50</a:t>
            </a:r>
          </a:p>
        </p:txBody>
      </p:sp>
    </p:spTree>
    <p:extLst>
      <p:ext uri="{BB962C8B-B14F-4D97-AF65-F5344CB8AC3E}">
        <p14:creationId xmlns:p14="http://schemas.microsoft.com/office/powerpoint/2010/main" val="21459735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DE0A8E-8138-4D52-A195-F3F3E02AB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Linear and Nonlinear Op-Amp Applications and DC Regulators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FA293C-BDBC-4DFD-BEEE-1C119230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R-2R DAC: circuit working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7C8381-2024-4855-9DE0-5CE050C6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2D6CED-842C-4F56-B246-B24429DD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Follow the signal path and ask what each device or network contributes.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EB3C5B-0E3E-4CC6-A835-3B18897AC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input and output nodes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Mark DC bias and AC signal path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Track phase, gain, impedance, or threshold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Connect the result to the 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A335B6-13B5-4B51-AA41-F516CF7C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34C2C1-8F38-4E55-BC59-BC00D8D1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It is easier to scale than weighted resistors.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9F7810-F7B1-46E3-9270-6ACDEAF0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16840C-511D-4A14-94D3-3B057B7D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629109-53CA-40DD-B9D5-766091B1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4AA1C4-6BD4-455D-B064-E9BBC04D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ladder network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8E1965-E054-4315-95AF-08C7307A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two resistor values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007232-2F3A-4A15-9D7A-2CD4A55D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scalability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473F01-8F56-4F10-8B77-DA14C1F9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8DBAFD-9161-478F-8F61-7C298AD8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5 • 10/50</a:t>
            </a:r>
          </a:p>
        </p:txBody>
      </p:sp>
    </p:spTree>
    <p:extLst>
      <p:ext uri="{BB962C8B-B14F-4D97-AF65-F5344CB8AC3E}">
        <p14:creationId xmlns:p14="http://schemas.microsoft.com/office/powerpoint/2010/main" val="7335544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AB8E98-09E7-4A8E-9E4C-2CEBD287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Linear and Nonlinear Op-Amp Applications and DC Regulators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B8E4DC-94A7-4033-B817-CE321297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R-2R DAC: analysis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C6BD07-B289-425E-AB8E-01DBCF6F7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FA4272-02C3-4830-8DD9-80501E3B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Use a small set of equations and assumptions to solve r-2r dac problems.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F8BFC4-9CFE-49DD-9D68-A9F4CAFE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Draw the equivalent model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Write known circuit relations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Substitute device parameters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the result: It is easier to scale than weighted resistors.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A12FB6-F46A-45EB-96D4-B03F3840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CC3048-A72D-4BAE-A8BF-BBD5CCE6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It is easier to scale than weighted resistors.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1C0E82-F346-4688-BE04-40631A3F8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B0E645-B85A-45E6-907D-D8C2D2BB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03D3D7-5198-43B9-89CD-3DC4D85B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97A156-70F1-4E28-B8DB-DF8B7D04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ladder network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97B97F-4CCA-4526-8A92-8A95C1E3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two resistor values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41F44D-7079-456A-A795-EC956ED8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scalability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AD8F6C-7B98-4A94-AA9C-470A0EFD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E0A09D-BC9D-4D16-BB1C-6442D851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5 • 11/50</a:t>
            </a:r>
          </a:p>
        </p:txBody>
      </p:sp>
    </p:spTree>
    <p:extLst>
      <p:ext uri="{BB962C8B-B14F-4D97-AF65-F5344CB8AC3E}">
        <p14:creationId xmlns:p14="http://schemas.microsoft.com/office/powerpoint/2010/main" val="57986711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8F0441-7923-4D1F-8A8D-7F492E26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Linear and Nonlinear Op-Amp Applications and DC Regulators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116A7E-3952-4FFA-940E-48DC88E49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R-2R DAC: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777599-96CB-4933-A9E9-D6D2D8EC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605918-0FC5-4DAA-BEFA-A49162B2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numerical or waveform example makes r-2r dac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FF1AD0-9300-493B-8FD5-3EDB8F25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Given: ladder network and two resistor values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Find the target quantity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units and region of operation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Explain the physical meaning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00067B-13AE-43DB-9B82-B8DE4C51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06562C-5561-44B1-8160-34DDDF87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It is easier to scale than weighted resistors.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82F5C8-9F5D-4534-9D11-27E2E4C7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16734E-C5A6-4934-A5A0-0AD03BC5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11C1FF-5765-4B52-A242-664928EA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99C774-F71A-4C60-BC36-A37A2867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ladder network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62259C-4BE9-4BA2-B48E-65F5C49E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two resistor values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984ECF-2806-4C0B-977B-97B25F71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scalability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95B9A3-325A-4FBE-8AB9-76E984BE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64E441-213E-4E2A-81EC-804C47BF5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5 • 12/50</a:t>
            </a:r>
          </a:p>
        </p:txBody>
      </p:sp>
    </p:spTree>
    <p:extLst>
      <p:ext uri="{BB962C8B-B14F-4D97-AF65-F5344CB8AC3E}">
        <p14:creationId xmlns:p14="http://schemas.microsoft.com/office/powerpoint/2010/main" val="17638298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1BD9E8-F667-4CF8-AF55-70267A39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Linear and Nonlinear Op-Amp Applications and DC Regulators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8E14DB-D54C-4D03-BBC6-E227CEF2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Analog to digital conversion: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5258DD-5FE7-43A0-8175-96CD4BEAE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0AA061-938B-484C-BDF4-6A672F5A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ADC converts an analog input into a digital code.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A57070-DC31-4E48-AE2D-7391B0AE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sampling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quantization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encoding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resolution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7FB1CB-7CA5-4C9D-BFE7-C7C3C28A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554196-B79A-4E15-809E-51DB6F14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Resolution and conversion time are key tradeoffs.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B42268-D919-46A2-BFB8-A641C7F2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BD023C-4213-4750-B825-025DF30B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DC142F-25BD-42BE-A6CD-5260C46E8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6E246D-EEE6-4DE2-8B33-6DA782BB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sampling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BFBA9C-5333-4A50-9979-0610F948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quantization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33CB45-5548-45FB-8A9A-1A72CD44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encoding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8E7FBF-6C16-4D9C-A129-4AA00CBE5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525A2A-27C1-4F57-BE83-EA552D1D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5 • 13/50</a:t>
            </a:r>
          </a:p>
        </p:txBody>
      </p:sp>
    </p:spTree>
    <p:extLst>
      <p:ext uri="{BB962C8B-B14F-4D97-AF65-F5344CB8AC3E}">
        <p14:creationId xmlns:p14="http://schemas.microsoft.com/office/powerpoint/2010/main" val="141458917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2C754E-0580-4605-BD47-533786E0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Linear and Nonlinear Op-Amp Applications and DC Regulators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6CBFA7-5480-4703-A6D2-61372F08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Analog to digital conversion: circuit working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1B90A4-087A-40A5-9566-764CBD1E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59DAB9-6B16-4B4A-A8A6-5EA91428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Follow the signal path and ask what each device or network contributes.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3D956E-07FA-4EBA-9159-059B051F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input and output nodes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Mark DC bias and AC signal path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Track phase, gain, impedance, or threshold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Connect the result to the 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E8A2E2-359C-441E-AAC4-2D13873F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64C0E4-5E78-4376-BF8D-D6D34C0C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Resolution and conversion time are key tradeoffs.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7C3B6B-4532-491E-B92A-905BF91A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59D078-17C5-40EF-83C8-E33E9CDB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A4B325-3034-4A35-B8ED-5D1506FB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33128B-2192-4F3C-B5EC-D89143C6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sampling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026A9C-E6CB-498B-9F65-6698476A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quantization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F5E753-DA43-422F-9EE5-A6343F68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encoding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7BA76B-FF93-4C8D-B455-17746ED6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CA50EB-F5EC-42B6-B676-AA01EB00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5 • 14/50</a:t>
            </a:r>
          </a:p>
        </p:txBody>
      </p:sp>
    </p:spTree>
    <p:extLst>
      <p:ext uri="{BB962C8B-B14F-4D97-AF65-F5344CB8AC3E}">
        <p14:creationId xmlns:p14="http://schemas.microsoft.com/office/powerpoint/2010/main" val="214414163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7EF0E4-9A50-4864-BA03-85F46F74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Linear and Nonlinear Op-Amp Applications and DC Regulators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98772C-C0D2-403B-8015-151257DC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Analog to digital conversion: analysis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BC3CE5-4D60-4C7E-918F-D0997C24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CC3C38-3006-4C1C-B655-E8CB058F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Use a small set of equations and assumptions to solve analog to digital conversion problems.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F53A5A-FC51-4271-B5D9-5D459D7D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Draw the equivalent model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Write known circuit relations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Substitute device parameters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the result: Resolution and conversion time are key tradeoffs.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219CDC-C409-444E-803B-CC1C301A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97F8C5-A836-4CA8-8DAD-B9E24B1E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Resolution and conversion time are key tradeoffs.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FF1D3C-725D-4C71-83DF-721033F74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BBF2FF-95D3-4F69-81C6-3D6F120DD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2D83C1-4A31-4C8B-9B52-BC786734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F6F628-073B-4CEF-9CB9-56303C68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sampling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180C1F-EE7E-43CB-BCD4-73E32A11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quantization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294A2D-C808-4AC9-B10C-2CCC91839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encoding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F51DCA-A01B-4405-9CF6-22F9C80F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CF84DE-1481-40CF-98FE-446E0C38B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5 • 15/50</a:t>
            </a:r>
          </a:p>
        </p:txBody>
      </p:sp>
    </p:spTree>
    <p:extLst>
      <p:ext uri="{BB962C8B-B14F-4D97-AF65-F5344CB8AC3E}">
        <p14:creationId xmlns:p14="http://schemas.microsoft.com/office/powerpoint/2010/main" val="27815512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075628-C958-4766-BB90-FFEBE027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Linear and Nonlinear Op-Amp Applications and DC Regulators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284A62-471B-4759-A73F-7AB52456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Analog to digital conversion: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CEAD4E-3075-4083-A8BF-404BA681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EC4909-5C73-4A87-9DD2-61F18B80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numerical or waveform example makes analog to digital conversion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2797E0-B065-49BA-B7B0-A4503E39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Given: sampling and quantization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Find the target quantity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units and region of operation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Explain the physical meaning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4CF0D0-591F-4FD9-9453-58DFCE0A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E9693C-8C76-48D7-BB28-31CC176A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Resolution and conversion time are key tradeoffs.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64BFB8-7583-438B-A4FA-0ED2FC4F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BD38BB-3A05-4AA8-81A4-553FA002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51A13B-F24B-4F3F-89B5-F9408F7E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114C1C-479A-449F-A39C-69AB6A8C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sampling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612AC0-ACD5-4D25-873D-9CD0020B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quantization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33830D-BFF3-485F-9386-ECBBCA3A7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encoding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BFB5A3-2207-414B-96CA-5258D2CD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8ADFA5-C390-4E5C-A09E-219DC2ED6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5 • 16/50</a:t>
            </a:r>
          </a:p>
        </p:txBody>
      </p:sp>
    </p:spTree>
    <p:extLst>
      <p:ext uri="{BB962C8B-B14F-4D97-AF65-F5344CB8AC3E}">
        <p14:creationId xmlns:p14="http://schemas.microsoft.com/office/powerpoint/2010/main" val="78615513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2CCD1D-AD29-4B44-93E2-3436ECE2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Linear and Nonlinear Op-Amp Applications and DC Regulators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BB598C-FD49-4485-A4D8-3FD9EC04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Digital ramp ADC: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E9D32B-1C44-45D7-9796-682B915D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3DB6F2-376C-49B2-A070-6A92183EC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Digital ramp ADC counts upward until DAC output matches input.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F89DC8-F4ED-4F50-9171-657B499F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counter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DAC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comparator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ramp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CEEFBA-DEB3-4CAB-9E2C-821D01CD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B39B20-D730-471C-8ACE-1E0F42B8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Simple design, but conversion can be slow.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99DE8B-1AAA-4A45-8632-5A6A2253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E1F2BD-3266-4BFC-BF5A-6313AB22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60EAF7-5B00-408E-9D01-6572BE99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9F7E28-A457-445A-80E1-D53B8668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counter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048971-B770-4BCB-BB4C-5C0CE565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DAC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FF65BB-7F42-4D5C-BD90-B463CBE1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comparator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E790B4-E7F5-47C2-9D04-93A8F8B8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B742D8-D413-4426-86E6-F7DCDEE9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5 • 17/50</a:t>
            </a:r>
          </a:p>
        </p:txBody>
      </p:sp>
    </p:spTree>
    <p:extLst>
      <p:ext uri="{BB962C8B-B14F-4D97-AF65-F5344CB8AC3E}">
        <p14:creationId xmlns:p14="http://schemas.microsoft.com/office/powerpoint/2010/main" val="38075348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0FF8D4-5AB8-4F16-805F-0866BF20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Linear and Nonlinear Op-Amp Applications and DC Regulators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AC17D0-FB30-48B4-99D1-8A45D85BF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Digital ramp ADC: circuit working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227A42-693A-4595-B729-BD280AAA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7273C8-4F94-439C-A014-EE75548B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Follow the signal path and ask what each device or network contributes.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DDD1B8-34A1-44DB-9D71-90D6E59AF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input and output nodes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Mark DC bias and AC signal path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Track phase, gain, impedance, or threshold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Connect the result to the 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7BCB55-DEE3-43BF-95CC-DD530706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2DC22B-9C0B-4915-8A2D-18F0C0A7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Simple design, but conversion can be slow.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4D8F08-9EB4-4DB4-95DC-D1251742A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9366D8-4A88-4B2B-9DF2-0AA8A9E2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63522B-F7D1-402D-A1D8-9BF69043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560A97-2408-4290-9083-6872479F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counter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A9CD3E-DE1A-4A55-AA5C-EC64835E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DAC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5B2E00-5EBA-420D-A184-42CFEC38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comparator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365F71-4B5A-4382-9497-9D215E32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11A707-610B-40EF-9D3E-71251694F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5 • 18/50</a:t>
            </a:r>
          </a:p>
        </p:txBody>
      </p:sp>
    </p:spTree>
    <p:extLst>
      <p:ext uri="{BB962C8B-B14F-4D97-AF65-F5344CB8AC3E}">
        <p14:creationId xmlns:p14="http://schemas.microsoft.com/office/powerpoint/2010/main" val="76661175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61B769-32F5-4B5A-841E-9F04498C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Linear and Nonlinear Op-Amp Applications and DC Regulators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8FA902-C315-47DA-B376-3DCC0FA5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Digital ramp ADC: analysis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C51132-600D-41F8-9495-8181B5AF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FC0D17-176C-4B3D-B997-271D1CE9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Use a small set of equations and assumptions to solve digital ramp adc problems.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F7AFB8-F67C-425E-8FE6-01F4E11C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Draw the equivalent model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Write known circuit relations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Substitute device parameters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the result: Simple design, but conversion can be slow.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C33C41-545D-4E4F-91EE-2EC43618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BFDBA9-9CA2-4AC7-B403-07AF4B01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Simple design, but conversion can be slow.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9A31AD-3954-4F0D-8AD9-2BDE1A49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A60DB0-278A-490F-B22B-E8294790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9244EF-2826-444B-97BD-154A7BE4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0A5ED5-7F3C-409B-B26E-2315FD1A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counter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801788-FF4E-40B6-93D2-636244B5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DAC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489C5B-8BD2-4AD2-8CA0-51A82BB7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comparator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6A001B-6C21-4081-8830-E0FE9377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E4F2C5-6EFE-41FF-BD9D-75480604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5 • 19/50</a:t>
            </a:r>
          </a:p>
        </p:txBody>
      </p:sp>
    </p:spTree>
    <p:extLst>
      <p:ext uri="{BB962C8B-B14F-4D97-AF65-F5344CB8AC3E}">
        <p14:creationId xmlns:p14="http://schemas.microsoft.com/office/powerpoint/2010/main" val="135602427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504AE0-9627-4ED7-9B38-BD24F43C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Linear and Nonlinear Op-Amp Applications and DC Regulators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FB0051-745C-4665-B0EA-F326673E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Digital ramp ADC: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5FBD7D-17D4-4294-84F6-2E3AD3FA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18B8A6-1B08-4A80-893C-E29B44BC5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numerical or waveform example makes digital ramp adc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5326DC-8DAC-4FAC-BD97-15795B16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Given: counter and DAC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Find the target quantity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units and region of operation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Explain the physical meaning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D69764-5831-45B8-BF7D-EE6BBB55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471220-D619-4281-B1FA-3D75BFD5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Simple design, but conversion can be slow.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373227-CC1D-41A9-93F7-FF01A06B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F52525-964C-45FC-9C3F-DB202862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C79954-CE79-4E03-857C-423E7E13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9E7D0A-A620-40D9-BCC8-BCC9005E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counter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BB8647-209D-4399-9A7E-CF2487B1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DAC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9198D3-EAB6-4541-893B-20A8C50E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comparator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827301-6F22-4AF1-A7DE-F17BA177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7AE59E-7265-469D-84B8-62813405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5 • 20/50</a:t>
            </a:r>
          </a:p>
        </p:txBody>
      </p:sp>
    </p:spTree>
    <p:extLst>
      <p:ext uri="{BB962C8B-B14F-4D97-AF65-F5344CB8AC3E}">
        <p14:creationId xmlns:p14="http://schemas.microsoft.com/office/powerpoint/2010/main" val="29856354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C7816E-37F2-4FB9-9B5A-5EAC4594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Linear and Nonlinear Op-Amp Applications and DC Regulators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64896A-3A51-4E59-8D94-8E25F990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Successive approximation ADC: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E3F764-7C6F-4DBE-989C-EEE43D6A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CC5338-910E-44FB-ACC9-95F92840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SAR ADC tests bits from MSB to LSB using a binary-search process.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22CCEE-AF72-459B-9203-E9411058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SAR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binary search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sample-hold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comparator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3CB161-7C4A-42A6-BB4C-37674107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D8AF0E-8B4B-4B29-ADB9-98786BC8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SAR balances speed and circuit complexity.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BA777B-CC52-46F5-8B87-3000B9DF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12A9E1-F1C8-445D-BFAD-5CF91DD8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DB8562-D02D-4F8A-9BEF-1AFF8973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9A9F73-5400-4616-A7F8-DF5FF38E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SAR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F3C933-23BB-415C-A8ED-4CD562B1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binary search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BCF579-AF94-4356-9E77-9BEE54BA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sample-hold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E497BC-A858-422A-A34A-7AB271F3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01DEEB-6ACE-4DB1-B779-B0E31FEF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5 • 21/50</a:t>
            </a:r>
          </a:p>
        </p:txBody>
      </p:sp>
    </p:spTree>
    <p:extLst>
      <p:ext uri="{BB962C8B-B14F-4D97-AF65-F5344CB8AC3E}">
        <p14:creationId xmlns:p14="http://schemas.microsoft.com/office/powerpoint/2010/main" val="190476579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BBFA1A-7C26-4F95-80F0-377BA401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Linear and Nonlinear Op-Amp Applications and DC Regulators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A955FA-3A7A-4E85-8083-5536AB78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Successive approximation ADC: circuit working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81385D-42C7-4B6C-9169-03908E262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187116-1B34-4AB3-9379-8B0CE3CF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Follow the signal path and ask what each device or network contributes.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4780B1-1DF8-4A6D-9279-A8256690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input and output nodes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Mark DC bias and AC signal path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Track phase, gain, impedance, or threshold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Connect the result to the 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570664-F7AD-46B7-9823-C6649CCF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7C5671-8626-41DE-B207-BC4E22BD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SAR balances speed and circuit complexity.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32D57A-9AFB-486D-9DFF-D0396B7B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69E0FF-3E72-4B14-865E-E8DF6DC2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BD75F1-4795-431D-86CB-86418BEF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27049A-EAB0-4B19-BF72-A97B0854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SAR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77E4E7-C9FE-42D8-9485-D00EFDFC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binary search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4D6B1E-6DF2-4CE8-B844-CCF9E1EFC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sample-hold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D8E300-367B-4B8F-91DA-DCE03A34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F7B54C-358E-44AA-AF10-75BEDD69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5 • 22/50</a:t>
            </a:r>
          </a:p>
        </p:txBody>
      </p:sp>
    </p:spTree>
    <p:extLst>
      <p:ext uri="{BB962C8B-B14F-4D97-AF65-F5344CB8AC3E}">
        <p14:creationId xmlns:p14="http://schemas.microsoft.com/office/powerpoint/2010/main" val="46492184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E01759-A813-4046-9EAC-52770FDF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Linear and Nonlinear Op-Amp Applications and DC Regulators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80A3CC-7D87-4730-828D-EBC4DAC6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Successive approximation ADC: analysis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42B6FF-B765-4159-BEAC-76F8D2DC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E7E11B-0E1C-40B6-A1DC-68A81B5D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Use a small set of equations and assumptions to solve successive approximation adc problems.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C5E826-A264-4083-8530-19D5E5AC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Draw the equivalent model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Write known circuit relations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Substitute device parameters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the result: SAR balances speed and circuit complexity.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EA3A37-B145-4CE1-980B-BFC205D5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68D07B-DFCC-4F82-B44C-3B9962C1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SAR balances speed and circuit complexity.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FB724F-FDC8-41A2-A959-0B422211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5A75B1-7918-4BBC-9E5D-974043CF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84A7B0-E131-426C-B9C2-64850F9A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CDF858-1F51-4577-8C81-8FDF9823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SAR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85206C-353E-4363-BB37-E7398737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binary search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610BFA-12AD-4D70-8B93-89240A0F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sample-hold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84A7CC-C6AD-43D3-91A1-FF76E120A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0E4582-FA78-43DC-A9B8-1E51FD40F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5 • 23/50</a:t>
            </a:r>
          </a:p>
        </p:txBody>
      </p:sp>
    </p:spTree>
    <p:extLst>
      <p:ext uri="{BB962C8B-B14F-4D97-AF65-F5344CB8AC3E}">
        <p14:creationId xmlns:p14="http://schemas.microsoft.com/office/powerpoint/2010/main" val="126518893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9138C4-EA30-414A-A3D2-9732AC20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Linear and Nonlinear Op-Amp Applications and DC Regulators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9A2629-4DD9-4F4D-A196-C1112D436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Successive approximation ADC: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4DEF1C-A01B-4BAA-9B7B-A19BB9F1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CEBB48-311C-4CCA-A872-823257E7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numerical or waveform example makes successive approximation adc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7274E1-986D-4D85-AB6B-8DF47297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Given: SAR and binary search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Find the target quantity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units and region of operation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Explain the physical meaning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D531D8-008E-436F-92D4-4C17FA7B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A489D4-AF5F-4D9F-99A2-60257DD9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SAR balances speed and circuit complexity.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6765E9-4C3A-4267-A982-BB76488A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26D4A4-D97C-4735-886A-AF8E3D85E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4C76DB-F030-4660-8128-0A49F18A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7F1E31-B940-4013-B8BE-5350E00E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SAR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B4D035-4A41-4281-88F2-216CF96C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binary search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8EB575-ED9C-46F2-99BE-0B42684A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sample-hold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743513-85E3-43D5-B58E-04E99ABF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862BC3-3E26-43C1-8637-CCF210EC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5 • 24/50</a:t>
            </a:r>
          </a:p>
        </p:txBody>
      </p:sp>
    </p:spTree>
    <p:extLst>
      <p:ext uri="{BB962C8B-B14F-4D97-AF65-F5344CB8AC3E}">
        <p14:creationId xmlns:p14="http://schemas.microsoft.com/office/powerpoint/2010/main" val="174583102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87499F-C181-43EF-A6B6-E375DD2F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Linear and Nonlinear Op-Amp Applications and DC Regulators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9C407F-834F-4836-A70C-8CAB719D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Precision rectifier circuits: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EC5F6C-C64F-4281-818A-3FDC2AFB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A57F2A-BF94-4363-9BA3-9A2FAAB4D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Precision rectifiers overcome diode drop using op-amp feedback.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B5D624-376A-4D5C-ABE9-187A65DD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op-amp diode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half-wave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full-wave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small signals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386BAA-5D0F-48B0-8478-B76132DF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5D87BA-66BB-4486-AE73-F8B63F4D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They rectify signals too small for ordinary diodes.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612D62-7FE7-462F-B1CA-A7E60334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862034-2615-40C5-9811-C0CA3142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CAAEAB-0659-4BF1-8743-7D8FCA38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D3864C-F074-4E74-A81A-D9996BC0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op-amp diode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B842D5-F4DD-4200-A6F1-A1E97A5B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half-wave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96984C-EF2E-4145-BFCB-49CDE6F7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full-wave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EF7414-5134-4F8A-911B-E9E95AC9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519762-6219-4D4D-8669-58F7B5A8C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5 • 25/50</a:t>
            </a:r>
          </a:p>
        </p:txBody>
      </p:sp>
    </p:spTree>
    <p:extLst>
      <p:ext uri="{BB962C8B-B14F-4D97-AF65-F5344CB8AC3E}">
        <p14:creationId xmlns:p14="http://schemas.microsoft.com/office/powerpoint/2010/main" val="140131785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7B64C2-C695-45BC-B3EB-2CAE689BF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Linear and Nonlinear Op-Amp Applications and DC Regulators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1A35EB-5A2F-45A2-B90C-AECD07CC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Precision rectifier circuits: circuit working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1406E1-7F81-46A4-B319-5643CAE7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791A29-CEEB-400F-9F39-1F8F4B5D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Follow the signal path and ask what each device or network contributes.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C3871C-2A61-45CB-958E-717624DA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input and output nodes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Mark DC bias and AC signal path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Track phase, gain, impedance, or threshold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Connect the result to the 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F74A31-29E1-4DCE-8289-E9FA0125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946D21-60CC-4FEC-B067-A849A6BB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They rectify signals too small for ordinary diodes.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4ADF2F-E5B2-48CB-88B0-AFC15C2B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12BE1E-B73E-4BAA-AF98-26AFC422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B7EF38-B6A4-48D2-950F-D58C1E20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9798C8-380B-43BD-B8E8-19BF9875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op-amp diode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B28F49-8A19-4F92-A084-055F9F41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half-wave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382CD9-B672-46FE-B5ED-86F7F50C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full-wave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CEA1FC-7030-40A6-BA8E-4ADA6554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383BF7-7BD2-442E-9976-6BCDE35A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5 • 26/50</a:t>
            </a:r>
          </a:p>
        </p:txBody>
      </p:sp>
    </p:spTree>
    <p:extLst>
      <p:ext uri="{BB962C8B-B14F-4D97-AF65-F5344CB8AC3E}">
        <p14:creationId xmlns:p14="http://schemas.microsoft.com/office/powerpoint/2010/main" val="173833259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AE6C91-D21E-47D4-9B08-CBD84EB4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Linear and Nonlinear Op-Amp Applications and DC Regulators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7B04E7-2495-4AD1-80C8-1BE37430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Precision rectifier circuits: analysis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42DD14-43AE-4DB6-81BA-F34E0A22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32C128-99AE-42A3-964D-6900267D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Use a small set of equations and assumptions to solve precision rectifier circuits problems.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921034-F015-49A1-B49A-421E26E5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Draw the equivalent model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Write known circuit relations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Substitute device parameters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the result: They rectify signals too small for ordinary diodes.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A93C4C-AA82-4134-8FC0-2FB31EB3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D005EB-667B-4BE7-8421-C1D2160F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They rectify signals too small for ordinary diodes.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B6A9F6-1EF4-43A5-86C0-8B82CA2C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E4129F-764E-47D4-B322-488DBE42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DD8A3D-31E7-4A3A-8C4D-F1533B65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A7BBA8-30B8-4396-B1F9-345C3BEE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op-amp diode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357CBA-7A5B-47D4-A630-A787DEA7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half-wave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A55715-A209-4340-A410-64D3D978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full-wave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919D42-231A-46A4-93E5-462960109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2615D5-82FA-444D-AD3B-037F3DA5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5 • 27/50</a:t>
            </a:r>
          </a:p>
        </p:txBody>
      </p:sp>
    </p:spTree>
    <p:extLst>
      <p:ext uri="{BB962C8B-B14F-4D97-AF65-F5344CB8AC3E}">
        <p14:creationId xmlns:p14="http://schemas.microsoft.com/office/powerpoint/2010/main" val="167624491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695C83-A15E-4A87-8456-2D714312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Linear and Nonlinear Op-Amp Applications and DC Regulators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D8AA1A-8AFE-4BF4-B932-E697B9E6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Precision rectifier circuits: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50C42C-3B62-4DD2-8CDC-6967FF64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9FC37F-C5AA-463A-8CC9-0F0B5624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numerical or waveform example makes precision rectifier circuits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5218C6-6C4E-42F0-BFD5-8C3C70E60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Given: op-amp diode and half-wave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Find the target quantity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units and region of operation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Explain the physical meaning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EFD231-2D28-4022-8491-2527FBF6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3409F0-3096-4836-952D-A1716112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They rectify signals too small for ordinary diodes.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010916-1832-4815-8FE4-5AE4C693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EA1301-5832-4FAB-B4E9-42C268D5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8EDFE3-3E3B-44BB-92F0-8BDE604D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853406-7E15-41E9-9AB5-4BFB7FF8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op-amp diode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29F57F-01D7-42F0-848E-E316B1C7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half-wave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C1633D-FA08-4E75-82F2-F4E92FCB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full-wave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5D6B72-6973-4AD1-B3B5-5A410BE0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6D0D36-4E38-400E-B628-8119A3B5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5 • 28/50</a:t>
            </a:r>
          </a:p>
        </p:txBody>
      </p:sp>
    </p:spTree>
    <p:extLst>
      <p:ext uri="{BB962C8B-B14F-4D97-AF65-F5344CB8AC3E}">
        <p14:creationId xmlns:p14="http://schemas.microsoft.com/office/powerpoint/2010/main" val="142974864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98EE91-35C0-4F14-8D79-D8AD8CC4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Linear and Nonlinear Op-Amp Applications and DC Regulators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03E373-3D2D-4528-95E6-3A5A743B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Signal processing circuits: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0B226F-AF82-40A3-B355-BFA4FB8E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5E42A0-048D-44EF-861A-E0F8FF45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Linear op-amp circuits shape signals before measurement or control.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976A82-A3A6-4689-A1E4-C3211AE7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summing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scaling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rectifying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conditioning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BE0ECB-E4E9-437F-984E-DAC98DD2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5BB97A-E33D-4620-8E7C-64C1518E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Op-amps are building blocks for analog computation.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515E88-5B85-498B-9C52-30F3E78F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D9C3DC-7D4A-4224-BA19-C6783036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DDBB2F-D798-48AB-9833-2787C8E7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61D3E7-71CA-4359-A210-7E8D39F7C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summing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347D99-E60D-4665-8892-64F7FF43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scaling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D90361-90F8-43C4-B4BC-0B48478C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rectifying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1C88CB-0294-4ADF-9733-C2852936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C32346-14EB-4CB6-BA61-D39100B8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5 • 29/50</a:t>
            </a:r>
          </a:p>
        </p:txBody>
      </p:sp>
    </p:spTree>
    <p:extLst>
      <p:ext uri="{BB962C8B-B14F-4D97-AF65-F5344CB8AC3E}">
        <p14:creationId xmlns:p14="http://schemas.microsoft.com/office/powerpoint/2010/main" val="49406933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E8B85E-C7F0-418F-93F8-BD8C2F0B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Linear and Nonlinear Op-Amp Applications and DC Regulators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67FD5F-9234-4533-9A38-8DD20A31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Signal processing circuits: circuit working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18534A-B909-40E5-9652-B1275D1F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3D4F99-36D3-475E-80E2-2A6C3137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Follow the signal path and ask what each device or network contributes.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06E9FE-6CEF-4043-B60E-E2CA30D0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input and output nodes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Mark DC bias and AC signal path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Track phase, gain, impedance, or threshold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Connect the result to the 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BFC754-9C07-4B3F-B6DC-E393F6305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0B7829-86A6-4AE4-87F3-4B574FE4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Op-amps are building blocks for analog computation.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6BEB34-017A-4983-B636-4A45C2F6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04F358-572E-40E4-88B1-603883A4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66C486-BD2D-4BD6-96AA-45E15B75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D12768-0AA2-445F-B84D-84BE2573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summing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58C183-D097-4A14-8934-E35D15F4C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scaling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D2F208-3BD1-46F7-AE6A-0E1AEA82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rectifying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C25F52-4FBA-4118-B363-C6B52600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00AB84-92BF-41D5-ADFC-A41AC03A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5 • 30/50</a:t>
            </a:r>
          </a:p>
        </p:txBody>
      </p:sp>
    </p:spTree>
    <p:extLst>
      <p:ext uri="{BB962C8B-B14F-4D97-AF65-F5344CB8AC3E}">
        <p14:creationId xmlns:p14="http://schemas.microsoft.com/office/powerpoint/2010/main" val="162855892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ECB171-74B7-4A9B-87F1-F3EF52D53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Linear and Nonlinear Op-Amp Applications and DC Regulators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432CDE-815F-4C04-A631-B7F563F4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Signal processing circuits: analysis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D41041-C48B-4100-9F65-680F04D28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9DE7E2-9DCE-44D5-B227-2764D6DD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Use a small set of equations and assumptions to solve signal processing circuits problems.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B109C1-1E73-4F15-9B4A-05643C56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Draw the equivalent model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Write known circuit relations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Substitute device parameters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the result: Op-amps are building blocks for analog computation.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D1505A-63E4-4EE9-AE9F-FBEB821F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32A5AC-480B-4902-892F-38CB5327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Op-amps are building blocks for analog computation.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2B698F-F987-4EC4-AA54-073277CA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7F9490-E641-4AEB-AC8F-0220D00E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380775-0323-4195-BBC0-EC6275188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BBDD5B-4C6E-4308-A44A-7079E879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summing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39A3BD-1C07-4754-A4E4-428D8CF1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scaling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FE18C4-E6C0-4622-AF40-DC216CC9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rectifying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F55A7B-5519-4127-9C0E-4EF2A785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3A82A8-F404-4D8F-BAC5-32F1418C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5 • 31/50</a:t>
            </a:r>
          </a:p>
        </p:txBody>
      </p:sp>
    </p:spTree>
    <p:extLst>
      <p:ext uri="{BB962C8B-B14F-4D97-AF65-F5344CB8AC3E}">
        <p14:creationId xmlns:p14="http://schemas.microsoft.com/office/powerpoint/2010/main" val="148167098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F875E5-947B-4795-AAFF-1CD8FDCE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Linear and Nonlinear Op-Amp Applications and DC Regulators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0AA5AE-CF4D-491A-A321-457645BE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Signal processing circuits: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AE169F-D375-45D5-9730-73EBF57D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819B58-DE10-4B73-A243-C6AB92D6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numerical or waveform example makes signal processing circuits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434FB6-AD4F-4E7D-941D-FD9A712B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Given: summing and scaling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Find the target quantity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units and region of operation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Explain the physical meaning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93D811-3617-4842-AEE5-6D594938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FFDF01-B78F-4569-BA3A-EB98028E8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Op-amps are building blocks for analog computation.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DBAE90-4A99-4CC7-9645-C23F92F2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F62B62-DF40-4E6C-BA34-ABE34CEC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476C58-B80D-4741-8A3E-E4641CDF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03B1FE-5E92-49D4-8D5F-545AB3B9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summing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DA0C1E-CED8-4757-9079-90BD7A23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scaling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D4CCFE-B9D6-45DA-B226-57199E5E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rectifying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83E9FE-F855-4156-8CC0-E69B2CEF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67AA30-A5A6-4508-8510-990AFBF0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5 • 32/50</a:t>
            </a:r>
          </a:p>
        </p:txBody>
      </p:sp>
    </p:spTree>
    <p:extLst>
      <p:ext uri="{BB962C8B-B14F-4D97-AF65-F5344CB8AC3E}">
        <p14:creationId xmlns:p14="http://schemas.microsoft.com/office/powerpoint/2010/main" val="12465369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E9CEE6-0A17-43B2-946C-F823A9A2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Linear and Nonlinear Op-Amp Applications and DC Regulators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93BAD0-E5AB-4D74-9089-8E8726D0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Zero crossing detector: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ED2E9A-757A-4352-A519-898D866C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91E920-D17E-46F2-9AD6-FF482493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zero crossing detector changes output when input crosses zero.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ED64AA-FBFD-4368-AC70-2766432F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comparator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reference zero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polarity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switching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0E04BA-122A-4BD2-82FB-B8684AA3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AB7229-CC19-4BC3-AC44-6CAFA87D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It turns analog polarity into a digital-like event.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193298-5472-4421-8E42-8E2278D2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568DEF-162B-41A3-8F6C-455CD1B1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169A2F-7A3F-40D3-A4BF-AFFFCC6A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4504FA-4B6B-4B6E-B208-D1781E374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comparator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EFEE12-1378-4EE4-A0E4-1A4F1342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reference zero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D38475-BC6B-4970-A04A-913BA2AA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polarity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BB677A-0527-4C20-8957-ACF7E2B3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6708DC-1C24-457B-9D3D-27DD7252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5 • 33/50</a:t>
            </a:r>
          </a:p>
        </p:txBody>
      </p:sp>
    </p:spTree>
    <p:extLst>
      <p:ext uri="{BB962C8B-B14F-4D97-AF65-F5344CB8AC3E}">
        <p14:creationId xmlns:p14="http://schemas.microsoft.com/office/powerpoint/2010/main" val="414585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131EA8-348D-482A-9AE1-7EDBD9ED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Linear and Nonlinear Op-Amp Applications and DC Regulators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F5EA3E-E516-4786-94B9-5DA90348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Zero crossing detector: circuit working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5BFC5F-8860-4A40-B31A-AC1DB87E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2155DB-7F4D-4662-9BB9-15ACB110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Follow the signal path and ask what each device or network contributes.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266EC4-B577-4672-AAB1-95DCB108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input and output nodes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Mark DC bias and AC signal path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Track phase, gain, impedance, or threshold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Connect the result to the 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6AE56C-F016-48B7-A0ED-DAC6C9DA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DD7477-4136-42D4-885C-DE8E0E96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It turns analog polarity into a digital-like event.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8F48B4-47E2-4C86-8618-E8AB4DE4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B9C389-A485-4C54-8A8D-213DAB72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6A534E-F8FA-4A4F-8B39-3FCF50799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238682-22A3-411B-BA62-E5EFA14D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comparator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A99167-753B-4C88-8E94-8C4FB6CD3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reference zero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087D87-62AD-453C-80CA-C6F7C6E1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polarity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AE5338-E7EF-4B96-8AE3-E6F93170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51905F-EDDA-435F-9EB9-5D173E75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5 • 34/50</a:t>
            </a:r>
          </a:p>
        </p:txBody>
      </p:sp>
    </p:spTree>
    <p:extLst>
      <p:ext uri="{BB962C8B-B14F-4D97-AF65-F5344CB8AC3E}">
        <p14:creationId xmlns:p14="http://schemas.microsoft.com/office/powerpoint/2010/main" val="61717818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8805DB-E6C7-4E0C-AC18-222C3F16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Linear and Nonlinear Op-Amp Applications and DC Regulators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53280-62A8-4D56-8197-63DE36F2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Zero crossing detector: analysis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2AF4A0-F0FE-4C87-8C2A-A03282C7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FE0CA4-8CB2-4D5E-B28E-464AC993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Use a small set of equations and assumptions to solve zero crossing detector problems.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4175C1-B780-4A4B-AF57-5ECCCD01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Draw the equivalent model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Write known circuit relations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Substitute device parameters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the result: It turns analog polarity into a digital-like event.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1C8BA2-EDD9-4BD7-8922-8D2E6612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4A5E75-1915-4F08-BEDF-E7FE7CA0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It turns analog polarity into a digital-like event.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EA5815-9004-4225-814A-F2247B9F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E3911D-533E-4E48-B5B0-931A323E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090C04-17B4-435A-90E3-40C309A0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FE6E6F-517C-4B99-8906-E8704D15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comparator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14D0AC-EA3D-4E81-8091-98F54B8A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reference zero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64CE89-619F-48D7-B756-C154BDF5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polarity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641B6E-3C91-4B9C-9A7A-17DA0281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B56AF4-F5EC-4CEF-A131-E057E45A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5 • 35/50</a:t>
            </a:r>
          </a:p>
        </p:txBody>
      </p:sp>
    </p:spTree>
    <p:extLst>
      <p:ext uri="{BB962C8B-B14F-4D97-AF65-F5344CB8AC3E}">
        <p14:creationId xmlns:p14="http://schemas.microsoft.com/office/powerpoint/2010/main" val="152275045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EEB12A-652A-44C0-9401-6FB5C9FA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Linear and Nonlinear Op-Amp Applications and DC Regulators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CD0888-DC54-427A-A6A3-627E1321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Zero crossing detector: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8D9B9B-27F0-4144-80D0-867811A1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5DE253-612F-45CC-80E2-A9E73CE2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numerical or waveform example makes zero crossing detector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568D61-8807-420C-96D2-F395CA128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Given: comparator and reference zero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Find the target quantity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units and region of operation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Explain the physical meaning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B518FE-6E81-4F14-9574-AB8628A3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3018D4-810D-49A7-A44D-35A270B3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It turns analog polarity into a digital-like event.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BD79A9-905B-40E9-A32A-6615733C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8A4B08-AD4F-4982-A556-449AB313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7DFF0D-7C9E-475C-A10F-116122B6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A28F14-4BD5-4FD8-9F35-C1A39300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comparator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536F05-C055-4AB6-AD71-99431308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reference zero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7E85F2-603D-42D1-A5B0-2ECABB0F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polarity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3C9714-56B7-4575-A1B9-40411E94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F1A4C4-5110-4E8D-B8A8-3F20B57AD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5 • 36/50</a:t>
            </a:r>
          </a:p>
        </p:txBody>
      </p:sp>
    </p:spTree>
    <p:extLst>
      <p:ext uri="{BB962C8B-B14F-4D97-AF65-F5344CB8AC3E}">
        <p14:creationId xmlns:p14="http://schemas.microsoft.com/office/powerpoint/2010/main" val="62303301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60515E-D76D-4647-A327-EEF5BF20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Linear and Nonlinear Op-Amp Applications and DC Regulators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15D1B6-D9DF-475B-BCB3-40D8E2D6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Schmitt trigger circuits: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9B6515-E3B2-4E13-8702-B3AF8C670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852105-ED3B-4CEB-A900-567590BD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Schmitt triggers use positive feedback to create two switching thresholds.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6A3374-4F58-4585-846B-3BB2B0BF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hysteresis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upper threshold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lower threshold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noise immunity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1DCA34-8F69-4A22-A7A7-FE106F04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1A3B6B-CC3B-4B10-B70B-072B8A7B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Hysteresis prevents noisy chatter.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209614-0789-4D33-8A2F-B6437670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A1A165-F03E-49CF-A5DD-E9A7D766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119681-0E13-4855-8345-64D1338C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2B1AFF-45CD-4FCF-8B1F-E56B5378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hysteresis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C33C7B-28ED-497C-AE28-4809F7A2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upper threshold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412F03-4A11-4466-9574-C99BEEFC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lower threshold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280AE9-B62C-4C20-B0A0-F1FCEAAD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E20FDB-707C-45B1-BD5B-D84FE53F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5 • 37/50</a:t>
            </a:r>
          </a:p>
        </p:txBody>
      </p:sp>
    </p:spTree>
    <p:extLst>
      <p:ext uri="{BB962C8B-B14F-4D97-AF65-F5344CB8AC3E}">
        <p14:creationId xmlns:p14="http://schemas.microsoft.com/office/powerpoint/2010/main" val="125228452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3F63E4-CD1F-434C-8E2D-F705AE5C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Linear and Nonlinear Op-Amp Applications and DC Regulators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EC92DD-BB19-451D-972B-4204A0D6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Schmitt trigger circuits: circuit working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D6CBA7-AB46-4300-A321-E7122D1D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DC5907-A0BA-4617-B943-857554B6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Follow the signal path and ask what each device or network contributes.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1A0D01-FDCF-4348-A35D-896D6CDD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input and output nodes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Mark DC bias and AC signal path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Track phase, gain, impedance, or threshold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Connect the result to the 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C8E616-10A2-4346-A418-7B9D95413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004018-A627-4F0E-80EA-EB82BEB2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Hysteresis prevents noisy chatter.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ADBB7A-5E74-4C42-913C-5267C88B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E04885-B944-4D3D-B9EC-A990300C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1D9C7B-D63F-40AA-A823-41EACB89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13B875-2FA7-438B-A15F-0627F7AD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hysteresis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586488-50D3-423B-B08F-32C61B8C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upper threshold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07FB20-9B6A-4F80-A487-0C6A2695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lower threshold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056F59-4F7D-4991-A0AB-45D438AF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2212ED-0079-42ED-8406-ADC2C57D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5 • 38/50</a:t>
            </a:r>
          </a:p>
        </p:txBody>
      </p:sp>
    </p:spTree>
    <p:extLst>
      <p:ext uri="{BB962C8B-B14F-4D97-AF65-F5344CB8AC3E}">
        <p14:creationId xmlns:p14="http://schemas.microsoft.com/office/powerpoint/2010/main" val="79335462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E8D84F-196C-43FC-8050-98AB8466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Linear and Nonlinear Op-Amp Applications and DC Regulators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10CAC5-37B8-4AB7-BD0B-5EC86A2C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Schmitt trigger circuits: analysis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2126A2-1EAA-40B3-BD55-A4E42E00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90167F-DE67-4E57-9F37-B10E77B8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Use a small set of equations and assumptions to solve schmitt trigger circuits problems.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9CB5FA-2298-4759-BBE2-BEF7BB53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Draw the equivalent model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Write known circuit relations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Substitute device parameters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the result: Hysteresis prevents noisy chatter.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7FE2E3-00CA-4396-8330-3038FC75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17412B-B82F-41B8-971F-C90F7AAD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Hysteresis prevents noisy chatter.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ED1BCB-F2E4-4CCF-B7F2-84B80A94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4A5A1E-9ACA-4715-9952-F7D5768D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2951D9-6D3D-45FA-BC9B-D2276C11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675DA3-E864-44DE-9C11-51C60B29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hysteresis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48FFEA-6E97-4ADB-AB98-10282D08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upper threshold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A47C5E-5B6E-4324-BBB6-451B1402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lower threshold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2B218C-6671-4F0A-B8DE-BECBA072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A36B15-C176-45AB-BFEF-086E4FB2A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5 • 39/50</a:t>
            </a:r>
          </a:p>
        </p:txBody>
      </p:sp>
    </p:spTree>
    <p:extLst>
      <p:ext uri="{BB962C8B-B14F-4D97-AF65-F5344CB8AC3E}">
        <p14:creationId xmlns:p14="http://schemas.microsoft.com/office/powerpoint/2010/main" val="40985420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FEE71D-18DA-4E9D-B12A-3A960CAF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Linear and Nonlinear Op-Amp Applications and DC Regulators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406482-1B45-4045-8936-6D74866F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Schmitt trigger circuits: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030824-D594-492B-B396-41B7E220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DB6EAE-725C-4B6C-AF1D-FF21E390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numerical or waveform example makes schmitt trigger circuits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712BCA-928C-4472-8F9B-86633C5E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Given: hysteresis and upper threshold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Find the target quantity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units and region of operation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Explain the physical meaning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4D7ED9-E47C-4F16-84F6-9C29A88F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ADC919-A244-41E6-B749-7CFF5BA9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Hysteresis prevents noisy chatter.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9AE02D-10B6-4DC2-92AF-5B1759E6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CB602D-D254-4A99-8945-A6F5901D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09DAC8-5116-4556-ACE6-6DBD2A12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3E8855-2E55-4A1D-B1DC-8FED4747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hysteresis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B2B1D4-6562-4483-A6E6-5D617BC8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upper threshold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529AA2-A04E-4EB0-9FB0-5CA39B13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lower threshold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022B6D-D10F-49A8-8E70-72E31727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A69EAC-B7CD-4547-AA0E-576C8C86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5 • 40/50</a:t>
            </a:r>
          </a:p>
        </p:txBody>
      </p:sp>
    </p:spTree>
    <p:extLst>
      <p:ext uri="{BB962C8B-B14F-4D97-AF65-F5344CB8AC3E}">
        <p14:creationId xmlns:p14="http://schemas.microsoft.com/office/powerpoint/2010/main" val="704938553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276B60-D7B2-4188-88E4-FC6D06E3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Linear and Nonlinear Op-Amp Applications and DC Regulators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95A40E-FF4F-4E34-B8EA-98E2018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DC voltage regulators: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9C420F-924C-4744-9800-F078225A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DB0862-715D-4171-A00F-2698CE3C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Voltage regulators hold output voltage nearly constant under input/load changes.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6B8D7F-555A-4C12-9038-4F5D2C3A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line regulation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load regulation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reference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pass 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44A42F-B928-463B-99A5-25AB42316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CF5154-3868-4C89-832B-410D3049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Regulation is the final link between supply and reliable circuits.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2EFF3E-635F-43B1-AF46-AF5FB924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A3FB74-F527-42B3-889E-830B3390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50CCB3-A8C8-42B4-8528-27CF1837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8EC6D0-B520-40D4-A72E-86957011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line regulation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9229B7-D539-4958-89B8-A0DB514E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load regulation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7C79B7-2002-478E-8E23-410DB2A0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reference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877EBB-63C9-4F24-9820-05025EDD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070FC4-0C00-4DC8-AF7D-DD28AD95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5 • 41/50</a:t>
            </a:r>
          </a:p>
        </p:txBody>
      </p:sp>
    </p:spTree>
    <p:extLst>
      <p:ext uri="{BB962C8B-B14F-4D97-AF65-F5344CB8AC3E}">
        <p14:creationId xmlns:p14="http://schemas.microsoft.com/office/powerpoint/2010/main" val="489776990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3BA5A8-6007-4D52-B247-C72074AD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Linear and Nonlinear Op-Amp Applications and DC Regulators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EA1BBA-0CC8-4359-AC47-BBF89E70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DC voltage regulators: circuit working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E1A710-58BC-43E1-89C4-585421E0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0AF84A-8978-46D7-8485-1B67334A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Follow the signal path and ask what each device or network contributes.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12C65F-CFC4-4363-954D-A164FBF7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input and output nodes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Mark DC bias and AC signal path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Track phase, gain, impedance, or threshold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Connect the result to the 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7F00A9-6A2A-4B12-BABB-04EE60D4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4F5134-58A5-4280-ACCC-3CB563CF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Regulation is the final link between supply and reliable circuits.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C28BF9-E6F1-4432-B945-05E1090A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D53077-1E9E-445C-9908-546A36E7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6798BE-4858-4F67-8093-446FF241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8E594A-8003-4479-B278-FDA170FC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line regulation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83336B-7BF4-4BEC-A195-9B6295D0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load regulation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6D78AC-A5CD-467D-B990-AC1C8DD2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reference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6E0162-5B07-4E72-94CC-30390E01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840475-8E72-42D6-8068-76AC8BF5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5 • 42/50</a:t>
            </a:r>
          </a:p>
        </p:txBody>
      </p:sp>
    </p:spTree>
    <p:extLst>
      <p:ext uri="{BB962C8B-B14F-4D97-AF65-F5344CB8AC3E}">
        <p14:creationId xmlns:p14="http://schemas.microsoft.com/office/powerpoint/2010/main" val="750258230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D476E0-E8E0-45F4-A09C-3BCF9362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Linear and Nonlinear Op-Amp Applications and DC Regulators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6C8372-97A5-4EA8-938E-DB46B500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DC voltage regulators: analysis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F67A40-8A8A-43E9-A80C-4F3E1606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6AD393-9847-4075-8B66-326F19AE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Use a small set of equations and assumptions to solve dc voltage regulators problems.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BF460B-04C1-4060-81E3-DB2678E60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Draw the equivalent model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Write known circuit relations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Substitute device parameters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the result: Regulation is the final link between supply and reliable circuits.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4C4198-905D-4F84-893C-EDAC87CEA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924328-942D-4AFF-8E47-E8C8CE4C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Regulation is the final link between supply and reliable circuits.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909772-503E-452B-8AE3-1FDD0F35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F444B9-5C93-4C44-95CB-AEB9E4D0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14EA3C-4C55-4053-BDA3-6D529C89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F8B148-056F-4E43-A732-D4AD73C4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line regulation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7AFBAE-9223-4FDE-BB98-944F23D2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load regulation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13D878-A61A-4157-B29F-42A1DA45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reference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0DDAF3-FD27-403F-95C8-EF1ABB0A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47F877-8C7D-497A-B681-726D92DC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5 • 43/50</a:t>
            </a:r>
          </a:p>
        </p:txBody>
      </p:sp>
    </p:spTree>
    <p:extLst>
      <p:ext uri="{BB962C8B-B14F-4D97-AF65-F5344CB8AC3E}">
        <p14:creationId xmlns:p14="http://schemas.microsoft.com/office/powerpoint/2010/main" val="300766528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79BC46-9E2A-4A7E-846E-FD9A20B4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Linear and Nonlinear Op-Amp Applications and DC Regulators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ED3CB4-ACDF-4D01-A5F9-F2A225C1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DC voltage regulators: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361480-9D34-46D8-B6A0-5176E97D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A3FB02-1B38-473B-AE46-2FB19ED4B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numerical or waveform example makes dc voltage regulators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DD6528-D4AE-45EB-96A6-67E2EC1A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Given: line regulation and load regulation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Find the target quantity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units and region of operation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Explain the physical meaning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E53E5C-1451-480E-9050-ABF5B42F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2F2A98-F1D6-4F29-9F47-241D6353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Regulation is the final link between supply and reliable circuits.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CFA625-21DA-45B7-8A3D-E6F792B40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967DF8-29C4-4462-8183-543BDAE5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80B7E2-B78F-45D0-B0DF-8C24B956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1AB99C-03C1-4631-BA03-E2F24FD3A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line regulation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4E503D-0F7B-4F07-8F1A-6F44E2BBB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load regulation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300C3E-FD6E-4C11-9AE9-AB98A35C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reference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7DCD96-20BB-408F-BF1C-A5CE2371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65D4B7-7D99-49A4-969E-691077404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5 • 44/50</a:t>
            </a:r>
          </a:p>
        </p:txBody>
      </p:sp>
    </p:spTree>
    <p:extLst>
      <p:ext uri="{BB962C8B-B14F-4D97-AF65-F5344CB8AC3E}">
        <p14:creationId xmlns:p14="http://schemas.microsoft.com/office/powerpoint/2010/main" val="816376603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E678AB-D141-4459-BCDB-53E168FD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F6CC53-A3DB-4300-8AB2-D934DCF5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Module 5 summary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950EE9-00A3-4C93-BB22-6E22760B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4D6590-08E4-4568-94DE-FBAAB198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81300"/>
            <a:ext cx="3238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Linear and Nonlinear Op-Amp Applications and DC Regulators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DDA4A1-91BA-4256-8B61-649907DA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Weighted resistor DAC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52FD74-32FC-465A-9029-7DB9A0F5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R-2R DAC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6F8955-53AB-4D2F-896E-079E2369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Analog to digital conversion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D25F90-779C-4299-9DFC-9138EFE3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Digital ramp ADC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25AF70-006E-4009-88CC-6D9EBC147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Successive approximation ADC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7C0195-25D5-41A1-961B-EEF2954C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Precision rectifier circuits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77CF56-92E4-4E0D-A738-DA9E690B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Signal processing circuits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3916CE-6DAF-4943-8C41-0D248028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Zero crossing detector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DFB4EC-8124-49C3-88DD-E49894DD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791200"/>
            <a:ext cx="800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If students can redraw this map, they can revise the module quickly.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E18AC7-74B2-4327-AAAD-EEB44EEF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5 • 45/50</a:t>
            </a:r>
          </a:p>
        </p:txBody>
      </p:sp>
    </p:spTree>
    <p:extLst>
      <p:ext uri="{BB962C8B-B14F-4D97-AF65-F5344CB8AC3E}">
        <p14:creationId xmlns:p14="http://schemas.microsoft.com/office/powerpoint/2010/main" val="1104520384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7859EF-F11A-4209-B6CA-CB912CB8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Practice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B3B587-08A2-43EC-9EC9-CF408912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Module 5 exam-focused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527398-A027-4F85-93EF-339515EC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32159D-7E36-4905-A80C-34E8F0C3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04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7E6745-4CFC-4594-A953-70C484B8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4287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Explain weighted resistor dac with a neat circuit diagram.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76036E-4FE0-4DEB-BFFC-ECB7E777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5240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10 marks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ABE127-9120-4A60-BE43-7D0098AF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A002BE-6DD1-4673-8954-F285F833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1526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Derive or outline the analysis method for r-2r dac.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7C0EB5-22BC-424D-84F8-A14EAF19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2479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10 marks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42C68E-481F-47AE-AC2B-FB4F2080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7E4CE2-D9D7-4B75-BB29-8D003B8A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8765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Compare analog to digital conversion and digital ramp adc.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D4764F-1146-4D0A-885A-1FA55B10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9718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10 marks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11E79E-0C45-451D-B24B-E86888C6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5A2E4E-8216-47CD-A6BC-FA96DAC5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004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Solve a numerical design problem based on successive approximation adc.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1A5BEE-D97D-4092-ADAD-3CEDE90C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6957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short note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F96911-8CB8-46BC-84C8-2D645331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AF7BC0-04A4-443A-A37B-52951B2B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243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Draw the waveform/response for precision rectifier circuits and explain.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0C50B3-1FEE-450A-92D7-AD4C8350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4196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short note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EF99EB-CD24-4014-97B7-4319CA81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24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7BC901-9C63-43D4-B5BA-5DE28CD3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482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Write short notes on signal processing circuits and applications.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EE2B55-4349-46C5-BBAF-978061E5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1435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short note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C722F8-F480-42AC-A435-B0046BEB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5 • 46/50</a:t>
            </a:r>
          </a:p>
        </p:txBody>
      </p:sp>
    </p:spTree>
    <p:extLst>
      <p:ext uri="{BB962C8B-B14F-4D97-AF65-F5344CB8AC3E}">
        <p14:creationId xmlns:p14="http://schemas.microsoft.com/office/powerpoint/2010/main" val="2128182302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7CC5AF-C227-44E6-9786-CF4FEA96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Exam quick reference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F7A5AA-2F8F-46A6-91F3-B6C8CF58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Module 5 formula and design checkpoints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3143FC-3D63-4F6A-A3AB-26FDC7E9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AE3313-E4C5-4CE6-A5B0-72B8B466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954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7BCD9D-2BE4-4A44-A1E1-8E63A603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6192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033"/>
                </a:solidFill>
              </a:defRPr>
            </a:pPr>
            <a:r>
              <a:rPr sz="1875" b="1">
                <a:solidFill>
                  <a:srgbClr val="102033"/>
                </a:solidFill>
              </a:rPr>
              <a:t>DAC output follows digital weight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D54C99-37F7-4E71-9921-FDC54002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752600"/>
            <a:ext cx="8763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90B096-B286-43C1-BB6B-27DF5F06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5AEB52-E763-420E-97CD-76476CDC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4955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033"/>
                </a:solidFill>
              </a:defRPr>
            </a:pPr>
            <a:r>
              <a:rPr sz="1875" b="1">
                <a:solidFill>
                  <a:srgbClr val="102033"/>
                </a:solidFill>
              </a:rPr>
              <a:t>ADC resolution depends on number of bits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7D30F0-8DDB-4B1B-BF22-87E0B473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628900"/>
            <a:ext cx="8763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E27EDE-2C9D-4848-8805-52BA9A0A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480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F91F38-6E3A-4E76-8BFC-1308E8F7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3718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033"/>
                </a:solidFill>
              </a:defRPr>
            </a:pPr>
            <a:r>
              <a:rPr sz="1875" b="1">
                <a:solidFill>
                  <a:srgbClr val="102033"/>
                </a:solidFill>
              </a:rPr>
              <a:t>Schmitt trigger has upper and lower thresholds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805614-1676-4A54-AAE7-7B0765D5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505200"/>
            <a:ext cx="8763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check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013B1C-F227-40FF-AA4F-1B6043105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24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F570B0-7AA0-4468-A280-6A59618A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2481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033"/>
                </a:solidFill>
              </a:defRPr>
            </a:pPr>
            <a:r>
              <a:rPr sz="1875" b="1">
                <a:solidFill>
                  <a:srgbClr val="102033"/>
                </a:solidFill>
              </a:rPr>
              <a:t>Regulator quality uses line and load regulation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2D4EDD-78D8-4629-8101-5A2B5155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381500"/>
            <a:ext cx="8763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check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11C6F8-EB9B-41C7-B3D2-CFFB9E0D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5 • 47/50</a:t>
            </a:r>
          </a:p>
        </p:txBody>
      </p:sp>
    </p:spTree>
    <p:extLst>
      <p:ext uri="{BB962C8B-B14F-4D97-AF65-F5344CB8AC3E}">
        <p14:creationId xmlns:p14="http://schemas.microsoft.com/office/powerpoint/2010/main" val="88119412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A47989-7AAD-49F5-91F6-791B4411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FB865E-FECD-44BA-BD23-EC5576DF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Module 5 summary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9B7DFE-8EBD-44A4-9C13-4EF64B20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B0433C-42CD-4C8F-8AFA-7880C1C0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81300"/>
            <a:ext cx="3238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Linear and Nonlinear Op-Amp Applications and DC Regulators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12D5DF-14B4-4CBF-AC67-91EA313A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Weighted resistor DAC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F4EFF4-83DA-42E4-A0D1-251DB155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R-2R DAC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407D50-38F5-4698-B875-9CC65CE7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Analog to digital conversion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AE8E0A-1371-4E90-A440-DA54B270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Digital ramp ADC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C30E80-0DAB-47E1-AE81-638A3AAC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Successive approximation ADC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9FCA2E-E54B-47A3-BB83-48E7ED88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Precision rectifier circuits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32BF3A-318A-4E75-9648-504F6205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Signal processing circuits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A5AAD7-2B0E-42F2-AE57-36E2C1C4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Zero crossing detector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2E1332-26BC-402D-90FB-EB908D68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791200"/>
            <a:ext cx="800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If students can redraw this map, they can revise the module quickly.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809B44-199D-41A4-9C3D-9DAE92F9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5 • 48/50</a:t>
            </a:r>
          </a:p>
        </p:txBody>
      </p:sp>
    </p:spTree>
    <p:extLst>
      <p:ext uri="{BB962C8B-B14F-4D97-AF65-F5344CB8AC3E}">
        <p14:creationId xmlns:p14="http://schemas.microsoft.com/office/powerpoint/2010/main" val="1313978218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30F66F-C9B5-433A-A02E-B49B9478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Practice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95F999-EB58-412D-8DF7-36E36C7C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Module 5 exam-focused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C9608B-128A-4C26-A5D5-99305AC7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CF4135-C2F6-47E5-8777-2C3825C2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04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3FD5AE-924A-4DE0-9C78-63F30ECD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4287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Explain weighted resistor dac with a neat circuit diagram.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6F2644-7AEB-4263-9AA1-A694F091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5240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10 marks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DFB4A5-0710-4BAC-BD2D-CB5C87FA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14EC5C-C0F4-4325-A008-19F0AB2FE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1526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Derive or outline the analysis method for r-2r dac.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988249-154F-4664-B148-28C864C9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2479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10 marks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83868E-DCA2-41A3-A158-0DA07A6C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7783A5-AF51-4EB1-A0C4-AFE22E02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8765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Compare analog to digital conversion and digital ramp adc.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3D6498-738D-4A44-A099-F6176FCC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9718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10 marks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59F943-0B60-49DD-954B-94006253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A01CBA-FE76-4885-A2D5-2E135091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004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Solve a numerical design problem based on successive approximation adc.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B3B6E1-FBFF-4D2A-B0F6-43F1862F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6957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short note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02F2FB-00AD-4C52-BBA9-84C36E86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6802D7-753D-4C83-8718-FF78B051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243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Draw the waveform/response for precision rectifier circuits and explain.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F45C68-DDD7-40A0-8343-7118A599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4196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short note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964EAE-1AAA-4B81-AC25-EDC068C9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24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0600EE-497A-4276-BABE-07EA122B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482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Write short notes on signal processing circuits and applications.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C7CC30-0A17-4ECE-9BE9-D3EC80C9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1435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short note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9F87DA-BFE6-49CD-802C-8CAE67DD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5 • 49/50</a:t>
            </a:r>
          </a:p>
        </p:txBody>
      </p:sp>
    </p:spTree>
    <p:extLst>
      <p:ext uri="{BB962C8B-B14F-4D97-AF65-F5344CB8AC3E}">
        <p14:creationId xmlns:p14="http://schemas.microsoft.com/office/powerpoint/2010/main" val="65129617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8864EE-E6FB-4F05-A108-0567DEDC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Linear and Nonlinear Op-Amp Applications and DC Regulators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9D3F0E-1201-4E58-8BF1-CBF998753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Signal processing circuits: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1D23C1-BA90-4AB4-964F-7A29D1EE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EAA12B-D4F7-45B1-9237-CDCF8AAD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numerical or waveform example makes signal processing circuits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9E1EAF-0727-469A-8930-A358FAB2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Given: summing and scaling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Find the target quantity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units and region of operation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Explain the physical meaning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CC304A-76EA-4D0F-BAF4-59848551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C8C71E-14E9-462E-ABD8-473EDEE4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Op-amps are building blocks for analog computation.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EEEC4A-3866-456B-BDD9-FA166FC3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612E48-7C26-4977-AA70-24B6695B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272438-8B7D-4EA2-9D98-2AD65F89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AF80E5-3631-41AA-B26C-0C964D1B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summing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E982D5-AAEF-4EF5-889C-4C363E2C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scaling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D91C1B-344E-4FDE-9C9B-F6C980C6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rectifying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608F4B-A3FC-4EAC-BE5C-B54FB75F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E75201-EEB0-4368-9AC9-87C22DE3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5 • 50/50</a:t>
            </a:r>
          </a:p>
        </p:txBody>
      </p:sp>
    </p:spTree>
    <p:extLst>
      <p:ext uri="{BB962C8B-B14F-4D97-AF65-F5344CB8AC3E}">
        <p14:creationId xmlns:p14="http://schemas.microsoft.com/office/powerpoint/2010/main" val="7556149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2026-08-21T07:02:37.8230000Z</dcterms:created>
  <dcterms:modified xsi:type="dcterms:W3CDTF">2026-08-21T07:02:37.8230000Z</dcterms:modified>
</coreProperties>
</file>