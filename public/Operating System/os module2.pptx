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6" r:id="rId1"/>
  </p:sldMasterIdLst>
  <p:notesMasterIdLst>
    <p:notesMasterId r:id="rId80"/>
  </p:notesMasterIdLst>
  <p:sldIdLst>
    <p:sldId id="256" r:id="rId2"/>
    <p:sldId id="259" r:id="rId3"/>
    <p:sldId id="261" r:id="rId4"/>
    <p:sldId id="263" r:id="rId5"/>
    <p:sldId id="265" r:id="rId6"/>
    <p:sldId id="266" r:id="rId7"/>
    <p:sldId id="268" r:id="rId8"/>
    <p:sldId id="269" r:id="rId9"/>
    <p:sldId id="271" r:id="rId10"/>
    <p:sldId id="273" r:id="rId11"/>
    <p:sldId id="277" r:id="rId12"/>
    <p:sldId id="276" r:id="rId13"/>
    <p:sldId id="278" r:id="rId14"/>
    <p:sldId id="279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6" r:id="rId30"/>
    <p:sldId id="298" r:id="rId31"/>
    <p:sldId id="300" r:id="rId32"/>
    <p:sldId id="301" r:id="rId33"/>
    <p:sldId id="302" r:id="rId34"/>
    <p:sldId id="303" r:id="rId35"/>
    <p:sldId id="305" r:id="rId36"/>
    <p:sldId id="307" r:id="rId37"/>
    <p:sldId id="309" r:id="rId38"/>
    <p:sldId id="311" r:id="rId39"/>
    <p:sldId id="313" r:id="rId40"/>
    <p:sldId id="314" r:id="rId41"/>
    <p:sldId id="316" r:id="rId42"/>
    <p:sldId id="317" r:id="rId43"/>
    <p:sldId id="318" r:id="rId44"/>
    <p:sldId id="319" r:id="rId45"/>
    <p:sldId id="320" r:id="rId46"/>
    <p:sldId id="323" r:id="rId47"/>
    <p:sldId id="322" r:id="rId48"/>
    <p:sldId id="324" r:id="rId49"/>
    <p:sldId id="325" r:id="rId50"/>
    <p:sldId id="326" r:id="rId51"/>
    <p:sldId id="327" r:id="rId52"/>
    <p:sldId id="328" r:id="rId53"/>
    <p:sldId id="329" r:id="rId54"/>
    <p:sldId id="330" r:id="rId55"/>
    <p:sldId id="331" r:id="rId56"/>
    <p:sldId id="332" r:id="rId57"/>
    <p:sldId id="333" r:id="rId58"/>
    <p:sldId id="334" r:id="rId59"/>
    <p:sldId id="335" r:id="rId60"/>
    <p:sldId id="336" r:id="rId61"/>
    <p:sldId id="337" r:id="rId62"/>
    <p:sldId id="338" r:id="rId63"/>
    <p:sldId id="339" r:id="rId64"/>
    <p:sldId id="340" r:id="rId65"/>
    <p:sldId id="341" r:id="rId66"/>
    <p:sldId id="342" r:id="rId67"/>
    <p:sldId id="343" r:id="rId68"/>
    <p:sldId id="344" r:id="rId69"/>
    <p:sldId id="345" r:id="rId70"/>
    <p:sldId id="346" r:id="rId71"/>
    <p:sldId id="349" r:id="rId72"/>
    <p:sldId id="347" r:id="rId73"/>
    <p:sldId id="348" r:id="rId74"/>
    <p:sldId id="351" r:id="rId75"/>
    <p:sldId id="350" r:id="rId76"/>
    <p:sldId id="352" r:id="rId77"/>
    <p:sldId id="364" r:id="rId78"/>
    <p:sldId id="365" r:id="rId7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295D5-DCF1-4647-A46E-FE96F259A47F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F28BF-3C26-4257-B91F-8671579D8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39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545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9516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5033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9103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4272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0178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1757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0701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3410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9527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0421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1185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53452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0000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16342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58794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50722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8987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9910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1756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71608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65579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35139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61897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248258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64073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5DD23E2-B71B-4DE9-AA7B-50BAEEA09A2B}" type="slidenum">
              <a:rPr lang="en-US">
                <a:latin typeface="Helvetica" panose="020B0604020202020204" pitchFamily="34" charset="0"/>
              </a:rPr>
              <a:pPr/>
              <a:t>28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2429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06A695E-C3ED-4EF5-B4FE-734E1688F124}" type="slidenum">
              <a:rPr lang="en-US">
                <a:latin typeface="Helvetica" panose="020B0604020202020204" pitchFamily="34" charset="0"/>
              </a:rPr>
              <a:pPr/>
              <a:t>29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3278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4695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02746E4-83DF-4EDA-8352-B780D181880F}" type="slidenum">
              <a:rPr lang="en-US">
                <a:latin typeface="Helvetica" panose="020B0604020202020204" pitchFamily="34" charset="0"/>
              </a:rPr>
              <a:pPr/>
              <a:t>31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39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F8F9F7A-2D47-439B-8E9B-07E47AF47B05}" type="slidenum">
              <a:rPr lang="en-US">
                <a:latin typeface="Helvetica" panose="020B0604020202020204" pitchFamily="34" charset="0"/>
              </a:rPr>
              <a:pPr/>
              <a:t>32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4750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48008AE-81DD-4110-8A31-637EC7A3A381}" type="slidenum">
              <a:rPr lang="en-US">
                <a:latin typeface="Helvetica" panose="020B0604020202020204" pitchFamily="34" charset="0"/>
              </a:rPr>
              <a:pPr/>
              <a:t>33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325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65D26E1-6B85-4C64-96D2-74FBFB55E72D}" type="slidenum">
              <a:rPr lang="en-US">
                <a:latin typeface="Helvetica" panose="020B0604020202020204" pitchFamily="34" charset="0"/>
              </a:rPr>
              <a:pPr/>
              <a:t>34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6982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2D2CFE1-16C3-4A4A-B868-04708EF49644}" type="slidenum">
              <a:rPr lang="en-US">
                <a:latin typeface="Helvetica" panose="020B0604020202020204" pitchFamily="34" charset="0"/>
              </a:rPr>
              <a:pPr/>
              <a:t>35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4109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21CA0AB-90D8-4DFC-8C4C-2856DFF1C491}" type="slidenum">
              <a:rPr lang="en-US">
                <a:latin typeface="Helvetica" panose="020B0604020202020204" pitchFamily="34" charset="0"/>
              </a:rPr>
              <a:pPr/>
              <a:t>36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9379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84569A0-7092-4A96-8A47-602F932FBCAF}" type="slidenum">
              <a:rPr lang="en-US">
                <a:latin typeface="Helvetica" panose="020B0604020202020204" pitchFamily="34" charset="0"/>
              </a:rPr>
              <a:pPr/>
              <a:t>37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5455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8054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61AF1DF-F91E-4025-BCB1-AA3C102D326F}" type="slidenum">
              <a:rPr lang="en-US">
                <a:latin typeface="Helvetica" panose="020B0604020202020204" pitchFamily="34" charset="0"/>
              </a:rPr>
              <a:pPr/>
              <a:t>39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8528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0E82FB6-C412-424B-9329-70779E9B731B}" type="slidenum">
              <a:rPr lang="en-US">
                <a:latin typeface="Helvetica" panose="020B0604020202020204" pitchFamily="34" charset="0"/>
              </a:rPr>
              <a:pPr/>
              <a:t>40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6853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74ED0EC-0E91-44AE-A16C-9B344A5336D3}" type="slidenum">
              <a:rPr lang="en-US">
                <a:latin typeface="Helvetica" panose="020B0604020202020204" pitchFamily="34" charset="0"/>
              </a:rPr>
              <a:pPr/>
              <a:t>41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0152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18C7524-8FFD-4378-9E47-F40D8BECE869}" type="slidenum">
              <a:rPr lang="en-US">
                <a:latin typeface="Helvetica" panose="020B0604020202020204" pitchFamily="34" charset="0"/>
              </a:rPr>
              <a:pPr/>
              <a:t>42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98578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69637BA-84F6-4400-8CE8-8100397EBB8C}" type="slidenum">
              <a:rPr lang="en-US">
                <a:latin typeface="Helvetica" panose="020B0604020202020204" pitchFamily="34" charset="0"/>
              </a:rPr>
              <a:pPr/>
              <a:t>43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7013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BEEA701-BB79-4AC5-8482-4AB19BE5DB02}" type="slidenum">
              <a:rPr lang="en-US">
                <a:latin typeface="Helvetica" panose="020B0604020202020204" pitchFamily="34" charset="0"/>
              </a:rPr>
              <a:pPr/>
              <a:t>44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815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6274375" indent="-35837813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49442688" indent="-48567975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0D05F63-BB37-453C-83FB-8BEA0571FB4C}" type="slidenum">
              <a:rPr lang="en-US">
                <a:latin typeface="Helvetica" panose="020B0604020202020204" pitchFamily="34" charset="0"/>
              </a:rPr>
              <a:pPr/>
              <a:t>45</a:t>
            </a:fld>
            <a:endParaRPr lang="en-US">
              <a:latin typeface="Helvetica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0549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CD81616-C2C5-48D4-844D-FAA17F3C15D3}" type="slidenum">
              <a:rPr lang="en-US">
                <a:latin typeface="Times New Roman" panose="02020603050405020304" pitchFamily="18" charset="0"/>
              </a:rPr>
              <a:pPr/>
              <a:t>46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48914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F64F65F-26BC-44C8-A8F1-A25F912C3540}" type="slidenum">
              <a:rPr lang="en-US">
                <a:latin typeface="Times New Roman" panose="02020603050405020304" pitchFamily="18" charset="0"/>
              </a:rPr>
              <a:pPr/>
              <a:t>47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1653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B610CA2-6552-4FC6-940D-7101EA81A93A}" type="slidenum">
              <a:rPr lang="en-US">
                <a:latin typeface="Times New Roman" panose="02020603050405020304" pitchFamily="18" charset="0"/>
              </a:rPr>
              <a:pPr/>
              <a:t>48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0389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F12FD4B-AD06-465B-AAF1-BE35C54132EC}" type="slidenum">
              <a:rPr lang="en-US">
                <a:latin typeface="Times New Roman" panose="02020603050405020304" pitchFamily="18" charset="0"/>
              </a:rPr>
              <a:pPr/>
              <a:t>49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40674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92CF27C-DD68-4006-B53F-FCE40E5DBF36}" type="slidenum">
              <a:rPr lang="en-US">
                <a:latin typeface="Times New Roman" panose="02020603050405020304" pitchFamily="18" charset="0"/>
              </a:rPr>
              <a:pPr/>
              <a:t>50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90721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983D636-7AF4-428C-9494-13191D3360AC}" type="slidenum">
              <a:rPr lang="en-US">
                <a:latin typeface="Times New Roman" panose="02020603050405020304" pitchFamily="18" charset="0"/>
              </a:rPr>
              <a:pPr/>
              <a:t>51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622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9344840-85F5-49A2-9A37-FAC16EA5C83A}" type="slidenum">
              <a:rPr lang="en-US">
                <a:latin typeface="Times New Roman" panose="02020603050405020304" pitchFamily="18" charset="0"/>
              </a:rPr>
              <a:pPr/>
              <a:t>52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7190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32C7096-6A03-45F4-A4F2-110297681058}" type="slidenum">
              <a:rPr lang="en-US">
                <a:latin typeface="Times New Roman" panose="02020603050405020304" pitchFamily="18" charset="0"/>
              </a:rPr>
              <a:pPr/>
              <a:t>53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7101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C1B3C3B-6C65-48D2-9405-3DE8C7E85BA0}" type="slidenum">
              <a:rPr lang="en-US">
                <a:latin typeface="Times New Roman" panose="02020603050405020304" pitchFamily="18" charset="0"/>
              </a:rPr>
              <a:pPr/>
              <a:t>54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67755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4545573-4569-473D-9D04-8E3FFCB6FC3B}" type="slidenum">
              <a:rPr lang="en-US">
                <a:latin typeface="Times New Roman" panose="02020603050405020304" pitchFamily="18" charset="0"/>
              </a:rPr>
              <a:pPr/>
              <a:t>55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58422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C382DC0-A452-443C-840C-000CB03CCE94}" type="slidenum">
              <a:rPr lang="en-US">
                <a:latin typeface="Times New Roman" panose="02020603050405020304" pitchFamily="18" charset="0"/>
              </a:rPr>
              <a:pPr/>
              <a:t>56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96324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60395AC-33F5-422E-9F9D-AADE6F4B4B5C}" type="slidenum">
              <a:rPr lang="en-US">
                <a:latin typeface="Times New Roman" panose="02020603050405020304" pitchFamily="18" charset="0"/>
              </a:rPr>
              <a:pPr/>
              <a:t>57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27199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484C62D-5353-41C4-B58E-DEBB9A0EE852}" type="slidenum">
              <a:rPr lang="en-US">
                <a:latin typeface="Times New Roman" panose="02020603050405020304" pitchFamily="18" charset="0"/>
              </a:rPr>
              <a:pPr/>
              <a:t>58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65844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4348F7C-F336-4C35-B68F-D21AD0D22DB4}" type="slidenum">
              <a:rPr lang="en-US">
                <a:latin typeface="Times New Roman" panose="02020603050405020304" pitchFamily="18" charset="0"/>
              </a:rPr>
              <a:pPr/>
              <a:t>59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931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98F8802-30E8-4792-9A4F-5AC7BC76FD84}" type="slidenum">
              <a:rPr lang="en-US">
                <a:latin typeface="Times New Roman" panose="02020603050405020304" pitchFamily="18" charset="0"/>
              </a:rPr>
              <a:pPr/>
              <a:t>60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54297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049A563-5061-4F2E-BCEC-2545AA45E4E3}" type="slidenum">
              <a:rPr lang="en-US">
                <a:latin typeface="Times New Roman" panose="02020603050405020304" pitchFamily="18" charset="0"/>
              </a:rPr>
              <a:pPr/>
              <a:t>61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55111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9662389-1BE8-46F4-8C87-AE5A5728DD34}" type="slidenum">
              <a:rPr lang="en-US">
                <a:latin typeface="Times New Roman" panose="02020603050405020304" pitchFamily="18" charset="0"/>
              </a:rPr>
              <a:pPr/>
              <a:t>62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4481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A2D8CE6-2635-4053-8848-0B8523E512D0}" type="slidenum">
              <a:rPr lang="en-US">
                <a:latin typeface="Times New Roman" panose="02020603050405020304" pitchFamily="18" charset="0"/>
              </a:rPr>
              <a:pPr/>
              <a:t>63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79420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4536108-482C-40EC-A89C-9181DDFDF89A}" type="slidenum">
              <a:rPr lang="en-US">
                <a:latin typeface="Times New Roman" panose="02020603050405020304" pitchFamily="18" charset="0"/>
              </a:rPr>
              <a:pPr/>
              <a:t>64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8859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A4DC65D-5154-4AC8-87FC-7B7E2E08A227}" type="slidenum">
              <a:rPr lang="en-US">
                <a:latin typeface="Times New Roman" panose="02020603050405020304" pitchFamily="18" charset="0"/>
              </a:rPr>
              <a:pPr/>
              <a:t>65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32100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C529CDC-07B4-4926-9382-22F592363396}" type="slidenum">
              <a:rPr lang="en-US">
                <a:latin typeface="Times New Roman" panose="02020603050405020304" pitchFamily="18" charset="0"/>
              </a:rPr>
              <a:pPr/>
              <a:t>66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52728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655E252-1723-46B3-A67F-3E7CAD00270A}" type="slidenum">
              <a:rPr lang="en-US">
                <a:latin typeface="Times New Roman" panose="02020603050405020304" pitchFamily="18" charset="0"/>
              </a:rPr>
              <a:pPr/>
              <a:t>67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9460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A72CF97-36A7-43B1-AFDC-7F06AFF6B3DB}" type="slidenum">
              <a:rPr lang="en-US">
                <a:latin typeface="Times New Roman" panose="02020603050405020304" pitchFamily="18" charset="0"/>
              </a:rPr>
              <a:pPr/>
              <a:t>68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0611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065B88E-2872-4CF3-B819-47800EE1D569}" type="slidenum">
              <a:rPr lang="en-US">
                <a:latin typeface="Times New Roman" panose="02020603050405020304" pitchFamily="18" charset="0"/>
              </a:rPr>
              <a:pPr/>
              <a:t>69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0181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B8AEF58-29B1-44AE-80E1-7EC815B8B7E3}" type="slidenum">
              <a:rPr lang="en-US">
                <a:latin typeface="Times New Roman" panose="02020603050405020304" pitchFamily="18" charset="0"/>
              </a:rPr>
              <a:pPr/>
              <a:t>70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23177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8960F1E-95C8-47BA-A801-18CBF263B84B}" type="slidenum">
              <a:rPr lang="en-US">
                <a:latin typeface="Times New Roman" panose="02020603050405020304" pitchFamily="18" charset="0"/>
              </a:rPr>
              <a:pPr/>
              <a:t>71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15057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ABC2918-5EA2-4A72-84F0-22224B812426}" type="slidenum">
              <a:rPr lang="en-US">
                <a:latin typeface="Times New Roman" panose="02020603050405020304" pitchFamily="18" charset="0"/>
              </a:rPr>
              <a:pPr/>
              <a:t>72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69119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8776E01-7C04-44B7-A37F-68161E1CD68D}" type="slidenum">
              <a:rPr lang="en-US">
                <a:latin typeface="Times New Roman" panose="02020603050405020304" pitchFamily="18" charset="0"/>
              </a:rPr>
              <a:pPr/>
              <a:t>73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35127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61629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12029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21812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A0546F8-E625-462F-8773-1C4355418B81}" type="slidenum">
              <a:rPr lang="en-US">
                <a:latin typeface="Times New Roman" panose="02020603050405020304" pitchFamily="18" charset="0"/>
              </a:rPr>
              <a:pPr/>
              <a:t>77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45073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E939296-B9C4-4462-8F36-EFF535E0F743}" type="slidenum">
              <a:rPr lang="en-US">
                <a:latin typeface="Times New Roman" panose="02020603050405020304" pitchFamily="18" charset="0"/>
              </a:rPr>
              <a:pPr/>
              <a:t>78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968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12/19/2023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633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338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177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2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63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93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8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44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059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1713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00884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7675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90317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48374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41602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154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305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4196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428" y="476519"/>
            <a:ext cx="11101589" cy="940158"/>
          </a:xfrm>
        </p:spPr>
        <p:txBody>
          <a:bodyPr/>
          <a:lstStyle/>
          <a:p>
            <a:pPr algn="ctr"/>
            <a:r>
              <a:rPr lang="en-US" dirty="0" smtClean="0"/>
              <a:t>MODULE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28" y="1918952"/>
            <a:ext cx="10908405" cy="396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30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1590986" cy="576262"/>
          </a:xfrm>
        </p:spPr>
        <p:txBody>
          <a:bodyPr/>
          <a:lstStyle/>
          <a:p>
            <a:pPr eaLnBrk="1" hangingPunct="1"/>
            <a:r>
              <a:rPr lang="en-US" b="1" u="sng" dirty="0" smtClean="0">
                <a:ea typeface="ＭＳ Ｐゴシック" panose="020B0600070205080204" pitchFamily="34" charset="-128"/>
              </a:rPr>
              <a:t>Process Concept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" y="682579"/>
            <a:ext cx="12054624" cy="600155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An operating system executes a variety of programs: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Batch system – jobs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Time-shared systems – user programs or tasks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Textbook uses the terms </a:t>
            </a:r>
            <a:r>
              <a:rPr lang="en-US" i="1" dirty="0" smtClean="0">
                <a:ea typeface="ＭＳ Ｐゴシック" panose="020B0600070205080204" pitchFamily="34" charset="-128"/>
              </a:rPr>
              <a:t>job</a:t>
            </a:r>
            <a:r>
              <a:rPr lang="en-US" dirty="0" smtClean="0">
                <a:ea typeface="ＭＳ Ｐゴシック" panose="020B0600070205080204" pitchFamily="34" charset="-128"/>
              </a:rPr>
              <a:t> and </a:t>
            </a:r>
            <a:r>
              <a:rPr lang="en-US" i="1" dirty="0" smtClean="0">
                <a:ea typeface="ＭＳ Ｐゴシック" panose="020B0600070205080204" pitchFamily="34" charset="-128"/>
              </a:rPr>
              <a:t>process</a:t>
            </a:r>
            <a:r>
              <a:rPr lang="en-US" dirty="0" smtClean="0">
                <a:ea typeface="ＭＳ Ｐゴシック" panose="020B0600070205080204" pitchFamily="34" charset="-128"/>
              </a:rPr>
              <a:t> almost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 smtClean="0">
                <a:ea typeface="ＭＳ Ｐゴシック" panose="020B0600070205080204" pitchFamily="34" charset="-128"/>
              </a:rPr>
              <a:t>interchangeably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Process – a program in execution; process execution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 smtClean="0">
                <a:ea typeface="ＭＳ Ｐゴシック" panose="020B0600070205080204" pitchFamily="34" charset="-128"/>
              </a:rPr>
              <a:t>must progress in sequential fashion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A process includes: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program counter 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stack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data section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dirty="0">
              <a:ea typeface="ＭＳ Ｐゴシック" panose="020B0600070205080204" pitchFamily="34" charset="-128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dirty="0" smtClean="0">
                <a:ea typeface="ＭＳ Ｐゴシック" panose="020B0600070205080204" pitchFamily="34" charset="-128"/>
              </a:rPr>
              <a:t>																           Process </a:t>
            </a:r>
            <a:r>
              <a:rPr lang="en-US" dirty="0">
                <a:ea typeface="ＭＳ Ｐゴシック" panose="020B0600070205080204" pitchFamily="34" charset="-128"/>
              </a:rPr>
              <a:t>in Memory</a:t>
            </a:r>
            <a:endParaRPr lang="en-US" dirty="0" smtClean="0">
              <a:ea typeface="ＭＳ Ｐゴシック" panose="020B0600070205080204" pitchFamily="34" charset="-128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1566" y="875763"/>
            <a:ext cx="3747751" cy="4250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3183" y="0"/>
            <a:ext cx="8942881" cy="854075"/>
          </a:xfrm>
        </p:spPr>
        <p:txBody>
          <a:bodyPr/>
          <a:lstStyle/>
          <a:p>
            <a:pPr eaLnBrk="1" hangingPunct="1"/>
            <a:r>
              <a:rPr lang="en-US" b="1" u="sng" dirty="0" smtClean="0">
                <a:ea typeface="ＭＳ Ｐゴシック" panose="020B0600070205080204" pitchFamily="34" charset="-128"/>
              </a:rPr>
              <a:t>Process State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183" y="854074"/>
            <a:ext cx="11655380" cy="6003925"/>
          </a:xfrm>
        </p:spPr>
        <p:txBody>
          <a:bodyPr>
            <a:normAutofit/>
          </a:bodyPr>
          <a:lstStyle/>
          <a:p>
            <a:r>
              <a:rPr lang="en-US" sz="1600" dirty="0">
                <a:ea typeface="ＭＳ Ｐゴシック" panose="020B0600070205080204" pitchFamily="34" charset="-128"/>
              </a:rPr>
              <a:t>As a process executes, it changes </a:t>
            </a:r>
            <a:r>
              <a:rPr lang="en-US" sz="1600" i="1" dirty="0">
                <a:ea typeface="ＭＳ Ｐゴシック" panose="020B0600070205080204" pitchFamily="34" charset="-128"/>
              </a:rPr>
              <a:t>state</a:t>
            </a:r>
            <a:endParaRPr lang="en-US" sz="1600" dirty="0">
              <a:ea typeface="ＭＳ Ｐゴシック" panose="020B0600070205080204" pitchFamily="34" charset="-128"/>
            </a:endParaRPr>
          </a:p>
          <a:p>
            <a:pPr lvl="1"/>
            <a:r>
              <a:rPr lang="en-US" sz="1600" b="1" dirty="0">
                <a:ea typeface="ＭＳ Ｐゴシック" panose="020B0600070205080204" pitchFamily="34" charset="-128"/>
              </a:rPr>
              <a:t>new</a:t>
            </a:r>
            <a:r>
              <a:rPr lang="en-US" sz="1600" dirty="0">
                <a:ea typeface="ＭＳ Ｐゴシック" panose="020B0600070205080204" pitchFamily="34" charset="-128"/>
              </a:rPr>
              <a:t>:  The process is being created</a:t>
            </a:r>
          </a:p>
          <a:p>
            <a:pPr lvl="1"/>
            <a:r>
              <a:rPr lang="en-US" sz="1600" b="1" dirty="0">
                <a:ea typeface="ＭＳ Ｐゴシック" panose="020B0600070205080204" pitchFamily="34" charset="-128"/>
              </a:rPr>
              <a:t>running</a:t>
            </a:r>
            <a:r>
              <a:rPr lang="en-US" sz="1600" dirty="0">
                <a:ea typeface="ＭＳ Ｐゴシック" panose="020B0600070205080204" pitchFamily="34" charset="-128"/>
              </a:rPr>
              <a:t>:  Instructions are being executed</a:t>
            </a:r>
          </a:p>
          <a:p>
            <a:pPr lvl="1"/>
            <a:r>
              <a:rPr lang="en-US" sz="1600" b="1" dirty="0">
                <a:ea typeface="ＭＳ Ｐゴシック" panose="020B0600070205080204" pitchFamily="34" charset="-128"/>
              </a:rPr>
              <a:t>waiting</a:t>
            </a:r>
            <a:r>
              <a:rPr lang="en-US" sz="1600" dirty="0">
                <a:ea typeface="ＭＳ Ｐゴシック" panose="020B0600070205080204" pitchFamily="34" charset="-128"/>
              </a:rPr>
              <a:t>:  The process is waiting for some event to occur</a:t>
            </a:r>
          </a:p>
          <a:p>
            <a:pPr lvl="1"/>
            <a:r>
              <a:rPr lang="en-US" sz="1600" b="1" dirty="0">
                <a:ea typeface="ＭＳ Ｐゴシック" panose="020B0600070205080204" pitchFamily="34" charset="-128"/>
              </a:rPr>
              <a:t>ready</a:t>
            </a:r>
            <a:r>
              <a:rPr lang="en-US" sz="1600" dirty="0">
                <a:ea typeface="ＭＳ Ｐゴシック" panose="020B0600070205080204" pitchFamily="34" charset="-128"/>
              </a:rPr>
              <a:t>:  The process is waiting to be assigned to a processor</a:t>
            </a:r>
          </a:p>
          <a:p>
            <a:pPr lvl="1"/>
            <a:r>
              <a:rPr lang="en-US" sz="1600" b="1" dirty="0">
                <a:ea typeface="ＭＳ Ｐゴシック" panose="020B0600070205080204" pitchFamily="34" charset="-128"/>
              </a:rPr>
              <a:t>terminated</a:t>
            </a:r>
            <a:r>
              <a:rPr lang="en-US" sz="1600" dirty="0">
                <a:ea typeface="ＭＳ Ｐゴシック" panose="020B0600070205080204" pitchFamily="34" charset="-128"/>
              </a:rPr>
              <a:t>:  The process has finished </a:t>
            </a:r>
            <a:r>
              <a:rPr lang="en-US" sz="1600" dirty="0" smtClean="0">
                <a:ea typeface="ＭＳ Ｐゴシック" panose="020B0600070205080204" pitchFamily="34" charset="-128"/>
              </a:rPr>
              <a:t>execution</a:t>
            </a:r>
          </a:p>
          <a:p>
            <a:pPr lvl="1"/>
            <a:endParaRPr lang="en-US" sz="1600" dirty="0">
              <a:ea typeface="ＭＳ Ｐゴシック" panose="020B0600070205080204" pitchFamily="34" charset="-128"/>
            </a:endParaRPr>
          </a:p>
          <a:p>
            <a:pPr lvl="1"/>
            <a:endParaRPr lang="en-US" sz="1600" dirty="0" smtClean="0">
              <a:ea typeface="ＭＳ Ｐゴシック" panose="020B0600070205080204" pitchFamily="34" charset="-128"/>
            </a:endParaRPr>
          </a:p>
          <a:p>
            <a:pPr lvl="1"/>
            <a:endParaRPr lang="en-US" sz="1600" dirty="0">
              <a:ea typeface="ＭＳ Ｐゴシック" panose="020B0600070205080204" pitchFamily="34" charset="-128"/>
            </a:endParaRPr>
          </a:p>
          <a:p>
            <a:pPr lvl="1"/>
            <a:endParaRPr lang="en-US" sz="1600" dirty="0" smtClean="0">
              <a:ea typeface="ＭＳ Ｐゴシック" panose="020B0600070205080204" pitchFamily="34" charset="-128"/>
            </a:endParaRPr>
          </a:p>
          <a:p>
            <a:pPr lvl="1"/>
            <a:endParaRPr lang="en-US" sz="1600" dirty="0">
              <a:ea typeface="ＭＳ Ｐゴシック" panose="020B0600070205080204" pitchFamily="34" charset="-128"/>
            </a:endParaRPr>
          </a:p>
          <a:p>
            <a:pPr lvl="1"/>
            <a:endParaRPr lang="en-US" sz="1600" dirty="0" smtClean="0">
              <a:ea typeface="ＭＳ Ｐゴシック" panose="020B0600070205080204" pitchFamily="34" charset="-128"/>
            </a:endParaRPr>
          </a:p>
          <a:p>
            <a:pPr lvl="1"/>
            <a:endParaRPr lang="en-US" sz="1600" dirty="0">
              <a:ea typeface="ＭＳ Ｐゴシック" panose="020B0600070205080204" pitchFamily="34" charset="-128"/>
            </a:endParaRPr>
          </a:p>
          <a:p>
            <a:pPr lvl="1"/>
            <a:endParaRPr lang="en-US" sz="1600" dirty="0" smtClean="0">
              <a:ea typeface="ＭＳ Ｐゴシック" panose="020B0600070205080204" pitchFamily="34" charset="-128"/>
            </a:endParaRPr>
          </a:p>
          <a:p>
            <a:pPr marL="457200" lvl="1" indent="0">
              <a:buNone/>
            </a:pPr>
            <a:endParaRPr lang="en-US" sz="1600" dirty="0" smtClean="0">
              <a:ea typeface="ＭＳ Ｐゴシック" panose="020B0600070205080204" pitchFamily="34" charset="-128"/>
            </a:endParaRPr>
          </a:p>
          <a:p>
            <a:pPr marL="457200" lvl="1" indent="0">
              <a:buNone/>
            </a:pPr>
            <a:r>
              <a:rPr lang="en-US" sz="1600" dirty="0" smtClean="0">
                <a:ea typeface="ＭＳ Ｐゴシック" panose="020B0600070205080204" pitchFamily="34" charset="-128"/>
              </a:rPr>
              <a:t>								Diagram </a:t>
            </a:r>
            <a:r>
              <a:rPr lang="en-US" sz="1600" dirty="0">
                <a:ea typeface="ＭＳ Ｐゴシック" panose="020B0600070205080204" pitchFamily="34" charset="-128"/>
              </a:rPr>
              <a:t>of Process State</a:t>
            </a:r>
            <a:endParaRPr lang="en-US" sz="1600" dirty="0" smtClean="0">
              <a:ea typeface="ＭＳ Ｐゴシック" panose="020B0600070205080204" pitchFamily="34" charset="-128"/>
            </a:endParaRPr>
          </a:p>
          <a:p>
            <a:pPr marL="457200" lvl="1" indent="0">
              <a:buNone/>
            </a:pPr>
            <a:endParaRPr lang="en-US" sz="1600" dirty="0">
              <a:ea typeface="ＭＳ Ｐゴシック" panose="020B0600070205080204" pitchFamily="34" charset="-128"/>
            </a:endParaRPr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686" y="3145575"/>
            <a:ext cx="755015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0"/>
            <a:ext cx="10050834" cy="1853248"/>
          </a:xfrm>
        </p:spPr>
        <p:txBody>
          <a:bodyPr/>
          <a:lstStyle/>
          <a:p>
            <a:pPr eaLnBrk="1" hangingPunct="1"/>
            <a:r>
              <a:rPr lang="en-US" b="1" u="sng" dirty="0" smtClean="0">
                <a:ea typeface="ＭＳ Ｐゴシック" panose="020B0600070205080204" pitchFamily="34" charset="-128"/>
              </a:rPr>
              <a:t>Process Control Block (PCB)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" y="746975"/>
            <a:ext cx="11977351" cy="5795493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dirty="0" smtClean="0">
                <a:ea typeface="ＭＳ Ｐゴシック" panose="020B0600070205080204" pitchFamily="34" charset="-128"/>
              </a:rPr>
              <a:t>Information associated with each process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Process state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Program counter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CPU registers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CPU scheduling information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Memory-management information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Accounting information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I/O status information</a:t>
            </a:r>
          </a:p>
          <a:p>
            <a:pPr marL="0" indent="0">
              <a:buNone/>
            </a:pPr>
            <a:endParaRPr lang="en-US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dirty="0" smtClean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dirty="0" smtClean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dirty="0" smtClean="0">
                <a:ea typeface="ＭＳ Ｐゴシック" panose="020B0600070205080204" pitchFamily="34" charset="-128"/>
              </a:rPr>
              <a:t>														Process </a:t>
            </a:r>
            <a:r>
              <a:rPr lang="en-US" dirty="0">
                <a:ea typeface="ＭＳ Ｐゴシック" panose="020B0600070205080204" pitchFamily="34" charset="-128"/>
              </a:rPr>
              <a:t>Control Block (PCB)</a:t>
            </a:r>
            <a:endParaRPr lang="en-US" dirty="0" smtClean="0">
              <a:ea typeface="ＭＳ Ｐゴシック" panose="020B0600070205080204" pitchFamily="34" charset="-128"/>
            </a:endParaRPr>
          </a:p>
          <a:p>
            <a:endParaRPr lang="en-US" dirty="0" smtClean="0">
              <a:ea typeface="ＭＳ Ｐゴシック" panose="020B0600070205080204" pitchFamily="34" charset="-128"/>
            </a:endParaRPr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923" y="746975"/>
            <a:ext cx="3076575" cy="494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3183" y="277813"/>
            <a:ext cx="10460530" cy="576262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anose="020B0600070205080204" pitchFamily="34" charset="-128"/>
              </a:rPr>
              <a:t>CPU Switch From Process to Process</a:t>
            </a:r>
          </a:p>
        </p:txBody>
      </p:sp>
      <p:pic>
        <p:nvPicPr>
          <p:cNvPr id="3379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239" y="1244399"/>
            <a:ext cx="6969125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99" y="90152"/>
            <a:ext cx="11947301" cy="759854"/>
          </a:xfrm>
        </p:spPr>
        <p:txBody>
          <a:bodyPr/>
          <a:lstStyle/>
          <a:p>
            <a:pPr eaLnBrk="1" hangingPunct="1"/>
            <a:r>
              <a:rPr lang="en-US" b="1" u="sng" dirty="0" smtClean="0">
                <a:ea typeface="ＭＳ Ｐゴシック" panose="020B0600070205080204" pitchFamily="34" charset="-128"/>
              </a:rPr>
              <a:t>Process Scheduling Queues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4699" y="850006"/>
            <a:ext cx="11797047" cy="6007993"/>
          </a:xfrm>
        </p:spPr>
        <p:txBody>
          <a:bodyPr/>
          <a:lstStyle/>
          <a:p>
            <a:r>
              <a:rPr lang="en-US" b="1" dirty="0" smtClean="0">
                <a:ea typeface="ＭＳ Ｐゴシック" panose="020B0600070205080204" pitchFamily="34" charset="-128"/>
              </a:rPr>
              <a:t>Job queue</a:t>
            </a:r>
            <a:r>
              <a:rPr lang="en-US" dirty="0" smtClean="0">
                <a:ea typeface="ＭＳ Ｐゴシック" panose="020B0600070205080204" pitchFamily="34" charset="-128"/>
              </a:rPr>
              <a:t> – set of all processes in the system</a:t>
            </a:r>
          </a:p>
          <a:p>
            <a:r>
              <a:rPr lang="en-US" b="1" dirty="0" smtClean="0">
                <a:ea typeface="ＭＳ Ｐゴシック" panose="020B0600070205080204" pitchFamily="34" charset="-128"/>
              </a:rPr>
              <a:t>Ready queue </a:t>
            </a:r>
            <a:r>
              <a:rPr lang="en-US" dirty="0" smtClean="0">
                <a:ea typeface="ＭＳ Ｐゴシック" panose="020B0600070205080204" pitchFamily="34" charset="-128"/>
              </a:rPr>
              <a:t>– set of all processes residing</a:t>
            </a:r>
          </a:p>
          <a:p>
            <a:pPr marL="0" indent="0">
              <a:buNone/>
            </a:pPr>
            <a:r>
              <a:rPr lang="en-US" dirty="0" smtClean="0">
                <a:ea typeface="ＭＳ Ｐゴシック" panose="020B0600070205080204" pitchFamily="34" charset="-128"/>
              </a:rPr>
              <a:t> in main memory, ready and waiting to </a:t>
            </a:r>
          </a:p>
          <a:p>
            <a:pPr marL="0" indent="0">
              <a:buNone/>
            </a:pPr>
            <a:r>
              <a:rPr lang="en-US" dirty="0" smtClean="0">
                <a:ea typeface="ＭＳ Ｐゴシック" panose="020B0600070205080204" pitchFamily="34" charset="-128"/>
              </a:rPr>
              <a:t>execute</a:t>
            </a:r>
          </a:p>
          <a:p>
            <a:r>
              <a:rPr lang="en-US" b="1" dirty="0" smtClean="0">
                <a:ea typeface="ＭＳ Ｐゴシック" panose="020B0600070205080204" pitchFamily="34" charset="-128"/>
              </a:rPr>
              <a:t>Device queues </a:t>
            </a:r>
            <a:r>
              <a:rPr lang="en-US" dirty="0" smtClean="0">
                <a:ea typeface="ＭＳ Ｐゴシック" panose="020B0600070205080204" pitchFamily="34" charset="-128"/>
              </a:rPr>
              <a:t>– set of processes waiting </a:t>
            </a:r>
          </a:p>
          <a:p>
            <a:pPr marL="0" indent="0">
              <a:buNone/>
            </a:pPr>
            <a:r>
              <a:rPr lang="en-US" dirty="0" smtClean="0">
                <a:ea typeface="ＭＳ Ｐゴシック" panose="020B0600070205080204" pitchFamily="34" charset="-128"/>
              </a:rPr>
              <a:t>for an I/O device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Processes migrate among the various </a:t>
            </a:r>
          </a:p>
          <a:p>
            <a:pPr marL="0" indent="0">
              <a:buNone/>
            </a:pPr>
            <a:r>
              <a:rPr lang="en-US" dirty="0" smtClean="0">
                <a:ea typeface="ＭＳ Ｐゴシック" panose="020B0600070205080204" pitchFamily="34" charset="-128"/>
              </a:rPr>
              <a:t>Queues</a:t>
            </a:r>
          </a:p>
          <a:p>
            <a:pPr marL="0" indent="0">
              <a:buNone/>
            </a:pPr>
            <a:endParaRPr lang="en-US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dirty="0" smtClean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dirty="0" smtClean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dirty="0" smtClean="0">
                <a:ea typeface="ＭＳ Ｐゴシック" panose="020B0600070205080204" pitchFamily="34" charset="-128"/>
              </a:rPr>
              <a:t>												Ready </a:t>
            </a:r>
            <a:r>
              <a:rPr lang="en-US" dirty="0">
                <a:ea typeface="ＭＳ Ｐゴシック" panose="020B0600070205080204" pitchFamily="34" charset="-128"/>
              </a:rPr>
              <a:t>Queue And Various I/O Device Queues</a:t>
            </a:r>
            <a:endParaRPr lang="en-US" dirty="0" smtClean="0">
              <a:ea typeface="ＭＳ Ｐゴシック" panose="020B0600070205080204" pitchFamily="34" charset="-128"/>
            </a:endParaRP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917" y="969740"/>
            <a:ext cx="5822950" cy="502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99" y="277813"/>
            <a:ext cx="10480451" cy="576262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anose="020B0600070205080204" pitchFamily="34" charset="-128"/>
              </a:rPr>
              <a:t>Representation of Process Scheduling</a:t>
            </a:r>
          </a:p>
        </p:txBody>
      </p:sp>
      <p:pic>
        <p:nvPicPr>
          <p:cNvPr id="3993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613" y="1558926"/>
            <a:ext cx="7192962" cy="422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910" y="47271"/>
            <a:ext cx="11887200" cy="815614"/>
          </a:xfrm>
        </p:spPr>
        <p:txBody>
          <a:bodyPr/>
          <a:lstStyle/>
          <a:p>
            <a:pPr eaLnBrk="1" hangingPunct="1"/>
            <a:r>
              <a:rPr lang="en-US" b="1" u="sng" dirty="0" smtClean="0">
                <a:ea typeface="ＭＳ Ｐゴシック" panose="020B0600070205080204" pitchFamily="34" charset="-128"/>
              </a:rPr>
              <a:t>Schedulers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5910" y="862885"/>
            <a:ext cx="11887200" cy="5396247"/>
          </a:xfrm>
        </p:spPr>
        <p:txBody>
          <a:bodyPr/>
          <a:lstStyle/>
          <a:p>
            <a:r>
              <a:rPr lang="en-US" b="1" dirty="0" smtClean="0">
                <a:ea typeface="ＭＳ Ｐゴシック" panose="020B0600070205080204" pitchFamily="34" charset="-128"/>
              </a:rPr>
              <a:t>Long-term scheduler</a:t>
            </a:r>
            <a:r>
              <a:rPr lang="en-US" dirty="0" smtClean="0">
                <a:ea typeface="ＭＳ Ｐゴシック" panose="020B0600070205080204" pitchFamily="34" charset="-128"/>
              </a:rPr>
              <a:t>  (or job scheduler) – selects which processes should be brought into the ready queue</a:t>
            </a:r>
          </a:p>
          <a:p>
            <a:r>
              <a:rPr lang="en-US" b="1" dirty="0" smtClean="0">
                <a:ea typeface="ＭＳ Ｐゴシック" panose="020B0600070205080204" pitchFamily="34" charset="-128"/>
              </a:rPr>
              <a:t>Short-term scheduler</a:t>
            </a:r>
            <a:r>
              <a:rPr lang="en-US" dirty="0" smtClean="0">
                <a:ea typeface="ＭＳ Ｐゴシック" panose="020B0600070205080204" pitchFamily="34" charset="-128"/>
              </a:rPr>
              <a:t>  (or CPU scheduler) – selects which process should be executed next and allocates CPU</a:t>
            </a:r>
          </a:p>
          <a:p>
            <a:pPr marL="0" indent="0">
              <a:buNone/>
            </a:pPr>
            <a:endParaRPr lang="en-US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dirty="0" smtClean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dirty="0" smtClean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dirty="0" smtClean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dirty="0" smtClean="0">
                <a:ea typeface="ＭＳ Ｐゴシック" panose="020B0600070205080204" pitchFamily="34" charset="-128"/>
              </a:rPr>
              <a:t>						Addition </a:t>
            </a:r>
            <a:r>
              <a:rPr lang="en-US" dirty="0">
                <a:ea typeface="ＭＳ Ｐゴシック" panose="020B0600070205080204" pitchFamily="34" charset="-128"/>
              </a:rPr>
              <a:t>of Medium Term Scheduling</a:t>
            </a:r>
            <a:endParaRPr lang="en-US" dirty="0" smtClean="0">
              <a:ea typeface="ＭＳ Ｐゴシック" panose="020B0600070205080204" pitchFamily="34" charset="-128"/>
            </a:endParaRPr>
          </a:p>
          <a:p>
            <a:endParaRPr lang="en-US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dirty="0" smtClean="0">
              <a:ea typeface="ＭＳ Ｐゴシック" panose="020B0600070205080204" pitchFamily="34" charset="-128"/>
            </a:endParaRPr>
          </a:p>
        </p:txBody>
      </p:sp>
      <p:pic>
        <p:nvPicPr>
          <p:cNvPr id="4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720" y="2469503"/>
            <a:ext cx="732790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31820" y="90152"/>
            <a:ext cx="11681137" cy="1043189"/>
          </a:xfrm>
        </p:spPr>
        <p:txBody>
          <a:bodyPr/>
          <a:lstStyle/>
          <a:p>
            <a:pPr eaLnBrk="1" hangingPunct="1"/>
            <a:r>
              <a:rPr lang="en-US" b="1" u="sng" dirty="0" smtClean="0">
                <a:ea typeface="ＭＳ Ｐゴシック" panose="020B0600070205080204" pitchFamily="34" charset="-128"/>
              </a:rPr>
              <a:t>Schedulers (</a:t>
            </a:r>
            <a:r>
              <a:rPr lang="en-US" b="1" u="sng" dirty="0" err="1" smtClean="0">
                <a:ea typeface="ＭＳ Ｐゴシック" panose="020B0600070205080204" pitchFamily="34" charset="-128"/>
              </a:rPr>
              <a:t>Cont</a:t>
            </a:r>
            <a:r>
              <a:rPr lang="en-US" b="1" u="sng" dirty="0" smtClean="0"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1819" y="850007"/>
            <a:ext cx="11681137" cy="5808370"/>
          </a:xfrm>
        </p:spPr>
        <p:txBody>
          <a:bodyPr/>
          <a:lstStyle/>
          <a:p>
            <a:r>
              <a:rPr lang="en-US" dirty="0" smtClean="0">
                <a:ea typeface="ＭＳ Ｐゴシック" panose="020B0600070205080204" pitchFamily="34" charset="-128"/>
              </a:rPr>
              <a:t>Short-term scheduler is invoked very frequently (milliseconds) </a:t>
            </a:r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 (must be fast)</a:t>
            </a:r>
          </a:p>
          <a:p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Long-term scheduler is invoked very infrequently (seconds, minutes)  (may be slow)</a:t>
            </a:r>
          </a:p>
          <a:p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The long-term scheduler controls the </a:t>
            </a:r>
            <a:r>
              <a:rPr lang="en-US" i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degree of multiprogramming</a:t>
            </a:r>
          </a:p>
          <a:p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Processes can be described as either:</a:t>
            </a:r>
          </a:p>
          <a:p>
            <a:pPr lvl="1"/>
            <a:r>
              <a:rPr lang="en-US" b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I/O-bound process</a:t>
            </a:r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– spends more time doing I/O than computations, many short CPU bursts</a:t>
            </a:r>
          </a:p>
          <a:p>
            <a:pPr lvl="1"/>
            <a:r>
              <a:rPr lang="en-US" b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CPU-bound process</a:t>
            </a:r>
            <a:r>
              <a:rPr lang="en-US" dirty="0" smtClean="0">
                <a:solidFill>
                  <a:srgbClr val="0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– spends more time doing computations; few very long CPU bursts</a:t>
            </a:r>
          </a:p>
          <a:p>
            <a:pPr marL="457200" lvl="1" indent="0">
              <a:buNone/>
            </a:pPr>
            <a:r>
              <a:rPr lang="en-US" sz="4000" b="1" u="sng" dirty="0" smtClean="0">
                <a:ea typeface="ＭＳ Ｐゴシック" panose="020B0600070205080204" pitchFamily="34" charset="-128"/>
              </a:rPr>
              <a:t>Context Switch</a:t>
            </a:r>
          </a:p>
          <a:p>
            <a:r>
              <a:rPr lang="en-US" dirty="0">
                <a:ea typeface="ＭＳ Ｐゴシック" panose="020B0600070205080204" pitchFamily="34" charset="-128"/>
              </a:rPr>
              <a:t>When CPU switches to another process, the system must save the state of the old process and load the saved state for the new process via a </a:t>
            </a:r>
            <a:r>
              <a:rPr lang="en-US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context switch</a:t>
            </a:r>
          </a:p>
          <a:p>
            <a:r>
              <a:rPr lang="en-US" dirty="0">
                <a:solidFill>
                  <a:srgbClr val="3366FF"/>
                </a:solidFill>
                <a:ea typeface="ＭＳ Ｐゴシック" panose="020B0600070205080204" pitchFamily="34" charset="-128"/>
              </a:rPr>
              <a:t>Context </a:t>
            </a:r>
            <a:r>
              <a:rPr lang="en-US" dirty="0">
                <a:ea typeface="ＭＳ Ｐゴシック" panose="020B0600070205080204" pitchFamily="34" charset="-128"/>
              </a:rPr>
              <a:t>of a process represented in the PCB</a:t>
            </a:r>
          </a:p>
          <a:p>
            <a:r>
              <a:rPr lang="en-US" dirty="0">
                <a:ea typeface="ＭＳ Ｐゴシック" panose="020B0600070205080204" pitchFamily="34" charset="-128"/>
              </a:rPr>
              <a:t>Context-switch time is overhead; the system does no useful work while switching</a:t>
            </a:r>
          </a:p>
          <a:p>
            <a:r>
              <a:rPr lang="en-US" dirty="0">
                <a:ea typeface="ＭＳ Ｐゴシック" panose="020B0600070205080204" pitchFamily="34" charset="-128"/>
              </a:rPr>
              <a:t>Time dependent on hardware support</a:t>
            </a:r>
          </a:p>
          <a:p>
            <a:pPr marL="457200" lvl="1" indent="0">
              <a:buNone/>
            </a:pPr>
            <a:endParaRPr lang="en-US" sz="2000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54546" y="0"/>
            <a:ext cx="11642501" cy="759854"/>
          </a:xfrm>
        </p:spPr>
        <p:txBody>
          <a:bodyPr/>
          <a:lstStyle/>
          <a:p>
            <a:pPr eaLnBrk="1" hangingPunct="1"/>
            <a:r>
              <a:rPr lang="en-US" b="1" u="sng" dirty="0" smtClean="0">
                <a:ea typeface="ＭＳ Ｐゴシック" panose="020B0600070205080204" pitchFamily="34" charset="-128"/>
              </a:rPr>
              <a:t>Process Creation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546" y="759854"/>
            <a:ext cx="11835685" cy="6098146"/>
          </a:xfrm>
        </p:spPr>
        <p:txBody>
          <a:bodyPr>
            <a:normAutofit lnSpcReduction="10000"/>
          </a:bodyPr>
          <a:lstStyle/>
          <a:p>
            <a:r>
              <a:rPr lang="en-US" b="1" dirty="0" smtClean="0">
                <a:ea typeface="ＭＳ Ｐゴシック" panose="020B0600070205080204" pitchFamily="34" charset="-128"/>
              </a:rPr>
              <a:t>Parent </a:t>
            </a:r>
            <a:r>
              <a:rPr lang="en-US" dirty="0" smtClean="0">
                <a:ea typeface="ＭＳ Ｐゴシック" panose="020B0600070205080204" pitchFamily="34" charset="-128"/>
              </a:rPr>
              <a:t>process create </a:t>
            </a:r>
            <a:r>
              <a:rPr lang="en-US" b="1" dirty="0" smtClean="0">
                <a:ea typeface="ＭＳ Ｐゴシック" panose="020B0600070205080204" pitchFamily="34" charset="-128"/>
              </a:rPr>
              <a:t>children </a:t>
            </a:r>
            <a:r>
              <a:rPr lang="en-US" dirty="0" smtClean="0">
                <a:ea typeface="ＭＳ Ｐゴシック" panose="020B0600070205080204" pitchFamily="34" charset="-128"/>
              </a:rPr>
              <a:t>processes, which, in turn create other processes, forming a tree of processes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Generally, process identified and managed via </a:t>
            </a:r>
            <a:r>
              <a:rPr lang="en-US" b="1" dirty="0" smtClean="0">
                <a:ea typeface="ＭＳ Ｐゴシック" panose="020B0600070205080204" pitchFamily="34" charset="-128"/>
              </a:rPr>
              <a:t>a process identifier </a:t>
            </a:r>
            <a:r>
              <a:rPr lang="en-US" dirty="0" smtClean="0">
                <a:ea typeface="ＭＳ Ｐゴシック" panose="020B0600070205080204" pitchFamily="34" charset="-128"/>
              </a:rPr>
              <a:t>(</a:t>
            </a:r>
            <a:r>
              <a:rPr lang="en-US" b="1" dirty="0" err="1" smtClean="0">
                <a:ea typeface="ＭＳ Ｐゴシック" panose="020B0600070205080204" pitchFamily="34" charset="-128"/>
              </a:rPr>
              <a:t>pid</a:t>
            </a:r>
            <a:r>
              <a:rPr lang="en-US" dirty="0" smtClean="0">
                <a:ea typeface="ＭＳ Ｐゴシック" panose="020B0600070205080204" pitchFamily="34" charset="-128"/>
              </a:rPr>
              <a:t>)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Resource sharing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Parent and children share all resources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Children share subset of parent’s resources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Parent and child share no resources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Execution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Parent and children execute concurrently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Parent waits until children terminate</a:t>
            </a:r>
          </a:p>
          <a:p>
            <a:r>
              <a:rPr lang="en-US" dirty="0">
                <a:ea typeface="ＭＳ Ｐゴシック" panose="020B0600070205080204" pitchFamily="34" charset="-128"/>
              </a:rPr>
              <a:t>Address space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Child duplicate of parent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Child has a program loaded into it</a:t>
            </a:r>
          </a:p>
          <a:p>
            <a:r>
              <a:rPr lang="en-US" dirty="0">
                <a:ea typeface="ＭＳ Ｐゴシック" panose="020B0600070205080204" pitchFamily="34" charset="-128"/>
              </a:rPr>
              <a:t>UNIX examples</a:t>
            </a:r>
          </a:p>
          <a:p>
            <a:pPr lvl="1"/>
            <a:r>
              <a:rPr lang="en-US" b="1" dirty="0">
                <a:ea typeface="ＭＳ Ｐゴシック" panose="020B0600070205080204" pitchFamily="34" charset="-128"/>
              </a:rPr>
              <a:t>fork</a:t>
            </a:r>
            <a:r>
              <a:rPr lang="en-US" dirty="0">
                <a:ea typeface="ＭＳ Ｐゴシック" panose="020B0600070205080204" pitchFamily="34" charset="-128"/>
              </a:rPr>
              <a:t> system call creates new process</a:t>
            </a:r>
          </a:p>
          <a:p>
            <a:pPr lvl="1"/>
            <a:r>
              <a:rPr lang="en-US" b="1" dirty="0">
                <a:ea typeface="ＭＳ Ｐゴシック" panose="020B0600070205080204" pitchFamily="34" charset="-128"/>
              </a:rPr>
              <a:t>exec</a:t>
            </a:r>
            <a:r>
              <a:rPr lang="en-US" dirty="0">
                <a:ea typeface="ＭＳ Ｐゴシック" panose="020B0600070205080204" pitchFamily="34" charset="-128"/>
              </a:rPr>
              <a:t> system call used after a </a:t>
            </a:r>
            <a:r>
              <a:rPr lang="en-US" b="1" dirty="0">
                <a:ea typeface="ＭＳ Ｐゴシック" panose="020B0600070205080204" pitchFamily="34" charset="-128"/>
              </a:rPr>
              <a:t>fork</a:t>
            </a:r>
            <a:r>
              <a:rPr lang="en-US" dirty="0">
                <a:ea typeface="ＭＳ Ｐゴシック" panose="020B0600070205080204" pitchFamily="34" charset="-128"/>
              </a:rPr>
              <a:t> to replace the process’ memory space with a new program</a:t>
            </a:r>
          </a:p>
          <a:p>
            <a:pPr marL="457200" lvl="1" indent="0">
              <a:buNone/>
            </a:pPr>
            <a:endParaRPr lang="en-US" dirty="0" smtClean="0">
              <a:ea typeface="ＭＳ Ｐゴシック" panose="020B0600070205080204" pitchFamily="34" charset="-128"/>
            </a:endParaRPr>
          </a:p>
          <a:p>
            <a:pPr>
              <a:buFont typeface="Monotype Sorts" charset="2"/>
              <a:buNone/>
            </a:pPr>
            <a:endParaRPr lang="en-US" dirty="0" smtClean="0">
              <a:ea typeface="ＭＳ Ｐゴシック" panose="020B0600070205080204" pitchFamily="34" charset="-128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220" y="2959904"/>
            <a:ext cx="6473780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34851" y="277813"/>
            <a:ext cx="10461737" cy="576262"/>
          </a:xfrm>
        </p:spPr>
        <p:txBody>
          <a:bodyPr/>
          <a:lstStyle/>
          <a:p>
            <a:pPr eaLnBrk="1" hangingPunct="1"/>
            <a:r>
              <a:rPr lang="en-US" b="1" u="sng" dirty="0" smtClean="0">
                <a:ea typeface="ＭＳ Ｐゴシック" panose="020B0600070205080204" pitchFamily="34" charset="-128"/>
              </a:rPr>
              <a:t>A tree of processes on a typical Solaris</a:t>
            </a:r>
          </a:p>
        </p:txBody>
      </p:sp>
      <p:pic>
        <p:nvPicPr>
          <p:cNvPr id="5837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450" y="1343025"/>
            <a:ext cx="5437188" cy="479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80304" y="277813"/>
            <a:ext cx="10459121" cy="576262"/>
          </a:xfrm>
        </p:spPr>
        <p:txBody>
          <a:bodyPr/>
          <a:lstStyle/>
          <a:p>
            <a:pPr eaLnBrk="1" hangingPunct="1"/>
            <a:r>
              <a:rPr lang="en-US" b="1" dirty="0" smtClean="0">
                <a:ea typeface="ＭＳ Ｐゴシック" panose="020B0600070205080204" pitchFamily="34" charset="-128"/>
              </a:rPr>
              <a:t>C Program Forking Separate Process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06085" y="1282701"/>
            <a:ext cx="5582365" cy="506412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 err="1">
                <a:latin typeface="Monaco" charset="0"/>
                <a:ea typeface="ＭＳ Ｐゴシック" panose="020B0600070205080204" pitchFamily="34" charset="-128"/>
              </a:rPr>
              <a:t>int</a:t>
            </a: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 main()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{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 err="1">
                <a:latin typeface="Monaco" charset="0"/>
                <a:ea typeface="ＭＳ Ｐゴシック" panose="020B0600070205080204" pitchFamily="34" charset="-128"/>
              </a:rPr>
              <a:t>pid_t</a:t>
            </a: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  </a:t>
            </a:r>
            <a:r>
              <a:rPr lang="en-US" sz="1400" dirty="0" err="1">
                <a:latin typeface="Monaco" charset="0"/>
                <a:ea typeface="ＭＳ Ｐゴシック" panose="020B0600070205080204" pitchFamily="34" charset="-128"/>
              </a:rPr>
              <a:t>pid</a:t>
            </a: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	/* fork another process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	</a:t>
            </a:r>
            <a:r>
              <a:rPr lang="en-US" sz="1400" dirty="0" err="1">
                <a:latin typeface="Monaco" charset="0"/>
                <a:ea typeface="ＭＳ Ｐゴシック" panose="020B0600070205080204" pitchFamily="34" charset="-128"/>
              </a:rPr>
              <a:t>pid</a:t>
            </a: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 = fork();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	if (</a:t>
            </a:r>
            <a:r>
              <a:rPr lang="en-US" sz="1400" dirty="0" err="1">
                <a:latin typeface="Monaco" charset="0"/>
                <a:ea typeface="ＭＳ Ｐゴシック" panose="020B0600070205080204" pitchFamily="34" charset="-128"/>
              </a:rPr>
              <a:t>pid</a:t>
            </a: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 &lt; 0) { /* error occurred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		</a:t>
            </a:r>
            <a:r>
              <a:rPr lang="en-US" sz="1400" dirty="0" err="1">
                <a:latin typeface="Monaco" charset="0"/>
                <a:ea typeface="ＭＳ Ｐゴシック" panose="020B0600070205080204" pitchFamily="34" charset="-128"/>
              </a:rPr>
              <a:t>fprintf</a:t>
            </a: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(</a:t>
            </a:r>
            <a:r>
              <a:rPr lang="en-US" sz="1400" dirty="0" err="1">
                <a:latin typeface="Monaco" charset="0"/>
                <a:ea typeface="ＭＳ Ｐゴシック" panose="020B0600070205080204" pitchFamily="34" charset="-128"/>
              </a:rPr>
              <a:t>stderr</a:t>
            </a: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, "Fork Failed");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		exit(-1);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	}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	else if (</a:t>
            </a:r>
            <a:r>
              <a:rPr lang="en-US" sz="1400" dirty="0" err="1">
                <a:latin typeface="Monaco" charset="0"/>
                <a:ea typeface="ＭＳ Ｐゴシック" panose="020B0600070205080204" pitchFamily="34" charset="-128"/>
              </a:rPr>
              <a:t>pid</a:t>
            </a: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 == 0) { /* child process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		</a:t>
            </a:r>
            <a:r>
              <a:rPr lang="en-US" sz="1400" dirty="0" err="1">
                <a:latin typeface="Monaco" charset="0"/>
                <a:ea typeface="ＭＳ Ｐゴシック" panose="020B0600070205080204" pitchFamily="34" charset="-128"/>
              </a:rPr>
              <a:t>execlp</a:t>
            </a: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("/bin/</a:t>
            </a:r>
            <a:r>
              <a:rPr lang="en-US" sz="1400" dirty="0" err="1">
                <a:latin typeface="Monaco" charset="0"/>
                <a:ea typeface="ＭＳ Ｐゴシック" panose="020B0600070205080204" pitchFamily="34" charset="-128"/>
              </a:rPr>
              <a:t>ls</a:t>
            </a: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", "</a:t>
            </a:r>
            <a:r>
              <a:rPr lang="en-US" sz="1400" dirty="0" err="1">
                <a:latin typeface="Monaco" charset="0"/>
                <a:ea typeface="ＭＳ Ｐゴシック" panose="020B0600070205080204" pitchFamily="34" charset="-128"/>
              </a:rPr>
              <a:t>ls</a:t>
            </a: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", NULL);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	}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	else { /* parent process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		/* parent will wait for the child to complete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		wait (NULL);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		</a:t>
            </a:r>
            <a:r>
              <a:rPr lang="en-US" sz="1400" dirty="0" err="1">
                <a:latin typeface="Monaco" charset="0"/>
                <a:ea typeface="ＭＳ Ｐゴシック" panose="020B0600070205080204" pitchFamily="34" charset="-128"/>
              </a:rPr>
              <a:t>printf</a:t>
            </a: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 ("Child Complete");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		exit(0);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	}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  <a:ea typeface="ＭＳ Ｐゴシック" panose="020B0600070205080204" pitchFamily="34" charset="-128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4989"/>
            <a:ext cx="9767499" cy="951079"/>
          </a:xfrm>
        </p:spPr>
        <p:txBody>
          <a:bodyPr/>
          <a:lstStyle/>
          <a:p>
            <a:pPr eaLnBrk="1" hangingPunct="1"/>
            <a:r>
              <a:rPr lang="en-US" b="1" u="sng" dirty="0" smtClean="0">
                <a:ea typeface="ＭＳ Ｐゴシック" panose="020B0600070205080204" pitchFamily="34" charset="-128"/>
              </a:rPr>
              <a:t>Process Termination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546" y="1056069"/>
            <a:ext cx="11590986" cy="5151548"/>
          </a:xfrm>
        </p:spPr>
        <p:txBody>
          <a:bodyPr/>
          <a:lstStyle/>
          <a:p>
            <a:r>
              <a:rPr lang="en-US" dirty="0" smtClean="0">
                <a:ea typeface="ＭＳ Ｐゴシック" panose="020B0600070205080204" pitchFamily="34" charset="-128"/>
              </a:rPr>
              <a:t>Process executes last statement and asks the operating system to delete it (</a:t>
            </a:r>
            <a:r>
              <a:rPr lang="en-US" b="1" dirty="0" smtClean="0">
                <a:ea typeface="ＭＳ Ｐゴシック" panose="020B0600070205080204" pitchFamily="34" charset="-128"/>
              </a:rPr>
              <a:t>exit</a:t>
            </a:r>
            <a:r>
              <a:rPr lang="en-US" dirty="0" smtClean="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Output data from child to parent (via </a:t>
            </a:r>
            <a:r>
              <a:rPr lang="en-US" b="1" dirty="0" smtClean="0">
                <a:ea typeface="ＭＳ Ｐゴシック" panose="020B0600070205080204" pitchFamily="34" charset="-128"/>
              </a:rPr>
              <a:t>wait</a:t>
            </a:r>
            <a:r>
              <a:rPr lang="en-US" dirty="0" smtClean="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Process’ resources are </a:t>
            </a:r>
            <a:r>
              <a:rPr lang="en-US" dirty="0" err="1" smtClean="0">
                <a:ea typeface="ＭＳ Ｐゴシック" panose="020B0600070205080204" pitchFamily="34" charset="-128"/>
              </a:rPr>
              <a:t>deallocated</a:t>
            </a:r>
            <a:r>
              <a:rPr lang="en-US" dirty="0" smtClean="0">
                <a:ea typeface="ＭＳ Ｐゴシック" panose="020B0600070205080204" pitchFamily="34" charset="-128"/>
              </a:rPr>
              <a:t> by operating system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Parent may terminate execution of children processes (</a:t>
            </a:r>
            <a:r>
              <a:rPr lang="en-US" b="1" dirty="0" smtClean="0">
                <a:ea typeface="ＭＳ Ｐゴシック" panose="020B0600070205080204" pitchFamily="34" charset="-128"/>
              </a:rPr>
              <a:t>abort</a:t>
            </a:r>
            <a:r>
              <a:rPr lang="en-US" dirty="0" smtClean="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Child has exceeded allocated resources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Task assigned to child is no longer required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If parent is exiting</a:t>
            </a:r>
          </a:p>
          <a:p>
            <a:pPr lvl="2"/>
            <a:r>
              <a:rPr lang="en-US" dirty="0" smtClean="0">
                <a:ea typeface="ＭＳ Ｐゴシック" panose="020B0600070205080204" pitchFamily="34" charset="-128"/>
              </a:rPr>
              <a:t>Some operating system do not allow child to continue if its parent terminates</a:t>
            </a:r>
          </a:p>
          <a:p>
            <a:pPr lvl="3"/>
            <a:r>
              <a:rPr lang="en-US" dirty="0" smtClean="0">
                <a:ea typeface="ＭＳ Ｐゴシック" panose="020B0600070205080204" pitchFamily="34" charset="-128"/>
              </a:rPr>
              <a:t>All children terminated - </a:t>
            </a:r>
            <a:r>
              <a:rPr lang="en-US" b="1" dirty="0" smtClean="0">
                <a:ea typeface="ＭＳ Ｐゴシック" panose="020B0600070205080204" pitchFamily="34" charset="-128"/>
              </a:rPr>
              <a:t>cascading termination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103031" y="103032"/>
            <a:ext cx="11822806" cy="914400"/>
          </a:xfrm>
        </p:spPr>
        <p:txBody>
          <a:bodyPr/>
          <a:lstStyle/>
          <a:p>
            <a:r>
              <a:rPr lang="en-US" b="1" u="sng" dirty="0" err="1" smtClean="0">
                <a:ea typeface="ＭＳ Ｐゴシック" panose="020B0600070205080204" pitchFamily="34" charset="-128"/>
              </a:rPr>
              <a:t>Interprocess</a:t>
            </a:r>
            <a:r>
              <a:rPr lang="en-US" b="1" u="sng" dirty="0" smtClean="0">
                <a:ea typeface="ＭＳ Ｐゴシック" panose="020B0600070205080204" pitchFamily="34" charset="-128"/>
              </a:rPr>
              <a:t> Communication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>
          <a:xfrm>
            <a:off x="103031" y="811369"/>
            <a:ext cx="12088969" cy="5859887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anose="020B0600070205080204" pitchFamily="34" charset="-128"/>
              </a:rPr>
              <a:t>Processes within a system may be </a:t>
            </a:r>
            <a:r>
              <a:rPr lang="en-US" b="1" dirty="0" smtClean="0">
                <a:ea typeface="ＭＳ Ｐゴシック" panose="020B0600070205080204" pitchFamily="34" charset="-128"/>
              </a:rPr>
              <a:t>independent </a:t>
            </a:r>
            <a:r>
              <a:rPr lang="en-US" dirty="0" smtClean="0">
                <a:ea typeface="ＭＳ Ｐゴシック" panose="020B0600070205080204" pitchFamily="34" charset="-128"/>
              </a:rPr>
              <a:t>or </a:t>
            </a:r>
            <a:r>
              <a:rPr lang="en-US" b="1" dirty="0" smtClean="0">
                <a:ea typeface="ＭＳ Ｐゴシック" panose="020B0600070205080204" pitchFamily="34" charset="-128"/>
              </a:rPr>
              <a:t>cooperating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Cooperating process can affect or be affected by other processes, including sharing data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Reasons for cooperating processes: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Information sharing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Computation speedup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Modularity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Convenience	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Cooperating processes </a:t>
            </a:r>
          </a:p>
          <a:p>
            <a:pPr marL="0" indent="0">
              <a:buNone/>
            </a:pPr>
            <a:r>
              <a:rPr lang="en-US" dirty="0" smtClean="0">
                <a:ea typeface="ＭＳ Ｐゴシック" panose="020B0600070205080204" pitchFamily="34" charset="-128"/>
              </a:rPr>
              <a:t>need </a:t>
            </a:r>
            <a:r>
              <a:rPr lang="en-US" b="1" dirty="0" err="1" smtClean="0">
                <a:ea typeface="ＭＳ Ｐゴシック" panose="020B0600070205080204" pitchFamily="34" charset="-128"/>
              </a:rPr>
              <a:t>interprocess</a:t>
            </a:r>
            <a:r>
              <a:rPr lang="en-US" b="1" dirty="0" smtClean="0">
                <a:ea typeface="ＭＳ Ｐゴシック" panose="020B0600070205080204" pitchFamily="34" charset="-128"/>
              </a:rPr>
              <a:t> communication </a:t>
            </a:r>
            <a:r>
              <a:rPr lang="en-US" dirty="0" smtClean="0">
                <a:ea typeface="ＭＳ Ｐゴシック" panose="020B0600070205080204" pitchFamily="34" charset="-128"/>
              </a:rPr>
              <a:t>(</a:t>
            </a:r>
            <a:r>
              <a:rPr lang="en-US" b="1" dirty="0" smtClean="0">
                <a:ea typeface="ＭＳ Ｐゴシック" panose="020B0600070205080204" pitchFamily="34" charset="-128"/>
              </a:rPr>
              <a:t>IPC</a:t>
            </a:r>
            <a:r>
              <a:rPr lang="en-US" dirty="0" smtClean="0">
                <a:ea typeface="ＭＳ Ｐゴシック" panose="020B0600070205080204" pitchFamily="34" charset="-128"/>
              </a:rPr>
              <a:t>)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Two models of IPC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Shared memory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Message passing</a:t>
            </a:r>
          </a:p>
          <a:p>
            <a:pPr marL="457200" lvl="1" indent="0">
              <a:buNone/>
            </a:pPr>
            <a:endParaRPr lang="en-US" dirty="0" smtClean="0">
              <a:ea typeface="ＭＳ Ｐゴシック" panose="020B0600070205080204" pitchFamily="34" charset="-128"/>
            </a:endParaRPr>
          </a:p>
          <a:p>
            <a:pPr marL="457200" lvl="1" indent="0">
              <a:buNone/>
            </a:pPr>
            <a:r>
              <a:rPr lang="en-US" dirty="0" smtClean="0">
                <a:ea typeface="ＭＳ Ｐゴシック" panose="020B0600070205080204" pitchFamily="34" charset="-128"/>
              </a:rPr>
              <a:t>														Communications </a:t>
            </a:r>
            <a:r>
              <a:rPr lang="en-US" dirty="0">
                <a:ea typeface="ＭＳ Ｐゴシック" panose="020B0600070205080204" pitchFamily="34" charset="-128"/>
              </a:rPr>
              <a:t>Models </a:t>
            </a:r>
            <a:endParaRPr lang="en-US" dirty="0" smtClean="0">
              <a:ea typeface="ＭＳ Ｐゴシック" panose="020B0600070205080204" pitchFamily="34" charset="-128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707" y="1725769"/>
            <a:ext cx="5581806" cy="428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80305" y="0"/>
            <a:ext cx="9870530" cy="746975"/>
          </a:xfrm>
        </p:spPr>
        <p:txBody>
          <a:bodyPr/>
          <a:lstStyle/>
          <a:p>
            <a:pPr eaLnBrk="1" hangingPunct="1"/>
            <a:r>
              <a:rPr lang="en-US" b="1" u="sng" dirty="0" smtClean="0">
                <a:ea typeface="ＭＳ Ｐゴシック" panose="020B0600070205080204" pitchFamily="34" charset="-128"/>
              </a:rPr>
              <a:t>Cooperating Processes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306" y="746976"/>
            <a:ext cx="11822804" cy="5501424"/>
          </a:xfrm>
        </p:spPr>
        <p:txBody>
          <a:bodyPr/>
          <a:lstStyle/>
          <a:p>
            <a:r>
              <a:rPr lang="en-US" b="1" dirty="0" smtClean="0">
                <a:ea typeface="ＭＳ Ｐゴシック" panose="020B0600070205080204" pitchFamily="34" charset="-128"/>
              </a:rPr>
              <a:t>Independent</a:t>
            </a:r>
            <a:r>
              <a:rPr lang="en-US" dirty="0" smtClean="0">
                <a:ea typeface="ＭＳ Ｐゴシック" panose="020B0600070205080204" pitchFamily="34" charset="-128"/>
              </a:rPr>
              <a:t> process cannot affect or be affected by the execution of another process</a:t>
            </a:r>
          </a:p>
          <a:p>
            <a:r>
              <a:rPr lang="en-US" b="1" dirty="0" smtClean="0">
                <a:ea typeface="ＭＳ Ｐゴシック" panose="020B0600070205080204" pitchFamily="34" charset="-128"/>
              </a:rPr>
              <a:t>Cooperating</a:t>
            </a:r>
            <a:r>
              <a:rPr lang="en-US" dirty="0" smtClean="0">
                <a:ea typeface="ＭＳ Ｐゴシック" panose="020B0600070205080204" pitchFamily="34" charset="-128"/>
              </a:rPr>
              <a:t> process can affect or be affected by the execution of another process</a:t>
            </a:r>
          </a:p>
          <a:p>
            <a:r>
              <a:rPr lang="en-US" dirty="0" smtClean="0">
                <a:ea typeface="ＭＳ Ｐゴシック" panose="020B0600070205080204" pitchFamily="34" charset="-128"/>
              </a:rPr>
              <a:t>Advantages of process cooperation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Information sharing 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Computation speed-up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Modularity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Convenience</a:t>
            </a:r>
          </a:p>
          <a:p>
            <a:pPr marL="457200" lvl="1" indent="0">
              <a:buNone/>
            </a:pPr>
            <a:endParaRPr lang="en-US" dirty="0" smtClean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0"/>
            <a:ext cx="10050834" cy="1081825"/>
          </a:xfrm>
        </p:spPr>
        <p:txBody>
          <a:bodyPr/>
          <a:lstStyle/>
          <a:p>
            <a:pPr eaLnBrk="1" hangingPunct="1"/>
            <a:r>
              <a:rPr lang="en-US" b="1" u="sng" dirty="0" smtClean="0">
                <a:ea typeface="ＭＳ Ｐゴシック" panose="020B0600070205080204" pitchFamily="34" charset="-128"/>
              </a:rPr>
              <a:t>Producer-Consumer Problem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" y="708339"/>
            <a:ext cx="11912957" cy="5200338"/>
          </a:xfrm>
        </p:spPr>
        <p:txBody>
          <a:bodyPr/>
          <a:lstStyle/>
          <a:p>
            <a:r>
              <a:rPr lang="en-US" dirty="0" smtClean="0">
                <a:ea typeface="ＭＳ Ｐゴシック" panose="020B0600070205080204" pitchFamily="34" charset="-128"/>
              </a:rPr>
              <a:t>Paradigm for cooperating processes, </a:t>
            </a:r>
            <a:r>
              <a:rPr lang="en-US" i="1" dirty="0" smtClean="0">
                <a:ea typeface="ＭＳ Ｐゴシック" panose="020B0600070205080204" pitchFamily="34" charset="-128"/>
              </a:rPr>
              <a:t>producer</a:t>
            </a:r>
            <a:r>
              <a:rPr lang="en-US" dirty="0" smtClean="0">
                <a:ea typeface="ＭＳ Ｐゴシック" panose="020B0600070205080204" pitchFamily="34" charset="-128"/>
              </a:rPr>
              <a:t> process produces information that is consumed by a </a:t>
            </a:r>
            <a:r>
              <a:rPr lang="en-US" i="1" dirty="0" smtClean="0">
                <a:ea typeface="ＭＳ Ｐゴシック" panose="020B0600070205080204" pitchFamily="34" charset="-128"/>
              </a:rPr>
              <a:t>consumer</a:t>
            </a:r>
            <a:r>
              <a:rPr lang="en-US" dirty="0" smtClean="0">
                <a:ea typeface="ＭＳ Ｐゴシック" panose="020B0600070205080204" pitchFamily="34" charset="-128"/>
              </a:rPr>
              <a:t> process</a:t>
            </a:r>
          </a:p>
          <a:p>
            <a:pPr lvl="1"/>
            <a:r>
              <a:rPr lang="en-US" i="1" dirty="0" smtClean="0">
                <a:ea typeface="ＭＳ Ｐゴシック" panose="020B0600070205080204" pitchFamily="34" charset="-128"/>
              </a:rPr>
              <a:t>unbounded-buffer</a:t>
            </a:r>
            <a:r>
              <a:rPr lang="en-US" dirty="0" smtClean="0">
                <a:ea typeface="ＭＳ Ｐゴシック" panose="020B0600070205080204" pitchFamily="34" charset="-128"/>
              </a:rPr>
              <a:t> places no practical limit on the size of the buffer</a:t>
            </a:r>
          </a:p>
          <a:p>
            <a:pPr lvl="1"/>
            <a:r>
              <a:rPr lang="en-US" i="1" dirty="0" smtClean="0">
                <a:ea typeface="ＭＳ Ｐゴシック" panose="020B0600070205080204" pitchFamily="34" charset="-128"/>
              </a:rPr>
              <a:t>bounded-buffer</a:t>
            </a:r>
            <a:r>
              <a:rPr lang="en-US" dirty="0" smtClean="0">
                <a:ea typeface="ＭＳ Ｐゴシック" panose="020B0600070205080204" pitchFamily="34" charset="-128"/>
              </a:rPr>
              <a:t> assumes that there is a fixed buffer size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3976" y="411163"/>
            <a:ext cx="8074025" cy="457200"/>
          </a:xfrm>
        </p:spPr>
        <p:txBody>
          <a:bodyPr/>
          <a:lstStyle/>
          <a:p>
            <a:pPr eaLnBrk="1" hangingPunct="1"/>
            <a:r>
              <a:rPr lang="en-US" sz="2800">
                <a:ea typeface="ＭＳ Ｐゴシック" panose="020B0600070205080204" pitchFamily="34" charset="-128"/>
              </a:rPr>
              <a:t>Bounded-Buffer – Shared-Memory Solution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19388" y="1517650"/>
            <a:ext cx="7131050" cy="4419600"/>
          </a:xfrm>
        </p:spPr>
        <p:txBody>
          <a:bodyPr>
            <a:normAutofit lnSpcReduction="10000"/>
          </a:bodyPr>
          <a:lstStyle/>
          <a:p>
            <a:r>
              <a:rPr lang="en-US" smtClean="0">
                <a:ea typeface="ＭＳ Ｐゴシック" panose="020B0600070205080204" pitchFamily="34" charset="-128"/>
              </a:rPr>
              <a:t>Shared data</a:t>
            </a:r>
          </a:p>
          <a:p>
            <a:pPr lvl="3">
              <a:buNone/>
            </a:pPr>
            <a:r>
              <a:rPr lang="en-US" sz="2000">
                <a:ea typeface="ＭＳ Ｐゴシック" panose="020B0600070205080204" pitchFamily="34" charset="-128"/>
              </a:rPr>
              <a:t>#define BUFFER_SIZE 10</a:t>
            </a:r>
          </a:p>
          <a:p>
            <a:pPr lvl="3">
              <a:buNone/>
            </a:pPr>
            <a:r>
              <a:rPr lang="en-US" sz="2000">
                <a:ea typeface="ＭＳ Ｐゴシック" panose="020B0600070205080204" pitchFamily="34" charset="-128"/>
              </a:rPr>
              <a:t>typedef struct {</a:t>
            </a:r>
          </a:p>
          <a:p>
            <a:pPr lvl="3">
              <a:buNone/>
            </a:pPr>
            <a:r>
              <a:rPr lang="en-US" sz="2000">
                <a:ea typeface="ＭＳ Ｐゴシック" panose="020B0600070205080204" pitchFamily="34" charset="-128"/>
              </a:rPr>
              <a:t>	. . .</a:t>
            </a:r>
          </a:p>
          <a:p>
            <a:pPr lvl="3">
              <a:buNone/>
            </a:pPr>
            <a:r>
              <a:rPr lang="en-US" sz="2000">
                <a:ea typeface="ＭＳ Ｐゴシック" panose="020B0600070205080204" pitchFamily="34" charset="-128"/>
              </a:rPr>
              <a:t>} item;</a:t>
            </a:r>
          </a:p>
          <a:p>
            <a:pPr lvl="3">
              <a:buNone/>
            </a:pPr>
            <a:endParaRPr lang="en-US" sz="2000">
              <a:ea typeface="ＭＳ Ｐゴシック" panose="020B0600070205080204" pitchFamily="34" charset="-128"/>
            </a:endParaRPr>
          </a:p>
          <a:p>
            <a:pPr lvl="3">
              <a:buNone/>
            </a:pPr>
            <a:r>
              <a:rPr lang="en-US" sz="2000">
                <a:ea typeface="ＭＳ Ｐゴシック" panose="020B0600070205080204" pitchFamily="34" charset="-128"/>
              </a:rPr>
              <a:t>item buffer[BUFFER_SIZE];</a:t>
            </a:r>
          </a:p>
          <a:p>
            <a:pPr lvl="3">
              <a:buNone/>
            </a:pPr>
            <a:r>
              <a:rPr lang="en-US" sz="2000">
                <a:ea typeface="ＭＳ Ｐゴシック" panose="020B0600070205080204" pitchFamily="34" charset="-128"/>
              </a:rPr>
              <a:t>int in = 0;</a:t>
            </a:r>
          </a:p>
          <a:p>
            <a:pPr lvl="3">
              <a:buNone/>
            </a:pPr>
            <a:r>
              <a:rPr lang="en-US" sz="2000">
                <a:ea typeface="ＭＳ Ｐゴシック" panose="020B0600070205080204" pitchFamily="34" charset="-128"/>
              </a:rPr>
              <a:t>int out = 0;</a:t>
            </a:r>
          </a:p>
          <a:p>
            <a:r>
              <a:rPr lang="en-US" smtClean="0">
                <a:ea typeface="ＭＳ Ｐゴシック" panose="020B0600070205080204" pitchFamily="34" charset="-128"/>
              </a:rPr>
              <a:t>Solution is correct, but can only use BUFFER_SIZE-1 elements</a:t>
            </a:r>
          </a:p>
          <a:p>
            <a:pPr lvl="3">
              <a:buNone/>
            </a:pPr>
            <a:endParaRPr lang="en-US" sz="2000" b="1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anose="020B0600070205080204" pitchFamily="34" charset="-128"/>
              </a:rPr>
              <a:t>Bounded-Buffer – Producer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66963" y="1428750"/>
            <a:ext cx="7351712" cy="4483100"/>
          </a:xfrm>
        </p:spPr>
        <p:txBody>
          <a:bodyPr>
            <a:normAutofit lnSpcReduction="10000"/>
          </a:bodyPr>
          <a:lstStyle/>
          <a:p>
            <a:pPr>
              <a:buFont typeface="Monotype Sorts" charset="2"/>
              <a:buNone/>
            </a:pPr>
            <a:endParaRPr lang="en-US">
              <a:latin typeface="Monaco" charset="0"/>
              <a:ea typeface="ＭＳ Ｐゴシック" panose="020B0600070205080204" pitchFamily="34" charset="-128"/>
            </a:endParaRPr>
          </a:p>
          <a:p>
            <a:pPr>
              <a:buFont typeface="Monotype Sorts" charset="2"/>
              <a:buNone/>
            </a:pPr>
            <a:r>
              <a:rPr lang="en-US">
                <a:latin typeface="Monaco" charset="0"/>
                <a:ea typeface="ＭＳ Ｐゴシック" panose="020B0600070205080204" pitchFamily="34" charset="-128"/>
              </a:rPr>
              <a:t>	while (true) {</a:t>
            </a:r>
            <a:br>
              <a:rPr lang="en-US">
                <a:latin typeface="Monaco" charset="0"/>
                <a:ea typeface="ＭＳ Ｐゴシック" panose="020B0600070205080204" pitchFamily="34" charset="-128"/>
              </a:rPr>
            </a:br>
            <a:r>
              <a:rPr lang="en-US">
                <a:latin typeface="Monaco" charset="0"/>
                <a:ea typeface="ＭＳ Ｐゴシック" panose="020B0600070205080204" pitchFamily="34" charset="-128"/>
              </a:rPr>
              <a:t>   /* Produce an item */</a:t>
            </a:r>
          </a:p>
          <a:p>
            <a:pPr>
              <a:buFont typeface="Monotype Sorts" charset="2"/>
              <a:buNone/>
            </a:pPr>
            <a:r>
              <a:rPr lang="en-US">
                <a:latin typeface="Monaco" charset="0"/>
                <a:ea typeface="ＭＳ Ｐゴシック" panose="020B0600070205080204" pitchFamily="34" charset="-128"/>
              </a:rPr>
              <a:t>        while (((in = (in + 1) % BUFFER SIZE count)  == out)</a:t>
            </a:r>
          </a:p>
          <a:p>
            <a:pPr>
              <a:buFont typeface="Monotype Sorts" charset="2"/>
              <a:buNone/>
            </a:pPr>
            <a:r>
              <a:rPr lang="en-US">
                <a:latin typeface="Monaco" charset="0"/>
                <a:ea typeface="ＭＳ Ｐゴシック" panose="020B0600070205080204" pitchFamily="34" charset="-128"/>
              </a:rPr>
              <a:t>	     ;   /* do nothing -- no free buffers */</a:t>
            </a:r>
          </a:p>
          <a:p>
            <a:pPr>
              <a:buFont typeface="Monotype Sorts" charset="2"/>
              <a:buNone/>
            </a:pPr>
            <a:r>
              <a:rPr lang="en-US">
                <a:latin typeface="Monaco" charset="0"/>
                <a:ea typeface="ＭＳ Ｐゴシック" panose="020B0600070205080204" pitchFamily="34" charset="-128"/>
              </a:rPr>
              <a:t>	    buffer[in] = item;</a:t>
            </a:r>
          </a:p>
          <a:p>
            <a:pPr>
              <a:buFont typeface="Monotype Sorts" charset="2"/>
              <a:buNone/>
            </a:pPr>
            <a:r>
              <a:rPr lang="en-US">
                <a:latin typeface="Monaco" charset="0"/>
                <a:ea typeface="ＭＳ Ｐゴシック" panose="020B0600070205080204" pitchFamily="34" charset="-128"/>
              </a:rPr>
              <a:t>	    in = (in + 1) % BUFFER SIZE;</a:t>
            </a:r>
          </a:p>
          <a:p>
            <a:pPr>
              <a:buFont typeface="Monotype Sorts" charset="2"/>
              <a:buNone/>
            </a:pPr>
            <a:r>
              <a:rPr lang="en-US">
                <a:latin typeface="Monaco" charset="0"/>
                <a:ea typeface="ＭＳ Ｐゴシック" panose="020B0600070205080204" pitchFamily="34" charset="-128"/>
              </a:rPr>
              <a:t>     }</a:t>
            </a:r>
          </a:p>
          <a:p>
            <a:pPr>
              <a:buFont typeface="Monotype Sorts" charset="2"/>
              <a:buNone/>
            </a:pPr>
            <a:endParaRPr lang="en-US">
              <a:latin typeface="Monaco" charset="0"/>
              <a:ea typeface="ＭＳ Ｐゴシック" panose="020B0600070205080204" pitchFamily="34" charset="-128"/>
            </a:endParaRPr>
          </a:p>
          <a:p>
            <a:pPr>
              <a:buFont typeface="Monotype Sorts" charset="2"/>
              <a:buNone/>
            </a:pPr>
            <a:endParaRPr lang="en-US">
              <a:ea typeface="ＭＳ Ｐゴシック" panose="020B0600070205080204" pitchFamily="34" charset="-128"/>
            </a:endParaRPr>
          </a:p>
          <a:p>
            <a:pPr>
              <a:buFont typeface="Monotype Sorts" charset="2"/>
              <a:buNone/>
            </a:pPr>
            <a:r>
              <a:rPr lang="en-US" sz="1600">
                <a:ea typeface="ＭＳ Ｐゴシック" panose="020B0600070205080204" pitchFamily="34" charset="-128"/>
              </a:rPr>
              <a:t>	</a:t>
            </a:r>
          </a:p>
          <a:p>
            <a:pPr lvl="4">
              <a:buFontTx/>
              <a:buNone/>
            </a:pPr>
            <a:endParaRPr lang="en-US" smtClean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anose="020B0600070205080204" pitchFamily="34" charset="-128"/>
              </a:rPr>
              <a:t>Bounded Buffer – Consumer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33751" y="1500188"/>
            <a:ext cx="6157913" cy="4411662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smtClean="0">
                <a:latin typeface="Monaco" charset="0"/>
                <a:ea typeface="ＭＳ Ｐゴシック" panose="020B0600070205080204" pitchFamily="34" charset="-128"/>
              </a:rPr>
              <a:t>	while (true) {</a:t>
            </a:r>
          </a:p>
          <a:p>
            <a:pPr>
              <a:buFont typeface="Monotype Sorts" charset="2"/>
              <a:buNone/>
            </a:pPr>
            <a:r>
              <a:rPr lang="en-US" smtClean="0">
                <a:latin typeface="Monaco" charset="0"/>
                <a:ea typeface="ＭＳ Ｐゴシック" panose="020B0600070205080204" pitchFamily="34" charset="-128"/>
              </a:rPr>
              <a:t>          while (in == out)</a:t>
            </a:r>
          </a:p>
          <a:p>
            <a:pPr>
              <a:buFont typeface="Monotype Sorts" charset="2"/>
              <a:buNone/>
            </a:pPr>
            <a:r>
              <a:rPr lang="en-US" smtClean="0">
                <a:latin typeface="Monaco" charset="0"/>
                <a:ea typeface="ＭＳ Ｐゴシック" panose="020B0600070205080204" pitchFamily="34" charset="-128"/>
              </a:rPr>
              <a:t>                 ; // do nothing -- nothing to consume</a:t>
            </a:r>
          </a:p>
          <a:p>
            <a:pPr>
              <a:buFont typeface="Monotype Sorts" charset="2"/>
              <a:buNone/>
            </a:pPr>
            <a:endParaRPr lang="en-US" smtClean="0">
              <a:latin typeface="Monaco" charset="0"/>
              <a:ea typeface="ＭＳ Ｐゴシック" panose="020B0600070205080204" pitchFamily="34" charset="-128"/>
            </a:endParaRPr>
          </a:p>
          <a:p>
            <a:pPr>
              <a:buFont typeface="Monotype Sorts" charset="2"/>
              <a:buNone/>
            </a:pPr>
            <a:r>
              <a:rPr lang="en-US" smtClean="0">
                <a:latin typeface="Monaco" charset="0"/>
                <a:ea typeface="ＭＳ Ｐゴシック" panose="020B0600070205080204" pitchFamily="34" charset="-128"/>
              </a:rPr>
              <a:t>	     // remove an item from the buffer</a:t>
            </a:r>
          </a:p>
          <a:p>
            <a:pPr>
              <a:buFont typeface="Monotype Sorts" charset="2"/>
              <a:buNone/>
            </a:pPr>
            <a:r>
              <a:rPr lang="en-US" smtClean="0">
                <a:latin typeface="Monaco" charset="0"/>
                <a:ea typeface="ＭＳ Ｐゴシック" panose="020B0600070205080204" pitchFamily="34" charset="-128"/>
              </a:rPr>
              <a:t>	     item = buffer[out];</a:t>
            </a:r>
          </a:p>
          <a:p>
            <a:pPr>
              <a:buFont typeface="Monotype Sorts" charset="2"/>
              <a:buNone/>
            </a:pPr>
            <a:r>
              <a:rPr lang="en-US" smtClean="0">
                <a:latin typeface="Monaco" charset="0"/>
                <a:ea typeface="ＭＳ Ｐゴシック" panose="020B0600070205080204" pitchFamily="34" charset="-128"/>
              </a:rPr>
              <a:t>	     out = (out + 1) % BUFFER SIZE;</a:t>
            </a:r>
          </a:p>
          <a:p>
            <a:pPr>
              <a:buFont typeface="Monotype Sorts" charset="2"/>
              <a:buNone/>
            </a:pPr>
            <a:r>
              <a:rPr lang="en-US" smtClean="0">
                <a:latin typeface="Monaco" charset="0"/>
                <a:ea typeface="ＭＳ Ｐゴシック" panose="020B0600070205080204" pitchFamily="34" charset="-128"/>
              </a:rPr>
              <a:t>	return item;</a:t>
            </a:r>
          </a:p>
          <a:p>
            <a:pPr>
              <a:buFont typeface="Monotype Sorts" charset="2"/>
              <a:buNone/>
            </a:pPr>
            <a:r>
              <a:rPr lang="en-US" i="1" smtClean="0">
                <a:latin typeface="Monaco" charset="0"/>
                <a:ea typeface="ＭＳ Ｐゴシック" panose="020B0600070205080204" pitchFamily="34" charset="-128"/>
              </a:rPr>
              <a:t>     </a:t>
            </a:r>
            <a:r>
              <a:rPr lang="en-US" smtClean="0">
                <a:latin typeface="Monaco" charset="0"/>
                <a:ea typeface="ＭＳ Ｐゴシック" panose="020B0600070205080204" pitchFamily="34" charset="-128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12080383" cy="576262"/>
          </a:xfrm>
        </p:spPr>
        <p:txBody>
          <a:bodyPr/>
          <a:lstStyle/>
          <a:p>
            <a:pPr eaLnBrk="1" hangingPunct="1"/>
            <a:r>
              <a:rPr lang="en-US" sz="4000" b="1" u="sng" dirty="0" err="1">
                <a:ea typeface="ＭＳ Ｐゴシック" panose="020B0600070205080204" pitchFamily="34" charset="-128"/>
              </a:rPr>
              <a:t>Interprocess</a:t>
            </a:r>
            <a:r>
              <a:rPr lang="en-US" sz="4000" b="1" u="sng" dirty="0">
                <a:ea typeface="ＭＳ Ｐゴシック" panose="020B0600070205080204" pitchFamily="34" charset="-128"/>
              </a:rPr>
              <a:t> Communication – Message Passing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65916"/>
            <a:ext cx="11990231" cy="52824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Mechanism for processes to communicate and to synchronize their actions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Message system – processes communicate with each other without resorting to shared variables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b="1" dirty="0" smtClean="0">
                <a:ea typeface="ＭＳ Ｐゴシック" panose="020B0600070205080204" pitchFamily="34" charset="-128"/>
              </a:rPr>
              <a:t>send</a:t>
            </a:r>
            <a:r>
              <a:rPr lang="en-US" dirty="0" smtClean="0">
                <a:ea typeface="ＭＳ Ｐゴシック" panose="020B0600070205080204" pitchFamily="34" charset="-128"/>
              </a:rPr>
              <a:t>(</a:t>
            </a:r>
            <a:r>
              <a:rPr lang="en-US" i="1" dirty="0" smtClean="0">
                <a:ea typeface="ＭＳ Ｐゴシック" panose="020B0600070205080204" pitchFamily="34" charset="-128"/>
              </a:rPr>
              <a:t>message</a:t>
            </a:r>
            <a:r>
              <a:rPr lang="en-US" dirty="0" smtClean="0">
                <a:ea typeface="ＭＳ Ｐゴシック" panose="020B0600070205080204" pitchFamily="34" charset="-128"/>
              </a:rPr>
              <a:t>) – message size fixed or variable </a:t>
            </a:r>
          </a:p>
          <a:p>
            <a:pPr lvl="1">
              <a:lnSpc>
                <a:spcPct val="90000"/>
              </a:lnSpc>
            </a:pPr>
            <a:r>
              <a:rPr lang="en-US" b="1" dirty="0" smtClean="0">
                <a:ea typeface="ＭＳ Ｐゴシック" panose="020B0600070205080204" pitchFamily="34" charset="-128"/>
              </a:rPr>
              <a:t>receive</a:t>
            </a:r>
            <a:r>
              <a:rPr lang="en-US" dirty="0" smtClean="0">
                <a:ea typeface="ＭＳ Ｐゴシック" panose="020B0600070205080204" pitchFamily="34" charset="-128"/>
              </a:rPr>
              <a:t>(</a:t>
            </a:r>
            <a:r>
              <a:rPr lang="en-US" i="1" dirty="0" smtClean="0">
                <a:ea typeface="ＭＳ Ｐゴシック" panose="020B0600070205080204" pitchFamily="34" charset="-128"/>
              </a:rPr>
              <a:t>message</a:t>
            </a:r>
            <a:r>
              <a:rPr lang="en-US" dirty="0" smtClean="0">
                <a:ea typeface="ＭＳ Ｐゴシック" panose="020B0600070205080204" pitchFamily="34" charset="-128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If </a:t>
            </a:r>
            <a:r>
              <a:rPr lang="en-US" i="1" dirty="0" smtClean="0">
                <a:ea typeface="ＭＳ Ｐゴシック" panose="020B0600070205080204" pitchFamily="34" charset="-128"/>
              </a:rPr>
              <a:t>P</a:t>
            </a:r>
            <a:r>
              <a:rPr lang="en-US" dirty="0" smtClean="0">
                <a:ea typeface="ＭＳ Ｐゴシック" panose="020B0600070205080204" pitchFamily="34" charset="-128"/>
              </a:rPr>
              <a:t> and </a:t>
            </a:r>
            <a:r>
              <a:rPr lang="en-US" i="1" dirty="0" smtClean="0">
                <a:ea typeface="ＭＳ Ｐゴシック" panose="020B0600070205080204" pitchFamily="34" charset="-128"/>
              </a:rPr>
              <a:t>Q</a:t>
            </a:r>
            <a:r>
              <a:rPr lang="en-US" dirty="0" smtClean="0">
                <a:ea typeface="ＭＳ Ｐゴシック" panose="020B0600070205080204" pitchFamily="34" charset="-128"/>
              </a:rPr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establish a </a:t>
            </a:r>
            <a:r>
              <a:rPr lang="en-US" i="1" dirty="0" smtClean="0">
                <a:ea typeface="ＭＳ Ｐゴシック" panose="020B0600070205080204" pitchFamily="34" charset="-128"/>
              </a:rPr>
              <a:t>communication</a:t>
            </a:r>
            <a:r>
              <a:rPr lang="en-US" dirty="0" smtClean="0">
                <a:ea typeface="ＭＳ Ｐゴシック" panose="020B0600070205080204" pitchFamily="34" charset="-128"/>
              </a:rPr>
              <a:t> </a:t>
            </a:r>
            <a:r>
              <a:rPr lang="en-US" i="1" dirty="0" smtClean="0">
                <a:ea typeface="ＭＳ Ｐゴシック" panose="020B0600070205080204" pitchFamily="34" charset="-128"/>
              </a:rPr>
              <a:t>link</a:t>
            </a:r>
            <a:r>
              <a:rPr lang="en-US" dirty="0" smtClean="0">
                <a:ea typeface="ＭＳ Ｐゴシック" panose="020B0600070205080204" pitchFamily="34" charset="-128"/>
              </a:rPr>
              <a:t> between them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Implementation of communication link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physical (e.g., shared memory, hardware bus)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ea typeface="ＭＳ Ｐゴシック" panose="020B0600070205080204" pitchFamily="34" charset="-128"/>
              </a:rPr>
              <a:t>logical (e.g., logical properties)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anose="020B0600070205080204" pitchFamily="34" charset="-128"/>
              </a:rPr>
              <a:t>Implementation Questions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ea typeface="ＭＳ Ｐゴシック" panose="020B0600070205080204" pitchFamily="34" charset="-128"/>
              </a:rPr>
              <a:t>How are links established?</a:t>
            </a:r>
          </a:p>
          <a:p>
            <a:r>
              <a:rPr lang="en-US" smtClean="0">
                <a:ea typeface="ＭＳ Ｐゴシック" panose="020B0600070205080204" pitchFamily="34" charset="-128"/>
              </a:rPr>
              <a:t>Can a link be associated with more than two processes?</a:t>
            </a:r>
          </a:p>
          <a:p>
            <a:r>
              <a:rPr lang="en-US" smtClean="0">
                <a:ea typeface="ＭＳ Ｐゴシック" panose="020B0600070205080204" pitchFamily="34" charset="-128"/>
              </a:rPr>
              <a:t>How many links can there be between every pair of communicating processes?</a:t>
            </a:r>
          </a:p>
          <a:p>
            <a:r>
              <a:rPr lang="en-US" smtClean="0">
                <a:ea typeface="ＭＳ Ｐゴシック" panose="020B0600070205080204" pitchFamily="34" charset="-128"/>
              </a:rPr>
              <a:t>What is the capacity of a link?</a:t>
            </a:r>
          </a:p>
          <a:p>
            <a:r>
              <a:rPr lang="en-US" smtClean="0">
                <a:ea typeface="ＭＳ Ｐゴシック" panose="020B0600070205080204" pitchFamily="34" charset="-128"/>
              </a:rPr>
              <a:t>Is the size of a message that the link can accommodate fixed or variable?</a:t>
            </a:r>
          </a:p>
          <a:p>
            <a:r>
              <a:rPr lang="en-US" smtClean="0">
                <a:ea typeface="ＭＳ Ｐゴシック" panose="020B0600070205080204" pitchFamily="34" charset="-128"/>
              </a:rPr>
              <a:t>Is a link unidirectional or bi-directional?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anose="020B0600070205080204" pitchFamily="34" charset="-128"/>
              </a:rPr>
              <a:t>Direct Communication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ea typeface="ＭＳ Ｐゴシック" panose="020B0600070205080204" pitchFamily="34" charset="-128"/>
              </a:rPr>
              <a:t>Processes must name each other explicitly:</a:t>
            </a:r>
          </a:p>
          <a:p>
            <a:pPr lvl="1"/>
            <a:r>
              <a:rPr lang="en-US" b="1" smtClean="0">
                <a:ea typeface="ＭＳ Ｐゴシック" panose="020B0600070205080204" pitchFamily="34" charset="-128"/>
              </a:rPr>
              <a:t>send</a:t>
            </a:r>
            <a:r>
              <a:rPr lang="en-US" smtClean="0">
                <a:ea typeface="ＭＳ Ｐゴシック" panose="020B0600070205080204" pitchFamily="34" charset="-128"/>
              </a:rPr>
              <a:t> (</a:t>
            </a:r>
            <a:r>
              <a:rPr lang="en-US" i="1" smtClean="0">
                <a:ea typeface="ＭＳ Ｐゴシック" panose="020B0600070205080204" pitchFamily="34" charset="-128"/>
              </a:rPr>
              <a:t>P, message</a:t>
            </a:r>
            <a:r>
              <a:rPr lang="en-US" smtClean="0">
                <a:ea typeface="ＭＳ Ｐゴシック" panose="020B0600070205080204" pitchFamily="34" charset="-128"/>
              </a:rPr>
              <a:t>) – send a message to process P</a:t>
            </a:r>
          </a:p>
          <a:p>
            <a:pPr lvl="1"/>
            <a:r>
              <a:rPr lang="en-US" b="1" smtClean="0">
                <a:ea typeface="ＭＳ Ｐゴシック" panose="020B0600070205080204" pitchFamily="34" charset="-128"/>
              </a:rPr>
              <a:t>receive</a:t>
            </a:r>
            <a:r>
              <a:rPr lang="en-US" smtClean="0">
                <a:ea typeface="ＭＳ Ｐゴシック" panose="020B0600070205080204" pitchFamily="34" charset="-128"/>
              </a:rPr>
              <a:t>(</a:t>
            </a:r>
            <a:r>
              <a:rPr lang="en-US" i="1" smtClean="0">
                <a:ea typeface="ＭＳ Ｐゴシック" panose="020B0600070205080204" pitchFamily="34" charset="-128"/>
              </a:rPr>
              <a:t>Q, message</a:t>
            </a:r>
            <a:r>
              <a:rPr lang="en-US" smtClean="0">
                <a:ea typeface="ＭＳ Ｐゴシック" panose="020B0600070205080204" pitchFamily="34" charset="-128"/>
              </a:rPr>
              <a:t>) – receive a message from process Q</a:t>
            </a:r>
          </a:p>
          <a:p>
            <a:r>
              <a:rPr lang="en-US" smtClean="0">
                <a:ea typeface="ＭＳ Ｐゴシック" panose="020B0600070205080204" pitchFamily="34" charset="-128"/>
              </a:rPr>
              <a:t>Properties of communication link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Links are established automatically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A link is associated with exactly one pair of communicating processes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Between each pair there exists exactly one link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anose="020B0600070205080204" pitchFamily="34" charset="-128"/>
              </a:rPr>
              <a:t>Indirect Communication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30450" y="1246188"/>
            <a:ext cx="7869238" cy="4159250"/>
          </a:xfrm>
        </p:spPr>
        <p:txBody>
          <a:bodyPr/>
          <a:lstStyle/>
          <a:p>
            <a:r>
              <a:rPr lang="en-US" smtClean="0">
                <a:ea typeface="ＭＳ Ｐゴシック" panose="020B0600070205080204" pitchFamily="34" charset="-128"/>
              </a:rPr>
              <a:t>Messages are directed and received from mailboxes (also referred to as ports)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Each mailbox has a unique id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Processes can communicate only if they share a mailbox</a:t>
            </a:r>
          </a:p>
          <a:p>
            <a:r>
              <a:rPr lang="en-US" smtClean="0">
                <a:ea typeface="ＭＳ Ｐゴシック" panose="020B0600070205080204" pitchFamily="34" charset="-128"/>
              </a:rPr>
              <a:t>Properties of communication link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Link established only if processes share a common mailbox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A link may be associated with many processes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Each pair of processes may share several communication links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Link may be unidirectional or bi-directional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anose="020B0600070205080204" pitchFamily="34" charset="-128"/>
              </a:rPr>
              <a:t>Indirect Communication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30451" y="1246188"/>
            <a:ext cx="7580313" cy="3821112"/>
          </a:xfrm>
        </p:spPr>
        <p:txBody>
          <a:bodyPr/>
          <a:lstStyle/>
          <a:p>
            <a:r>
              <a:rPr lang="en-US" smtClean="0">
                <a:ea typeface="ＭＳ Ｐゴシック" panose="020B0600070205080204" pitchFamily="34" charset="-128"/>
              </a:rPr>
              <a:t>Operations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create a new mailbox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send and receive messages through mailbox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destroy a mailbox</a:t>
            </a:r>
          </a:p>
          <a:p>
            <a:r>
              <a:rPr lang="en-US" smtClean="0">
                <a:ea typeface="ＭＳ Ｐゴシック" panose="020B0600070205080204" pitchFamily="34" charset="-128"/>
              </a:rPr>
              <a:t>Primitives are defined as:</a:t>
            </a:r>
          </a:p>
          <a:p>
            <a:pPr>
              <a:buFont typeface="Monotype Sorts" charset="2"/>
              <a:buNone/>
            </a:pPr>
            <a:r>
              <a:rPr lang="en-US" smtClean="0">
                <a:ea typeface="ＭＳ Ｐゴシック" panose="020B0600070205080204" pitchFamily="34" charset="-128"/>
              </a:rPr>
              <a:t>	</a:t>
            </a:r>
            <a:r>
              <a:rPr lang="en-US" b="1" smtClean="0">
                <a:ea typeface="ＭＳ Ｐゴシック" panose="020B0600070205080204" pitchFamily="34" charset="-128"/>
              </a:rPr>
              <a:t>send</a:t>
            </a:r>
            <a:r>
              <a:rPr lang="en-US" smtClean="0">
                <a:ea typeface="ＭＳ Ｐゴシック" panose="020B0600070205080204" pitchFamily="34" charset="-128"/>
              </a:rPr>
              <a:t>(</a:t>
            </a:r>
            <a:r>
              <a:rPr lang="en-US" i="1" smtClean="0">
                <a:ea typeface="ＭＳ Ｐゴシック" panose="020B0600070205080204" pitchFamily="34" charset="-128"/>
              </a:rPr>
              <a:t>A, message</a:t>
            </a:r>
            <a:r>
              <a:rPr lang="en-US" smtClean="0">
                <a:ea typeface="ＭＳ Ｐゴシック" panose="020B0600070205080204" pitchFamily="34" charset="-128"/>
              </a:rPr>
              <a:t>) – send a message to mailbox A</a:t>
            </a:r>
          </a:p>
          <a:p>
            <a:pPr>
              <a:buFont typeface="Monotype Sorts" charset="2"/>
              <a:buNone/>
            </a:pPr>
            <a:r>
              <a:rPr lang="en-US" smtClean="0">
                <a:ea typeface="ＭＳ Ｐゴシック" panose="020B0600070205080204" pitchFamily="34" charset="-128"/>
              </a:rPr>
              <a:t>	</a:t>
            </a:r>
            <a:r>
              <a:rPr lang="en-US" b="1" smtClean="0">
                <a:ea typeface="ＭＳ Ｐゴシック" panose="020B0600070205080204" pitchFamily="34" charset="-128"/>
              </a:rPr>
              <a:t>receive</a:t>
            </a:r>
            <a:r>
              <a:rPr lang="en-US" smtClean="0">
                <a:ea typeface="ＭＳ Ｐゴシック" panose="020B0600070205080204" pitchFamily="34" charset="-128"/>
              </a:rPr>
              <a:t>(</a:t>
            </a:r>
            <a:r>
              <a:rPr lang="en-US" i="1" smtClean="0">
                <a:ea typeface="ＭＳ Ｐゴシック" panose="020B0600070205080204" pitchFamily="34" charset="-128"/>
              </a:rPr>
              <a:t>A, message</a:t>
            </a:r>
            <a:r>
              <a:rPr lang="en-US" smtClean="0">
                <a:ea typeface="ＭＳ Ｐゴシック" panose="020B0600070205080204" pitchFamily="34" charset="-128"/>
              </a:rPr>
              <a:t>) – receive a message from mailbox 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anose="020B0600070205080204" pitchFamily="34" charset="-128"/>
              </a:rPr>
              <a:t>Indirect Communication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ea typeface="ＭＳ Ｐゴシック" panose="020B0600070205080204" pitchFamily="34" charset="-128"/>
              </a:rPr>
              <a:t>Mailbox sharing</a:t>
            </a:r>
          </a:p>
          <a:p>
            <a:pPr lvl="1"/>
            <a:r>
              <a:rPr lang="en-US" i="1" smtClean="0">
                <a:ea typeface="ＭＳ Ｐゴシック" panose="020B0600070205080204" pitchFamily="34" charset="-128"/>
              </a:rPr>
              <a:t>P</a:t>
            </a:r>
            <a:r>
              <a:rPr lang="en-US" i="1" baseline="-25000" smtClean="0">
                <a:ea typeface="ＭＳ Ｐゴシック" panose="020B0600070205080204" pitchFamily="34" charset="-128"/>
              </a:rPr>
              <a:t>1</a:t>
            </a:r>
            <a:r>
              <a:rPr lang="en-US" i="1" smtClean="0">
                <a:ea typeface="ＭＳ Ｐゴシック" panose="020B0600070205080204" pitchFamily="34" charset="-128"/>
              </a:rPr>
              <a:t>, P</a:t>
            </a:r>
            <a:r>
              <a:rPr lang="en-US" i="1" baseline="-25000" smtClean="0">
                <a:ea typeface="ＭＳ Ｐゴシック" panose="020B0600070205080204" pitchFamily="34" charset="-128"/>
              </a:rPr>
              <a:t>2</a:t>
            </a:r>
            <a:r>
              <a:rPr lang="en-US" i="1" smtClean="0">
                <a:ea typeface="ＭＳ Ｐゴシック" panose="020B0600070205080204" pitchFamily="34" charset="-128"/>
              </a:rPr>
              <a:t>,</a:t>
            </a:r>
            <a:r>
              <a:rPr lang="en-US" smtClean="0">
                <a:ea typeface="ＭＳ Ｐゴシック" panose="020B0600070205080204" pitchFamily="34" charset="-128"/>
              </a:rPr>
              <a:t> and</a:t>
            </a:r>
            <a:r>
              <a:rPr lang="en-US" i="1" smtClean="0">
                <a:ea typeface="ＭＳ Ｐゴシック" panose="020B0600070205080204" pitchFamily="34" charset="-128"/>
              </a:rPr>
              <a:t> P</a:t>
            </a:r>
            <a:r>
              <a:rPr lang="en-US" i="1" baseline="-25000" smtClean="0">
                <a:ea typeface="ＭＳ Ｐゴシック" panose="020B0600070205080204" pitchFamily="34" charset="-128"/>
              </a:rPr>
              <a:t>3</a:t>
            </a:r>
            <a:r>
              <a:rPr lang="en-US" smtClean="0">
                <a:ea typeface="ＭＳ Ｐゴシック" panose="020B0600070205080204" pitchFamily="34" charset="-128"/>
              </a:rPr>
              <a:t> share mailbox A</a:t>
            </a:r>
          </a:p>
          <a:p>
            <a:pPr lvl="1"/>
            <a:r>
              <a:rPr lang="en-US" i="1" smtClean="0">
                <a:ea typeface="ＭＳ Ｐゴシック" panose="020B0600070205080204" pitchFamily="34" charset="-128"/>
              </a:rPr>
              <a:t>P</a:t>
            </a:r>
            <a:r>
              <a:rPr lang="en-US" i="1" baseline="-25000" smtClean="0">
                <a:ea typeface="ＭＳ Ｐゴシック" panose="020B0600070205080204" pitchFamily="34" charset="-128"/>
              </a:rPr>
              <a:t>1</a:t>
            </a:r>
            <a:r>
              <a:rPr lang="en-US" smtClean="0">
                <a:ea typeface="ＭＳ Ｐゴシック" panose="020B0600070205080204" pitchFamily="34" charset="-128"/>
              </a:rPr>
              <a:t>, sends; </a:t>
            </a:r>
            <a:r>
              <a:rPr lang="en-US" i="1" smtClean="0">
                <a:ea typeface="ＭＳ Ｐゴシック" panose="020B0600070205080204" pitchFamily="34" charset="-128"/>
              </a:rPr>
              <a:t>P</a:t>
            </a:r>
            <a:r>
              <a:rPr lang="en-US" i="1" baseline="-25000" smtClean="0">
                <a:ea typeface="ＭＳ Ｐゴシック" panose="020B0600070205080204" pitchFamily="34" charset="-128"/>
              </a:rPr>
              <a:t>2</a:t>
            </a:r>
            <a:r>
              <a:rPr lang="en-US" i="1" smtClean="0">
                <a:ea typeface="ＭＳ Ｐゴシック" panose="020B0600070205080204" pitchFamily="34" charset="-128"/>
              </a:rPr>
              <a:t> </a:t>
            </a:r>
            <a:r>
              <a:rPr lang="en-US" smtClean="0">
                <a:ea typeface="ＭＳ Ｐゴシック" panose="020B0600070205080204" pitchFamily="34" charset="-128"/>
              </a:rPr>
              <a:t>and</a:t>
            </a:r>
            <a:r>
              <a:rPr lang="en-US" i="1" smtClean="0">
                <a:ea typeface="ＭＳ Ｐゴシック" panose="020B0600070205080204" pitchFamily="34" charset="-128"/>
              </a:rPr>
              <a:t> P</a:t>
            </a:r>
            <a:r>
              <a:rPr lang="en-US" i="1" baseline="-25000" smtClean="0">
                <a:ea typeface="ＭＳ Ｐゴシック" panose="020B0600070205080204" pitchFamily="34" charset="-128"/>
              </a:rPr>
              <a:t>3</a:t>
            </a:r>
            <a:r>
              <a:rPr lang="en-US" smtClean="0">
                <a:ea typeface="ＭＳ Ｐゴシック" panose="020B0600070205080204" pitchFamily="34" charset="-128"/>
              </a:rPr>
              <a:t> receive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Who gets the message?</a:t>
            </a:r>
          </a:p>
          <a:p>
            <a:r>
              <a:rPr lang="en-US" smtClean="0">
                <a:ea typeface="ＭＳ Ｐゴシック" panose="020B0600070205080204" pitchFamily="34" charset="-128"/>
              </a:rPr>
              <a:t>Solutions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Allow a link to be associated with at most two processes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Allow only one process at a time to execute a receive operation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Allow the system to select arbitrarily the receiver.  Sender is notified who the receiver was.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anose="020B0600070205080204" pitchFamily="34" charset="-128"/>
              </a:rPr>
              <a:t>Synchronization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30450" y="1233489"/>
            <a:ext cx="7469188" cy="4530725"/>
          </a:xfrm>
        </p:spPr>
        <p:txBody>
          <a:bodyPr/>
          <a:lstStyle/>
          <a:p>
            <a:pPr marL="381000" indent="-381000"/>
            <a:r>
              <a:rPr lang="en-US" smtClean="0">
                <a:ea typeface="ＭＳ Ｐゴシック" panose="020B0600070205080204" pitchFamily="34" charset="-128"/>
              </a:rPr>
              <a:t>Message passing may be either blocking or non-blocking</a:t>
            </a:r>
          </a:p>
          <a:p>
            <a:pPr marL="381000" indent="-381000"/>
            <a:r>
              <a:rPr lang="en-US" b="1" smtClean="0">
                <a:ea typeface="ＭＳ Ｐゴシック" panose="020B0600070205080204" pitchFamily="34" charset="-128"/>
              </a:rPr>
              <a:t>Blocking</a:t>
            </a:r>
            <a:r>
              <a:rPr lang="en-US" smtClean="0">
                <a:ea typeface="ＭＳ Ｐゴシック" panose="020B0600070205080204" pitchFamily="34" charset="-128"/>
              </a:rPr>
              <a:t> is considered </a:t>
            </a:r>
            <a:r>
              <a:rPr lang="en-US" b="1" smtClean="0">
                <a:ea typeface="ＭＳ Ｐゴシック" panose="020B0600070205080204" pitchFamily="34" charset="-128"/>
              </a:rPr>
              <a:t>synchronous</a:t>
            </a:r>
          </a:p>
          <a:p>
            <a:pPr marL="800100" lvl="1" indent="-342900"/>
            <a:r>
              <a:rPr lang="en-US" b="1" smtClean="0">
                <a:ea typeface="ＭＳ Ｐゴシック" panose="020B0600070205080204" pitchFamily="34" charset="-128"/>
              </a:rPr>
              <a:t>Blocking send </a:t>
            </a:r>
            <a:r>
              <a:rPr lang="en-US" smtClean="0">
                <a:ea typeface="ＭＳ Ｐゴシック" panose="020B0600070205080204" pitchFamily="34" charset="-128"/>
              </a:rPr>
              <a:t>has the sender block until the message is received</a:t>
            </a:r>
          </a:p>
          <a:p>
            <a:pPr marL="800100" lvl="1" indent="-342900"/>
            <a:r>
              <a:rPr lang="en-US" b="1" smtClean="0">
                <a:ea typeface="ＭＳ Ｐゴシック" panose="020B0600070205080204" pitchFamily="34" charset="-128"/>
              </a:rPr>
              <a:t>Blocking receive </a:t>
            </a:r>
            <a:r>
              <a:rPr lang="en-US" smtClean="0">
                <a:ea typeface="ＭＳ Ｐゴシック" panose="020B0600070205080204" pitchFamily="34" charset="-128"/>
              </a:rPr>
              <a:t>has the receiver block until a message is available</a:t>
            </a:r>
          </a:p>
          <a:p>
            <a:pPr marL="381000" indent="-381000"/>
            <a:r>
              <a:rPr lang="en-US" b="1" smtClean="0">
                <a:ea typeface="ＭＳ Ｐゴシック" panose="020B0600070205080204" pitchFamily="34" charset="-128"/>
              </a:rPr>
              <a:t>Non-blocking</a:t>
            </a:r>
            <a:r>
              <a:rPr lang="en-US" smtClean="0">
                <a:ea typeface="ＭＳ Ｐゴシック" panose="020B0600070205080204" pitchFamily="34" charset="-128"/>
              </a:rPr>
              <a:t> is considered </a:t>
            </a:r>
            <a:r>
              <a:rPr lang="en-US" b="1" smtClean="0">
                <a:ea typeface="ＭＳ Ｐゴシック" panose="020B0600070205080204" pitchFamily="34" charset="-128"/>
              </a:rPr>
              <a:t>asynchronous</a:t>
            </a:r>
          </a:p>
          <a:p>
            <a:pPr marL="800100" lvl="1" indent="-342900"/>
            <a:r>
              <a:rPr lang="en-US" b="1" smtClean="0">
                <a:ea typeface="ＭＳ Ｐゴシック" panose="020B0600070205080204" pitchFamily="34" charset="-128"/>
              </a:rPr>
              <a:t>Non-blocking </a:t>
            </a:r>
            <a:r>
              <a:rPr lang="en-US" smtClean="0">
                <a:ea typeface="ＭＳ Ｐゴシック" panose="020B0600070205080204" pitchFamily="34" charset="-128"/>
              </a:rPr>
              <a:t>send has the sender send the message and continue</a:t>
            </a:r>
          </a:p>
          <a:p>
            <a:pPr marL="800100" lvl="1" indent="-342900"/>
            <a:r>
              <a:rPr lang="en-US" b="1" smtClean="0">
                <a:ea typeface="ＭＳ Ｐゴシック" panose="020B0600070205080204" pitchFamily="34" charset="-128"/>
              </a:rPr>
              <a:t>Non-blocking </a:t>
            </a:r>
            <a:r>
              <a:rPr lang="en-US" smtClean="0">
                <a:ea typeface="ＭＳ Ｐゴシック" panose="020B0600070205080204" pitchFamily="34" charset="-128"/>
              </a:rPr>
              <a:t>receive has the receiver receive a valid message or null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anose="020B0600070205080204" pitchFamily="34" charset="-128"/>
              </a:rPr>
              <a:t>Buffering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30450" y="1233489"/>
            <a:ext cx="7526338" cy="4530725"/>
          </a:xfrm>
        </p:spPr>
        <p:txBody>
          <a:bodyPr/>
          <a:lstStyle/>
          <a:p>
            <a:r>
              <a:rPr lang="en-US" smtClean="0">
                <a:ea typeface="ＭＳ Ｐゴシック" panose="020B0600070205080204" pitchFamily="34" charset="-128"/>
              </a:rPr>
              <a:t>Queue of messages attached to the link; implemented in one of three ways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solidFill>
                  <a:srgbClr val="CC6600"/>
                </a:solidFill>
                <a:ea typeface="ＭＳ Ｐゴシック" panose="020B0600070205080204" pitchFamily="34" charset="-128"/>
              </a:rPr>
              <a:t>1.</a:t>
            </a:r>
            <a:r>
              <a:rPr lang="en-US" smtClean="0">
                <a:ea typeface="ＭＳ Ｐゴシック" panose="020B0600070205080204" pitchFamily="34" charset="-128"/>
              </a:rPr>
              <a:t>	Zero capacity – 0 messages</a:t>
            </a:r>
            <a:br>
              <a:rPr lang="en-US" smtClean="0">
                <a:ea typeface="ＭＳ Ｐゴシック" panose="020B0600070205080204" pitchFamily="34" charset="-128"/>
              </a:rPr>
            </a:br>
            <a:r>
              <a:rPr lang="en-US" smtClean="0">
                <a:ea typeface="ＭＳ Ｐゴシック" panose="020B0600070205080204" pitchFamily="34" charset="-128"/>
              </a:rPr>
              <a:t>Sender must wait for receiver (rendezvous)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solidFill>
                  <a:srgbClr val="CC6600"/>
                </a:solidFill>
                <a:ea typeface="ＭＳ Ｐゴシック" panose="020B0600070205080204" pitchFamily="34" charset="-128"/>
              </a:rPr>
              <a:t>2.</a:t>
            </a:r>
            <a:r>
              <a:rPr lang="en-US" smtClean="0">
                <a:ea typeface="ＭＳ Ｐゴシック" panose="020B0600070205080204" pitchFamily="34" charset="-128"/>
              </a:rPr>
              <a:t>	Bounded capacity – finite length of </a:t>
            </a:r>
            <a:r>
              <a:rPr lang="en-US" i="1" smtClean="0">
                <a:ea typeface="ＭＳ Ｐゴシック" panose="020B0600070205080204" pitchFamily="34" charset="-128"/>
              </a:rPr>
              <a:t>n</a:t>
            </a:r>
            <a:r>
              <a:rPr lang="en-US" smtClean="0">
                <a:ea typeface="ＭＳ Ｐゴシック" panose="020B0600070205080204" pitchFamily="34" charset="-128"/>
              </a:rPr>
              <a:t> messages</a:t>
            </a:r>
            <a:br>
              <a:rPr lang="en-US" smtClean="0">
                <a:ea typeface="ＭＳ Ｐゴシック" panose="020B0600070205080204" pitchFamily="34" charset="-128"/>
              </a:rPr>
            </a:br>
            <a:r>
              <a:rPr lang="en-US" smtClean="0">
                <a:ea typeface="ＭＳ Ｐゴシック" panose="020B0600070205080204" pitchFamily="34" charset="-128"/>
              </a:rPr>
              <a:t>Sender must wait if link full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solidFill>
                  <a:srgbClr val="CC6600"/>
                </a:solidFill>
                <a:ea typeface="ＭＳ Ｐゴシック" panose="020B0600070205080204" pitchFamily="34" charset="-128"/>
              </a:rPr>
              <a:t>3.</a:t>
            </a:r>
            <a:r>
              <a:rPr lang="en-US" smtClean="0">
                <a:ea typeface="ＭＳ Ｐゴシック" panose="020B0600070205080204" pitchFamily="34" charset="-128"/>
              </a:rPr>
              <a:t>	Unbounded capacity – infinite length </a:t>
            </a:r>
            <a:br>
              <a:rPr lang="en-US" smtClean="0">
                <a:ea typeface="ＭＳ Ｐゴシック" panose="020B0600070205080204" pitchFamily="34" charset="-128"/>
              </a:rPr>
            </a:br>
            <a:r>
              <a:rPr lang="en-US" smtClean="0">
                <a:ea typeface="ＭＳ Ｐゴシック" panose="020B0600070205080204" pitchFamily="34" charset="-128"/>
              </a:rPr>
              <a:t>Sender never waits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7812"/>
            <a:ext cx="10582275" cy="1550987"/>
          </a:xfrm>
        </p:spPr>
        <p:txBody>
          <a:bodyPr/>
          <a:lstStyle/>
          <a:p>
            <a:pPr eaLnBrk="1" hangingPunct="1"/>
            <a:r>
              <a:rPr lang="en-US" u="sng" dirty="0" smtClean="0"/>
              <a:t>Chapter 2: Multi-threaded Programing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Single and Multithreaded Processes</a:t>
            </a:r>
          </a:p>
        </p:txBody>
      </p:sp>
      <p:pic>
        <p:nvPicPr>
          <p:cNvPr id="5123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210" y="1828799"/>
            <a:ext cx="6600825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-360608" y="2"/>
            <a:ext cx="12247808" cy="334850"/>
          </a:xfrm>
        </p:spPr>
        <p:txBody>
          <a:bodyPr/>
          <a:lstStyle/>
          <a:p>
            <a:endParaRPr lang="en-US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4699" y="1442434"/>
            <a:ext cx="10560675" cy="5537915"/>
          </a:xfrm>
        </p:spPr>
        <p:txBody>
          <a:bodyPr/>
          <a:lstStyle/>
          <a:p>
            <a:pPr marL="0" indent="0">
              <a:buNone/>
            </a:pPr>
            <a:r>
              <a:rPr lang="en-US" sz="3600" u="sng" dirty="0"/>
              <a:t>Benefits</a:t>
            </a:r>
            <a:endParaRPr lang="en-US" sz="3600" b="1" u="sng" dirty="0" smtClean="0"/>
          </a:p>
          <a:p>
            <a:r>
              <a:rPr lang="en-US" dirty="0" smtClean="0"/>
              <a:t>Responsiveness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Resource Sharing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Economy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Scalability 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2946400" y="165100"/>
            <a:ext cx="3100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kumimoji="1" lang="en-US" sz="3200" b="1">
              <a:solidFill>
                <a:schemeClr val="tx2"/>
              </a:solidFill>
              <a:latin typeface="Helvetica" panose="020B0604020202020204" pitchFamily="34" charset="0"/>
            </a:endParaRPr>
          </a:p>
        </p:txBody>
      </p:sp>
      <p:pic>
        <p:nvPicPr>
          <p:cNvPr id="5" name="Picture 4" descr="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387" y="875763"/>
            <a:ext cx="8680360" cy="3335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852" y="5052644"/>
            <a:ext cx="7615237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84879" y="4291803"/>
            <a:ext cx="55636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Multithreaded Server Architecture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455313" y="6075789"/>
            <a:ext cx="5349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Concurrent Execution on a Single-core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31821" y="0"/>
            <a:ext cx="9819014" cy="798490"/>
          </a:xfrm>
        </p:spPr>
        <p:txBody>
          <a:bodyPr/>
          <a:lstStyle/>
          <a:p>
            <a:pPr eaLnBrk="1" hangingPunct="1"/>
            <a:r>
              <a:rPr lang="en-US" b="1" u="sng" dirty="0" smtClean="0"/>
              <a:t>Multicore Programming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31821" y="798490"/>
            <a:ext cx="11449317" cy="6059510"/>
          </a:xfrm>
        </p:spPr>
        <p:txBody>
          <a:bodyPr/>
          <a:lstStyle/>
          <a:p>
            <a:r>
              <a:rPr lang="en-US" dirty="0" smtClean="0"/>
              <a:t>Multicore systems putting pressure on programmers, challenges include</a:t>
            </a:r>
          </a:p>
          <a:p>
            <a:pPr lvl="1"/>
            <a:r>
              <a:rPr lang="en-US" b="1" dirty="0" smtClean="0">
                <a:ea typeface="ＭＳ Ｐゴシック" panose="020B0600070205080204" pitchFamily="34" charset="-128"/>
              </a:rPr>
              <a:t>Dividing activities</a:t>
            </a:r>
          </a:p>
          <a:p>
            <a:pPr lvl="1"/>
            <a:r>
              <a:rPr lang="en-US" b="1" dirty="0" smtClean="0">
                <a:ea typeface="ＭＳ Ｐゴシック" panose="020B0600070205080204" pitchFamily="34" charset="-128"/>
              </a:rPr>
              <a:t>Balance</a:t>
            </a:r>
          </a:p>
          <a:p>
            <a:pPr lvl="1"/>
            <a:r>
              <a:rPr lang="en-US" b="1" dirty="0" smtClean="0">
                <a:ea typeface="ＭＳ Ｐゴシック" panose="020B0600070205080204" pitchFamily="34" charset="-128"/>
              </a:rPr>
              <a:t>Data splitting</a:t>
            </a:r>
          </a:p>
          <a:p>
            <a:pPr lvl="1"/>
            <a:r>
              <a:rPr lang="en-US" b="1" dirty="0" smtClean="0">
                <a:ea typeface="ＭＳ Ｐゴシック" panose="020B0600070205080204" pitchFamily="34" charset="-128"/>
              </a:rPr>
              <a:t>Data dependency</a:t>
            </a:r>
          </a:p>
          <a:p>
            <a:pPr lvl="1"/>
            <a:r>
              <a:rPr lang="en-US" b="1" dirty="0" smtClean="0">
                <a:ea typeface="ＭＳ Ｐゴシック" panose="020B0600070205080204" pitchFamily="34" charset="-128"/>
              </a:rPr>
              <a:t>Testing and debugging</a:t>
            </a:r>
          </a:p>
          <a:p>
            <a:pPr lvl="1"/>
            <a:endParaRPr lang="en-US" dirty="0" smtClean="0">
              <a:ea typeface="ＭＳ Ｐゴシック" panose="020B0600070205080204" pitchFamily="34" charset="-128"/>
            </a:endParaRPr>
          </a:p>
        </p:txBody>
      </p:sp>
      <p:pic>
        <p:nvPicPr>
          <p:cNvPr id="4" name="Picture 4" descr="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133" y="3280827"/>
            <a:ext cx="6097588" cy="213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437390" y="5580628"/>
            <a:ext cx="46730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Parallel Execution on a Multicore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User Threads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Thread management done by user-level threads library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Three primary thread libraries: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 POSIX </a:t>
            </a:r>
            <a:r>
              <a:rPr lang="en-US" smtClean="0">
                <a:solidFill>
                  <a:srgbClr val="3366FF"/>
                </a:solidFill>
                <a:ea typeface="ＭＳ Ｐゴシック" panose="020B0600070205080204" pitchFamily="34" charset="-128"/>
              </a:rPr>
              <a:t>Pthreads</a:t>
            </a:r>
            <a:endParaRPr lang="en-US" i="1" smtClean="0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 Win32 threads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 Java threads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Kernel Threads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Supported by the Kernel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Examples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Windows XP/2000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Solaris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Linux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Tru64 UNIX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Mac OS 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/>
              <a:t>Multithreading Models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Many-to-One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One-to-One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Many-to-Many</a:t>
            </a:r>
          </a:p>
          <a:p>
            <a:endParaRPr lang="en-US" smtClean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2202" y="130746"/>
            <a:ext cx="9857651" cy="796533"/>
          </a:xfrm>
        </p:spPr>
        <p:txBody>
          <a:bodyPr/>
          <a:lstStyle/>
          <a:p>
            <a:pPr eaLnBrk="1" hangingPunct="1"/>
            <a:r>
              <a:rPr lang="en-US" b="1" u="sng" dirty="0" smtClean="0"/>
              <a:t>Many-to-One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202" y="927280"/>
            <a:ext cx="11154085" cy="5321120"/>
          </a:xfrm>
        </p:spPr>
        <p:txBody>
          <a:bodyPr/>
          <a:lstStyle/>
          <a:p>
            <a:r>
              <a:rPr lang="en-US" dirty="0" smtClean="0"/>
              <a:t>Many user-level threads mapped to single kernel thread</a:t>
            </a:r>
          </a:p>
          <a:p>
            <a:r>
              <a:rPr lang="en-US" dirty="0" smtClean="0"/>
              <a:t>Examples: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Solaris Green Threads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GNU Portable Threads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769" y="1533525"/>
            <a:ext cx="4800600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06062" y="92110"/>
            <a:ext cx="9843791" cy="745017"/>
          </a:xfrm>
        </p:spPr>
        <p:txBody>
          <a:bodyPr/>
          <a:lstStyle/>
          <a:p>
            <a:pPr eaLnBrk="1" hangingPunct="1"/>
            <a:r>
              <a:rPr lang="en-US" b="1" u="sng" dirty="0" smtClean="0"/>
              <a:t>One-to-One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062" y="837127"/>
            <a:ext cx="11320530" cy="5756856"/>
          </a:xfrm>
        </p:spPr>
        <p:txBody>
          <a:bodyPr/>
          <a:lstStyle/>
          <a:p>
            <a:r>
              <a:rPr lang="en-US" dirty="0" smtClean="0"/>
              <a:t>Each user-level thread maps to kernel thread</a:t>
            </a:r>
          </a:p>
          <a:p>
            <a:r>
              <a:rPr lang="en-US" dirty="0" smtClean="0"/>
              <a:t>Examples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Windows NT/XP/2000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Linux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Solaris 9 and later</a:t>
            </a:r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748" y="3006034"/>
            <a:ext cx="7475537" cy="295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57577" y="174270"/>
            <a:ext cx="11475077" cy="753009"/>
          </a:xfrm>
        </p:spPr>
        <p:txBody>
          <a:bodyPr/>
          <a:lstStyle/>
          <a:p>
            <a:pPr eaLnBrk="1" hangingPunct="1"/>
            <a:r>
              <a:rPr lang="en-US" b="1" u="sng" dirty="0" smtClean="0"/>
              <a:t>Many-to-Many Model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7577" y="927279"/>
            <a:ext cx="11934423" cy="5092521"/>
          </a:xfrm>
        </p:spPr>
        <p:txBody>
          <a:bodyPr/>
          <a:lstStyle/>
          <a:p>
            <a:r>
              <a:rPr lang="en-US" dirty="0" smtClean="0"/>
              <a:t>Allows many user level threads to be mapped to many kernel threads</a:t>
            </a:r>
          </a:p>
          <a:p>
            <a:r>
              <a:rPr lang="en-US" dirty="0" smtClean="0"/>
              <a:t>Allows the  operating system to create a sufficient number of kernel threads</a:t>
            </a:r>
          </a:p>
          <a:p>
            <a:r>
              <a:rPr lang="en-US" dirty="0" smtClean="0"/>
              <a:t>Solaris prior to version 9</a:t>
            </a:r>
          </a:p>
          <a:p>
            <a:r>
              <a:rPr lang="en-US" dirty="0" smtClean="0"/>
              <a:t>Windows NT/2000 with the </a:t>
            </a:r>
            <a:r>
              <a:rPr lang="en-US" i="1" dirty="0" err="1" smtClean="0"/>
              <a:t>ThreadFiber</a:t>
            </a:r>
            <a:r>
              <a:rPr lang="en-US" dirty="0" smtClean="0"/>
              <a:t> package</a:t>
            </a:r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308" y="2825685"/>
            <a:ext cx="5153025" cy="3549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99" y="47271"/>
            <a:ext cx="9651589" cy="776977"/>
          </a:xfrm>
        </p:spPr>
        <p:txBody>
          <a:bodyPr/>
          <a:lstStyle/>
          <a:p>
            <a:pPr eaLnBrk="1" hangingPunct="1"/>
            <a:r>
              <a:rPr lang="en-US" b="1" u="sng" dirty="0" smtClean="0"/>
              <a:t>Two-level Model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4699" y="824249"/>
            <a:ext cx="11745532" cy="5079666"/>
          </a:xfrm>
        </p:spPr>
        <p:txBody>
          <a:bodyPr/>
          <a:lstStyle/>
          <a:p>
            <a:r>
              <a:rPr lang="en-US" dirty="0" smtClean="0"/>
              <a:t>Similar to M:M, except that it allows a user thread to be </a:t>
            </a:r>
            <a:r>
              <a:rPr lang="en-US" b="1" dirty="0" smtClean="0"/>
              <a:t>bound</a:t>
            </a:r>
            <a:r>
              <a:rPr lang="en-US" dirty="0" smtClean="0"/>
              <a:t> to kernel thread</a:t>
            </a:r>
          </a:p>
          <a:p>
            <a:r>
              <a:rPr lang="en-US" dirty="0" smtClean="0"/>
              <a:t>Examples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IRIX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HP-UX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Tru64 UNIX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Solaris 8 and earlier</a:t>
            </a:r>
          </a:p>
        </p:txBody>
      </p:sp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275" y="1903415"/>
            <a:ext cx="5942013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270457" y="115910"/>
            <a:ext cx="9780378" cy="669701"/>
          </a:xfrm>
        </p:spPr>
        <p:txBody>
          <a:bodyPr/>
          <a:lstStyle/>
          <a:p>
            <a:pPr eaLnBrk="1" hangingPunct="1"/>
            <a:r>
              <a:rPr lang="en-US" b="1" u="sng" dirty="0" smtClean="0"/>
              <a:t>Thread Libraries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270457" y="785612"/>
            <a:ext cx="11565227" cy="5462788"/>
          </a:xfrm>
        </p:spPr>
        <p:txBody>
          <a:bodyPr/>
          <a:lstStyle/>
          <a:p>
            <a:r>
              <a:rPr lang="en-US" dirty="0" smtClean="0"/>
              <a:t>Thread library provides programmer with API for creating and managing threads</a:t>
            </a:r>
          </a:p>
          <a:p>
            <a:r>
              <a:rPr lang="en-US" dirty="0" smtClean="0"/>
              <a:t>Two primary ways of implementing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Library entirely in user space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Kernel-level library supported by the OS</a:t>
            </a:r>
          </a:p>
          <a:p>
            <a:pPr marL="457200" lvl="1" indent="0">
              <a:buNone/>
            </a:pPr>
            <a:r>
              <a:rPr lang="en-US" sz="3200" b="1" u="sng" dirty="0" err="1" smtClean="0"/>
              <a:t>Pthreads</a:t>
            </a:r>
            <a:endParaRPr lang="en-US" sz="3200" b="1" u="sng" dirty="0" smtClean="0"/>
          </a:p>
          <a:p>
            <a:r>
              <a:rPr lang="en-US" dirty="0"/>
              <a:t>May be provided either as user-level or kernel-level</a:t>
            </a:r>
          </a:p>
          <a:p>
            <a:r>
              <a:rPr lang="en-US" dirty="0"/>
              <a:t>A POSIX standard (IEEE 1003.1c) API for thread creation and synchronization</a:t>
            </a:r>
          </a:p>
          <a:p>
            <a:r>
              <a:rPr lang="en-US" dirty="0"/>
              <a:t>API specifies behavior of the thread library, implementation is up to development of the library</a:t>
            </a:r>
          </a:p>
          <a:p>
            <a:r>
              <a:rPr lang="en-US" dirty="0"/>
              <a:t>Common in UNIX operating systems (Solaris, Linux, Mac OS X)</a:t>
            </a:r>
          </a:p>
          <a:p>
            <a:pPr marL="457200" lvl="1" indent="0">
              <a:buNone/>
            </a:pPr>
            <a:endParaRPr lang="en-US" sz="2000" dirty="0" smtClean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/>
              <a:t>Java Threads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46111" y="1540993"/>
            <a:ext cx="11112300" cy="3098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Java threads are managed by the JVM</a:t>
            </a:r>
          </a:p>
          <a:p>
            <a:pPr>
              <a:buFont typeface="Monotype Sorts" charset="2"/>
              <a:buNone/>
            </a:pPr>
            <a:endParaRPr lang="en-US" dirty="0" smtClean="0"/>
          </a:p>
          <a:p>
            <a:r>
              <a:rPr lang="en-US" dirty="0" smtClean="0"/>
              <a:t>Typically implemented using the threads model provided by underlying OS</a:t>
            </a:r>
          </a:p>
          <a:p>
            <a:pPr>
              <a:buFont typeface="Monotype Sorts" charset="2"/>
              <a:buNone/>
            </a:pPr>
            <a:endParaRPr lang="en-US" dirty="0" smtClean="0"/>
          </a:p>
          <a:p>
            <a:r>
              <a:rPr lang="en-US" dirty="0" smtClean="0"/>
              <a:t>Java threads may be created by: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Extending Thread class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Implementing the Runnable interface</a:t>
            </a:r>
            <a:br>
              <a:rPr lang="en-US" dirty="0" smtClean="0">
                <a:ea typeface="ＭＳ Ｐゴシック" panose="020B0600070205080204" pitchFamily="34" charset="-128"/>
              </a:rPr>
            </a:br>
            <a:endParaRPr lang="en-US" dirty="0" smtClean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7577" y="0"/>
            <a:ext cx="9793257" cy="695459"/>
          </a:xfrm>
        </p:spPr>
        <p:txBody>
          <a:bodyPr/>
          <a:lstStyle/>
          <a:p>
            <a:pPr eaLnBrk="1" hangingPunct="1"/>
            <a:r>
              <a:rPr lang="en-US" b="1" u="sng" dirty="0" smtClean="0"/>
              <a:t>Threading Issues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7577" y="695459"/>
            <a:ext cx="10367493" cy="5273541"/>
          </a:xfrm>
        </p:spPr>
        <p:txBody>
          <a:bodyPr/>
          <a:lstStyle/>
          <a:p>
            <a:r>
              <a:rPr lang="en-US" dirty="0" smtClean="0"/>
              <a:t>Semantics of </a:t>
            </a:r>
            <a:r>
              <a:rPr lang="en-US" b="1" dirty="0" smtClean="0"/>
              <a:t>fork()</a:t>
            </a:r>
            <a:r>
              <a:rPr lang="en-US" dirty="0" smtClean="0"/>
              <a:t> and </a:t>
            </a:r>
            <a:r>
              <a:rPr lang="en-US" b="1" dirty="0" smtClean="0"/>
              <a:t>exec()</a:t>
            </a:r>
            <a:r>
              <a:rPr lang="en-US" dirty="0" smtClean="0"/>
              <a:t> system calls</a:t>
            </a:r>
          </a:p>
          <a:p>
            <a:r>
              <a:rPr lang="en-US" dirty="0" smtClean="0"/>
              <a:t>Thread cancellation of target thread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Asynchronous or deferred</a:t>
            </a:r>
          </a:p>
          <a:p>
            <a:r>
              <a:rPr lang="en-US" dirty="0" smtClean="0"/>
              <a:t>Signal</a:t>
            </a:r>
            <a:r>
              <a:rPr lang="en-US" dirty="0" smtClean="0">
                <a:solidFill>
                  <a:srgbClr val="3366FF"/>
                </a:solidFill>
              </a:rPr>
              <a:t> </a:t>
            </a:r>
            <a:r>
              <a:rPr lang="en-US" dirty="0" smtClean="0"/>
              <a:t>handling</a:t>
            </a:r>
          </a:p>
          <a:p>
            <a:r>
              <a:rPr lang="en-US" dirty="0" smtClean="0"/>
              <a:t>Thread pools</a:t>
            </a:r>
          </a:p>
          <a:p>
            <a:r>
              <a:rPr lang="en-US" dirty="0" smtClean="0"/>
              <a:t>Thread-specific data</a:t>
            </a:r>
          </a:p>
          <a:p>
            <a:r>
              <a:rPr lang="en-US" dirty="0" smtClean="0"/>
              <a:t>Scheduler activations</a:t>
            </a:r>
          </a:p>
        </p:txBody>
      </p:sp>
      <p:sp>
        <p:nvSpPr>
          <p:cNvPr id="2" name="Rectangle 1"/>
          <p:cNvSpPr/>
          <p:nvPr/>
        </p:nvSpPr>
        <p:spPr>
          <a:xfrm>
            <a:off x="419872" y="3785246"/>
            <a:ext cx="102051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/>
              <a:t>Semantics of fork() and exec()</a:t>
            </a:r>
          </a:p>
        </p:txBody>
      </p:sp>
      <p:sp>
        <p:nvSpPr>
          <p:cNvPr id="3" name="Rectangle 2"/>
          <p:cNvSpPr/>
          <p:nvPr/>
        </p:nvSpPr>
        <p:spPr>
          <a:xfrm>
            <a:off x="691166" y="4619204"/>
            <a:ext cx="93596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Does </a:t>
            </a:r>
            <a:r>
              <a:rPr lang="en-US" b="1" dirty="0"/>
              <a:t>fork()</a:t>
            </a:r>
            <a:r>
              <a:rPr lang="en-US" dirty="0"/>
              <a:t> duplicate only the calling thread or all threads?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58990" y="34571"/>
            <a:ext cx="9404723" cy="725283"/>
          </a:xfrm>
        </p:spPr>
        <p:txBody>
          <a:bodyPr/>
          <a:lstStyle/>
          <a:p>
            <a:pPr eaLnBrk="1" hangingPunct="1"/>
            <a:r>
              <a:rPr lang="en-US" b="1" u="sng" dirty="0" smtClean="0"/>
              <a:t>Thread Cancellation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1088" y="1435101"/>
            <a:ext cx="6646862" cy="4430713"/>
          </a:xfrm>
        </p:spPr>
        <p:txBody>
          <a:bodyPr/>
          <a:lstStyle/>
          <a:p>
            <a:r>
              <a:rPr lang="en-US" smtClean="0"/>
              <a:t>Terminating a thread before it has finished</a:t>
            </a:r>
          </a:p>
          <a:p>
            <a:r>
              <a:rPr lang="en-US" smtClean="0"/>
              <a:t>Two general approaches:</a:t>
            </a:r>
          </a:p>
          <a:p>
            <a:pPr lvl="1"/>
            <a:r>
              <a:rPr lang="en-US" b="1" smtClean="0">
                <a:ea typeface="ＭＳ Ｐゴシック" panose="020B0600070205080204" pitchFamily="34" charset="-128"/>
              </a:rPr>
              <a:t>Asynchronous cancellation</a:t>
            </a:r>
            <a:r>
              <a:rPr lang="en-US" smtClean="0">
                <a:ea typeface="ＭＳ Ｐゴシック" panose="020B0600070205080204" pitchFamily="34" charset="-128"/>
              </a:rPr>
              <a:t> terminates the target thread  immediately</a:t>
            </a:r>
          </a:p>
          <a:p>
            <a:pPr lvl="1"/>
            <a:r>
              <a:rPr lang="en-US" b="1" smtClean="0">
                <a:ea typeface="ＭＳ Ｐゴシック" panose="020B0600070205080204" pitchFamily="34" charset="-128"/>
              </a:rPr>
              <a:t>Deferred cancellation</a:t>
            </a:r>
            <a:r>
              <a:rPr lang="en-US" smtClean="0">
                <a:ea typeface="ＭＳ Ｐゴシック" panose="020B0600070205080204" pitchFamily="34" charset="-128"/>
              </a:rPr>
              <a:t> allows the target thread to periodically check if it should be cancelled</a:t>
            </a:r>
          </a:p>
          <a:p>
            <a:pPr lvl="1">
              <a:buFont typeface="Monotype Sorts" charset="2"/>
              <a:buNone/>
            </a:pPr>
            <a:endParaRPr lang="en-US" smtClean="0">
              <a:ea typeface="ＭＳ Ｐゴシック" panose="020B0600070205080204" pitchFamily="34" charset="-128"/>
            </a:endParaRPr>
          </a:p>
          <a:p>
            <a:pPr lvl="1"/>
            <a:endParaRPr lang="en-US" smtClean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/>
              <a:t>Signal Handling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1089" y="1397000"/>
            <a:ext cx="7064375" cy="4457700"/>
          </a:xfrm>
        </p:spPr>
        <p:txBody>
          <a:bodyPr>
            <a:normAutofit fontScale="92500" lnSpcReduction="10000"/>
          </a:bodyPr>
          <a:lstStyle/>
          <a:p>
            <a:pPr marL="381000" indent="-381000"/>
            <a:r>
              <a:rPr lang="en-US" dirty="0" smtClean="0"/>
              <a:t>Signals are used in UNIX systems to notify a process that a particular event has occurred</a:t>
            </a:r>
          </a:p>
          <a:p>
            <a:pPr marL="381000" indent="-381000"/>
            <a:r>
              <a:rPr lang="en-US" dirty="0" smtClean="0"/>
              <a:t>A signal handler is used to process signals</a:t>
            </a:r>
          </a:p>
          <a:p>
            <a:pPr marL="800100" lvl="1" indent="-342900">
              <a:buFont typeface="Webdings" panose="05030102010509060703" pitchFamily="18" charset="2"/>
              <a:buAutoNum type="arabicPeriod"/>
            </a:pPr>
            <a:r>
              <a:rPr lang="en-US" dirty="0" smtClean="0">
                <a:ea typeface="ＭＳ Ｐゴシック" panose="020B0600070205080204" pitchFamily="34" charset="-128"/>
              </a:rPr>
              <a:t>Signal is generated by particular event</a:t>
            </a:r>
          </a:p>
          <a:p>
            <a:pPr marL="800100" lvl="1" indent="-342900">
              <a:buFont typeface="Webdings" panose="05030102010509060703" pitchFamily="18" charset="2"/>
              <a:buAutoNum type="arabicPeriod"/>
            </a:pPr>
            <a:r>
              <a:rPr lang="en-US" dirty="0" smtClean="0">
                <a:ea typeface="ＭＳ Ｐゴシック" panose="020B0600070205080204" pitchFamily="34" charset="-128"/>
              </a:rPr>
              <a:t>Signal is delivered to a process</a:t>
            </a:r>
          </a:p>
          <a:p>
            <a:pPr marL="800100" lvl="1" indent="-342900">
              <a:buFont typeface="Webdings" panose="05030102010509060703" pitchFamily="18" charset="2"/>
              <a:buAutoNum type="arabicPeriod"/>
            </a:pPr>
            <a:r>
              <a:rPr lang="en-US" dirty="0" smtClean="0">
                <a:ea typeface="ＭＳ Ｐゴシック" panose="020B0600070205080204" pitchFamily="34" charset="-128"/>
              </a:rPr>
              <a:t>Signal is handled</a:t>
            </a:r>
          </a:p>
          <a:p>
            <a:pPr marL="381000" indent="-381000"/>
            <a:r>
              <a:rPr lang="en-US" dirty="0" smtClean="0"/>
              <a:t>Options:</a:t>
            </a:r>
          </a:p>
          <a:p>
            <a:pPr marL="800100" lvl="1" indent="-342900"/>
            <a:r>
              <a:rPr lang="en-US" dirty="0" smtClean="0">
                <a:ea typeface="ＭＳ Ｐゴシック" panose="020B0600070205080204" pitchFamily="34" charset="-128"/>
              </a:rPr>
              <a:t>Deliver the signal to the thread to which the signal applies</a:t>
            </a:r>
          </a:p>
          <a:p>
            <a:pPr marL="800100" lvl="1" indent="-342900"/>
            <a:r>
              <a:rPr lang="en-US" dirty="0" smtClean="0">
                <a:ea typeface="ＭＳ Ｐゴシック" panose="020B0600070205080204" pitchFamily="34" charset="-128"/>
              </a:rPr>
              <a:t>Deliver the signal to every thread in the process</a:t>
            </a:r>
          </a:p>
          <a:p>
            <a:pPr marL="800100" lvl="1" indent="-342900"/>
            <a:r>
              <a:rPr lang="en-US" dirty="0" smtClean="0">
                <a:ea typeface="ＭＳ Ｐゴシック" panose="020B0600070205080204" pitchFamily="34" charset="-128"/>
              </a:rPr>
              <a:t>Deliver the signal to certain threads in the process</a:t>
            </a:r>
          </a:p>
          <a:p>
            <a:pPr marL="800100" lvl="1" indent="-342900"/>
            <a:r>
              <a:rPr lang="en-US" dirty="0" smtClean="0">
                <a:ea typeface="ＭＳ Ｐゴシック" panose="020B0600070205080204" pitchFamily="34" charset="-128"/>
              </a:rPr>
              <a:t>Assign a specific </a:t>
            </a:r>
            <a:r>
              <a:rPr lang="en-US" dirty="0" err="1" smtClean="0">
                <a:ea typeface="ＭＳ Ｐゴシック" panose="020B0600070205080204" pitchFamily="34" charset="-128"/>
              </a:rPr>
              <a:t>threa</a:t>
            </a:r>
            <a:r>
              <a:rPr lang="en-US" dirty="0" smtClean="0">
                <a:ea typeface="ＭＳ Ｐゴシック" panose="020B0600070205080204" pitchFamily="34" charset="-128"/>
              </a:rPr>
              <a:t> to receive all signals for the process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/>
              <a:t>Thread Pools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30451" y="1233489"/>
            <a:ext cx="7631113" cy="4478337"/>
          </a:xfrm>
        </p:spPr>
        <p:txBody>
          <a:bodyPr/>
          <a:lstStyle/>
          <a:p>
            <a:r>
              <a:rPr lang="en-US" smtClean="0"/>
              <a:t>Create a number of threads in a pool where they await work</a:t>
            </a:r>
          </a:p>
          <a:p>
            <a:r>
              <a:rPr lang="en-US" smtClean="0"/>
              <a:t>Advantages: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Usually slightly faster to service a request with an existing thread than create a new thread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Allows the number of threads in the application(s) to be bound to the size of the pool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/>
              <a:t>Thread Specific Data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30450" y="1233489"/>
            <a:ext cx="7029450" cy="4478337"/>
          </a:xfrm>
        </p:spPr>
        <p:txBody>
          <a:bodyPr/>
          <a:lstStyle/>
          <a:p>
            <a:r>
              <a:rPr lang="en-US" smtClean="0"/>
              <a:t>Allows each thread to have its own copy of data</a:t>
            </a:r>
          </a:p>
          <a:p>
            <a:r>
              <a:rPr lang="en-US" smtClean="0"/>
              <a:t>Useful when you do not have control over the thread creation process (i.e., when using a thread pool)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/>
              <a:t>Chapter 3: Scheduler Activations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1233489"/>
            <a:ext cx="11356999" cy="5624511"/>
          </a:xfrm>
        </p:spPr>
        <p:txBody>
          <a:bodyPr>
            <a:normAutofit/>
          </a:bodyPr>
          <a:lstStyle/>
          <a:p>
            <a:r>
              <a:rPr lang="en-US" dirty="0" smtClean="0"/>
              <a:t>Both M:M and Two-level models require communication to maintain the appropriate number of kernel threads allocated to the application</a:t>
            </a:r>
          </a:p>
          <a:p>
            <a:r>
              <a:rPr lang="en-US" dirty="0" smtClean="0"/>
              <a:t>Scheduler activations provide </a:t>
            </a:r>
            <a:r>
              <a:rPr lang="en-US" dirty="0" err="1" smtClean="0"/>
              <a:t>upcalls</a:t>
            </a:r>
            <a:r>
              <a:rPr lang="en-US" dirty="0" smtClean="0"/>
              <a:t> - a communication mechanism from the kernel to the thread library</a:t>
            </a:r>
          </a:p>
          <a:p>
            <a:r>
              <a:rPr lang="en-US" dirty="0" smtClean="0"/>
              <a:t>This communication allows an application to maintain the correct number kernel threads</a:t>
            </a:r>
          </a:p>
          <a:p>
            <a:pPr marL="0" indent="0">
              <a:buNone/>
            </a:pPr>
            <a:r>
              <a:rPr lang="en-US" sz="4000" b="1" u="sng" dirty="0"/>
              <a:t>Basic </a:t>
            </a:r>
            <a:r>
              <a:rPr lang="en-US" sz="4000" b="1" u="sng" dirty="0" smtClean="0"/>
              <a:t>Concepts</a:t>
            </a:r>
            <a:endParaRPr lang="en-US" dirty="0" smtClean="0"/>
          </a:p>
          <a:p>
            <a:r>
              <a:rPr lang="en-US" dirty="0"/>
              <a:t>Maximum CPU utilization obtained with multiprogramming</a:t>
            </a:r>
          </a:p>
          <a:p>
            <a:r>
              <a:rPr lang="en-US" dirty="0"/>
              <a:t>CPU–I/O Burst Cycle – Process execution consists of a </a:t>
            </a:r>
            <a:r>
              <a:rPr lang="en-US" i="1" dirty="0"/>
              <a:t>cycle</a:t>
            </a:r>
            <a:r>
              <a:rPr lang="en-US" dirty="0"/>
              <a:t> of CPU execution and I/O wait</a:t>
            </a:r>
          </a:p>
          <a:p>
            <a:r>
              <a:rPr lang="en-US" b="1" dirty="0"/>
              <a:t>CPU burst </a:t>
            </a:r>
            <a:r>
              <a:rPr lang="en-US" dirty="0"/>
              <a:t>distribution</a:t>
            </a:r>
          </a:p>
          <a:p>
            <a:pPr marL="0" indent="0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0151" y="376238"/>
            <a:ext cx="11256135" cy="457200"/>
          </a:xfrm>
        </p:spPr>
        <p:txBody>
          <a:bodyPr/>
          <a:lstStyle/>
          <a:p>
            <a:pPr eaLnBrk="1" hangingPunct="1"/>
            <a:r>
              <a:rPr lang="en-US" sz="4000" b="1" u="sng" dirty="0"/>
              <a:t>Alternating Sequence of CPU And I/O Bursts</a:t>
            </a:r>
          </a:p>
        </p:txBody>
      </p:sp>
      <p:pic>
        <p:nvPicPr>
          <p:cNvPr id="921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714" y="1236664"/>
            <a:ext cx="2744787" cy="503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/>
              <a:t>Histogram of CPU-burst Times</a:t>
            </a:r>
          </a:p>
        </p:txBody>
      </p:sp>
      <p:pic>
        <p:nvPicPr>
          <p:cNvPr id="717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488" y="1525589"/>
            <a:ext cx="5721350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452718"/>
            <a:ext cx="9404723" cy="899564"/>
          </a:xfrm>
        </p:spPr>
        <p:txBody>
          <a:bodyPr/>
          <a:lstStyle/>
          <a:p>
            <a:pPr eaLnBrk="1" hangingPunct="1"/>
            <a:r>
              <a:rPr lang="en-US" b="1" u="sng" dirty="0" smtClean="0"/>
              <a:t>CPU Scheduler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2" y="1352282"/>
            <a:ext cx="11545888" cy="4896117"/>
          </a:xfrm>
        </p:spPr>
        <p:txBody>
          <a:bodyPr/>
          <a:lstStyle/>
          <a:p>
            <a:r>
              <a:rPr lang="en-US" dirty="0" smtClean="0"/>
              <a:t>Selects from among the processes in memory that are ready to execute, and allocates the CPU to one of them</a:t>
            </a:r>
          </a:p>
          <a:p>
            <a:r>
              <a:rPr lang="en-US" dirty="0" smtClean="0"/>
              <a:t>CPU scheduling decisions may take place when a process:</a:t>
            </a:r>
          </a:p>
          <a:p>
            <a:pPr lvl="1">
              <a:buFont typeface="Monotype Sorts" charset="2"/>
              <a:buNone/>
            </a:pPr>
            <a:r>
              <a:rPr lang="en-US" dirty="0" smtClean="0">
                <a:solidFill>
                  <a:srgbClr val="CC6600"/>
                </a:solidFill>
                <a:ea typeface="ＭＳ Ｐゴシック" panose="020B0600070205080204" pitchFamily="34" charset="-128"/>
              </a:rPr>
              <a:t>1.	</a:t>
            </a:r>
            <a:r>
              <a:rPr lang="en-US" dirty="0" smtClean="0">
                <a:ea typeface="ＭＳ Ｐゴシック" panose="020B0600070205080204" pitchFamily="34" charset="-128"/>
              </a:rPr>
              <a:t>Switches from running to waiting state</a:t>
            </a:r>
          </a:p>
          <a:p>
            <a:pPr lvl="1">
              <a:buFont typeface="Monotype Sorts" charset="2"/>
              <a:buNone/>
            </a:pPr>
            <a:r>
              <a:rPr lang="en-US" dirty="0" smtClean="0">
                <a:solidFill>
                  <a:srgbClr val="CC6600"/>
                </a:solidFill>
                <a:ea typeface="ＭＳ Ｐゴシック" panose="020B0600070205080204" pitchFamily="34" charset="-128"/>
              </a:rPr>
              <a:t>2.</a:t>
            </a:r>
            <a:r>
              <a:rPr lang="en-US" dirty="0" smtClean="0">
                <a:ea typeface="ＭＳ Ｐゴシック" panose="020B0600070205080204" pitchFamily="34" charset="-128"/>
              </a:rPr>
              <a:t>	Switches from running to ready state</a:t>
            </a:r>
          </a:p>
          <a:p>
            <a:pPr lvl="1">
              <a:buFont typeface="Monotype Sorts" charset="2"/>
              <a:buNone/>
            </a:pPr>
            <a:r>
              <a:rPr lang="en-US" dirty="0" smtClean="0">
                <a:solidFill>
                  <a:srgbClr val="CC6600"/>
                </a:solidFill>
                <a:ea typeface="ＭＳ Ｐゴシック" panose="020B0600070205080204" pitchFamily="34" charset="-128"/>
              </a:rPr>
              <a:t>3.</a:t>
            </a:r>
            <a:r>
              <a:rPr lang="en-US" dirty="0" smtClean="0">
                <a:ea typeface="ＭＳ Ｐゴシック" panose="020B0600070205080204" pitchFamily="34" charset="-128"/>
              </a:rPr>
              <a:t>	Switches from waiting to ready</a:t>
            </a:r>
          </a:p>
          <a:p>
            <a:pPr lvl="1">
              <a:buFont typeface="Monotype Sorts" charset="2"/>
              <a:buNone/>
            </a:pPr>
            <a:r>
              <a:rPr lang="en-US" dirty="0" smtClean="0">
                <a:solidFill>
                  <a:srgbClr val="CC6600"/>
                </a:solidFill>
                <a:ea typeface="ＭＳ Ｐゴシック" panose="020B0600070205080204" pitchFamily="34" charset="-128"/>
              </a:rPr>
              <a:t>4.</a:t>
            </a:r>
            <a:r>
              <a:rPr lang="en-US" dirty="0" smtClean="0">
                <a:ea typeface="ＭＳ Ｐゴシック" panose="020B0600070205080204" pitchFamily="34" charset="-128"/>
              </a:rPr>
              <a:t>	Terminates</a:t>
            </a:r>
          </a:p>
          <a:p>
            <a:r>
              <a:rPr lang="en-US" dirty="0" smtClean="0"/>
              <a:t>Scheduling under 1 and 4 is </a:t>
            </a:r>
            <a:r>
              <a:rPr lang="en-US" b="1" dirty="0" err="1" smtClean="0"/>
              <a:t>nonpreemptive</a:t>
            </a:r>
            <a:endParaRPr lang="en-US" b="1" dirty="0" smtClean="0"/>
          </a:p>
          <a:p>
            <a:r>
              <a:rPr lang="en-US" dirty="0" smtClean="0"/>
              <a:t>All other scheduling is </a:t>
            </a:r>
            <a:r>
              <a:rPr lang="en-US" b="1" dirty="0" smtClean="0"/>
              <a:t>preemptive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/>
              <a:t>Dispatcher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1382713"/>
            <a:ext cx="11344120" cy="4483100"/>
          </a:xfrm>
        </p:spPr>
        <p:txBody>
          <a:bodyPr/>
          <a:lstStyle/>
          <a:p>
            <a:r>
              <a:rPr lang="en-US" dirty="0" smtClean="0"/>
              <a:t>Dispatcher module gives control of the CPU to the process selected by the short-term scheduler; this involves: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switching context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switching to user mode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jumping to the proper location in the user program to restart that program</a:t>
            </a:r>
          </a:p>
          <a:p>
            <a:r>
              <a:rPr lang="en-US" b="1" dirty="0" smtClean="0"/>
              <a:t>Dispatch latency </a:t>
            </a:r>
            <a:r>
              <a:rPr lang="en-US" dirty="0" smtClean="0"/>
              <a:t>– time it takes for the dispatcher to stop one process and start another running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33232" y="156504"/>
            <a:ext cx="9404723" cy="848048"/>
          </a:xfrm>
        </p:spPr>
        <p:txBody>
          <a:bodyPr/>
          <a:lstStyle/>
          <a:p>
            <a:pPr eaLnBrk="1" hangingPunct="1"/>
            <a:r>
              <a:rPr lang="en-US" b="1" u="sng" dirty="0" smtClean="0"/>
              <a:t>Scheduling Criteria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232" y="1246189"/>
            <a:ext cx="11558768" cy="3773487"/>
          </a:xfrm>
        </p:spPr>
        <p:txBody>
          <a:bodyPr/>
          <a:lstStyle/>
          <a:p>
            <a:r>
              <a:rPr lang="en-US" b="1" dirty="0" smtClean="0"/>
              <a:t>CPU utilization </a:t>
            </a:r>
            <a:r>
              <a:rPr lang="en-US" dirty="0" smtClean="0"/>
              <a:t>– keep the CPU as busy as possible</a:t>
            </a:r>
          </a:p>
          <a:p>
            <a:r>
              <a:rPr lang="en-US" b="1" dirty="0" smtClean="0"/>
              <a:t>Throughput</a:t>
            </a:r>
            <a:r>
              <a:rPr lang="en-US" dirty="0" smtClean="0"/>
              <a:t> – # of processes that complete their execution per time unit</a:t>
            </a:r>
          </a:p>
          <a:p>
            <a:r>
              <a:rPr lang="en-US" b="1" dirty="0" smtClean="0"/>
              <a:t>Turnaround time </a:t>
            </a:r>
            <a:r>
              <a:rPr lang="en-US" dirty="0" smtClean="0"/>
              <a:t>– amount of time to execute a particular process</a:t>
            </a:r>
          </a:p>
          <a:p>
            <a:r>
              <a:rPr lang="en-US" b="1" dirty="0" smtClean="0"/>
              <a:t>Waiting time </a:t>
            </a:r>
            <a:r>
              <a:rPr lang="en-US" dirty="0" smtClean="0"/>
              <a:t>– amount of time a process has been waiting in the ready queue</a:t>
            </a:r>
          </a:p>
          <a:p>
            <a:r>
              <a:rPr lang="en-US" b="1" dirty="0" smtClean="0"/>
              <a:t>Response time </a:t>
            </a:r>
            <a:r>
              <a:rPr lang="en-US" dirty="0" smtClean="0"/>
              <a:t>– amount of time it takes from when a request was submitted until the first response is produced, not output  (for time-sharing environment)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4546" y="452718"/>
            <a:ext cx="11462197" cy="809412"/>
          </a:xfrm>
        </p:spPr>
        <p:txBody>
          <a:bodyPr/>
          <a:lstStyle/>
          <a:p>
            <a:pPr eaLnBrk="1" hangingPunct="1"/>
            <a:r>
              <a:rPr lang="en-US" sz="4000" b="1" u="sng" dirty="0"/>
              <a:t>Scheduling Algorithm Optimization Criteria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546" y="1439863"/>
            <a:ext cx="9548254" cy="4483100"/>
          </a:xfrm>
        </p:spPr>
        <p:txBody>
          <a:bodyPr/>
          <a:lstStyle/>
          <a:p>
            <a:r>
              <a:rPr lang="en-US" dirty="0" smtClean="0"/>
              <a:t>Max CPU utilization</a:t>
            </a:r>
          </a:p>
          <a:p>
            <a:r>
              <a:rPr lang="en-US" dirty="0" smtClean="0"/>
              <a:t>Max throughput</a:t>
            </a:r>
          </a:p>
          <a:p>
            <a:r>
              <a:rPr lang="en-US" dirty="0" smtClean="0"/>
              <a:t>Min turnaround time </a:t>
            </a:r>
          </a:p>
          <a:p>
            <a:r>
              <a:rPr lang="en-US" dirty="0" smtClean="0"/>
              <a:t>Min waiting time </a:t>
            </a:r>
          </a:p>
          <a:p>
            <a:r>
              <a:rPr lang="en-US" dirty="0" smtClean="0"/>
              <a:t>Min response time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73487" y="0"/>
            <a:ext cx="10145289" cy="1390650"/>
          </a:xfrm>
        </p:spPr>
        <p:txBody>
          <a:bodyPr/>
          <a:lstStyle/>
          <a:p>
            <a:r>
              <a:rPr lang="en-US" sz="4000" b="1" u="sng" dirty="0"/>
              <a:t>Scheduling Algorithm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2800" b="1" dirty="0" smtClean="0"/>
              <a:t>First-Come</a:t>
            </a:r>
            <a:r>
              <a:rPr lang="en-US" sz="2800" b="1" dirty="0"/>
              <a:t>, First-Served (FCFS) Scheduling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1239" y="1390650"/>
            <a:ext cx="7566025" cy="4114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sz="1600" dirty="0"/>
              <a:t>		</a:t>
            </a:r>
            <a:r>
              <a:rPr lang="en-US" u="sng" dirty="0" smtClean="0"/>
              <a:t>Process</a:t>
            </a:r>
            <a:r>
              <a:rPr lang="en-US" dirty="0" smtClean="0"/>
              <a:t>	</a:t>
            </a:r>
            <a:r>
              <a:rPr lang="en-US" u="sng" dirty="0" smtClean="0"/>
              <a:t>Burst Time	</a:t>
            </a:r>
          </a:p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dirty="0" smtClean="0"/>
              <a:t>		 </a:t>
            </a:r>
            <a:r>
              <a:rPr lang="en-US" i="1" dirty="0" smtClean="0"/>
              <a:t>P</a:t>
            </a:r>
            <a:r>
              <a:rPr lang="en-US" i="1" baseline="-25000" dirty="0" smtClean="0"/>
              <a:t>1</a:t>
            </a:r>
            <a:r>
              <a:rPr lang="en-US" dirty="0" smtClean="0"/>
              <a:t>	24</a:t>
            </a:r>
          </a:p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dirty="0" smtClean="0"/>
              <a:t>		 </a:t>
            </a:r>
            <a:r>
              <a:rPr lang="en-US" i="1" dirty="0" smtClean="0"/>
              <a:t>P</a:t>
            </a:r>
            <a:r>
              <a:rPr lang="en-US" i="1" baseline="-25000" dirty="0" smtClean="0"/>
              <a:t>2</a:t>
            </a:r>
            <a:r>
              <a:rPr lang="en-US" dirty="0" smtClean="0"/>
              <a:t> 	3</a:t>
            </a:r>
          </a:p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r>
              <a:rPr lang="en-US" dirty="0" smtClean="0"/>
              <a:t>		 </a:t>
            </a:r>
            <a:r>
              <a:rPr lang="en-US" i="1" dirty="0" smtClean="0"/>
              <a:t>P</a:t>
            </a:r>
            <a:r>
              <a:rPr lang="en-US" i="1" baseline="-25000" dirty="0" smtClean="0"/>
              <a:t>3	 </a:t>
            </a:r>
            <a:r>
              <a:rPr lang="en-US" dirty="0" smtClean="0"/>
              <a:t>3</a:t>
            </a:r>
            <a:r>
              <a:rPr lang="en-US" i="1" baseline="-25000" dirty="0" smtClean="0"/>
              <a:t> </a:t>
            </a: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dirty="0" smtClean="0"/>
              <a:t>Suppose that the processes arrive in the order: </a:t>
            </a:r>
            <a:r>
              <a:rPr lang="en-US" i="1" dirty="0" smtClean="0"/>
              <a:t>P</a:t>
            </a:r>
            <a:r>
              <a:rPr lang="en-US" i="1" baseline="-25000" dirty="0" smtClean="0"/>
              <a:t>1</a:t>
            </a:r>
            <a:r>
              <a:rPr lang="en-US" dirty="0" smtClean="0"/>
              <a:t> , </a:t>
            </a:r>
            <a:r>
              <a:rPr lang="en-US" i="1" dirty="0" smtClean="0"/>
              <a:t>P</a:t>
            </a:r>
            <a:r>
              <a:rPr lang="en-US" i="1" baseline="-25000" dirty="0" smtClean="0"/>
              <a:t>2</a:t>
            </a:r>
            <a:r>
              <a:rPr lang="en-US" dirty="0" smtClean="0"/>
              <a:t> , </a:t>
            </a:r>
            <a:r>
              <a:rPr lang="en-US" i="1" dirty="0" smtClean="0"/>
              <a:t>P</a:t>
            </a:r>
            <a:r>
              <a:rPr lang="en-US" i="1" baseline="-25000" dirty="0" smtClean="0"/>
              <a:t>3  </a:t>
            </a:r>
            <a:br>
              <a:rPr lang="en-US" i="1" baseline="-25000" dirty="0" smtClean="0"/>
            </a:br>
            <a:r>
              <a:rPr lang="en-US" dirty="0" smtClean="0"/>
              <a:t>The Gantt Chart for the schedule is:</a:t>
            </a:r>
            <a:br>
              <a:rPr lang="en-US" dirty="0" smtClean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endParaRPr lang="en-US" sz="1600" dirty="0"/>
          </a:p>
          <a:p>
            <a:pPr>
              <a:lnSpc>
                <a:spcPct val="90000"/>
              </a:lnSpc>
              <a:buNone/>
              <a:tabLst>
                <a:tab pos="3032125" algn="ctr"/>
                <a:tab pos="4635500" algn="ctr"/>
              </a:tabLst>
            </a:pPr>
            <a:endParaRPr lang="en-US" sz="1600" dirty="0"/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dirty="0" smtClean="0"/>
              <a:t>Waiting time for </a:t>
            </a:r>
            <a:r>
              <a:rPr lang="en-US" i="1" dirty="0" smtClean="0"/>
              <a:t>P</a:t>
            </a:r>
            <a:r>
              <a:rPr lang="en-US" i="1" baseline="-25000" dirty="0" smtClean="0"/>
              <a:t>1</a:t>
            </a:r>
            <a:r>
              <a:rPr lang="en-US" dirty="0" smtClean="0"/>
              <a:t>  = 0; </a:t>
            </a:r>
            <a:r>
              <a:rPr lang="en-US" i="1" dirty="0" smtClean="0"/>
              <a:t>P</a:t>
            </a:r>
            <a:r>
              <a:rPr lang="en-US" i="1" baseline="-25000" dirty="0" smtClean="0"/>
              <a:t>2</a:t>
            </a:r>
            <a:r>
              <a:rPr lang="en-US" dirty="0" smtClean="0"/>
              <a:t>  = 24; </a:t>
            </a:r>
            <a:r>
              <a:rPr lang="en-US" i="1" dirty="0" smtClean="0"/>
              <a:t>P</a:t>
            </a:r>
            <a:r>
              <a:rPr lang="en-US" i="1" baseline="-25000" dirty="0" smtClean="0"/>
              <a:t>3 </a:t>
            </a:r>
            <a:r>
              <a:rPr lang="en-US" dirty="0" smtClean="0"/>
              <a:t>= 27</a:t>
            </a:r>
          </a:p>
          <a:p>
            <a:pPr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dirty="0" smtClean="0"/>
              <a:t>Average waiting time:  (0 + 24 + 27)/3 = 17</a:t>
            </a:r>
          </a:p>
        </p:txBody>
      </p:sp>
      <p:grpSp>
        <p:nvGrpSpPr>
          <p:cNvPr id="19460" name="Group 18"/>
          <p:cNvGrpSpPr>
            <a:grpSpLocks/>
          </p:cNvGrpSpPr>
          <p:nvPr/>
        </p:nvGrpSpPr>
        <p:grpSpPr bwMode="auto">
          <a:xfrm>
            <a:off x="3208338" y="3578226"/>
            <a:ext cx="5556250" cy="1128713"/>
            <a:chOff x="856" y="2688"/>
            <a:chExt cx="3500" cy="711"/>
          </a:xfrm>
        </p:grpSpPr>
        <p:sp>
          <p:nvSpPr>
            <p:cNvPr id="19461" name="Rectangle 4"/>
            <p:cNvSpPr>
              <a:spLocks noChangeArrowheads="1"/>
            </p:cNvSpPr>
            <p:nvPr/>
          </p:nvSpPr>
          <p:spPr bwMode="auto">
            <a:xfrm>
              <a:off x="960" y="2688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19462" name="Text Box 5"/>
            <p:cNvSpPr txBox="1">
              <a:spLocks noChangeArrowheads="1"/>
            </p:cNvSpPr>
            <p:nvPr/>
          </p:nvSpPr>
          <p:spPr bwMode="auto">
            <a:xfrm>
              <a:off x="1776" y="2736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P</a:t>
              </a:r>
              <a:r>
                <a:rPr lang="en-US" baseline="-25000">
                  <a:latin typeface="Helvetica" panose="020B0604020202020204" pitchFamily="34" charset="0"/>
                </a:rPr>
                <a:t>1</a:t>
              </a:r>
              <a:endParaRPr lang="en-US">
                <a:latin typeface="Helvetica" panose="020B0604020202020204" pitchFamily="34" charset="0"/>
              </a:endParaRPr>
            </a:p>
          </p:txBody>
        </p:sp>
        <p:sp>
          <p:nvSpPr>
            <p:cNvPr id="19463" name="Text Box 6"/>
            <p:cNvSpPr txBox="1">
              <a:spLocks noChangeArrowheads="1"/>
            </p:cNvSpPr>
            <p:nvPr/>
          </p:nvSpPr>
          <p:spPr bwMode="auto">
            <a:xfrm>
              <a:off x="3264" y="2736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P</a:t>
              </a:r>
              <a:r>
                <a:rPr lang="en-US" baseline="-25000">
                  <a:latin typeface="Helvetica" panose="020B0604020202020204" pitchFamily="34" charset="0"/>
                </a:rPr>
                <a:t>2</a:t>
              </a:r>
              <a:endParaRPr lang="en-US">
                <a:latin typeface="Helvetica" panose="020B0604020202020204" pitchFamily="34" charset="0"/>
              </a:endParaRPr>
            </a:p>
          </p:txBody>
        </p:sp>
        <p:sp>
          <p:nvSpPr>
            <p:cNvPr id="19464" name="Text Box 7"/>
            <p:cNvSpPr txBox="1">
              <a:spLocks noChangeArrowheads="1"/>
            </p:cNvSpPr>
            <p:nvPr/>
          </p:nvSpPr>
          <p:spPr bwMode="auto">
            <a:xfrm>
              <a:off x="3840" y="2736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P</a:t>
              </a:r>
              <a:r>
                <a:rPr lang="en-US" baseline="-25000">
                  <a:latin typeface="Helvetica" panose="020B0604020202020204" pitchFamily="34" charset="0"/>
                </a:rPr>
                <a:t>3</a:t>
              </a:r>
              <a:endParaRPr lang="en-US">
                <a:latin typeface="Helvetica" panose="020B0604020202020204" pitchFamily="34" charset="0"/>
              </a:endParaRPr>
            </a:p>
          </p:txBody>
        </p:sp>
        <p:sp>
          <p:nvSpPr>
            <p:cNvPr id="19465" name="Line 8"/>
            <p:cNvSpPr>
              <a:spLocks noChangeShapeType="1"/>
            </p:cNvSpPr>
            <p:nvPr/>
          </p:nvSpPr>
          <p:spPr bwMode="auto">
            <a:xfrm>
              <a:off x="96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6" name="Line 9"/>
            <p:cNvSpPr>
              <a:spLocks noChangeShapeType="1"/>
            </p:cNvSpPr>
            <p:nvPr/>
          </p:nvSpPr>
          <p:spPr bwMode="auto">
            <a:xfrm>
              <a:off x="42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7" name="Line 10"/>
            <p:cNvSpPr>
              <a:spLocks noChangeShapeType="1"/>
            </p:cNvSpPr>
            <p:nvPr/>
          </p:nvSpPr>
          <p:spPr bwMode="auto">
            <a:xfrm>
              <a:off x="3072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8" name="Line 11"/>
            <p:cNvSpPr>
              <a:spLocks noChangeShapeType="1"/>
            </p:cNvSpPr>
            <p:nvPr/>
          </p:nvSpPr>
          <p:spPr bwMode="auto">
            <a:xfrm>
              <a:off x="3648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9" name="Line 12"/>
            <p:cNvSpPr>
              <a:spLocks noChangeShapeType="1"/>
            </p:cNvSpPr>
            <p:nvPr/>
          </p:nvSpPr>
          <p:spPr bwMode="auto">
            <a:xfrm>
              <a:off x="30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0" name="Line 13"/>
            <p:cNvSpPr>
              <a:spLocks noChangeShapeType="1"/>
            </p:cNvSpPr>
            <p:nvPr/>
          </p:nvSpPr>
          <p:spPr bwMode="auto">
            <a:xfrm>
              <a:off x="3648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1" name="Text Box 14"/>
            <p:cNvSpPr txBox="1">
              <a:spLocks noChangeArrowheads="1"/>
            </p:cNvSpPr>
            <p:nvPr/>
          </p:nvSpPr>
          <p:spPr bwMode="auto">
            <a:xfrm>
              <a:off x="2928" y="3168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24</a:t>
              </a:r>
            </a:p>
          </p:txBody>
        </p:sp>
        <p:sp>
          <p:nvSpPr>
            <p:cNvPr id="19472" name="Text Box 15"/>
            <p:cNvSpPr txBox="1">
              <a:spLocks noChangeArrowheads="1"/>
            </p:cNvSpPr>
            <p:nvPr/>
          </p:nvSpPr>
          <p:spPr bwMode="auto">
            <a:xfrm>
              <a:off x="3504" y="3168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27</a:t>
              </a:r>
            </a:p>
          </p:txBody>
        </p:sp>
        <p:sp>
          <p:nvSpPr>
            <p:cNvPr id="19473" name="Text Box 16"/>
            <p:cNvSpPr txBox="1">
              <a:spLocks noChangeArrowheads="1"/>
            </p:cNvSpPr>
            <p:nvPr/>
          </p:nvSpPr>
          <p:spPr bwMode="auto">
            <a:xfrm>
              <a:off x="4080" y="3168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30</a:t>
              </a:r>
            </a:p>
          </p:txBody>
        </p:sp>
        <p:sp>
          <p:nvSpPr>
            <p:cNvPr id="19474" name="Text Box 17"/>
            <p:cNvSpPr txBox="1">
              <a:spLocks noChangeArrowheads="1"/>
            </p:cNvSpPr>
            <p:nvPr/>
          </p:nvSpPr>
          <p:spPr bwMode="auto">
            <a:xfrm>
              <a:off x="856" y="31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452718"/>
            <a:ext cx="9404723" cy="1433512"/>
          </a:xfrm>
        </p:spPr>
        <p:txBody>
          <a:bodyPr/>
          <a:lstStyle/>
          <a:p>
            <a:r>
              <a:rPr lang="en-US" sz="4400" b="1" u="sng" dirty="0"/>
              <a:t>Scheduling Algorithm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 smtClean="0"/>
              <a:t>FCFS Scheduling (</a:t>
            </a:r>
            <a:r>
              <a:rPr lang="en-US" sz="2800" b="1" dirty="0" err="1" smtClean="0"/>
              <a:t>Cont</a:t>
            </a:r>
            <a:r>
              <a:rPr lang="en-US" sz="2800" b="1" dirty="0" smtClean="0"/>
              <a:t>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  <a:tabLst>
                <a:tab pos="3651250" algn="ctr"/>
              </a:tabLst>
            </a:pPr>
            <a:r>
              <a:rPr lang="en-US" smtClean="0"/>
              <a:t>Suppose that the processes arrive in the order</a:t>
            </a:r>
          </a:p>
          <a:p>
            <a:pPr>
              <a:buNone/>
              <a:tabLst>
                <a:tab pos="3651250" algn="ctr"/>
              </a:tabLst>
            </a:pPr>
            <a:r>
              <a:rPr lang="en-US" smtClean="0"/>
              <a:t>		 </a:t>
            </a:r>
            <a:r>
              <a:rPr lang="en-US" i="1" smtClean="0"/>
              <a:t>P</a:t>
            </a:r>
            <a:r>
              <a:rPr lang="en-US" i="1" baseline="-25000" smtClean="0"/>
              <a:t>2</a:t>
            </a:r>
            <a:r>
              <a:rPr lang="en-US" smtClean="0"/>
              <a:t> , </a:t>
            </a:r>
            <a:r>
              <a:rPr lang="en-US" i="1" smtClean="0"/>
              <a:t>P</a:t>
            </a:r>
            <a:r>
              <a:rPr lang="en-US" i="1" baseline="-25000" smtClean="0"/>
              <a:t>3</a:t>
            </a:r>
            <a:r>
              <a:rPr lang="en-US" smtClean="0"/>
              <a:t> , </a:t>
            </a:r>
            <a:r>
              <a:rPr lang="en-US" i="1" smtClean="0"/>
              <a:t>P</a:t>
            </a:r>
            <a:r>
              <a:rPr lang="en-US" i="1" baseline="-25000" smtClean="0"/>
              <a:t>1</a:t>
            </a:r>
            <a:r>
              <a:rPr lang="en-US" smtClean="0"/>
              <a:t> </a:t>
            </a:r>
          </a:p>
          <a:p>
            <a:pPr>
              <a:tabLst>
                <a:tab pos="3651250" algn="ctr"/>
              </a:tabLst>
            </a:pPr>
            <a:r>
              <a:rPr lang="en-US" smtClean="0"/>
              <a:t>The Gantt chart for the schedule is:</a:t>
            </a:r>
            <a:br>
              <a:rPr lang="en-US" smtClean="0"/>
            </a:br>
            <a:endParaRPr lang="en-US" smtClean="0"/>
          </a:p>
          <a:p>
            <a:pPr>
              <a:tabLst>
                <a:tab pos="3651250" algn="ctr"/>
              </a:tabLst>
            </a:pPr>
            <a:endParaRPr lang="en-US" smtClean="0"/>
          </a:p>
          <a:p>
            <a:pPr>
              <a:tabLst>
                <a:tab pos="3651250" algn="ctr"/>
              </a:tabLst>
            </a:pPr>
            <a:endParaRPr lang="en-US" smtClean="0"/>
          </a:p>
          <a:p>
            <a:pPr>
              <a:tabLst>
                <a:tab pos="3651250" algn="ctr"/>
              </a:tabLst>
            </a:pPr>
            <a:endParaRPr lang="en-US" smtClean="0"/>
          </a:p>
          <a:p>
            <a:pPr>
              <a:tabLst>
                <a:tab pos="3651250" algn="ctr"/>
              </a:tabLst>
            </a:pPr>
            <a:r>
              <a:rPr lang="en-US" smtClean="0"/>
              <a:t>Waiting time for </a:t>
            </a:r>
            <a:r>
              <a:rPr lang="en-US" i="1" smtClean="0"/>
              <a:t>P</a:t>
            </a:r>
            <a:r>
              <a:rPr lang="en-US" i="1" baseline="-25000" smtClean="0"/>
              <a:t>1 </a:t>
            </a:r>
            <a:r>
              <a:rPr lang="en-US" i="1" smtClean="0"/>
              <a:t>=</a:t>
            </a:r>
            <a:r>
              <a:rPr lang="en-US" smtClean="0"/>
              <a:t> 6</a:t>
            </a:r>
            <a:r>
              <a:rPr lang="en-US" i="1" smtClean="0"/>
              <a:t>;</a:t>
            </a:r>
            <a:r>
              <a:rPr lang="en-US" i="1" baseline="-25000" smtClean="0"/>
              <a:t> </a:t>
            </a:r>
            <a:r>
              <a:rPr lang="en-US" i="1" smtClean="0"/>
              <a:t>P</a:t>
            </a:r>
            <a:r>
              <a:rPr lang="en-US" i="1" baseline="-25000" smtClean="0"/>
              <a:t>2</a:t>
            </a:r>
            <a:r>
              <a:rPr lang="en-US" smtClean="0"/>
              <a:t> = 0</a:t>
            </a:r>
            <a:r>
              <a:rPr lang="en-US" i="1" baseline="-25000" smtClean="0"/>
              <a:t>; </a:t>
            </a:r>
            <a:r>
              <a:rPr lang="en-US" i="1" smtClean="0"/>
              <a:t>P</a:t>
            </a:r>
            <a:r>
              <a:rPr lang="en-US" i="1" baseline="-25000" smtClean="0"/>
              <a:t>3 </a:t>
            </a:r>
            <a:r>
              <a:rPr lang="en-US" i="1" smtClean="0"/>
              <a:t>= </a:t>
            </a:r>
            <a:r>
              <a:rPr lang="en-US" smtClean="0"/>
              <a:t>3</a:t>
            </a:r>
            <a:endParaRPr lang="en-US" i="1" smtClean="0"/>
          </a:p>
          <a:p>
            <a:pPr>
              <a:tabLst>
                <a:tab pos="3651250" algn="ctr"/>
              </a:tabLst>
            </a:pPr>
            <a:r>
              <a:rPr lang="en-US" smtClean="0"/>
              <a:t>Average waiting time:   (6 + 0 + 3)/3 = 3</a:t>
            </a:r>
          </a:p>
          <a:p>
            <a:pPr>
              <a:tabLst>
                <a:tab pos="3651250" algn="ctr"/>
              </a:tabLst>
            </a:pPr>
            <a:r>
              <a:rPr lang="en-US" smtClean="0"/>
              <a:t>Much better than previous case</a:t>
            </a:r>
          </a:p>
          <a:p>
            <a:pPr>
              <a:tabLst>
                <a:tab pos="3651250" algn="ctr"/>
              </a:tabLst>
            </a:pPr>
            <a:r>
              <a:rPr lang="en-US" i="1" smtClean="0"/>
              <a:t>Convoy effect</a:t>
            </a:r>
            <a:r>
              <a:rPr lang="en-US" smtClean="0"/>
              <a:t> short process behind long process</a:t>
            </a:r>
          </a:p>
        </p:txBody>
      </p:sp>
      <p:grpSp>
        <p:nvGrpSpPr>
          <p:cNvPr id="21508" name="Group 20"/>
          <p:cNvGrpSpPr>
            <a:grpSpLocks/>
          </p:cNvGrpSpPr>
          <p:nvPr/>
        </p:nvGrpSpPr>
        <p:grpSpPr bwMode="auto">
          <a:xfrm>
            <a:off x="3413125" y="2605088"/>
            <a:ext cx="5575300" cy="1128712"/>
            <a:chOff x="852" y="1650"/>
            <a:chExt cx="3512" cy="711"/>
          </a:xfrm>
        </p:grpSpPr>
        <p:sp>
          <p:nvSpPr>
            <p:cNvPr id="21509" name="Rectangle 6"/>
            <p:cNvSpPr>
              <a:spLocks noChangeArrowheads="1"/>
            </p:cNvSpPr>
            <p:nvPr/>
          </p:nvSpPr>
          <p:spPr bwMode="auto">
            <a:xfrm flipH="1">
              <a:off x="948" y="1650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1510" name="Text Box 7"/>
            <p:cNvSpPr txBox="1">
              <a:spLocks noChangeArrowheads="1"/>
            </p:cNvSpPr>
            <p:nvPr/>
          </p:nvSpPr>
          <p:spPr bwMode="auto">
            <a:xfrm flipH="1">
              <a:off x="3179" y="1698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P</a:t>
              </a:r>
              <a:r>
                <a:rPr lang="en-US" baseline="-25000">
                  <a:latin typeface="Helvetica" panose="020B0604020202020204" pitchFamily="34" charset="0"/>
                </a:rPr>
                <a:t>1</a:t>
              </a:r>
              <a:endParaRPr lang="en-US">
                <a:latin typeface="Helvetica" panose="020B0604020202020204" pitchFamily="34" charset="0"/>
              </a:endParaRPr>
            </a:p>
          </p:txBody>
        </p:sp>
        <p:sp>
          <p:nvSpPr>
            <p:cNvPr id="21511" name="Text Box 8"/>
            <p:cNvSpPr txBox="1">
              <a:spLocks noChangeArrowheads="1"/>
            </p:cNvSpPr>
            <p:nvPr/>
          </p:nvSpPr>
          <p:spPr bwMode="auto">
            <a:xfrm flipH="1">
              <a:off x="1691" y="1698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P</a:t>
              </a:r>
              <a:r>
                <a:rPr lang="en-US" baseline="-25000">
                  <a:latin typeface="Helvetica" panose="020B0604020202020204" pitchFamily="34" charset="0"/>
                </a:rPr>
                <a:t>3</a:t>
              </a:r>
              <a:endParaRPr lang="en-US">
                <a:latin typeface="Helvetica" panose="020B0604020202020204" pitchFamily="34" charset="0"/>
              </a:endParaRPr>
            </a:p>
          </p:txBody>
        </p:sp>
        <p:sp>
          <p:nvSpPr>
            <p:cNvPr id="21512" name="Text Box 9"/>
            <p:cNvSpPr txBox="1">
              <a:spLocks noChangeArrowheads="1"/>
            </p:cNvSpPr>
            <p:nvPr/>
          </p:nvSpPr>
          <p:spPr bwMode="auto">
            <a:xfrm flipH="1">
              <a:off x="1115" y="1698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P</a:t>
              </a:r>
              <a:r>
                <a:rPr lang="en-US" baseline="-25000">
                  <a:latin typeface="Helvetica" panose="020B0604020202020204" pitchFamily="34" charset="0"/>
                </a:rPr>
                <a:t>2</a:t>
              </a:r>
              <a:endParaRPr lang="en-US">
                <a:latin typeface="Helvetica" panose="020B0604020202020204" pitchFamily="34" charset="0"/>
              </a:endParaRPr>
            </a:p>
          </p:txBody>
        </p:sp>
        <p:sp>
          <p:nvSpPr>
            <p:cNvPr id="21513" name="Line 10"/>
            <p:cNvSpPr>
              <a:spLocks noChangeShapeType="1"/>
            </p:cNvSpPr>
            <p:nvPr/>
          </p:nvSpPr>
          <p:spPr bwMode="auto">
            <a:xfrm flipH="1">
              <a:off x="4260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4" name="Line 11"/>
            <p:cNvSpPr>
              <a:spLocks noChangeShapeType="1"/>
            </p:cNvSpPr>
            <p:nvPr/>
          </p:nvSpPr>
          <p:spPr bwMode="auto">
            <a:xfrm flipH="1">
              <a:off x="948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5" name="Line 12"/>
            <p:cNvSpPr>
              <a:spLocks noChangeShapeType="1"/>
            </p:cNvSpPr>
            <p:nvPr/>
          </p:nvSpPr>
          <p:spPr bwMode="auto">
            <a:xfrm flipH="1">
              <a:off x="2148" y="165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6" name="Line 13"/>
            <p:cNvSpPr>
              <a:spLocks noChangeShapeType="1"/>
            </p:cNvSpPr>
            <p:nvPr/>
          </p:nvSpPr>
          <p:spPr bwMode="auto">
            <a:xfrm flipH="1">
              <a:off x="1572" y="165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7" name="Line 14"/>
            <p:cNvSpPr>
              <a:spLocks noChangeShapeType="1"/>
            </p:cNvSpPr>
            <p:nvPr/>
          </p:nvSpPr>
          <p:spPr bwMode="auto">
            <a:xfrm flipH="1">
              <a:off x="2148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8" name="Line 15"/>
            <p:cNvSpPr>
              <a:spLocks noChangeShapeType="1"/>
            </p:cNvSpPr>
            <p:nvPr/>
          </p:nvSpPr>
          <p:spPr bwMode="auto">
            <a:xfrm flipH="1">
              <a:off x="1572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9" name="Text Box 16"/>
            <p:cNvSpPr txBox="1">
              <a:spLocks noChangeArrowheads="1"/>
            </p:cNvSpPr>
            <p:nvPr/>
          </p:nvSpPr>
          <p:spPr bwMode="auto">
            <a:xfrm flipH="1">
              <a:off x="2056" y="213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6</a:t>
              </a:r>
            </a:p>
          </p:txBody>
        </p:sp>
        <p:sp>
          <p:nvSpPr>
            <p:cNvPr id="21520" name="Text Box 17"/>
            <p:cNvSpPr txBox="1">
              <a:spLocks noChangeArrowheads="1"/>
            </p:cNvSpPr>
            <p:nvPr/>
          </p:nvSpPr>
          <p:spPr bwMode="auto">
            <a:xfrm flipH="1">
              <a:off x="1480" y="213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21521" name="Text Box 18"/>
            <p:cNvSpPr txBox="1">
              <a:spLocks noChangeArrowheads="1"/>
            </p:cNvSpPr>
            <p:nvPr/>
          </p:nvSpPr>
          <p:spPr bwMode="auto">
            <a:xfrm flipH="1">
              <a:off x="4088" y="2130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30</a:t>
              </a:r>
            </a:p>
          </p:txBody>
        </p:sp>
        <p:sp>
          <p:nvSpPr>
            <p:cNvPr id="21522" name="Text Box 19"/>
            <p:cNvSpPr txBox="1">
              <a:spLocks noChangeArrowheads="1"/>
            </p:cNvSpPr>
            <p:nvPr/>
          </p:nvSpPr>
          <p:spPr bwMode="auto">
            <a:xfrm flipH="1">
              <a:off x="852" y="213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115910"/>
            <a:ext cx="9404723" cy="1737338"/>
          </a:xfrm>
        </p:spPr>
        <p:txBody>
          <a:bodyPr/>
          <a:lstStyle/>
          <a:p>
            <a:r>
              <a:rPr lang="en-US" sz="4400" b="1" u="sng" dirty="0"/>
              <a:t>Scheduling Algorithm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 smtClean="0"/>
              <a:t>Shortest-Job-First (SJF) Scheduling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Associate with each process the length of its next CPU burst.  Use these lengths to schedule the process with the shortest time</a:t>
            </a:r>
          </a:p>
          <a:p>
            <a:r>
              <a:rPr lang="en-US" smtClean="0"/>
              <a:t>SJF is optimal – gives minimum average waiting time for a given set of processes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The difficulty is knowing the length of the next CPU request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Example of SJF</a:t>
            </a:r>
          </a:p>
        </p:txBody>
      </p:sp>
      <p:sp>
        <p:nvSpPr>
          <p:cNvPr id="25603" name="Rectangle 36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 fontScale="92500" lnSpcReduction="20000"/>
          </a:bodyPr>
          <a:lstStyle/>
          <a:p>
            <a:pPr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smtClean="0"/>
              <a:t>		</a:t>
            </a:r>
            <a:r>
              <a:rPr lang="en-US" u="sng" smtClean="0"/>
              <a:t>Process	Arrival Time</a:t>
            </a:r>
            <a:r>
              <a:rPr lang="en-US" smtClean="0"/>
              <a:t>	</a:t>
            </a:r>
            <a:r>
              <a:rPr lang="en-US" u="sng" smtClean="0"/>
              <a:t>Burst Time</a:t>
            </a:r>
            <a:endParaRPr lang="en-US" smtClean="0"/>
          </a:p>
          <a:p>
            <a:pPr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smtClean="0"/>
              <a:t>		 </a:t>
            </a:r>
            <a:r>
              <a:rPr lang="en-US" i="1" smtClean="0"/>
              <a:t>P</a:t>
            </a:r>
            <a:r>
              <a:rPr lang="en-US" i="1" baseline="-25000" smtClean="0"/>
              <a:t>1</a:t>
            </a:r>
            <a:r>
              <a:rPr lang="en-US" smtClean="0"/>
              <a:t>	0.0	6</a:t>
            </a:r>
          </a:p>
          <a:p>
            <a:pPr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smtClean="0"/>
              <a:t>		 </a:t>
            </a:r>
            <a:r>
              <a:rPr lang="en-US" i="1" smtClean="0"/>
              <a:t>P</a:t>
            </a:r>
            <a:r>
              <a:rPr lang="en-US" i="1" baseline="-25000" smtClean="0"/>
              <a:t>2 	</a:t>
            </a:r>
            <a:r>
              <a:rPr lang="en-US" smtClean="0"/>
              <a:t>2.0	8</a:t>
            </a:r>
          </a:p>
          <a:p>
            <a:pPr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smtClean="0"/>
              <a:t>		 </a:t>
            </a:r>
            <a:r>
              <a:rPr lang="en-US" i="1" smtClean="0"/>
              <a:t>P</a:t>
            </a:r>
            <a:r>
              <a:rPr lang="en-US" i="1" baseline="-25000" smtClean="0"/>
              <a:t>3</a:t>
            </a:r>
            <a:r>
              <a:rPr lang="en-US" smtClean="0"/>
              <a:t>	4.0	7</a:t>
            </a:r>
          </a:p>
          <a:p>
            <a:pPr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smtClean="0"/>
              <a:t>		 </a:t>
            </a:r>
            <a:r>
              <a:rPr lang="en-US" i="1" smtClean="0"/>
              <a:t>P</a:t>
            </a:r>
            <a:r>
              <a:rPr lang="en-US" i="1" baseline="-25000" smtClean="0"/>
              <a:t>4</a:t>
            </a:r>
            <a:r>
              <a:rPr lang="en-US" smtClean="0"/>
              <a:t>	5.0	3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smtClean="0"/>
              <a:t>SJF scheduling chart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smtClean="0"/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smtClean="0"/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smtClean="0"/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smtClean="0"/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smtClean="0"/>
              <a:t>Average waiting time = (3 + 16 + 9 + 0) / 4 = 7</a:t>
            </a:r>
            <a:endParaRPr lang="en-US" i="1" baseline="-25000" smtClean="0"/>
          </a:p>
        </p:txBody>
      </p:sp>
      <p:grpSp>
        <p:nvGrpSpPr>
          <p:cNvPr id="25604" name="Group 74"/>
          <p:cNvGrpSpPr>
            <a:grpSpLocks/>
          </p:cNvGrpSpPr>
          <p:nvPr/>
        </p:nvGrpSpPr>
        <p:grpSpPr bwMode="auto">
          <a:xfrm>
            <a:off x="2895601" y="3733800"/>
            <a:ext cx="5927725" cy="1162050"/>
            <a:chOff x="864" y="2352"/>
            <a:chExt cx="3734" cy="732"/>
          </a:xfrm>
        </p:grpSpPr>
        <p:sp>
          <p:nvSpPr>
            <p:cNvPr id="25605" name="Rectangle 37"/>
            <p:cNvSpPr>
              <a:spLocks noChangeArrowheads="1"/>
            </p:cNvSpPr>
            <p:nvPr/>
          </p:nvSpPr>
          <p:spPr bwMode="auto">
            <a:xfrm flipH="1">
              <a:off x="960" y="2373"/>
              <a:ext cx="350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5606" name="Text Box 38"/>
            <p:cNvSpPr txBox="1">
              <a:spLocks noChangeArrowheads="1"/>
            </p:cNvSpPr>
            <p:nvPr/>
          </p:nvSpPr>
          <p:spPr bwMode="auto">
            <a:xfrm flipH="1">
              <a:off x="1008" y="2412"/>
              <a:ext cx="26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P</a:t>
              </a:r>
              <a:r>
                <a:rPr lang="en-US" baseline="-25000">
                  <a:latin typeface="Helvetica" panose="020B0604020202020204" pitchFamily="34" charset="0"/>
                </a:rPr>
                <a:t>4</a:t>
              </a:r>
              <a:endParaRPr lang="en-US">
                <a:latin typeface="Helvetica" panose="020B0604020202020204" pitchFamily="34" charset="0"/>
              </a:endParaRPr>
            </a:p>
          </p:txBody>
        </p:sp>
        <p:sp>
          <p:nvSpPr>
            <p:cNvPr id="25607" name="Text Box 39"/>
            <p:cNvSpPr txBox="1">
              <a:spLocks noChangeArrowheads="1"/>
            </p:cNvSpPr>
            <p:nvPr/>
          </p:nvSpPr>
          <p:spPr bwMode="auto">
            <a:xfrm flipH="1">
              <a:off x="2976" y="2400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P</a:t>
              </a:r>
              <a:r>
                <a:rPr lang="en-US" baseline="-25000">
                  <a:latin typeface="Helvetica" panose="020B0604020202020204" pitchFamily="34" charset="0"/>
                </a:rPr>
                <a:t>3</a:t>
              </a:r>
              <a:endParaRPr lang="en-US">
                <a:latin typeface="Helvetica" panose="020B0604020202020204" pitchFamily="34" charset="0"/>
              </a:endParaRPr>
            </a:p>
          </p:txBody>
        </p:sp>
        <p:sp>
          <p:nvSpPr>
            <p:cNvPr id="25608" name="Text Box 40"/>
            <p:cNvSpPr txBox="1">
              <a:spLocks noChangeArrowheads="1"/>
            </p:cNvSpPr>
            <p:nvPr/>
          </p:nvSpPr>
          <p:spPr bwMode="auto">
            <a:xfrm flipH="1">
              <a:off x="1968" y="2448"/>
              <a:ext cx="26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P</a:t>
              </a:r>
              <a:r>
                <a:rPr lang="en-US" baseline="-25000">
                  <a:latin typeface="Helvetica" panose="020B0604020202020204" pitchFamily="34" charset="0"/>
                </a:rPr>
                <a:t>1</a:t>
              </a:r>
              <a:endParaRPr lang="en-US">
                <a:latin typeface="Helvetica" panose="020B0604020202020204" pitchFamily="34" charset="0"/>
              </a:endParaRPr>
            </a:p>
          </p:txBody>
        </p:sp>
        <p:sp>
          <p:nvSpPr>
            <p:cNvPr id="25609" name="Line 41"/>
            <p:cNvSpPr>
              <a:spLocks noChangeShapeType="1"/>
            </p:cNvSpPr>
            <p:nvPr/>
          </p:nvSpPr>
          <p:spPr bwMode="auto">
            <a:xfrm flipH="1">
              <a:off x="4452" y="27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0" name="Line 42"/>
            <p:cNvSpPr>
              <a:spLocks noChangeShapeType="1"/>
            </p:cNvSpPr>
            <p:nvPr/>
          </p:nvSpPr>
          <p:spPr bwMode="auto">
            <a:xfrm flipH="1">
              <a:off x="960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1" name="Line 43"/>
            <p:cNvSpPr>
              <a:spLocks noChangeShapeType="1"/>
            </p:cNvSpPr>
            <p:nvPr/>
          </p:nvSpPr>
          <p:spPr bwMode="auto">
            <a:xfrm flipH="1">
              <a:off x="2688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2" name="Text Box 48"/>
            <p:cNvSpPr txBox="1">
              <a:spLocks noChangeArrowheads="1"/>
            </p:cNvSpPr>
            <p:nvPr/>
          </p:nvSpPr>
          <p:spPr bwMode="auto">
            <a:xfrm flipH="1">
              <a:off x="1536" y="283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25613" name="Text Box 49"/>
            <p:cNvSpPr txBox="1">
              <a:spLocks noChangeArrowheads="1"/>
            </p:cNvSpPr>
            <p:nvPr/>
          </p:nvSpPr>
          <p:spPr bwMode="auto">
            <a:xfrm flipH="1">
              <a:off x="3312" y="284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16</a:t>
              </a:r>
            </a:p>
          </p:txBody>
        </p:sp>
        <p:sp>
          <p:nvSpPr>
            <p:cNvPr id="25614" name="Text Box 50"/>
            <p:cNvSpPr txBox="1">
              <a:spLocks noChangeArrowheads="1"/>
            </p:cNvSpPr>
            <p:nvPr/>
          </p:nvSpPr>
          <p:spPr bwMode="auto">
            <a:xfrm flipH="1">
              <a:off x="864" y="285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0</a:t>
              </a:r>
            </a:p>
          </p:txBody>
        </p:sp>
        <p:sp>
          <p:nvSpPr>
            <p:cNvPr id="25615" name="Line 52"/>
            <p:cNvSpPr>
              <a:spLocks noChangeShapeType="1"/>
            </p:cNvSpPr>
            <p:nvPr/>
          </p:nvSpPr>
          <p:spPr bwMode="auto">
            <a:xfrm flipH="1">
              <a:off x="3456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6" name="Line 54"/>
            <p:cNvSpPr>
              <a:spLocks noChangeShapeType="1"/>
            </p:cNvSpPr>
            <p:nvPr/>
          </p:nvSpPr>
          <p:spPr bwMode="auto">
            <a:xfrm flipH="1">
              <a:off x="1632" y="26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7" name="Line 58"/>
            <p:cNvSpPr>
              <a:spLocks noChangeShapeType="1"/>
            </p:cNvSpPr>
            <p:nvPr/>
          </p:nvSpPr>
          <p:spPr bwMode="auto">
            <a:xfrm flipH="1">
              <a:off x="2688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8" name="Line 63"/>
            <p:cNvSpPr>
              <a:spLocks noChangeShapeType="1"/>
            </p:cNvSpPr>
            <p:nvPr/>
          </p:nvSpPr>
          <p:spPr bwMode="auto">
            <a:xfrm flipH="1">
              <a:off x="3456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9" name="Text Box 64"/>
            <p:cNvSpPr txBox="1">
              <a:spLocks noChangeArrowheads="1"/>
            </p:cNvSpPr>
            <p:nvPr/>
          </p:nvSpPr>
          <p:spPr bwMode="auto">
            <a:xfrm flipH="1">
              <a:off x="2592" y="283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9</a:t>
              </a:r>
            </a:p>
          </p:txBody>
        </p:sp>
        <p:sp>
          <p:nvSpPr>
            <p:cNvPr id="25620" name="Line 69"/>
            <p:cNvSpPr>
              <a:spLocks noChangeShapeType="1"/>
            </p:cNvSpPr>
            <p:nvPr/>
          </p:nvSpPr>
          <p:spPr bwMode="auto">
            <a:xfrm flipH="1">
              <a:off x="1632" y="235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1" name="Text Box 70"/>
            <p:cNvSpPr txBox="1">
              <a:spLocks noChangeArrowheads="1"/>
            </p:cNvSpPr>
            <p:nvPr/>
          </p:nvSpPr>
          <p:spPr bwMode="auto">
            <a:xfrm flipH="1">
              <a:off x="3744" y="2400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P</a:t>
              </a:r>
              <a:r>
                <a:rPr lang="en-US" baseline="-25000">
                  <a:latin typeface="Helvetica" panose="020B0604020202020204" pitchFamily="34" charset="0"/>
                </a:rPr>
                <a:t>2</a:t>
              </a:r>
              <a:endParaRPr lang="en-US">
                <a:latin typeface="Helvetica" panose="020B0604020202020204" pitchFamily="34" charset="0"/>
              </a:endParaRPr>
            </a:p>
          </p:txBody>
        </p:sp>
        <p:sp>
          <p:nvSpPr>
            <p:cNvPr id="25622" name="Text Box 73"/>
            <p:cNvSpPr txBox="1">
              <a:spLocks noChangeArrowheads="1"/>
            </p:cNvSpPr>
            <p:nvPr/>
          </p:nvSpPr>
          <p:spPr bwMode="auto">
            <a:xfrm flipH="1">
              <a:off x="4320" y="284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24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67425" y="138393"/>
            <a:ext cx="11011437" cy="844550"/>
          </a:xfrm>
        </p:spPr>
        <p:txBody>
          <a:bodyPr/>
          <a:lstStyle/>
          <a:p>
            <a:pPr eaLnBrk="1" hangingPunct="1"/>
            <a:r>
              <a:rPr lang="en-US" dirty="0" smtClean="0"/>
              <a:t>Determining Length of Next CPU Burst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3529" y="998159"/>
            <a:ext cx="8946541" cy="2614411"/>
          </a:xfrm>
        </p:spPr>
        <p:txBody>
          <a:bodyPr/>
          <a:lstStyle/>
          <a:p>
            <a:r>
              <a:rPr lang="en-US" dirty="0" smtClean="0"/>
              <a:t>Can only estimate the length</a:t>
            </a:r>
          </a:p>
          <a:p>
            <a:r>
              <a:rPr lang="en-US" dirty="0" smtClean="0"/>
              <a:t>Can be done by using the length of previous CPU bursts, using exponential averaging</a:t>
            </a:r>
          </a:p>
          <a:p>
            <a:pPr lvl="1">
              <a:buFont typeface="Monotype Sorts" charset="2"/>
              <a:buNone/>
            </a:pPr>
            <a:endParaRPr lang="en-US" dirty="0" smtClean="0">
              <a:ea typeface="ＭＳ Ｐゴシック" panose="020B0600070205080204" pitchFamily="34" charset="-128"/>
            </a:endParaRPr>
          </a:p>
          <a:p>
            <a:pPr lvl="1">
              <a:buFont typeface="Monotype Sorts" charset="2"/>
              <a:buNone/>
            </a:pPr>
            <a:endParaRPr lang="en-US" dirty="0" smtClean="0">
              <a:ea typeface="ＭＳ Ｐゴシック" panose="020B0600070205080204" pitchFamily="34" charset="-128"/>
            </a:endParaRPr>
          </a:p>
        </p:txBody>
      </p:sp>
      <p:graphicFrame>
        <p:nvGraphicFramePr>
          <p:cNvPr id="2765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602168"/>
              </p:ext>
            </p:extLst>
          </p:nvPr>
        </p:nvGraphicFramePr>
        <p:xfrm>
          <a:off x="3496614" y="2452689"/>
          <a:ext cx="5638800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Equation" r:id="rId4" imgW="6400800" imgH="1777680" progId="Equation.3">
                  <p:embed/>
                </p:oleObj>
              </mc:Choice>
              <mc:Fallback>
                <p:oleObj name="Equation" r:id="rId4" imgW="6400800" imgH="1777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6614" y="2452689"/>
                        <a:ext cx="5638800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3"/>
          <p:cNvGraphicFramePr>
            <a:graphicFrameLocks noChangeAspect="1"/>
          </p:cNvGraphicFramePr>
          <p:nvPr/>
        </p:nvGraphicFramePr>
        <p:xfrm>
          <a:off x="4876800" y="3733801"/>
          <a:ext cx="22225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6" imgW="2221536" imgH="317362" progId="Equation.3">
                  <p:embed/>
                </p:oleObj>
              </mc:Choice>
              <mc:Fallback>
                <p:oleObj name="Equation" r:id="rId6" imgW="2221536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733801"/>
                        <a:ext cx="22225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435225" y="0"/>
            <a:ext cx="8121650" cy="844550"/>
          </a:xfrm>
        </p:spPr>
        <p:txBody>
          <a:bodyPr/>
          <a:lstStyle/>
          <a:p>
            <a:pPr eaLnBrk="1" hangingPunct="1"/>
            <a:r>
              <a:rPr lang="en-US" sz="2800"/>
              <a:t>Prediction of the Length of the Next CPU Burst</a:t>
            </a:r>
          </a:p>
        </p:txBody>
      </p:sp>
      <p:pic>
        <p:nvPicPr>
          <p:cNvPr id="2969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6289" y="1403350"/>
            <a:ext cx="5837237" cy="421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Examples of Exponential Averaging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mtClean="0">
                <a:sym typeface="Symbol" panose="05050102010706020507" pitchFamily="18" charset="2"/>
              </a:rPr>
              <a:t> =0</a:t>
            </a:r>
          </a:p>
          <a:p>
            <a:pPr lvl="1">
              <a:lnSpc>
                <a:spcPct val="90000"/>
              </a:lnSpc>
            </a:pP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</a:t>
            </a:r>
            <a:r>
              <a:rPr lang="en-US" baseline="-25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n+1</a:t>
            </a: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= </a:t>
            </a:r>
            <a:r>
              <a:rPr lang="en-US" baseline="-25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n</a:t>
            </a:r>
          </a:p>
          <a:p>
            <a:pPr lvl="1">
              <a:lnSpc>
                <a:spcPct val="90000"/>
              </a:lnSpc>
            </a:pP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Recent history does not count</a:t>
            </a:r>
          </a:p>
          <a:p>
            <a:pPr>
              <a:lnSpc>
                <a:spcPct val="90000"/>
              </a:lnSpc>
            </a:pPr>
            <a:r>
              <a:rPr lang="en-US" smtClean="0">
                <a:sym typeface="Symbol" panose="05050102010706020507" pitchFamily="18" charset="2"/>
              </a:rPr>
              <a:t> =1</a:t>
            </a:r>
          </a:p>
          <a:p>
            <a:pPr lvl="1">
              <a:lnSpc>
                <a:spcPct val="90000"/>
              </a:lnSpc>
            </a:pP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</a:t>
            </a:r>
            <a:r>
              <a:rPr lang="en-US" baseline="-25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n+1</a:t>
            </a: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=  </a:t>
            </a:r>
            <a:r>
              <a:rPr lang="en-US" i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baseline="-25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n</a:t>
            </a:r>
          </a:p>
          <a:p>
            <a:pPr lvl="1">
              <a:lnSpc>
                <a:spcPct val="90000"/>
              </a:lnSpc>
            </a:pP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Only the actual last CPU burst counts</a:t>
            </a:r>
          </a:p>
          <a:p>
            <a:pPr>
              <a:lnSpc>
                <a:spcPct val="90000"/>
              </a:lnSpc>
            </a:pPr>
            <a:r>
              <a:rPr lang="en-US" smtClean="0">
                <a:sym typeface="Symbol" panose="05050102010706020507" pitchFamily="18" charset="2"/>
              </a:rPr>
              <a:t>If we expand the formula, we get:</a:t>
            </a:r>
          </a:p>
          <a:p>
            <a:pPr lvl="2"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</a:t>
            </a:r>
            <a:r>
              <a:rPr lang="en-US" i="1" baseline="-25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baseline="-25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+1</a:t>
            </a: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=  t</a:t>
            </a:r>
            <a:r>
              <a:rPr lang="en-US" i="1" baseline="-25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+(1</a:t>
            </a:r>
            <a:r>
              <a:rPr lang="en-US" i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- </a:t>
            </a: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</a:t>
            </a:r>
            <a:r>
              <a:rPr lang="en-US" i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 </a:t>
            </a:r>
            <a:r>
              <a:rPr lang="en-US" i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i="1" baseline="-25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i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-1</a:t>
            </a:r>
            <a:r>
              <a:rPr lang="en-US" i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+ …</a:t>
            </a:r>
          </a:p>
          <a:p>
            <a:pPr lvl="2"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           </a:t>
            </a:r>
            <a:r>
              <a:rPr lang="en-US" i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+(</a:t>
            </a: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1 -  </a:t>
            </a:r>
            <a:r>
              <a:rPr lang="en-US" i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i="1" baseline="30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j</a:t>
            </a:r>
            <a:r>
              <a:rPr lang="en-US" baseline="30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 </a:t>
            </a:r>
            <a:r>
              <a:rPr lang="en-US" i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i="1" baseline="-25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baseline="-25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-</a:t>
            </a:r>
            <a:r>
              <a:rPr lang="en-US" i="1" baseline="-25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j</a:t>
            </a:r>
            <a:r>
              <a:rPr lang="en-US" i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+ …</a:t>
            </a:r>
          </a:p>
          <a:p>
            <a:pPr lvl="2"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           </a:t>
            </a:r>
            <a:r>
              <a:rPr lang="en-US" i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+(</a:t>
            </a: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1 -  </a:t>
            </a:r>
            <a:r>
              <a:rPr lang="en-US" i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i="1" baseline="30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baseline="30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+1 </a:t>
            </a:r>
            <a:r>
              <a:rPr lang="en-US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</a:t>
            </a:r>
            <a:r>
              <a:rPr lang="en-US" baseline="-2500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0</a:t>
            </a:r>
            <a:br>
              <a:rPr lang="en-US" baseline="-25000" smtClean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endParaRPr lang="en-US" baseline="-2500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smtClean="0">
                <a:sym typeface="Symbol" panose="05050102010706020507" pitchFamily="18" charset="2"/>
              </a:rPr>
              <a:t>Since both  and (1 - ) are less than or equal to 1, each successive term has less weight than its predecessor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u="sng" dirty="0"/>
              <a:t>Scheduling Algorithm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/>
              <a:t>Priority Scheduling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 priority number (integer) is associated with each process</a:t>
            </a:r>
          </a:p>
          <a:p>
            <a:r>
              <a:rPr lang="en-US" smtClean="0"/>
              <a:t>The CPU is allocated to the process with the highest priority (smallest integer </a:t>
            </a:r>
            <a:r>
              <a:rPr lang="en-US" smtClean="0">
                <a:sym typeface="Symbol" panose="05050102010706020507" pitchFamily="18" charset="2"/>
              </a:rPr>
              <a:t> highest priority)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Preemptive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nonpreemptive</a:t>
            </a:r>
          </a:p>
          <a:p>
            <a:r>
              <a:rPr lang="en-US" smtClean="0"/>
              <a:t>SJF is a priority scheduling where priority is the predicted next CPU burst time</a:t>
            </a:r>
          </a:p>
          <a:p>
            <a:r>
              <a:rPr lang="en-US" smtClean="0"/>
              <a:t>Problem </a:t>
            </a:r>
            <a:r>
              <a:rPr lang="en-US" smtClean="0">
                <a:sym typeface="Symbol" panose="05050102010706020507" pitchFamily="18" charset="2"/>
              </a:rPr>
              <a:t> </a:t>
            </a:r>
            <a:r>
              <a:rPr lang="en-US" b="1" smtClean="0">
                <a:sym typeface="Symbol" panose="05050102010706020507" pitchFamily="18" charset="2"/>
              </a:rPr>
              <a:t>Starvation </a:t>
            </a:r>
            <a:r>
              <a:rPr lang="en-US" smtClean="0">
                <a:sym typeface="Symbol" panose="05050102010706020507" pitchFamily="18" charset="2"/>
              </a:rPr>
              <a:t>– low priority processes may never execute</a:t>
            </a:r>
          </a:p>
          <a:p>
            <a:r>
              <a:rPr lang="en-US" smtClean="0">
                <a:sym typeface="Symbol" panose="05050102010706020507" pitchFamily="18" charset="2"/>
              </a:rPr>
              <a:t>Solution  </a:t>
            </a:r>
            <a:r>
              <a:rPr lang="en-US" b="1" smtClean="0">
                <a:sym typeface="Symbol" panose="05050102010706020507" pitchFamily="18" charset="2"/>
              </a:rPr>
              <a:t>Aging </a:t>
            </a:r>
            <a:r>
              <a:rPr lang="en-US" smtClean="0">
                <a:sym typeface="Symbol" panose="05050102010706020507" pitchFamily="18" charset="2"/>
              </a:rPr>
              <a:t>– as time progresses increase the priority of the process</a:t>
            </a:r>
          </a:p>
          <a:p>
            <a:pPr>
              <a:buFont typeface="Monotype Sorts" charset="2"/>
              <a:buNone/>
            </a:pPr>
            <a:endParaRPr lang="en-US" smtClean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31821" y="90152"/>
            <a:ext cx="9819014" cy="1763096"/>
          </a:xfrm>
        </p:spPr>
        <p:txBody>
          <a:bodyPr/>
          <a:lstStyle/>
          <a:p>
            <a:r>
              <a:rPr lang="en-US" sz="4400" b="1" u="sng" dirty="0"/>
              <a:t>Scheduling Algorithm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Round Robin (RR)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374900"/>
            <a:ext cx="11861442" cy="4483100"/>
          </a:xfrm>
        </p:spPr>
        <p:txBody>
          <a:bodyPr/>
          <a:lstStyle/>
          <a:p>
            <a:r>
              <a:rPr lang="en-US" dirty="0" smtClean="0"/>
              <a:t>Each process gets a small unit of CPU time (</a:t>
            </a:r>
            <a:r>
              <a:rPr lang="en-US" i="1" dirty="0" smtClean="0"/>
              <a:t>time quantum</a:t>
            </a:r>
            <a:r>
              <a:rPr lang="en-US" dirty="0" smtClean="0"/>
              <a:t>), usually 10-100 milliseconds.  After this time has elapsed, the process is preempted and added to the end of the ready queue.</a:t>
            </a:r>
          </a:p>
          <a:p>
            <a:r>
              <a:rPr lang="en-US" dirty="0" smtClean="0"/>
              <a:t>If there are </a:t>
            </a:r>
            <a:r>
              <a:rPr lang="en-US" i="1" dirty="0" smtClean="0"/>
              <a:t>n</a:t>
            </a:r>
            <a:r>
              <a:rPr lang="en-US" dirty="0" smtClean="0"/>
              <a:t> processes in the ready queue and the time quantum is </a:t>
            </a:r>
            <a:r>
              <a:rPr lang="en-US" i="1" dirty="0" smtClean="0"/>
              <a:t>q</a:t>
            </a:r>
            <a:r>
              <a:rPr lang="en-US" dirty="0" smtClean="0"/>
              <a:t>, then each process gets 1/</a:t>
            </a:r>
            <a:r>
              <a:rPr lang="en-US" i="1" dirty="0" smtClean="0"/>
              <a:t>n</a:t>
            </a:r>
            <a:r>
              <a:rPr lang="en-US" dirty="0" smtClean="0"/>
              <a:t> of the CPU time in chunks of at most </a:t>
            </a:r>
            <a:r>
              <a:rPr lang="en-US" i="1" dirty="0" smtClean="0"/>
              <a:t>q</a:t>
            </a:r>
            <a:r>
              <a:rPr lang="en-US" dirty="0" smtClean="0"/>
              <a:t> time units at once.  No process waits more than (</a:t>
            </a:r>
            <a:r>
              <a:rPr lang="en-US" i="1" dirty="0" smtClean="0"/>
              <a:t>n</a:t>
            </a:r>
            <a:r>
              <a:rPr lang="en-US" dirty="0" smtClean="0"/>
              <a:t>-1)</a:t>
            </a:r>
            <a:r>
              <a:rPr lang="en-US" i="1" dirty="0" smtClean="0"/>
              <a:t>q </a:t>
            </a:r>
            <a:r>
              <a:rPr lang="en-US" dirty="0" smtClean="0"/>
              <a:t>time units.</a:t>
            </a:r>
          </a:p>
          <a:p>
            <a:r>
              <a:rPr lang="en-US" dirty="0" smtClean="0"/>
              <a:t>Performance</a:t>
            </a:r>
          </a:p>
          <a:p>
            <a:pPr lvl="1"/>
            <a:r>
              <a:rPr lang="en-US" i="1" dirty="0" smtClean="0">
                <a:ea typeface="ＭＳ Ｐゴシック" panose="020B0600070205080204" pitchFamily="34" charset="-128"/>
              </a:rPr>
              <a:t>q</a:t>
            </a:r>
            <a:r>
              <a:rPr lang="en-US" dirty="0" smtClean="0">
                <a:ea typeface="ＭＳ Ｐゴシック" panose="020B0600070205080204" pitchFamily="34" charset="-128"/>
              </a:rPr>
              <a:t> large </a:t>
            </a:r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 FIFO</a:t>
            </a:r>
          </a:p>
          <a:p>
            <a:pPr lvl="1"/>
            <a:r>
              <a:rPr lang="en-US" i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q </a:t>
            </a:r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small  </a:t>
            </a:r>
            <a:r>
              <a:rPr lang="en-US" i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q </a:t>
            </a:r>
            <a:r>
              <a:rPr 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must be large with respect to context switch, otherwise overhead is too high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1" y="0"/>
            <a:ext cx="8054975" cy="844550"/>
          </a:xfrm>
        </p:spPr>
        <p:txBody>
          <a:bodyPr/>
          <a:lstStyle/>
          <a:p>
            <a:pPr eaLnBrk="1" hangingPunct="1"/>
            <a:r>
              <a:rPr lang="en-US" smtClean="0"/>
              <a:t>Example of RR with Time Quantum = 4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1088" y="1511300"/>
            <a:ext cx="7351712" cy="44831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None/>
              <a:tabLst>
                <a:tab pos="2222500" algn="ctr"/>
                <a:tab pos="3997325" algn="ctr"/>
              </a:tabLst>
            </a:pPr>
            <a:r>
              <a:rPr lang="en-US" smtClean="0"/>
              <a:t>		</a:t>
            </a:r>
            <a:r>
              <a:rPr lang="en-US" u="sng" smtClean="0"/>
              <a:t>Process</a:t>
            </a:r>
            <a:r>
              <a:rPr lang="en-US" smtClean="0"/>
              <a:t>	</a:t>
            </a:r>
            <a:r>
              <a:rPr lang="en-US" u="sng" smtClean="0"/>
              <a:t>Burst Time</a:t>
            </a:r>
          </a:p>
          <a:p>
            <a:pPr>
              <a:lnSpc>
                <a:spcPct val="90000"/>
              </a:lnSpc>
              <a:buNone/>
              <a:tabLst>
                <a:tab pos="2222500" algn="ctr"/>
                <a:tab pos="3997325" algn="ctr"/>
              </a:tabLst>
            </a:pPr>
            <a:r>
              <a:rPr lang="en-US" i="1" smtClean="0"/>
              <a:t>		P</a:t>
            </a:r>
            <a:r>
              <a:rPr lang="en-US" i="1" baseline="-25000" smtClean="0"/>
              <a:t>1	</a:t>
            </a:r>
            <a:r>
              <a:rPr lang="en-US" smtClean="0"/>
              <a:t>24</a:t>
            </a:r>
          </a:p>
          <a:p>
            <a:pPr>
              <a:lnSpc>
                <a:spcPct val="90000"/>
              </a:lnSpc>
              <a:buNone/>
              <a:tabLst>
                <a:tab pos="2222500" algn="ctr"/>
                <a:tab pos="3997325" algn="ctr"/>
              </a:tabLst>
            </a:pPr>
            <a:r>
              <a:rPr lang="en-US" smtClean="0"/>
              <a:t>		 </a:t>
            </a:r>
            <a:r>
              <a:rPr lang="en-US" i="1" smtClean="0"/>
              <a:t>P</a:t>
            </a:r>
            <a:r>
              <a:rPr lang="en-US" i="1" baseline="-25000" smtClean="0"/>
              <a:t>2	  </a:t>
            </a:r>
            <a:r>
              <a:rPr lang="en-US" smtClean="0"/>
              <a:t>3</a:t>
            </a:r>
          </a:p>
          <a:p>
            <a:pPr>
              <a:lnSpc>
                <a:spcPct val="90000"/>
              </a:lnSpc>
              <a:buNone/>
              <a:tabLst>
                <a:tab pos="2222500" algn="ctr"/>
                <a:tab pos="3997325" algn="ctr"/>
              </a:tabLst>
            </a:pPr>
            <a:r>
              <a:rPr lang="en-US" smtClean="0"/>
              <a:t>		 </a:t>
            </a:r>
            <a:r>
              <a:rPr lang="en-US" i="1" smtClean="0"/>
              <a:t>P</a:t>
            </a:r>
            <a:r>
              <a:rPr lang="en-US" i="1" baseline="-25000" smtClean="0"/>
              <a:t>3	</a:t>
            </a:r>
            <a:r>
              <a:rPr lang="en-US" smtClean="0"/>
              <a:t>3</a:t>
            </a:r>
          </a:p>
          <a:p>
            <a:pPr>
              <a:lnSpc>
                <a:spcPct val="90000"/>
              </a:lnSpc>
              <a:buNone/>
              <a:tabLst>
                <a:tab pos="2222500" algn="ctr"/>
                <a:tab pos="3997325" algn="ctr"/>
              </a:tabLst>
            </a:pPr>
            <a:r>
              <a:rPr lang="en-US" smtClean="0"/>
              <a:t>		</a:t>
            </a:r>
          </a:p>
          <a:p>
            <a:pPr>
              <a:lnSpc>
                <a:spcPct val="90000"/>
              </a:lnSpc>
              <a:tabLst>
                <a:tab pos="2222500" algn="ctr"/>
                <a:tab pos="3997325" algn="ctr"/>
              </a:tabLst>
            </a:pPr>
            <a:r>
              <a:rPr lang="en-US" smtClean="0"/>
              <a:t>The Gantt chart is: 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>
              <a:lnSpc>
                <a:spcPct val="90000"/>
              </a:lnSpc>
              <a:tabLst>
                <a:tab pos="2222500" algn="ctr"/>
                <a:tab pos="3997325" algn="ctr"/>
              </a:tabLst>
            </a:pPr>
            <a:r>
              <a:rPr lang="en-US" smtClean="0"/>
              <a:t>Typically, higher average turnaround than SJF, but better </a:t>
            </a:r>
            <a:r>
              <a:rPr lang="en-US" i="1" smtClean="0"/>
              <a:t>response</a:t>
            </a:r>
            <a:endParaRPr lang="en-US" smtClean="0"/>
          </a:p>
        </p:txBody>
      </p:sp>
      <p:grpSp>
        <p:nvGrpSpPr>
          <p:cNvPr id="37892" name="Group 27"/>
          <p:cNvGrpSpPr>
            <a:grpSpLocks/>
          </p:cNvGrpSpPr>
          <p:nvPr/>
        </p:nvGrpSpPr>
        <p:grpSpPr bwMode="auto">
          <a:xfrm>
            <a:off x="3133726" y="3952876"/>
            <a:ext cx="4810125" cy="989013"/>
            <a:chOff x="1056" y="2640"/>
            <a:chExt cx="3030" cy="623"/>
          </a:xfrm>
        </p:grpSpPr>
        <p:grpSp>
          <p:nvGrpSpPr>
            <p:cNvPr id="37893" name="Group 14"/>
            <p:cNvGrpSpPr>
              <a:grpSpLocks/>
            </p:cNvGrpSpPr>
            <p:nvPr/>
          </p:nvGrpSpPr>
          <p:grpSpPr bwMode="auto">
            <a:xfrm>
              <a:off x="1152" y="2640"/>
              <a:ext cx="2842" cy="384"/>
              <a:chOff x="1152" y="2736"/>
              <a:chExt cx="2304" cy="288"/>
            </a:xfrm>
          </p:grpSpPr>
          <p:sp>
            <p:nvSpPr>
              <p:cNvPr id="37903" name="Rectangle 4"/>
              <p:cNvSpPr>
                <a:spLocks noChangeArrowheads="1"/>
              </p:cNvSpPr>
              <p:nvPr/>
            </p:nvSpPr>
            <p:spPr bwMode="auto">
              <a:xfrm>
                <a:off x="1152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>
                    <a:latin typeface="Helvetica" panose="020B0604020202020204" pitchFamily="34" charset="0"/>
                  </a:rPr>
                  <a:t>P</a:t>
                </a:r>
                <a:r>
                  <a:rPr lang="en-US" baseline="-25000">
                    <a:latin typeface="Helvetica" panose="020B0604020202020204" pitchFamily="34" charset="0"/>
                  </a:rPr>
                  <a:t>1</a:t>
                </a:r>
                <a:endParaRPr lang="en-US">
                  <a:latin typeface="Helvetica" panose="020B0604020202020204" pitchFamily="34" charset="0"/>
                </a:endParaRPr>
              </a:p>
            </p:txBody>
          </p:sp>
          <p:sp>
            <p:nvSpPr>
              <p:cNvPr id="37904" name="Rectangle 5"/>
              <p:cNvSpPr>
                <a:spLocks noChangeArrowheads="1"/>
              </p:cNvSpPr>
              <p:nvPr/>
            </p:nvSpPr>
            <p:spPr bwMode="auto">
              <a:xfrm>
                <a:off x="1440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>
                    <a:latin typeface="Helvetica" panose="020B0604020202020204" pitchFamily="34" charset="0"/>
                  </a:rPr>
                  <a:t>P</a:t>
                </a:r>
                <a:r>
                  <a:rPr lang="en-US" baseline="-25000">
                    <a:latin typeface="Helvetica" panose="020B0604020202020204" pitchFamily="34" charset="0"/>
                  </a:rPr>
                  <a:t>2</a:t>
                </a:r>
              </a:p>
            </p:txBody>
          </p:sp>
          <p:sp>
            <p:nvSpPr>
              <p:cNvPr id="37905" name="Rectangle 6"/>
              <p:cNvSpPr>
                <a:spLocks noChangeArrowheads="1"/>
              </p:cNvSpPr>
              <p:nvPr/>
            </p:nvSpPr>
            <p:spPr bwMode="auto">
              <a:xfrm>
                <a:off x="1728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>
                    <a:latin typeface="Helvetica" panose="020B0604020202020204" pitchFamily="34" charset="0"/>
                  </a:rPr>
                  <a:t>P</a:t>
                </a:r>
                <a:r>
                  <a:rPr lang="en-US" baseline="-25000">
                    <a:latin typeface="Helvetica" panose="020B0604020202020204" pitchFamily="34" charset="0"/>
                  </a:rPr>
                  <a:t>3</a:t>
                </a:r>
              </a:p>
            </p:txBody>
          </p:sp>
          <p:sp>
            <p:nvSpPr>
              <p:cNvPr id="37906" name="Rectangle 7"/>
              <p:cNvSpPr>
                <a:spLocks noChangeArrowheads="1"/>
              </p:cNvSpPr>
              <p:nvPr/>
            </p:nvSpPr>
            <p:spPr bwMode="auto">
              <a:xfrm>
                <a:off x="2016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>
                    <a:latin typeface="Helvetica" panose="020B0604020202020204" pitchFamily="34" charset="0"/>
                  </a:rPr>
                  <a:t>P</a:t>
                </a:r>
                <a:r>
                  <a:rPr lang="en-US" baseline="-25000">
                    <a:latin typeface="Helvetica" panose="020B0604020202020204" pitchFamily="34" charset="0"/>
                  </a:rPr>
                  <a:t>1</a:t>
                </a:r>
              </a:p>
            </p:txBody>
          </p:sp>
          <p:sp>
            <p:nvSpPr>
              <p:cNvPr id="37907" name="Rectangle 8"/>
              <p:cNvSpPr>
                <a:spLocks noChangeArrowheads="1"/>
              </p:cNvSpPr>
              <p:nvPr/>
            </p:nvSpPr>
            <p:spPr bwMode="auto">
              <a:xfrm>
                <a:off x="2304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>
                    <a:latin typeface="Helvetica" panose="020B0604020202020204" pitchFamily="34" charset="0"/>
                  </a:rPr>
                  <a:t>P</a:t>
                </a:r>
                <a:r>
                  <a:rPr lang="en-US" baseline="-25000">
                    <a:latin typeface="Helvetica" panose="020B0604020202020204" pitchFamily="34" charset="0"/>
                  </a:rPr>
                  <a:t>1</a:t>
                </a:r>
              </a:p>
            </p:txBody>
          </p:sp>
          <p:sp>
            <p:nvSpPr>
              <p:cNvPr id="37908" name="Rectangle 9"/>
              <p:cNvSpPr>
                <a:spLocks noChangeArrowheads="1"/>
              </p:cNvSpPr>
              <p:nvPr/>
            </p:nvSpPr>
            <p:spPr bwMode="auto">
              <a:xfrm>
                <a:off x="2592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>
                    <a:latin typeface="Helvetica" panose="020B0604020202020204" pitchFamily="34" charset="0"/>
                  </a:rPr>
                  <a:t>P</a:t>
                </a:r>
                <a:r>
                  <a:rPr lang="en-US" baseline="-25000">
                    <a:latin typeface="Helvetica" panose="020B0604020202020204" pitchFamily="34" charset="0"/>
                  </a:rPr>
                  <a:t>1</a:t>
                </a:r>
              </a:p>
            </p:txBody>
          </p:sp>
          <p:sp>
            <p:nvSpPr>
              <p:cNvPr id="37909" name="Rectangle 10"/>
              <p:cNvSpPr>
                <a:spLocks noChangeArrowheads="1"/>
              </p:cNvSpPr>
              <p:nvPr/>
            </p:nvSpPr>
            <p:spPr bwMode="auto">
              <a:xfrm>
                <a:off x="2880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>
                    <a:latin typeface="Helvetica" panose="020B0604020202020204" pitchFamily="34" charset="0"/>
                  </a:rPr>
                  <a:t>P</a:t>
                </a:r>
                <a:r>
                  <a:rPr lang="en-US" baseline="-25000">
                    <a:latin typeface="Helvetica" panose="020B0604020202020204" pitchFamily="34" charset="0"/>
                  </a:rPr>
                  <a:t>1</a:t>
                </a:r>
              </a:p>
            </p:txBody>
          </p:sp>
          <p:sp>
            <p:nvSpPr>
              <p:cNvPr id="37910" name="Rectangle 11"/>
              <p:cNvSpPr>
                <a:spLocks noChangeArrowheads="1"/>
              </p:cNvSpPr>
              <p:nvPr/>
            </p:nvSpPr>
            <p:spPr bwMode="auto">
              <a:xfrm>
                <a:off x="3168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>
                    <a:latin typeface="Helvetica" panose="020B0604020202020204" pitchFamily="34" charset="0"/>
                  </a:rPr>
                  <a:t>P</a:t>
                </a:r>
                <a:r>
                  <a:rPr lang="en-US" baseline="-25000">
                    <a:latin typeface="Helvetica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7894" name="Text Box 15"/>
            <p:cNvSpPr txBox="1">
              <a:spLocks noChangeArrowheads="1"/>
            </p:cNvSpPr>
            <p:nvPr/>
          </p:nvSpPr>
          <p:spPr bwMode="auto">
            <a:xfrm>
              <a:off x="1056" y="302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0</a:t>
              </a:r>
            </a:p>
          </p:txBody>
        </p:sp>
        <p:sp>
          <p:nvSpPr>
            <p:cNvPr id="37895" name="Text Box 16"/>
            <p:cNvSpPr txBox="1">
              <a:spLocks noChangeArrowheads="1"/>
            </p:cNvSpPr>
            <p:nvPr/>
          </p:nvSpPr>
          <p:spPr bwMode="auto">
            <a:xfrm>
              <a:off x="1386" y="3030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37896" name="Text Box 17"/>
            <p:cNvSpPr txBox="1">
              <a:spLocks noChangeArrowheads="1"/>
            </p:cNvSpPr>
            <p:nvPr/>
          </p:nvSpPr>
          <p:spPr bwMode="auto">
            <a:xfrm>
              <a:off x="1770" y="3030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7</a:t>
              </a:r>
            </a:p>
          </p:txBody>
        </p:sp>
        <p:sp>
          <p:nvSpPr>
            <p:cNvPr id="37897" name="Text Box 18"/>
            <p:cNvSpPr txBox="1">
              <a:spLocks noChangeArrowheads="1"/>
            </p:cNvSpPr>
            <p:nvPr/>
          </p:nvSpPr>
          <p:spPr bwMode="auto">
            <a:xfrm>
              <a:off x="2068" y="302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10</a:t>
              </a:r>
            </a:p>
          </p:txBody>
        </p:sp>
        <p:sp>
          <p:nvSpPr>
            <p:cNvPr id="37898" name="Text Box 19"/>
            <p:cNvSpPr txBox="1">
              <a:spLocks noChangeArrowheads="1"/>
            </p:cNvSpPr>
            <p:nvPr/>
          </p:nvSpPr>
          <p:spPr bwMode="auto">
            <a:xfrm>
              <a:off x="2456" y="302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14</a:t>
              </a:r>
            </a:p>
          </p:txBody>
        </p:sp>
        <p:sp>
          <p:nvSpPr>
            <p:cNvPr id="37899" name="Text Box 20"/>
            <p:cNvSpPr txBox="1">
              <a:spLocks noChangeArrowheads="1"/>
            </p:cNvSpPr>
            <p:nvPr/>
          </p:nvSpPr>
          <p:spPr bwMode="auto">
            <a:xfrm>
              <a:off x="2792" y="302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18</a:t>
              </a:r>
            </a:p>
          </p:txBody>
        </p:sp>
        <p:sp>
          <p:nvSpPr>
            <p:cNvPr id="37900" name="Text Box 21"/>
            <p:cNvSpPr txBox="1">
              <a:spLocks noChangeArrowheads="1"/>
            </p:cNvSpPr>
            <p:nvPr/>
          </p:nvSpPr>
          <p:spPr bwMode="auto">
            <a:xfrm>
              <a:off x="3088" y="302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22</a:t>
              </a:r>
            </a:p>
          </p:txBody>
        </p:sp>
        <p:sp>
          <p:nvSpPr>
            <p:cNvPr id="37901" name="Text Box 22"/>
            <p:cNvSpPr txBox="1">
              <a:spLocks noChangeArrowheads="1"/>
            </p:cNvSpPr>
            <p:nvPr/>
          </p:nvSpPr>
          <p:spPr bwMode="auto">
            <a:xfrm>
              <a:off x="3472" y="302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26</a:t>
              </a:r>
            </a:p>
          </p:txBody>
        </p:sp>
        <p:sp>
          <p:nvSpPr>
            <p:cNvPr id="37902" name="Text Box 24"/>
            <p:cNvSpPr txBox="1">
              <a:spLocks noChangeArrowheads="1"/>
            </p:cNvSpPr>
            <p:nvPr/>
          </p:nvSpPr>
          <p:spPr bwMode="auto">
            <a:xfrm>
              <a:off x="3808" y="302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>
                  <a:latin typeface="Helvetica" panose="020B0604020202020204" pitchFamily="34" charset="0"/>
                </a:rPr>
                <a:t>30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49525" y="385763"/>
            <a:ext cx="7829550" cy="457200"/>
          </a:xfrm>
        </p:spPr>
        <p:txBody>
          <a:bodyPr/>
          <a:lstStyle/>
          <a:p>
            <a:pPr eaLnBrk="1" hangingPunct="1"/>
            <a:r>
              <a:rPr lang="en-US" sz="3000"/>
              <a:t>Time Quantum and Context Switch Time</a:t>
            </a:r>
          </a:p>
        </p:txBody>
      </p:sp>
      <p:pic>
        <p:nvPicPr>
          <p:cNvPr id="3993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538" y="1857375"/>
            <a:ext cx="7065962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0276" y="306388"/>
            <a:ext cx="8385175" cy="457200"/>
          </a:xfrm>
        </p:spPr>
        <p:txBody>
          <a:bodyPr/>
          <a:lstStyle/>
          <a:p>
            <a:pPr eaLnBrk="1" hangingPunct="1"/>
            <a:r>
              <a:rPr lang="en-US" sz="2700"/>
              <a:t>Turnaround Time Varies With The Time Quantum</a:t>
            </a:r>
          </a:p>
        </p:txBody>
      </p:sp>
      <p:pic>
        <p:nvPicPr>
          <p:cNvPr id="4198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389" y="1379539"/>
            <a:ext cx="5005387" cy="412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u="sng" dirty="0"/>
              <a:t>Scheduling Algorithm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Multilevel Queue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366" y="2052918"/>
            <a:ext cx="11805634" cy="4195481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Ready queue is partitioned into separate queues:</a:t>
            </a:r>
            <a:br>
              <a:rPr lang="en-US" dirty="0" smtClean="0"/>
            </a:br>
            <a:r>
              <a:rPr lang="en-US" dirty="0" smtClean="0"/>
              <a:t>foreground (interactive)</a:t>
            </a:r>
            <a:br>
              <a:rPr lang="en-US" dirty="0" smtClean="0"/>
            </a:br>
            <a:r>
              <a:rPr lang="en-US" dirty="0" smtClean="0"/>
              <a:t>background (batch)</a:t>
            </a:r>
          </a:p>
          <a:p>
            <a:r>
              <a:rPr lang="en-US" dirty="0" smtClean="0"/>
              <a:t>Each queue has its own scheduling algorithm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foreground – RR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background – FCFS</a:t>
            </a:r>
          </a:p>
          <a:p>
            <a:r>
              <a:rPr lang="en-US" dirty="0" smtClean="0"/>
              <a:t>Scheduling must be done between the queues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Fixed priority scheduling; (i.e., serve all from foreground then from background).  Possibility of starvation.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Time slice – each queue gets a certain amount of CPU time which it can schedule amongst its processes; i.e., 80% to foreground in RR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20% to background in FCFS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Multilevel Queue Scheduling</a:t>
            </a:r>
          </a:p>
        </p:txBody>
      </p:sp>
      <p:pic>
        <p:nvPicPr>
          <p:cNvPr id="4608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13" y="1482725"/>
            <a:ext cx="6272212" cy="412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02275" y="220898"/>
            <a:ext cx="9404723" cy="1400530"/>
          </a:xfrm>
        </p:spPr>
        <p:txBody>
          <a:bodyPr/>
          <a:lstStyle/>
          <a:p>
            <a:r>
              <a:rPr lang="en-US" sz="4400" b="1" u="sng" dirty="0"/>
              <a:t>Scheduling Algorithm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Multilevel Feedback Queue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2275" y="1738895"/>
            <a:ext cx="11578107" cy="4483100"/>
          </a:xfrm>
        </p:spPr>
        <p:txBody>
          <a:bodyPr/>
          <a:lstStyle/>
          <a:p>
            <a:r>
              <a:rPr lang="en-US" dirty="0" smtClean="0"/>
              <a:t>A process can move between the various queues; aging can be implemented this way</a:t>
            </a:r>
          </a:p>
          <a:p>
            <a:r>
              <a:rPr lang="en-US" dirty="0" smtClean="0"/>
              <a:t>Multilevel-feedback-queue scheduler defined by the following parameters: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number of queues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scheduling algorithms for each queue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method used to determine when to upgrade a process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method used to determine when to demote a process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method used to determine which queue a process will enter when that process needs service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655888" y="0"/>
            <a:ext cx="7772400" cy="844550"/>
          </a:xfrm>
        </p:spPr>
        <p:txBody>
          <a:bodyPr/>
          <a:lstStyle/>
          <a:p>
            <a:pPr eaLnBrk="1" hangingPunct="1"/>
            <a:r>
              <a:rPr lang="en-US" smtClean="0"/>
              <a:t>Example of Multilevel Feedback Queue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Three queues: </a:t>
            </a:r>
          </a:p>
          <a:p>
            <a:pPr lvl="1"/>
            <a:r>
              <a:rPr lang="en-US" i="1" smtClean="0">
                <a:ea typeface="ＭＳ Ｐゴシック" panose="020B0600070205080204" pitchFamily="34" charset="-128"/>
              </a:rPr>
              <a:t>Q</a:t>
            </a:r>
            <a:r>
              <a:rPr lang="en-US" baseline="-25000" smtClean="0">
                <a:ea typeface="ＭＳ Ｐゴシック" panose="020B0600070205080204" pitchFamily="34" charset="-128"/>
              </a:rPr>
              <a:t>0</a:t>
            </a:r>
            <a:r>
              <a:rPr lang="en-US" smtClean="0">
                <a:ea typeface="ＭＳ Ｐゴシック" panose="020B0600070205080204" pitchFamily="34" charset="-128"/>
              </a:rPr>
              <a:t> – RR with time quantum 8 milliseconds</a:t>
            </a:r>
          </a:p>
          <a:p>
            <a:pPr lvl="1"/>
            <a:r>
              <a:rPr lang="en-US" i="1" smtClean="0">
                <a:ea typeface="ＭＳ Ｐゴシック" panose="020B0600070205080204" pitchFamily="34" charset="-128"/>
              </a:rPr>
              <a:t>Q</a:t>
            </a:r>
            <a:r>
              <a:rPr lang="en-US" baseline="-25000" smtClean="0">
                <a:ea typeface="ＭＳ Ｐゴシック" panose="020B0600070205080204" pitchFamily="34" charset="-128"/>
              </a:rPr>
              <a:t>1</a:t>
            </a:r>
            <a:r>
              <a:rPr lang="en-US" smtClean="0">
                <a:ea typeface="ＭＳ Ｐゴシック" panose="020B0600070205080204" pitchFamily="34" charset="-128"/>
              </a:rPr>
              <a:t> – RR time quantum 16 milliseconds</a:t>
            </a:r>
          </a:p>
          <a:p>
            <a:pPr lvl="1"/>
            <a:r>
              <a:rPr lang="en-US" i="1" smtClean="0">
                <a:ea typeface="ＭＳ Ｐゴシック" panose="020B0600070205080204" pitchFamily="34" charset="-128"/>
              </a:rPr>
              <a:t>Q</a:t>
            </a:r>
            <a:r>
              <a:rPr lang="en-US" baseline="-25000" smtClean="0">
                <a:ea typeface="ＭＳ Ｐゴシック" panose="020B0600070205080204" pitchFamily="34" charset="-128"/>
              </a:rPr>
              <a:t>2</a:t>
            </a:r>
            <a:r>
              <a:rPr lang="en-US" smtClean="0">
                <a:ea typeface="ＭＳ Ｐゴシック" panose="020B0600070205080204" pitchFamily="34" charset="-128"/>
              </a:rPr>
              <a:t> – FCFS</a:t>
            </a:r>
          </a:p>
          <a:p>
            <a:r>
              <a:rPr lang="en-US" smtClean="0"/>
              <a:t>Scheduling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A new job enters queue </a:t>
            </a:r>
            <a:r>
              <a:rPr lang="en-US" i="1" smtClean="0">
                <a:ea typeface="ＭＳ Ｐゴシック" panose="020B0600070205080204" pitchFamily="34" charset="-128"/>
              </a:rPr>
              <a:t>Q</a:t>
            </a:r>
            <a:r>
              <a:rPr lang="en-US" i="1" baseline="-25000" smtClean="0">
                <a:ea typeface="ＭＳ Ｐゴシック" panose="020B0600070205080204" pitchFamily="34" charset="-128"/>
              </a:rPr>
              <a:t>0</a:t>
            </a:r>
            <a:r>
              <a:rPr lang="en-US" i="1" smtClean="0">
                <a:ea typeface="ＭＳ Ｐゴシック" panose="020B0600070205080204" pitchFamily="34" charset="-128"/>
              </a:rPr>
              <a:t> </a:t>
            </a:r>
            <a:r>
              <a:rPr lang="en-US" smtClean="0">
                <a:ea typeface="ＭＳ Ｐゴシック" panose="020B0600070205080204" pitchFamily="34" charset="-128"/>
              </a:rPr>
              <a:t>which is served</a:t>
            </a:r>
            <a:r>
              <a:rPr lang="en-US" i="1" smtClean="0">
                <a:ea typeface="ＭＳ Ｐゴシック" panose="020B0600070205080204" pitchFamily="34" charset="-128"/>
              </a:rPr>
              <a:t> </a:t>
            </a:r>
            <a:r>
              <a:rPr lang="en-US" smtClean="0">
                <a:ea typeface="ＭＳ Ｐゴシック" panose="020B0600070205080204" pitchFamily="34" charset="-128"/>
              </a:rPr>
              <a:t>FCFS. When it gains CPU, job receives 8 milliseconds.  If it does not finish in 8 milliseconds, job is moved to queue </a:t>
            </a:r>
            <a:r>
              <a:rPr lang="en-US" i="1" smtClean="0">
                <a:ea typeface="ＭＳ Ｐゴシック" panose="020B0600070205080204" pitchFamily="34" charset="-128"/>
              </a:rPr>
              <a:t>Q</a:t>
            </a:r>
            <a:r>
              <a:rPr lang="en-US" baseline="-25000" smtClean="0">
                <a:ea typeface="ＭＳ Ｐゴシック" panose="020B0600070205080204" pitchFamily="34" charset="-128"/>
              </a:rPr>
              <a:t>1</a:t>
            </a:r>
            <a:r>
              <a:rPr lang="en-US" smtClean="0">
                <a:ea typeface="ＭＳ Ｐゴシック" panose="020B0600070205080204" pitchFamily="34" charset="-128"/>
              </a:rPr>
              <a:t>.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At </a:t>
            </a:r>
            <a:r>
              <a:rPr lang="en-US" i="1" smtClean="0">
                <a:ea typeface="ＭＳ Ｐゴシック" panose="020B0600070205080204" pitchFamily="34" charset="-128"/>
              </a:rPr>
              <a:t>Q</a:t>
            </a:r>
            <a:r>
              <a:rPr lang="en-US" baseline="-25000" smtClean="0">
                <a:ea typeface="ＭＳ Ｐゴシック" panose="020B0600070205080204" pitchFamily="34" charset="-128"/>
              </a:rPr>
              <a:t>1</a:t>
            </a:r>
            <a:r>
              <a:rPr lang="en-US" smtClean="0">
                <a:ea typeface="ＭＳ Ｐゴシック" panose="020B0600070205080204" pitchFamily="34" charset="-128"/>
              </a:rPr>
              <a:t> job is again served FCFS and receives 16 additional milliseconds.  If it still does not complete, it is preempted and moved to queue </a:t>
            </a:r>
            <a:r>
              <a:rPr lang="en-US" i="1" smtClean="0">
                <a:ea typeface="ＭＳ Ｐゴシック" panose="020B0600070205080204" pitchFamily="34" charset="-128"/>
              </a:rPr>
              <a:t>Q</a:t>
            </a:r>
            <a:r>
              <a:rPr lang="en-US" baseline="-25000" smtClean="0">
                <a:ea typeface="ＭＳ Ｐゴシック" panose="020B0600070205080204" pitchFamily="34" charset="-128"/>
              </a:rPr>
              <a:t>2</a:t>
            </a:r>
            <a:r>
              <a:rPr lang="en-US" smtClean="0">
                <a:ea typeface="ＭＳ Ｐゴシック" panose="020B0600070205080204" pitchFamily="34" charset="-128"/>
              </a:rPr>
              <a:t>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Multilevel Feedback Queues</a:t>
            </a:r>
          </a:p>
        </p:txBody>
      </p:sp>
      <p:pic>
        <p:nvPicPr>
          <p:cNvPr id="5222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926" y="1598614"/>
            <a:ext cx="612457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/>
              <a:t>Thread Scheduling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1577976"/>
            <a:ext cx="11228210" cy="3546475"/>
          </a:xfrm>
        </p:spPr>
        <p:txBody>
          <a:bodyPr/>
          <a:lstStyle/>
          <a:p>
            <a:r>
              <a:rPr lang="en-US" dirty="0" smtClean="0"/>
              <a:t>Distinction between user-level and kernel-level threads</a:t>
            </a:r>
          </a:p>
          <a:p>
            <a:r>
              <a:rPr lang="en-US" dirty="0" smtClean="0"/>
              <a:t>Many-to-one and many-to-many models, thread library schedules user-level threads to run on LWP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Known as </a:t>
            </a:r>
            <a:r>
              <a:rPr lang="en-US" b="1" dirty="0" smtClean="0">
                <a:ea typeface="ＭＳ Ｐゴシック" panose="020B0600070205080204" pitchFamily="34" charset="-128"/>
              </a:rPr>
              <a:t>process-contention scope (PCS) </a:t>
            </a:r>
            <a:r>
              <a:rPr lang="en-US" dirty="0" smtClean="0">
                <a:ea typeface="ＭＳ Ｐゴシック" panose="020B0600070205080204" pitchFamily="34" charset="-128"/>
              </a:rPr>
              <a:t>since scheduling competition is within the process</a:t>
            </a:r>
          </a:p>
          <a:p>
            <a:endParaRPr lang="en-US" dirty="0" smtClean="0"/>
          </a:p>
          <a:p>
            <a:r>
              <a:rPr lang="en-US" dirty="0" smtClean="0"/>
              <a:t>Kernel thread scheduled onto available CPU is </a:t>
            </a:r>
            <a:r>
              <a:rPr lang="en-US" b="1" dirty="0" smtClean="0"/>
              <a:t>system-contention scope (SCS) </a:t>
            </a:r>
            <a:r>
              <a:rPr lang="en-US" dirty="0" smtClean="0"/>
              <a:t>– competition among all threads in system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err="1" smtClean="0"/>
              <a:t>Pthread</a:t>
            </a:r>
            <a:r>
              <a:rPr lang="en-US" b="1" u="sng" dirty="0" smtClean="0"/>
              <a:t> Scheduling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111" y="1577976"/>
            <a:ext cx="9345615" cy="3546475"/>
          </a:xfrm>
        </p:spPr>
        <p:txBody>
          <a:bodyPr/>
          <a:lstStyle/>
          <a:p>
            <a:r>
              <a:rPr lang="en-US" dirty="0" smtClean="0"/>
              <a:t>API allows specifying either PCS or SCS during thread creation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PTHREAD SCOPE PROCESS schedules threads using PCS scheduling</a:t>
            </a:r>
          </a:p>
          <a:p>
            <a:pPr lvl="1"/>
            <a:r>
              <a:rPr lang="en-US" dirty="0" smtClean="0">
                <a:ea typeface="ＭＳ Ｐゴシック" panose="020B0600070205080204" pitchFamily="34" charset="-128"/>
              </a:rPr>
              <a:t>PTHREAD SCOPE SYSTEM schedules threads using SCS scheduling.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 smtClean="0"/>
              <a:t>Multiple-Processor Scheduling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1089" y="1411289"/>
            <a:ext cx="6321425" cy="4410075"/>
          </a:xfrm>
        </p:spPr>
        <p:txBody>
          <a:bodyPr>
            <a:normAutofit fontScale="92500" lnSpcReduction="20000"/>
          </a:bodyPr>
          <a:lstStyle/>
          <a:p>
            <a:r>
              <a:rPr lang="en-US" smtClean="0"/>
              <a:t>CPU scheduling more complex when multiple CPUs are available</a:t>
            </a:r>
          </a:p>
          <a:p>
            <a:r>
              <a:rPr lang="en-US" b="1" smtClean="0"/>
              <a:t>Homogeneous processors </a:t>
            </a:r>
            <a:r>
              <a:rPr lang="en-US" smtClean="0"/>
              <a:t>within a multiprocessor</a:t>
            </a:r>
          </a:p>
          <a:p>
            <a:r>
              <a:rPr lang="en-US" b="1" smtClean="0"/>
              <a:t>Asymmetric multiprocessing </a:t>
            </a:r>
            <a:r>
              <a:rPr lang="en-US" smtClean="0"/>
              <a:t>– only one processor accesses the system data structures, alleviating the need for data sharing</a:t>
            </a:r>
          </a:p>
          <a:p>
            <a:r>
              <a:rPr lang="en-US" b="1" smtClean="0"/>
              <a:t>Symmetric multiprocessing  (SMP) </a:t>
            </a:r>
            <a:r>
              <a:rPr lang="en-US" smtClean="0"/>
              <a:t>– each processor is self-scheduling, all processes in common ready queue, or each has its own private queue of ready processes</a:t>
            </a:r>
          </a:p>
          <a:p>
            <a:r>
              <a:rPr lang="en-US" b="1" smtClean="0"/>
              <a:t>Processor affinity </a:t>
            </a:r>
            <a:r>
              <a:rPr lang="en-US" smtClean="0"/>
              <a:t>– process has affinity for processor on which it is currently running</a:t>
            </a:r>
          </a:p>
          <a:p>
            <a:pPr lvl="1"/>
            <a:r>
              <a:rPr lang="en-US" b="1" smtClean="0">
                <a:ea typeface="ＭＳ Ｐゴシック" panose="020B0600070205080204" pitchFamily="34" charset="-128"/>
              </a:rPr>
              <a:t>soft affinity</a:t>
            </a:r>
          </a:p>
          <a:p>
            <a:pPr lvl="1"/>
            <a:r>
              <a:rPr lang="en-US" b="1" smtClean="0">
                <a:ea typeface="ＭＳ Ｐゴシック" panose="020B0600070205080204" pitchFamily="34" charset="-128"/>
              </a:rPr>
              <a:t>hard affinity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Pthread Scheduling API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62288" y="1243013"/>
            <a:ext cx="6818312" cy="4919662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#include &lt;</a:t>
            </a:r>
            <a:r>
              <a:rPr lang="en-US" sz="1400" dirty="0" err="1">
                <a:latin typeface="Monaco" charset="0"/>
              </a:rPr>
              <a:t>pthread.h</a:t>
            </a:r>
            <a:r>
              <a:rPr lang="en-US" sz="1400" dirty="0">
                <a:latin typeface="Monaco" charset="0"/>
              </a:rPr>
              <a:t>&gt;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#include &lt;</a:t>
            </a:r>
            <a:r>
              <a:rPr lang="en-US" sz="1400" dirty="0" err="1">
                <a:latin typeface="Monaco" charset="0"/>
              </a:rPr>
              <a:t>stdio.h</a:t>
            </a:r>
            <a:r>
              <a:rPr lang="en-US" sz="1400" dirty="0">
                <a:latin typeface="Monaco" charset="0"/>
              </a:rPr>
              <a:t>&gt;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#define NUM THREADS 5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 err="1">
                <a:latin typeface="Monaco" charset="0"/>
              </a:rPr>
              <a:t>int</a:t>
            </a:r>
            <a:r>
              <a:rPr lang="en-US" sz="1400" dirty="0">
                <a:latin typeface="Monaco" charset="0"/>
              </a:rPr>
              <a:t> main(</a:t>
            </a:r>
            <a:r>
              <a:rPr lang="en-US" sz="1400" dirty="0" err="1">
                <a:latin typeface="Monaco" charset="0"/>
              </a:rPr>
              <a:t>int</a:t>
            </a:r>
            <a:r>
              <a:rPr lang="en-US" sz="1400" dirty="0">
                <a:latin typeface="Monaco" charset="0"/>
              </a:rPr>
              <a:t> </a:t>
            </a:r>
            <a:r>
              <a:rPr lang="en-US" sz="1400" dirty="0" err="1">
                <a:latin typeface="Monaco" charset="0"/>
              </a:rPr>
              <a:t>argc</a:t>
            </a:r>
            <a:r>
              <a:rPr lang="en-US" sz="1400" dirty="0">
                <a:latin typeface="Monaco" charset="0"/>
              </a:rPr>
              <a:t>, char *</a:t>
            </a:r>
            <a:r>
              <a:rPr lang="en-US" sz="1400" dirty="0" err="1">
                <a:latin typeface="Monaco" charset="0"/>
              </a:rPr>
              <a:t>argv</a:t>
            </a:r>
            <a:r>
              <a:rPr lang="en-US" sz="1400" dirty="0">
                <a:latin typeface="Monaco" charset="0"/>
              </a:rPr>
              <a:t>[])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{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	 </a:t>
            </a:r>
            <a:r>
              <a:rPr lang="en-US" sz="1400" dirty="0" err="1">
                <a:latin typeface="Monaco" charset="0"/>
              </a:rPr>
              <a:t>int</a:t>
            </a:r>
            <a:r>
              <a:rPr lang="en-US" sz="1400" dirty="0">
                <a:latin typeface="Monaco" charset="0"/>
              </a:rPr>
              <a:t> </a:t>
            </a:r>
            <a:r>
              <a:rPr lang="en-US" sz="1400" dirty="0" err="1">
                <a:latin typeface="Monaco" charset="0"/>
              </a:rPr>
              <a:t>i</a:t>
            </a:r>
            <a:r>
              <a:rPr lang="en-US" sz="1400" dirty="0">
                <a:latin typeface="Monaco" charset="0"/>
              </a:rPr>
              <a:t>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	</a:t>
            </a:r>
            <a:r>
              <a:rPr lang="en-US" sz="1400" dirty="0" err="1">
                <a:latin typeface="Monaco" charset="0"/>
              </a:rPr>
              <a:t>pthread</a:t>
            </a:r>
            <a:r>
              <a:rPr lang="en-US" sz="1400" dirty="0">
                <a:latin typeface="Monaco" charset="0"/>
              </a:rPr>
              <a:t> t </a:t>
            </a:r>
            <a:r>
              <a:rPr lang="en-US" sz="1400" dirty="0" err="1">
                <a:latin typeface="Monaco" charset="0"/>
              </a:rPr>
              <a:t>tid</a:t>
            </a:r>
            <a:r>
              <a:rPr lang="en-US" sz="1400" dirty="0">
                <a:latin typeface="Monaco" charset="0"/>
              </a:rPr>
              <a:t>[NUM THREADS];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	</a:t>
            </a:r>
            <a:r>
              <a:rPr lang="en-US" sz="1400" dirty="0" err="1">
                <a:latin typeface="Monaco" charset="0"/>
              </a:rPr>
              <a:t>pthread</a:t>
            </a:r>
            <a:r>
              <a:rPr lang="en-US" sz="1400" dirty="0">
                <a:latin typeface="Monaco" charset="0"/>
              </a:rPr>
              <a:t> </a:t>
            </a:r>
            <a:r>
              <a:rPr lang="en-US" sz="1400" dirty="0" err="1">
                <a:latin typeface="Monaco" charset="0"/>
              </a:rPr>
              <a:t>attr</a:t>
            </a:r>
            <a:r>
              <a:rPr lang="en-US" sz="1400" dirty="0">
                <a:latin typeface="Monaco" charset="0"/>
              </a:rPr>
              <a:t> t </a:t>
            </a:r>
            <a:r>
              <a:rPr lang="en-US" sz="1400" dirty="0" err="1">
                <a:latin typeface="Monaco" charset="0"/>
              </a:rPr>
              <a:t>attr</a:t>
            </a:r>
            <a:r>
              <a:rPr lang="en-US" sz="1400" dirty="0">
                <a:latin typeface="Monaco" charset="0"/>
              </a:rPr>
              <a:t>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	/* get the default attributes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	</a:t>
            </a:r>
            <a:r>
              <a:rPr lang="en-US" sz="1400" dirty="0" err="1">
                <a:latin typeface="Monaco" charset="0"/>
              </a:rPr>
              <a:t>pthread</a:t>
            </a:r>
            <a:r>
              <a:rPr lang="en-US" sz="1400" dirty="0">
                <a:latin typeface="Monaco" charset="0"/>
              </a:rPr>
              <a:t> </a:t>
            </a:r>
            <a:r>
              <a:rPr lang="en-US" sz="1400" dirty="0" err="1">
                <a:latin typeface="Monaco" charset="0"/>
              </a:rPr>
              <a:t>attr</a:t>
            </a:r>
            <a:r>
              <a:rPr lang="en-US" sz="1400" dirty="0">
                <a:latin typeface="Monaco" charset="0"/>
              </a:rPr>
              <a:t> </a:t>
            </a:r>
            <a:r>
              <a:rPr lang="en-US" sz="1400" dirty="0" err="1">
                <a:latin typeface="Monaco" charset="0"/>
              </a:rPr>
              <a:t>init</a:t>
            </a:r>
            <a:r>
              <a:rPr lang="en-US" sz="1400" dirty="0">
                <a:latin typeface="Monaco" charset="0"/>
              </a:rPr>
              <a:t>(&amp;</a:t>
            </a:r>
            <a:r>
              <a:rPr lang="en-US" sz="1400" dirty="0" err="1">
                <a:latin typeface="Monaco" charset="0"/>
              </a:rPr>
              <a:t>attr</a:t>
            </a:r>
            <a:r>
              <a:rPr lang="en-US" sz="1400" dirty="0">
                <a:latin typeface="Monaco" charset="0"/>
              </a:rPr>
              <a:t>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	/* set the scheduling algorithm to PROCESS or SYSTEM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	</a:t>
            </a:r>
            <a:r>
              <a:rPr lang="en-US" sz="1400" dirty="0" err="1">
                <a:latin typeface="Monaco" charset="0"/>
              </a:rPr>
              <a:t>pthread</a:t>
            </a:r>
            <a:r>
              <a:rPr lang="en-US" sz="1400" dirty="0">
                <a:latin typeface="Monaco" charset="0"/>
              </a:rPr>
              <a:t> </a:t>
            </a:r>
            <a:r>
              <a:rPr lang="en-US" sz="1400" dirty="0" err="1">
                <a:latin typeface="Monaco" charset="0"/>
              </a:rPr>
              <a:t>attr</a:t>
            </a:r>
            <a:r>
              <a:rPr lang="en-US" sz="1400" dirty="0">
                <a:latin typeface="Monaco" charset="0"/>
              </a:rPr>
              <a:t> </a:t>
            </a:r>
            <a:r>
              <a:rPr lang="en-US" sz="1400" dirty="0" err="1">
                <a:latin typeface="Monaco" charset="0"/>
              </a:rPr>
              <a:t>setscope</a:t>
            </a:r>
            <a:r>
              <a:rPr lang="en-US" sz="1400" dirty="0">
                <a:latin typeface="Monaco" charset="0"/>
              </a:rPr>
              <a:t>(&amp;</a:t>
            </a:r>
            <a:r>
              <a:rPr lang="en-US" sz="1400" dirty="0" err="1">
                <a:latin typeface="Monaco" charset="0"/>
              </a:rPr>
              <a:t>attr</a:t>
            </a:r>
            <a:r>
              <a:rPr lang="en-US" sz="1400" dirty="0">
                <a:latin typeface="Monaco" charset="0"/>
              </a:rPr>
              <a:t>, PTHREAD SCOPE SYSTEM);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	/* set the scheduling policy - FIFO, RT, or OTHER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	</a:t>
            </a:r>
            <a:r>
              <a:rPr lang="en-US" sz="1400" dirty="0" err="1">
                <a:latin typeface="Monaco" charset="0"/>
              </a:rPr>
              <a:t>pthread</a:t>
            </a:r>
            <a:r>
              <a:rPr lang="en-US" sz="1400" dirty="0">
                <a:latin typeface="Monaco" charset="0"/>
              </a:rPr>
              <a:t> </a:t>
            </a:r>
            <a:r>
              <a:rPr lang="en-US" sz="1400" dirty="0" err="1">
                <a:latin typeface="Monaco" charset="0"/>
              </a:rPr>
              <a:t>attr</a:t>
            </a:r>
            <a:r>
              <a:rPr lang="en-US" sz="1400" dirty="0">
                <a:latin typeface="Monaco" charset="0"/>
              </a:rPr>
              <a:t> </a:t>
            </a:r>
            <a:r>
              <a:rPr lang="en-US" sz="1400" dirty="0" err="1">
                <a:latin typeface="Monaco" charset="0"/>
              </a:rPr>
              <a:t>setschedpolicy</a:t>
            </a:r>
            <a:r>
              <a:rPr lang="en-US" sz="1400" dirty="0">
                <a:latin typeface="Monaco" charset="0"/>
              </a:rPr>
              <a:t>(&amp;</a:t>
            </a:r>
            <a:r>
              <a:rPr lang="en-US" sz="1400" dirty="0" err="1">
                <a:latin typeface="Monaco" charset="0"/>
              </a:rPr>
              <a:t>attr</a:t>
            </a:r>
            <a:r>
              <a:rPr lang="en-US" sz="1400" dirty="0">
                <a:latin typeface="Monaco" charset="0"/>
              </a:rPr>
              <a:t>, SCHED OTHER);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	/* create the threads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	for (</a:t>
            </a:r>
            <a:r>
              <a:rPr lang="en-US" sz="1400" dirty="0" err="1">
                <a:latin typeface="Monaco" charset="0"/>
              </a:rPr>
              <a:t>i</a:t>
            </a:r>
            <a:r>
              <a:rPr lang="en-US" sz="1400" dirty="0">
                <a:latin typeface="Monaco" charset="0"/>
              </a:rPr>
              <a:t> = 0; </a:t>
            </a:r>
            <a:r>
              <a:rPr lang="en-US" sz="1400" dirty="0" err="1">
                <a:latin typeface="Monaco" charset="0"/>
              </a:rPr>
              <a:t>i</a:t>
            </a:r>
            <a:r>
              <a:rPr lang="en-US" sz="1400" dirty="0">
                <a:latin typeface="Monaco" charset="0"/>
              </a:rPr>
              <a:t> &lt; NUM THREADS; </a:t>
            </a:r>
            <a:r>
              <a:rPr lang="en-US" sz="1400" dirty="0" err="1">
                <a:latin typeface="Monaco" charset="0"/>
              </a:rPr>
              <a:t>i</a:t>
            </a:r>
            <a:r>
              <a:rPr lang="en-US" sz="1400" dirty="0">
                <a:latin typeface="Monaco" charset="0"/>
              </a:rPr>
              <a:t>++)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400" dirty="0">
                <a:latin typeface="Monaco" charset="0"/>
              </a:rPr>
              <a:t>		</a:t>
            </a:r>
            <a:r>
              <a:rPr lang="en-US" sz="1400" dirty="0" err="1">
                <a:latin typeface="Monaco" charset="0"/>
              </a:rPr>
              <a:t>pthread</a:t>
            </a:r>
            <a:r>
              <a:rPr lang="en-US" sz="1400" dirty="0">
                <a:latin typeface="Monaco" charset="0"/>
              </a:rPr>
              <a:t> create(&amp;</a:t>
            </a:r>
            <a:r>
              <a:rPr lang="en-US" sz="1400" dirty="0" err="1">
                <a:latin typeface="Monaco" charset="0"/>
              </a:rPr>
              <a:t>tid</a:t>
            </a:r>
            <a:r>
              <a:rPr lang="en-US" sz="1400" dirty="0">
                <a:latin typeface="Monaco" charset="0"/>
              </a:rPr>
              <a:t>[</a:t>
            </a:r>
            <a:r>
              <a:rPr lang="en-US" sz="1400" dirty="0" err="1">
                <a:latin typeface="Monaco" charset="0"/>
              </a:rPr>
              <a:t>i</a:t>
            </a:r>
            <a:r>
              <a:rPr lang="en-US" sz="1400" dirty="0">
                <a:latin typeface="Monaco" charset="0"/>
              </a:rPr>
              <a:t>],&amp;</a:t>
            </a:r>
            <a:r>
              <a:rPr lang="en-US" sz="1400" dirty="0" err="1">
                <a:latin typeface="Monaco" charset="0"/>
              </a:rPr>
              <a:t>attr,runner,NULL</a:t>
            </a:r>
            <a:r>
              <a:rPr lang="en-US" sz="1400" dirty="0">
                <a:latin typeface="Monaco" charset="0"/>
              </a:rPr>
              <a:t>);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1" y="246656"/>
            <a:ext cx="9404723" cy="1400530"/>
          </a:xfrm>
        </p:spPr>
        <p:txBody>
          <a:bodyPr/>
          <a:lstStyle/>
          <a:p>
            <a:pPr eaLnBrk="1" hangingPunct="1"/>
            <a:r>
              <a:rPr lang="en-US" smtClean="0"/>
              <a:t>Pthread Scheduling API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34983" y="1775975"/>
            <a:ext cx="6099175" cy="3613150"/>
          </a:xfrm>
        </p:spPr>
        <p:txBody>
          <a:bodyPr>
            <a:normAutofit lnSpcReduction="10000"/>
          </a:bodyPr>
          <a:lstStyle/>
          <a:p>
            <a:pPr>
              <a:buFont typeface="Monotype Sorts" charset="2"/>
              <a:buNone/>
            </a:pPr>
            <a:r>
              <a:rPr lang="en-US" sz="1600" dirty="0">
                <a:solidFill>
                  <a:srgbClr val="000000"/>
                </a:solidFill>
                <a:latin typeface="Monaco" charset="0"/>
              </a:rPr>
              <a:t>	</a:t>
            </a:r>
            <a:r>
              <a:rPr lang="en-US" sz="1600" dirty="0">
                <a:latin typeface="Monaco" charset="0"/>
              </a:rPr>
              <a:t>/* now join on each thread */</a:t>
            </a:r>
          </a:p>
          <a:p>
            <a:pPr>
              <a:buFont typeface="Monotype Sorts" charset="2"/>
              <a:buNone/>
            </a:pPr>
            <a:r>
              <a:rPr lang="en-US" sz="1600" dirty="0">
                <a:latin typeface="Monaco" charset="0"/>
              </a:rPr>
              <a:t>	for (</a:t>
            </a:r>
            <a:r>
              <a:rPr lang="en-US" sz="1600" dirty="0" err="1">
                <a:latin typeface="Monaco" charset="0"/>
              </a:rPr>
              <a:t>i</a:t>
            </a:r>
            <a:r>
              <a:rPr lang="en-US" sz="1600" dirty="0">
                <a:latin typeface="Monaco" charset="0"/>
              </a:rPr>
              <a:t> = 0; </a:t>
            </a:r>
            <a:r>
              <a:rPr lang="en-US" sz="1600" dirty="0" err="1">
                <a:latin typeface="Monaco" charset="0"/>
              </a:rPr>
              <a:t>i</a:t>
            </a:r>
            <a:r>
              <a:rPr lang="en-US" sz="1600" dirty="0">
                <a:latin typeface="Monaco" charset="0"/>
              </a:rPr>
              <a:t> &lt; NUM THREADS; </a:t>
            </a:r>
            <a:r>
              <a:rPr lang="en-US" sz="1600" dirty="0" err="1">
                <a:latin typeface="Monaco" charset="0"/>
              </a:rPr>
              <a:t>i</a:t>
            </a:r>
            <a:r>
              <a:rPr lang="en-US" sz="1600" dirty="0">
                <a:latin typeface="Monaco" charset="0"/>
              </a:rPr>
              <a:t>++)</a:t>
            </a:r>
          </a:p>
          <a:p>
            <a:pPr>
              <a:buFont typeface="Monotype Sorts" charset="2"/>
              <a:buNone/>
            </a:pPr>
            <a:r>
              <a:rPr lang="en-US" sz="1600" dirty="0">
                <a:latin typeface="Monaco" charset="0"/>
              </a:rPr>
              <a:t>		</a:t>
            </a:r>
            <a:r>
              <a:rPr lang="en-US" sz="1600" dirty="0" err="1">
                <a:latin typeface="Monaco" charset="0"/>
              </a:rPr>
              <a:t>pthread</a:t>
            </a:r>
            <a:r>
              <a:rPr lang="en-US" sz="1600" dirty="0">
                <a:latin typeface="Monaco" charset="0"/>
              </a:rPr>
              <a:t> join(</a:t>
            </a:r>
            <a:r>
              <a:rPr lang="en-US" sz="1600" dirty="0" err="1">
                <a:latin typeface="Monaco" charset="0"/>
              </a:rPr>
              <a:t>tid</a:t>
            </a:r>
            <a:r>
              <a:rPr lang="en-US" sz="1600" dirty="0">
                <a:latin typeface="Monaco" charset="0"/>
              </a:rPr>
              <a:t>[</a:t>
            </a:r>
            <a:r>
              <a:rPr lang="en-US" sz="1600" dirty="0" err="1">
                <a:latin typeface="Monaco" charset="0"/>
              </a:rPr>
              <a:t>i</a:t>
            </a:r>
            <a:r>
              <a:rPr lang="en-US" sz="1600" dirty="0">
                <a:latin typeface="Monaco" charset="0"/>
              </a:rPr>
              <a:t>], NULL);</a:t>
            </a:r>
          </a:p>
          <a:p>
            <a:pPr>
              <a:buFont typeface="Monotype Sorts" charset="2"/>
              <a:buNone/>
            </a:pPr>
            <a:r>
              <a:rPr lang="en-US" sz="1600" dirty="0">
                <a:latin typeface="Monaco" charset="0"/>
              </a:rPr>
              <a:t>}</a:t>
            </a:r>
          </a:p>
          <a:p>
            <a:pPr>
              <a:buFont typeface="Monotype Sorts" charset="2"/>
              <a:buNone/>
            </a:pPr>
            <a:r>
              <a:rPr lang="en-US" sz="1600" dirty="0">
                <a:latin typeface="Monaco" charset="0"/>
              </a:rPr>
              <a:t> /* Each thread will begin control in this function */</a:t>
            </a:r>
          </a:p>
          <a:p>
            <a:pPr>
              <a:buFont typeface="Monotype Sorts" charset="2"/>
              <a:buNone/>
            </a:pPr>
            <a:r>
              <a:rPr lang="en-US" sz="1600" dirty="0">
                <a:latin typeface="Monaco" charset="0"/>
              </a:rPr>
              <a:t>void *runner(void *</a:t>
            </a:r>
            <a:r>
              <a:rPr lang="en-US" sz="1600" dirty="0" err="1">
                <a:latin typeface="Monaco" charset="0"/>
              </a:rPr>
              <a:t>param</a:t>
            </a:r>
            <a:r>
              <a:rPr lang="en-US" sz="1600" dirty="0">
                <a:latin typeface="Monaco" charset="0"/>
              </a:rPr>
              <a:t>)</a:t>
            </a:r>
          </a:p>
          <a:p>
            <a:pPr>
              <a:buFont typeface="Monotype Sorts" charset="2"/>
              <a:buNone/>
            </a:pPr>
            <a:r>
              <a:rPr lang="en-US" sz="1600" dirty="0">
                <a:latin typeface="Monaco" charset="0"/>
              </a:rPr>
              <a:t>{ </a:t>
            </a:r>
          </a:p>
          <a:p>
            <a:pPr>
              <a:buFont typeface="Monotype Sorts" charset="2"/>
              <a:buNone/>
            </a:pPr>
            <a:r>
              <a:rPr lang="en-US" sz="1600" dirty="0">
                <a:latin typeface="Monaco" charset="0"/>
              </a:rPr>
              <a:t>	</a:t>
            </a:r>
            <a:r>
              <a:rPr lang="en-US" sz="1600" dirty="0" err="1">
                <a:latin typeface="Monaco" charset="0"/>
              </a:rPr>
              <a:t>printf</a:t>
            </a:r>
            <a:r>
              <a:rPr lang="en-US" sz="1600" dirty="0">
                <a:latin typeface="Monaco" charset="0"/>
              </a:rPr>
              <a:t>("I am a thread\n");</a:t>
            </a:r>
          </a:p>
          <a:p>
            <a:pPr>
              <a:buFont typeface="Monotype Sorts" charset="2"/>
              <a:buNone/>
            </a:pPr>
            <a:r>
              <a:rPr lang="en-US" sz="1600" dirty="0">
                <a:latin typeface="Monaco" charset="0"/>
              </a:rPr>
              <a:t>	</a:t>
            </a:r>
            <a:r>
              <a:rPr lang="en-US" sz="1600" dirty="0" err="1">
                <a:latin typeface="Monaco" charset="0"/>
              </a:rPr>
              <a:t>pthread</a:t>
            </a:r>
            <a:r>
              <a:rPr lang="en-US" sz="1600" dirty="0">
                <a:latin typeface="Monaco" charset="0"/>
              </a:rPr>
              <a:t> exit(0);</a:t>
            </a:r>
          </a:p>
          <a:p>
            <a:pPr>
              <a:buFont typeface="Monotype Sorts" charset="2"/>
              <a:buNone/>
            </a:pPr>
            <a:r>
              <a:rPr lang="en-US" sz="1600" dirty="0">
                <a:latin typeface="Monaco" charset="0"/>
              </a:rPr>
              <a:t>}</a:t>
            </a:r>
            <a:endParaRPr lang="en-US" dirty="0" smtClean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Multicore Processors</a:t>
            </a:r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Recent trend to place multiple processor cores on same physical chip</a:t>
            </a:r>
          </a:p>
          <a:p>
            <a:r>
              <a:rPr lang="en-US" smtClean="0"/>
              <a:t>Faster and consume less power</a:t>
            </a:r>
          </a:p>
          <a:p>
            <a:r>
              <a:rPr lang="en-US" smtClean="0"/>
              <a:t>Multiple threads per core also growing</a:t>
            </a:r>
          </a:p>
          <a:p>
            <a:pPr lvl="1"/>
            <a:r>
              <a:rPr lang="en-US" smtClean="0">
                <a:ea typeface="ＭＳ Ｐゴシック" panose="020B0600070205080204" pitchFamily="34" charset="-128"/>
              </a:rPr>
              <a:t>Takes advantage of memory stall to make progress on another thread while memory retrieve happens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ea typeface="ＭＳ Ｐゴシック" panose="020B0600070205080204" pitchFamily="34" charset="-128"/>
              </a:rPr>
              <a:t> 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NUMA and CPU Scheduling</a:t>
            </a:r>
          </a:p>
        </p:txBody>
      </p:sp>
      <p:pic>
        <p:nvPicPr>
          <p:cNvPr id="64515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981200"/>
            <a:ext cx="5830888" cy="311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Multithreaded Multicore System</a:t>
            </a:r>
          </a:p>
        </p:txBody>
      </p:sp>
      <p:pic>
        <p:nvPicPr>
          <p:cNvPr id="68611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552700"/>
            <a:ext cx="6781800" cy="167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In-5.7</a:t>
            </a:r>
          </a:p>
        </p:txBody>
      </p:sp>
      <p:pic>
        <p:nvPicPr>
          <p:cNvPr id="9318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839" y="2055813"/>
            <a:ext cx="7343775" cy="114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In-5.8</a:t>
            </a:r>
          </a:p>
        </p:txBody>
      </p:sp>
      <p:pic>
        <p:nvPicPr>
          <p:cNvPr id="9523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426" y="2263776"/>
            <a:ext cx="7648575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145</TotalTime>
  <Words>2831</Words>
  <Application>Microsoft Office PowerPoint</Application>
  <PresentationFormat>Widescreen</PresentationFormat>
  <Paragraphs>650</Paragraphs>
  <Slides>78</Slides>
  <Notes>77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93" baseType="lpstr">
      <vt:lpstr>ＭＳ Ｐゴシック</vt:lpstr>
      <vt:lpstr>Arial</vt:lpstr>
      <vt:lpstr>Calibri</vt:lpstr>
      <vt:lpstr>Century Gothic</vt:lpstr>
      <vt:lpstr>Helvetica</vt:lpstr>
      <vt:lpstr>Monaco</vt:lpstr>
      <vt:lpstr>Monotype Sorts</vt:lpstr>
      <vt:lpstr>Symbol</vt:lpstr>
      <vt:lpstr>Times New Roman</vt:lpstr>
      <vt:lpstr>Verdana</vt:lpstr>
      <vt:lpstr>Webdings</vt:lpstr>
      <vt:lpstr>Wingdings</vt:lpstr>
      <vt:lpstr>Wingdings 3</vt:lpstr>
      <vt:lpstr>Ion</vt:lpstr>
      <vt:lpstr>Equation</vt:lpstr>
      <vt:lpstr>MODULE 2</vt:lpstr>
      <vt:lpstr>Process Concept</vt:lpstr>
      <vt:lpstr>Process State</vt:lpstr>
      <vt:lpstr>Process Control Block (PCB)</vt:lpstr>
      <vt:lpstr>CPU Switch From Process to Process</vt:lpstr>
      <vt:lpstr>Process Scheduling Queues</vt:lpstr>
      <vt:lpstr>Representation of Process Scheduling</vt:lpstr>
      <vt:lpstr>Schedulers</vt:lpstr>
      <vt:lpstr>Schedulers (Cont)</vt:lpstr>
      <vt:lpstr>Process Creation</vt:lpstr>
      <vt:lpstr>A tree of processes on a typical Solaris</vt:lpstr>
      <vt:lpstr>C Program Forking Separate Process</vt:lpstr>
      <vt:lpstr>Process Termination</vt:lpstr>
      <vt:lpstr>Interprocess Communication</vt:lpstr>
      <vt:lpstr>Cooperating Processes</vt:lpstr>
      <vt:lpstr>Producer-Consumer Problem</vt:lpstr>
      <vt:lpstr>Bounded-Buffer – Shared-Memory Solution</vt:lpstr>
      <vt:lpstr>Bounded-Buffer – Producer</vt:lpstr>
      <vt:lpstr>Bounded Buffer – Consumer</vt:lpstr>
      <vt:lpstr>Interprocess Communication – Message Passing</vt:lpstr>
      <vt:lpstr>Implementation Questions</vt:lpstr>
      <vt:lpstr>Direct Communication</vt:lpstr>
      <vt:lpstr>Indirect Communication</vt:lpstr>
      <vt:lpstr>Indirect Communication</vt:lpstr>
      <vt:lpstr>Indirect Communication</vt:lpstr>
      <vt:lpstr>Synchronization</vt:lpstr>
      <vt:lpstr>Buffering</vt:lpstr>
      <vt:lpstr>Chapter 2: Multi-threaded Programing  Single and Multithreaded Processes</vt:lpstr>
      <vt:lpstr>PowerPoint Presentation</vt:lpstr>
      <vt:lpstr>Multicore Programming</vt:lpstr>
      <vt:lpstr>User Threads</vt:lpstr>
      <vt:lpstr>Kernel Threads</vt:lpstr>
      <vt:lpstr>Multithreading Models</vt:lpstr>
      <vt:lpstr>Many-to-One</vt:lpstr>
      <vt:lpstr>One-to-One</vt:lpstr>
      <vt:lpstr>Many-to-Many Model</vt:lpstr>
      <vt:lpstr>Two-level Model</vt:lpstr>
      <vt:lpstr>Thread Libraries</vt:lpstr>
      <vt:lpstr>Java Threads</vt:lpstr>
      <vt:lpstr>Threading Issues</vt:lpstr>
      <vt:lpstr>Thread Cancellation</vt:lpstr>
      <vt:lpstr>Signal Handling</vt:lpstr>
      <vt:lpstr>Thread Pools</vt:lpstr>
      <vt:lpstr>Thread Specific Data</vt:lpstr>
      <vt:lpstr>Chapter 3: Scheduler Activations</vt:lpstr>
      <vt:lpstr>Alternating Sequence of CPU And I/O Bursts</vt:lpstr>
      <vt:lpstr>Histogram of CPU-burst Times</vt:lpstr>
      <vt:lpstr>CPU Scheduler</vt:lpstr>
      <vt:lpstr>Dispatcher</vt:lpstr>
      <vt:lpstr>Scheduling Criteria</vt:lpstr>
      <vt:lpstr>Scheduling Algorithm Optimization Criteria</vt:lpstr>
      <vt:lpstr>Scheduling Algorithm First-Come, First-Served (FCFS) Scheduling</vt:lpstr>
      <vt:lpstr>Scheduling Algorithm FCFS Scheduling (Cont)</vt:lpstr>
      <vt:lpstr>Scheduling Algorithm Shortest-Job-First (SJF) Scheduling</vt:lpstr>
      <vt:lpstr>Example of SJF</vt:lpstr>
      <vt:lpstr>Determining Length of Next CPU Burst</vt:lpstr>
      <vt:lpstr>Prediction of the Length of the Next CPU Burst</vt:lpstr>
      <vt:lpstr>Examples of Exponential Averaging</vt:lpstr>
      <vt:lpstr>Scheduling Algorithm Priority Scheduling</vt:lpstr>
      <vt:lpstr>Scheduling Algorithm Round Robin (RR)</vt:lpstr>
      <vt:lpstr>Example of RR with Time Quantum = 4</vt:lpstr>
      <vt:lpstr>Time Quantum and Context Switch Time</vt:lpstr>
      <vt:lpstr>Turnaround Time Varies With The Time Quantum</vt:lpstr>
      <vt:lpstr>Scheduling Algorithm Multilevel Queue</vt:lpstr>
      <vt:lpstr>Multilevel Queue Scheduling</vt:lpstr>
      <vt:lpstr>Scheduling Algorithm Multilevel Feedback Queue</vt:lpstr>
      <vt:lpstr>Example of Multilevel Feedback Queue</vt:lpstr>
      <vt:lpstr>Multilevel Feedback Queues</vt:lpstr>
      <vt:lpstr>Thread Scheduling</vt:lpstr>
      <vt:lpstr>Pthread Scheduling</vt:lpstr>
      <vt:lpstr>Multiple-Processor Scheduling</vt:lpstr>
      <vt:lpstr>Pthread Scheduling API</vt:lpstr>
      <vt:lpstr>Pthread Scheduling API</vt:lpstr>
      <vt:lpstr>Multicore Processors</vt:lpstr>
      <vt:lpstr>NUMA and CPU Scheduling</vt:lpstr>
      <vt:lpstr>Multithreaded Multicore System</vt:lpstr>
      <vt:lpstr>In-5.7</vt:lpstr>
      <vt:lpstr>In-5.8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</dc:title>
  <dc:creator>Arbeena</dc:creator>
  <cp:lastModifiedBy>Arbeena</cp:lastModifiedBy>
  <cp:revision>31</cp:revision>
  <dcterms:created xsi:type="dcterms:W3CDTF">2023-10-14T11:36:42Z</dcterms:created>
  <dcterms:modified xsi:type="dcterms:W3CDTF">2023-12-19T07:07:31Z</dcterms:modified>
</cp:coreProperties>
</file>