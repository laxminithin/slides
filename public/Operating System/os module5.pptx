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65"/>
  </p:notesMasterIdLst>
  <p:sldIdLst>
    <p:sldId id="256" r:id="rId2"/>
    <p:sldId id="260" r:id="rId3"/>
    <p:sldId id="261" r:id="rId4"/>
    <p:sldId id="262" r:id="rId5"/>
    <p:sldId id="263" r:id="rId6"/>
    <p:sldId id="264" r:id="rId7"/>
    <p:sldId id="406" r:id="rId8"/>
    <p:sldId id="268" r:id="rId9"/>
    <p:sldId id="269" r:id="rId10"/>
    <p:sldId id="270" r:id="rId11"/>
    <p:sldId id="272" r:id="rId12"/>
    <p:sldId id="273" r:id="rId13"/>
    <p:sldId id="274" r:id="rId14"/>
    <p:sldId id="276" r:id="rId15"/>
    <p:sldId id="277" r:id="rId16"/>
    <p:sldId id="278" r:id="rId17"/>
    <p:sldId id="279" r:id="rId18"/>
    <p:sldId id="280" r:id="rId19"/>
    <p:sldId id="283" r:id="rId20"/>
    <p:sldId id="285" r:id="rId21"/>
    <p:sldId id="287" r:id="rId22"/>
    <p:sldId id="288" r:id="rId23"/>
    <p:sldId id="289" r:id="rId24"/>
    <p:sldId id="290" r:id="rId25"/>
    <p:sldId id="292" r:id="rId26"/>
    <p:sldId id="293" r:id="rId27"/>
    <p:sldId id="294" r:id="rId28"/>
    <p:sldId id="300" r:id="rId29"/>
    <p:sldId id="302" r:id="rId30"/>
    <p:sldId id="304" r:id="rId31"/>
    <p:sldId id="305" r:id="rId32"/>
    <p:sldId id="307" r:id="rId33"/>
    <p:sldId id="308" r:id="rId34"/>
    <p:sldId id="310" r:id="rId35"/>
    <p:sldId id="311" r:id="rId36"/>
    <p:sldId id="312" r:id="rId37"/>
    <p:sldId id="315" r:id="rId38"/>
    <p:sldId id="316" r:id="rId39"/>
    <p:sldId id="319" r:id="rId40"/>
    <p:sldId id="320" r:id="rId41"/>
    <p:sldId id="322" r:id="rId42"/>
    <p:sldId id="324" r:id="rId43"/>
    <p:sldId id="326" r:id="rId44"/>
    <p:sldId id="327" r:id="rId45"/>
    <p:sldId id="329" r:id="rId46"/>
    <p:sldId id="330" r:id="rId47"/>
    <p:sldId id="331" r:id="rId48"/>
    <p:sldId id="354" r:id="rId49"/>
    <p:sldId id="356" r:id="rId50"/>
    <p:sldId id="358" r:id="rId51"/>
    <p:sldId id="359" r:id="rId52"/>
    <p:sldId id="360" r:id="rId53"/>
    <p:sldId id="361" r:id="rId54"/>
    <p:sldId id="362" r:id="rId55"/>
    <p:sldId id="363" r:id="rId56"/>
    <p:sldId id="365" r:id="rId57"/>
    <p:sldId id="366" r:id="rId58"/>
    <p:sldId id="368" r:id="rId59"/>
    <p:sldId id="370" r:id="rId60"/>
    <p:sldId id="372" r:id="rId61"/>
    <p:sldId id="374" r:id="rId62"/>
    <p:sldId id="375" r:id="rId63"/>
    <p:sldId id="376"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132" autoAdjust="0"/>
    <p:restoredTop sz="94660"/>
  </p:normalViewPr>
  <p:slideViewPr>
    <p:cSldViewPr snapToGrid="0">
      <p:cViewPr varScale="1">
        <p:scale>
          <a:sx n="70" d="100"/>
          <a:sy n="70" d="100"/>
        </p:scale>
        <p:origin x="106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6B72D6-5176-452D-B351-E98043D8E6D1}" type="datetimeFigureOut">
              <a:rPr lang="en-US" smtClean="0"/>
              <a:t>8/12/2026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2162BA-FA9E-4EE8-8CFF-3A7951A7B5C1}" type="slidenum">
              <a:rPr lang="en-US" smtClean="0"/>
              <a:t>‹#›</a:t>
            </a:fld>
            <a:endParaRPr lang="en-US"/>
          </a:p>
        </p:txBody>
      </p:sp>
    </p:spTree>
    <p:extLst>
      <p:ext uri="{BB962C8B-B14F-4D97-AF65-F5344CB8AC3E}">
        <p14:creationId xmlns:p14="http://schemas.microsoft.com/office/powerpoint/2010/main" val="3751608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8BA1A3-6D40-47BF-8C0D-47CABC0539C1}" type="slidenum">
              <a:rPr lang="en-US"/>
              <a:pPr/>
              <a:t>2</a:t>
            </a:fld>
            <a:endParaRPr lang="en-US"/>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55596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F59898-5142-41C8-B0F4-FE1BA85EF6D6}" type="slidenum">
              <a:rPr lang="en-US"/>
              <a:pPr/>
              <a:t>3</a:t>
            </a:fld>
            <a:endParaRPr lang="en-US"/>
          </a:p>
        </p:txBody>
      </p:sp>
      <p:sp>
        <p:nvSpPr>
          <p:cNvPr id="140290" name="Rectangle 2"/>
          <p:cNvSpPr>
            <a:spLocks noGrp="1" noRot="1" noChangeAspect="1" noChangeArrowheads="1" noTextEdit="1"/>
          </p:cNvSpPr>
          <p:nvPr>
            <p:ph type="sldImg"/>
          </p:nvPr>
        </p:nvSpPr>
        <p:spPr>
          <a:ln/>
        </p:spPr>
      </p:sp>
      <p:sp>
        <p:nvSpPr>
          <p:cNvPr id="1402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381831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0605960-7793-4F65-98E8-EE097CED9500}" type="slidenum">
              <a:rPr lang="en-US"/>
              <a:pPr/>
              <a:t>4</a:t>
            </a:fld>
            <a:endParaRPr lang="en-US"/>
          </a:p>
        </p:txBody>
      </p:sp>
      <p:sp>
        <p:nvSpPr>
          <p:cNvPr id="141314" name="Rectangle 2"/>
          <p:cNvSpPr>
            <a:spLocks noGrp="1" noRot="1" noChangeAspect="1" noChangeArrowheads="1" noTextEdit="1"/>
          </p:cNvSpPr>
          <p:nvPr>
            <p:ph type="sldImg"/>
          </p:nvPr>
        </p:nvSpPr>
        <p:spPr>
          <a:ln/>
        </p:spPr>
      </p:sp>
      <p:sp>
        <p:nvSpPr>
          <p:cNvPr id="1413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9910907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1DF0B66-33AB-435D-AE86-1C7FB2C36523}" type="slidenum">
              <a:rPr lang="en-US"/>
              <a:pPr/>
              <a:t>5</a:t>
            </a:fld>
            <a:endParaRPr lang="en-US"/>
          </a:p>
        </p:txBody>
      </p:sp>
      <p:sp>
        <p:nvSpPr>
          <p:cNvPr id="142338" name="Rectangle 2"/>
          <p:cNvSpPr>
            <a:spLocks noGrp="1" noRot="1" noChangeAspect="1" noChangeArrowheads="1" noTextEdit="1"/>
          </p:cNvSpPr>
          <p:nvPr>
            <p:ph type="sldImg"/>
          </p:nvPr>
        </p:nvSpPr>
        <p:spPr>
          <a:ln/>
        </p:spPr>
      </p:sp>
      <p:sp>
        <p:nvSpPr>
          <p:cNvPr id="1423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59791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4FC8C26-1A44-4CF0-B255-57528C8B2297}" type="slidenum">
              <a:rPr lang="en-US"/>
              <a:pPr/>
              <a:t>6</a:t>
            </a:fld>
            <a:endParaRPr lang="en-US"/>
          </a:p>
        </p:txBody>
      </p:sp>
      <p:sp>
        <p:nvSpPr>
          <p:cNvPr id="143362" name="Rectangle 2"/>
          <p:cNvSpPr>
            <a:spLocks noGrp="1" noRot="1" noChangeAspect="1" noChangeArrowheads="1" noTextEdit="1"/>
          </p:cNvSpPr>
          <p:nvPr>
            <p:ph type="sldImg"/>
          </p:nvPr>
        </p:nvSpPr>
        <p:spPr>
          <a:ln/>
        </p:spPr>
      </p:sp>
      <p:sp>
        <p:nvSpPr>
          <p:cNvPr id="1433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813480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CE0C16-7AD1-42AB-883F-97CA7BBD1071}" type="slidenum">
              <a:rPr lang="en-US"/>
              <a:pPr/>
              <a:t>8</a:t>
            </a:fld>
            <a:endParaRPr lang="en-US"/>
          </a:p>
        </p:txBody>
      </p:sp>
      <p:sp>
        <p:nvSpPr>
          <p:cNvPr id="147458" name="Rectangle 2"/>
          <p:cNvSpPr>
            <a:spLocks noGrp="1" noRot="1" noChangeAspect="1" noChangeArrowheads="1" noTextEdit="1"/>
          </p:cNvSpPr>
          <p:nvPr>
            <p:ph type="sldImg"/>
          </p:nvPr>
        </p:nvSpPr>
        <p:spPr>
          <a:ln/>
        </p:spPr>
      </p:sp>
      <p:sp>
        <p:nvSpPr>
          <p:cNvPr id="1474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971931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51C64A-B72F-43A7-A112-FBE6DCFDC372}" type="slidenum">
              <a:rPr lang="en-US"/>
              <a:pPr/>
              <a:t>9</a:t>
            </a:fld>
            <a:endParaRPr lang="en-US"/>
          </a:p>
        </p:txBody>
      </p:sp>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288098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105F02-0BD9-4612-B80F-6FE44206959F}" type="slidenum">
              <a:rPr lang="en-US"/>
              <a:pPr/>
              <a:t>10</a:t>
            </a:fld>
            <a:endParaRPr lang="en-US"/>
          </a:p>
        </p:txBody>
      </p:sp>
      <p:sp>
        <p:nvSpPr>
          <p:cNvPr id="149506" name="Rectangle 2"/>
          <p:cNvSpPr>
            <a:spLocks noGrp="1" noRot="1" noChangeAspect="1" noChangeArrowheads="1" noTextEdit="1"/>
          </p:cNvSpPr>
          <p:nvPr>
            <p:ph type="sldImg"/>
          </p:nvPr>
        </p:nvSpPr>
        <p:spPr>
          <a:ln/>
        </p:spPr>
      </p:sp>
      <p:sp>
        <p:nvSpPr>
          <p:cNvPr id="1495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5814853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C6E7BD-7441-4A3C-8A00-D7BFD1BC4E03}" type="slidenum">
              <a:rPr lang="en-US"/>
              <a:pPr/>
              <a:t>11</a:t>
            </a:fld>
            <a:endParaRPr lang="en-US"/>
          </a:p>
        </p:txBody>
      </p:sp>
      <p:sp>
        <p:nvSpPr>
          <p:cNvPr id="151554" name="Rectangle 2"/>
          <p:cNvSpPr>
            <a:spLocks noGrp="1" noRot="1" noChangeAspect="1" noChangeArrowheads="1" noTextEdit="1"/>
          </p:cNvSpPr>
          <p:nvPr>
            <p:ph type="sldImg"/>
          </p:nvPr>
        </p:nvSpPr>
        <p:spPr>
          <a:ln/>
        </p:spPr>
      </p:sp>
      <p:sp>
        <p:nvSpPr>
          <p:cNvPr id="1515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186776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8D0661C-B243-41BB-B8EA-3F713C04B405}" type="slidenum">
              <a:rPr lang="en-US"/>
              <a:pPr/>
              <a:t>12</a:t>
            </a:fld>
            <a:endParaRPr lang="en-US"/>
          </a:p>
        </p:txBody>
      </p:sp>
      <p:sp>
        <p:nvSpPr>
          <p:cNvPr id="152578" name="Rectangle 2"/>
          <p:cNvSpPr>
            <a:spLocks noGrp="1" noRot="1" noChangeAspect="1" noChangeArrowheads="1" noTextEdit="1"/>
          </p:cNvSpPr>
          <p:nvPr>
            <p:ph type="sldImg"/>
          </p:nvPr>
        </p:nvSpPr>
        <p:spPr>
          <a:ln/>
        </p:spPr>
      </p:sp>
      <p:sp>
        <p:nvSpPr>
          <p:cNvPr id="1525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3293707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3B1E5DF-F26E-4C2D-A8B5-A0427A15E941}" type="slidenum">
              <a:rPr lang="en-US"/>
              <a:pPr/>
              <a:t>14</a:t>
            </a:fld>
            <a:endParaRPr lang="en-US"/>
          </a:p>
        </p:txBody>
      </p:sp>
      <p:sp>
        <p:nvSpPr>
          <p:cNvPr id="154626" name="Rectangle 2"/>
          <p:cNvSpPr>
            <a:spLocks noGrp="1" noRot="1" noChangeAspect="1" noChangeArrowheads="1" noTextEdit="1"/>
          </p:cNvSpPr>
          <p:nvPr>
            <p:ph type="sldImg"/>
          </p:nvPr>
        </p:nvSpPr>
        <p:spPr>
          <a:ln/>
        </p:spPr>
      </p:sp>
      <p:sp>
        <p:nvSpPr>
          <p:cNvPr id="1546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40169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A240D7-1001-4C83-864F-BF0A1A71D108}" type="slidenum">
              <a:rPr lang="en-US"/>
              <a:pPr/>
              <a:t>15</a:t>
            </a:fld>
            <a:endParaRPr lang="en-US"/>
          </a:p>
        </p:txBody>
      </p:sp>
      <p:sp>
        <p:nvSpPr>
          <p:cNvPr id="155650" name="Rectangle 2"/>
          <p:cNvSpPr>
            <a:spLocks noGrp="1" noRot="1" noChangeAspect="1" noChangeArrowheads="1" noTextEdit="1"/>
          </p:cNvSpPr>
          <p:nvPr>
            <p:ph type="sldImg"/>
          </p:nvPr>
        </p:nvSpPr>
        <p:spPr>
          <a:ln/>
        </p:spPr>
      </p:sp>
      <p:sp>
        <p:nvSpPr>
          <p:cNvPr id="1556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611595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A17CC0-00F3-4EA8-9163-7D1C22D1C1B0}" type="slidenum">
              <a:rPr lang="en-US"/>
              <a:pPr/>
              <a:t>16</a:t>
            </a:fld>
            <a:endParaRPr lang="en-US"/>
          </a:p>
        </p:txBody>
      </p:sp>
      <p:sp>
        <p:nvSpPr>
          <p:cNvPr id="156674" name="Rectangle 2"/>
          <p:cNvSpPr>
            <a:spLocks noGrp="1" noRot="1" noChangeAspect="1" noChangeArrowheads="1" noTextEdit="1"/>
          </p:cNvSpPr>
          <p:nvPr>
            <p:ph type="sldImg"/>
          </p:nvPr>
        </p:nvSpPr>
        <p:spPr>
          <a:ln/>
        </p:spPr>
      </p:sp>
      <p:sp>
        <p:nvSpPr>
          <p:cNvPr id="1566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242147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E85489-7A81-4D3F-ADB1-3F3E179941CD}" type="slidenum">
              <a:rPr lang="en-US"/>
              <a:pPr/>
              <a:t>17</a:t>
            </a:fld>
            <a:endParaRPr lang="en-US"/>
          </a:p>
        </p:txBody>
      </p:sp>
      <p:sp>
        <p:nvSpPr>
          <p:cNvPr id="157698" name="Rectangle 2"/>
          <p:cNvSpPr>
            <a:spLocks noGrp="1" noRot="1" noChangeAspect="1" noChangeArrowheads="1" noTextEdit="1"/>
          </p:cNvSpPr>
          <p:nvPr>
            <p:ph type="sldImg"/>
          </p:nvPr>
        </p:nvSpPr>
        <p:spPr>
          <a:ln/>
        </p:spPr>
      </p:sp>
      <p:sp>
        <p:nvSpPr>
          <p:cNvPr id="1576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7238538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0EB195-214D-4C07-B9EA-3593F21AEA90}" type="slidenum">
              <a:rPr lang="en-US"/>
              <a:pPr/>
              <a:t>18</a:t>
            </a:fld>
            <a:endParaRPr lang="en-US"/>
          </a:p>
        </p:txBody>
      </p:sp>
      <p:sp>
        <p:nvSpPr>
          <p:cNvPr id="158722" name="Rectangle 2"/>
          <p:cNvSpPr>
            <a:spLocks noGrp="1" noRot="1" noChangeAspect="1" noChangeArrowheads="1" noTextEdit="1"/>
          </p:cNvSpPr>
          <p:nvPr>
            <p:ph type="sldImg"/>
          </p:nvPr>
        </p:nvSpPr>
        <p:spPr>
          <a:ln/>
        </p:spPr>
      </p:sp>
      <p:sp>
        <p:nvSpPr>
          <p:cNvPr id="1587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944702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D42CEB0-0991-4684-89B3-4C0F7C7B1D14}" type="slidenum">
              <a:rPr lang="en-US"/>
              <a:pPr/>
              <a:t>19</a:t>
            </a:fld>
            <a:endParaRPr lang="en-US"/>
          </a:p>
        </p:txBody>
      </p:sp>
      <p:sp>
        <p:nvSpPr>
          <p:cNvPr id="161794" name="Rectangle 2"/>
          <p:cNvSpPr>
            <a:spLocks noGrp="1" noRot="1" noChangeAspect="1" noChangeArrowheads="1" noTextEdit="1"/>
          </p:cNvSpPr>
          <p:nvPr>
            <p:ph type="sldImg"/>
          </p:nvPr>
        </p:nvSpPr>
        <p:spPr>
          <a:ln/>
        </p:spPr>
      </p:sp>
      <p:sp>
        <p:nvSpPr>
          <p:cNvPr id="1617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444138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AF8583-FF62-4807-9C71-D17C4A6F17ED}" type="slidenum">
              <a:rPr lang="en-US"/>
              <a:pPr/>
              <a:t>20</a:t>
            </a:fld>
            <a:endParaRPr lang="en-US"/>
          </a:p>
        </p:txBody>
      </p:sp>
      <p:sp>
        <p:nvSpPr>
          <p:cNvPr id="163842" name="Rectangle 2"/>
          <p:cNvSpPr>
            <a:spLocks noGrp="1" noRot="1" noChangeAspect="1" noChangeArrowheads="1" noTextEdit="1"/>
          </p:cNvSpPr>
          <p:nvPr>
            <p:ph type="sldImg"/>
          </p:nvPr>
        </p:nvSpPr>
        <p:spPr>
          <a:ln/>
        </p:spPr>
      </p:sp>
      <p:sp>
        <p:nvSpPr>
          <p:cNvPr id="16384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02213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A3E816-BB58-48EF-952D-66D45A15F7B4}" type="slidenum">
              <a:rPr lang="en-US"/>
              <a:pPr/>
              <a:t>21</a:t>
            </a:fld>
            <a:endParaRPr lang="en-US"/>
          </a:p>
        </p:txBody>
      </p:sp>
      <p:sp>
        <p:nvSpPr>
          <p:cNvPr id="165890" name="Rectangle 2"/>
          <p:cNvSpPr>
            <a:spLocks noGrp="1" noRot="1" noChangeAspect="1" noChangeArrowheads="1" noTextEdit="1"/>
          </p:cNvSpPr>
          <p:nvPr>
            <p:ph type="sldImg"/>
          </p:nvPr>
        </p:nvSpPr>
        <p:spPr>
          <a:ln/>
        </p:spPr>
      </p:sp>
      <p:sp>
        <p:nvSpPr>
          <p:cNvPr id="1658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0299989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0330D1-BD3E-4296-8DED-01CFE39D5862}" type="slidenum">
              <a:rPr lang="en-US"/>
              <a:pPr/>
              <a:t>22</a:t>
            </a:fld>
            <a:endParaRPr lang="en-US"/>
          </a:p>
        </p:txBody>
      </p:sp>
      <p:sp>
        <p:nvSpPr>
          <p:cNvPr id="166914" name="Rectangle 2"/>
          <p:cNvSpPr>
            <a:spLocks noGrp="1" noRot="1" noChangeAspect="1" noChangeArrowheads="1" noTextEdit="1"/>
          </p:cNvSpPr>
          <p:nvPr>
            <p:ph type="sldImg"/>
          </p:nvPr>
        </p:nvSpPr>
        <p:spPr>
          <a:ln/>
        </p:spPr>
      </p:sp>
      <p:sp>
        <p:nvSpPr>
          <p:cNvPr id="1669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925557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D56C49-B42E-4461-BEF1-09344CE99750}" type="slidenum">
              <a:rPr lang="en-US"/>
              <a:pPr/>
              <a:t>23</a:t>
            </a:fld>
            <a:endParaRPr lang="en-US"/>
          </a:p>
        </p:txBody>
      </p:sp>
      <p:sp>
        <p:nvSpPr>
          <p:cNvPr id="167938" name="Rectangle 2"/>
          <p:cNvSpPr>
            <a:spLocks noGrp="1" noRot="1" noChangeAspect="1" noChangeArrowheads="1" noTextEdit="1"/>
          </p:cNvSpPr>
          <p:nvPr>
            <p:ph type="sldImg"/>
          </p:nvPr>
        </p:nvSpPr>
        <p:spPr>
          <a:ln/>
        </p:spPr>
      </p:sp>
      <p:sp>
        <p:nvSpPr>
          <p:cNvPr id="1679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630772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83D262-9F4F-4D42-86F0-D26B2A9E7F8E}" type="slidenum">
              <a:rPr lang="en-US"/>
              <a:pPr/>
              <a:t>24</a:t>
            </a:fld>
            <a:endParaRPr lang="en-US"/>
          </a:p>
        </p:txBody>
      </p:sp>
      <p:sp>
        <p:nvSpPr>
          <p:cNvPr id="168962" name="Rectangle 2"/>
          <p:cNvSpPr>
            <a:spLocks noGrp="1" noRot="1" noChangeAspect="1" noChangeArrowheads="1" noTextEdit="1"/>
          </p:cNvSpPr>
          <p:nvPr>
            <p:ph type="sldImg"/>
          </p:nvPr>
        </p:nvSpPr>
        <p:spPr>
          <a:ln/>
        </p:spPr>
      </p:sp>
      <p:sp>
        <p:nvSpPr>
          <p:cNvPr id="1689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447131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8A94B6-D851-4FF3-A998-EA017EFE5D81}" type="slidenum">
              <a:rPr lang="en-US"/>
              <a:pPr/>
              <a:t>25</a:t>
            </a:fld>
            <a:endParaRPr lang="en-US"/>
          </a:p>
        </p:txBody>
      </p:sp>
      <p:sp>
        <p:nvSpPr>
          <p:cNvPr id="171010" name="Rectangle 2"/>
          <p:cNvSpPr>
            <a:spLocks noGrp="1" noRot="1" noChangeAspect="1" noChangeArrowheads="1" noTextEdit="1"/>
          </p:cNvSpPr>
          <p:nvPr>
            <p:ph type="sldImg"/>
          </p:nvPr>
        </p:nvSpPr>
        <p:spPr>
          <a:ln/>
        </p:spPr>
      </p:sp>
      <p:sp>
        <p:nvSpPr>
          <p:cNvPr id="1710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3555742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1E4068-D1B4-4681-909D-1335B3D79EE6}" type="slidenum">
              <a:rPr lang="en-US"/>
              <a:pPr/>
              <a:t>26</a:t>
            </a:fld>
            <a:endParaRPr lang="en-US"/>
          </a:p>
        </p:txBody>
      </p:sp>
      <p:sp>
        <p:nvSpPr>
          <p:cNvPr id="172034" name="Rectangle 2"/>
          <p:cNvSpPr>
            <a:spLocks noGrp="1" noRot="1" noChangeAspect="1" noChangeArrowheads="1" noTextEdit="1"/>
          </p:cNvSpPr>
          <p:nvPr>
            <p:ph type="sldImg"/>
          </p:nvPr>
        </p:nvSpPr>
        <p:spPr>
          <a:ln/>
        </p:spPr>
      </p:sp>
      <p:sp>
        <p:nvSpPr>
          <p:cNvPr id="1720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9068403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181380A-BA0D-4869-984D-7620B8C7828B}" type="slidenum">
              <a:rPr lang="en-US"/>
              <a:pPr/>
              <a:t>27</a:t>
            </a:fld>
            <a:endParaRPr lang="en-US"/>
          </a:p>
        </p:txBody>
      </p:sp>
      <p:sp>
        <p:nvSpPr>
          <p:cNvPr id="173058" name="Rectangle 2"/>
          <p:cNvSpPr>
            <a:spLocks noGrp="1" noRot="1" noChangeAspect="1" noChangeArrowheads="1" noTextEdit="1"/>
          </p:cNvSpPr>
          <p:nvPr>
            <p:ph type="sldImg"/>
          </p:nvPr>
        </p:nvSpPr>
        <p:spPr>
          <a:ln/>
        </p:spPr>
      </p:sp>
      <p:sp>
        <p:nvSpPr>
          <p:cNvPr id="1730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083613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D1325F4C-FE61-4D96-9D29-E23EFC3EBD0D}" type="slidenum">
              <a:rPr lang="en-US" sz="1200">
                <a:latin typeface="Times New Roman" panose="02020603050405020304" pitchFamily="18" charset="0"/>
              </a:rPr>
              <a:pPr/>
              <a:t>28</a:t>
            </a:fld>
            <a:endParaRPr lang="en-US" sz="1200">
              <a:latin typeface="Times New Roman" panose="02020603050405020304" pitchFamily="18" charset="0"/>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42686399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64D8E8F7-BC7A-448F-84F1-3454BE080044}" type="slidenum">
              <a:rPr lang="en-US" sz="1200">
                <a:latin typeface="Times New Roman" panose="02020603050405020304" pitchFamily="18" charset="0"/>
              </a:rPr>
              <a:pPr/>
              <a:t>29</a:t>
            </a:fld>
            <a:endParaRPr lang="en-US" sz="1200">
              <a:latin typeface="Times New Roman" panose="02020603050405020304" pitchFamily="18"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22018011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D9D1BC94-818A-42E1-89FB-E9FC8D2D3DCD}" type="slidenum">
              <a:rPr lang="en-US" sz="1200">
                <a:latin typeface="Times New Roman" panose="02020603050405020304" pitchFamily="18" charset="0"/>
              </a:rPr>
              <a:pPr/>
              <a:t>31</a:t>
            </a:fld>
            <a:endParaRPr lang="en-US" sz="1200">
              <a:latin typeface="Times New Roman" panose="02020603050405020304" pitchFamily="18" charset="0"/>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28831548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77DC647E-F7F7-4B1A-B707-2678BB94B1A5}" type="slidenum">
              <a:rPr lang="en-US" sz="1200">
                <a:latin typeface="Times New Roman" panose="02020603050405020304" pitchFamily="18" charset="0"/>
              </a:rPr>
              <a:pPr/>
              <a:t>32</a:t>
            </a:fld>
            <a:endParaRPr lang="en-US" sz="1200">
              <a:latin typeface="Times New Roman" panose="02020603050405020304" pitchFamily="18"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31548501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280D44BA-27FF-4F1D-96B7-388E84FA2D22}" type="slidenum">
              <a:rPr lang="en-US" sz="1200">
                <a:latin typeface="Times New Roman" panose="02020603050405020304" pitchFamily="18" charset="0"/>
              </a:rPr>
              <a:pPr/>
              <a:t>33</a:t>
            </a:fld>
            <a:endParaRPr lang="en-US" sz="1200">
              <a:latin typeface="Times New Roman" panose="02020603050405020304" pitchFamily="18"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5014348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E6B3642C-9376-48CB-A05A-9DAE758B5B0D}" type="slidenum">
              <a:rPr lang="en-US" sz="1200">
                <a:latin typeface="Times New Roman" panose="02020603050405020304" pitchFamily="18" charset="0"/>
              </a:rPr>
              <a:pPr/>
              <a:t>34</a:t>
            </a:fld>
            <a:endParaRPr lang="en-US" sz="1200">
              <a:latin typeface="Times New Roman" panose="02020603050405020304" pitchFamily="18"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15293042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4C8238BF-CD7C-4F8A-863A-EAE29EF2A90D}" type="slidenum">
              <a:rPr lang="en-US" sz="1200">
                <a:latin typeface="Times New Roman" panose="02020603050405020304" pitchFamily="18" charset="0"/>
              </a:rPr>
              <a:pPr/>
              <a:t>35</a:t>
            </a:fld>
            <a:endParaRPr lang="en-US" sz="1200">
              <a:latin typeface="Times New Roman" panose="02020603050405020304" pitchFamily="18" charset="0"/>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33866893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AC83779E-80B5-4BC9-A7B5-A2E9CC24F197}" type="slidenum">
              <a:rPr lang="en-US" sz="1200">
                <a:latin typeface="Times New Roman" panose="02020603050405020304" pitchFamily="18" charset="0"/>
              </a:rPr>
              <a:pPr/>
              <a:t>36</a:t>
            </a:fld>
            <a:endParaRPr lang="en-US" sz="1200">
              <a:latin typeface="Times New Roman" panose="02020603050405020304" pitchFamily="18" charset="0"/>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38330729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8673D581-185F-46B5-B6C1-FC438C29006B}" type="slidenum">
              <a:rPr lang="en-US" sz="1200">
                <a:latin typeface="Times New Roman" panose="02020603050405020304" pitchFamily="18" charset="0"/>
              </a:rPr>
              <a:pPr/>
              <a:t>37</a:t>
            </a:fld>
            <a:endParaRPr lang="en-US" sz="1200">
              <a:latin typeface="Times New Roman" panose="02020603050405020304" pitchFamily="18"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39867786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7393C287-FA2F-4DD5-9CD2-F50783C36F60}" type="slidenum">
              <a:rPr lang="en-US" sz="1200">
                <a:latin typeface="Times New Roman" panose="02020603050405020304" pitchFamily="18" charset="0"/>
              </a:rPr>
              <a:pPr/>
              <a:t>38</a:t>
            </a:fld>
            <a:endParaRPr lang="en-US" sz="1200">
              <a:latin typeface="Times New Roman" panose="02020603050405020304" pitchFamily="18"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27389083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44E697CF-2DBE-4087-BFBE-25663FAE4CBF}" type="slidenum">
              <a:rPr lang="en-US" sz="1200">
                <a:latin typeface="Times New Roman" panose="02020603050405020304" pitchFamily="18" charset="0"/>
              </a:rPr>
              <a:pPr/>
              <a:t>39</a:t>
            </a:fld>
            <a:endParaRPr lang="en-US" sz="1200">
              <a:latin typeface="Times New Roman" panose="02020603050405020304" pitchFamily="18"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12535121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09D46123-5017-4641-B6AE-A092B625B041}" type="slidenum">
              <a:rPr lang="en-US" sz="1200">
                <a:latin typeface="Times New Roman" panose="02020603050405020304" pitchFamily="18" charset="0"/>
              </a:rPr>
              <a:pPr/>
              <a:t>40</a:t>
            </a:fld>
            <a:endParaRPr lang="en-US" sz="1200">
              <a:latin typeface="Times New Roman" panose="02020603050405020304" pitchFamily="18" charset="0"/>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6525484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12165534-6A79-4A57-8049-CA438469B224}" type="slidenum">
              <a:rPr lang="en-US" sz="1200">
                <a:latin typeface="Times New Roman" panose="02020603050405020304" pitchFamily="18" charset="0"/>
              </a:rPr>
              <a:pPr/>
              <a:t>41</a:t>
            </a:fld>
            <a:endParaRPr lang="en-US" sz="1200">
              <a:latin typeface="Times New Roman" panose="02020603050405020304"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8669957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582DFCEE-85DD-4F72-89E0-BBD626460B22}" type="slidenum">
              <a:rPr lang="en-US" sz="1200">
                <a:latin typeface="Times New Roman" panose="02020603050405020304" pitchFamily="18" charset="0"/>
              </a:rPr>
              <a:pPr/>
              <a:t>42</a:t>
            </a:fld>
            <a:endParaRPr lang="en-US" sz="120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19776452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F6D42B41-FAAF-47AE-BB75-4EDC3F72E814}" type="slidenum">
              <a:rPr lang="en-US" sz="1200">
                <a:latin typeface="Times New Roman" panose="02020603050405020304" pitchFamily="18" charset="0"/>
              </a:rPr>
              <a:pPr/>
              <a:t>43</a:t>
            </a:fld>
            <a:endParaRPr lang="en-US" sz="1200">
              <a:latin typeface="Times New Roman" panose="02020603050405020304" pitchFamily="18"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35307461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13529254-D5DF-48A3-9EAC-C4779D6CBF03}" type="slidenum">
              <a:rPr lang="en-US" sz="1200">
                <a:latin typeface="Times New Roman" panose="02020603050405020304" pitchFamily="18" charset="0"/>
              </a:rPr>
              <a:pPr/>
              <a:t>44</a:t>
            </a:fld>
            <a:endParaRPr lang="en-US" sz="1200">
              <a:latin typeface="Times New Roman" panose="02020603050405020304"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41420342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A53015A0-55A6-45FA-A4D5-B93A0ABB8FCA}" type="slidenum">
              <a:rPr lang="en-US" sz="1200">
                <a:latin typeface="Times New Roman" panose="02020603050405020304" pitchFamily="18" charset="0"/>
              </a:rPr>
              <a:pPr/>
              <a:t>45</a:t>
            </a:fld>
            <a:endParaRPr lang="en-US" sz="1200">
              <a:latin typeface="Times New Roman" panose="02020603050405020304" pitchFamily="18"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22759952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CB36B606-F070-4CD6-A39C-760761858F92}" type="slidenum">
              <a:rPr lang="en-US" sz="1200">
                <a:latin typeface="Times New Roman" panose="02020603050405020304" pitchFamily="18" charset="0"/>
              </a:rPr>
              <a:pPr/>
              <a:t>46</a:t>
            </a:fld>
            <a:endParaRPr lang="en-US" sz="1200">
              <a:latin typeface="Times New Roman" panose="02020603050405020304" pitchFamily="18"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27078395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02A5ACFD-E230-4EA9-A94D-11D729FE9327}" type="slidenum">
              <a:rPr lang="en-US" sz="1200">
                <a:latin typeface="Times New Roman" panose="02020603050405020304" pitchFamily="18" charset="0"/>
              </a:rPr>
              <a:pPr/>
              <a:t>47</a:t>
            </a:fld>
            <a:endParaRPr lang="en-US" sz="1200">
              <a:latin typeface="Times New Roman" panose="02020603050405020304" pitchFamily="18"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2187972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D499FC59-D252-43FC-9B30-D6BF9087E33D}" type="slidenum">
              <a:rPr lang="en-US" sz="1200">
                <a:latin typeface="Times New Roman" panose="02020603050405020304" pitchFamily="18" charset="0"/>
              </a:rPr>
              <a:pPr/>
              <a:t>48</a:t>
            </a:fld>
            <a:endParaRPr lang="en-US" sz="1200">
              <a:latin typeface="Times New Roman" panose="02020603050405020304" pitchFamily="18" charset="0"/>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396386428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F03E2DC8-E10C-4AB4-A3A9-5F9A3621AEF3}" type="slidenum">
              <a:rPr lang="en-US" sz="1200">
                <a:latin typeface="Times New Roman" panose="02020603050405020304" pitchFamily="18" charset="0"/>
              </a:rPr>
              <a:pPr/>
              <a:t>49</a:t>
            </a:fld>
            <a:endParaRPr lang="en-US" sz="1200">
              <a:latin typeface="Times New Roman" panose="02020603050405020304" pitchFamily="18"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9274701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2C1A74B4-23DE-40E5-BE20-0531EAE42C4C}" type="slidenum">
              <a:rPr lang="en-US" sz="1200">
                <a:latin typeface="Times New Roman" panose="02020603050405020304" pitchFamily="18" charset="0"/>
              </a:rPr>
              <a:pPr/>
              <a:t>50</a:t>
            </a:fld>
            <a:endParaRPr lang="en-US" sz="1200">
              <a:latin typeface="Times New Roman" panose="02020603050405020304" pitchFamily="18"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55117405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67848EF0-0F48-44E6-A2F6-F6CCEDDA0628}" type="slidenum">
              <a:rPr lang="en-US" sz="1200">
                <a:latin typeface="Times New Roman" panose="02020603050405020304" pitchFamily="18" charset="0"/>
              </a:rPr>
              <a:pPr/>
              <a:t>51</a:t>
            </a:fld>
            <a:endParaRPr lang="en-US" sz="1200">
              <a:latin typeface="Times New Roman" panose="02020603050405020304" pitchFamily="18"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978914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8AC89C98-4612-40C8-AF16-5A89AE9B8832}" type="slidenum">
              <a:rPr lang="en-US" sz="1200">
                <a:latin typeface="Times New Roman" panose="02020603050405020304" pitchFamily="18" charset="0"/>
              </a:rPr>
              <a:pPr/>
              <a:t>52</a:t>
            </a:fld>
            <a:endParaRPr lang="en-US" sz="1200">
              <a:latin typeface="Times New Roman" panose="02020603050405020304" pitchFamily="18"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325447555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83FAE01F-F5F3-4D5E-A961-00D5CF4BE9D9}" type="slidenum">
              <a:rPr lang="en-US" sz="1200">
                <a:latin typeface="Times New Roman" panose="02020603050405020304" pitchFamily="18" charset="0"/>
              </a:rPr>
              <a:pPr/>
              <a:t>53</a:t>
            </a:fld>
            <a:endParaRPr lang="en-US" sz="1200">
              <a:latin typeface="Times New Roman" panose="02020603050405020304" pitchFamily="18"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20927229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7C9EF6D3-E52B-4C62-B1D8-701F1AFBE7C8}" type="slidenum">
              <a:rPr lang="en-US" sz="1200">
                <a:latin typeface="Times New Roman" panose="02020603050405020304" pitchFamily="18" charset="0"/>
              </a:rPr>
              <a:pPr/>
              <a:t>54</a:t>
            </a:fld>
            <a:endParaRPr lang="en-US" sz="1200">
              <a:latin typeface="Times New Roman" panose="02020603050405020304" pitchFamily="18"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238683503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DE6E07BB-4449-49B3-9643-9AA5B54D6282}" type="slidenum">
              <a:rPr lang="en-US" sz="1200">
                <a:latin typeface="Times New Roman" panose="02020603050405020304" pitchFamily="18" charset="0"/>
              </a:rPr>
              <a:pPr/>
              <a:t>55</a:t>
            </a:fld>
            <a:endParaRPr lang="en-US" sz="1200">
              <a:latin typeface="Times New Roman" panose="02020603050405020304" pitchFamily="18"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3045582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26D363BC-DB15-4A17-B8CA-646878B0044E}" type="slidenum">
              <a:rPr lang="en-US" sz="1200">
                <a:latin typeface="Times New Roman" panose="02020603050405020304" pitchFamily="18" charset="0"/>
              </a:rPr>
              <a:pPr/>
              <a:t>56</a:t>
            </a:fld>
            <a:endParaRPr lang="en-US" sz="1200">
              <a:latin typeface="Times New Roman" panose="02020603050405020304" pitchFamily="18"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33544619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6000714F-C3A5-4690-ACB5-74FD73FE6296}" type="slidenum">
              <a:rPr lang="en-US" sz="1200">
                <a:latin typeface="Times New Roman" panose="02020603050405020304" pitchFamily="18" charset="0"/>
              </a:rPr>
              <a:pPr/>
              <a:t>57</a:t>
            </a:fld>
            <a:endParaRPr lang="en-US" sz="1200">
              <a:latin typeface="Times New Roman" panose="02020603050405020304" pitchFamily="18"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41335603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620DB03F-8ECF-4EE9-89C2-5384ABCB0540}" type="slidenum">
              <a:rPr lang="en-US" sz="1200">
                <a:latin typeface="Times New Roman" panose="02020603050405020304" pitchFamily="18" charset="0"/>
              </a:rPr>
              <a:pPr/>
              <a:t>58</a:t>
            </a:fld>
            <a:endParaRPr lang="en-US" sz="1200">
              <a:latin typeface="Times New Roman" panose="02020603050405020304" pitchFamily="18"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5064946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C122B9E9-151F-4E13-91C1-56EEEB8A2C8F}" type="slidenum">
              <a:rPr lang="en-US" sz="1200">
                <a:latin typeface="Times New Roman" panose="02020603050405020304" pitchFamily="18" charset="0"/>
              </a:rPr>
              <a:pPr/>
              <a:t>59</a:t>
            </a:fld>
            <a:endParaRPr lang="en-US" sz="1200">
              <a:latin typeface="Times New Roman" panose="02020603050405020304" pitchFamily="18"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304838636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2E2824CD-868D-4399-BCFB-F1BC939B84ED}" type="slidenum">
              <a:rPr lang="en-US" sz="1200">
                <a:latin typeface="Times New Roman" panose="02020603050405020304" pitchFamily="18" charset="0"/>
              </a:rPr>
              <a:pPr/>
              <a:t>60</a:t>
            </a:fld>
            <a:endParaRPr lang="en-US" sz="1200">
              <a:latin typeface="Times New Roman" panose="02020603050405020304" pitchFamily="18"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12021567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4564B666-FB8B-4F48-94EC-D2818D5CA52C}" type="slidenum">
              <a:rPr lang="en-US" sz="1200">
                <a:latin typeface="Times New Roman" panose="02020603050405020304" pitchFamily="18" charset="0"/>
              </a:rPr>
              <a:pPr/>
              <a:t>61</a:t>
            </a:fld>
            <a:endParaRPr lang="en-US" sz="1200">
              <a:latin typeface="Times New Roman" panose="02020603050405020304" pitchFamily="18"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196116515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A0926B7E-CE5C-464E-A3CA-D2FB08EEC186}" type="slidenum">
              <a:rPr lang="en-US" sz="1200">
                <a:latin typeface="Times New Roman" panose="02020603050405020304" pitchFamily="18" charset="0"/>
              </a:rPr>
              <a:pPr/>
              <a:t>62</a:t>
            </a:fld>
            <a:endParaRPr lang="en-US" sz="1200">
              <a:latin typeface="Times New Roman" panose="02020603050405020304" pitchFamily="18"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234117406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fld id="{2E6C734D-F67D-4CE4-AB44-CFE01746B52B}" type="slidenum">
              <a:rPr lang="en-US" sz="1200">
                <a:latin typeface="Times New Roman" panose="02020603050405020304" pitchFamily="18" charset="0"/>
              </a:rPr>
              <a:pPr/>
              <a:t>63</a:t>
            </a:fld>
            <a:endParaRPr lang="en-US" sz="1200">
              <a:latin typeface="Times New Roman" panose="02020603050405020304"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Times New Roman" panose="02020603050405020304" pitchFamily="18" charset="0"/>
            </a:endParaRPr>
          </a:p>
        </p:txBody>
      </p:sp>
    </p:spTree>
    <p:extLst>
      <p:ext uri="{BB962C8B-B14F-4D97-AF65-F5344CB8AC3E}">
        <p14:creationId xmlns:p14="http://schemas.microsoft.com/office/powerpoint/2010/main" val="3157950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1818FBF-2A1F-41A8-BD10-45BC01DA9413}"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4228CD-23D8-45A1-9B04-3ABD373F06A2}" type="slidenum">
              <a:rPr lang="en-US" smtClean="0"/>
              <a:t>‹#›</a:t>
            </a:fld>
            <a:endParaRPr lang="en-US"/>
          </a:p>
        </p:txBody>
      </p:sp>
    </p:spTree>
    <p:extLst>
      <p:ext uri="{BB962C8B-B14F-4D97-AF65-F5344CB8AC3E}">
        <p14:creationId xmlns:p14="http://schemas.microsoft.com/office/powerpoint/2010/main" val="1021561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1818FBF-2A1F-41A8-BD10-45BC01DA9413}"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4228CD-23D8-45A1-9B04-3ABD373F06A2}" type="slidenum">
              <a:rPr lang="en-US" smtClean="0"/>
              <a:t>‹#›</a:t>
            </a:fld>
            <a:endParaRPr lang="en-US"/>
          </a:p>
        </p:txBody>
      </p:sp>
    </p:spTree>
    <p:extLst>
      <p:ext uri="{BB962C8B-B14F-4D97-AF65-F5344CB8AC3E}">
        <p14:creationId xmlns:p14="http://schemas.microsoft.com/office/powerpoint/2010/main" val="3419650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1818FBF-2A1F-41A8-BD10-45BC01DA9413}"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4228CD-23D8-45A1-9B04-3ABD373F06A2}" type="slidenum">
              <a:rPr lang="en-US" smtClean="0"/>
              <a:t>‹#›</a:t>
            </a:fld>
            <a:endParaRPr lang="en-US"/>
          </a:p>
        </p:txBody>
      </p:sp>
    </p:spTree>
    <p:extLst>
      <p:ext uri="{BB962C8B-B14F-4D97-AF65-F5344CB8AC3E}">
        <p14:creationId xmlns:p14="http://schemas.microsoft.com/office/powerpoint/2010/main" val="32275627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1818FBF-2A1F-41A8-BD10-45BC01DA9413}"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4228CD-23D8-45A1-9B04-3ABD373F06A2}" type="slidenum">
              <a:rPr lang="en-US" smtClean="0"/>
              <a:t>‹#›</a:t>
            </a:fld>
            <a:endParaRPr lang="en-US"/>
          </a:p>
        </p:txBody>
      </p:sp>
    </p:spTree>
    <p:extLst>
      <p:ext uri="{BB962C8B-B14F-4D97-AF65-F5344CB8AC3E}">
        <p14:creationId xmlns:p14="http://schemas.microsoft.com/office/powerpoint/2010/main" val="4181797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1818FBF-2A1F-41A8-BD10-45BC01DA9413}" type="datetimeFigureOut">
              <a:rPr lang="en-US" smtClean="0"/>
              <a:t>8/12/2026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4228CD-23D8-45A1-9B04-3ABD373F06A2}" type="slidenum">
              <a:rPr lang="en-US" smtClean="0"/>
              <a:t>‹#›</a:t>
            </a:fld>
            <a:endParaRPr lang="en-US"/>
          </a:p>
        </p:txBody>
      </p:sp>
    </p:spTree>
    <p:extLst>
      <p:ext uri="{BB962C8B-B14F-4D97-AF65-F5344CB8AC3E}">
        <p14:creationId xmlns:p14="http://schemas.microsoft.com/office/powerpoint/2010/main" val="1110647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F1818FBF-2A1F-41A8-BD10-45BC01DA9413}" type="datetimeFigureOut">
              <a:rPr lang="en-US" smtClean="0"/>
              <a:t>8/12/2026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594228CD-23D8-45A1-9B04-3ABD373F06A2}" type="slidenum">
              <a:rPr lang="en-US" smtClean="0"/>
              <a:t>‹#›</a:t>
            </a:fld>
            <a:endParaRPr lang="en-US"/>
          </a:p>
        </p:txBody>
      </p:sp>
    </p:spTree>
    <p:extLst>
      <p:ext uri="{BB962C8B-B14F-4D97-AF65-F5344CB8AC3E}">
        <p14:creationId xmlns:p14="http://schemas.microsoft.com/office/powerpoint/2010/main" val="1516334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1818FBF-2A1F-41A8-BD10-45BC01DA9413}" type="datetimeFigureOut">
              <a:rPr lang="en-US" smtClean="0"/>
              <a:t>8/12/2026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594228CD-23D8-45A1-9B04-3ABD373F06A2}" type="slidenum">
              <a:rPr lang="en-US" smtClean="0"/>
              <a:t>‹#›</a:t>
            </a:fld>
            <a:endParaRPr lang="en-US"/>
          </a:p>
        </p:txBody>
      </p:sp>
    </p:spTree>
    <p:extLst>
      <p:ext uri="{BB962C8B-B14F-4D97-AF65-F5344CB8AC3E}">
        <p14:creationId xmlns:p14="http://schemas.microsoft.com/office/powerpoint/2010/main" val="1651793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F1818FBF-2A1F-41A8-BD10-45BC01DA9413}" type="datetimeFigureOut">
              <a:rPr lang="en-US" smtClean="0"/>
              <a:t>8/12/2026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594228CD-23D8-45A1-9B04-3ABD373F06A2}" type="slidenum">
              <a:rPr lang="en-US" smtClean="0"/>
              <a:t>‹#›</a:t>
            </a:fld>
            <a:endParaRPr lang="en-US"/>
          </a:p>
        </p:txBody>
      </p:sp>
    </p:spTree>
    <p:extLst>
      <p:ext uri="{BB962C8B-B14F-4D97-AF65-F5344CB8AC3E}">
        <p14:creationId xmlns:p14="http://schemas.microsoft.com/office/powerpoint/2010/main" val="617645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1818FBF-2A1F-41A8-BD10-45BC01DA9413}"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4228CD-23D8-45A1-9B04-3ABD373F06A2}" type="slidenum">
              <a:rPr lang="en-US" smtClean="0"/>
              <a:t>‹#›</a:t>
            </a:fld>
            <a:endParaRPr lang="en-US"/>
          </a:p>
        </p:txBody>
      </p:sp>
    </p:spTree>
    <p:extLst>
      <p:ext uri="{BB962C8B-B14F-4D97-AF65-F5344CB8AC3E}">
        <p14:creationId xmlns:p14="http://schemas.microsoft.com/office/powerpoint/2010/main" val="3810213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1818FBF-2A1F-41A8-BD10-45BC01DA9413}"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4228CD-23D8-45A1-9B04-3ABD373F06A2}" type="slidenum">
              <a:rPr lang="en-US" smtClean="0"/>
              <a:t>‹#›</a:t>
            </a:fld>
            <a:endParaRPr lang="en-US"/>
          </a:p>
        </p:txBody>
      </p:sp>
    </p:spTree>
    <p:extLst>
      <p:ext uri="{BB962C8B-B14F-4D97-AF65-F5344CB8AC3E}">
        <p14:creationId xmlns:p14="http://schemas.microsoft.com/office/powerpoint/2010/main" val="1171774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1818FBF-2A1F-41A8-BD10-45BC01DA9413}"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4228CD-23D8-45A1-9B04-3ABD373F06A2}" type="slidenum">
              <a:rPr lang="en-US" smtClean="0"/>
              <a:t>‹#›</a:t>
            </a:fld>
            <a:endParaRPr lang="en-US"/>
          </a:p>
        </p:txBody>
      </p:sp>
    </p:spTree>
    <p:extLst>
      <p:ext uri="{BB962C8B-B14F-4D97-AF65-F5344CB8AC3E}">
        <p14:creationId xmlns:p14="http://schemas.microsoft.com/office/powerpoint/2010/main" val="11429955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smtClean="0"/>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1818FBF-2A1F-41A8-BD10-45BC01DA9413}"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4228CD-23D8-45A1-9B04-3ABD373F06A2}"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39570805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1818FBF-2A1F-41A8-BD10-45BC01DA9413}"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4228CD-23D8-45A1-9B04-3ABD373F06A2}" type="slidenum">
              <a:rPr lang="en-US" smtClean="0"/>
              <a:t>‹#›</a:t>
            </a:fld>
            <a:endParaRPr lang="en-US"/>
          </a:p>
        </p:txBody>
      </p:sp>
    </p:spTree>
    <p:extLst>
      <p:ext uri="{BB962C8B-B14F-4D97-AF65-F5344CB8AC3E}">
        <p14:creationId xmlns:p14="http://schemas.microsoft.com/office/powerpoint/2010/main" val="18983690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1818FBF-2A1F-41A8-BD10-45BC01DA9413}" type="datetimeFigureOut">
              <a:rPr lang="en-US" smtClean="0"/>
              <a:t>8/12/2026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4228CD-23D8-45A1-9B04-3ABD373F06A2}" type="slidenum">
              <a:rPr lang="en-US" smtClean="0"/>
              <a:t>‹#›</a:t>
            </a:fld>
            <a:endParaRPr lang="en-US"/>
          </a:p>
        </p:txBody>
      </p:sp>
    </p:spTree>
    <p:extLst>
      <p:ext uri="{BB962C8B-B14F-4D97-AF65-F5344CB8AC3E}">
        <p14:creationId xmlns:p14="http://schemas.microsoft.com/office/powerpoint/2010/main" val="20957384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1818FBF-2A1F-41A8-BD10-45BC01DA9413}" type="datetimeFigureOut">
              <a:rPr lang="en-US" smtClean="0"/>
              <a:t>8/12/2026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4228CD-23D8-45A1-9B04-3ABD373F06A2}" type="slidenum">
              <a:rPr lang="en-US" smtClean="0"/>
              <a:t>‹#›</a:t>
            </a:fld>
            <a:endParaRPr lang="en-US"/>
          </a:p>
        </p:txBody>
      </p:sp>
    </p:spTree>
    <p:extLst>
      <p:ext uri="{BB962C8B-B14F-4D97-AF65-F5344CB8AC3E}">
        <p14:creationId xmlns:p14="http://schemas.microsoft.com/office/powerpoint/2010/main" val="22577701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1818FBF-2A1F-41A8-BD10-45BC01DA9413}"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4228CD-23D8-45A1-9B04-3ABD373F06A2}" type="slidenum">
              <a:rPr lang="en-US" smtClean="0"/>
              <a:t>‹#›</a:t>
            </a:fld>
            <a:endParaRPr lang="en-US"/>
          </a:p>
        </p:txBody>
      </p:sp>
    </p:spTree>
    <p:extLst>
      <p:ext uri="{BB962C8B-B14F-4D97-AF65-F5344CB8AC3E}">
        <p14:creationId xmlns:p14="http://schemas.microsoft.com/office/powerpoint/2010/main" val="20197077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1818FBF-2A1F-41A8-BD10-45BC01DA9413}"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4228CD-23D8-45A1-9B04-3ABD373F06A2}" type="slidenum">
              <a:rPr lang="en-US" smtClean="0"/>
              <a:t>‹#›</a:t>
            </a:fld>
            <a:endParaRPr lang="en-US"/>
          </a:p>
        </p:txBody>
      </p:sp>
    </p:spTree>
    <p:extLst>
      <p:ext uri="{BB962C8B-B14F-4D97-AF65-F5344CB8AC3E}">
        <p14:creationId xmlns:p14="http://schemas.microsoft.com/office/powerpoint/2010/main" val="1120071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1818FBF-2A1F-41A8-BD10-45BC01DA9413}" type="datetimeFigureOut">
              <a:rPr lang="en-US" smtClean="0"/>
              <a:t>8/12/2026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594228CD-23D8-45A1-9B04-3ABD373F06A2}" type="slidenum">
              <a:rPr lang="en-US" smtClean="0"/>
              <a:t>‹#›</a:t>
            </a:fld>
            <a:endParaRPr lang="en-US"/>
          </a:p>
        </p:txBody>
      </p:sp>
    </p:spTree>
    <p:extLst>
      <p:ext uri="{BB962C8B-B14F-4D97-AF65-F5344CB8AC3E}">
        <p14:creationId xmlns:p14="http://schemas.microsoft.com/office/powerpoint/2010/main" val="2931468438"/>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50126"/>
            <a:ext cx="8825658" cy="1132764"/>
          </a:xfrm>
        </p:spPr>
        <p:txBody>
          <a:bodyPr/>
          <a:lstStyle/>
          <a:p>
            <a:pPr algn="ctr"/>
            <a:r>
              <a:rPr lang="en-US" dirty="0" smtClean="0"/>
              <a:t>Module 5</a:t>
            </a:r>
            <a:endParaRPr lang="en-US" dirty="0"/>
          </a:p>
        </p:txBody>
      </p:sp>
      <p:pic>
        <p:nvPicPr>
          <p:cNvPr id="4" name="Picture 3"/>
          <p:cNvPicPr>
            <a:picLocks noChangeAspect="1"/>
          </p:cNvPicPr>
          <p:nvPr/>
        </p:nvPicPr>
        <p:blipFill>
          <a:blip r:embed="rId2"/>
          <a:stretch>
            <a:fillRect/>
          </a:stretch>
        </p:blipFill>
        <p:spPr>
          <a:xfrm>
            <a:off x="1154956" y="1856095"/>
            <a:ext cx="10363754" cy="4135272"/>
          </a:xfrm>
          <a:prstGeom prst="rect">
            <a:avLst/>
          </a:prstGeom>
        </p:spPr>
      </p:pic>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221696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646111" y="0"/>
            <a:ext cx="9404723" cy="709684"/>
          </a:xfrm>
        </p:spPr>
        <p:txBody>
          <a:bodyPr/>
          <a:lstStyle/>
          <a:p>
            <a:r>
              <a:rPr lang="en-US" b="1" dirty="0"/>
              <a:t>File Concept</a:t>
            </a:r>
          </a:p>
        </p:txBody>
      </p:sp>
      <p:sp>
        <p:nvSpPr>
          <p:cNvPr id="50179" name="Rectangle 3"/>
          <p:cNvSpPr>
            <a:spLocks noGrp="1" noChangeArrowheads="1"/>
          </p:cNvSpPr>
          <p:nvPr>
            <p:ph type="body" idx="1"/>
          </p:nvPr>
        </p:nvSpPr>
        <p:spPr>
          <a:xfrm>
            <a:off x="436728" y="709684"/>
            <a:ext cx="9613125" cy="6148316"/>
          </a:xfrm>
        </p:spPr>
        <p:txBody>
          <a:bodyPr/>
          <a:lstStyle/>
          <a:p>
            <a:r>
              <a:rPr lang="en-US" dirty="0"/>
              <a:t>Contiguous logical address </a:t>
            </a:r>
            <a:r>
              <a:rPr lang="en-US" dirty="0" smtClean="0"/>
              <a:t>space</a:t>
            </a:r>
            <a:endParaRPr lang="en-US" dirty="0"/>
          </a:p>
          <a:p>
            <a:r>
              <a:rPr lang="en-US" dirty="0"/>
              <a:t>Types: </a:t>
            </a:r>
          </a:p>
          <a:p>
            <a:pPr lvl="1"/>
            <a:r>
              <a:rPr lang="en-US" dirty="0"/>
              <a:t>Data</a:t>
            </a:r>
          </a:p>
          <a:p>
            <a:pPr lvl="2"/>
            <a:r>
              <a:rPr lang="en-US" dirty="0"/>
              <a:t>numeric</a:t>
            </a:r>
          </a:p>
          <a:p>
            <a:pPr lvl="2"/>
            <a:r>
              <a:rPr lang="en-US" dirty="0"/>
              <a:t>character</a:t>
            </a:r>
          </a:p>
          <a:p>
            <a:pPr lvl="2"/>
            <a:r>
              <a:rPr lang="en-US" dirty="0"/>
              <a:t>binary</a:t>
            </a:r>
          </a:p>
          <a:p>
            <a:pPr lvl="1"/>
            <a:r>
              <a:rPr lang="en-US" dirty="0" smtClean="0"/>
              <a:t>Program</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46111" y="0"/>
            <a:ext cx="9404723" cy="791570"/>
          </a:xfrm>
        </p:spPr>
        <p:txBody>
          <a:bodyPr/>
          <a:lstStyle/>
          <a:p>
            <a:r>
              <a:rPr lang="en-US" b="1" dirty="0"/>
              <a:t>File Structure</a:t>
            </a:r>
          </a:p>
        </p:txBody>
      </p:sp>
      <p:sp>
        <p:nvSpPr>
          <p:cNvPr id="51203" name="Rectangle 3"/>
          <p:cNvSpPr>
            <a:spLocks noGrp="1" noChangeArrowheads="1"/>
          </p:cNvSpPr>
          <p:nvPr>
            <p:ph type="body" idx="1"/>
          </p:nvPr>
        </p:nvSpPr>
        <p:spPr>
          <a:xfrm>
            <a:off x="646111" y="791570"/>
            <a:ext cx="10968133" cy="5456829"/>
          </a:xfrm>
        </p:spPr>
        <p:txBody>
          <a:bodyPr>
            <a:normAutofit/>
          </a:bodyPr>
          <a:lstStyle/>
          <a:p>
            <a:pPr>
              <a:lnSpc>
                <a:spcPct val="90000"/>
              </a:lnSpc>
            </a:pPr>
            <a:r>
              <a:rPr lang="en-US" dirty="0"/>
              <a:t>None - sequence of words, bytes</a:t>
            </a:r>
          </a:p>
          <a:p>
            <a:pPr>
              <a:lnSpc>
                <a:spcPct val="90000"/>
              </a:lnSpc>
            </a:pPr>
            <a:r>
              <a:rPr lang="en-US" dirty="0"/>
              <a:t>Simple record structure</a:t>
            </a:r>
          </a:p>
          <a:p>
            <a:pPr lvl="1">
              <a:lnSpc>
                <a:spcPct val="90000"/>
              </a:lnSpc>
            </a:pPr>
            <a:r>
              <a:rPr lang="en-US" dirty="0"/>
              <a:t>Lines </a:t>
            </a:r>
          </a:p>
          <a:p>
            <a:pPr lvl="1">
              <a:lnSpc>
                <a:spcPct val="90000"/>
              </a:lnSpc>
            </a:pPr>
            <a:r>
              <a:rPr lang="en-US" dirty="0"/>
              <a:t>Fixed length</a:t>
            </a:r>
          </a:p>
          <a:p>
            <a:pPr lvl="1">
              <a:lnSpc>
                <a:spcPct val="90000"/>
              </a:lnSpc>
            </a:pPr>
            <a:r>
              <a:rPr lang="en-US" dirty="0"/>
              <a:t>Variable length</a:t>
            </a:r>
          </a:p>
          <a:p>
            <a:pPr>
              <a:lnSpc>
                <a:spcPct val="90000"/>
              </a:lnSpc>
            </a:pPr>
            <a:r>
              <a:rPr lang="en-US" dirty="0"/>
              <a:t>Complex Structures</a:t>
            </a:r>
          </a:p>
          <a:p>
            <a:pPr lvl="1">
              <a:lnSpc>
                <a:spcPct val="90000"/>
              </a:lnSpc>
            </a:pPr>
            <a:r>
              <a:rPr lang="en-US" dirty="0"/>
              <a:t>Formatted document</a:t>
            </a:r>
          </a:p>
          <a:p>
            <a:pPr lvl="1">
              <a:lnSpc>
                <a:spcPct val="90000"/>
              </a:lnSpc>
            </a:pPr>
            <a:r>
              <a:rPr lang="en-US" dirty="0" err="1"/>
              <a:t>Relocatable</a:t>
            </a:r>
            <a:r>
              <a:rPr lang="en-US" dirty="0"/>
              <a:t> load file	</a:t>
            </a:r>
          </a:p>
          <a:p>
            <a:pPr>
              <a:lnSpc>
                <a:spcPct val="90000"/>
              </a:lnSpc>
            </a:pPr>
            <a:r>
              <a:rPr lang="en-US" dirty="0"/>
              <a:t>Can simulate last two with first method by inserting appropriate control characters</a:t>
            </a:r>
          </a:p>
          <a:p>
            <a:pPr>
              <a:lnSpc>
                <a:spcPct val="90000"/>
              </a:lnSpc>
            </a:pPr>
            <a:r>
              <a:rPr lang="en-US" dirty="0"/>
              <a:t>Who decides:</a:t>
            </a:r>
          </a:p>
          <a:p>
            <a:pPr lvl="1">
              <a:lnSpc>
                <a:spcPct val="90000"/>
              </a:lnSpc>
            </a:pPr>
            <a:r>
              <a:rPr lang="en-US" dirty="0"/>
              <a:t>Operating system</a:t>
            </a:r>
          </a:p>
          <a:p>
            <a:pPr lvl="1">
              <a:lnSpc>
                <a:spcPct val="90000"/>
              </a:lnSpc>
            </a:pPr>
            <a:r>
              <a:rPr lang="en-US" dirty="0"/>
              <a:t>Program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645130" y="0"/>
            <a:ext cx="9404723" cy="736979"/>
          </a:xfrm>
        </p:spPr>
        <p:txBody>
          <a:bodyPr/>
          <a:lstStyle/>
          <a:p>
            <a:r>
              <a:rPr lang="en-US" b="1" dirty="0"/>
              <a:t>File Attributes</a:t>
            </a:r>
          </a:p>
        </p:txBody>
      </p:sp>
      <p:sp>
        <p:nvSpPr>
          <p:cNvPr id="52227" name="Rectangle 3"/>
          <p:cNvSpPr>
            <a:spLocks noGrp="1" noChangeArrowheads="1"/>
          </p:cNvSpPr>
          <p:nvPr>
            <p:ph type="body" idx="1"/>
          </p:nvPr>
        </p:nvSpPr>
        <p:spPr>
          <a:xfrm>
            <a:off x="645130" y="736980"/>
            <a:ext cx="11546870" cy="5511420"/>
          </a:xfrm>
        </p:spPr>
        <p:txBody>
          <a:bodyPr/>
          <a:lstStyle/>
          <a:p>
            <a:r>
              <a:rPr lang="en-US" b="1" dirty="0"/>
              <a:t>Name</a:t>
            </a:r>
            <a:r>
              <a:rPr lang="en-US" dirty="0"/>
              <a:t> – only information kept in human-readable form</a:t>
            </a:r>
          </a:p>
          <a:p>
            <a:r>
              <a:rPr lang="en-US" b="1" dirty="0"/>
              <a:t>Identifier</a:t>
            </a:r>
            <a:r>
              <a:rPr lang="en-US" dirty="0"/>
              <a:t> – unique tag (number) identifies file within file system</a:t>
            </a:r>
          </a:p>
          <a:p>
            <a:r>
              <a:rPr lang="en-US" b="1" dirty="0"/>
              <a:t>Type</a:t>
            </a:r>
            <a:r>
              <a:rPr lang="en-US" dirty="0"/>
              <a:t> – needed for systems that support different types</a:t>
            </a:r>
          </a:p>
          <a:p>
            <a:r>
              <a:rPr lang="en-US" b="1" dirty="0"/>
              <a:t>Location</a:t>
            </a:r>
            <a:r>
              <a:rPr lang="en-US" dirty="0"/>
              <a:t> – pointer to file location on device</a:t>
            </a:r>
          </a:p>
          <a:p>
            <a:r>
              <a:rPr lang="en-US" b="1" dirty="0"/>
              <a:t>Size</a:t>
            </a:r>
            <a:r>
              <a:rPr lang="en-US" dirty="0"/>
              <a:t> – current file size</a:t>
            </a:r>
          </a:p>
          <a:p>
            <a:r>
              <a:rPr lang="en-US" b="1" dirty="0"/>
              <a:t>Protection</a:t>
            </a:r>
            <a:r>
              <a:rPr lang="en-US" dirty="0"/>
              <a:t> – controls who can do reading, writing, executing</a:t>
            </a:r>
          </a:p>
          <a:p>
            <a:r>
              <a:rPr lang="en-US" b="1" dirty="0"/>
              <a:t>Time, date, and user identification</a:t>
            </a:r>
            <a:r>
              <a:rPr lang="en-US" dirty="0"/>
              <a:t> – data for protection, security, and usage monitoring</a:t>
            </a:r>
          </a:p>
          <a:p>
            <a:r>
              <a:rPr lang="en-US" dirty="0"/>
              <a:t>Information about files are kept in the directory structure, which is maintained on the disk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46111" y="0"/>
            <a:ext cx="9404723" cy="941696"/>
          </a:xfrm>
        </p:spPr>
        <p:txBody>
          <a:bodyPr/>
          <a:lstStyle/>
          <a:p>
            <a:r>
              <a:rPr lang="en-US" b="1" dirty="0"/>
              <a:t>File Operations</a:t>
            </a:r>
          </a:p>
        </p:txBody>
      </p:sp>
      <p:sp>
        <p:nvSpPr>
          <p:cNvPr id="53251" name="Rectangle 3"/>
          <p:cNvSpPr>
            <a:spLocks noGrp="1" noChangeArrowheads="1"/>
          </p:cNvSpPr>
          <p:nvPr>
            <p:ph type="body" idx="1"/>
          </p:nvPr>
        </p:nvSpPr>
        <p:spPr>
          <a:xfrm>
            <a:off x="646111" y="941696"/>
            <a:ext cx="11545889" cy="5306703"/>
          </a:xfrm>
        </p:spPr>
        <p:txBody>
          <a:bodyPr>
            <a:normAutofit/>
          </a:bodyPr>
          <a:lstStyle/>
          <a:p>
            <a:r>
              <a:rPr lang="en-US" dirty="0"/>
              <a:t>File is an </a:t>
            </a:r>
            <a:r>
              <a:rPr lang="en-US" b="1" dirty="0"/>
              <a:t>abstract data type</a:t>
            </a:r>
          </a:p>
          <a:p>
            <a:r>
              <a:rPr lang="en-US" b="1" dirty="0"/>
              <a:t>Create</a:t>
            </a:r>
          </a:p>
          <a:p>
            <a:r>
              <a:rPr lang="en-US" b="1" dirty="0"/>
              <a:t>Write</a:t>
            </a:r>
          </a:p>
          <a:p>
            <a:r>
              <a:rPr lang="en-US" b="1" dirty="0"/>
              <a:t>Read</a:t>
            </a:r>
          </a:p>
          <a:p>
            <a:r>
              <a:rPr lang="en-US" b="1" dirty="0"/>
              <a:t>Reposition within file</a:t>
            </a:r>
          </a:p>
          <a:p>
            <a:r>
              <a:rPr lang="en-US" b="1" dirty="0"/>
              <a:t>Delete</a:t>
            </a:r>
          </a:p>
          <a:p>
            <a:r>
              <a:rPr lang="en-US" b="1" dirty="0"/>
              <a:t>Truncate</a:t>
            </a:r>
          </a:p>
          <a:p>
            <a:r>
              <a:rPr lang="en-US" i="1" dirty="0"/>
              <a:t>Open(F</a:t>
            </a:r>
            <a:r>
              <a:rPr lang="en-US" i="1" baseline="-25000" dirty="0"/>
              <a:t>i</a:t>
            </a:r>
            <a:r>
              <a:rPr lang="en-US" i="1" dirty="0"/>
              <a:t>)</a:t>
            </a:r>
            <a:r>
              <a:rPr lang="en-US" dirty="0"/>
              <a:t> – search the directory structure on disk for entry </a:t>
            </a:r>
            <a:r>
              <a:rPr lang="en-US" i="1" dirty="0"/>
              <a:t>F</a:t>
            </a:r>
            <a:r>
              <a:rPr lang="en-US" i="1" baseline="-25000" dirty="0"/>
              <a:t>i</a:t>
            </a:r>
            <a:r>
              <a:rPr lang="en-US" dirty="0"/>
              <a:t>, and move the content of entry to memory</a:t>
            </a:r>
          </a:p>
          <a:p>
            <a:r>
              <a:rPr lang="en-US" i="1" dirty="0"/>
              <a:t>Close (F</a:t>
            </a:r>
            <a:r>
              <a:rPr lang="en-US" i="1" baseline="-25000" dirty="0"/>
              <a:t>i</a:t>
            </a:r>
            <a:r>
              <a:rPr lang="en-US" i="1" dirty="0"/>
              <a:t>)</a:t>
            </a:r>
            <a:r>
              <a:rPr lang="en-US" dirty="0"/>
              <a:t> – move the content of entry </a:t>
            </a:r>
            <a:r>
              <a:rPr lang="en-US" i="1" dirty="0"/>
              <a:t>F</a:t>
            </a:r>
            <a:r>
              <a:rPr lang="en-US" i="1" baseline="-25000" dirty="0"/>
              <a:t>i</a:t>
            </a:r>
            <a:r>
              <a:rPr lang="en-US" dirty="0"/>
              <a:t> in memory to directory structure on disk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646111" y="0"/>
            <a:ext cx="9404723" cy="968991"/>
          </a:xfrm>
        </p:spPr>
        <p:txBody>
          <a:bodyPr/>
          <a:lstStyle/>
          <a:p>
            <a:r>
              <a:rPr lang="en-US" b="1" dirty="0"/>
              <a:t>Open Files</a:t>
            </a:r>
          </a:p>
        </p:txBody>
      </p:sp>
      <p:sp>
        <p:nvSpPr>
          <p:cNvPr id="54275" name="Rectangle 3"/>
          <p:cNvSpPr>
            <a:spLocks noGrp="1" noChangeArrowheads="1"/>
          </p:cNvSpPr>
          <p:nvPr>
            <p:ph type="body" idx="1"/>
          </p:nvPr>
        </p:nvSpPr>
        <p:spPr>
          <a:xfrm>
            <a:off x="646112" y="968992"/>
            <a:ext cx="11545888" cy="5279408"/>
          </a:xfrm>
        </p:spPr>
        <p:txBody>
          <a:bodyPr/>
          <a:lstStyle/>
          <a:p>
            <a:r>
              <a:rPr lang="en-US" dirty="0"/>
              <a:t>Several pieces of data are needed to manage open files:</a:t>
            </a:r>
          </a:p>
          <a:p>
            <a:pPr lvl="1"/>
            <a:r>
              <a:rPr lang="en-US" dirty="0"/>
              <a:t>File pointer:  pointer to last read/write location, per process that has the file open</a:t>
            </a:r>
          </a:p>
          <a:p>
            <a:pPr lvl="1"/>
            <a:r>
              <a:rPr lang="en-US" dirty="0"/>
              <a:t>File-open count: counter of number of times a file is open – to allow removal of data from open-file table when last processes closes it</a:t>
            </a:r>
          </a:p>
          <a:p>
            <a:pPr lvl="1"/>
            <a:r>
              <a:rPr lang="en-US" dirty="0"/>
              <a:t>Disk location of the file: cache of data access information</a:t>
            </a:r>
          </a:p>
          <a:p>
            <a:pPr lvl="1"/>
            <a:r>
              <a:rPr lang="en-US" dirty="0"/>
              <a:t>Access rights: per-process access mode information</a:t>
            </a:r>
          </a:p>
        </p:txBody>
      </p:sp>
      <p:sp>
        <p:nvSpPr>
          <p:cNvPr id="2" name="Rectangle 1"/>
          <p:cNvSpPr/>
          <p:nvPr/>
        </p:nvSpPr>
        <p:spPr>
          <a:xfrm>
            <a:off x="646111" y="3424030"/>
            <a:ext cx="4621778" cy="707886"/>
          </a:xfrm>
          <a:prstGeom prst="rect">
            <a:avLst/>
          </a:prstGeom>
        </p:spPr>
        <p:txBody>
          <a:bodyPr wrap="none">
            <a:spAutoFit/>
          </a:bodyPr>
          <a:lstStyle/>
          <a:p>
            <a:r>
              <a:rPr lang="en-US" sz="4000" b="1" dirty="0"/>
              <a:t>Open File Locking</a:t>
            </a:r>
          </a:p>
        </p:txBody>
      </p:sp>
      <p:sp>
        <p:nvSpPr>
          <p:cNvPr id="3" name="Rectangle 2"/>
          <p:cNvSpPr/>
          <p:nvPr/>
        </p:nvSpPr>
        <p:spPr>
          <a:xfrm>
            <a:off x="646110" y="4259654"/>
            <a:ext cx="11545889" cy="1477328"/>
          </a:xfrm>
          <a:prstGeom prst="rect">
            <a:avLst/>
          </a:prstGeom>
        </p:spPr>
        <p:txBody>
          <a:bodyPr wrap="square">
            <a:spAutoFit/>
          </a:bodyPr>
          <a:lstStyle/>
          <a:p>
            <a:pPr marL="285750" indent="-285750">
              <a:buClr>
                <a:schemeClr val="accent2"/>
              </a:buClr>
              <a:buSzPct val="97000"/>
              <a:buFont typeface="Wingdings" panose="05000000000000000000" pitchFamily="2" charset="2"/>
              <a:buChar char="Ø"/>
            </a:pPr>
            <a:r>
              <a:rPr lang="en-US" dirty="0"/>
              <a:t>Provided by some operating systems and file systems</a:t>
            </a:r>
          </a:p>
          <a:p>
            <a:pPr marL="285750" indent="-285750">
              <a:buClr>
                <a:schemeClr val="accent2"/>
              </a:buClr>
              <a:buSzPct val="97000"/>
              <a:buFont typeface="Wingdings" panose="05000000000000000000" pitchFamily="2" charset="2"/>
              <a:buChar char="Ø"/>
            </a:pPr>
            <a:r>
              <a:rPr lang="en-US" dirty="0"/>
              <a:t>Mediates access to a file</a:t>
            </a:r>
          </a:p>
          <a:p>
            <a:pPr marL="285750" indent="-285750">
              <a:buClr>
                <a:schemeClr val="accent2"/>
              </a:buClr>
              <a:buSzPct val="97000"/>
              <a:buFont typeface="Wingdings" panose="05000000000000000000" pitchFamily="2" charset="2"/>
              <a:buChar char="Ø"/>
            </a:pPr>
            <a:r>
              <a:rPr lang="en-US" dirty="0"/>
              <a:t>Mandatory or advisory:</a:t>
            </a:r>
          </a:p>
          <a:p>
            <a:pPr marL="742950" lvl="1" indent="-285750">
              <a:buClr>
                <a:schemeClr val="accent2"/>
              </a:buClr>
              <a:buSzPct val="97000"/>
              <a:buFont typeface="Wingdings" panose="05000000000000000000" pitchFamily="2" charset="2"/>
              <a:buChar char="Ø"/>
            </a:pPr>
            <a:r>
              <a:rPr lang="en-US" b="1" dirty="0"/>
              <a:t>Mandatory</a:t>
            </a:r>
            <a:r>
              <a:rPr lang="en-US" dirty="0"/>
              <a:t> – access is denied depending on locks held and requested</a:t>
            </a:r>
          </a:p>
          <a:p>
            <a:pPr marL="742950" lvl="1" indent="-285750">
              <a:buClr>
                <a:schemeClr val="accent2"/>
              </a:buClr>
              <a:buSzPct val="97000"/>
              <a:buFont typeface="Wingdings" panose="05000000000000000000" pitchFamily="2" charset="2"/>
              <a:buChar char="Ø"/>
            </a:pPr>
            <a:r>
              <a:rPr lang="en-US" b="1" dirty="0"/>
              <a:t>Advisory</a:t>
            </a:r>
            <a:r>
              <a:rPr lang="en-US" dirty="0"/>
              <a:t> – processes can find status of locks and decide what to do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0"/>
            <a:ext cx="9404723" cy="805218"/>
          </a:xfrm>
        </p:spPr>
        <p:txBody>
          <a:bodyPr/>
          <a:lstStyle/>
          <a:p>
            <a:r>
              <a:rPr lang="en-US" b="1" dirty="0"/>
              <a:t>File Locking Example – Java API</a:t>
            </a:r>
          </a:p>
        </p:txBody>
      </p:sp>
      <p:sp>
        <p:nvSpPr>
          <p:cNvPr id="3" name="Content Placeholder 2"/>
          <p:cNvSpPr>
            <a:spLocks noGrp="1"/>
          </p:cNvSpPr>
          <p:nvPr>
            <p:ph sz="half" idx="1"/>
          </p:nvPr>
        </p:nvSpPr>
        <p:spPr>
          <a:xfrm>
            <a:off x="0" y="805218"/>
            <a:ext cx="5704764" cy="6052781"/>
          </a:xfrm>
        </p:spPr>
        <p:txBody>
          <a:bodyPr>
            <a:normAutofit fontScale="92500" lnSpcReduction="10000"/>
          </a:bodyPr>
          <a:lstStyle/>
          <a:p>
            <a:pPr>
              <a:lnSpc>
                <a:spcPct val="80000"/>
              </a:lnSpc>
              <a:buFont typeface="Monotype Sorts" pitchFamily="2" charset="2"/>
              <a:buNone/>
            </a:pPr>
            <a:r>
              <a:rPr lang="en-US" dirty="0"/>
              <a:t>import java.io.*;</a:t>
            </a:r>
          </a:p>
          <a:p>
            <a:pPr>
              <a:lnSpc>
                <a:spcPct val="80000"/>
              </a:lnSpc>
              <a:buFont typeface="Monotype Sorts" pitchFamily="2" charset="2"/>
              <a:buNone/>
            </a:pPr>
            <a:r>
              <a:rPr lang="en-US" dirty="0"/>
              <a:t>import </a:t>
            </a:r>
            <a:r>
              <a:rPr lang="en-US" dirty="0" err="1"/>
              <a:t>java.nio.channels</a:t>
            </a:r>
            <a:r>
              <a:rPr lang="en-US" dirty="0"/>
              <a:t>.*;</a:t>
            </a:r>
          </a:p>
          <a:p>
            <a:pPr>
              <a:lnSpc>
                <a:spcPct val="80000"/>
              </a:lnSpc>
              <a:buFont typeface="Monotype Sorts" pitchFamily="2" charset="2"/>
              <a:buNone/>
            </a:pPr>
            <a:r>
              <a:rPr lang="en-US" dirty="0"/>
              <a:t>public class </a:t>
            </a:r>
            <a:r>
              <a:rPr lang="en-US" dirty="0" err="1"/>
              <a:t>LockingExample</a:t>
            </a:r>
            <a:r>
              <a:rPr lang="en-US" dirty="0"/>
              <a:t> </a:t>
            </a:r>
            <a:r>
              <a:rPr lang="en-US" i="1" dirty="0"/>
              <a:t>{ </a:t>
            </a:r>
          </a:p>
          <a:p>
            <a:pPr>
              <a:lnSpc>
                <a:spcPct val="80000"/>
              </a:lnSpc>
              <a:buFont typeface="Monotype Sorts" pitchFamily="2" charset="2"/>
              <a:buNone/>
            </a:pPr>
            <a:r>
              <a:rPr lang="en-US" i="1" dirty="0"/>
              <a:t>	</a:t>
            </a:r>
            <a:r>
              <a:rPr lang="en-US" dirty="0"/>
              <a:t>public static final </a:t>
            </a:r>
            <a:r>
              <a:rPr lang="en-US" dirty="0" err="1"/>
              <a:t>boolean</a:t>
            </a:r>
            <a:r>
              <a:rPr lang="en-US" dirty="0"/>
              <a:t> EXCLUSIVE = false;</a:t>
            </a:r>
          </a:p>
          <a:p>
            <a:pPr>
              <a:lnSpc>
                <a:spcPct val="80000"/>
              </a:lnSpc>
              <a:buFont typeface="Monotype Sorts" pitchFamily="2" charset="2"/>
              <a:buNone/>
            </a:pPr>
            <a:r>
              <a:rPr lang="en-US" dirty="0"/>
              <a:t>	public static final </a:t>
            </a:r>
            <a:r>
              <a:rPr lang="en-US" dirty="0" err="1"/>
              <a:t>boolean</a:t>
            </a:r>
            <a:r>
              <a:rPr lang="en-US" dirty="0"/>
              <a:t> SHARED = true;</a:t>
            </a:r>
          </a:p>
          <a:p>
            <a:pPr>
              <a:lnSpc>
                <a:spcPct val="80000"/>
              </a:lnSpc>
              <a:buFont typeface="Monotype Sorts" pitchFamily="2" charset="2"/>
              <a:buNone/>
            </a:pPr>
            <a:r>
              <a:rPr lang="en-US" dirty="0"/>
              <a:t>	public static void main(String </a:t>
            </a:r>
            <a:r>
              <a:rPr lang="en-US" dirty="0" err="1"/>
              <a:t>arsg</a:t>
            </a:r>
            <a:r>
              <a:rPr lang="en-US" dirty="0"/>
              <a:t>[]) throws </a:t>
            </a:r>
            <a:r>
              <a:rPr lang="en-US" dirty="0" err="1"/>
              <a:t>IOException</a:t>
            </a:r>
            <a:r>
              <a:rPr lang="en-US" dirty="0"/>
              <a:t> </a:t>
            </a:r>
            <a:r>
              <a:rPr lang="en-US" i="1" dirty="0"/>
              <a:t>{ </a:t>
            </a:r>
          </a:p>
          <a:p>
            <a:pPr>
              <a:lnSpc>
                <a:spcPct val="80000"/>
              </a:lnSpc>
              <a:buFont typeface="Monotype Sorts" pitchFamily="2" charset="2"/>
              <a:buNone/>
            </a:pPr>
            <a:r>
              <a:rPr lang="en-US" dirty="0"/>
              <a:t>		</a:t>
            </a:r>
            <a:r>
              <a:rPr lang="en-US" dirty="0" err="1"/>
              <a:t>FileLock</a:t>
            </a:r>
            <a:r>
              <a:rPr lang="en-US" dirty="0"/>
              <a:t> </a:t>
            </a:r>
            <a:r>
              <a:rPr lang="en-US" dirty="0" err="1"/>
              <a:t>sharedLock</a:t>
            </a:r>
            <a:r>
              <a:rPr lang="en-US" dirty="0"/>
              <a:t> = null;</a:t>
            </a:r>
          </a:p>
          <a:p>
            <a:pPr>
              <a:lnSpc>
                <a:spcPct val="80000"/>
              </a:lnSpc>
              <a:buFont typeface="Monotype Sorts" pitchFamily="2" charset="2"/>
              <a:buNone/>
            </a:pPr>
            <a:r>
              <a:rPr lang="en-US" dirty="0"/>
              <a:t>		</a:t>
            </a:r>
            <a:r>
              <a:rPr lang="en-US" dirty="0" err="1"/>
              <a:t>FileLock</a:t>
            </a:r>
            <a:r>
              <a:rPr lang="en-US" dirty="0"/>
              <a:t> </a:t>
            </a:r>
            <a:r>
              <a:rPr lang="en-US" dirty="0" err="1"/>
              <a:t>exclusiveLock</a:t>
            </a:r>
            <a:r>
              <a:rPr lang="en-US" dirty="0"/>
              <a:t> = null;</a:t>
            </a:r>
          </a:p>
          <a:p>
            <a:pPr>
              <a:lnSpc>
                <a:spcPct val="80000"/>
              </a:lnSpc>
              <a:buFont typeface="Monotype Sorts" pitchFamily="2" charset="2"/>
              <a:buNone/>
            </a:pPr>
            <a:r>
              <a:rPr lang="en-US" dirty="0"/>
              <a:t>		try </a:t>
            </a:r>
            <a:r>
              <a:rPr lang="en-US" i="1" dirty="0"/>
              <a:t>{ </a:t>
            </a:r>
          </a:p>
          <a:p>
            <a:pPr>
              <a:lnSpc>
                <a:spcPct val="80000"/>
              </a:lnSpc>
              <a:buFont typeface="Monotype Sorts" pitchFamily="2" charset="2"/>
              <a:buNone/>
            </a:pPr>
            <a:r>
              <a:rPr lang="en-US" dirty="0"/>
              <a:t>			</a:t>
            </a:r>
            <a:r>
              <a:rPr lang="en-US" dirty="0" err="1"/>
              <a:t>RandomAccessFile</a:t>
            </a:r>
            <a:r>
              <a:rPr lang="en-US" dirty="0"/>
              <a:t> </a:t>
            </a:r>
            <a:r>
              <a:rPr lang="en-US" dirty="0" err="1"/>
              <a:t>raf</a:t>
            </a:r>
            <a:r>
              <a:rPr lang="en-US" dirty="0"/>
              <a:t> = new </a:t>
            </a:r>
            <a:endParaRPr lang="en-US" dirty="0" smtClean="0"/>
          </a:p>
          <a:p>
            <a:pPr>
              <a:lnSpc>
                <a:spcPct val="80000"/>
              </a:lnSpc>
              <a:buFont typeface="Monotype Sorts" pitchFamily="2" charset="2"/>
              <a:buNone/>
            </a:pPr>
            <a:r>
              <a:rPr lang="en-US" dirty="0" err="1" smtClean="0"/>
              <a:t>RandomAccessFile</a:t>
            </a:r>
            <a:r>
              <a:rPr lang="en-US" dirty="0"/>
              <a:t>("file.txt", "</a:t>
            </a:r>
            <a:r>
              <a:rPr lang="en-US" dirty="0" err="1"/>
              <a:t>rw</a:t>
            </a:r>
            <a:r>
              <a:rPr lang="en-US" dirty="0"/>
              <a:t>");</a:t>
            </a:r>
          </a:p>
          <a:p>
            <a:pPr>
              <a:lnSpc>
                <a:spcPct val="80000"/>
              </a:lnSpc>
              <a:buFont typeface="Monotype Sorts" pitchFamily="2" charset="2"/>
              <a:buNone/>
            </a:pPr>
            <a:r>
              <a:rPr lang="en-US" dirty="0"/>
              <a:t>			// get the channel for the file</a:t>
            </a:r>
          </a:p>
          <a:p>
            <a:pPr>
              <a:lnSpc>
                <a:spcPct val="80000"/>
              </a:lnSpc>
              <a:buFont typeface="Monotype Sorts" pitchFamily="2" charset="2"/>
              <a:buNone/>
            </a:pPr>
            <a:r>
              <a:rPr lang="en-US" dirty="0"/>
              <a:t>			</a:t>
            </a:r>
            <a:r>
              <a:rPr lang="en-US" dirty="0" err="1"/>
              <a:t>FileChannel</a:t>
            </a:r>
            <a:r>
              <a:rPr lang="en-US" dirty="0"/>
              <a:t> </a:t>
            </a:r>
            <a:r>
              <a:rPr lang="en-US" dirty="0" err="1"/>
              <a:t>ch</a:t>
            </a:r>
            <a:r>
              <a:rPr lang="en-US" dirty="0"/>
              <a:t> = </a:t>
            </a:r>
            <a:r>
              <a:rPr lang="en-US" dirty="0" err="1"/>
              <a:t>raf.getChannel</a:t>
            </a:r>
            <a:r>
              <a:rPr lang="en-US" dirty="0"/>
              <a:t>();</a:t>
            </a:r>
          </a:p>
          <a:p>
            <a:pPr>
              <a:lnSpc>
                <a:spcPct val="80000"/>
              </a:lnSpc>
              <a:buFont typeface="Monotype Sorts" pitchFamily="2" charset="2"/>
              <a:buNone/>
            </a:pPr>
            <a:r>
              <a:rPr lang="en-US" dirty="0"/>
              <a:t>			// this locks the first half of the file - exclusive</a:t>
            </a:r>
          </a:p>
          <a:p>
            <a:pPr>
              <a:lnSpc>
                <a:spcPct val="80000"/>
              </a:lnSpc>
              <a:buFont typeface="Monotype Sorts" pitchFamily="2" charset="2"/>
              <a:buNone/>
            </a:pPr>
            <a:r>
              <a:rPr lang="en-US" dirty="0"/>
              <a:t>			</a:t>
            </a:r>
            <a:r>
              <a:rPr lang="en-US" dirty="0" err="1"/>
              <a:t>exclusiveLock</a:t>
            </a:r>
            <a:r>
              <a:rPr lang="en-US" dirty="0"/>
              <a:t> = </a:t>
            </a:r>
            <a:r>
              <a:rPr lang="en-US" dirty="0" err="1"/>
              <a:t>ch.lock</a:t>
            </a:r>
            <a:r>
              <a:rPr lang="en-US" dirty="0"/>
              <a:t>(0, </a:t>
            </a:r>
            <a:r>
              <a:rPr lang="en-US" dirty="0" err="1"/>
              <a:t>raf.length</a:t>
            </a:r>
            <a:r>
              <a:rPr lang="en-US" dirty="0"/>
              <a:t>()/2</a:t>
            </a:r>
            <a:r>
              <a:rPr lang="en-US" dirty="0" smtClean="0"/>
              <a:t>,</a:t>
            </a:r>
          </a:p>
          <a:p>
            <a:pPr>
              <a:lnSpc>
                <a:spcPct val="80000"/>
              </a:lnSpc>
              <a:buFont typeface="Monotype Sorts" pitchFamily="2" charset="2"/>
              <a:buNone/>
            </a:pPr>
            <a:r>
              <a:rPr lang="en-US" dirty="0" smtClean="0"/>
              <a:t> </a:t>
            </a:r>
            <a:r>
              <a:rPr lang="en-US" dirty="0"/>
              <a:t>EXCLUSIVE);</a:t>
            </a:r>
          </a:p>
          <a:p>
            <a:pPr>
              <a:lnSpc>
                <a:spcPct val="80000"/>
              </a:lnSpc>
              <a:buFont typeface="Monotype Sorts" pitchFamily="2" charset="2"/>
              <a:buNone/>
            </a:pPr>
            <a:r>
              <a:rPr lang="en-US" dirty="0"/>
              <a:t>			/** Now modify the data . . . */</a:t>
            </a:r>
          </a:p>
          <a:p>
            <a:pPr>
              <a:lnSpc>
                <a:spcPct val="80000"/>
              </a:lnSpc>
              <a:buFont typeface="Monotype Sorts" pitchFamily="2" charset="2"/>
              <a:buNone/>
            </a:pPr>
            <a:r>
              <a:rPr lang="en-US" dirty="0"/>
              <a:t>			// release the lock</a:t>
            </a:r>
          </a:p>
          <a:p>
            <a:pPr>
              <a:lnSpc>
                <a:spcPct val="80000"/>
              </a:lnSpc>
              <a:buFont typeface="Monotype Sorts" pitchFamily="2" charset="2"/>
              <a:buNone/>
            </a:pPr>
            <a:r>
              <a:rPr lang="en-US" dirty="0"/>
              <a:t>			</a:t>
            </a:r>
            <a:r>
              <a:rPr lang="en-US" dirty="0" err="1"/>
              <a:t>exclusiveLock.release</a:t>
            </a:r>
            <a:r>
              <a:rPr lang="en-US" dirty="0" smtClean="0"/>
              <a:t>();</a:t>
            </a:r>
            <a:endParaRPr lang="en-US" dirty="0"/>
          </a:p>
        </p:txBody>
      </p:sp>
      <p:sp>
        <p:nvSpPr>
          <p:cNvPr id="4" name="Content Placeholder 3"/>
          <p:cNvSpPr>
            <a:spLocks noGrp="1"/>
          </p:cNvSpPr>
          <p:nvPr>
            <p:ph sz="half" idx="2"/>
          </p:nvPr>
        </p:nvSpPr>
        <p:spPr>
          <a:xfrm>
            <a:off x="5854890" y="805218"/>
            <a:ext cx="6337110" cy="6052782"/>
          </a:xfrm>
        </p:spPr>
        <p:txBody>
          <a:bodyPr>
            <a:normAutofit fontScale="92500" lnSpcReduction="10000"/>
          </a:bodyPr>
          <a:lstStyle/>
          <a:p>
            <a:pPr>
              <a:lnSpc>
                <a:spcPct val="80000"/>
              </a:lnSpc>
              <a:buFont typeface="Monotype Sorts" pitchFamily="2" charset="2"/>
              <a:buNone/>
            </a:pPr>
            <a:r>
              <a:rPr lang="en-US" dirty="0"/>
              <a:t>// this locks the second half of the file - shared</a:t>
            </a:r>
          </a:p>
          <a:p>
            <a:pPr>
              <a:lnSpc>
                <a:spcPct val="80000"/>
              </a:lnSpc>
              <a:buFont typeface="Monotype Sorts" pitchFamily="2" charset="2"/>
              <a:buNone/>
            </a:pPr>
            <a:r>
              <a:rPr lang="en-US" dirty="0"/>
              <a:t>			</a:t>
            </a:r>
            <a:r>
              <a:rPr lang="en-US" dirty="0" err="1"/>
              <a:t>sharedLock</a:t>
            </a:r>
            <a:r>
              <a:rPr lang="en-US" dirty="0"/>
              <a:t> = </a:t>
            </a:r>
            <a:r>
              <a:rPr lang="en-US" dirty="0" err="1"/>
              <a:t>ch.lock</a:t>
            </a:r>
            <a:r>
              <a:rPr lang="en-US" dirty="0"/>
              <a:t>(</a:t>
            </a:r>
            <a:r>
              <a:rPr lang="en-US" dirty="0" err="1"/>
              <a:t>raf.length</a:t>
            </a:r>
            <a:r>
              <a:rPr lang="en-US" dirty="0"/>
              <a:t>()/2+1, </a:t>
            </a:r>
            <a:r>
              <a:rPr lang="en-US" dirty="0" err="1"/>
              <a:t>raf.length</a:t>
            </a:r>
            <a:r>
              <a:rPr lang="en-US" dirty="0"/>
              <a:t>(), 				SHARED);</a:t>
            </a:r>
          </a:p>
          <a:p>
            <a:pPr>
              <a:lnSpc>
                <a:spcPct val="80000"/>
              </a:lnSpc>
              <a:buFont typeface="Monotype Sorts" pitchFamily="2" charset="2"/>
              <a:buNone/>
            </a:pPr>
            <a:r>
              <a:rPr lang="en-US" dirty="0"/>
              <a:t>			/** Now read the data . . . */</a:t>
            </a:r>
          </a:p>
          <a:p>
            <a:pPr>
              <a:lnSpc>
                <a:spcPct val="80000"/>
              </a:lnSpc>
              <a:buFont typeface="Monotype Sorts" pitchFamily="2" charset="2"/>
              <a:buNone/>
            </a:pPr>
            <a:r>
              <a:rPr lang="en-US" dirty="0"/>
              <a:t>			// release the lock</a:t>
            </a:r>
          </a:p>
          <a:p>
            <a:pPr>
              <a:lnSpc>
                <a:spcPct val="80000"/>
              </a:lnSpc>
              <a:buFont typeface="Monotype Sorts" pitchFamily="2" charset="2"/>
              <a:buNone/>
            </a:pPr>
            <a:r>
              <a:rPr lang="en-US" dirty="0"/>
              <a:t>			</a:t>
            </a:r>
            <a:r>
              <a:rPr lang="en-US" dirty="0" err="1"/>
              <a:t>sharedLock.release</a:t>
            </a:r>
            <a:r>
              <a:rPr lang="en-US" dirty="0"/>
              <a:t>();</a:t>
            </a:r>
          </a:p>
          <a:p>
            <a:pPr>
              <a:lnSpc>
                <a:spcPct val="80000"/>
              </a:lnSpc>
              <a:buFont typeface="Monotype Sorts" pitchFamily="2" charset="2"/>
              <a:buNone/>
            </a:pPr>
            <a:r>
              <a:rPr lang="en-US" i="1" dirty="0"/>
              <a:t>		</a:t>
            </a:r>
            <a:r>
              <a:rPr lang="en-US" dirty="0"/>
              <a:t>}</a:t>
            </a:r>
            <a:r>
              <a:rPr lang="en-US" i="1" dirty="0"/>
              <a:t> </a:t>
            </a:r>
            <a:r>
              <a:rPr lang="en-US" dirty="0"/>
              <a:t>catch (</a:t>
            </a:r>
            <a:r>
              <a:rPr lang="en-US" dirty="0" err="1"/>
              <a:t>java.io.IOException</a:t>
            </a:r>
            <a:r>
              <a:rPr lang="en-US" dirty="0"/>
              <a:t> </a:t>
            </a:r>
            <a:r>
              <a:rPr lang="en-US" dirty="0" err="1"/>
              <a:t>ioe</a:t>
            </a:r>
            <a:r>
              <a:rPr lang="en-US" dirty="0"/>
              <a:t>) {</a:t>
            </a:r>
            <a:r>
              <a:rPr lang="en-US" i="1" dirty="0"/>
              <a:t> </a:t>
            </a:r>
          </a:p>
          <a:p>
            <a:pPr>
              <a:lnSpc>
                <a:spcPct val="80000"/>
              </a:lnSpc>
              <a:buFont typeface="Monotype Sorts" pitchFamily="2" charset="2"/>
              <a:buNone/>
            </a:pPr>
            <a:r>
              <a:rPr lang="en-US" i="1" dirty="0"/>
              <a:t>			</a:t>
            </a:r>
            <a:r>
              <a:rPr lang="en-US" dirty="0" err="1"/>
              <a:t>System.err.println</a:t>
            </a:r>
            <a:r>
              <a:rPr lang="en-US" dirty="0"/>
              <a:t>(</a:t>
            </a:r>
            <a:r>
              <a:rPr lang="en-US" dirty="0" err="1"/>
              <a:t>ioe</a:t>
            </a:r>
            <a:r>
              <a:rPr lang="en-US" dirty="0"/>
              <a:t>);</a:t>
            </a:r>
          </a:p>
          <a:p>
            <a:pPr>
              <a:lnSpc>
                <a:spcPct val="80000"/>
              </a:lnSpc>
              <a:buFont typeface="Monotype Sorts" pitchFamily="2" charset="2"/>
              <a:buNone/>
            </a:pPr>
            <a:r>
              <a:rPr lang="en-US" i="1" dirty="0"/>
              <a:t>		</a:t>
            </a:r>
            <a:r>
              <a:rPr lang="en-US" dirty="0"/>
              <a:t>}finally {</a:t>
            </a:r>
            <a:r>
              <a:rPr lang="en-US" i="1" dirty="0"/>
              <a:t> </a:t>
            </a:r>
          </a:p>
          <a:p>
            <a:pPr>
              <a:lnSpc>
                <a:spcPct val="80000"/>
              </a:lnSpc>
              <a:buFont typeface="Monotype Sorts" pitchFamily="2" charset="2"/>
              <a:buNone/>
            </a:pPr>
            <a:r>
              <a:rPr lang="en-US" dirty="0"/>
              <a:t>			if (</a:t>
            </a:r>
            <a:r>
              <a:rPr lang="en-US" dirty="0" err="1"/>
              <a:t>exclusiveLock</a:t>
            </a:r>
            <a:r>
              <a:rPr lang="en-US" dirty="0"/>
              <a:t> != null)</a:t>
            </a:r>
          </a:p>
          <a:p>
            <a:pPr>
              <a:lnSpc>
                <a:spcPct val="80000"/>
              </a:lnSpc>
              <a:buFont typeface="Monotype Sorts" pitchFamily="2" charset="2"/>
              <a:buNone/>
            </a:pPr>
            <a:r>
              <a:rPr lang="en-US" dirty="0"/>
              <a:t>			</a:t>
            </a:r>
            <a:r>
              <a:rPr lang="en-US" dirty="0" err="1"/>
              <a:t>exclusiveLock.release</a:t>
            </a:r>
            <a:r>
              <a:rPr lang="en-US" dirty="0"/>
              <a:t>();</a:t>
            </a:r>
          </a:p>
          <a:p>
            <a:pPr>
              <a:lnSpc>
                <a:spcPct val="80000"/>
              </a:lnSpc>
              <a:buFont typeface="Monotype Sorts" pitchFamily="2" charset="2"/>
              <a:buNone/>
            </a:pPr>
            <a:r>
              <a:rPr lang="en-US" dirty="0"/>
              <a:t>			if (</a:t>
            </a:r>
            <a:r>
              <a:rPr lang="en-US" dirty="0" err="1"/>
              <a:t>sharedLock</a:t>
            </a:r>
            <a:r>
              <a:rPr lang="en-US" dirty="0"/>
              <a:t> != null)</a:t>
            </a:r>
          </a:p>
          <a:p>
            <a:pPr>
              <a:lnSpc>
                <a:spcPct val="80000"/>
              </a:lnSpc>
              <a:buFont typeface="Monotype Sorts" pitchFamily="2" charset="2"/>
              <a:buNone/>
            </a:pPr>
            <a:r>
              <a:rPr lang="en-US" dirty="0"/>
              <a:t>			</a:t>
            </a:r>
            <a:r>
              <a:rPr lang="en-US" dirty="0" err="1"/>
              <a:t>sharedLock.release</a:t>
            </a:r>
            <a:r>
              <a:rPr lang="en-US" dirty="0"/>
              <a:t>();</a:t>
            </a:r>
          </a:p>
          <a:p>
            <a:pPr>
              <a:lnSpc>
                <a:spcPct val="80000"/>
              </a:lnSpc>
              <a:buFont typeface="Monotype Sorts" pitchFamily="2" charset="2"/>
              <a:buNone/>
            </a:pPr>
            <a:r>
              <a:rPr lang="en-US" i="1" dirty="0"/>
              <a:t>		</a:t>
            </a:r>
            <a:r>
              <a:rPr lang="en-US" dirty="0"/>
              <a:t>}</a:t>
            </a:r>
          </a:p>
          <a:p>
            <a:pPr>
              <a:lnSpc>
                <a:spcPct val="80000"/>
              </a:lnSpc>
              <a:buFont typeface="Monotype Sorts" pitchFamily="2" charset="2"/>
              <a:buNone/>
            </a:pPr>
            <a:r>
              <a:rPr lang="en-US" i="1" dirty="0"/>
              <a:t>	</a:t>
            </a:r>
            <a:r>
              <a:rPr lang="en-US" dirty="0"/>
              <a:t>}</a:t>
            </a:r>
          </a:p>
          <a:p>
            <a:pPr>
              <a:lnSpc>
                <a:spcPct val="80000"/>
              </a:lnSpc>
              <a:buFont typeface="Monotype Sorts" pitchFamily="2" charset="2"/>
              <a:buNone/>
            </a:pPr>
            <a:r>
              <a:rPr lang="en-US" dirty="0"/>
              <a:t>}</a:t>
            </a:r>
          </a:p>
          <a:p>
            <a:endParaRPr lang="en-US" dirty="0"/>
          </a:p>
        </p:txBody>
      </p:sp>
    </p:spTree>
    <p:extLst>
      <p:ext uri="{BB962C8B-B14F-4D97-AF65-F5344CB8AC3E}">
        <p14:creationId xmlns:p14="http://schemas.microsoft.com/office/powerpoint/2010/main" val="2079488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646111" y="452718"/>
            <a:ext cx="9404723" cy="798233"/>
          </a:xfrm>
        </p:spPr>
        <p:txBody>
          <a:bodyPr/>
          <a:lstStyle/>
          <a:p>
            <a:r>
              <a:rPr lang="en-US" b="1" dirty="0"/>
              <a:t>File Types – Name, Extension</a:t>
            </a:r>
          </a:p>
        </p:txBody>
      </p:sp>
      <p:pic>
        <p:nvPicPr>
          <p:cNvPr id="58372" name="Picture 4"/>
          <p:cNvPicPr>
            <a:picLocks noChangeAspect="1" noChangeArrowheads="1"/>
          </p:cNvPicPr>
          <p:nvPr/>
        </p:nvPicPr>
        <p:blipFill>
          <a:blip r:embed="rId3">
            <a:extLst>
              <a:ext uri="{28A0092B-C50C-407E-A947-70E740481C1C}">
                <a14:useLocalDpi xmlns:a14="http://schemas.microsoft.com/office/drawing/2010/main" val="0"/>
              </a:ext>
            </a:extLst>
          </a:blip>
          <a:srcRect l="15715" t="1186" r="15715" b="1186"/>
          <a:stretch>
            <a:fillRect/>
          </a:stretch>
        </p:blipFill>
        <p:spPr bwMode="auto">
          <a:xfrm>
            <a:off x="3706504" y="1551202"/>
            <a:ext cx="4654550" cy="4970463"/>
          </a:xfrm>
          <a:prstGeom prst="rect">
            <a:avLst/>
          </a:prstGeom>
          <a:noFill/>
          <a:ln w="38100" cmpd="dbl">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646111" y="452718"/>
            <a:ext cx="9404723" cy="912532"/>
          </a:xfrm>
        </p:spPr>
        <p:txBody>
          <a:bodyPr/>
          <a:lstStyle/>
          <a:p>
            <a:r>
              <a:rPr lang="en-US" b="1" dirty="0"/>
              <a:t>Access Methods</a:t>
            </a:r>
          </a:p>
        </p:txBody>
      </p:sp>
      <p:sp>
        <p:nvSpPr>
          <p:cNvPr id="59395" name="Rectangle 3"/>
          <p:cNvSpPr>
            <a:spLocks noGrp="1" noChangeArrowheads="1"/>
          </p:cNvSpPr>
          <p:nvPr>
            <p:ph type="body" idx="1"/>
          </p:nvPr>
        </p:nvSpPr>
        <p:spPr>
          <a:xfrm>
            <a:off x="646111" y="1365250"/>
            <a:ext cx="11159201" cy="5492750"/>
          </a:xfrm>
        </p:spPr>
        <p:txBody>
          <a:bodyPr/>
          <a:lstStyle/>
          <a:p>
            <a:pPr>
              <a:lnSpc>
                <a:spcPct val="90000"/>
              </a:lnSpc>
              <a:tabLst>
                <a:tab pos="3203575" algn="l"/>
                <a:tab pos="4056063" algn="l"/>
              </a:tabLst>
            </a:pPr>
            <a:r>
              <a:rPr lang="en-US" sz="1600" b="1" dirty="0"/>
              <a:t>Sequential Access</a:t>
            </a:r>
          </a:p>
          <a:p>
            <a:pPr>
              <a:lnSpc>
                <a:spcPct val="90000"/>
              </a:lnSpc>
              <a:spcBef>
                <a:spcPct val="10000"/>
              </a:spcBef>
              <a:buNone/>
              <a:tabLst>
                <a:tab pos="3203575" algn="l"/>
                <a:tab pos="4056063" algn="l"/>
              </a:tabLst>
            </a:pPr>
            <a:r>
              <a:rPr lang="en-US" sz="1600" dirty="0">
                <a:solidFill>
                  <a:srgbClr val="0033CC"/>
                </a:solidFill>
              </a:rPr>
              <a:t>		</a:t>
            </a:r>
            <a:r>
              <a:rPr lang="en-US" sz="1600" dirty="0"/>
              <a:t>read next</a:t>
            </a:r>
          </a:p>
          <a:p>
            <a:pPr>
              <a:lnSpc>
                <a:spcPct val="90000"/>
              </a:lnSpc>
              <a:spcBef>
                <a:spcPct val="10000"/>
              </a:spcBef>
              <a:buNone/>
              <a:tabLst>
                <a:tab pos="3203575" algn="l"/>
                <a:tab pos="4056063" algn="l"/>
              </a:tabLst>
            </a:pPr>
            <a:r>
              <a:rPr lang="en-US" sz="1600" dirty="0"/>
              <a:t>		write next </a:t>
            </a:r>
          </a:p>
          <a:p>
            <a:pPr>
              <a:lnSpc>
                <a:spcPct val="90000"/>
              </a:lnSpc>
              <a:spcBef>
                <a:spcPct val="10000"/>
              </a:spcBef>
              <a:buNone/>
              <a:tabLst>
                <a:tab pos="3203575" algn="l"/>
                <a:tab pos="4056063" algn="l"/>
              </a:tabLst>
            </a:pPr>
            <a:r>
              <a:rPr lang="en-US" sz="1600" dirty="0"/>
              <a:t>		reset</a:t>
            </a:r>
          </a:p>
          <a:p>
            <a:pPr>
              <a:lnSpc>
                <a:spcPct val="90000"/>
              </a:lnSpc>
              <a:spcBef>
                <a:spcPct val="10000"/>
              </a:spcBef>
              <a:buNone/>
              <a:tabLst>
                <a:tab pos="3203575" algn="l"/>
                <a:tab pos="4056063" algn="l"/>
              </a:tabLst>
            </a:pPr>
            <a:r>
              <a:rPr lang="en-US" sz="1600" dirty="0"/>
              <a:t>		no read after last write</a:t>
            </a:r>
          </a:p>
          <a:p>
            <a:pPr>
              <a:lnSpc>
                <a:spcPct val="90000"/>
              </a:lnSpc>
              <a:spcBef>
                <a:spcPct val="10000"/>
              </a:spcBef>
              <a:buNone/>
              <a:tabLst>
                <a:tab pos="3203575" algn="l"/>
                <a:tab pos="4056063" algn="l"/>
              </a:tabLst>
            </a:pPr>
            <a:r>
              <a:rPr lang="en-US" sz="1600" dirty="0"/>
              <a:t>			(rewrite)</a:t>
            </a:r>
          </a:p>
          <a:p>
            <a:pPr>
              <a:lnSpc>
                <a:spcPct val="90000"/>
              </a:lnSpc>
              <a:tabLst>
                <a:tab pos="3203575" algn="l"/>
                <a:tab pos="4056063" algn="l"/>
              </a:tabLst>
            </a:pPr>
            <a:r>
              <a:rPr lang="en-US" sz="1600" b="1" dirty="0"/>
              <a:t>Direct Access</a:t>
            </a:r>
          </a:p>
          <a:p>
            <a:pPr>
              <a:lnSpc>
                <a:spcPct val="90000"/>
              </a:lnSpc>
              <a:spcBef>
                <a:spcPct val="10000"/>
              </a:spcBef>
              <a:buNone/>
              <a:tabLst>
                <a:tab pos="3203575" algn="l"/>
                <a:tab pos="4056063" algn="l"/>
              </a:tabLst>
            </a:pPr>
            <a:r>
              <a:rPr lang="en-US" sz="1600" dirty="0"/>
              <a:t>		read </a:t>
            </a:r>
            <a:r>
              <a:rPr lang="en-US" sz="1600" i="1" dirty="0"/>
              <a:t>n</a:t>
            </a:r>
          </a:p>
          <a:p>
            <a:pPr>
              <a:lnSpc>
                <a:spcPct val="90000"/>
              </a:lnSpc>
              <a:spcBef>
                <a:spcPct val="10000"/>
              </a:spcBef>
              <a:buNone/>
              <a:tabLst>
                <a:tab pos="3203575" algn="l"/>
                <a:tab pos="4056063" algn="l"/>
              </a:tabLst>
            </a:pPr>
            <a:r>
              <a:rPr lang="en-US" sz="1600" dirty="0"/>
              <a:t>		write </a:t>
            </a:r>
            <a:r>
              <a:rPr lang="en-US" sz="1600" i="1" dirty="0"/>
              <a:t>n</a:t>
            </a:r>
          </a:p>
          <a:p>
            <a:pPr>
              <a:lnSpc>
                <a:spcPct val="90000"/>
              </a:lnSpc>
              <a:spcBef>
                <a:spcPct val="10000"/>
              </a:spcBef>
              <a:buNone/>
              <a:tabLst>
                <a:tab pos="3203575" algn="l"/>
                <a:tab pos="4056063" algn="l"/>
              </a:tabLst>
            </a:pPr>
            <a:r>
              <a:rPr lang="en-US" sz="1600" dirty="0"/>
              <a:t>		position to </a:t>
            </a:r>
            <a:r>
              <a:rPr lang="en-US" sz="1600" i="1" dirty="0"/>
              <a:t>n</a:t>
            </a:r>
          </a:p>
          <a:p>
            <a:pPr>
              <a:lnSpc>
                <a:spcPct val="90000"/>
              </a:lnSpc>
              <a:spcBef>
                <a:spcPct val="10000"/>
              </a:spcBef>
              <a:buNone/>
              <a:tabLst>
                <a:tab pos="3203575" algn="l"/>
                <a:tab pos="4056063" algn="l"/>
              </a:tabLst>
            </a:pPr>
            <a:r>
              <a:rPr lang="en-US" sz="1600" dirty="0"/>
              <a:t>			read next</a:t>
            </a:r>
          </a:p>
          <a:p>
            <a:pPr>
              <a:lnSpc>
                <a:spcPct val="90000"/>
              </a:lnSpc>
              <a:spcBef>
                <a:spcPct val="10000"/>
              </a:spcBef>
              <a:buNone/>
              <a:tabLst>
                <a:tab pos="3203575" algn="l"/>
                <a:tab pos="4056063" algn="l"/>
              </a:tabLst>
            </a:pPr>
            <a:r>
              <a:rPr lang="en-US" sz="1600" dirty="0"/>
              <a:t>			write next </a:t>
            </a:r>
          </a:p>
          <a:p>
            <a:pPr>
              <a:lnSpc>
                <a:spcPct val="90000"/>
              </a:lnSpc>
              <a:spcBef>
                <a:spcPct val="10000"/>
              </a:spcBef>
              <a:buNone/>
              <a:tabLst>
                <a:tab pos="3203575" algn="l"/>
                <a:tab pos="4056063" algn="l"/>
              </a:tabLst>
            </a:pPr>
            <a:r>
              <a:rPr lang="en-US" sz="1600" dirty="0"/>
              <a:t>		rewrite </a:t>
            </a:r>
            <a:r>
              <a:rPr lang="en-US" sz="1600" i="1" dirty="0"/>
              <a:t>n</a:t>
            </a:r>
          </a:p>
          <a:p>
            <a:pPr>
              <a:lnSpc>
                <a:spcPct val="90000"/>
              </a:lnSpc>
              <a:buNone/>
              <a:tabLst>
                <a:tab pos="3203575" algn="l"/>
                <a:tab pos="4056063" algn="l"/>
              </a:tabLst>
            </a:pPr>
            <a:r>
              <a:rPr lang="en-US" sz="1600" dirty="0"/>
              <a:t>	</a:t>
            </a:r>
            <a:r>
              <a:rPr lang="en-US" sz="1600" i="1" dirty="0"/>
              <a:t>n</a:t>
            </a:r>
            <a:r>
              <a:rPr lang="en-US" sz="1600" dirty="0"/>
              <a:t> = relative block number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 y="0"/>
            <a:ext cx="10050834" cy="777922"/>
          </a:xfrm>
        </p:spPr>
        <p:txBody>
          <a:bodyPr/>
          <a:lstStyle/>
          <a:p>
            <a:r>
              <a:rPr lang="en-US" b="1" dirty="0"/>
              <a:t>Sequential-access File</a:t>
            </a:r>
          </a:p>
        </p:txBody>
      </p:sp>
      <p:pic>
        <p:nvPicPr>
          <p:cNvPr id="6042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4674" y="777922"/>
            <a:ext cx="7010400" cy="224155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95534" y="3230687"/>
            <a:ext cx="12096465" cy="646331"/>
          </a:xfrm>
          <a:prstGeom prst="rect">
            <a:avLst/>
          </a:prstGeom>
        </p:spPr>
        <p:txBody>
          <a:bodyPr wrap="square">
            <a:spAutoFit/>
          </a:bodyPr>
          <a:lstStyle/>
          <a:p>
            <a:r>
              <a:rPr lang="en-US" sz="3600" b="1" dirty="0"/>
              <a:t>Simulation of Sequential Access on Direct-access File</a:t>
            </a:r>
          </a:p>
        </p:txBody>
      </p:sp>
      <p:pic>
        <p:nvPicPr>
          <p:cNvPr id="5"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9736" y="3877018"/>
            <a:ext cx="7091363" cy="26146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436728" y="277813"/>
            <a:ext cx="10155072" cy="576262"/>
          </a:xfrm>
        </p:spPr>
        <p:txBody>
          <a:bodyPr/>
          <a:lstStyle/>
          <a:p>
            <a:r>
              <a:rPr lang="en-US" dirty="0"/>
              <a:t>Example of Index and Relative Files</a:t>
            </a:r>
          </a:p>
        </p:txBody>
      </p:sp>
      <p:pic>
        <p:nvPicPr>
          <p:cNvPr id="6246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3564" y="1531939"/>
            <a:ext cx="5902325" cy="39782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t>Directory Structure</a:t>
            </a:r>
          </a:p>
        </p:txBody>
      </p:sp>
      <p:sp>
        <p:nvSpPr>
          <p:cNvPr id="63491" name="Rectangle 3"/>
          <p:cNvSpPr>
            <a:spLocks noGrp="1" noChangeArrowheads="1"/>
          </p:cNvSpPr>
          <p:nvPr>
            <p:ph type="body" idx="1"/>
          </p:nvPr>
        </p:nvSpPr>
        <p:spPr>
          <a:xfrm>
            <a:off x="2490788" y="1374776"/>
            <a:ext cx="7370762" cy="354013"/>
          </a:xfrm>
        </p:spPr>
        <p:txBody>
          <a:bodyPr>
            <a:normAutofit fontScale="92500"/>
          </a:bodyPr>
          <a:lstStyle/>
          <a:p>
            <a:pPr>
              <a:lnSpc>
                <a:spcPct val="90000"/>
              </a:lnSpc>
            </a:pPr>
            <a:r>
              <a:rPr lang="en-US"/>
              <a:t>A collection of nodes containing information about all files</a:t>
            </a:r>
          </a:p>
        </p:txBody>
      </p:sp>
      <p:sp>
        <p:nvSpPr>
          <p:cNvPr id="63492" name="Oval 4"/>
          <p:cNvSpPr>
            <a:spLocks noChangeArrowheads="1"/>
          </p:cNvSpPr>
          <p:nvPr/>
        </p:nvSpPr>
        <p:spPr bwMode="auto">
          <a:xfrm>
            <a:off x="4343400" y="2286000"/>
            <a:ext cx="533400" cy="4572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493" name="Oval 5"/>
          <p:cNvSpPr>
            <a:spLocks noChangeArrowheads="1"/>
          </p:cNvSpPr>
          <p:nvPr/>
        </p:nvSpPr>
        <p:spPr bwMode="auto">
          <a:xfrm>
            <a:off x="5105400" y="2286000"/>
            <a:ext cx="533400" cy="4572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494" name="Oval 6"/>
          <p:cNvSpPr>
            <a:spLocks noChangeArrowheads="1"/>
          </p:cNvSpPr>
          <p:nvPr/>
        </p:nvSpPr>
        <p:spPr bwMode="auto">
          <a:xfrm>
            <a:off x="5867400" y="2286000"/>
            <a:ext cx="533400" cy="4572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495" name="Oval 7"/>
          <p:cNvSpPr>
            <a:spLocks noChangeArrowheads="1"/>
          </p:cNvSpPr>
          <p:nvPr/>
        </p:nvSpPr>
        <p:spPr bwMode="auto">
          <a:xfrm>
            <a:off x="6629400" y="2286000"/>
            <a:ext cx="533400" cy="4572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496" name="Oval 8"/>
          <p:cNvSpPr>
            <a:spLocks noChangeArrowheads="1"/>
          </p:cNvSpPr>
          <p:nvPr/>
        </p:nvSpPr>
        <p:spPr bwMode="auto">
          <a:xfrm>
            <a:off x="7391400" y="2590800"/>
            <a:ext cx="533400" cy="4572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497" name="Rectangle 9"/>
          <p:cNvSpPr>
            <a:spLocks noChangeArrowheads="1"/>
          </p:cNvSpPr>
          <p:nvPr/>
        </p:nvSpPr>
        <p:spPr bwMode="auto">
          <a:xfrm>
            <a:off x="4343400" y="4267200"/>
            <a:ext cx="4572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atin typeface="Helvetica" panose="020B0604020202020204" pitchFamily="34" charset="0"/>
              </a:rPr>
              <a:t>F 1</a:t>
            </a:r>
          </a:p>
        </p:txBody>
      </p:sp>
      <p:sp>
        <p:nvSpPr>
          <p:cNvPr id="63498" name="Rectangle 10"/>
          <p:cNvSpPr>
            <a:spLocks noChangeArrowheads="1"/>
          </p:cNvSpPr>
          <p:nvPr/>
        </p:nvSpPr>
        <p:spPr bwMode="auto">
          <a:xfrm>
            <a:off x="5105400" y="4267200"/>
            <a:ext cx="457200" cy="533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atin typeface="Helvetica" panose="020B0604020202020204" pitchFamily="34" charset="0"/>
              </a:rPr>
              <a:t>F 2</a:t>
            </a:r>
          </a:p>
        </p:txBody>
      </p:sp>
      <p:sp>
        <p:nvSpPr>
          <p:cNvPr id="63499" name="Rectangle 11"/>
          <p:cNvSpPr>
            <a:spLocks noChangeArrowheads="1"/>
          </p:cNvSpPr>
          <p:nvPr/>
        </p:nvSpPr>
        <p:spPr bwMode="auto">
          <a:xfrm>
            <a:off x="5867400" y="4267200"/>
            <a:ext cx="457200" cy="838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atin typeface="Helvetica" panose="020B0604020202020204" pitchFamily="34" charset="0"/>
              </a:rPr>
              <a:t>F 3</a:t>
            </a:r>
          </a:p>
        </p:txBody>
      </p:sp>
      <p:sp>
        <p:nvSpPr>
          <p:cNvPr id="63500" name="Rectangle 12"/>
          <p:cNvSpPr>
            <a:spLocks noChangeArrowheads="1"/>
          </p:cNvSpPr>
          <p:nvPr/>
        </p:nvSpPr>
        <p:spPr bwMode="auto">
          <a:xfrm>
            <a:off x="6629400" y="4267200"/>
            <a:ext cx="457200" cy="4572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atin typeface="Helvetica" panose="020B0604020202020204" pitchFamily="34" charset="0"/>
              </a:rPr>
              <a:t>F 4</a:t>
            </a:r>
          </a:p>
        </p:txBody>
      </p:sp>
      <p:sp>
        <p:nvSpPr>
          <p:cNvPr id="63501" name="Rectangle 13"/>
          <p:cNvSpPr>
            <a:spLocks noChangeArrowheads="1"/>
          </p:cNvSpPr>
          <p:nvPr/>
        </p:nvSpPr>
        <p:spPr bwMode="auto">
          <a:xfrm>
            <a:off x="7391400" y="4648200"/>
            <a:ext cx="4572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atin typeface="Helvetica" panose="020B0604020202020204" pitchFamily="34" charset="0"/>
              </a:rPr>
              <a:t>F n</a:t>
            </a:r>
          </a:p>
        </p:txBody>
      </p:sp>
      <p:sp>
        <p:nvSpPr>
          <p:cNvPr id="63502" name="Line 14"/>
          <p:cNvSpPr>
            <a:spLocks noChangeShapeType="1"/>
          </p:cNvSpPr>
          <p:nvPr/>
        </p:nvSpPr>
        <p:spPr bwMode="auto">
          <a:xfrm>
            <a:off x="5362575" y="2743200"/>
            <a:ext cx="0" cy="152400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03" name="Line 15"/>
          <p:cNvSpPr>
            <a:spLocks noChangeShapeType="1"/>
          </p:cNvSpPr>
          <p:nvPr/>
        </p:nvSpPr>
        <p:spPr bwMode="auto">
          <a:xfrm>
            <a:off x="6096000" y="2743200"/>
            <a:ext cx="0" cy="152400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04" name="Line 16"/>
          <p:cNvSpPr>
            <a:spLocks noChangeShapeType="1"/>
          </p:cNvSpPr>
          <p:nvPr/>
        </p:nvSpPr>
        <p:spPr bwMode="auto">
          <a:xfrm>
            <a:off x="7620000" y="3048000"/>
            <a:ext cx="0" cy="160020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05" name="Line 17"/>
          <p:cNvSpPr>
            <a:spLocks noChangeShapeType="1"/>
          </p:cNvSpPr>
          <p:nvPr/>
        </p:nvSpPr>
        <p:spPr bwMode="auto">
          <a:xfrm>
            <a:off x="6858000" y="2743200"/>
            <a:ext cx="0" cy="152400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06" name="Line 18"/>
          <p:cNvSpPr>
            <a:spLocks noChangeShapeType="1"/>
          </p:cNvSpPr>
          <p:nvPr/>
        </p:nvSpPr>
        <p:spPr bwMode="auto">
          <a:xfrm>
            <a:off x="4572000" y="2743200"/>
            <a:ext cx="0" cy="1524000"/>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07" name="Freeform 19"/>
          <p:cNvSpPr>
            <a:spLocks/>
          </p:cNvSpPr>
          <p:nvPr/>
        </p:nvSpPr>
        <p:spPr bwMode="auto">
          <a:xfrm>
            <a:off x="4062414" y="1962150"/>
            <a:ext cx="4186237" cy="1473200"/>
          </a:xfrm>
          <a:custGeom>
            <a:avLst/>
            <a:gdLst>
              <a:gd name="T0" fmla="*/ 10 w 2637"/>
              <a:gd name="T1" fmla="*/ 328 h 928"/>
              <a:gd name="T2" fmla="*/ 28 w 2637"/>
              <a:gd name="T3" fmla="*/ 219 h 928"/>
              <a:gd name="T4" fmla="*/ 410 w 2637"/>
              <a:gd name="T5" fmla="*/ 37 h 928"/>
              <a:gd name="T6" fmla="*/ 583 w 2637"/>
              <a:gd name="T7" fmla="*/ 10 h 928"/>
              <a:gd name="T8" fmla="*/ 1019 w 2637"/>
              <a:gd name="T9" fmla="*/ 0 h 928"/>
              <a:gd name="T10" fmla="*/ 1401 w 2637"/>
              <a:gd name="T11" fmla="*/ 10 h 928"/>
              <a:gd name="T12" fmla="*/ 1655 w 2637"/>
              <a:gd name="T13" fmla="*/ 55 h 928"/>
              <a:gd name="T14" fmla="*/ 1901 w 2637"/>
              <a:gd name="T15" fmla="*/ 128 h 928"/>
              <a:gd name="T16" fmla="*/ 2019 w 2637"/>
              <a:gd name="T17" fmla="*/ 164 h 928"/>
              <a:gd name="T18" fmla="*/ 2246 w 2637"/>
              <a:gd name="T19" fmla="*/ 210 h 928"/>
              <a:gd name="T20" fmla="*/ 2382 w 2637"/>
              <a:gd name="T21" fmla="*/ 255 h 928"/>
              <a:gd name="T22" fmla="*/ 2519 w 2637"/>
              <a:gd name="T23" fmla="*/ 391 h 928"/>
              <a:gd name="T24" fmla="*/ 2573 w 2637"/>
              <a:gd name="T25" fmla="*/ 446 h 928"/>
              <a:gd name="T26" fmla="*/ 2619 w 2637"/>
              <a:gd name="T27" fmla="*/ 573 h 928"/>
              <a:gd name="T28" fmla="*/ 2637 w 2637"/>
              <a:gd name="T29" fmla="*/ 628 h 928"/>
              <a:gd name="T30" fmla="*/ 2619 w 2637"/>
              <a:gd name="T31" fmla="*/ 737 h 928"/>
              <a:gd name="T32" fmla="*/ 2401 w 2637"/>
              <a:gd name="T33" fmla="*/ 873 h 928"/>
              <a:gd name="T34" fmla="*/ 2201 w 2637"/>
              <a:gd name="T35" fmla="*/ 919 h 928"/>
              <a:gd name="T36" fmla="*/ 1146 w 2637"/>
              <a:gd name="T37" fmla="*/ 873 h 928"/>
              <a:gd name="T38" fmla="*/ 474 w 2637"/>
              <a:gd name="T39" fmla="*/ 700 h 928"/>
              <a:gd name="T40" fmla="*/ 446 w 2637"/>
              <a:gd name="T41" fmla="*/ 691 h 928"/>
              <a:gd name="T42" fmla="*/ 410 w 2637"/>
              <a:gd name="T43" fmla="*/ 673 h 928"/>
              <a:gd name="T44" fmla="*/ 83 w 2637"/>
              <a:gd name="T45" fmla="*/ 564 h 928"/>
              <a:gd name="T46" fmla="*/ 28 w 2637"/>
              <a:gd name="T47" fmla="*/ 400 h 928"/>
              <a:gd name="T48" fmla="*/ 1 w 2637"/>
              <a:gd name="T49" fmla="*/ 319 h 928"/>
              <a:gd name="T50" fmla="*/ 10 w 2637"/>
              <a:gd name="T51" fmla="*/ 3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37" h="928">
                <a:moveTo>
                  <a:pt x="10" y="328"/>
                </a:moveTo>
                <a:cubicBezTo>
                  <a:pt x="14" y="291"/>
                  <a:pt x="6" y="248"/>
                  <a:pt x="28" y="219"/>
                </a:cubicBezTo>
                <a:cubicBezTo>
                  <a:pt x="124" y="92"/>
                  <a:pt x="264" y="66"/>
                  <a:pt x="410" y="37"/>
                </a:cubicBezTo>
                <a:cubicBezTo>
                  <a:pt x="516" y="16"/>
                  <a:pt x="457" y="14"/>
                  <a:pt x="583" y="10"/>
                </a:cubicBezTo>
                <a:cubicBezTo>
                  <a:pt x="728" y="5"/>
                  <a:pt x="874" y="3"/>
                  <a:pt x="1019" y="0"/>
                </a:cubicBezTo>
                <a:cubicBezTo>
                  <a:pt x="1146" y="3"/>
                  <a:pt x="1274" y="3"/>
                  <a:pt x="1401" y="10"/>
                </a:cubicBezTo>
                <a:cubicBezTo>
                  <a:pt x="1485" y="15"/>
                  <a:pt x="1571" y="41"/>
                  <a:pt x="1655" y="55"/>
                </a:cubicBezTo>
                <a:cubicBezTo>
                  <a:pt x="1733" y="86"/>
                  <a:pt x="1819" y="108"/>
                  <a:pt x="1901" y="128"/>
                </a:cubicBezTo>
                <a:cubicBezTo>
                  <a:pt x="1942" y="148"/>
                  <a:pt x="1975" y="152"/>
                  <a:pt x="2019" y="164"/>
                </a:cubicBezTo>
                <a:cubicBezTo>
                  <a:pt x="2098" y="185"/>
                  <a:pt x="2162" y="200"/>
                  <a:pt x="2246" y="210"/>
                </a:cubicBezTo>
                <a:cubicBezTo>
                  <a:pt x="2293" y="226"/>
                  <a:pt x="2338" y="230"/>
                  <a:pt x="2382" y="255"/>
                </a:cubicBezTo>
                <a:cubicBezTo>
                  <a:pt x="2439" y="287"/>
                  <a:pt x="2477" y="343"/>
                  <a:pt x="2519" y="391"/>
                </a:cubicBezTo>
                <a:cubicBezTo>
                  <a:pt x="2536" y="410"/>
                  <a:pt x="2562" y="423"/>
                  <a:pt x="2573" y="446"/>
                </a:cubicBezTo>
                <a:cubicBezTo>
                  <a:pt x="2594" y="488"/>
                  <a:pt x="2606" y="529"/>
                  <a:pt x="2619" y="573"/>
                </a:cubicBezTo>
                <a:cubicBezTo>
                  <a:pt x="2624" y="591"/>
                  <a:pt x="2637" y="628"/>
                  <a:pt x="2637" y="628"/>
                </a:cubicBezTo>
                <a:cubicBezTo>
                  <a:pt x="2634" y="654"/>
                  <a:pt x="2634" y="707"/>
                  <a:pt x="2619" y="737"/>
                </a:cubicBezTo>
                <a:cubicBezTo>
                  <a:pt x="2582" y="812"/>
                  <a:pt x="2477" y="854"/>
                  <a:pt x="2401" y="873"/>
                </a:cubicBezTo>
                <a:cubicBezTo>
                  <a:pt x="2341" y="911"/>
                  <a:pt x="2270" y="909"/>
                  <a:pt x="2201" y="919"/>
                </a:cubicBezTo>
                <a:cubicBezTo>
                  <a:pt x="1832" y="915"/>
                  <a:pt x="1500" y="928"/>
                  <a:pt x="1146" y="873"/>
                </a:cubicBezTo>
                <a:cubicBezTo>
                  <a:pt x="917" y="837"/>
                  <a:pt x="702" y="728"/>
                  <a:pt x="474" y="700"/>
                </a:cubicBezTo>
                <a:cubicBezTo>
                  <a:pt x="465" y="697"/>
                  <a:pt x="455" y="695"/>
                  <a:pt x="446" y="691"/>
                </a:cubicBezTo>
                <a:cubicBezTo>
                  <a:pt x="434" y="686"/>
                  <a:pt x="423" y="677"/>
                  <a:pt x="410" y="673"/>
                </a:cubicBezTo>
                <a:cubicBezTo>
                  <a:pt x="297" y="636"/>
                  <a:pt x="185" y="632"/>
                  <a:pt x="83" y="564"/>
                </a:cubicBezTo>
                <a:cubicBezTo>
                  <a:pt x="47" y="512"/>
                  <a:pt x="45" y="458"/>
                  <a:pt x="28" y="400"/>
                </a:cubicBezTo>
                <a:cubicBezTo>
                  <a:pt x="28" y="400"/>
                  <a:pt x="5" y="332"/>
                  <a:pt x="1" y="319"/>
                </a:cubicBezTo>
                <a:cubicBezTo>
                  <a:pt x="0" y="315"/>
                  <a:pt x="7" y="325"/>
                  <a:pt x="10" y="328"/>
                </a:cubicBezTo>
                <a:close/>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08" name="Freeform 20"/>
          <p:cNvSpPr>
            <a:spLocks/>
          </p:cNvSpPr>
          <p:nvPr/>
        </p:nvSpPr>
        <p:spPr bwMode="auto">
          <a:xfrm>
            <a:off x="3886200" y="3886200"/>
            <a:ext cx="4262438" cy="1600200"/>
          </a:xfrm>
          <a:custGeom>
            <a:avLst/>
            <a:gdLst>
              <a:gd name="T0" fmla="*/ 10 w 2637"/>
              <a:gd name="T1" fmla="*/ 328 h 928"/>
              <a:gd name="T2" fmla="*/ 28 w 2637"/>
              <a:gd name="T3" fmla="*/ 219 h 928"/>
              <a:gd name="T4" fmla="*/ 410 w 2637"/>
              <a:gd name="T5" fmla="*/ 37 h 928"/>
              <a:gd name="T6" fmla="*/ 583 w 2637"/>
              <a:gd name="T7" fmla="*/ 10 h 928"/>
              <a:gd name="T8" fmla="*/ 1019 w 2637"/>
              <a:gd name="T9" fmla="*/ 0 h 928"/>
              <a:gd name="T10" fmla="*/ 1401 w 2637"/>
              <a:gd name="T11" fmla="*/ 10 h 928"/>
              <a:gd name="T12" fmla="*/ 1655 w 2637"/>
              <a:gd name="T13" fmla="*/ 55 h 928"/>
              <a:gd name="T14" fmla="*/ 1901 w 2637"/>
              <a:gd name="T15" fmla="*/ 128 h 928"/>
              <a:gd name="T16" fmla="*/ 2019 w 2637"/>
              <a:gd name="T17" fmla="*/ 164 h 928"/>
              <a:gd name="T18" fmla="*/ 2246 w 2637"/>
              <a:gd name="T19" fmla="*/ 210 h 928"/>
              <a:gd name="T20" fmla="*/ 2382 w 2637"/>
              <a:gd name="T21" fmla="*/ 255 h 928"/>
              <a:gd name="T22" fmla="*/ 2519 w 2637"/>
              <a:gd name="T23" fmla="*/ 391 h 928"/>
              <a:gd name="T24" fmla="*/ 2573 w 2637"/>
              <a:gd name="T25" fmla="*/ 446 h 928"/>
              <a:gd name="T26" fmla="*/ 2619 w 2637"/>
              <a:gd name="T27" fmla="*/ 573 h 928"/>
              <a:gd name="T28" fmla="*/ 2637 w 2637"/>
              <a:gd name="T29" fmla="*/ 628 h 928"/>
              <a:gd name="T30" fmla="*/ 2619 w 2637"/>
              <a:gd name="T31" fmla="*/ 737 h 928"/>
              <a:gd name="T32" fmla="*/ 2401 w 2637"/>
              <a:gd name="T33" fmla="*/ 873 h 928"/>
              <a:gd name="T34" fmla="*/ 2201 w 2637"/>
              <a:gd name="T35" fmla="*/ 919 h 928"/>
              <a:gd name="T36" fmla="*/ 1146 w 2637"/>
              <a:gd name="T37" fmla="*/ 873 h 928"/>
              <a:gd name="T38" fmla="*/ 474 w 2637"/>
              <a:gd name="T39" fmla="*/ 700 h 928"/>
              <a:gd name="T40" fmla="*/ 446 w 2637"/>
              <a:gd name="T41" fmla="*/ 691 h 928"/>
              <a:gd name="T42" fmla="*/ 410 w 2637"/>
              <a:gd name="T43" fmla="*/ 673 h 928"/>
              <a:gd name="T44" fmla="*/ 83 w 2637"/>
              <a:gd name="T45" fmla="*/ 564 h 928"/>
              <a:gd name="T46" fmla="*/ 28 w 2637"/>
              <a:gd name="T47" fmla="*/ 400 h 928"/>
              <a:gd name="T48" fmla="*/ 1 w 2637"/>
              <a:gd name="T49" fmla="*/ 319 h 928"/>
              <a:gd name="T50" fmla="*/ 10 w 2637"/>
              <a:gd name="T51" fmla="*/ 328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37" h="928">
                <a:moveTo>
                  <a:pt x="10" y="328"/>
                </a:moveTo>
                <a:cubicBezTo>
                  <a:pt x="14" y="291"/>
                  <a:pt x="6" y="248"/>
                  <a:pt x="28" y="219"/>
                </a:cubicBezTo>
                <a:cubicBezTo>
                  <a:pt x="124" y="92"/>
                  <a:pt x="264" y="66"/>
                  <a:pt x="410" y="37"/>
                </a:cubicBezTo>
                <a:cubicBezTo>
                  <a:pt x="516" y="16"/>
                  <a:pt x="457" y="14"/>
                  <a:pt x="583" y="10"/>
                </a:cubicBezTo>
                <a:cubicBezTo>
                  <a:pt x="728" y="5"/>
                  <a:pt x="874" y="3"/>
                  <a:pt x="1019" y="0"/>
                </a:cubicBezTo>
                <a:cubicBezTo>
                  <a:pt x="1146" y="3"/>
                  <a:pt x="1274" y="3"/>
                  <a:pt x="1401" y="10"/>
                </a:cubicBezTo>
                <a:cubicBezTo>
                  <a:pt x="1485" y="15"/>
                  <a:pt x="1571" y="41"/>
                  <a:pt x="1655" y="55"/>
                </a:cubicBezTo>
                <a:cubicBezTo>
                  <a:pt x="1733" y="86"/>
                  <a:pt x="1819" y="108"/>
                  <a:pt x="1901" y="128"/>
                </a:cubicBezTo>
                <a:cubicBezTo>
                  <a:pt x="1942" y="148"/>
                  <a:pt x="1975" y="152"/>
                  <a:pt x="2019" y="164"/>
                </a:cubicBezTo>
                <a:cubicBezTo>
                  <a:pt x="2098" y="185"/>
                  <a:pt x="2162" y="200"/>
                  <a:pt x="2246" y="210"/>
                </a:cubicBezTo>
                <a:cubicBezTo>
                  <a:pt x="2293" y="226"/>
                  <a:pt x="2338" y="230"/>
                  <a:pt x="2382" y="255"/>
                </a:cubicBezTo>
                <a:cubicBezTo>
                  <a:pt x="2439" y="287"/>
                  <a:pt x="2477" y="343"/>
                  <a:pt x="2519" y="391"/>
                </a:cubicBezTo>
                <a:cubicBezTo>
                  <a:pt x="2536" y="410"/>
                  <a:pt x="2562" y="423"/>
                  <a:pt x="2573" y="446"/>
                </a:cubicBezTo>
                <a:cubicBezTo>
                  <a:pt x="2594" y="488"/>
                  <a:pt x="2606" y="529"/>
                  <a:pt x="2619" y="573"/>
                </a:cubicBezTo>
                <a:cubicBezTo>
                  <a:pt x="2624" y="591"/>
                  <a:pt x="2637" y="628"/>
                  <a:pt x="2637" y="628"/>
                </a:cubicBezTo>
                <a:cubicBezTo>
                  <a:pt x="2634" y="654"/>
                  <a:pt x="2634" y="707"/>
                  <a:pt x="2619" y="737"/>
                </a:cubicBezTo>
                <a:cubicBezTo>
                  <a:pt x="2582" y="812"/>
                  <a:pt x="2477" y="854"/>
                  <a:pt x="2401" y="873"/>
                </a:cubicBezTo>
                <a:cubicBezTo>
                  <a:pt x="2341" y="911"/>
                  <a:pt x="2270" y="909"/>
                  <a:pt x="2201" y="919"/>
                </a:cubicBezTo>
                <a:cubicBezTo>
                  <a:pt x="1832" y="915"/>
                  <a:pt x="1500" y="928"/>
                  <a:pt x="1146" y="873"/>
                </a:cubicBezTo>
                <a:cubicBezTo>
                  <a:pt x="917" y="837"/>
                  <a:pt x="702" y="728"/>
                  <a:pt x="474" y="700"/>
                </a:cubicBezTo>
                <a:cubicBezTo>
                  <a:pt x="465" y="697"/>
                  <a:pt x="455" y="695"/>
                  <a:pt x="446" y="691"/>
                </a:cubicBezTo>
                <a:cubicBezTo>
                  <a:pt x="434" y="686"/>
                  <a:pt x="423" y="677"/>
                  <a:pt x="410" y="673"/>
                </a:cubicBezTo>
                <a:cubicBezTo>
                  <a:pt x="297" y="636"/>
                  <a:pt x="185" y="632"/>
                  <a:pt x="83" y="564"/>
                </a:cubicBezTo>
                <a:cubicBezTo>
                  <a:pt x="47" y="512"/>
                  <a:pt x="45" y="458"/>
                  <a:pt x="28" y="400"/>
                </a:cubicBezTo>
                <a:cubicBezTo>
                  <a:pt x="28" y="400"/>
                  <a:pt x="5" y="332"/>
                  <a:pt x="1" y="319"/>
                </a:cubicBezTo>
                <a:cubicBezTo>
                  <a:pt x="0" y="315"/>
                  <a:pt x="7" y="325"/>
                  <a:pt x="10" y="328"/>
                </a:cubicBezTo>
                <a:close/>
              </a:path>
            </a:pathLst>
          </a:custGeom>
          <a:noFill/>
          <a:ln w="9525" cap="flat" cmpd="sng">
            <a:solidFill>
              <a:schemeClr val="tx1"/>
            </a:solidFill>
            <a:prstDash val="solid"/>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3509" name="Text Box 21"/>
          <p:cNvSpPr txBox="1">
            <a:spLocks noChangeArrowheads="1"/>
          </p:cNvSpPr>
          <p:nvPr/>
        </p:nvSpPr>
        <p:spPr bwMode="auto">
          <a:xfrm>
            <a:off x="2819400" y="2286001"/>
            <a:ext cx="10985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atin typeface="Helvetica" panose="020B0604020202020204" pitchFamily="34" charset="0"/>
              </a:rPr>
              <a:t>Directory</a:t>
            </a:r>
          </a:p>
        </p:txBody>
      </p:sp>
      <p:sp>
        <p:nvSpPr>
          <p:cNvPr id="63510" name="Text Box 22"/>
          <p:cNvSpPr txBox="1">
            <a:spLocks noChangeArrowheads="1"/>
          </p:cNvSpPr>
          <p:nvPr/>
        </p:nvSpPr>
        <p:spPr bwMode="auto">
          <a:xfrm>
            <a:off x="2959100" y="4191001"/>
            <a:ext cx="6667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50000"/>
              </a:spcBef>
            </a:pPr>
            <a:r>
              <a:rPr lang="en-US">
                <a:latin typeface="Helvetica" panose="020B0604020202020204" pitchFamily="34" charset="0"/>
              </a:rPr>
              <a:t>Files</a:t>
            </a:r>
          </a:p>
        </p:txBody>
      </p:sp>
      <p:sp>
        <p:nvSpPr>
          <p:cNvPr id="63511" name="Rectangle 23"/>
          <p:cNvSpPr>
            <a:spLocks noChangeArrowheads="1"/>
          </p:cNvSpPr>
          <p:nvPr/>
        </p:nvSpPr>
        <p:spPr bwMode="auto">
          <a:xfrm>
            <a:off x="2514600" y="5638800"/>
            <a:ext cx="70294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sz="2000">
                <a:latin typeface="Helvetica" panose="020B0604020202020204" pitchFamily="34" charset="0"/>
              </a:rPr>
              <a:t>Both the directory structure and the files reside on disk</a:t>
            </a:r>
          </a:p>
          <a:p>
            <a:r>
              <a:rPr lang="en-US" sz="2000">
                <a:latin typeface="Helvetica" panose="020B0604020202020204" pitchFamily="34" charset="0"/>
              </a:rPr>
              <a:t>Backups of these two structures are kept on tapes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Title 2"/>
          <p:cNvSpPr>
            <a:spLocks noGrp="1"/>
          </p:cNvSpPr>
          <p:nvPr>
            <p:ph type="title" idx="4294967295"/>
          </p:nvPr>
        </p:nvSpPr>
        <p:spPr>
          <a:xfrm>
            <a:off x="646111" y="0"/>
            <a:ext cx="9404723" cy="696036"/>
          </a:xfrm>
        </p:spPr>
        <p:txBody>
          <a:bodyPr/>
          <a:lstStyle/>
          <a:p>
            <a:r>
              <a:rPr lang="en-US" b="1" dirty="0"/>
              <a:t>Disk Structure</a:t>
            </a:r>
          </a:p>
        </p:txBody>
      </p:sp>
      <p:sp>
        <p:nvSpPr>
          <p:cNvPr id="181251" name="Content Placeholder 3"/>
          <p:cNvSpPr>
            <a:spLocks noGrp="1"/>
          </p:cNvSpPr>
          <p:nvPr>
            <p:ph idx="4294967295"/>
          </p:nvPr>
        </p:nvSpPr>
        <p:spPr>
          <a:xfrm>
            <a:off x="1" y="696036"/>
            <a:ext cx="6864823" cy="6161964"/>
          </a:xfrm>
        </p:spPr>
        <p:txBody>
          <a:bodyPr>
            <a:normAutofit/>
          </a:bodyPr>
          <a:lstStyle/>
          <a:p>
            <a:r>
              <a:rPr lang="en-US" dirty="0"/>
              <a:t>Disk can be subdivided into </a:t>
            </a:r>
            <a:r>
              <a:rPr lang="en-US" dirty="0">
                <a:solidFill>
                  <a:srgbClr val="3366FF"/>
                </a:solidFill>
              </a:rPr>
              <a:t>partitions</a:t>
            </a:r>
          </a:p>
          <a:p>
            <a:r>
              <a:rPr lang="en-US" dirty="0"/>
              <a:t>Disks or partitions can be </a:t>
            </a:r>
            <a:r>
              <a:rPr lang="en-US" dirty="0">
                <a:solidFill>
                  <a:srgbClr val="3366FF"/>
                </a:solidFill>
              </a:rPr>
              <a:t>RAID </a:t>
            </a:r>
            <a:r>
              <a:rPr lang="en-US" dirty="0"/>
              <a:t>protected </a:t>
            </a:r>
            <a:r>
              <a:rPr lang="en-US" dirty="0" smtClean="0"/>
              <a:t>against</a:t>
            </a:r>
          </a:p>
          <a:p>
            <a:pPr marL="0" indent="0">
              <a:buNone/>
            </a:pPr>
            <a:r>
              <a:rPr lang="en-US" dirty="0" smtClean="0"/>
              <a:t> </a:t>
            </a:r>
            <a:r>
              <a:rPr lang="en-US" dirty="0"/>
              <a:t>failure</a:t>
            </a:r>
          </a:p>
          <a:p>
            <a:r>
              <a:rPr lang="en-US" dirty="0"/>
              <a:t>Disk or partition can be used </a:t>
            </a:r>
            <a:r>
              <a:rPr lang="en-US" dirty="0">
                <a:solidFill>
                  <a:srgbClr val="3366FF"/>
                </a:solidFill>
              </a:rPr>
              <a:t>raw </a:t>
            </a:r>
            <a:r>
              <a:rPr lang="en-US" dirty="0"/>
              <a:t>– without </a:t>
            </a:r>
            <a:r>
              <a:rPr lang="en-US" dirty="0" smtClean="0"/>
              <a:t>a</a:t>
            </a:r>
          </a:p>
          <a:p>
            <a:pPr marL="0" indent="0">
              <a:buNone/>
            </a:pPr>
            <a:r>
              <a:rPr lang="en-US" dirty="0" smtClean="0"/>
              <a:t> </a:t>
            </a:r>
            <a:r>
              <a:rPr lang="en-US" dirty="0"/>
              <a:t>file system, or </a:t>
            </a:r>
            <a:r>
              <a:rPr lang="en-US" dirty="0">
                <a:solidFill>
                  <a:srgbClr val="3366FF"/>
                </a:solidFill>
              </a:rPr>
              <a:t>formatted </a:t>
            </a:r>
            <a:r>
              <a:rPr lang="en-US" dirty="0"/>
              <a:t>with a file system</a:t>
            </a:r>
          </a:p>
          <a:p>
            <a:r>
              <a:rPr lang="en-US" dirty="0"/>
              <a:t>Partitions also known as minidisks, slices</a:t>
            </a:r>
          </a:p>
          <a:p>
            <a:r>
              <a:rPr lang="en-US" dirty="0"/>
              <a:t>Entity containing file system known as a </a:t>
            </a:r>
            <a:r>
              <a:rPr lang="en-US" dirty="0">
                <a:solidFill>
                  <a:srgbClr val="3366FF"/>
                </a:solidFill>
              </a:rPr>
              <a:t>volume</a:t>
            </a:r>
          </a:p>
          <a:p>
            <a:r>
              <a:rPr lang="en-US" dirty="0"/>
              <a:t>Each volume containing file system also tracks </a:t>
            </a:r>
            <a:r>
              <a:rPr lang="en-US" dirty="0" smtClean="0"/>
              <a:t>that</a:t>
            </a:r>
          </a:p>
          <a:p>
            <a:pPr marL="0" indent="0">
              <a:buNone/>
            </a:pPr>
            <a:r>
              <a:rPr lang="en-US" dirty="0" smtClean="0"/>
              <a:t> </a:t>
            </a:r>
            <a:r>
              <a:rPr lang="en-US" dirty="0"/>
              <a:t>file system’s info in </a:t>
            </a:r>
            <a:r>
              <a:rPr lang="en-US" dirty="0">
                <a:solidFill>
                  <a:srgbClr val="3366FF"/>
                </a:solidFill>
              </a:rPr>
              <a:t>device directory </a:t>
            </a:r>
            <a:r>
              <a:rPr lang="en-US" dirty="0"/>
              <a:t>or </a:t>
            </a:r>
            <a:r>
              <a:rPr lang="en-US" dirty="0">
                <a:solidFill>
                  <a:srgbClr val="3366FF"/>
                </a:solidFill>
              </a:rPr>
              <a:t>volume table of </a:t>
            </a:r>
            <a:r>
              <a:rPr lang="en-US" dirty="0" smtClean="0">
                <a:solidFill>
                  <a:srgbClr val="3366FF"/>
                </a:solidFill>
              </a:rPr>
              <a:t>contents</a:t>
            </a:r>
            <a:endParaRPr lang="en-US" dirty="0">
              <a:solidFill>
                <a:srgbClr val="3366FF"/>
              </a:solidFill>
            </a:endParaRPr>
          </a:p>
          <a:p>
            <a:r>
              <a:rPr lang="en-US" dirty="0"/>
              <a:t>As well as </a:t>
            </a:r>
            <a:r>
              <a:rPr lang="en-US" dirty="0">
                <a:solidFill>
                  <a:srgbClr val="3366FF"/>
                </a:solidFill>
              </a:rPr>
              <a:t>general-purpose file systems </a:t>
            </a:r>
            <a:r>
              <a:rPr lang="en-US" dirty="0"/>
              <a:t>there are </a:t>
            </a:r>
            <a:endParaRPr lang="en-US" dirty="0" smtClean="0"/>
          </a:p>
          <a:p>
            <a:pPr marL="0" indent="0">
              <a:buNone/>
            </a:pPr>
            <a:r>
              <a:rPr lang="en-US" dirty="0" smtClean="0"/>
              <a:t>many </a:t>
            </a:r>
            <a:r>
              <a:rPr lang="en-US" dirty="0">
                <a:solidFill>
                  <a:srgbClr val="3366FF"/>
                </a:solidFill>
              </a:rPr>
              <a:t>special-purpose file systems</a:t>
            </a:r>
            <a:r>
              <a:rPr lang="en-US" dirty="0"/>
              <a:t>, frequently all within </a:t>
            </a:r>
            <a:endParaRPr lang="en-US" dirty="0" smtClean="0"/>
          </a:p>
          <a:p>
            <a:pPr marL="0" indent="0">
              <a:buNone/>
            </a:pPr>
            <a:r>
              <a:rPr lang="en-US" dirty="0" smtClean="0"/>
              <a:t>the </a:t>
            </a:r>
            <a:r>
              <a:rPr lang="en-US" dirty="0"/>
              <a:t>same operating system or computer</a:t>
            </a:r>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0358" y="1241947"/>
            <a:ext cx="5231642" cy="380047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7752046" y="5219001"/>
            <a:ext cx="3948517" cy="369332"/>
          </a:xfrm>
          <a:prstGeom prst="rect">
            <a:avLst/>
          </a:prstGeom>
        </p:spPr>
        <p:txBody>
          <a:bodyPr wrap="none">
            <a:spAutoFit/>
          </a:bodyPr>
          <a:lstStyle/>
          <a:p>
            <a:r>
              <a:rPr lang="en-US" dirty="0"/>
              <a:t>A Typical File-system Organization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354842" y="277813"/>
            <a:ext cx="10252833" cy="576262"/>
          </a:xfrm>
        </p:spPr>
        <p:txBody>
          <a:bodyPr/>
          <a:lstStyle/>
          <a:p>
            <a:r>
              <a:rPr lang="en-US" b="1" dirty="0"/>
              <a:t>Operations Performed on Directory</a:t>
            </a:r>
          </a:p>
        </p:txBody>
      </p:sp>
      <p:sp>
        <p:nvSpPr>
          <p:cNvPr id="66563" name="Rectangle 3"/>
          <p:cNvSpPr>
            <a:spLocks noGrp="1" noChangeArrowheads="1"/>
          </p:cNvSpPr>
          <p:nvPr>
            <p:ph type="body" idx="1"/>
          </p:nvPr>
        </p:nvSpPr>
        <p:spPr>
          <a:xfrm>
            <a:off x="354842" y="1119116"/>
            <a:ext cx="9695011" cy="5129283"/>
          </a:xfrm>
        </p:spPr>
        <p:txBody>
          <a:bodyPr/>
          <a:lstStyle/>
          <a:p>
            <a:r>
              <a:rPr lang="en-US" dirty="0"/>
              <a:t>Search for a file</a:t>
            </a:r>
          </a:p>
          <a:p>
            <a:r>
              <a:rPr lang="en-US" dirty="0"/>
              <a:t>Create a file</a:t>
            </a:r>
          </a:p>
          <a:p>
            <a:r>
              <a:rPr lang="en-US" dirty="0"/>
              <a:t>Delete a file</a:t>
            </a:r>
          </a:p>
          <a:p>
            <a:r>
              <a:rPr lang="en-US" dirty="0"/>
              <a:t>List a directory</a:t>
            </a:r>
          </a:p>
          <a:p>
            <a:r>
              <a:rPr lang="en-US" dirty="0"/>
              <a:t>Rename a file</a:t>
            </a:r>
          </a:p>
          <a:p>
            <a:r>
              <a:rPr lang="en-US" dirty="0"/>
              <a:t>Traverse the file system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559558" y="371475"/>
            <a:ext cx="11177517" cy="624812"/>
          </a:xfrm>
        </p:spPr>
        <p:txBody>
          <a:bodyPr/>
          <a:lstStyle/>
          <a:p>
            <a:r>
              <a:rPr lang="en-US" sz="4000" b="1" dirty="0"/>
              <a:t>Organize the Directory (Logically) to Obtain</a:t>
            </a:r>
          </a:p>
        </p:txBody>
      </p:sp>
      <p:sp>
        <p:nvSpPr>
          <p:cNvPr id="67587" name="Rectangle 3"/>
          <p:cNvSpPr>
            <a:spLocks noGrp="1" noChangeArrowheads="1"/>
          </p:cNvSpPr>
          <p:nvPr>
            <p:ph type="body" idx="1"/>
          </p:nvPr>
        </p:nvSpPr>
        <p:spPr>
          <a:xfrm>
            <a:off x="559558" y="996287"/>
            <a:ext cx="11632442" cy="4767927"/>
          </a:xfrm>
        </p:spPr>
        <p:txBody>
          <a:bodyPr/>
          <a:lstStyle/>
          <a:p>
            <a:r>
              <a:rPr lang="en-US" dirty="0"/>
              <a:t>Efficiency – locating a file quickly</a:t>
            </a:r>
          </a:p>
          <a:p>
            <a:r>
              <a:rPr lang="en-US" dirty="0"/>
              <a:t>Naming – convenient to users</a:t>
            </a:r>
          </a:p>
          <a:p>
            <a:pPr lvl="1"/>
            <a:r>
              <a:rPr lang="en-US" dirty="0"/>
              <a:t>Two users can have same name for different files</a:t>
            </a:r>
          </a:p>
          <a:p>
            <a:pPr lvl="1"/>
            <a:r>
              <a:rPr lang="en-US" dirty="0"/>
              <a:t>The same file can have several different names</a:t>
            </a:r>
          </a:p>
          <a:p>
            <a:r>
              <a:rPr lang="en-US" dirty="0"/>
              <a:t>Grouping – logical grouping of files by properties, (e.g., all Java programs, all games,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646111" y="452718"/>
            <a:ext cx="9404723" cy="775581"/>
          </a:xfrm>
        </p:spPr>
        <p:txBody>
          <a:bodyPr/>
          <a:lstStyle/>
          <a:p>
            <a:r>
              <a:rPr lang="en-US" b="1" dirty="0"/>
              <a:t>Single-Level Directory</a:t>
            </a:r>
            <a:endParaRPr lang="en-US" sz="2400" b="1" dirty="0"/>
          </a:p>
        </p:txBody>
      </p:sp>
      <p:sp>
        <p:nvSpPr>
          <p:cNvPr id="68611" name="Rectangle 3"/>
          <p:cNvSpPr>
            <a:spLocks noGrp="1" noChangeArrowheads="1"/>
          </p:cNvSpPr>
          <p:nvPr>
            <p:ph type="body" idx="1"/>
          </p:nvPr>
        </p:nvSpPr>
        <p:spPr>
          <a:xfrm>
            <a:off x="2295525" y="1482726"/>
            <a:ext cx="7029450" cy="561975"/>
          </a:xfrm>
        </p:spPr>
        <p:txBody>
          <a:bodyPr/>
          <a:lstStyle/>
          <a:p>
            <a:r>
              <a:rPr lang="en-US" dirty="0"/>
              <a:t>A single directory for all users</a:t>
            </a:r>
          </a:p>
        </p:txBody>
      </p:sp>
      <p:sp>
        <p:nvSpPr>
          <p:cNvPr id="68613" name="Rectangle 5"/>
          <p:cNvSpPr>
            <a:spLocks noChangeArrowheads="1"/>
          </p:cNvSpPr>
          <p:nvPr/>
        </p:nvSpPr>
        <p:spPr bwMode="auto">
          <a:xfrm>
            <a:off x="2574926" y="4238626"/>
            <a:ext cx="7123113"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sz="2000">
                <a:latin typeface="Helvetica" panose="020B0604020202020204" pitchFamily="34" charset="0"/>
              </a:rPr>
              <a:t>Naming problem</a:t>
            </a:r>
            <a:br>
              <a:rPr lang="en-US" sz="2000">
                <a:latin typeface="Helvetica" panose="020B0604020202020204" pitchFamily="34" charset="0"/>
              </a:rPr>
            </a:br>
            <a:endParaRPr lang="en-US" sz="2000">
              <a:latin typeface="Helvetica" panose="020B0604020202020204" pitchFamily="34" charset="0"/>
            </a:endParaRPr>
          </a:p>
          <a:p>
            <a:r>
              <a:rPr lang="en-US" sz="2000">
                <a:latin typeface="Helvetica" panose="020B0604020202020204" pitchFamily="34" charset="0"/>
              </a:rPr>
              <a:t>Grouping problem</a:t>
            </a:r>
          </a:p>
        </p:txBody>
      </p:sp>
      <p:pic>
        <p:nvPicPr>
          <p:cNvPr id="6861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1" y="2100264"/>
            <a:ext cx="7077075" cy="17224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646111" y="452718"/>
            <a:ext cx="9404723" cy="780771"/>
          </a:xfrm>
        </p:spPr>
        <p:txBody>
          <a:bodyPr/>
          <a:lstStyle/>
          <a:p>
            <a:r>
              <a:rPr lang="en-US" b="1" dirty="0"/>
              <a:t>Two-Level Directory</a:t>
            </a:r>
            <a:endParaRPr lang="en-US" sz="2400" b="1" dirty="0"/>
          </a:p>
        </p:txBody>
      </p:sp>
      <p:sp>
        <p:nvSpPr>
          <p:cNvPr id="69635" name="Rectangle 3"/>
          <p:cNvSpPr>
            <a:spLocks noGrp="1" noChangeArrowheads="1"/>
          </p:cNvSpPr>
          <p:nvPr>
            <p:ph type="body" idx="1"/>
          </p:nvPr>
        </p:nvSpPr>
        <p:spPr>
          <a:xfrm>
            <a:off x="2330450" y="1233489"/>
            <a:ext cx="7869238" cy="555625"/>
          </a:xfrm>
        </p:spPr>
        <p:txBody>
          <a:bodyPr/>
          <a:lstStyle/>
          <a:p>
            <a:r>
              <a:rPr lang="en-US"/>
              <a:t>Separate directory for each user</a:t>
            </a:r>
          </a:p>
        </p:txBody>
      </p:sp>
      <p:sp>
        <p:nvSpPr>
          <p:cNvPr id="69637" name="Rectangle 5"/>
          <p:cNvSpPr>
            <a:spLocks noChangeArrowheads="1"/>
          </p:cNvSpPr>
          <p:nvPr/>
        </p:nvSpPr>
        <p:spPr bwMode="auto">
          <a:xfrm>
            <a:off x="2322513" y="4575175"/>
            <a:ext cx="7002462"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085850" indent="-228600">
              <a:defRPr sz="2400">
                <a:solidFill>
                  <a:schemeClr val="tx1"/>
                </a:solidFill>
                <a:latin typeface="Times New Roman" panose="02020603050405020304" pitchFamily="18" charset="0"/>
              </a:defRPr>
            </a:lvl3pPr>
            <a:lvl4pPr marL="1428750" indent="-228600">
              <a:defRPr sz="2400">
                <a:solidFill>
                  <a:schemeClr val="tx1"/>
                </a:solidFill>
                <a:latin typeface="Times New Roman" panose="02020603050405020304" pitchFamily="18" charset="0"/>
              </a:defRPr>
            </a:lvl4pPr>
            <a:lvl5pPr marL="1771650" indent="-228600">
              <a:defRPr sz="2400">
                <a:solidFill>
                  <a:schemeClr val="tx1"/>
                </a:solidFill>
                <a:latin typeface="Times New Roman" panose="02020603050405020304" pitchFamily="18" charset="0"/>
              </a:defRPr>
            </a:lvl5pPr>
            <a:lvl6pPr marL="2228850" indent="-228600" fontAlgn="base">
              <a:spcBef>
                <a:spcPct val="0"/>
              </a:spcBef>
              <a:spcAft>
                <a:spcPct val="0"/>
              </a:spcAft>
              <a:defRPr sz="2400">
                <a:solidFill>
                  <a:schemeClr val="tx1"/>
                </a:solidFill>
                <a:latin typeface="Times New Roman" panose="02020603050405020304" pitchFamily="18" charset="0"/>
              </a:defRPr>
            </a:lvl6pPr>
            <a:lvl7pPr marL="2686050" indent="-228600" fontAlgn="base">
              <a:spcBef>
                <a:spcPct val="0"/>
              </a:spcBef>
              <a:spcAft>
                <a:spcPct val="0"/>
              </a:spcAft>
              <a:defRPr sz="2400">
                <a:solidFill>
                  <a:schemeClr val="tx1"/>
                </a:solidFill>
                <a:latin typeface="Times New Roman" panose="02020603050405020304" pitchFamily="18" charset="0"/>
              </a:defRPr>
            </a:lvl7pPr>
            <a:lvl8pPr marL="3143250" indent="-228600" fontAlgn="base">
              <a:spcBef>
                <a:spcPct val="0"/>
              </a:spcBef>
              <a:spcAft>
                <a:spcPct val="0"/>
              </a:spcAft>
              <a:defRPr sz="2400">
                <a:solidFill>
                  <a:schemeClr val="tx1"/>
                </a:solidFill>
                <a:latin typeface="Times New Roman" panose="02020603050405020304" pitchFamily="18" charset="0"/>
              </a:defRPr>
            </a:lvl8pPr>
            <a:lvl9pPr marL="3600450" indent="-228600" fontAlgn="base">
              <a:spcBef>
                <a:spcPct val="0"/>
              </a:spcBef>
              <a:spcAft>
                <a:spcPct val="0"/>
              </a:spcAft>
              <a:defRPr sz="2400">
                <a:solidFill>
                  <a:schemeClr val="tx1"/>
                </a:solidFill>
                <a:latin typeface="Times New Roman" panose="02020603050405020304" pitchFamily="18" charset="0"/>
              </a:defRPr>
            </a:lvl9pPr>
          </a:lstStyle>
          <a:p>
            <a:pPr>
              <a:spcBef>
                <a:spcPct val="35000"/>
              </a:spcBef>
              <a:buClr>
                <a:srgbClr val="993300"/>
              </a:buClr>
              <a:buSzPct val="90000"/>
              <a:buFont typeface="Monotype Sorts" pitchFamily="2" charset="2"/>
              <a:buChar char="n"/>
            </a:pPr>
            <a:r>
              <a:rPr kumimoji="1" lang="en-US" sz="1800">
                <a:latin typeface="Helvetica" panose="020B0604020202020204" pitchFamily="34" charset="0"/>
              </a:rPr>
              <a:t>Path name</a:t>
            </a:r>
          </a:p>
          <a:p>
            <a:pPr>
              <a:spcBef>
                <a:spcPct val="35000"/>
              </a:spcBef>
              <a:buClr>
                <a:srgbClr val="993300"/>
              </a:buClr>
              <a:buSzPct val="90000"/>
              <a:buFont typeface="Monotype Sorts" pitchFamily="2" charset="2"/>
              <a:buChar char="n"/>
            </a:pPr>
            <a:r>
              <a:rPr kumimoji="1" lang="en-US" sz="1800">
                <a:latin typeface="Helvetica" panose="020B0604020202020204" pitchFamily="34" charset="0"/>
              </a:rPr>
              <a:t>Can have the same file name for different user</a:t>
            </a:r>
          </a:p>
          <a:p>
            <a:pPr>
              <a:spcBef>
                <a:spcPct val="35000"/>
              </a:spcBef>
              <a:buClr>
                <a:srgbClr val="993300"/>
              </a:buClr>
              <a:buSzPct val="90000"/>
              <a:buFont typeface="Monotype Sorts" pitchFamily="2" charset="2"/>
              <a:buChar char="n"/>
            </a:pPr>
            <a:r>
              <a:rPr kumimoji="1" lang="en-US" sz="1800">
                <a:latin typeface="Helvetica" panose="020B0604020202020204" pitchFamily="34" charset="0"/>
              </a:rPr>
              <a:t>Efficient searching</a:t>
            </a:r>
          </a:p>
          <a:p>
            <a:pPr>
              <a:spcBef>
                <a:spcPct val="35000"/>
              </a:spcBef>
              <a:buClr>
                <a:srgbClr val="993300"/>
              </a:buClr>
              <a:buSzPct val="90000"/>
              <a:buFont typeface="Monotype Sorts" pitchFamily="2" charset="2"/>
              <a:buChar char="n"/>
            </a:pPr>
            <a:r>
              <a:rPr kumimoji="1" lang="en-US" sz="1800">
                <a:latin typeface="Helvetica" panose="020B0604020202020204" pitchFamily="34" charset="0"/>
              </a:rPr>
              <a:t>No grouping capability</a:t>
            </a:r>
          </a:p>
        </p:txBody>
      </p:sp>
      <p:pic>
        <p:nvPicPr>
          <p:cNvPr id="6964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6689" y="1887539"/>
            <a:ext cx="7102475" cy="24225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646111" y="0"/>
            <a:ext cx="9404723" cy="750627"/>
          </a:xfrm>
        </p:spPr>
        <p:txBody>
          <a:bodyPr/>
          <a:lstStyle/>
          <a:p>
            <a:r>
              <a:rPr lang="en-US" b="1" dirty="0"/>
              <a:t>Tree-Structured Directories</a:t>
            </a:r>
          </a:p>
        </p:txBody>
      </p:sp>
      <p:pic>
        <p:nvPicPr>
          <p:cNvPr id="7066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9421" y="1099287"/>
            <a:ext cx="7305675" cy="46513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441278" y="1116650"/>
            <a:ext cx="4308143" cy="1754326"/>
          </a:xfrm>
          <a:prstGeom prst="rect">
            <a:avLst/>
          </a:prstGeom>
        </p:spPr>
        <p:txBody>
          <a:bodyPr wrap="square">
            <a:spAutoFit/>
          </a:bodyPr>
          <a:lstStyle/>
          <a:p>
            <a:pPr marL="285750" indent="-285750">
              <a:buFont typeface="Wingdings" panose="05000000000000000000" pitchFamily="2" charset="2"/>
              <a:buChar char="ü"/>
            </a:pPr>
            <a:r>
              <a:rPr lang="en-US" dirty="0"/>
              <a:t>Efficient </a:t>
            </a:r>
            <a:r>
              <a:rPr lang="en-US" dirty="0" smtClean="0"/>
              <a:t>searching</a:t>
            </a:r>
            <a:endParaRPr lang="en-US" dirty="0"/>
          </a:p>
          <a:p>
            <a:pPr marL="285750" indent="-285750">
              <a:buFont typeface="Wingdings" panose="05000000000000000000" pitchFamily="2" charset="2"/>
              <a:buChar char="ü"/>
            </a:pPr>
            <a:r>
              <a:rPr lang="en-US" dirty="0"/>
              <a:t>Grouping </a:t>
            </a:r>
            <a:r>
              <a:rPr lang="en-US" dirty="0" smtClean="0"/>
              <a:t>Capability</a:t>
            </a:r>
            <a:endParaRPr lang="en-US" dirty="0"/>
          </a:p>
          <a:p>
            <a:pPr marL="285750" indent="-285750">
              <a:buFont typeface="Wingdings" panose="05000000000000000000" pitchFamily="2" charset="2"/>
              <a:buChar char="ü"/>
            </a:pPr>
            <a:r>
              <a:rPr lang="en-US" dirty="0"/>
              <a:t>Current directory (working directory)</a:t>
            </a:r>
          </a:p>
          <a:p>
            <a:pPr marL="742950" lvl="1" indent="-285750">
              <a:buFont typeface="Wingdings" panose="05000000000000000000" pitchFamily="2" charset="2"/>
              <a:buChar char="ü"/>
            </a:pPr>
            <a:r>
              <a:rPr lang="en-US" dirty="0"/>
              <a:t>cd /spell/mail/</a:t>
            </a:r>
            <a:r>
              <a:rPr lang="en-US" dirty="0" err="1"/>
              <a:t>prog</a:t>
            </a:r>
            <a:endParaRPr lang="en-US" dirty="0"/>
          </a:p>
          <a:p>
            <a:pPr marL="742950" lvl="1" indent="-285750">
              <a:buFont typeface="Wingdings" panose="05000000000000000000" pitchFamily="2" charset="2"/>
              <a:buChar char="ü"/>
            </a:pPr>
            <a:r>
              <a:rPr lang="en-US" dirty="0"/>
              <a:t>type list</a:t>
            </a:r>
          </a:p>
        </p:txBody>
      </p:sp>
      <p:sp>
        <p:nvSpPr>
          <p:cNvPr id="6" name="Rectangle 5"/>
          <p:cNvSpPr/>
          <p:nvPr/>
        </p:nvSpPr>
        <p:spPr>
          <a:xfrm>
            <a:off x="441277" y="2802037"/>
            <a:ext cx="4308143" cy="1754326"/>
          </a:xfrm>
          <a:prstGeom prst="rect">
            <a:avLst/>
          </a:prstGeom>
        </p:spPr>
        <p:txBody>
          <a:bodyPr wrap="square">
            <a:spAutoFit/>
          </a:bodyPr>
          <a:lstStyle/>
          <a:p>
            <a:pPr marL="285750" indent="-285750">
              <a:buFont typeface="Wingdings" panose="05000000000000000000" pitchFamily="2" charset="2"/>
              <a:buChar char="ü"/>
            </a:pPr>
            <a:r>
              <a:rPr lang="en-US" dirty="0"/>
              <a:t>Efficient </a:t>
            </a:r>
            <a:r>
              <a:rPr lang="en-US" dirty="0" smtClean="0"/>
              <a:t>searching</a:t>
            </a:r>
            <a:endParaRPr lang="en-US" dirty="0"/>
          </a:p>
          <a:p>
            <a:pPr marL="285750" indent="-285750">
              <a:buFont typeface="Wingdings" panose="05000000000000000000" pitchFamily="2" charset="2"/>
              <a:buChar char="ü"/>
            </a:pPr>
            <a:r>
              <a:rPr lang="en-US" dirty="0"/>
              <a:t>Grouping </a:t>
            </a:r>
            <a:r>
              <a:rPr lang="en-US" dirty="0" smtClean="0"/>
              <a:t>Capability</a:t>
            </a:r>
            <a:endParaRPr lang="en-US" dirty="0"/>
          </a:p>
          <a:p>
            <a:pPr marL="285750" indent="-285750">
              <a:buFont typeface="Wingdings" panose="05000000000000000000" pitchFamily="2" charset="2"/>
              <a:buChar char="ü"/>
            </a:pPr>
            <a:r>
              <a:rPr lang="en-US" dirty="0"/>
              <a:t>Current directory (working directory)</a:t>
            </a:r>
          </a:p>
          <a:p>
            <a:pPr marL="742950" lvl="1" indent="-285750">
              <a:buFont typeface="Wingdings" panose="05000000000000000000" pitchFamily="2" charset="2"/>
              <a:buChar char="ü"/>
            </a:pPr>
            <a:r>
              <a:rPr lang="en-US" dirty="0"/>
              <a:t>cd /spell/mail/</a:t>
            </a:r>
            <a:r>
              <a:rPr lang="en-US" dirty="0" err="1"/>
              <a:t>prog</a:t>
            </a:r>
            <a:endParaRPr lang="en-US" dirty="0"/>
          </a:p>
          <a:p>
            <a:pPr marL="742950" lvl="1" indent="-285750">
              <a:buFont typeface="Wingdings" panose="05000000000000000000" pitchFamily="2" charset="2"/>
              <a:buChar char="ü"/>
            </a:pPr>
            <a:r>
              <a:rPr lang="en-US" dirty="0"/>
              <a:t>type list</a:t>
            </a:r>
          </a:p>
        </p:txBody>
      </p:sp>
      <p:sp>
        <p:nvSpPr>
          <p:cNvPr id="9" name="Rectangle 4"/>
          <p:cNvSpPr>
            <a:spLocks noChangeArrowheads="1"/>
          </p:cNvSpPr>
          <p:nvPr/>
        </p:nvSpPr>
        <p:spPr bwMode="auto">
          <a:xfrm>
            <a:off x="1622118" y="4562723"/>
            <a:ext cx="879475" cy="331787"/>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latin typeface="Helvetica" panose="020B0604020202020204" pitchFamily="34" charset="0"/>
              </a:rPr>
              <a:t>mail</a:t>
            </a:r>
          </a:p>
        </p:txBody>
      </p:sp>
      <p:sp>
        <p:nvSpPr>
          <p:cNvPr id="10" name="Rectangle 5"/>
          <p:cNvSpPr>
            <a:spLocks noChangeArrowheads="1"/>
          </p:cNvSpPr>
          <p:nvPr/>
        </p:nvSpPr>
        <p:spPr bwMode="auto">
          <a:xfrm>
            <a:off x="441278" y="5164161"/>
            <a:ext cx="720725" cy="3317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atin typeface="Helvetica" panose="020B0604020202020204" pitchFamily="34" charset="0"/>
              </a:rPr>
              <a:t>prog</a:t>
            </a:r>
          </a:p>
        </p:txBody>
      </p:sp>
      <p:sp>
        <p:nvSpPr>
          <p:cNvPr id="11" name="Rectangle 5"/>
          <p:cNvSpPr>
            <a:spLocks noChangeArrowheads="1"/>
          </p:cNvSpPr>
          <p:nvPr/>
        </p:nvSpPr>
        <p:spPr bwMode="auto">
          <a:xfrm>
            <a:off x="1162003" y="5150508"/>
            <a:ext cx="720725" cy="3317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smtClean="0">
                <a:latin typeface="Helvetica" panose="020B0604020202020204" pitchFamily="34" charset="0"/>
              </a:rPr>
              <a:t>copy</a:t>
            </a:r>
            <a:endParaRPr lang="en-US" dirty="0">
              <a:latin typeface="Helvetica" panose="020B0604020202020204" pitchFamily="34" charset="0"/>
            </a:endParaRPr>
          </a:p>
        </p:txBody>
      </p:sp>
      <p:sp>
        <p:nvSpPr>
          <p:cNvPr id="12" name="Rectangle 5"/>
          <p:cNvSpPr>
            <a:spLocks noChangeArrowheads="1"/>
          </p:cNvSpPr>
          <p:nvPr/>
        </p:nvSpPr>
        <p:spPr bwMode="auto">
          <a:xfrm>
            <a:off x="1874623" y="5150508"/>
            <a:ext cx="720725" cy="3317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err="1" smtClean="0">
                <a:latin typeface="Helvetica" panose="020B0604020202020204" pitchFamily="34" charset="0"/>
              </a:rPr>
              <a:t>prt</a:t>
            </a:r>
            <a:endParaRPr lang="en-US" dirty="0">
              <a:latin typeface="Helvetica" panose="020B0604020202020204" pitchFamily="34" charset="0"/>
            </a:endParaRPr>
          </a:p>
        </p:txBody>
      </p:sp>
      <p:sp>
        <p:nvSpPr>
          <p:cNvPr id="14" name="Rectangle 5"/>
          <p:cNvSpPr>
            <a:spLocks noChangeArrowheads="1"/>
          </p:cNvSpPr>
          <p:nvPr/>
        </p:nvSpPr>
        <p:spPr bwMode="auto">
          <a:xfrm>
            <a:off x="2601677" y="5164161"/>
            <a:ext cx="720725" cy="3317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err="1" smtClean="0">
                <a:latin typeface="Helvetica" panose="020B0604020202020204" pitchFamily="34" charset="0"/>
              </a:rPr>
              <a:t>exp</a:t>
            </a:r>
            <a:endParaRPr lang="en-US" dirty="0">
              <a:latin typeface="Helvetica" panose="020B0604020202020204" pitchFamily="34" charset="0"/>
            </a:endParaRPr>
          </a:p>
        </p:txBody>
      </p:sp>
      <p:sp>
        <p:nvSpPr>
          <p:cNvPr id="15" name="Rectangle 5"/>
          <p:cNvSpPr>
            <a:spLocks noChangeArrowheads="1"/>
          </p:cNvSpPr>
          <p:nvPr/>
        </p:nvSpPr>
        <p:spPr bwMode="auto">
          <a:xfrm>
            <a:off x="3316076" y="5150508"/>
            <a:ext cx="720725" cy="3317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smtClean="0">
                <a:latin typeface="Helvetica" panose="020B0604020202020204" pitchFamily="34" charset="0"/>
              </a:rPr>
              <a:t>Count</a:t>
            </a:r>
            <a:endParaRPr lang="en-US" dirty="0">
              <a:latin typeface="Helvetica" panose="020B0604020202020204" pitchFamily="34" charset="0"/>
            </a:endParaRPr>
          </a:p>
        </p:txBody>
      </p:sp>
      <p:sp>
        <p:nvSpPr>
          <p:cNvPr id="16" name="Line 10"/>
          <p:cNvSpPr>
            <a:spLocks noChangeShapeType="1"/>
          </p:cNvSpPr>
          <p:nvPr/>
        </p:nvSpPr>
        <p:spPr bwMode="auto">
          <a:xfrm>
            <a:off x="5405438" y="4921251"/>
            <a:ext cx="0" cy="3079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Line 10"/>
          <p:cNvSpPr>
            <a:spLocks noChangeShapeType="1"/>
          </p:cNvSpPr>
          <p:nvPr/>
        </p:nvSpPr>
        <p:spPr bwMode="auto">
          <a:xfrm>
            <a:off x="5557838" y="5073651"/>
            <a:ext cx="0" cy="3079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Line 10"/>
          <p:cNvSpPr>
            <a:spLocks noChangeShapeType="1"/>
          </p:cNvSpPr>
          <p:nvPr/>
        </p:nvSpPr>
        <p:spPr bwMode="auto">
          <a:xfrm>
            <a:off x="1747837" y="4856186"/>
            <a:ext cx="0" cy="3079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 name="Rectangle 6"/>
          <p:cNvSpPr/>
          <p:nvPr/>
        </p:nvSpPr>
        <p:spPr>
          <a:xfrm>
            <a:off x="0" y="5975771"/>
            <a:ext cx="6400800" cy="369332"/>
          </a:xfrm>
          <a:prstGeom prst="rect">
            <a:avLst/>
          </a:prstGeom>
        </p:spPr>
        <p:txBody>
          <a:bodyPr wrap="square">
            <a:spAutoFit/>
          </a:bodyPr>
          <a:lstStyle/>
          <a:p>
            <a:r>
              <a:rPr lang="en-US" dirty="0">
                <a:latin typeface="Helvetica" panose="020B0604020202020204" pitchFamily="34" charset="0"/>
              </a:rPr>
              <a:t>Deleting “mail” </a:t>
            </a:r>
            <a:r>
              <a:rPr lang="en-US" dirty="0">
                <a:latin typeface="Helvetica" panose="020B0604020202020204" pitchFamily="34" charset="0"/>
                <a:sym typeface="Symbol" panose="05050102010706020507" pitchFamily="18" charset="2"/>
              </a:rPr>
              <a:t> deleting the entire </a:t>
            </a:r>
            <a:r>
              <a:rPr lang="en-US" dirty="0" err="1">
                <a:latin typeface="Helvetica" panose="020B0604020202020204" pitchFamily="34" charset="0"/>
                <a:sym typeface="Symbol" panose="05050102010706020507" pitchFamily="18" charset="2"/>
              </a:rPr>
              <a:t>subtree</a:t>
            </a:r>
            <a:r>
              <a:rPr lang="en-US" dirty="0">
                <a:latin typeface="Helvetica" panose="020B0604020202020204" pitchFamily="34" charset="0"/>
                <a:sym typeface="Symbol" panose="05050102010706020507" pitchFamily="18" charset="2"/>
              </a:rPr>
              <a:t> rooted by “mail”</a:t>
            </a:r>
            <a:endParaRPr lang="en-US" dirty="0">
              <a:latin typeface="Helvetica"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646111" y="452718"/>
            <a:ext cx="9404723" cy="878243"/>
          </a:xfrm>
        </p:spPr>
        <p:txBody>
          <a:bodyPr/>
          <a:lstStyle/>
          <a:p>
            <a:r>
              <a:rPr lang="en-US" b="1" dirty="0"/>
              <a:t>Acyclic-Graph Directories</a:t>
            </a:r>
            <a:endParaRPr lang="en-US" sz="2400" b="1" dirty="0"/>
          </a:p>
        </p:txBody>
      </p:sp>
      <p:sp>
        <p:nvSpPr>
          <p:cNvPr id="73731" name="Rectangle 3"/>
          <p:cNvSpPr>
            <a:spLocks noGrp="1" noChangeArrowheads="1"/>
          </p:cNvSpPr>
          <p:nvPr>
            <p:ph type="body" idx="1"/>
          </p:nvPr>
        </p:nvSpPr>
        <p:spPr>
          <a:xfrm>
            <a:off x="6468565" y="1330961"/>
            <a:ext cx="5445931" cy="522287"/>
          </a:xfrm>
        </p:spPr>
        <p:txBody>
          <a:bodyPr/>
          <a:lstStyle/>
          <a:p>
            <a:r>
              <a:rPr lang="en-US" dirty="0"/>
              <a:t>Have shared subdirectories and files</a:t>
            </a:r>
          </a:p>
        </p:txBody>
      </p:sp>
      <p:pic>
        <p:nvPicPr>
          <p:cNvPr id="7373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5400" y="1853248"/>
            <a:ext cx="4965700" cy="401637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572756" y="1592104"/>
            <a:ext cx="5895809" cy="3970318"/>
          </a:xfrm>
          <a:prstGeom prst="rect">
            <a:avLst/>
          </a:prstGeom>
        </p:spPr>
        <p:txBody>
          <a:bodyPr wrap="square">
            <a:spAutoFit/>
          </a:bodyPr>
          <a:lstStyle/>
          <a:p>
            <a:pPr marL="285750" indent="-285750">
              <a:buClr>
                <a:schemeClr val="accent2"/>
              </a:buClr>
              <a:buFont typeface="Wingdings" panose="05000000000000000000" pitchFamily="2" charset="2"/>
              <a:buChar char="q"/>
            </a:pPr>
            <a:r>
              <a:rPr lang="en-US" dirty="0"/>
              <a:t>Two different names (aliasing)</a:t>
            </a:r>
            <a:br>
              <a:rPr lang="en-US" dirty="0"/>
            </a:br>
            <a:endParaRPr lang="en-US" dirty="0"/>
          </a:p>
          <a:p>
            <a:pPr marL="285750" indent="-285750">
              <a:buClr>
                <a:schemeClr val="accent2"/>
              </a:buClr>
              <a:buFont typeface="Wingdings" panose="05000000000000000000" pitchFamily="2" charset="2"/>
              <a:buChar char="q"/>
            </a:pPr>
            <a:r>
              <a:rPr lang="en-US" dirty="0"/>
              <a:t>If </a:t>
            </a:r>
            <a:r>
              <a:rPr lang="en-US" i="1" dirty="0" err="1"/>
              <a:t>dict</a:t>
            </a:r>
            <a:r>
              <a:rPr lang="en-US" dirty="0"/>
              <a:t> deletes </a:t>
            </a:r>
            <a:r>
              <a:rPr lang="en-US" i="1" dirty="0"/>
              <a:t>list</a:t>
            </a:r>
            <a:r>
              <a:rPr lang="en-US" dirty="0"/>
              <a:t> </a:t>
            </a:r>
            <a:r>
              <a:rPr lang="en-US" dirty="0">
                <a:sym typeface="Symbol" panose="05050102010706020507" pitchFamily="18" charset="2"/>
              </a:rPr>
              <a:t> dangling pointer</a:t>
            </a:r>
          </a:p>
          <a:p>
            <a:pPr marL="285750" indent="-285750">
              <a:buClr>
                <a:schemeClr val="accent2"/>
              </a:buClr>
              <a:buFont typeface="Wingdings" panose="05000000000000000000" pitchFamily="2" charset="2"/>
              <a:buChar char="q"/>
            </a:pPr>
            <a:r>
              <a:rPr lang="en-US" dirty="0"/>
              <a:t>	Solutions:</a:t>
            </a:r>
          </a:p>
          <a:p>
            <a:pPr marL="742950" lvl="1" indent="-285750">
              <a:buClr>
                <a:schemeClr val="accent2"/>
              </a:buClr>
              <a:buFont typeface="Wingdings" panose="05000000000000000000" pitchFamily="2" charset="2"/>
              <a:buChar char="q"/>
            </a:pPr>
            <a:r>
              <a:rPr lang="en-US" dirty="0" err="1"/>
              <a:t>Backpointers</a:t>
            </a:r>
            <a:r>
              <a:rPr lang="en-US" dirty="0"/>
              <a:t>, so we can delete all pointers</a:t>
            </a:r>
            <a:br>
              <a:rPr lang="en-US" dirty="0"/>
            </a:br>
            <a:r>
              <a:rPr lang="en-US" dirty="0"/>
              <a:t>Variable size records a problem</a:t>
            </a:r>
          </a:p>
          <a:p>
            <a:pPr marL="742950" lvl="1" indent="-285750">
              <a:buClr>
                <a:schemeClr val="accent2"/>
              </a:buClr>
              <a:buFont typeface="Wingdings" panose="05000000000000000000" pitchFamily="2" charset="2"/>
              <a:buChar char="q"/>
            </a:pPr>
            <a:r>
              <a:rPr lang="en-US" dirty="0" err="1"/>
              <a:t>Backpointers</a:t>
            </a:r>
            <a:r>
              <a:rPr lang="en-US" dirty="0"/>
              <a:t> using a daisy chain organization</a:t>
            </a:r>
          </a:p>
          <a:p>
            <a:pPr marL="742950" lvl="1" indent="-285750">
              <a:buClr>
                <a:schemeClr val="accent2"/>
              </a:buClr>
              <a:buFont typeface="Wingdings" panose="05000000000000000000" pitchFamily="2" charset="2"/>
              <a:buChar char="q"/>
            </a:pPr>
            <a:r>
              <a:rPr lang="en-US" dirty="0"/>
              <a:t>Entry-hold-count solution</a:t>
            </a:r>
          </a:p>
          <a:p>
            <a:pPr marL="285750" indent="-285750">
              <a:buClr>
                <a:schemeClr val="accent2"/>
              </a:buClr>
              <a:buFont typeface="Wingdings" panose="05000000000000000000" pitchFamily="2" charset="2"/>
              <a:buChar char="q"/>
            </a:pPr>
            <a:r>
              <a:rPr lang="en-US" dirty="0"/>
              <a:t>New directory entry type</a:t>
            </a:r>
          </a:p>
          <a:p>
            <a:pPr marL="742950" lvl="1" indent="-285750">
              <a:buClr>
                <a:schemeClr val="accent2"/>
              </a:buClr>
              <a:buFont typeface="Wingdings" panose="05000000000000000000" pitchFamily="2" charset="2"/>
              <a:buChar char="q"/>
            </a:pPr>
            <a:r>
              <a:rPr lang="en-US" b="1" dirty="0"/>
              <a:t>Link</a:t>
            </a:r>
            <a:r>
              <a:rPr lang="en-US" dirty="0"/>
              <a:t> – another name (pointer) to an existing file</a:t>
            </a:r>
          </a:p>
          <a:p>
            <a:pPr marL="742950" lvl="1" indent="-285750">
              <a:buClr>
                <a:schemeClr val="accent2"/>
              </a:buClr>
              <a:buFont typeface="Wingdings" panose="05000000000000000000" pitchFamily="2" charset="2"/>
              <a:buChar char="q"/>
            </a:pPr>
            <a:r>
              <a:rPr lang="en-US" b="1" dirty="0"/>
              <a:t>Resolve the link</a:t>
            </a:r>
            <a:r>
              <a:rPr lang="en-US" dirty="0"/>
              <a:t> – follow pointer to locate the file</a:t>
            </a:r>
            <a:endParaRPr lang="en-US"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US" b="1" dirty="0"/>
              <a:t>General Graph Directory</a:t>
            </a:r>
            <a:endParaRPr lang="en-US" sz="2400" b="1" dirty="0"/>
          </a:p>
        </p:txBody>
      </p:sp>
      <p:pic>
        <p:nvPicPr>
          <p:cNvPr id="7578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5232" y="1411549"/>
            <a:ext cx="6621462" cy="444817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0" y="1637437"/>
            <a:ext cx="5125232" cy="2308324"/>
          </a:xfrm>
          <a:prstGeom prst="rect">
            <a:avLst/>
          </a:prstGeom>
        </p:spPr>
        <p:txBody>
          <a:bodyPr wrap="square">
            <a:spAutoFit/>
          </a:bodyPr>
          <a:lstStyle/>
          <a:p>
            <a:pPr marL="285750" indent="-285750">
              <a:buFont typeface="Wingdings" panose="05000000000000000000" pitchFamily="2" charset="2"/>
              <a:buChar char="q"/>
            </a:pPr>
            <a:r>
              <a:rPr lang="en-US" dirty="0"/>
              <a:t>How do we guarantee no cycles?</a:t>
            </a:r>
          </a:p>
          <a:p>
            <a:pPr marL="742950" lvl="1" indent="-285750">
              <a:buFont typeface="Wingdings" panose="05000000000000000000" pitchFamily="2" charset="2"/>
              <a:buChar char="q"/>
            </a:pPr>
            <a:r>
              <a:rPr lang="en-US" dirty="0"/>
              <a:t>Allow only links to file not subdirectories</a:t>
            </a:r>
          </a:p>
          <a:p>
            <a:pPr marL="742950" lvl="1" indent="-285750">
              <a:buFont typeface="Wingdings" panose="05000000000000000000" pitchFamily="2" charset="2"/>
              <a:buChar char="q"/>
            </a:pPr>
            <a:r>
              <a:rPr lang="en-US" dirty="0"/>
              <a:t>Garbage collection</a:t>
            </a:r>
          </a:p>
          <a:p>
            <a:pPr marL="742950" lvl="1" indent="-285750">
              <a:buFont typeface="Wingdings" panose="05000000000000000000" pitchFamily="2" charset="2"/>
              <a:buChar char="q"/>
            </a:pPr>
            <a:r>
              <a:rPr lang="en-US" dirty="0"/>
              <a:t>Every time a new link is added use a cycle detection</a:t>
            </a:r>
            <a:br>
              <a:rPr lang="en-US" dirty="0"/>
            </a:br>
            <a:r>
              <a:rPr lang="en-US" dirty="0"/>
              <a:t>algorithm to determine whether it is OK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646111" y="95534"/>
            <a:ext cx="9404723" cy="805218"/>
          </a:xfrm>
        </p:spPr>
        <p:txBody>
          <a:bodyPr/>
          <a:lstStyle/>
          <a:p>
            <a:r>
              <a:rPr lang="en-US" b="1" dirty="0"/>
              <a:t>File System Mounting</a:t>
            </a:r>
          </a:p>
        </p:txBody>
      </p:sp>
      <p:sp>
        <p:nvSpPr>
          <p:cNvPr id="77827" name="Rectangle 3"/>
          <p:cNvSpPr>
            <a:spLocks noGrp="1" noChangeArrowheads="1"/>
          </p:cNvSpPr>
          <p:nvPr>
            <p:ph type="body" idx="1"/>
          </p:nvPr>
        </p:nvSpPr>
        <p:spPr>
          <a:xfrm>
            <a:off x="646111" y="900752"/>
            <a:ext cx="11186498" cy="3399786"/>
          </a:xfrm>
        </p:spPr>
        <p:txBody>
          <a:bodyPr/>
          <a:lstStyle/>
          <a:p>
            <a:r>
              <a:rPr lang="en-US" dirty="0"/>
              <a:t>A file system must be </a:t>
            </a:r>
            <a:r>
              <a:rPr lang="en-US" b="1" dirty="0"/>
              <a:t>mounted</a:t>
            </a:r>
            <a:r>
              <a:rPr lang="en-US" dirty="0"/>
              <a:t> before it can be accessed</a:t>
            </a:r>
          </a:p>
          <a:p>
            <a:r>
              <a:rPr lang="en-US" dirty="0"/>
              <a:t>A </a:t>
            </a:r>
            <a:r>
              <a:rPr lang="en-US" dirty="0" err="1"/>
              <a:t>unmounted</a:t>
            </a:r>
            <a:r>
              <a:rPr lang="en-US" dirty="0"/>
              <a:t> file system (i.e. Fig. 11-11(b)) is mounted at a </a:t>
            </a:r>
            <a:r>
              <a:rPr lang="en-US" b="1" dirty="0"/>
              <a:t>mount point</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354842" y="277813"/>
            <a:ext cx="10379833" cy="576262"/>
          </a:xfrm>
        </p:spPr>
        <p:txBody>
          <a:bodyPr/>
          <a:lstStyle/>
          <a:p>
            <a:r>
              <a:rPr lang="en-US" b="1" dirty="0"/>
              <a:t>(a) Existing.  (b) </a:t>
            </a:r>
            <a:r>
              <a:rPr lang="en-US" b="1" dirty="0" err="1"/>
              <a:t>Unmounted</a:t>
            </a:r>
            <a:r>
              <a:rPr lang="en-US" b="1" dirty="0"/>
              <a:t> Partition</a:t>
            </a:r>
          </a:p>
        </p:txBody>
      </p:sp>
      <p:pic>
        <p:nvPicPr>
          <p:cNvPr id="78852" name="Picture 4"/>
          <p:cNvPicPr>
            <a:picLocks noChangeAspect="1" noChangeArrowheads="1"/>
          </p:cNvPicPr>
          <p:nvPr/>
        </p:nvPicPr>
        <p:blipFill>
          <a:blip r:embed="rId3">
            <a:extLst>
              <a:ext uri="{28A0092B-C50C-407E-A947-70E740481C1C}">
                <a14:useLocalDpi xmlns:a14="http://schemas.microsoft.com/office/drawing/2010/main" val="0"/>
              </a:ext>
            </a:extLst>
          </a:blip>
          <a:srcRect l="821" t="11902" r="1038" b="12450"/>
          <a:stretch>
            <a:fillRect/>
          </a:stretch>
        </p:blipFill>
        <p:spPr bwMode="auto">
          <a:xfrm>
            <a:off x="2574925" y="1409700"/>
            <a:ext cx="7208838" cy="416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mpd="dbl">
                <a:solidFill>
                  <a:srgbClr val="CC66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lstStyle/>
          <a:p>
            <a:r>
              <a:rPr lang="en-US" b="1" dirty="0"/>
              <a:t>Mount Point</a:t>
            </a:r>
            <a:endParaRPr lang="en-US" sz="2400" b="1" dirty="0"/>
          </a:p>
        </p:txBody>
      </p:sp>
      <p:pic>
        <p:nvPicPr>
          <p:cNvPr id="798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2725" y="1323976"/>
            <a:ext cx="4095750" cy="46974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646111" y="0"/>
            <a:ext cx="9404723" cy="641445"/>
          </a:xfrm>
        </p:spPr>
        <p:txBody>
          <a:bodyPr/>
          <a:lstStyle/>
          <a:p>
            <a:r>
              <a:rPr lang="en-US" b="1" dirty="0"/>
              <a:t>File Sharing</a:t>
            </a:r>
          </a:p>
        </p:txBody>
      </p:sp>
      <p:sp>
        <p:nvSpPr>
          <p:cNvPr id="80899" name="Rectangle 3"/>
          <p:cNvSpPr>
            <a:spLocks noGrp="1" noChangeArrowheads="1"/>
          </p:cNvSpPr>
          <p:nvPr>
            <p:ph type="body" idx="1"/>
          </p:nvPr>
        </p:nvSpPr>
        <p:spPr>
          <a:xfrm>
            <a:off x="646112" y="641446"/>
            <a:ext cx="11009076" cy="5606954"/>
          </a:xfrm>
        </p:spPr>
        <p:txBody>
          <a:bodyPr/>
          <a:lstStyle/>
          <a:p>
            <a:r>
              <a:rPr lang="en-US" dirty="0"/>
              <a:t>Sharing of files on multi-user systems is </a:t>
            </a:r>
            <a:r>
              <a:rPr lang="en-US" dirty="0" smtClean="0"/>
              <a:t>desirable</a:t>
            </a:r>
            <a:endParaRPr lang="en-US" dirty="0"/>
          </a:p>
          <a:p>
            <a:r>
              <a:rPr lang="en-US" dirty="0"/>
              <a:t>Sharing may be done through a </a:t>
            </a:r>
            <a:r>
              <a:rPr lang="en-US" b="1" dirty="0"/>
              <a:t>protection</a:t>
            </a:r>
            <a:r>
              <a:rPr lang="en-US" dirty="0"/>
              <a:t> </a:t>
            </a:r>
            <a:r>
              <a:rPr lang="en-US" dirty="0" smtClean="0"/>
              <a:t>scheme</a:t>
            </a:r>
            <a:endParaRPr lang="en-US" dirty="0"/>
          </a:p>
          <a:p>
            <a:r>
              <a:rPr lang="en-US" dirty="0"/>
              <a:t>On distributed systems, files may be shared across a </a:t>
            </a:r>
            <a:r>
              <a:rPr lang="en-US" dirty="0" smtClean="0"/>
              <a:t>network</a:t>
            </a:r>
            <a:endParaRPr lang="en-US" dirty="0"/>
          </a:p>
          <a:p>
            <a:r>
              <a:rPr lang="en-US" dirty="0"/>
              <a:t>Network File System (NFS) is a common distributed file-sharing </a:t>
            </a:r>
            <a:r>
              <a:rPr lang="en-US" dirty="0" smtClean="0"/>
              <a:t>method</a:t>
            </a:r>
          </a:p>
          <a:p>
            <a:endParaRPr lang="en-US" dirty="0"/>
          </a:p>
          <a:p>
            <a:endParaRPr lang="en-US" dirty="0" smtClean="0"/>
          </a:p>
          <a:p>
            <a:r>
              <a:rPr lang="en-US" b="1" dirty="0"/>
              <a:t>User IDs</a:t>
            </a:r>
            <a:r>
              <a:rPr lang="en-US" dirty="0"/>
              <a:t> identify users, allowing permissions and protections to be per-user</a:t>
            </a:r>
            <a:br>
              <a:rPr lang="en-US" dirty="0"/>
            </a:br>
            <a:endParaRPr lang="en-US" dirty="0"/>
          </a:p>
          <a:p>
            <a:r>
              <a:rPr lang="en-US" b="1" dirty="0"/>
              <a:t>Group IDs</a:t>
            </a:r>
            <a:r>
              <a:rPr lang="en-US" dirty="0"/>
              <a:t> allow users to be in groups, permitting group access rights</a:t>
            </a:r>
          </a:p>
          <a:p>
            <a:pPr marL="0" indent="0">
              <a:buNone/>
            </a:pPr>
            <a:endParaRPr lang="en-US" dirty="0"/>
          </a:p>
        </p:txBody>
      </p:sp>
      <p:sp>
        <p:nvSpPr>
          <p:cNvPr id="2" name="Rectangle 1"/>
          <p:cNvSpPr/>
          <p:nvPr/>
        </p:nvSpPr>
        <p:spPr>
          <a:xfrm>
            <a:off x="645132" y="2561946"/>
            <a:ext cx="6918882" cy="707886"/>
          </a:xfrm>
          <a:prstGeom prst="rect">
            <a:avLst/>
          </a:prstGeom>
        </p:spPr>
        <p:txBody>
          <a:bodyPr wrap="none">
            <a:spAutoFit/>
          </a:bodyPr>
          <a:lstStyle/>
          <a:p>
            <a:r>
              <a:rPr lang="en-US" sz="4000" b="1" dirty="0"/>
              <a:t>File Sharing – Multiple Users</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532263" y="277813"/>
            <a:ext cx="10154787" cy="576262"/>
          </a:xfrm>
        </p:spPr>
        <p:txBody>
          <a:bodyPr/>
          <a:lstStyle/>
          <a:p>
            <a:r>
              <a:rPr lang="en-US" b="1" dirty="0"/>
              <a:t>File Sharing – Remote File Systems</a:t>
            </a:r>
          </a:p>
        </p:txBody>
      </p:sp>
      <p:sp>
        <p:nvSpPr>
          <p:cNvPr id="82947" name="Rectangle 3"/>
          <p:cNvSpPr>
            <a:spLocks noGrp="1" noChangeArrowheads="1"/>
          </p:cNvSpPr>
          <p:nvPr>
            <p:ph type="body" idx="1"/>
          </p:nvPr>
        </p:nvSpPr>
        <p:spPr>
          <a:xfrm>
            <a:off x="532263" y="1250951"/>
            <a:ext cx="11505062" cy="5237163"/>
          </a:xfrm>
        </p:spPr>
        <p:txBody>
          <a:bodyPr>
            <a:normAutofit/>
          </a:bodyPr>
          <a:lstStyle/>
          <a:p>
            <a:pPr>
              <a:lnSpc>
                <a:spcPct val="90000"/>
              </a:lnSpc>
            </a:pPr>
            <a:r>
              <a:rPr lang="en-US" dirty="0"/>
              <a:t>Uses networking to allow file system access between systems</a:t>
            </a:r>
          </a:p>
          <a:p>
            <a:pPr lvl="1">
              <a:lnSpc>
                <a:spcPct val="90000"/>
              </a:lnSpc>
            </a:pPr>
            <a:r>
              <a:rPr lang="en-US" dirty="0"/>
              <a:t>Manually via programs like FTP</a:t>
            </a:r>
          </a:p>
          <a:p>
            <a:pPr lvl="1">
              <a:lnSpc>
                <a:spcPct val="90000"/>
              </a:lnSpc>
            </a:pPr>
            <a:r>
              <a:rPr lang="en-US" dirty="0"/>
              <a:t>Automatically, seamlessly using </a:t>
            </a:r>
            <a:r>
              <a:rPr lang="en-US" b="1" dirty="0"/>
              <a:t>distributed file systems</a:t>
            </a:r>
          </a:p>
          <a:p>
            <a:pPr lvl="1">
              <a:lnSpc>
                <a:spcPct val="90000"/>
              </a:lnSpc>
            </a:pPr>
            <a:r>
              <a:rPr lang="en-US" dirty="0"/>
              <a:t>Semi automatically via the</a:t>
            </a:r>
            <a:r>
              <a:rPr lang="en-US" b="1" dirty="0">
                <a:solidFill>
                  <a:schemeClr val="tx2"/>
                </a:solidFill>
              </a:rPr>
              <a:t> </a:t>
            </a:r>
            <a:r>
              <a:rPr lang="en-US" b="1" dirty="0"/>
              <a:t>world wide web</a:t>
            </a:r>
          </a:p>
          <a:p>
            <a:pPr>
              <a:lnSpc>
                <a:spcPct val="90000"/>
              </a:lnSpc>
            </a:pPr>
            <a:r>
              <a:rPr lang="en-US" sz="1600" b="1" dirty="0"/>
              <a:t>Client-server</a:t>
            </a:r>
            <a:r>
              <a:rPr lang="en-US" dirty="0"/>
              <a:t> model allows clients to mount remote file systems from servers</a:t>
            </a:r>
          </a:p>
          <a:p>
            <a:pPr lvl="1">
              <a:lnSpc>
                <a:spcPct val="90000"/>
              </a:lnSpc>
            </a:pPr>
            <a:r>
              <a:rPr lang="en-US" dirty="0"/>
              <a:t>Server can serve multiple clients</a:t>
            </a:r>
          </a:p>
          <a:p>
            <a:pPr lvl="1">
              <a:lnSpc>
                <a:spcPct val="90000"/>
              </a:lnSpc>
            </a:pPr>
            <a:r>
              <a:rPr lang="en-US" dirty="0"/>
              <a:t>Client and user-on-client identification is insecure or complicated</a:t>
            </a:r>
          </a:p>
          <a:p>
            <a:pPr lvl="1">
              <a:lnSpc>
                <a:spcPct val="90000"/>
              </a:lnSpc>
            </a:pPr>
            <a:r>
              <a:rPr lang="en-US" b="1" dirty="0"/>
              <a:t>NFS</a:t>
            </a:r>
            <a:r>
              <a:rPr lang="en-US" dirty="0"/>
              <a:t> is standard UNIX client-server file sharing protocol</a:t>
            </a:r>
          </a:p>
          <a:p>
            <a:pPr lvl="1">
              <a:lnSpc>
                <a:spcPct val="90000"/>
              </a:lnSpc>
            </a:pPr>
            <a:r>
              <a:rPr lang="en-US" b="1" dirty="0"/>
              <a:t>CIFS</a:t>
            </a:r>
            <a:r>
              <a:rPr lang="en-US" dirty="0"/>
              <a:t> is standard Windows protocol</a:t>
            </a:r>
          </a:p>
          <a:p>
            <a:pPr lvl="1">
              <a:lnSpc>
                <a:spcPct val="90000"/>
              </a:lnSpc>
            </a:pPr>
            <a:r>
              <a:rPr lang="en-US" dirty="0"/>
              <a:t>Standard operating system file calls are translated into remote calls</a:t>
            </a:r>
          </a:p>
          <a:p>
            <a:pPr>
              <a:lnSpc>
                <a:spcPct val="90000"/>
              </a:lnSpc>
            </a:pPr>
            <a:r>
              <a:rPr lang="en-US" dirty="0"/>
              <a:t>Distributed Information Systems </a:t>
            </a:r>
            <a:r>
              <a:rPr lang="en-US" sz="1600" b="1" dirty="0"/>
              <a:t>(distributed naming services)</a:t>
            </a:r>
            <a:r>
              <a:rPr lang="en-US" dirty="0"/>
              <a:t> such as LDAP, DNS, NIS, Active Directory implement unified access to information needed for remote computing</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646111" y="0"/>
            <a:ext cx="9404723" cy="859809"/>
          </a:xfrm>
        </p:spPr>
        <p:txBody>
          <a:bodyPr/>
          <a:lstStyle/>
          <a:p>
            <a:r>
              <a:rPr lang="en-US" b="1" dirty="0"/>
              <a:t>File Sharing – Failure Modes</a:t>
            </a:r>
          </a:p>
        </p:txBody>
      </p:sp>
      <p:sp>
        <p:nvSpPr>
          <p:cNvPr id="83971" name="Rectangle 3"/>
          <p:cNvSpPr>
            <a:spLocks noGrp="1" noChangeArrowheads="1"/>
          </p:cNvSpPr>
          <p:nvPr>
            <p:ph type="body" idx="1"/>
          </p:nvPr>
        </p:nvSpPr>
        <p:spPr>
          <a:xfrm>
            <a:off x="646111" y="859809"/>
            <a:ext cx="11254737" cy="4802805"/>
          </a:xfrm>
        </p:spPr>
        <p:txBody>
          <a:bodyPr/>
          <a:lstStyle/>
          <a:p>
            <a:r>
              <a:rPr lang="en-US" dirty="0"/>
              <a:t>Remote file systems add new failure modes, due to network failure, server failure</a:t>
            </a:r>
          </a:p>
          <a:p>
            <a:r>
              <a:rPr lang="en-US" dirty="0"/>
              <a:t>Recovery from failure can involve state information about status of each remote request</a:t>
            </a:r>
          </a:p>
          <a:p>
            <a:r>
              <a:rPr lang="en-US" dirty="0"/>
              <a:t>Stateless protocols such as NFS include all information in each request, allowing easy recovery but less security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723331" y="277813"/>
            <a:ext cx="9979594" cy="576262"/>
          </a:xfrm>
        </p:spPr>
        <p:txBody>
          <a:bodyPr/>
          <a:lstStyle/>
          <a:p>
            <a:r>
              <a:rPr lang="en-US" b="1" dirty="0"/>
              <a:t>File Sharing – Consistency Semantics</a:t>
            </a:r>
          </a:p>
        </p:txBody>
      </p:sp>
      <p:sp>
        <p:nvSpPr>
          <p:cNvPr id="84995" name="Rectangle 3"/>
          <p:cNvSpPr>
            <a:spLocks noGrp="1" noChangeArrowheads="1"/>
          </p:cNvSpPr>
          <p:nvPr>
            <p:ph type="body" idx="1"/>
          </p:nvPr>
        </p:nvSpPr>
        <p:spPr>
          <a:xfrm>
            <a:off x="723330" y="1009934"/>
            <a:ext cx="11122927" cy="5238465"/>
          </a:xfrm>
        </p:spPr>
        <p:txBody>
          <a:bodyPr/>
          <a:lstStyle/>
          <a:p>
            <a:pPr>
              <a:lnSpc>
                <a:spcPct val="90000"/>
              </a:lnSpc>
            </a:pPr>
            <a:r>
              <a:rPr lang="en-US" b="1" dirty="0"/>
              <a:t>Consistency semantics</a:t>
            </a:r>
            <a:r>
              <a:rPr lang="en-US" dirty="0"/>
              <a:t> specify how multiple users are to access a shared file simultaneously</a:t>
            </a:r>
          </a:p>
          <a:p>
            <a:pPr lvl="1">
              <a:lnSpc>
                <a:spcPct val="90000"/>
              </a:lnSpc>
            </a:pPr>
            <a:r>
              <a:rPr lang="en-US" dirty="0"/>
              <a:t>Similar to </a:t>
            </a:r>
            <a:r>
              <a:rPr lang="en-US" dirty="0" err="1"/>
              <a:t>Ch</a:t>
            </a:r>
            <a:r>
              <a:rPr lang="en-US" dirty="0"/>
              <a:t> 7 process synchronization algorithms</a:t>
            </a:r>
          </a:p>
          <a:p>
            <a:pPr lvl="2">
              <a:lnSpc>
                <a:spcPct val="90000"/>
              </a:lnSpc>
            </a:pPr>
            <a:r>
              <a:rPr lang="en-US" dirty="0"/>
              <a:t>Tend to be less complex due to disk I/O and network latency (for remote file systems</a:t>
            </a:r>
          </a:p>
          <a:p>
            <a:pPr lvl="1">
              <a:lnSpc>
                <a:spcPct val="90000"/>
              </a:lnSpc>
            </a:pPr>
            <a:r>
              <a:rPr lang="en-US" dirty="0"/>
              <a:t>Andrew File System (AFS) implemented complex remote file sharing semantics</a:t>
            </a:r>
          </a:p>
          <a:p>
            <a:pPr lvl="1">
              <a:lnSpc>
                <a:spcPct val="90000"/>
              </a:lnSpc>
            </a:pPr>
            <a:r>
              <a:rPr lang="en-US" dirty="0"/>
              <a:t>Unix file system (UFS) implements:</a:t>
            </a:r>
          </a:p>
          <a:p>
            <a:pPr lvl="2">
              <a:lnSpc>
                <a:spcPct val="90000"/>
              </a:lnSpc>
            </a:pPr>
            <a:r>
              <a:rPr lang="en-US" dirty="0"/>
              <a:t>Writes to an open file visible immediately to other users of the same open file</a:t>
            </a:r>
          </a:p>
          <a:p>
            <a:pPr lvl="2">
              <a:lnSpc>
                <a:spcPct val="90000"/>
              </a:lnSpc>
            </a:pPr>
            <a:r>
              <a:rPr lang="en-US" dirty="0"/>
              <a:t>Sharing file pointer to allow multiple users to read and write concurrently</a:t>
            </a:r>
          </a:p>
          <a:p>
            <a:pPr lvl="1">
              <a:lnSpc>
                <a:spcPct val="90000"/>
              </a:lnSpc>
            </a:pPr>
            <a:r>
              <a:rPr lang="en-US" dirty="0"/>
              <a:t>AFS has session semantics</a:t>
            </a:r>
          </a:p>
          <a:p>
            <a:pPr lvl="2">
              <a:lnSpc>
                <a:spcPct val="90000"/>
              </a:lnSpc>
            </a:pPr>
            <a:r>
              <a:rPr lang="en-US" dirty="0"/>
              <a:t>Writes only visible to sessions starting after the file is closed</a:t>
            </a:r>
          </a:p>
          <a:p>
            <a:pPr lvl="2">
              <a:lnSpc>
                <a:spcPct val="90000"/>
              </a:lnSpc>
            </a:pPr>
            <a:endParaRPr lang="en-US" dirty="0"/>
          </a:p>
          <a:p>
            <a:pPr>
              <a:lnSpc>
                <a:spcPct val="90000"/>
              </a:lnSpc>
            </a:pP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46111" y="452718"/>
            <a:ext cx="10626940" cy="843819"/>
          </a:xfrm>
        </p:spPr>
        <p:txBody>
          <a:bodyPr/>
          <a:lstStyle/>
          <a:p>
            <a:pPr eaLnBrk="1" hangingPunct="1"/>
            <a:r>
              <a:rPr lang="en-US" sz="2800" dirty="0"/>
              <a:t> </a:t>
            </a:r>
            <a:r>
              <a:rPr lang="en-US" sz="4000" b="1" dirty="0"/>
              <a:t>Chapter </a:t>
            </a:r>
            <a:r>
              <a:rPr lang="en-US" sz="4000" b="1" dirty="0" smtClean="0"/>
              <a:t>2 : </a:t>
            </a:r>
            <a:r>
              <a:rPr lang="en-US" sz="4000" b="1" dirty="0"/>
              <a:t>File System Implementation</a:t>
            </a:r>
          </a:p>
        </p:txBody>
      </p:sp>
      <p:sp>
        <p:nvSpPr>
          <p:cNvPr id="16387" name="Rectangle 3"/>
          <p:cNvSpPr>
            <a:spLocks noGrp="1" noChangeArrowheads="1"/>
          </p:cNvSpPr>
          <p:nvPr>
            <p:ph type="body" idx="1"/>
          </p:nvPr>
        </p:nvSpPr>
        <p:spPr>
          <a:xfrm>
            <a:off x="646112" y="1296538"/>
            <a:ext cx="9403742" cy="4951862"/>
          </a:xfrm>
        </p:spPr>
        <p:txBody>
          <a:bodyPr/>
          <a:lstStyle/>
          <a:p>
            <a:r>
              <a:rPr lang="en-US" dirty="0" smtClean="0"/>
              <a:t>File-System Structure</a:t>
            </a:r>
          </a:p>
          <a:p>
            <a:r>
              <a:rPr lang="en-US" dirty="0" smtClean="0"/>
              <a:t>File-System Implementation </a:t>
            </a:r>
          </a:p>
          <a:p>
            <a:r>
              <a:rPr lang="en-US" dirty="0" smtClean="0"/>
              <a:t>Directory Implementation</a:t>
            </a:r>
          </a:p>
          <a:p>
            <a:r>
              <a:rPr lang="en-US" dirty="0" smtClean="0"/>
              <a:t>Allocation Methods</a:t>
            </a:r>
          </a:p>
          <a:p>
            <a:r>
              <a:rPr lang="en-US" dirty="0" smtClean="0"/>
              <a:t>Free-Space Management </a:t>
            </a:r>
          </a:p>
        </p:txBody>
      </p:sp>
      <p:sp>
        <p:nvSpPr>
          <p:cNvPr id="16388" name="Rectangle 4"/>
          <p:cNvSpPr>
            <a:spLocks noChangeArrowheads="1"/>
          </p:cNvSpPr>
          <p:nvPr/>
        </p:nvSpPr>
        <p:spPr bwMode="auto">
          <a:xfrm>
            <a:off x="2498725" y="1531938"/>
            <a:ext cx="702945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a:latin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46111" y="177422"/>
            <a:ext cx="9404723" cy="914400"/>
          </a:xfrm>
        </p:spPr>
        <p:txBody>
          <a:bodyPr/>
          <a:lstStyle/>
          <a:p>
            <a:pPr eaLnBrk="1" hangingPunct="1"/>
            <a:r>
              <a:rPr lang="en-US" b="1" dirty="0" smtClean="0"/>
              <a:t>File-System Structure</a:t>
            </a:r>
          </a:p>
        </p:txBody>
      </p:sp>
      <p:sp>
        <p:nvSpPr>
          <p:cNvPr id="20483" name="Rectangle 3"/>
          <p:cNvSpPr>
            <a:spLocks noGrp="1" noChangeArrowheads="1"/>
          </p:cNvSpPr>
          <p:nvPr>
            <p:ph type="body" idx="1"/>
          </p:nvPr>
        </p:nvSpPr>
        <p:spPr>
          <a:xfrm>
            <a:off x="0" y="1091822"/>
            <a:ext cx="8147714" cy="5156577"/>
          </a:xfrm>
        </p:spPr>
        <p:txBody>
          <a:bodyPr/>
          <a:lstStyle/>
          <a:p>
            <a:r>
              <a:rPr lang="en-US" dirty="0" smtClean="0"/>
              <a:t>File structure</a:t>
            </a:r>
          </a:p>
          <a:p>
            <a:pPr lvl="1"/>
            <a:r>
              <a:rPr lang="en-US" dirty="0" smtClean="0">
                <a:ea typeface="ＭＳ Ｐゴシック" panose="020B0600070205080204" pitchFamily="34" charset="-128"/>
              </a:rPr>
              <a:t>Logical storage unit</a:t>
            </a:r>
          </a:p>
          <a:p>
            <a:pPr lvl="1"/>
            <a:r>
              <a:rPr lang="en-US" dirty="0" smtClean="0">
                <a:ea typeface="ＭＳ Ｐゴシック" panose="020B0600070205080204" pitchFamily="34" charset="-128"/>
              </a:rPr>
              <a:t>Collection of related information</a:t>
            </a:r>
          </a:p>
          <a:p>
            <a:r>
              <a:rPr lang="en-US" dirty="0" smtClean="0"/>
              <a:t>File system organized into layers</a:t>
            </a:r>
          </a:p>
          <a:p>
            <a:r>
              <a:rPr lang="en-US" dirty="0" smtClean="0"/>
              <a:t>File system resides on secondary storage (disks)</a:t>
            </a:r>
          </a:p>
          <a:p>
            <a:pPr lvl="1"/>
            <a:r>
              <a:rPr lang="en-US" dirty="0" smtClean="0">
                <a:ea typeface="ＭＳ Ｐゴシック" panose="020B0600070205080204" pitchFamily="34" charset="-128"/>
              </a:rPr>
              <a:t>Provides efficient and convenient access to disk by allowing data to be stored, located retrieved easily</a:t>
            </a:r>
          </a:p>
          <a:p>
            <a:r>
              <a:rPr lang="en-US" dirty="0" smtClean="0"/>
              <a:t>File control block – storage structure consisting of information about a file</a:t>
            </a:r>
          </a:p>
          <a:p>
            <a:r>
              <a:rPr lang="en-US" dirty="0" smtClean="0"/>
              <a:t>Device driver controls the physical device </a:t>
            </a:r>
          </a:p>
        </p:txBody>
      </p:sp>
      <p:pic>
        <p:nvPicPr>
          <p:cNvPr id="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12584" y="1091822"/>
            <a:ext cx="2476500" cy="457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8812584" y="5670172"/>
            <a:ext cx="2359941" cy="369332"/>
          </a:xfrm>
          <a:prstGeom prst="rect">
            <a:avLst/>
          </a:prstGeom>
        </p:spPr>
        <p:txBody>
          <a:bodyPr wrap="none">
            <a:spAutoFit/>
          </a:bodyPr>
          <a:lstStyle/>
          <a:p>
            <a:r>
              <a:rPr lang="en-US" dirty="0"/>
              <a:t>Layered File System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646111" y="452718"/>
            <a:ext cx="9404723" cy="966649"/>
          </a:xfrm>
        </p:spPr>
        <p:txBody>
          <a:bodyPr/>
          <a:lstStyle/>
          <a:p>
            <a:pPr eaLnBrk="1" hangingPunct="1"/>
            <a:r>
              <a:rPr lang="en-US" b="1" dirty="0" smtClean="0"/>
              <a:t>File-System Implementation</a:t>
            </a:r>
          </a:p>
        </p:txBody>
      </p:sp>
      <p:sp>
        <p:nvSpPr>
          <p:cNvPr id="24579" name="Content Placeholder 2"/>
          <p:cNvSpPr>
            <a:spLocks noGrp="1"/>
          </p:cNvSpPr>
          <p:nvPr>
            <p:ph idx="1"/>
          </p:nvPr>
        </p:nvSpPr>
        <p:spPr>
          <a:xfrm>
            <a:off x="646111" y="1419368"/>
            <a:ext cx="11200145" cy="4829032"/>
          </a:xfrm>
        </p:spPr>
        <p:txBody>
          <a:bodyPr/>
          <a:lstStyle/>
          <a:p>
            <a:r>
              <a:rPr lang="en-US" dirty="0" smtClean="0"/>
              <a:t>Boot control block contains info needed by system to boot OS from that volume</a:t>
            </a:r>
          </a:p>
          <a:p>
            <a:r>
              <a:rPr lang="en-US" dirty="0" smtClean="0"/>
              <a:t>Volume control block contains volume details</a:t>
            </a:r>
          </a:p>
          <a:p>
            <a:r>
              <a:rPr lang="en-US" dirty="0" smtClean="0"/>
              <a:t>Directory structure organizes the files</a:t>
            </a:r>
          </a:p>
          <a:p>
            <a:r>
              <a:rPr lang="en-US" dirty="0" smtClean="0"/>
              <a:t>Per-file File Control Block (FCB) contains many details about the file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smtClean="0"/>
              <a:t>A Typical File Control Block</a:t>
            </a:r>
            <a:endParaRPr lang="en-US" sz="2400"/>
          </a:p>
        </p:txBody>
      </p:sp>
      <p:pic>
        <p:nvPicPr>
          <p:cNvPr id="2560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2864" y="1244600"/>
            <a:ext cx="6999287" cy="463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dirty="0" smtClean="0"/>
              <a:t>In-Memory File System Structures</a:t>
            </a:r>
            <a:endParaRPr lang="en-US" sz="2400" dirty="0"/>
          </a:p>
        </p:txBody>
      </p:sp>
      <p:pic>
        <p:nvPicPr>
          <p:cNvPr id="2969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0638" y="1365250"/>
            <a:ext cx="6532562" cy="488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4708441" y="6248400"/>
            <a:ext cx="1792478" cy="369332"/>
          </a:xfrm>
          <a:prstGeom prst="rect">
            <a:avLst/>
          </a:prstGeom>
        </p:spPr>
        <p:txBody>
          <a:bodyPr wrap="none">
            <a:spAutoFit/>
          </a:bodyPr>
          <a:lstStyle/>
          <a:p>
            <a:r>
              <a:rPr lang="en-US" dirty="0"/>
              <a:t>opening a file.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709683" y="127688"/>
            <a:ext cx="8661969" cy="576262"/>
          </a:xfrm>
        </p:spPr>
        <p:txBody>
          <a:bodyPr/>
          <a:lstStyle/>
          <a:p>
            <a:pPr eaLnBrk="1" hangingPunct="1"/>
            <a:r>
              <a:rPr lang="en-US" b="1" dirty="0" smtClean="0"/>
              <a:t>Virtual File Systems</a:t>
            </a:r>
          </a:p>
        </p:txBody>
      </p:sp>
      <p:sp>
        <p:nvSpPr>
          <p:cNvPr id="31747" name="Rectangle 3"/>
          <p:cNvSpPr>
            <a:spLocks noGrp="1" noChangeArrowheads="1"/>
          </p:cNvSpPr>
          <p:nvPr>
            <p:ph type="body" idx="1"/>
          </p:nvPr>
        </p:nvSpPr>
        <p:spPr>
          <a:xfrm>
            <a:off x="709683" y="854076"/>
            <a:ext cx="11341289" cy="5394324"/>
          </a:xfrm>
        </p:spPr>
        <p:txBody>
          <a:bodyPr/>
          <a:lstStyle/>
          <a:p>
            <a:r>
              <a:rPr lang="en-US" dirty="0" smtClean="0"/>
              <a:t>Virtual File Systems (VFS) provide an object-oriented way of implementing file systems.</a:t>
            </a:r>
          </a:p>
          <a:p>
            <a:r>
              <a:rPr lang="en-US" dirty="0" smtClean="0"/>
              <a:t>VFS allows the same system call interface (the API) to be used for different types of file systems.</a:t>
            </a:r>
          </a:p>
          <a:p>
            <a:r>
              <a:rPr lang="en-US" dirty="0" smtClean="0"/>
              <a:t>The API is to the VFS interface, rather than any specific type of file system.</a:t>
            </a:r>
          </a:p>
        </p:txBody>
      </p:sp>
      <p:pic>
        <p:nvPicPr>
          <p:cNvPr id="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3324" y="2429302"/>
            <a:ext cx="5540991" cy="3709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3506818" y="6248400"/>
            <a:ext cx="4314001" cy="369332"/>
          </a:xfrm>
          <a:prstGeom prst="rect">
            <a:avLst/>
          </a:prstGeom>
        </p:spPr>
        <p:txBody>
          <a:bodyPr wrap="none">
            <a:spAutoFit/>
          </a:bodyPr>
          <a:lstStyle/>
          <a:p>
            <a:r>
              <a:rPr lang="en-US" dirty="0"/>
              <a:t>Schematic View of Virtual File System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46111" y="95534"/>
            <a:ext cx="9404723" cy="805218"/>
          </a:xfrm>
        </p:spPr>
        <p:txBody>
          <a:bodyPr/>
          <a:lstStyle/>
          <a:p>
            <a:pPr eaLnBrk="1" hangingPunct="1"/>
            <a:r>
              <a:rPr lang="en-US" b="1" dirty="0" smtClean="0"/>
              <a:t>Directory Implementation</a:t>
            </a:r>
          </a:p>
        </p:txBody>
      </p:sp>
      <p:sp>
        <p:nvSpPr>
          <p:cNvPr id="35843" name="Rectangle 3"/>
          <p:cNvSpPr>
            <a:spLocks noGrp="1" noChangeArrowheads="1"/>
          </p:cNvSpPr>
          <p:nvPr>
            <p:ph type="body" idx="1"/>
          </p:nvPr>
        </p:nvSpPr>
        <p:spPr>
          <a:xfrm>
            <a:off x="646112" y="900752"/>
            <a:ext cx="9403742" cy="5347647"/>
          </a:xfrm>
        </p:spPr>
        <p:txBody>
          <a:bodyPr/>
          <a:lstStyle/>
          <a:p>
            <a:r>
              <a:rPr lang="en-US" b="1" dirty="0" smtClean="0"/>
              <a:t>Linear list</a:t>
            </a:r>
            <a:r>
              <a:rPr lang="en-US" dirty="0" smtClean="0"/>
              <a:t> of file names with pointer to the data blocks.</a:t>
            </a:r>
          </a:p>
          <a:p>
            <a:pPr lvl="1"/>
            <a:r>
              <a:rPr lang="en-US" dirty="0" smtClean="0">
                <a:ea typeface="ＭＳ Ｐゴシック" panose="020B0600070205080204" pitchFamily="34" charset="-128"/>
              </a:rPr>
              <a:t>simple to program</a:t>
            </a:r>
          </a:p>
          <a:p>
            <a:pPr lvl="1"/>
            <a:r>
              <a:rPr lang="en-US" dirty="0" smtClean="0">
                <a:ea typeface="ＭＳ Ｐゴシック" panose="020B0600070205080204" pitchFamily="34" charset="-128"/>
              </a:rPr>
              <a:t>time-consuming to execute</a:t>
            </a:r>
            <a:br>
              <a:rPr lang="en-US" dirty="0" smtClean="0">
                <a:ea typeface="ＭＳ Ｐゴシック" panose="020B0600070205080204" pitchFamily="34" charset="-128"/>
              </a:rPr>
            </a:br>
            <a:endParaRPr lang="en-US" dirty="0" smtClean="0">
              <a:ea typeface="ＭＳ Ｐゴシック" panose="020B0600070205080204" pitchFamily="34" charset="-128"/>
            </a:endParaRPr>
          </a:p>
          <a:p>
            <a:r>
              <a:rPr lang="en-US" b="1" dirty="0" smtClean="0"/>
              <a:t>Hash Table</a:t>
            </a:r>
            <a:r>
              <a:rPr lang="en-US" dirty="0" smtClean="0"/>
              <a:t> – linear list with hash data structure.</a:t>
            </a:r>
          </a:p>
          <a:p>
            <a:pPr lvl="1"/>
            <a:r>
              <a:rPr lang="en-US" dirty="0" smtClean="0">
                <a:ea typeface="ＭＳ Ｐゴシック" panose="020B0600070205080204" pitchFamily="34" charset="-128"/>
              </a:rPr>
              <a:t>decreases directory search time</a:t>
            </a:r>
          </a:p>
          <a:p>
            <a:pPr lvl="1"/>
            <a:r>
              <a:rPr lang="en-US" b="1" dirty="0" smtClean="0">
                <a:solidFill>
                  <a:srgbClr val="3366FF"/>
                </a:solidFill>
                <a:ea typeface="ＭＳ Ｐゴシック" panose="020B0600070205080204" pitchFamily="34" charset="-128"/>
              </a:rPr>
              <a:t>collisions</a:t>
            </a:r>
            <a:r>
              <a:rPr lang="en-US" dirty="0" smtClean="0">
                <a:solidFill>
                  <a:srgbClr val="3366FF"/>
                </a:solidFill>
                <a:ea typeface="ＭＳ Ｐゴシック" panose="020B0600070205080204" pitchFamily="34" charset="-128"/>
              </a:rPr>
              <a:t> </a:t>
            </a:r>
            <a:r>
              <a:rPr lang="en-US" dirty="0" smtClean="0">
                <a:ea typeface="ＭＳ Ｐゴシック" panose="020B0600070205080204" pitchFamily="34" charset="-128"/>
              </a:rPr>
              <a:t>– situations where two file names hash to the same location</a:t>
            </a:r>
          </a:p>
          <a:p>
            <a:pPr lvl="1"/>
            <a:r>
              <a:rPr lang="en-US" dirty="0" smtClean="0">
                <a:ea typeface="ＭＳ Ｐゴシック" panose="020B0600070205080204" pitchFamily="34" charset="-128"/>
              </a:rPr>
              <a:t>fixed size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646111" y="109182"/>
            <a:ext cx="9404723" cy="750627"/>
          </a:xfrm>
        </p:spPr>
        <p:txBody>
          <a:bodyPr/>
          <a:lstStyle/>
          <a:p>
            <a:pPr eaLnBrk="1" hangingPunct="1"/>
            <a:r>
              <a:rPr lang="en-US" b="1" dirty="0" smtClean="0"/>
              <a:t>Allocation Methods</a:t>
            </a:r>
          </a:p>
        </p:txBody>
      </p:sp>
      <p:sp>
        <p:nvSpPr>
          <p:cNvPr id="37891" name="Rectangle 3"/>
          <p:cNvSpPr>
            <a:spLocks noGrp="1" noChangeArrowheads="1"/>
          </p:cNvSpPr>
          <p:nvPr>
            <p:ph type="body" idx="1"/>
          </p:nvPr>
        </p:nvSpPr>
        <p:spPr>
          <a:xfrm>
            <a:off x="646111" y="859810"/>
            <a:ext cx="10736121" cy="5388590"/>
          </a:xfrm>
        </p:spPr>
        <p:txBody>
          <a:bodyPr/>
          <a:lstStyle/>
          <a:p>
            <a:r>
              <a:rPr lang="en-US" dirty="0" smtClean="0"/>
              <a:t>An allocation method refers to how disk blocks are allocated for files:</a:t>
            </a:r>
          </a:p>
          <a:p>
            <a:pPr marL="0" indent="0">
              <a:buNone/>
            </a:pPr>
            <a:r>
              <a:rPr lang="en-US" dirty="0" smtClean="0"/>
              <a:t>Contiguous allocation</a:t>
            </a:r>
          </a:p>
          <a:p>
            <a:pPr marL="0" indent="0">
              <a:buNone/>
            </a:pPr>
            <a:r>
              <a:rPr lang="en-US" dirty="0" smtClean="0"/>
              <a:t>Linked allocation</a:t>
            </a:r>
          </a:p>
          <a:p>
            <a:pPr marL="0" indent="0">
              <a:buNone/>
            </a:pPr>
            <a:r>
              <a:rPr lang="en-US" dirty="0" smtClean="0"/>
              <a:t>Indexed allocation</a:t>
            </a:r>
          </a:p>
          <a:p>
            <a:endParaRPr lang="en-US" dirty="0" smtClean="0"/>
          </a:p>
          <a:p>
            <a:endParaRPr lang="en-US" dirty="0" smtClean="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36478" y="150125"/>
            <a:ext cx="11546005" cy="777923"/>
          </a:xfrm>
        </p:spPr>
        <p:txBody>
          <a:bodyPr/>
          <a:lstStyle/>
          <a:p>
            <a:pPr eaLnBrk="1" hangingPunct="1"/>
            <a:r>
              <a:rPr lang="en-US" b="1" dirty="0" smtClean="0"/>
              <a:t>Contiguous Allocation</a:t>
            </a:r>
          </a:p>
        </p:txBody>
      </p:sp>
      <p:sp>
        <p:nvSpPr>
          <p:cNvPr id="39939" name="Rectangle 3"/>
          <p:cNvSpPr>
            <a:spLocks noGrp="1" noChangeArrowheads="1"/>
          </p:cNvSpPr>
          <p:nvPr>
            <p:ph type="body" idx="1"/>
          </p:nvPr>
        </p:nvSpPr>
        <p:spPr>
          <a:xfrm>
            <a:off x="136480" y="928048"/>
            <a:ext cx="6942358" cy="5929952"/>
          </a:xfrm>
          <a:noFill/>
        </p:spPr>
        <p:txBody>
          <a:bodyPr>
            <a:normAutofit/>
          </a:bodyPr>
          <a:lstStyle/>
          <a:p>
            <a:r>
              <a:rPr lang="en-US" dirty="0" smtClean="0"/>
              <a:t>Each file occupies a set of contiguous blocks on the disk</a:t>
            </a:r>
          </a:p>
          <a:p>
            <a:r>
              <a:rPr lang="en-US" dirty="0" smtClean="0"/>
              <a:t>Simple – only starting location (block #) and length (number of blocks) are required</a:t>
            </a:r>
          </a:p>
          <a:p>
            <a:r>
              <a:rPr lang="en-US" dirty="0" smtClean="0"/>
              <a:t>Random access</a:t>
            </a:r>
          </a:p>
          <a:p>
            <a:r>
              <a:rPr lang="en-US" dirty="0" smtClean="0"/>
              <a:t>Wasteful of space (dynamic storage-allocation problem)</a:t>
            </a:r>
          </a:p>
          <a:p>
            <a:r>
              <a:rPr lang="en-US" dirty="0" smtClean="0"/>
              <a:t>Files cannot grow</a:t>
            </a:r>
          </a:p>
          <a:p>
            <a:r>
              <a:rPr lang="en-US" dirty="0"/>
              <a:t>Mapping from logical to </a:t>
            </a:r>
            <a:r>
              <a:rPr lang="en-US" dirty="0" smtClean="0"/>
              <a:t>physical</a:t>
            </a:r>
          </a:p>
          <a:p>
            <a:endParaRPr lang="en-US" dirty="0"/>
          </a:p>
          <a:p>
            <a:endParaRPr lang="en-US" dirty="0" smtClean="0"/>
          </a:p>
          <a:p>
            <a:endParaRPr lang="en-US" dirty="0"/>
          </a:p>
          <a:p>
            <a:pPr marL="457200" lvl="1" indent="0">
              <a:buNone/>
            </a:pPr>
            <a:r>
              <a:rPr lang="en-US" dirty="0" smtClean="0">
                <a:latin typeface="Times New Roman" panose="02020603050405020304" pitchFamily="18" charset="0"/>
              </a:rPr>
              <a:t>Block </a:t>
            </a:r>
            <a:r>
              <a:rPr lang="en-US" dirty="0">
                <a:latin typeface="Times New Roman" panose="02020603050405020304" pitchFamily="18" charset="0"/>
              </a:rPr>
              <a:t>to be accessed = ! + starting address</a:t>
            </a:r>
          </a:p>
          <a:p>
            <a:pPr marL="457200" lvl="1" indent="0">
              <a:buNone/>
            </a:pPr>
            <a:r>
              <a:rPr lang="en-US" dirty="0">
                <a:latin typeface="Times New Roman" panose="02020603050405020304" pitchFamily="18" charset="0"/>
              </a:rPr>
              <a:t>Displacement into block = R</a:t>
            </a:r>
          </a:p>
          <a:p>
            <a:endParaRPr lang="en-US" dirty="0"/>
          </a:p>
          <a:p>
            <a:endParaRPr lang="en-US" dirty="0" smtClean="0"/>
          </a:p>
        </p:txBody>
      </p:sp>
      <p:sp>
        <p:nvSpPr>
          <p:cNvPr id="39940" name="Rectangle 4"/>
          <p:cNvSpPr>
            <a:spLocks noChangeArrowheads="1"/>
          </p:cNvSpPr>
          <p:nvPr/>
        </p:nvSpPr>
        <p:spPr bwMode="auto">
          <a:xfrm>
            <a:off x="2406650" y="5399089"/>
            <a:ext cx="7029450"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a:latin typeface="Times New Roman" panose="02020603050405020304" pitchFamily="18" charset="0"/>
            </a:endParaRPr>
          </a:p>
        </p:txBody>
      </p:sp>
      <p:sp>
        <p:nvSpPr>
          <p:cNvPr id="4" name="Rectangle 3"/>
          <p:cNvSpPr/>
          <p:nvPr/>
        </p:nvSpPr>
        <p:spPr>
          <a:xfrm>
            <a:off x="662382" y="4908553"/>
            <a:ext cx="915635" cy="369332"/>
          </a:xfrm>
          <a:prstGeom prst="rect">
            <a:avLst/>
          </a:prstGeom>
        </p:spPr>
        <p:txBody>
          <a:bodyPr wrap="none">
            <a:spAutoFit/>
          </a:bodyPr>
          <a:lstStyle/>
          <a:p>
            <a:pPr algn="ctr">
              <a:spcBef>
                <a:spcPct val="50000"/>
              </a:spcBef>
            </a:pPr>
            <a:r>
              <a:rPr lang="en-US" dirty="0">
                <a:latin typeface="Helvetica" panose="020B0604020202020204" pitchFamily="34" charset="0"/>
              </a:rPr>
              <a:t>LA/512</a:t>
            </a:r>
          </a:p>
        </p:txBody>
      </p:sp>
      <p:sp>
        <p:nvSpPr>
          <p:cNvPr id="8" name="Line 7"/>
          <p:cNvSpPr>
            <a:spLocks noChangeShapeType="1"/>
          </p:cNvSpPr>
          <p:nvPr/>
        </p:nvSpPr>
        <p:spPr bwMode="auto">
          <a:xfrm flipV="1">
            <a:off x="1578017" y="4723887"/>
            <a:ext cx="258762"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 name="Line 8"/>
          <p:cNvSpPr>
            <a:spLocks noChangeShapeType="1"/>
          </p:cNvSpPr>
          <p:nvPr/>
        </p:nvSpPr>
        <p:spPr bwMode="auto">
          <a:xfrm>
            <a:off x="1614755" y="5246342"/>
            <a:ext cx="273050" cy="215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 name="Rectangle 4"/>
          <p:cNvSpPr/>
          <p:nvPr/>
        </p:nvSpPr>
        <p:spPr>
          <a:xfrm>
            <a:off x="1912243" y="4418017"/>
            <a:ext cx="364202" cy="369332"/>
          </a:xfrm>
          <a:prstGeom prst="rect">
            <a:avLst/>
          </a:prstGeom>
        </p:spPr>
        <p:txBody>
          <a:bodyPr wrap="none">
            <a:spAutoFit/>
          </a:bodyPr>
          <a:lstStyle/>
          <a:p>
            <a:pPr algn="ctr">
              <a:spcBef>
                <a:spcPct val="50000"/>
              </a:spcBef>
            </a:pPr>
            <a:r>
              <a:rPr lang="en-US" dirty="0">
                <a:latin typeface="Helvetica" panose="020B0604020202020204" pitchFamily="34" charset="0"/>
              </a:rPr>
              <a:t>Q</a:t>
            </a:r>
          </a:p>
        </p:txBody>
      </p:sp>
      <p:sp>
        <p:nvSpPr>
          <p:cNvPr id="6" name="Rectangle 5"/>
          <p:cNvSpPr/>
          <p:nvPr/>
        </p:nvSpPr>
        <p:spPr>
          <a:xfrm>
            <a:off x="1942835" y="5354292"/>
            <a:ext cx="351378" cy="369332"/>
          </a:xfrm>
          <a:prstGeom prst="rect">
            <a:avLst/>
          </a:prstGeom>
        </p:spPr>
        <p:txBody>
          <a:bodyPr wrap="none">
            <a:spAutoFit/>
          </a:bodyPr>
          <a:lstStyle/>
          <a:p>
            <a:pPr algn="ctr">
              <a:spcBef>
                <a:spcPct val="50000"/>
              </a:spcBef>
            </a:pPr>
            <a:r>
              <a:rPr lang="en-US" dirty="0">
                <a:latin typeface="Helvetica" panose="020B0604020202020204" pitchFamily="34" charset="0"/>
              </a:rPr>
              <a:t>R</a:t>
            </a:r>
          </a:p>
        </p:txBody>
      </p:sp>
      <p:pic>
        <p:nvPicPr>
          <p:cNvPr id="1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8837" y="1027374"/>
            <a:ext cx="4714526" cy="513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7230479" y="6243400"/>
            <a:ext cx="4237057" cy="369332"/>
          </a:xfrm>
          <a:prstGeom prst="rect">
            <a:avLst/>
          </a:prstGeom>
        </p:spPr>
        <p:txBody>
          <a:bodyPr wrap="none">
            <a:spAutoFit/>
          </a:bodyPr>
          <a:lstStyle/>
          <a:p>
            <a:r>
              <a:rPr lang="en-US" dirty="0"/>
              <a:t>Contiguous Allocation of Disk Space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646111" y="0"/>
            <a:ext cx="9404723" cy="914400"/>
          </a:xfrm>
        </p:spPr>
        <p:txBody>
          <a:bodyPr/>
          <a:lstStyle/>
          <a:p>
            <a:pPr eaLnBrk="1" hangingPunct="1"/>
            <a:r>
              <a:rPr lang="en-US" b="1" dirty="0" smtClean="0"/>
              <a:t>Extent-Based Systems</a:t>
            </a:r>
          </a:p>
        </p:txBody>
      </p:sp>
      <p:sp>
        <p:nvSpPr>
          <p:cNvPr id="46083" name="Rectangle 3"/>
          <p:cNvSpPr>
            <a:spLocks noGrp="1" noChangeArrowheads="1"/>
          </p:cNvSpPr>
          <p:nvPr>
            <p:ph type="body" idx="1"/>
          </p:nvPr>
        </p:nvSpPr>
        <p:spPr>
          <a:xfrm>
            <a:off x="646112" y="914400"/>
            <a:ext cx="11545888" cy="5333999"/>
          </a:xfrm>
        </p:spPr>
        <p:txBody>
          <a:bodyPr/>
          <a:lstStyle/>
          <a:p>
            <a:r>
              <a:rPr lang="en-US" dirty="0" smtClean="0"/>
              <a:t>Many newer file systems (I.e. </a:t>
            </a:r>
            <a:r>
              <a:rPr lang="en-US" dirty="0" err="1" smtClean="0"/>
              <a:t>Veritas</a:t>
            </a:r>
            <a:r>
              <a:rPr lang="en-US" dirty="0" smtClean="0"/>
              <a:t> File System) use a modified contiguous allocation scheme</a:t>
            </a:r>
          </a:p>
          <a:p>
            <a:r>
              <a:rPr lang="en-US" dirty="0" smtClean="0"/>
              <a:t>Extent-based file systems allocate disk blocks in extents</a:t>
            </a:r>
          </a:p>
          <a:p>
            <a:r>
              <a:rPr lang="en-US" dirty="0" smtClean="0"/>
              <a:t>An extent is a contiguous block of disks</a:t>
            </a:r>
          </a:p>
          <a:p>
            <a:pPr lvl="1"/>
            <a:r>
              <a:rPr lang="en-US" dirty="0" smtClean="0">
                <a:ea typeface="ＭＳ Ｐゴシック" panose="020B0600070205080204" pitchFamily="34" charset="-128"/>
              </a:rPr>
              <a:t>Extents are allocated for file allocation</a:t>
            </a:r>
          </a:p>
          <a:p>
            <a:pPr lvl="1"/>
            <a:r>
              <a:rPr lang="en-US" dirty="0" smtClean="0">
                <a:ea typeface="ＭＳ Ｐゴシック" panose="020B0600070205080204" pitchFamily="34" charset="-128"/>
              </a:rPr>
              <a:t>A file consists of one or more extents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1" y="0"/>
            <a:ext cx="10050834" cy="714376"/>
          </a:xfrm>
        </p:spPr>
        <p:txBody>
          <a:bodyPr/>
          <a:lstStyle/>
          <a:p>
            <a:pPr eaLnBrk="1" hangingPunct="1"/>
            <a:r>
              <a:rPr lang="en-US" b="1" dirty="0" smtClean="0"/>
              <a:t>Linked Allocation</a:t>
            </a:r>
          </a:p>
        </p:txBody>
      </p:sp>
      <p:sp>
        <p:nvSpPr>
          <p:cNvPr id="48131" name="Rectangle 3"/>
          <p:cNvSpPr>
            <a:spLocks noGrp="1" noChangeArrowheads="1"/>
          </p:cNvSpPr>
          <p:nvPr>
            <p:ph type="body" idx="1"/>
          </p:nvPr>
        </p:nvSpPr>
        <p:spPr>
          <a:xfrm>
            <a:off x="0" y="714376"/>
            <a:ext cx="7724087" cy="6143624"/>
          </a:xfrm>
        </p:spPr>
        <p:txBody>
          <a:bodyPr>
            <a:normAutofit fontScale="92500" lnSpcReduction="10000"/>
          </a:bodyPr>
          <a:lstStyle/>
          <a:p>
            <a:r>
              <a:rPr lang="en-US" dirty="0" smtClean="0"/>
              <a:t>Each file is a linked list of disk blocks: blocks may be scattered anywhere on the disk.</a:t>
            </a:r>
          </a:p>
          <a:p>
            <a:endParaRPr lang="en-US" dirty="0" smtClean="0"/>
          </a:p>
          <a:p>
            <a:endParaRPr lang="en-US" dirty="0"/>
          </a:p>
          <a:p>
            <a:pPr marL="0" indent="0">
              <a:buNone/>
            </a:pPr>
            <a:endParaRPr lang="en-US" dirty="0"/>
          </a:p>
          <a:p>
            <a:r>
              <a:rPr lang="en-US" dirty="0"/>
              <a:t>Simple – need only starting address</a:t>
            </a:r>
          </a:p>
          <a:p>
            <a:r>
              <a:rPr lang="en-US" dirty="0"/>
              <a:t>Free-space management system – no waste of space </a:t>
            </a:r>
          </a:p>
          <a:p>
            <a:r>
              <a:rPr lang="en-US" dirty="0"/>
              <a:t>No random access</a:t>
            </a:r>
          </a:p>
          <a:p>
            <a:r>
              <a:rPr lang="en-US" dirty="0" smtClean="0"/>
              <a:t>Mapping</a:t>
            </a:r>
          </a:p>
          <a:p>
            <a:pPr marL="0" indent="0">
              <a:buNone/>
            </a:pPr>
            <a:endParaRPr lang="en-US" dirty="0"/>
          </a:p>
          <a:p>
            <a:pPr marL="0" indent="0">
              <a:buNone/>
            </a:pPr>
            <a:endParaRPr lang="en-US" dirty="0" smtClean="0"/>
          </a:p>
          <a:p>
            <a:pPr lvl="1">
              <a:buClr>
                <a:schemeClr val="accent2"/>
              </a:buClr>
              <a:buSzPct val="90000"/>
              <a:buFont typeface="Monotype Sorts" pitchFamily="2" charset="2"/>
              <a:buNone/>
            </a:pPr>
            <a:endParaRPr kumimoji="1" lang="en-US" dirty="0" smtClean="0">
              <a:latin typeface="Helvetica" panose="020B0604020202020204" pitchFamily="34" charset="0"/>
            </a:endParaRPr>
          </a:p>
          <a:p>
            <a:pPr lvl="1">
              <a:buClr>
                <a:schemeClr val="accent2"/>
              </a:buClr>
              <a:buSzPct val="90000"/>
              <a:buFont typeface="Monotype Sorts" pitchFamily="2" charset="2"/>
              <a:buNone/>
            </a:pPr>
            <a:r>
              <a:rPr kumimoji="1" lang="en-US" dirty="0" smtClean="0">
                <a:latin typeface="Helvetica" panose="020B0604020202020204" pitchFamily="34" charset="0"/>
              </a:rPr>
              <a:t>Block </a:t>
            </a:r>
            <a:r>
              <a:rPr kumimoji="1" lang="en-US" dirty="0">
                <a:latin typeface="Helvetica" panose="020B0604020202020204" pitchFamily="34" charset="0"/>
              </a:rPr>
              <a:t>to be accessed is the </a:t>
            </a:r>
            <a:r>
              <a:rPr kumimoji="1" lang="en-US" dirty="0" err="1">
                <a:latin typeface="Helvetica" panose="020B0604020202020204" pitchFamily="34" charset="0"/>
              </a:rPr>
              <a:t>Qth</a:t>
            </a:r>
            <a:r>
              <a:rPr kumimoji="1" lang="en-US" dirty="0">
                <a:latin typeface="Helvetica" panose="020B0604020202020204" pitchFamily="34" charset="0"/>
              </a:rPr>
              <a:t> block in the linked chain of blocks representing the file.</a:t>
            </a:r>
          </a:p>
          <a:p>
            <a:pPr lvl="1">
              <a:buClr>
                <a:schemeClr val="accent2"/>
              </a:buClr>
              <a:buSzPct val="90000"/>
              <a:buFont typeface="Monotype Sorts" pitchFamily="2" charset="2"/>
              <a:buNone/>
            </a:pPr>
            <a:r>
              <a:rPr kumimoji="1" lang="en-US" dirty="0">
                <a:latin typeface="Helvetica" panose="020B0604020202020204" pitchFamily="34" charset="0"/>
              </a:rPr>
              <a:t>Displacement into block = R + 1</a:t>
            </a:r>
          </a:p>
          <a:p>
            <a:pPr>
              <a:spcBef>
                <a:spcPct val="20000"/>
              </a:spcBef>
              <a:buClr>
                <a:schemeClr val="folHlink"/>
              </a:buClr>
              <a:buFont typeface="Monotype Sorts" pitchFamily="2" charset="2"/>
              <a:buNone/>
            </a:pPr>
            <a:r>
              <a:rPr kumimoji="1" lang="en-US" sz="1800" dirty="0">
                <a:latin typeface="Helvetica" panose="020B0604020202020204" pitchFamily="34" charset="0"/>
              </a:rPr>
              <a:t>File-allocation table (FAT) – disk-space allocation used by MS-DOS and OS/2</a:t>
            </a:r>
            <a:r>
              <a:rPr kumimoji="1" lang="en-US" sz="1800" dirty="0" smtClean="0">
                <a:latin typeface="Helvetica" panose="020B0604020202020204" pitchFamily="34" charset="0"/>
              </a:rPr>
              <a:t>.</a:t>
            </a:r>
            <a:endParaRPr lang="en-US" dirty="0"/>
          </a:p>
          <a:p>
            <a:endParaRPr lang="en-US" dirty="0" smtClean="0"/>
          </a:p>
        </p:txBody>
      </p:sp>
      <p:grpSp>
        <p:nvGrpSpPr>
          <p:cNvPr id="48132" name="Group 4"/>
          <p:cNvGrpSpPr>
            <a:grpSpLocks/>
          </p:cNvGrpSpPr>
          <p:nvPr/>
        </p:nvGrpSpPr>
        <p:grpSpPr bwMode="auto">
          <a:xfrm>
            <a:off x="3624584" y="1310185"/>
            <a:ext cx="2407726" cy="1333091"/>
            <a:chOff x="1687" y="1576"/>
            <a:chExt cx="1739" cy="945"/>
          </a:xfrm>
        </p:grpSpPr>
        <p:sp>
          <p:nvSpPr>
            <p:cNvPr id="48133" name="Rectangle 5"/>
            <p:cNvSpPr>
              <a:spLocks noChangeArrowheads="1"/>
            </p:cNvSpPr>
            <p:nvPr/>
          </p:nvSpPr>
          <p:spPr bwMode="auto">
            <a:xfrm>
              <a:off x="2481" y="1576"/>
              <a:ext cx="945" cy="272"/>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r>
                <a:rPr lang="en-US" sz="1800">
                  <a:latin typeface="Helvetica" panose="020B0604020202020204" pitchFamily="34" charset="0"/>
                </a:rPr>
                <a:t>pointer</a:t>
              </a:r>
            </a:p>
          </p:txBody>
        </p:sp>
        <p:sp>
          <p:nvSpPr>
            <p:cNvPr id="48134" name="Rectangle 6"/>
            <p:cNvSpPr>
              <a:spLocks noChangeArrowheads="1"/>
            </p:cNvSpPr>
            <p:nvPr/>
          </p:nvSpPr>
          <p:spPr bwMode="auto">
            <a:xfrm>
              <a:off x="2481" y="1848"/>
              <a:ext cx="945" cy="673"/>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48135" name="Text Box 7"/>
            <p:cNvSpPr txBox="1">
              <a:spLocks noChangeArrowheads="1"/>
            </p:cNvSpPr>
            <p:nvPr/>
          </p:nvSpPr>
          <p:spPr bwMode="auto">
            <a:xfrm>
              <a:off x="1687" y="1597"/>
              <a:ext cx="7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800">
                  <a:latin typeface="Helvetica" panose="020B0604020202020204" pitchFamily="34" charset="0"/>
                </a:rPr>
                <a:t>block      =</a:t>
              </a:r>
            </a:p>
          </p:txBody>
        </p:sp>
      </p:grpSp>
      <p:sp>
        <p:nvSpPr>
          <p:cNvPr id="2" name="Rectangle 1"/>
          <p:cNvSpPr/>
          <p:nvPr/>
        </p:nvSpPr>
        <p:spPr>
          <a:xfrm>
            <a:off x="782356" y="4462995"/>
            <a:ext cx="898515" cy="369332"/>
          </a:xfrm>
          <a:prstGeom prst="rect">
            <a:avLst/>
          </a:prstGeom>
        </p:spPr>
        <p:txBody>
          <a:bodyPr wrap="none">
            <a:spAutoFit/>
          </a:bodyPr>
          <a:lstStyle/>
          <a:p>
            <a:pPr algn="ctr">
              <a:spcBef>
                <a:spcPct val="50000"/>
              </a:spcBef>
            </a:pPr>
            <a:r>
              <a:rPr lang="en-US" dirty="0">
                <a:latin typeface="Helvetica" panose="020B0604020202020204" pitchFamily="34" charset="0"/>
              </a:rPr>
              <a:t>LA/511</a:t>
            </a:r>
          </a:p>
        </p:txBody>
      </p:sp>
      <p:sp>
        <p:nvSpPr>
          <p:cNvPr id="9" name="Line 8"/>
          <p:cNvSpPr>
            <a:spLocks noChangeShapeType="1"/>
          </p:cNvSpPr>
          <p:nvPr/>
        </p:nvSpPr>
        <p:spPr bwMode="auto">
          <a:xfrm flipV="1">
            <a:off x="1655321" y="4318145"/>
            <a:ext cx="258762"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9"/>
          <p:cNvSpPr>
            <a:spLocks noChangeShapeType="1"/>
          </p:cNvSpPr>
          <p:nvPr/>
        </p:nvSpPr>
        <p:spPr bwMode="auto">
          <a:xfrm>
            <a:off x="1655320" y="4745808"/>
            <a:ext cx="258763"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 name="Rectangle 2"/>
          <p:cNvSpPr/>
          <p:nvPr/>
        </p:nvSpPr>
        <p:spPr>
          <a:xfrm>
            <a:off x="1914083" y="4019288"/>
            <a:ext cx="364202" cy="369332"/>
          </a:xfrm>
          <a:prstGeom prst="rect">
            <a:avLst/>
          </a:prstGeom>
        </p:spPr>
        <p:txBody>
          <a:bodyPr wrap="none">
            <a:spAutoFit/>
          </a:bodyPr>
          <a:lstStyle/>
          <a:p>
            <a:pPr algn="ctr">
              <a:spcBef>
                <a:spcPct val="50000"/>
              </a:spcBef>
            </a:pPr>
            <a:r>
              <a:rPr lang="en-US" dirty="0">
                <a:latin typeface="Helvetica" panose="020B0604020202020204" pitchFamily="34" charset="0"/>
              </a:rPr>
              <a:t>Q</a:t>
            </a:r>
          </a:p>
        </p:txBody>
      </p:sp>
      <p:sp>
        <p:nvSpPr>
          <p:cNvPr id="4" name="Rectangle 3"/>
          <p:cNvSpPr/>
          <p:nvPr/>
        </p:nvSpPr>
        <p:spPr>
          <a:xfrm>
            <a:off x="1926907" y="4832326"/>
            <a:ext cx="351378" cy="369332"/>
          </a:xfrm>
          <a:prstGeom prst="rect">
            <a:avLst/>
          </a:prstGeom>
        </p:spPr>
        <p:txBody>
          <a:bodyPr wrap="none">
            <a:spAutoFit/>
          </a:bodyPr>
          <a:lstStyle/>
          <a:p>
            <a:pPr algn="ctr">
              <a:spcBef>
                <a:spcPct val="50000"/>
              </a:spcBef>
            </a:pPr>
            <a:r>
              <a:rPr lang="en-US" dirty="0">
                <a:latin typeface="Helvetica" panose="020B0604020202020204" pitchFamily="34" charset="0"/>
              </a:rPr>
              <a:t>R</a:t>
            </a:r>
          </a:p>
        </p:txBody>
      </p:sp>
      <p:pic>
        <p:nvPicPr>
          <p:cNvPr id="1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4087" y="714376"/>
            <a:ext cx="4085893" cy="510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8604731" y="5967175"/>
            <a:ext cx="2106667" cy="369332"/>
          </a:xfrm>
          <a:prstGeom prst="rect">
            <a:avLst/>
          </a:prstGeom>
        </p:spPr>
        <p:txBody>
          <a:bodyPr wrap="none">
            <a:spAutoFit/>
          </a:bodyPr>
          <a:lstStyle/>
          <a:p>
            <a:r>
              <a:rPr lang="en-US" dirty="0"/>
              <a:t>Linked Allocation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en-US" dirty="0" smtClean="0"/>
              <a:t>File-Allocation Table</a:t>
            </a:r>
            <a:endParaRPr lang="en-US" sz="2400" dirty="0"/>
          </a:p>
        </p:txBody>
      </p:sp>
      <p:pic>
        <p:nvPicPr>
          <p:cNvPr id="5427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913" y="1112838"/>
            <a:ext cx="6183312"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50125" y="92076"/>
            <a:ext cx="9900709" cy="730251"/>
          </a:xfrm>
        </p:spPr>
        <p:txBody>
          <a:bodyPr/>
          <a:lstStyle/>
          <a:p>
            <a:pPr eaLnBrk="1" hangingPunct="1"/>
            <a:r>
              <a:rPr lang="en-US" b="1" dirty="0" smtClean="0"/>
              <a:t>Indexed Allocation</a:t>
            </a:r>
          </a:p>
        </p:txBody>
      </p:sp>
      <p:sp>
        <p:nvSpPr>
          <p:cNvPr id="56323" name="Rectangle 3"/>
          <p:cNvSpPr>
            <a:spLocks noGrp="1" noChangeArrowheads="1"/>
          </p:cNvSpPr>
          <p:nvPr>
            <p:ph type="body" idx="1"/>
          </p:nvPr>
        </p:nvSpPr>
        <p:spPr>
          <a:xfrm>
            <a:off x="150125" y="881062"/>
            <a:ext cx="6469039" cy="6188477"/>
          </a:xfrm>
        </p:spPr>
        <p:txBody>
          <a:bodyPr/>
          <a:lstStyle/>
          <a:p>
            <a:r>
              <a:rPr lang="en-US" dirty="0" smtClean="0"/>
              <a:t>Brings all pointers together into the index block</a:t>
            </a:r>
          </a:p>
          <a:p>
            <a:r>
              <a:rPr lang="en-US" dirty="0" smtClean="0"/>
              <a:t>Logical view</a:t>
            </a:r>
          </a:p>
          <a:p>
            <a:endParaRPr lang="en-US" dirty="0"/>
          </a:p>
          <a:p>
            <a:endParaRPr lang="en-US" dirty="0" smtClean="0"/>
          </a:p>
          <a:p>
            <a:endParaRPr lang="en-US" dirty="0"/>
          </a:p>
          <a:p>
            <a:endParaRPr lang="en-US" dirty="0" smtClean="0"/>
          </a:p>
          <a:p>
            <a:endParaRPr lang="en-US" dirty="0"/>
          </a:p>
          <a:p>
            <a:pPr>
              <a:lnSpc>
                <a:spcPct val="90000"/>
              </a:lnSpc>
            </a:pPr>
            <a:r>
              <a:rPr lang="en-US" dirty="0"/>
              <a:t>Need index table</a:t>
            </a:r>
          </a:p>
          <a:p>
            <a:pPr>
              <a:lnSpc>
                <a:spcPct val="90000"/>
              </a:lnSpc>
            </a:pPr>
            <a:r>
              <a:rPr lang="en-US" dirty="0"/>
              <a:t>Random access</a:t>
            </a:r>
          </a:p>
          <a:p>
            <a:pPr>
              <a:lnSpc>
                <a:spcPct val="90000"/>
              </a:lnSpc>
            </a:pPr>
            <a:r>
              <a:rPr lang="en-US" dirty="0"/>
              <a:t>Dynamic access without external fragmentation, but have overhead of index block</a:t>
            </a:r>
          </a:p>
          <a:p>
            <a:pPr>
              <a:lnSpc>
                <a:spcPct val="90000"/>
              </a:lnSpc>
            </a:pPr>
            <a:r>
              <a:rPr lang="en-US" dirty="0"/>
              <a:t>Mapping from logical to physical in a file of maximum size of 256K words and block size of 512 words.  We need only 1 block for index table</a:t>
            </a:r>
          </a:p>
          <a:p>
            <a:endParaRPr lang="en-US" dirty="0" smtClean="0"/>
          </a:p>
        </p:txBody>
      </p:sp>
      <p:sp>
        <p:nvSpPr>
          <p:cNvPr id="20" name="Rectangle 4"/>
          <p:cNvSpPr>
            <a:spLocks noChangeArrowheads="1"/>
          </p:cNvSpPr>
          <p:nvPr/>
        </p:nvSpPr>
        <p:spPr bwMode="auto">
          <a:xfrm>
            <a:off x="777023" y="1862683"/>
            <a:ext cx="606425" cy="331787"/>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21" name="Rectangle 5"/>
          <p:cNvSpPr>
            <a:spLocks noChangeArrowheads="1"/>
          </p:cNvSpPr>
          <p:nvPr/>
        </p:nvSpPr>
        <p:spPr bwMode="auto">
          <a:xfrm>
            <a:off x="777023" y="2188119"/>
            <a:ext cx="606425" cy="331788"/>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22" name="Rectangle 6"/>
          <p:cNvSpPr>
            <a:spLocks noChangeArrowheads="1"/>
          </p:cNvSpPr>
          <p:nvPr/>
        </p:nvSpPr>
        <p:spPr bwMode="auto">
          <a:xfrm>
            <a:off x="777023" y="2513558"/>
            <a:ext cx="606425" cy="331787"/>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23" name="Rectangle 7"/>
          <p:cNvSpPr>
            <a:spLocks noChangeArrowheads="1"/>
          </p:cNvSpPr>
          <p:nvPr/>
        </p:nvSpPr>
        <p:spPr bwMode="auto">
          <a:xfrm>
            <a:off x="777023" y="2838994"/>
            <a:ext cx="606425" cy="331788"/>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24" name="Rectangle 8"/>
          <p:cNvSpPr>
            <a:spLocks noChangeArrowheads="1"/>
          </p:cNvSpPr>
          <p:nvPr/>
        </p:nvSpPr>
        <p:spPr bwMode="auto">
          <a:xfrm>
            <a:off x="777023" y="3164433"/>
            <a:ext cx="606425" cy="331787"/>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25" name="Rectangle 9"/>
          <p:cNvSpPr>
            <a:spLocks noChangeArrowheads="1"/>
          </p:cNvSpPr>
          <p:nvPr/>
        </p:nvSpPr>
        <p:spPr bwMode="auto">
          <a:xfrm>
            <a:off x="2335948" y="1876969"/>
            <a:ext cx="201613" cy="173038"/>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26" name="Rectangle 10"/>
          <p:cNvSpPr>
            <a:spLocks noChangeArrowheads="1"/>
          </p:cNvSpPr>
          <p:nvPr/>
        </p:nvSpPr>
        <p:spPr bwMode="auto">
          <a:xfrm>
            <a:off x="2335948" y="2245269"/>
            <a:ext cx="201613" cy="173038"/>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27" name="Rectangle 11"/>
          <p:cNvSpPr>
            <a:spLocks noChangeArrowheads="1"/>
          </p:cNvSpPr>
          <p:nvPr/>
        </p:nvSpPr>
        <p:spPr bwMode="auto">
          <a:xfrm>
            <a:off x="2335948" y="2613569"/>
            <a:ext cx="201613" cy="173038"/>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28" name="Rectangle 12"/>
          <p:cNvSpPr>
            <a:spLocks noChangeArrowheads="1"/>
          </p:cNvSpPr>
          <p:nvPr/>
        </p:nvSpPr>
        <p:spPr bwMode="auto">
          <a:xfrm>
            <a:off x="2335948" y="2981869"/>
            <a:ext cx="201613" cy="173038"/>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29" name="Rectangle 13"/>
          <p:cNvSpPr>
            <a:spLocks noChangeArrowheads="1"/>
          </p:cNvSpPr>
          <p:nvPr/>
        </p:nvSpPr>
        <p:spPr bwMode="auto">
          <a:xfrm>
            <a:off x="2335948" y="3350169"/>
            <a:ext cx="201613" cy="173038"/>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30" name="Line 14"/>
          <p:cNvSpPr>
            <a:spLocks noChangeShapeType="1"/>
          </p:cNvSpPr>
          <p:nvPr/>
        </p:nvSpPr>
        <p:spPr bwMode="auto">
          <a:xfrm>
            <a:off x="1412023" y="1964282"/>
            <a:ext cx="923925"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15"/>
          <p:cNvSpPr>
            <a:spLocks noChangeShapeType="1"/>
          </p:cNvSpPr>
          <p:nvPr/>
        </p:nvSpPr>
        <p:spPr bwMode="auto">
          <a:xfrm>
            <a:off x="1377098" y="2304007"/>
            <a:ext cx="923925"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16"/>
          <p:cNvSpPr>
            <a:spLocks noChangeShapeType="1"/>
          </p:cNvSpPr>
          <p:nvPr/>
        </p:nvSpPr>
        <p:spPr bwMode="auto">
          <a:xfrm>
            <a:off x="1385036" y="2715169"/>
            <a:ext cx="923925"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17"/>
          <p:cNvSpPr>
            <a:spLocks noChangeShapeType="1"/>
          </p:cNvSpPr>
          <p:nvPr/>
        </p:nvSpPr>
        <p:spPr bwMode="auto">
          <a:xfrm>
            <a:off x="1350111" y="3069182"/>
            <a:ext cx="923925"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18"/>
          <p:cNvSpPr>
            <a:spLocks noChangeShapeType="1"/>
          </p:cNvSpPr>
          <p:nvPr/>
        </p:nvSpPr>
        <p:spPr bwMode="auto">
          <a:xfrm>
            <a:off x="1372336" y="3423194"/>
            <a:ext cx="923925" cy="0"/>
          </a:xfrm>
          <a:prstGeom prst="line">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35" name="Text Box 19"/>
          <p:cNvSpPr txBox="1">
            <a:spLocks noChangeArrowheads="1"/>
          </p:cNvSpPr>
          <p:nvPr/>
        </p:nvSpPr>
        <p:spPr bwMode="auto">
          <a:xfrm>
            <a:off x="911960" y="3599407"/>
            <a:ext cx="1289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800" dirty="0">
                <a:latin typeface="Helvetica" panose="020B0604020202020204" pitchFamily="34" charset="0"/>
              </a:rPr>
              <a:t>index table</a:t>
            </a:r>
          </a:p>
        </p:txBody>
      </p:sp>
      <p:pic>
        <p:nvPicPr>
          <p:cNvPr id="3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5642" y="902244"/>
            <a:ext cx="4814532" cy="524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7351354" y="6165350"/>
            <a:ext cx="3623108" cy="369332"/>
          </a:xfrm>
          <a:prstGeom prst="rect">
            <a:avLst/>
          </a:prstGeom>
        </p:spPr>
        <p:txBody>
          <a:bodyPr wrap="none">
            <a:spAutoFit/>
          </a:bodyPr>
          <a:lstStyle/>
          <a:p>
            <a:r>
              <a:rPr lang="en-US" dirty="0"/>
              <a:t>Example of Indexed Allocation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1" y="0"/>
            <a:ext cx="10050834" cy="857250"/>
          </a:xfrm>
        </p:spPr>
        <p:txBody>
          <a:bodyPr/>
          <a:lstStyle/>
          <a:p>
            <a:pPr eaLnBrk="1" hangingPunct="1"/>
            <a:r>
              <a:rPr lang="en-US" b="1" dirty="0" smtClean="0"/>
              <a:t>Indexed Allocation (Cont.)</a:t>
            </a:r>
          </a:p>
        </p:txBody>
      </p:sp>
      <p:sp>
        <p:nvSpPr>
          <p:cNvPr id="60419" name="Rectangle 3"/>
          <p:cNvSpPr>
            <a:spLocks noGrp="1" noChangeArrowheads="1"/>
          </p:cNvSpPr>
          <p:nvPr>
            <p:ph type="body" idx="1"/>
          </p:nvPr>
        </p:nvSpPr>
        <p:spPr>
          <a:xfrm>
            <a:off x="95535" y="804222"/>
            <a:ext cx="12191999" cy="6053778"/>
          </a:xfrm>
        </p:spPr>
        <p:txBody>
          <a:bodyPr>
            <a:normAutofit/>
          </a:bodyPr>
          <a:lstStyle/>
          <a:p>
            <a:pPr marL="0" indent="0">
              <a:lnSpc>
                <a:spcPct val="90000"/>
              </a:lnSpc>
              <a:buNone/>
            </a:pPr>
            <a:endParaRPr lang="en-US" dirty="0" smtClean="0"/>
          </a:p>
          <a:p>
            <a:pPr marL="0" indent="0">
              <a:lnSpc>
                <a:spcPct val="90000"/>
              </a:lnSpc>
              <a:buNone/>
            </a:pPr>
            <a:endParaRPr lang="en-US" dirty="0"/>
          </a:p>
          <a:p>
            <a:pPr marL="0" indent="0">
              <a:lnSpc>
                <a:spcPct val="90000"/>
              </a:lnSpc>
              <a:buNone/>
            </a:pPr>
            <a:endParaRPr lang="en-US" dirty="0" smtClean="0"/>
          </a:p>
          <a:p>
            <a:pPr>
              <a:buClr>
                <a:schemeClr val="accent2"/>
              </a:buClr>
              <a:buFont typeface="Monotype Sorts" pitchFamily="2" charset="2"/>
              <a:buNone/>
            </a:pPr>
            <a:r>
              <a:rPr lang="en-US" sz="1800" dirty="0">
                <a:latin typeface="Helvetica" panose="020B0604020202020204" pitchFamily="34" charset="0"/>
              </a:rPr>
              <a:t>Q = displacement into index table</a:t>
            </a:r>
          </a:p>
          <a:p>
            <a:pPr>
              <a:buClr>
                <a:schemeClr val="accent2"/>
              </a:buClr>
              <a:buFont typeface="Monotype Sorts" pitchFamily="2" charset="2"/>
              <a:buNone/>
            </a:pPr>
            <a:r>
              <a:rPr lang="en-US" sz="1800" dirty="0">
                <a:latin typeface="Helvetica" panose="020B0604020202020204" pitchFamily="34" charset="0"/>
              </a:rPr>
              <a:t>R = displacement into block</a:t>
            </a:r>
          </a:p>
          <a:p>
            <a:pPr>
              <a:lnSpc>
                <a:spcPct val="90000"/>
              </a:lnSpc>
            </a:pPr>
            <a:r>
              <a:rPr lang="en-US" dirty="0"/>
              <a:t>Mapping from logical to physical in a file of unbounded length (block size of 512 words)</a:t>
            </a:r>
          </a:p>
          <a:p>
            <a:pPr>
              <a:lnSpc>
                <a:spcPct val="90000"/>
              </a:lnSpc>
            </a:pPr>
            <a:r>
              <a:rPr lang="en-US" dirty="0"/>
              <a:t>Linked scheme – Link blocks of index table (no limit on size)</a:t>
            </a:r>
          </a:p>
          <a:p>
            <a:pPr marL="0" indent="0">
              <a:lnSpc>
                <a:spcPct val="90000"/>
              </a:lnSpc>
              <a:buNone/>
            </a:pPr>
            <a:endParaRPr lang="en-US" dirty="0"/>
          </a:p>
        </p:txBody>
      </p:sp>
      <p:sp>
        <p:nvSpPr>
          <p:cNvPr id="60421" name="Text Box 5"/>
          <p:cNvSpPr txBox="1">
            <a:spLocks noChangeArrowheads="1"/>
          </p:cNvSpPr>
          <p:nvPr/>
        </p:nvSpPr>
        <p:spPr bwMode="auto">
          <a:xfrm>
            <a:off x="1590533" y="1005042"/>
            <a:ext cx="361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800" dirty="0">
                <a:latin typeface="Helvetica" panose="020B0604020202020204" pitchFamily="34" charset="0"/>
              </a:rPr>
              <a:t>Q</a:t>
            </a:r>
          </a:p>
        </p:txBody>
      </p:sp>
      <p:sp>
        <p:nvSpPr>
          <p:cNvPr id="60425" name="Rectangle 9"/>
          <p:cNvSpPr>
            <a:spLocks noChangeArrowheads="1"/>
          </p:cNvSpPr>
          <p:nvPr/>
        </p:nvSpPr>
        <p:spPr bwMode="auto">
          <a:xfrm>
            <a:off x="2981325" y="4960939"/>
            <a:ext cx="7029450" cy="83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buClr>
                <a:schemeClr val="accent2"/>
              </a:buClr>
              <a:buFont typeface="Monotype Sorts" pitchFamily="2" charset="2"/>
              <a:buNone/>
            </a:pPr>
            <a:endParaRPr lang="en-US" sz="1800" dirty="0">
              <a:latin typeface="Helvetica" panose="020B0604020202020204" pitchFamily="34" charset="0"/>
            </a:endParaRPr>
          </a:p>
        </p:txBody>
      </p:sp>
      <p:sp>
        <p:nvSpPr>
          <p:cNvPr id="10" name="Text Box 4"/>
          <p:cNvSpPr txBox="1">
            <a:spLocks noChangeArrowheads="1"/>
          </p:cNvSpPr>
          <p:nvPr/>
        </p:nvSpPr>
        <p:spPr bwMode="auto">
          <a:xfrm>
            <a:off x="501508" y="1294759"/>
            <a:ext cx="908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800" dirty="0">
                <a:latin typeface="Helvetica" panose="020B0604020202020204" pitchFamily="34" charset="0"/>
              </a:rPr>
              <a:t>LA/512</a:t>
            </a:r>
          </a:p>
        </p:txBody>
      </p:sp>
      <p:sp>
        <p:nvSpPr>
          <p:cNvPr id="11" name="Text Box 6"/>
          <p:cNvSpPr txBox="1">
            <a:spLocks noChangeArrowheads="1"/>
          </p:cNvSpPr>
          <p:nvPr/>
        </p:nvSpPr>
        <p:spPr bwMode="auto">
          <a:xfrm>
            <a:off x="1517508" y="1594796"/>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800">
                <a:latin typeface="Helvetica" panose="020B0604020202020204" pitchFamily="34" charset="0"/>
              </a:rPr>
              <a:t>R</a:t>
            </a:r>
          </a:p>
        </p:txBody>
      </p:sp>
      <p:sp>
        <p:nvSpPr>
          <p:cNvPr id="12" name="Line 7"/>
          <p:cNvSpPr>
            <a:spLocks noChangeShapeType="1"/>
          </p:cNvSpPr>
          <p:nvPr/>
        </p:nvSpPr>
        <p:spPr bwMode="auto">
          <a:xfrm flipV="1">
            <a:off x="1323834" y="1220147"/>
            <a:ext cx="258763"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8"/>
          <p:cNvSpPr>
            <a:spLocks noChangeShapeType="1"/>
          </p:cNvSpPr>
          <p:nvPr/>
        </p:nvSpPr>
        <p:spPr bwMode="auto">
          <a:xfrm>
            <a:off x="1331771" y="1531297"/>
            <a:ext cx="258762" cy="173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Text Box 4"/>
          <p:cNvSpPr txBox="1">
            <a:spLocks noChangeArrowheads="1"/>
          </p:cNvSpPr>
          <p:nvPr/>
        </p:nvSpPr>
        <p:spPr bwMode="auto">
          <a:xfrm>
            <a:off x="1582597" y="3879056"/>
            <a:ext cx="1631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600">
                <a:latin typeface="Helvetica" panose="020B0604020202020204" pitchFamily="34" charset="0"/>
              </a:rPr>
              <a:t>LA / (512 x 511)</a:t>
            </a:r>
          </a:p>
        </p:txBody>
      </p:sp>
      <p:sp>
        <p:nvSpPr>
          <p:cNvPr id="19" name="Text Box 5"/>
          <p:cNvSpPr txBox="1">
            <a:spLocks noChangeArrowheads="1"/>
          </p:cNvSpPr>
          <p:nvPr/>
        </p:nvSpPr>
        <p:spPr bwMode="auto">
          <a:xfrm>
            <a:off x="3536809" y="3626644"/>
            <a:ext cx="4206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600">
                <a:latin typeface="Helvetica" panose="020B0604020202020204" pitchFamily="34" charset="0"/>
              </a:rPr>
              <a:t>Q</a:t>
            </a:r>
            <a:r>
              <a:rPr lang="en-US" sz="1600" baseline="-25000">
                <a:latin typeface="Helvetica" panose="020B0604020202020204" pitchFamily="34" charset="0"/>
              </a:rPr>
              <a:t>1</a:t>
            </a:r>
            <a:endParaRPr lang="en-US" sz="1600">
              <a:latin typeface="Helvetica" panose="020B0604020202020204" pitchFamily="34" charset="0"/>
            </a:endParaRPr>
          </a:p>
        </p:txBody>
      </p:sp>
      <p:sp>
        <p:nvSpPr>
          <p:cNvPr id="20" name="Text Box 6"/>
          <p:cNvSpPr txBox="1">
            <a:spLocks noChangeArrowheads="1"/>
          </p:cNvSpPr>
          <p:nvPr/>
        </p:nvSpPr>
        <p:spPr bwMode="auto">
          <a:xfrm>
            <a:off x="3536809" y="4139406"/>
            <a:ext cx="407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600">
                <a:latin typeface="Helvetica" panose="020B0604020202020204" pitchFamily="34" charset="0"/>
              </a:rPr>
              <a:t>R</a:t>
            </a:r>
            <a:r>
              <a:rPr lang="en-US" sz="1600" baseline="-25000">
                <a:latin typeface="Helvetica" panose="020B0604020202020204" pitchFamily="34" charset="0"/>
              </a:rPr>
              <a:t>1</a:t>
            </a:r>
            <a:endParaRPr lang="en-US" sz="1600">
              <a:latin typeface="Helvetica" panose="020B0604020202020204" pitchFamily="34" charset="0"/>
            </a:endParaRPr>
          </a:p>
        </p:txBody>
      </p:sp>
      <p:sp>
        <p:nvSpPr>
          <p:cNvPr id="21" name="Line 7"/>
          <p:cNvSpPr>
            <a:spLocks noChangeShapeType="1"/>
          </p:cNvSpPr>
          <p:nvPr/>
        </p:nvSpPr>
        <p:spPr bwMode="auto">
          <a:xfrm flipV="1">
            <a:off x="3149459" y="3817144"/>
            <a:ext cx="41910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8"/>
          <p:cNvSpPr>
            <a:spLocks noChangeShapeType="1"/>
          </p:cNvSpPr>
          <p:nvPr/>
        </p:nvSpPr>
        <p:spPr bwMode="auto">
          <a:xfrm>
            <a:off x="3141522" y="4058444"/>
            <a:ext cx="41910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Text Box 10"/>
          <p:cNvSpPr txBox="1">
            <a:spLocks noChangeArrowheads="1"/>
          </p:cNvSpPr>
          <p:nvPr/>
        </p:nvSpPr>
        <p:spPr bwMode="auto">
          <a:xfrm>
            <a:off x="2022335" y="5244306"/>
            <a:ext cx="917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600">
                <a:latin typeface="Helvetica" panose="020B0604020202020204" pitchFamily="34" charset="0"/>
              </a:rPr>
              <a:t>R</a:t>
            </a:r>
            <a:r>
              <a:rPr lang="en-US" sz="1600" baseline="-25000">
                <a:latin typeface="Helvetica" panose="020B0604020202020204" pitchFamily="34" charset="0"/>
              </a:rPr>
              <a:t>1</a:t>
            </a:r>
            <a:r>
              <a:rPr lang="en-US" sz="1600">
                <a:latin typeface="Helvetica" panose="020B0604020202020204" pitchFamily="34" charset="0"/>
              </a:rPr>
              <a:t> / 512</a:t>
            </a:r>
          </a:p>
        </p:txBody>
      </p:sp>
      <p:sp>
        <p:nvSpPr>
          <p:cNvPr id="24" name="Text Box 11"/>
          <p:cNvSpPr txBox="1">
            <a:spLocks noChangeArrowheads="1"/>
          </p:cNvSpPr>
          <p:nvPr/>
        </p:nvSpPr>
        <p:spPr bwMode="auto">
          <a:xfrm>
            <a:off x="3241534" y="4977606"/>
            <a:ext cx="4206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600">
                <a:latin typeface="Helvetica" panose="020B0604020202020204" pitchFamily="34" charset="0"/>
              </a:rPr>
              <a:t>Q</a:t>
            </a:r>
            <a:r>
              <a:rPr lang="en-US" sz="1600" baseline="-25000">
                <a:latin typeface="Helvetica" panose="020B0604020202020204" pitchFamily="34" charset="0"/>
              </a:rPr>
              <a:t>2</a:t>
            </a:r>
            <a:endParaRPr lang="en-US" sz="1600">
              <a:latin typeface="Helvetica" panose="020B0604020202020204" pitchFamily="34" charset="0"/>
            </a:endParaRPr>
          </a:p>
        </p:txBody>
      </p:sp>
      <p:sp>
        <p:nvSpPr>
          <p:cNvPr id="25" name="Text Box 12"/>
          <p:cNvSpPr txBox="1">
            <a:spLocks noChangeArrowheads="1"/>
          </p:cNvSpPr>
          <p:nvPr/>
        </p:nvSpPr>
        <p:spPr bwMode="auto">
          <a:xfrm>
            <a:off x="3241534" y="5490369"/>
            <a:ext cx="407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600">
                <a:latin typeface="Helvetica" panose="020B0604020202020204" pitchFamily="34" charset="0"/>
              </a:rPr>
              <a:t>R</a:t>
            </a:r>
            <a:r>
              <a:rPr lang="en-US" sz="1600" baseline="-25000">
                <a:latin typeface="Helvetica" panose="020B0604020202020204" pitchFamily="34" charset="0"/>
              </a:rPr>
              <a:t>2</a:t>
            </a:r>
            <a:endParaRPr lang="en-US" sz="1600">
              <a:latin typeface="Helvetica" panose="020B0604020202020204" pitchFamily="34" charset="0"/>
            </a:endParaRPr>
          </a:p>
        </p:txBody>
      </p:sp>
      <p:sp>
        <p:nvSpPr>
          <p:cNvPr id="26" name="Line 13"/>
          <p:cNvSpPr>
            <a:spLocks noChangeShapeType="1"/>
          </p:cNvSpPr>
          <p:nvPr/>
        </p:nvSpPr>
        <p:spPr bwMode="auto">
          <a:xfrm flipV="1">
            <a:off x="2854184" y="5168106"/>
            <a:ext cx="41910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14"/>
          <p:cNvSpPr>
            <a:spLocks noChangeShapeType="1"/>
          </p:cNvSpPr>
          <p:nvPr/>
        </p:nvSpPr>
        <p:spPr bwMode="auto">
          <a:xfrm>
            <a:off x="2846247" y="5409406"/>
            <a:ext cx="41910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 name="Rectangle 1"/>
          <p:cNvSpPr/>
          <p:nvPr/>
        </p:nvSpPr>
        <p:spPr>
          <a:xfrm>
            <a:off x="0" y="4319875"/>
            <a:ext cx="6096000" cy="646331"/>
          </a:xfrm>
          <a:prstGeom prst="rect">
            <a:avLst/>
          </a:prstGeom>
        </p:spPr>
        <p:txBody>
          <a:bodyPr>
            <a:spAutoFit/>
          </a:bodyPr>
          <a:lstStyle/>
          <a:p>
            <a:pPr lvl="1">
              <a:buClr>
                <a:schemeClr val="accent2"/>
              </a:buClr>
              <a:buFont typeface="Monotype Sorts" pitchFamily="2" charset="2"/>
              <a:buNone/>
            </a:pPr>
            <a:r>
              <a:rPr lang="en-US" i="1" dirty="0">
                <a:latin typeface="Helvetica" panose="020B0604020202020204" pitchFamily="34" charset="0"/>
              </a:rPr>
              <a:t>Q</a:t>
            </a:r>
            <a:r>
              <a:rPr lang="en-US" i="1" baseline="-25000" dirty="0">
                <a:latin typeface="Helvetica" panose="020B0604020202020204" pitchFamily="34" charset="0"/>
              </a:rPr>
              <a:t>1</a:t>
            </a:r>
            <a:r>
              <a:rPr lang="en-US" i="1" dirty="0">
                <a:latin typeface="Helvetica" panose="020B0604020202020204" pitchFamily="34" charset="0"/>
              </a:rPr>
              <a:t> </a:t>
            </a:r>
            <a:r>
              <a:rPr lang="en-US" dirty="0">
                <a:latin typeface="Helvetica" panose="020B0604020202020204" pitchFamily="34" charset="0"/>
              </a:rPr>
              <a:t>= block of index table</a:t>
            </a:r>
          </a:p>
          <a:p>
            <a:pPr lvl="1">
              <a:buClr>
                <a:schemeClr val="accent2"/>
              </a:buClr>
              <a:buFont typeface="Monotype Sorts" pitchFamily="2" charset="2"/>
              <a:buNone/>
            </a:pPr>
            <a:r>
              <a:rPr lang="en-US" i="1" dirty="0">
                <a:latin typeface="Helvetica" panose="020B0604020202020204" pitchFamily="34" charset="0"/>
              </a:rPr>
              <a:t>R</a:t>
            </a:r>
            <a:r>
              <a:rPr lang="en-US" i="1" baseline="-25000" dirty="0">
                <a:latin typeface="Helvetica" panose="020B0604020202020204" pitchFamily="34" charset="0"/>
              </a:rPr>
              <a:t>1</a:t>
            </a:r>
            <a:r>
              <a:rPr lang="en-US" i="1" dirty="0">
                <a:latin typeface="Helvetica" panose="020B0604020202020204" pitchFamily="34" charset="0"/>
              </a:rPr>
              <a:t> </a:t>
            </a:r>
            <a:r>
              <a:rPr lang="en-US" dirty="0">
                <a:latin typeface="Helvetica" panose="020B0604020202020204" pitchFamily="34" charset="0"/>
              </a:rPr>
              <a:t>is used as follows:</a:t>
            </a:r>
          </a:p>
        </p:txBody>
      </p:sp>
      <p:sp>
        <p:nvSpPr>
          <p:cNvPr id="3" name="Rectangle 2"/>
          <p:cNvSpPr/>
          <p:nvPr/>
        </p:nvSpPr>
        <p:spPr>
          <a:xfrm>
            <a:off x="-193816" y="5858956"/>
            <a:ext cx="6096000" cy="646331"/>
          </a:xfrm>
          <a:prstGeom prst="rect">
            <a:avLst/>
          </a:prstGeom>
        </p:spPr>
        <p:txBody>
          <a:bodyPr>
            <a:spAutoFit/>
          </a:bodyPr>
          <a:lstStyle/>
          <a:p>
            <a:pPr lvl="1">
              <a:buClr>
                <a:schemeClr val="accent2"/>
              </a:buClr>
              <a:buFont typeface="Monotype Sorts" pitchFamily="2" charset="2"/>
              <a:buNone/>
            </a:pPr>
            <a:r>
              <a:rPr lang="en-US" i="1" dirty="0">
                <a:latin typeface="Helvetica" panose="020B0604020202020204" pitchFamily="34" charset="0"/>
              </a:rPr>
              <a:t>Q</a:t>
            </a:r>
            <a:r>
              <a:rPr lang="en-US" baseline="-25000" dirty="0">
                <a:latin typeface="Helvetica" panose="020B0604020202020204" pitchFamily="34" charset="0"/>
              </a:rPr>
              <a:t>2</a:t>
            </a:r>
            <a:r>
              <a:rPr lang="en-US" dirty="0">
                <a:latin typeface="Helvetica" panose="020B0604020202020204" pitchFamily="34" charset="0"/>
              </a:rPr>
              <a:t> = displacement into block of index table</a:t>
            </a:r>
          </a:p>
          <a:p>
            <a:pPr lvl="1">
              <a:buClr>
                <a:schemeClr val="accent2"/>
              </a:buClr>
              <a:buFont typeface="Monotype Sorts" pitchFamily="2" charset="2"/>
              <a:buNone/>
            </a:pPr>
            <a:r>
              <a:rPr lang="en-US" i="1" dirty="0">
                <a:latin typeface="Helvetica" panose="020B0604020202020204" pitchFamily="34" charset="0"/>
              </a:rPr>
              <a:t>R</a:t>
            </a:r>
            <a:r>
              <a:rPr lang="en-US" baseline="-25000" dirty="0">
                <a:latin typeface="Helvetica" panose="020B0604020202020204" pitchFamily="34" charset="0"/>
              </a:rPr>
              <a:t>2</a:t>
            </a:r>
            <a:r>
              <a:rPr lang="en-US" dirty="0">
                <a:latin typeface="Helvetica" panose="020B0604020202020204" pitchFamily="34" charset="0"/>
              </a:rPr>
              <a:t> displacement into block of file: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0" y="16667"/>
            <a:ext cx="10560050" cy="747715"/>
          </a:xfrm>
        </p:spPr>
        <p:txBody>
          <a:bodyPr/>
          <a:lstStyle/>
          <a:p>
            <a:pPr eaLnBrk="1" hangingPunct="1"/>
            <a:r>
              <a:rPr lang="en-US" b="1" dirty="0" smtClean="0"/>
              <a:t>Indexed Allocation – Mapping (Cont.)</a:t>
            </a:r>
          </a:p>
        </p:txBody>
      </p:sp>
      <p:sp>
        <p:nvSpPr>
          <p:cNvPr id="64515" name="Rectangle 3"/>
          <p:cNvSpPr>
            <a:spLocks noGrp="1" noChangeArrowheads="1"/>
          </p:cNvSpPr>
          <p:nvPr>
            <p:ph type="body" idx="1"/>
          </p:nvPr>
        </p:nvSpPr>
        <p:spPr>
          <a:xfrm>
            <a:off x="0" y="796529"/>
            <a:ext cx="10560050" cy="1043782"/>
          </a:xfrm>
        </p:spPr>
        <p:txBody>
          <a:bodyPr/>
          <a:lstStyle/>
          <a:p>
            <a:r>
              <a:rPr lang="en-US" dirty="0" smtClean="0"/>
              <a:t>Two-level index (maximum file size is 512</a:t>
            </a:r>
            <a:r>
              <a:rPr lang="en-US" baseline="30000" dirty="0" smtClean="0"/>
              <a:t>3</a:t>
            </a:r>
            <a:r>
              <a:rPr lang="en-US" dirty="0" smtClean="0"/>
              <a:t>)</a:t>
            </a:r>
          </a:p>
        </p:txBody>
      </p:sp>
      <p:sp>
        <p:nvSpPr>
          <p:cNvPr id="64521" name="Rectangle 9"/>
          <p:cNvSpPr>
            <a:spLocks noChangeArrowheads="1"/>
          </p:cNvSpPr>
          <p:nvPr/>
        </p:nvSpPr>
        <p:spPr bwMode="auto">
          <a:xfrm>
            <a:off x="2365375" y="3581400"/>
            <a:ext cx="702945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4161750" indent="-24161750">
              <a:defRPr sz="2400">
                <a:solidFill>
                  <a:schemeClr val="tx1"/>
                </a:solidFill>
                <a:latin typeface="Verdana" panose="020B0604030504040204" pitchFamily="34" charset="0"/>
                <a:ea typeface="ＭＳ Ｐゴシック" panose="020B0600070205080204" pitchFamily="34" charset="-128"/>
              </a:defRPr>
            </a:lvl1pPr>
            <a:lvl2pPr marL="628650" indent="-285750">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lvl="1">
              <a:buClr>
                <a:schemeClr val="accent2"/>
              </a:buClr>
              <a:buFont typeface="Monotype Sorts" pitchFamily="2" charset="2"/>
              <a:buNone/>
            </a:pPr>
            <a:endParaRPr lang="en-US" sz="1800" dirty="0">
              <a:latin typeface="Helvetica" panose="020B0604020202020204" pitchFamily="34" charset="0"/>
            </a:endParaRPr>
          </a:p>
        </p:txBody>
      </p:sp>
      <p:sp>
        <p:nvSpPr>
          <p:cNvPr id="64527" name="Rectangle 15"/>
          <p:cNvSpPr>
            <a:spLocks noChangeArrowheads="1"/>
          </p:cNvSpPr>
          <p:nvPr/>
        </p:nvSpPr>
        <p:spPr bwMode="auto">
          <a:xfrm>
            <a:off x="2365375" y="5075239"/>
            <a:ext cx="7029450"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4161750" indent="-24161750">
              <a:defRPr sz="2400">
                <a:solidFill>
                  <a:schemeClr val="tx1"/>
                </a:solidFill>
                <a:latin typeface="Verdana" panose="020B0604030504040204" pitchFamily="34" charset="0"/>
                <a:ea typeface="ＭＳ Ｐゴシック" panose="020B0600070205080204" pitchFamily="34" charset="-128"/>
              </a:defRPr>
            </a:lvl1pPr>
            <a:lvl2pPr marL="628650" indent="-285750">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lvl="1">
              <a:buClr>
                <a:schemeClr val="accent2"/>
              </a:buClr>
              <a:buFont typeface="Monotype Sorts" pitchFamily="2" charset="2"/>
              <a:buNone/>
            </a:pPr>
            <a:endParaRPr lang="en-US" sz="1800" dirty="0">
              <a:latin typeface="Helvetica" panose="020B0604020202020204" pitchFamily="34" charset="0"/>
            </a:endParaRPr>
          </a:p>
        </p:txBody>
      </p:sp>
      <p:sp>
        <p:nvSpPr>
          <p:cNvPr id="16" name="Text Box 4"/>
          <p:cNvSpPr txBox="1">
            <a:spLocks noChangeArrowheads="1"/>
          </p:cNvSpPr>
          <p:nvPr/>
        </p:nvSpPr>
        <p:spPr bwMode="auto">
          <a:xfrm>
            <a:off x="1423632" y="1351758"/>
            <a:ext cx="1631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600" dirty="0">
                <a:latin typeface="Helvetica" panose="020B0604020202020204" pitchFamily="34" charset="0"/>
              </a:rPr>
              <a:t>LA / (512 x 512)</a:t>
            </a:r>
          </a:p>
        </p:txBody>
      </p:sp>
      <p:sp>
        <p:nvSpPr>
          <p:cNvPr id="17" name="Text Box 5"/>
          <p:cNvSpPr txBox="1">
            <a:spLocks noChangeArrowheads="1"/>
          </p:cNvSpPr>
          <p:nvPr/>
        </p:nvSpPr>
        <p:spPr bwMode="auto">
          <a:xfrm>
            <a:off x="3377846" y="1099346"/>
            <a:ext cx="4206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600">
                <a:latin typeface="Helvetica" panose="020B0604020202020204" pitchFamily="34" charset="0"/>
              </a:rPr>
              <a:t>Q</a:t>
            </a:r>
            <a:r>
              <a:rPr lang="en-US" sz="1600" baseline="-25000">
                <a:latin typeface="Helvetica" panose="020B0604020202020204" pitchFamily="34" charset="0"/>
              </a:rPr>
              <a:t>1</a:t>
            </a:r>
            <a:endParaRPr lang="en-US" sz="1600">
              <a:latin typeface="Helvetica" panose="020B0604020202020204" pitchFamily="34" charset="0"/>
            </a:endParaRPr>
          </a:p>
        </p:txBody>
      </p:sp>
      <p:sp>
        <p:nvSpPr>
          <p:cNvPr id="18" name="Text Box 6"/>
          <p:cNvSpPr txBox="1">
            <a:spLocks noChangeArrowheads="1"/>
          </p:cNvSpPr>
          <p:nvPr/>
        </p:nvSpPr>
        <p:spPr bwMode="auto">
          <a:xfrm>
            <a:off x="3377846" y="1612108"/>
            <a:ext cx="4079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600">
                <a:latin typeface="Helvetica" panose="020B0604020202020204" pitchFamily="34" charset="0"/>
              </a:rPr>
              <a:t>R</a:t>
            </a:r>
            <a:r>
              <a:rPr lang="en-US" sz="1600" baseline="-25000">
                <a:latin typeface="Helvetica" panose="020B0604020202020204" pitchFamily="34" charset="0"/>
              </a:rPr>
              <a:t>1</a:t>
            </a:r>
            <a:endParaRPr lang="en-US" sz="1600">
              <a:latin typeface="Helvetica" panose="020B0604020202020204" pitchFamily="34" charset="0"/>
            </a:endParaRPr>
          </a:p>
        </p:txBody>
      </p:sp>
      <p:sp>
        <p:nvSpPr>
          <p:cNvPr id="19" name="Line 7"/>
          <p:cNvSpPr>
            <a:spLocks noChangeShapeType="1"/>
          </p:cNvSpPr>
          <p:nvPr/>
        </p:nvSpPr>
        <p:spPr bwMode="auto">
          <a:xfrm flipV="1">
            <a:off x="2990495" y="1289846"/>
            <a:ext cx="41910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8"/>
          <p:cNvSpPr>
            <a:spLocks noChangeShapeType="1"/>
          </p:cNvSpPr>
          <p:nvPr/>
        </p:nvSpPr>
        <p:spPr bwMode="auto">
          <a:xfrm>
            <a:off x="2982557" y="1531146"/>
            <a:ext cx="41910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Text Box 10"/>
          <p:cNvSpPr txBox="1">
            <a:spLocks noChangeArrowheads="1"/>
          </p:cNvSpPr>
          <p:nvPr/>
        </p:nvSpPr>
        <p:spPr bwMode="auto">
          <a:xfrm>
            <a:off x="1791933" y="3380583"/>
            <a:ext cx="917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600">
                <a:latin typeface="Helvetica" panose="020B0604020202020204" pitchFamily="34" charset="0"/>
              </a:rPr>
              <a:t>R</a:t>
            </a:r>
            <a:r>
              <a:rPr lang="en-US" sz="1600" baseline="-25000">
                <a:latin typeface="Helvetica" panose="020B0604020202020204" pitchFamily="34" charset="0"/>
              </a:rPr>
              <a:t>1</a:t>
            </a:r>
            <a:r>
              <a:rPr lang="en-US" sz="1600">
                <a:latin typeface="Helvetica" panose="020B0604020202020204" pitchFamily="34" charset="0"/>
              </a:rPr>
              <a:t> / 512</a:t>
            </a:r>
          </a:p>
        </p:txBody>
      </p:sp>
      <p:sp>
        <p:nvSpPr>
          <p:cNvPr id="22" name="Text Box 11"/>
          <p:cNvSpPr txBox="1">
            <a:spLocks noChangeArrowheads="1"/>
          </p:cNvSpPr>
          <p:nvPr/>
        </p:nvSpPr>
        <p:spPr bwMode="auto">
          <a:xfrm>
            <a:off x="3011132" y="3113883"/>
            <a:ext cx="4206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600">
                <a:latin typeface="Helvetica" panose="020B0604020202020204" pitchFamily="34" charset="0"/>
              </a:rPr>
              <a:t>Q</a:t>
            </a:r>
            <a:r>
              <a:rPr lang="en-US" sz="1600" baseline="-25000">
                <a:latin typeface="Helvetica" panose="020B0604020202020204" pitchFamily="34" charset="0"/>
              </a:rPr>
              <a:t>2</a:t>
            </a:r>
            <a:endParaRPr lang="en-US" sz="1600">
              <a:latin typeface="Helvetica" panose="020B0604020202020204" pitchFamily="34" charset="0"/>
            </a:endParaRPr>
          </a:p>
        </p:txBody>
      </p:sp>
      <p:sp>
        <p:nvSpPr>
          <p:cNvPr id="23" name="Text Box 12"/>
          <p:cNvSpPr txBox="1">
            <a:spLocks noChangeArrowheads="1"/>
          </p:cNvSpPr>
          <p:nvPr/>
        </p:nvSpPr>
        <p:spPr bwMode="auto">
          <a:xfrm>
            <a:off x="3011132" y="3626646"/>
            <a:ext cx="407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600">
                <a:latin typeface="Helvetica" panose="020B0604020202020204" pitchFamily="34" charset="0"/>
              </a:rPr>
              <a:t>R</a:t>
            </a:r>
            <a:r>
              <a:rPr lang="en-US" sz="1600" baseline="-25000">
                <a:latin typeface="Helvetica" panose="020B0604020202020204" pitchFamily="34" charset="0"/>
              </a:rPr>
              <a:t>2</a:t>
            </a:r>
            <a:endParaRPr lang="en-US" sz="1600">
              <a:latin typeface="Helvetica" panose="020B0604020202020204" pitchFamily="34" charset="0"/>
            </a:endParaRPr>
          </a:p>
        </p:txBody>
      </p:sp>
      <p:sp>
        <p:nvSpPr>
          <p:cNvPr id="24" name="Line 13"/>
          <p:cNvSpPr>
            <a:spLocks noChangeShapeType="1"/>
          </p:cNvSpPr>
          <p:nvPr/>
        </p:nvSpPr>
        <p:spPr bwMode="auto">
          <a:xfrm flipV="1">
            <a:off x="2623782" y="3304383"/>
            <a:ext cx="41910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14"/>
          <p:cNvSpPr>
            <a:spLocks noChangeShapeType="1"/>
          </p:cNvSpPr>
          <p:nvPr/>
        </p:nvSpPr>
        <p:spPr bwMode="auto">
          <a:xfrm>
            <a:off x="2615845" y="3545683"/>
            <a:ext cx="419100" cy="203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 name="Rectangle 1"/>
          <p:cNvSpPr/>
          <p:nvPr/>
        </p:nvSpPr>
        <p:spPr>
          <a:xfrm>
            <a:off x="92869" y="2055597"/>
            <a:ext cx="6096000" cy="646331"/>
          </a:xfrm>
          <a:prstGeom prst="rect">
            <a:avLst/>
          </a:prstGeom>
        </p:spPr>
        <p:txBody>
          <a:bodyPr>
            <a:spAutoFit/>
          </a:bodyPr>
          <a:lstStyle/>
          <a:p>
            <a:pPr lvl="1">
              <a:buClr>
                <a:schemeClr val="accent2"/>
              </a:buClr>
              <a:buFont typeface="Monotype Sorts" pitchFamily="2" charset="2"/>
              <a:buNone/>
            </a:pPr>
            <a:r>
              <a:rPr lang="en-US" i="1" dirty="0">
                <a:latin typeface="Helvetica" panose="020B0604020202020204" pitchFamily="34" charset="0"/>
              </a:rPr>
              <a:t>Q</a:t>
            </a:r>
            <a:r>
              <a:rPr lang="en-US" baseline="-25000" dirty="0">
                <a:latin typeface="Helvetica" panose="020B0604020202020204" pitchFamily="34" charset="0"/>
              </a:rPr>
              <a:t>1</a:t>
            </a:r>
            <a:r>
              <a:rPr lang="en-US" dirty="0">
                <a:latin typeface="Helvetica" panose="020B0604020202020204" pitchFamily="34" charset="0"/>
              </a:rPr>
              <a:t> = displacement into outer-index</a:t>
            </a:r>
          </a:p>
          <a:p>
            <a:pPr lvl="1">
              <a:buClr>
                <a:schemeClr val="accent2"/>
              </a:buClr>
              <a:buFont typeface="Monotype Sorts" pitchFamily="2" charset="2"/>
              <a:buNone/>
            </a:pPr>
            <a:r>
              <a:rPr lang="en-US" i="1" dirty="0">
                <a:latin typeface="Helvetica" panose="020B0604020202020204" pitchFamily="34" charset="0"/>
              </a:rPr>
              <a:t>R</a:t>
            </a:r>
            <a:r>
              <a:rPr lang="en-US" baseline="-25000" dirty="0">
                <a:latin typeface="Helvetica" panose="020B0604020202020204" pitchFamily="34" charset="0"/>
              </a:rPr>
              <a:t>1</a:t>
            </a:r>
            <a:r>
              <a:rPr lang="en-US" dirty="0">
                <a:latin typeface="Helvetica" panose="020B0604020202020204" pitchFamily="34" charset="0"/>
              </a:rPr>
              <a:t> is used as follows:</a:t>
            </a:r>
          </a:p>
        </p:txBody>
      </p:sp>
      <p:sp>
        <p:nvSpPr>
          <p:cNvPr id="3" name="Rectangle 2"/>
          <p:cNvSpPr/>
          <p:nvPr/>
        </p:nvSpPr>
        <p:spPr>
          <a:xfrm>
            <a:off x="6091" y="3938716"/>
            <a:ext cx="6096000" cy="646331"/>
          </a:xfrm>
          <a:prstGeom prst="rect">
            <a:avLst/>
          </a:prstGeom>
        </p:spPr>
        <p:txBody>
          <a:bodyPr>
            <a:spAutoFit/>
          </a:bodyPr>
          <a:lstStyle/>
          <a:p>
            <a:pPr lvl="1">
              <a:buClr>
                <a:schemeClr val="accent2"/>
              </a:buClr>
              <a:buFont typeface="Monotype Sorts" pitchFamily="2" charset="2"/>
              <a:buNone/>
            </a:pPr>
            <a:r>
              <a:rPr lang="en-US" i="1" dirty="0">
                <a:latin typeface="Helvetica" panose="020B0604020202020204" pitchFamily="34" charset="0"/>
              </a:rPr>
              <a:t>Q</a:t>
            </a:r>
            <a:r>
              <a:rPr lang="en-US" baseline="-25000" dirty="0">
                <a:latin typeface="Helvetica" panose="020B0604020202020204" pitchFamily="34" charset="0"/>
              </a:rPr>
              <a:t>2</a:t>
            </a:r>
            <a:r>
              <a:rPr lang="en-US" dirty="0">
                <a:latin typeface="Helvetica" panose="020B0604020202020204" pitchFamily="34" charset="0"/>
              </a:rPr>
              <a:t> = displacement into block of index table</a:t>
            </a:r>
          </a:p>
          <a:p>
            <a:pPr lvl="1">
              <a:buClr>
                <a:schemeClr val="accent2"/>
              </a:buClr>
              <a:buFont typeface="Monotype Sorts" pitchFamily="2" charset="2"/>
              <a:buNone/>
            </a:pPr>
            <a:r>
              <a:rPr lang="en-US" i="1" dirty="0">
                <a:latin typeface="Helvetica" panose="020B0604020202020204" pitchFamily="34" charset="0"/>
              </a:rPr>
              <a:t>R</a:t>
            </a:r>
            <a:r>
              <a:rPr lang="en-US" baseline="-25000" dirty="0">
                <a:latin typeface="Helvetica" panose="020B0604020202020204" pitchFamily="34" charset="0"/>
              </a:rPr>
              <a:t>2</a:t>
            </a:r>
            <a:r>
              <a:rPr lang="en-US" dirty="0">
                <a:latin typeface="Helvetica" panose="020B0604020202020204" pitchFamily="34" charset="0"/>
              </a:rPr>
              <a:t> displacement into block of file:</a:t>
            </a:r>
          </a:p>
        </p:txBody>
      </p:sp>
      <p:sp>
        <p:nvSpPr>
          <p:cNvPr id="28" name="Rectangle 3"/>
          <p:cNvSpPr>
            <a:spLocks noChangeArrowheads="1"/>
          </p:cNvSpPr>
          <p:nvPr/>
        </p:nvSpPr>
        <p:spPr bwMode="auto">
          <a:xfrm>
            <a:off x="8334020" y="1468439"/>
            <a:ext cx="1674812" cy="3824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29" name="Rectangle 4"/>
          <p:cNvSpPr>
            <a:spLocks noChangeArrowheads="1"/>
          </p:cNvSpPr>
          <p:nvPr/>
        </p:nvSpPr>
        <p:spPr bwMode="auto">
          <a:xfrm>
            <a:off x="8622945" y="1771653"/>
            <a:ext cx="1096962" cy="274637"/>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30" name="Rectangle 5"/>
          <p:cNvSpPr>
            <a:spLocks noChangeArrowheads="1"/>
          </p:cNvSpPr>
          <p:nvPr/>
        </p:nvSpPr>
        <p:spPr bwMode="auto">
          <a:xfrm>
            <a:off x="8624533" y="2049464"/>
            <a:ext cx="1096963" cy="274638"/>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31" name="Rectangle 6"/>
          <p:cNvSpPr>
            <a:spLocks noChangeArrowheads="1"/>
          </p:cNvSpPr>
          <p:nvPr/>
        </p:nvSpPr>
        <p:spPr bwMode="auto">
          <a:xfrm>
            <a:off x="8626120" y="2278064"/>
            <a:ext cx="1096962" cy="274638"/>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32" name="Rectangle 7"/>
          <p:cNvSpPr>
            <a:spLocks noChangeArrowheads="1"/>
          </p:cNvSpPr>
          <p:nvPr/>
        </p:nvSpPr>
        <p:spPr bwMode="auto">
          <a:xfrm>
            <a:off x="8622945" y="2914653"/>
            <a:ext cx="1096962" cy="274637"/>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33" name="Rectangle 8"/>
          <p:cNvSpPr>
            <a:spLocks noChangeArrowheads="1"/>
          </p:cNvSpPr>
          <p:nvPr/>
        </p:nvSpPr>
        <p:spPr bwMode="auto">
          <a:xfrm>
            <a:off x="8624533" y="3192464"/>
            <a:ext cx="1096963" cy="274638"/>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34" name="Rectangle 9"/>
          <p:cNvSpPr>
            <a:spLocks noChangeArrowheads="1"/>
          </p:cNvSpPr>
          <p:nvPr/>
        </p:nvSpPr>
        <p:spPr bwMode="auto">
          <a:xfrm>
            <a:off x="8624532" y="4106864"/>
            <a:ext cx="1066800" cy="83820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35" name="Rectangle 10"/>
          <p:cNvSpPr>
            <a:spLocks noChangeArrowheads="1"/>
          </p:cNvSpPr>
          <p:nvPr/>
        </p:nvSpPr>
        <p:spPr bwMode="auto">
          <a:xfrm>
            <a:off x="10834332" y="1287464"/>
            <a:ext cx="1066800" cy="403860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36" name="Rectangle 11"/>
          <p:cNvSpPr>
            <a:spLocks noChangeArrowheads="1"/>
          </p:cNvSpPr>
          <p:nvPr/>
        </p:nvSpPr>
        <p:spPr bwMode="auto">
          <a:xfrm>
            <a:off x="11015308" y="1516064"/>
            <a:ext cx="733425" cy="68580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37" name="Rectangle 12"/>
          <p:cNvSpPr>
            <a:spLocks noChangeArrowheads="1"/>
          </p:cNvSpPr>
          <p:nvPr/>
        </p:nvSpPr>
        <p:spPr bwMode="auto">
          <a:xfrm>
            <a:off x="11015308" y="2430464"/>
            <a:ext cx="733425" cy="68580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38" name="Rectangle 13"/>
          <p:cNvSpPr>
            <a:spLocks noChangeArrowheads="1"/>
          </p:cNvSpPr>
          <p:nvPr/>
        </p:nvSpPr>
        <p:spPr bwMode="auto">
          <a:xfrm>
            <a:off x="11015308" y="3344864"/>
            <a:ext cx="733425" cy="68580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39" name="Rectangle 14"/>
          <p:cNvSpPr>
            <a:spLocks noChangeArrowheads="1"/>
          </p:cNvSpPr>
          <p:nvPr/>
        </p:nvSpPr>
        <p:spPr bwMode="auto">
          <a:xfrm>
            <a:off x="6641745" y="2000253"/>
            <a:ext cx="1096962" cy="274637"/>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40" name="Rectangle 15"/>
          <p:cNvSpPr>
            <a:spLocks noChangeArrowheads="1"/>
          </p:cNvSpPr>
          <p:nvPr/>
        </p:nvSpPr>
        <p:spPr bwMode="auto">
          <a:xfrm>
            <a:off x="6643333" y="2230439"/>
            <a:ext cx="1096963" cy="274638"/>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41" name="Rectangle 16"/>
          <p:cNvSpPr>
            <a:spLocks noChangeArrowheads="1"/>
          </p:cNvSpPr>
          <p:nvPr/>
        </p:nvSpPr>
        <p:spPr bwMode="auto">
          <a:xfrm>
            <a:off x="6643333" y="2506664"/>
            <a:ext cx="1096963" cy="175260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42" name="Rectangle 17"/>
          <p:cNvSpPr>
            <a:spLocks noChangeArrowheads="1"/>
          </p:cNvSpPr>
          <p:nvPr/>
        </p:nvSpPr>
        <p:spPr bwMode="auto">
          <a:xfrm>
            <a:off x="6643333" y="4259264"/>
            <a:ext cx="1096963" cy="274638"/>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43" name="Rectangle 18"/>
          <p:cNvSpPr>
            <a:spLocks noChangeArrowheads="1"/>
          </p:cNvSpPr>
          <p:nvPr/>
        </p:nvSpPr>
        <p:spPr bwMode="auto">
          <a:xfrm>
            <a:off x="5005033" y="1973264"/>
            <a:ext cx="1096963" cy="274638"/>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44" name="Line 19"/>
          <p:cNvSpPr>
            <a:spLocks noChangeShapeType="1"/>
          </p:cNvSpPr>
          <p:nvPr/>
        </p:nvSpPr>
        <p:spPr bwMode="auto">
          <a:xfrm>
            <a:off x="6109932" y="2097089"/>
            <a:ext cx="533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5" name="Line 20"/>
          <p:cNvSpPr>
            <a:spLocks noChangeShapeType="1"/>
          </p:cNvSpPr>
          <p:nvPr/>
        </p:nvSpPr>
        <p:spPr bwMode="auto">
          <a:xfrm flipV="1">
            <a:off x="7733946" y="1897064"/>
            <a:ext cx="890587"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6" name="Line 21"/>
          <p:cNvSpPr>
            <a:spLocks noChangeShapeType="1"/>
          </p:cNvSpPr>
          <p:nvPr/>
        </p:nvSpPr>
        <p:spPr bwMode="auto">
          <a:xfrm>
            <a:off x="7733946" y="2349502"/>
            <a:ext cx="885825" cy="7048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7" name="Line 22"/>
          <p:cNvSpPr>
            <a:spLocks noChangeShapeType="1"/>
          </p:cNvSpPr>
          <p:nvPr/>
        </p:nvSpPr>
        <p:spPr bwMode="auto">
          <a:xfrm>
            <a:off x="7743471" y="4368802"/>
            <a:ext cx="885825" cy="266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8" name="Text Box 23"/>
          <p:cNvSpPr txBox="1">
            <a:spLocks noChangeArrowheads="1"/>
          </p:cNvSpPr>
          <p:nvPr/>
        </p:nvSpPr>
        <p:spPr bwMode="auto">
          <a:xfrm>
            <a:off x="7070370" y="3078165"/>
            <a:ext cx="260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800">
                <a:latin typeface="Helvetica" panose="020B0604020202020204" pitchFamily="34" charset="0"/>
                <a:sym typeface="MT Extra" panose="05050102010205020202" pitchFamily="18" charset="2"/>
              </a:rPr>
              <a:t></a:t>
            </a:r>
            <a:endParaRPr lang="en-US" sz="1800">
              <a:latin typeface="Helvetica" panose="020B0604020202020204" pitchFamily="34" charset="0"/>
            </a:endParaRPr>
          </a:p>
        </p:txBody>
      </p:sp>
      <p:sp>
        <p:nvSpPr>
          <p:cNvPr id="49" name="Line 24"/>
          <p:cNvSpPr>
            <a:spLocks noChangeShapeType="1"/>
          </p:cNvSpPr>
          <p:nvPr/>
        </p:nvSpPr>
        <p:spPr bwMode="auto">
          <a:xfrm flipH="1" flipV="1">
            <a:off x="9710382" y="3054352"/>
            <a:ext cx="1309688"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0" name="Line 25"/>
          <p:cNvSpPr>
            <a:spLocks noChangeShapeType="1"/>
          </p:cNvSpPr>
          <p:nvPr/>
        </p:nvSpPr>
        <p:spPr bwMode="auto">
          <a:xfrm flipH="1" flipV="1">
            <a:off x="9715145" y="2125664"/>
            <a:ext cx="1295400" cy="6238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1" name="Line 26"/>
          <p:cNvSpPr>
            <a:spLocks noChangeShapeType="1"/>
          </p:cNvSpPr>
          <p:nvPr/>
        </p:nvSpPr>
        <p:spPr bwMode="auto">
          <a:xfrm flipH="1">
            <a:off x="9705621" y="1754190"/>
            <a:ext cx="1309687" cy="161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2" name="Text Box 27"/>
          <p:cNvSpPr txBox="1">
            <a:spLocks noChangeArrowheads="1"/>
          </p:cNvSpPr>
          <p:nvPr/>
        </p:nvSpPr>
        <p:spPr bwMode="auto">
          <a:xfrm>
            <a:off x="6559195" y="4597402"/>
            <a:ext cx="1327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800">
                <a:latin typeface="Helvetica" panose="020B0604020202020204" pitchFamily="34" charset="0"/>
              </a:rPr>
              <a:t>outer-index</a:t>
            </a:r>
          </a:p>
        </p:txBody>
      </p:sp>
      <p:sp>
        <p:nvSpPr>
          <p:cNvPr id="53" name="Text Box 28"/>
          <p:cNvSpPr txBox="1">
            <a:spLocks noChangeArrowheads="1"/>
          </p:cNvSpPr>
          <p:nvPr/>
        </p:nvSpPr>
        <p:spPr bwMode="auto">
          <a:xfrm>
            <a:off x="8505470" y="5413377"/>
            <a:ext cx="12890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800">
                <a:latin typeface="Helvetica" panose="020B0604020202020204" pitchFamily="34" charset="0"/>
              </a:rPr>
              <a:t>index table</a:t>
            </a:r>
          </a:p>
        </p:txBody>
      </p:sp>
      <p:sp>
        <p:nvSpPr>
          <p:cNvPr id="54" name="Text Box 29"/>
          <p:cNvSpPr txBox="1">
            <a:spLocks noChangeArrowheads="1"/>
          </p:cNvSpPr>
          <p:nvPr/>
        </p:nvSpPr>
        <p:spPr bwMode="auto">
          <a:xfrm>
            <a:off x="11215332" y="5392740"/>
            <a:ext cx="476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800">
                <a:latin typeface="Helvetica" panose="020B0604020202020204" pitchFamily="34" charset="0"/>
              </a:rPr>
              <a:t>file</a:t>
            </a:r>
          </a:p>
        </p:txBody>
      </p:sp>
      <p:sp>
        <p:nvSpPr>
          <p:cNvPr id="4" name="Rectangle 3"/>
          <p:cNvSpPr/>
          <p:nvPr/>
        </p:nvSpPr>
        <p:spPr>
          <a:xfrm>
            <a:off x="7571386" y="5907744"/>
            <a:ext cx="3643946" cy="369332"/>
          </a:xfrm>
          <a:prstGeom prst="rect">
            <a:avLst/>
          </a:prstGeom>
        </p:spPr>
        <p:txBody>
          <a:bodyPr wrap="none">
            <a:spAutoFit/>
          </a:bodyPr>
          <a:lstStyle/>
          <a:p>
            <a:r>
              <a:rPr lang="en-US" dirty="0"/>
              <a:t>Indexed Allocation – Mapping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2438400" y="203200"/>
            <a:ext cx="8229600" cy="457200"/>
          </a:xfrm>
        </p:spPr>
        <p:txBody>
          <a:bodyPr/>
          <a:lstStyle/>
          <a:p>
            <a:pPr eaLnBrk="1" hangingPunct="1"/>
            <a:r>
              <a:rPr lang="en-US" sz="2400"/>
              <a:t>Combined Scheme:  UNIX UFS (4K bytes per block)</a:t>
            </a:r>
            <a:endParaRPr lang="en-US" sz="2000"/>
          </a:p>
        </p:txBody>
      </p:sp>
      <p:pic>
        <p:nvPicPr>
          <p:cNvPr id="6861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1775" y="1101725"/>
            <a:ext cx="6580188" cy="494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0" y="0"/>
            <a:ext cx="12010029" cy="660401"/>
          </a:xfrm>
        </p:spPr>
        <p:txBody>
          <a:bodyPr/>
          <a:lstStyle/>
          <a:p>
            <a:pPr eaLnBrk="1" hangingPunct="1"/>
            <a:r>
              <a:rPr lang="en-US" b="1" dirty="0" smtClean="0"/>
              <a:t>Free-Space Management</a:t>
            </a:r>
          </a:p>
        </p:txBody>
      </p:sp>
      <p:sp>
        <p:nvSpPr>
          <p:cNvPr id="70659" name="Rectangle 3"/>
          <p:cNvSpPr>
            <a:spLocks noGrp="1" noChangeArrowheads="1"/>
          </p:cNvSpPr>
          <p:nvPr>
            <p:ph type="body" idx="1"/>
          </p:nvPr>
        </p:nvSpPr>
        <p:spPr>
          <a:xfrm>
            <a:off x="1" y="660401"/>
            <a:ext cx="5854890" cy="6197599"/>
          </a:xfrm>
        </p:spPr>
        <p:txBody>
          <a:bodyPr/>
          <a:lstStyle/>
          <a:p>
            <a:r>
              <a:rPr lang="en-US" dirty="0" smtClean="0"/>
              <a:t>Bit vector   (</a:t>
            </a:r>
            <a:r>
              <a:rPr lang="en-US" i="1" dirty="0" smtClean="0"/>
              <a:t>n</a:t>
            </a:r>
            <a:r>
              <a:rPr lang="en-US" dirty="0" smtClean="0"/>
              <a:t> blocks)</a:t>
            </a:r>
          </a:p>
        </p:txBody>
      </p:sp>
      <p:sp>
        <p:nvSpPr>
          <p:cNvPr id="70675" name="Rectangle 19"/>
          <p:cNvSpPr>
            <a:spLocks noChangeArrowheads="1"/>
          </p:cNvSpPr>
          <p:nvPr/>
        </p:nvSpPr>
        <p:spPr bwMode="auto">
          <a:xfrm>
            <a:off x="161072" y="3026570"/>
            <a:ext cx="7029450"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spcBef>
                <a:spcPct val="20000"/>
              </a:spcBef>
              <a:buClr>
                <a:schemeClr val="folHlink"/>
              </a:buClr>
              <a:buFont typeface="Monotype Sorts" pitchFamily="2" charset="2"/>
              <a:buNone/>
            </a:pPr>
            <a:r>
              <a:rPr kumimoji="1" lang="en-US" sz="1800" dirty="0">
                <a:latin typeface="Helvetica" panose="020B0604020202020204" pitchFamily="34" charset="0"/>
              </a:rPr>
              <a:t>Block number calculation</a:t>
            </a:r>
          </a:p>
        </p:txBody>
      </p:sp>
      <p:sp>
        <p:nvSpPr>
          <p:cNvPr id="53" name="Rectangle 4"/>
          <p:cNvSpPr>
            <a:spLocks noChangeArrowheads="1"/>
          </p:cNvSpPr>
          <p:nvPr/>
        </p:nvSpPr>
        <p:spPr bwMode="auto">
          <a:xfrm>
            <a:off x="451585" y="1547019"/>
            <a:ext cx="360362" cy="36195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54" name="Rectangle 5"/>
          <p:cNvSpPr>
            <a:spLocks noChangeArrowheads="1"/>
          </p:cNvSpPr>
          <p:nvPr/>
        </p:nvSpPr>
        <p:spPr bwMode="auto">
          <a:xfrm>
            <a:off x="780198" y="1547019"/>
            <a:ext cx="360363" cy="36195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55" name="Rectangle 6"/>
          <p:cNvSpPr>
            <a:spLocks noChangeArrowheads="1"/>
          </p:cNvSpPr>
          <p:nvPr/>
        </p:nvSpPr>
        <p:spPr bwMode="auto">
          <a:xfrm>
            <a:off x="1108810" y="1547019"/>
            <a:ext cx="360362" cy="36195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56" name="Rectangle 7"/>
          <p:cNvSpPr>
            <a:spLocks noChangeArrowheads="1"/>
          </p:cNvSpPr>
          <p:nvPr/>
        </p:nvSpPr>
        <p:spPr bwMode="auto">
          <a:xfrm>
            <a:off x="1437423" y="1547019"/>
            <a:ext cx="360363" cy="36195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57" name="Rectangle 8"/>
          <p:cNvSpPr>
            <a:spLocks noChangeArrowheads="1"/>
          </p:cNvSpPr>
          <p:nvPr/>
        </p:nvSpPr>
        <p:spPr bwMode="auto">
          <a:xfrm>
            <a:off x="1766035" y="1547019"/>
            <a:ext cx="360362" cy="36195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58" name="Rectangle 9"/>
          <p:cNvSpPr>
            <a:spLocks noChangeArrowheads="1"/>
          </p:cNvSpPr>
          <p:nvPr/>
        </p:nvSpPr>
        <p:spPr bwMode="auto">
          <a:xfrm>
            <a:off x="2094648" y="1547019"/>
            <a:ext cx="360363" cy="36195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59" name="Rectangle 10"/>
          <p:cNvSpPr>
            <a:spLocks noChangeArrowheads="1"/>
          </p:cNvSpPr>
          <p:nvPr/>
        </p:nvSpPr>
        <p:spPr bwMode="auto">
          <a:xfrm>
            <a:off x="2456597" y="1547019"/>
            <a:ext cx="1219200" cy="36195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r>
              <a:rPr lang="en-US" sz="2000">
                <a:latin typeface="Helvetica" panose="020B0604020202020204" pitchFamily="34" charset="0"/>
              </a:rPr>
              <a:t>…</a:t>
            </a:r>
            <a:endParaRPr lang="en-US" sz="1800">
              <a:latin typeface="Helvetica" panose="020B0604020202020204" pitchFamily="34" charset="0"/>
            </a:endParaRPr>
          </a:p>
        </p:txBody>
      </p:sp>
      <p:sp>
        <p:nvSpPr>
          <p:cNvPr id="60" name="Rectangle 11"/>
          <p:cNvSpPr>
            <a:spLocks noChangeArrowheads="1"/>
          </p:cNvSpPr>
          <p:nvPr/>
        </p:nvSpPr>
        <p:spPr bwMode="auto">
          <a:xfrm>
            <a:off x="3675798" y="1547019"/>
            <a:ext cx="360363" cy="361950"/>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endParaRPr lang="en-US" sz="1800"/>
          </a:p>
        </p:txBody>
      </p:sp>
      <p:sp>
        <p:nvSpPr>
          <p:cNvPr id="61" name="Text Box 12"/>
          <p:cNvSpPr txBox="1">
            <a:spLocks noChangeArrowheads="1"/>
          </p:cNvSpPr>
          <p:nvPr/>
        </p:nvSpPr>
        <p:spPr bwMode="auto">
          <a:xfrm>
            <a:off x="475397" y="113744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800">
                <a:latin typeface="Helvetica" panose="020B0604020202020204" pitchFamily="34" charset="0"/>
              </a:rPr>
              <a:t>0</a:t>
            </a:r>
          </a:p>
        </p:txBody>
      </p:sp>
      <p:sp>
        <p:nvSpPr>
          <p:cNvPr id="62" name="Text Box 13"/>
          <p:cNvSpPr txBox="1">
            <a:spLocks noChangeArrowheads="1"/>
          </p:cNvSpPr>
          <p:nvPr/>
        </p:nvSpPr>
        <p:spPr bwMode="auto">
          <a:xfrm>
            <a:off x="780197" y="113744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800">
                <a:latin typeface="Helvetica" panose="020B0604020202020204" pitchFamily="34" charset="0"/>
              </a:rPr>
              <a:t>1</a:t>
            </a:r>
          </a:p>
        </p:txBody>
      </p:sp>
      <p:sp>
        <p:nvSpPr>
          <p:cNvPr id="63" name="Text Box 14"/>
          <p:cNvSpPr txBox="1">
            <a:spLocks noChangeArrowheads="1"/>
          </p:cNvSpPr>
          <p:nvPr/>
        </p:nvSpPr>
        <p:spPr bwMode="auto">
          <a:xfrm>
            <a:off x="1237397" y="113744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800">
                <a:latin typeface="Helvetica" panose="020B0604020202020204" pitchFamily="34" charset="0"/>
              </a:rPr>
              <a:t>2</a:t>
            </a:r>
          </a:p>
        </p:txBody>
      </p:sp>
      <p:sp>
        <p:nvSpPr>
          <p:cNvPr id="64" name="Text Box 15"/>
          <p:cNvSpPr txBox="1">
            <a:spLocks noChangeArrowheads="1"/>
          </p:cNvSpPr>
          <p:nvPr/>
        </p:nvSpPr>
        <p:spPr bwMode="auto">
          <a:xfrm>
            <a:off x="3574197" y="1137445"/>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800">
                <a:latin typeface="Helvetica" panose="020B0604020202020204" pitchFamily="34" charset="0"/>
              </a:rPr>
              <a:t>n-1</a:t>
            </a:r>
          </a:p>
        </p:txBody>
      </p:sp>
      <p:sp>
        <p:nvSpPr>
          <p:cNvPr id="65" name="Text Box 16"/>
          <p:cNvSpPr txBox="1">
            <a:spLocks noChangeArrowheads="1"/>
          </p:cNvSpPr>
          <p:nvPr/>
        </p:nvSpPr>
        <p:spPr bwMode="auto">
          <a:xfrm>
            <a:off x="227747" y="2401095"/>
            <a:ext cx="8001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1800">
                <a:latin typeface="Helvetica" panose="020B0604020202020204" pitchFamily="34" charset="0"/>
              </a:rPr>
              <a:t>bit[</a:t>
            </a:r>
            <a:r>
              <a:rPr lang="en-US" sz="1800" i="1">
                <a:latin typeface="Helvetica" panose="020B0604020202020204" pitchFamily="34" charset="0"/>
              </a:rPr>
              <a:t>i</a:t>
            </a:r>
            <a:r>
              <a:rPr lang="en-US" sz="1800">
                <a:latin typeface="Helvetica" panose="020B0604020202020204" pitchFamily="34" charset="0"/>
              </a:rPr>
              <a:t>] =</a:t>
            </a:r>
          </a:p>
        </p:txBody>
      </p:sp>
      <p:sp>
        <p:nvSpPr>
          <p:cNvPr id="66" name="Text Box 17"/>
          <p:cNvSpPr txBox="1">
            <a:spLocks noChangeArrowheads="1"/>
          </p:cNvSpPr>
          <p:nvPr/>
        </p:nvSpPr>
        <p:spPr bwMode="auto">
          <a:xfrm rot="-5400000">
            <a:off x="580173" y="2404270"/>
            <a:ext cx="9493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2000">
                <a:latin typeface="Helvetica" panose="020B0604020202020204" pitchFamily="34" charset="0"/>
                <a:sym typeface="MT Extra" panose="05050102010205020202" pitchFamily="18" charset="2"/>
              </a:rPr>
              <a:t></a:t>
            </a:r>
            <a:endParaRPr lang="en-US" sz="5400">
              <a:latin typeface="Helvetica" panose="020B0604020202020204" pitchFamily="34" charset="0"/>
              <a:sym typeface="Monotype Sorts" pitchFamily="2" charset="2"/>
            </a:endParaRPr>
          </a:p>
        </p:txBody>
      </p:sp>
      <p:sp>
        <p:nvSpPr>
          <p:cNvPr id="67" name="Text Box 18"/>
          <p:cNvSpPr txBox="1">
            <a:spLocks noChangeArrowheads="1"/>
          </p:cNvSpPr>
          <p:nvPr/>
        </p:nvSpPr>
        <p:spPr bwMode="auto">
          <a:xfrm>
            <a:off x="1313598" y="2204245"/>
            <a:ext cx="2416175" cy="779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spcBef>
                <a:spcPct val="50000"/>
              </a:spcBef>
            </a:pPr>
            <a:r>
              <a:rPr lang="en-US" sz="1800">
                <a:latin typeface="Helvetica" panose="020B0604020202020204" pitchFamily="34" charset="0"/>
              </a:rPr>
              <a:t>0 </a:t>
            </a:r>
            <a:r>
              <a:rPr lang="en-US" sz="1800">
                <a:latin typeface="Helvetica" panose="020B0604020202020204" pitchFamily="34" charset="0"/>
                <a:sym typeface="Symbol" panose="05050102010706020507" pitchFamily="18" charset="2"/>
              </a:rPr>
              <a:t> block[</a:t>
            </a:r>
            <a:r>
              <a:rPr lang="en-US" sz="1800" i="1">
                <a:latin typeface="Helvetica" panose="020B0604020202020204" pitchFamily="34" charset="0"/>
                <a:sym typeface="Symbol" panose="05050102010706020507" pitchFamily="18" charset="2"/>
              </a:rPr>
              <a:t>i</a:t>
            </a:r>
            <a:r>
              <a:rPr lang="en-US" sz="1800">
                <a:latin typeface="Helvetica" panose="020B0604020202020204" pitchFamily="34" charset="0"/>
                <a:sym typeface="Symbol" panose="05050102010706020507" pitchFamily="18" charset="2"/>
              </a:rPr>
              <a:t>] free</a:t>
            </a:r>
          </a:p>
          <a:p>
            <a:pPr>
              <a:spcBef>
                <a:spcPct val="50000"/>
              </a:spcBef>
            </a:pPr>
            <a:r>
              <a:rPr lang="en-US" sz="1800">
                <a:latin typeface="Helvetica" panose="020B0604020202020204" pitchFamily="34" charset="0"/>
                <a:sym typeface="Symbol" panose="05050102010706020507" pitchFamily="18" charset="2"/>
              </a:rPr>
              <a:t>1 </a:t>
            </a:r>
            <a:r>
              <a:rPr lang="en-US" sz="1800">
                <a:latin typeface="Helvetica" panose="020B0604020202020204" pitchFamily="34" charset="0"/>
              </a:rPr>
              <a:t> </a:t>
            </a:r>
            <a:r>
              <a:rPr lang="en-US" sz="1800">
                <a:latin typeface="Helvetica" panose="020B0604020202020204" pitchFamily="34" charset="0"/>
                <a:sym typeface="Symbol" panose="05050102010706020507" pitchFamily="18" charset="2"/>
              </a:rPr>
              <a:t> block[</a:t>
            </a:r>
            <a:r>
              <a:rPr lang="en-US" sz="1800" i="1">
                <a:latin typeface="Helvetica" panose="020B0604020202020204" pitchFamily="34" charset="0"/>
                <a:sym typeface="Symbol" panose="05050102010706020507" pitchFamily="18" charset="2"/>
              </a:rPr>
              <a:t>i</a:t>
            </a:r>
            <a:r>
              <a:rPr lang="en-US" sz="1800">
                <a:latin typeface="Helvetica" panose="020B0604020202020204" pitchFamily="34" charset="0"/>
                <a:sym typeface="Symbol" panose="05050102010706020507" pitchFamily="18" charset="2"/>
              </a:rPr>
              <a:t>] occupied</a:t>
            </a:r>
          </a:p>
        </p:txBody>
      </p:sp>
      <p:sp>
        <p:nvSpPr>
          <p:cNvPr id="68" name="Text Box 20"/>
          <p:cNvSpPr txBox="1">
            <a:spLocks noChangeArrowheads="1"/>
          </p:cNvSpPr>
          <p:nvPr/>
        </p:nvSpPr>
        <p:spPr bwMode="auto">
          <a:xfrm>
            <a:off x="161072" y="3458370"/>
            <a:ext cx="30480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r>
              <a:rPr lang="en-US" sz="1800" dirty="0">
                <a:latin typeface="Helvetica" panose="020B0604020202020204" pitchFamily="34" charset="0"/>
              </a:rPr>
              <a:t>(number of bits per word) *</a:t>
            </a:r>
          </a:p>
          <a:p>
            <a:r>
              <a:rPr lang="en-US" sz="1800" dirty="0">
                <a:latin typeface="Helvetica" panose="020B0604020202020204" pitchFamily="34" charset="0"/>
              </a:rPr>
              <a:t>(number of 0-value words) +</a:t>
            </a:r>
          </a:p>
          <a:p>
            <a:r>
              <a:rPr lang="en-US" sz="1800" dirty="0">
                <a:latin typeface="Helvetica" panose="020B0604020202020204" pitchFamily="34" charset="0"/>
              </a:rPr>
              <a:t>offset of first 1 bit</a:t>
            </a:r>
          </a:p>
        </p:txBody>
      </p:sp>
      <p:sp>
        <p:nvSpPr>
          <p:cNvPr id="2" name="Rectangle 1"/>
          <p:cNvSpPr/>
          <p:nvPr/>
        </p:nvSpPr>
        <p:spPr>
          <a:xfrm>
            <a:off x="5943598" y="660401"/>
            <a:ext cx="6096000" cy="3139321"/>
          </a:xfrm>
          <a:prstGeom prst="rect">
            <a:avLst/>
          </a:prstGeom>
        </p:spPr>
        <p:txBody>
          <a:bodyPr>
            <a:spAutoFit/>
          </a:bodyPr>
          <a:lstStyle/>
          <a:p>
            <a:pPr marL="285750" indent="-285750">
              <a:buClr>
                <a:schemeClr val="accent2"/>
              </a:buClr>
              <a:buFont typeface="Wingdings" panose="05000000000000000000" pitchFamily="2" charset="2"/>
              <a:buChar char="Ø"/>
              <a:tabLst>
                <a:tab pos="1312863" algn="l"/>
              </a:tabLst>
            </a:pPr>
            <a:r>
              <a:rPr lang="en-US" dirty="0"/>
              <a:t>Bit map requires extra space</a:t>
            </a:r>
          </a:p>
          <a:p>
            <a:pPr marL="742950" lvl="1" indent="-285750">
              <a:buClr>
                <a:schemeClr val="accent2"/>
              </a:buClr>
              <a:buFont typeface="Wingdings" panose="05000000000000000000" pitchFamily="2" charset="2"/>
              <a:buChar char="Ø"/>
              <a:tabLst>
                <a:tab pos="1312863" algn="l"/>
              </a:tabLst>
            </a:pPr>
            <a:r>
              <a:rPr lang="en-US" dirty="0">
                <a:ea typeface="ＭＳ Ｐゴシック" panose="020B0600070205080204" pitchFamily="34" charset="-128"/>
              </a:rPr>
              <a:t>Example:</a:t>
            </a:r>
          </a:p>
          <a:p>
            <a:pPr>
              <a:buClr>
                <a:schemeClr val="accent2"/>
              </a:buClr>
              <a:tabLst>
                <a:tab pos="1312863" algn="l"/>
              </a:tabLst>
            </a:pPr>
            <a:r>
              <a:rPr lang="en-US" dirty="0"/>
              <a:t>		block size = 2</a:t>
            </a:r>
            <a:r>
              <a:rPr lang="en-US" baseline="30000" dirty="0"/>
              <a:t>12</a:t>
            </a:r>
            <a:r>
              <a:rPr lang="en-US" dirty="0"/>
              <a:t> bytes</a:t>
            </a:r>
          </a:p>
          <a:p>
            <a:pPr>
              <a:buClr>
                <a:schemeClr val="accent2"/>
              </a:buClr>
              <a:tabLst>
                <a:tab pos="1312863" algn="l"/>
              </a:tabLst>
            </a:pPr>
            <a:r>
              <a:rPr lang="en-US" dirty="0"/>
              <a:t>		disk size = 2</a:t>
            </a:r>
            <a:r>
              <a:rPr lang="en-US" baseline="30000" dirty="0"/>
              <a:t>30</a:t>
            </a:r>
            <a:r>
              <a:rPr lang="en-US" dirty="0"/>
              <a:t> bytes (1 gigabyte)</a:t>
            </a:r>
          </a:p>
          <a:p>
            <a:pPr>
              <a:buClr>
                <a:schemeClr val="accent2"/>
              </a:buClr>
              <a:tabLst>
                <a:tab pos="1312863" algn="l"/>
              </a:tabLst>
            </a:pPr>
            <a:r>
              <a:rPr lang="en-US" dirty="0"/>
              <a:t>		</a:t>
            </a:r>
            <a:r>
              <a:rPr lang="en-US" i="1" dirty="0"/>
              <a:t>n</a:t>
            </a:r>
            <a:r>
              <a:rPr lang="en-US" dirty="0"/>
              <a:t> = 2</a:t>
            </a:r>
            <a:r>
              <a:rPr lang="en-US" baseline="30000" dirty="0"/>
              <a:t>30</a:t>
            </a:r>
            <a:r>
              <a:rPr lang="en-US" dirty="0"/>
              <a:t>/2</a:t>
            </a:r>
            <a:r>
              <a:rPr lang="en-US" baseline="30000" dirty="0"/>
              <a:t>12</a:t>
            </a:r>
            <a:r>
              <a:rPr lang="en-US" dirty="0"/>
              <a:t> = 2</a:t>
            </a:r>
            <a:r>
              <a:rPr lang="en-US" baseline="30000" dirty="0"/>
              <a:t>18</a:t>
            </a:r>
            <a:r>
              <a:rPr lang="en-US" dirty="0"/>
              <a:t> bits (or 32K bytes)</a:t>
            </a:r>
          </a:p>
          <a:p>
            <a:pPr marL="285750" indent="-285750">
              <a:buClr>
                <a:schemeClr val="accent2"/>
              </a:buClr>
              <a:buFont typeface="Wingdings" panose="05000000000000000000" pitchFamily="2" charset="2"/>
              <a:buChar char="Ø"/>
              <a:tabLst>
                <a:tab pos="1312863" algn="l"/>
              </a:tabLst>
            </a:pPr>
            <a:r>
              <a:rPr lang="en-US" dirty="0"/>
              <a:t>Easy to get contiguous files </a:t>
            </a:r>
          </a:p>
          <a:p>
            <a:pPr marL="285750" indent="-285750">
              <a:buClr>
                <a:schemeClr val="accent2"/>
              </a:buClr>
              <a:buFont typeface="Wingdings" panose="05000000000000000000" pitchFamily="2" charset="2"/>
              <a:buChar char="Ø"/>
              <a:tabLst>
                <a:tab pos="1312863" algn="l"/>
              </a:tabLst>
            </a:pPr>
            <a:r>
              <a:rPr lang="en-US" dirty="0"/>
              <a:t>Linked list (free list)</a:t>
            </a:r>
          </a:p>
          <a:p>
            <a:pPr marL="742950" lvl="1" indent="-285750">
              <a:buClr>
                <a:schemeClr val="accent2"/>
              </a:buClr>
              <a:buFont typeface="Wingdings" panose="05000000000000000000" pitchFamily="2" charset="2"/>
              <a:buChar char="Ø"/>
              <a:tabLst>
                <a:tab pos="1312863" algn="l"/>
              </a:tabLst>
            </a:pPr>
            <a:r>
              <a:rPr lang="en-US" dirty="0">
                <a:ea typeface="ＭＳ Ｐゴシック" panose="020B0600070205080204" pitchFamily="34" charset="-128"/>
              </a:rPr>
              <a:t>Cannot get contiguous space easily</a:t>
            </a:r>
          </a:p>
          <a:p>
            <a:pPr marL="742950" lvl="1" indent="-285750">
              <a:buClr>
                <a:schemeClr val="accent2"/>
              </a:buClr>
              <a:buFont typeface="Wingdings" panose="05000000000000000000" pitchFamily="2" charset="2"/>
              <a:buChar char="Ø"/>
              <a:tabLst>
                <a:tab pos="1312863" algn="l"/>
              </a:tabLst>
            </a:pPr>
            <a:r>
              <a:rPr lang="en-US" dirty="0">
                <a:ea typeface="ＭＳ Ｐゴシック" panose="020B0600070205080204" pitchFamily="34" charset="-128"/>
              </a:rPr>
              <a:t>No waste of space</a:t>
            </a:r>
          </a:p>
          <a:p>
            <a:pPr marL="285750" indent="-285750">
              <a:buClr>
                <a:schemeClr val="accent2"/>
              </a:buClr>
              <a:buFont typeface="Wingdings" panose="05000000000000000000" pitchFamily="2" charset="2"/>
              <a:buChar char="Ø"/>
              <a:tabLst>
                <a:tab pos="1312863" algn="l"/>
              </a:tabLst>
            </a:pPr>
            <a:r>
              <a:rPr lang="en-US" dirty="0"/>
              <a:t>Grouping </a:t>
            </a:r>
          </a:p>
          <a:p>
            <a:pPr marL="285750" indent="-285750">
              <a:buClr>
                <a:schemeClr val="accent2"/>
              </a:buClr>
              <a:buFont typeface="Wingdings" panose="05000000000000000000" pitchFamily="2" charset="2"/>
              <a:buChar char="Ø"/>
              <a:tabLst>
                <a:tab pos="1312863" algn="l"/>
              </a:tabLst>
            </a:pPr>
            <a:r>
              <a:rPr lang="en-US" dirty="0"/>
              <a:t>Counting</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a:xfrm>
            <a:off x="646111" y="136478"/>
            <a:ext cx="9404723" cy="982638"/>
          </a:xfrm>
        </p:spPr>
        <p:txBody>
          <a:bodyPr/>
          <a:lstStyle/>
          <a:p>
            <a:pPr eaLnBrk="1" hangingPunct="1"/>
            <a:r>
              <a:rPr lang="en-US" b="1" dirty="0" smtClean="0"/>
              <a:t>Free-Space Management (Cont.)</a:t>
            </a:r>
          </a:p>
        </p:txBody>
      </p:sp>
      <p:sp>
        <p:nvSpPr>
          <p:cNvPr id="74755" name="Rectangle 3"/>
          <p:cNvSpPr>
            <a:spLocks noGrp="1" noChangeArrowheads="1"/>
          </p:cNvSpPr>
          <p:nvPr>
            <p:ph type="body" idx="1"/>
          </p:nvPr>
        </p:nvSpPr>
        <p:spPr>
          <a:xfrm>
            <a:off x="2330450" y="1233488"/>
            <a:ext cx="7450138" cy="3821112"/>
          </a:xfrm>
        </p:spPr>
        <p:txBody>
          <a:bodyPr/>
          <a:lstStyle/>
          <a:p>
            <a:pPr>
              <a:lnSpc>
                <a:spcPct val="90000"/>
              </a:lnSpc>
            </a:pPr>
            <a:r>
              <a:rPr lang="en-US" smtClean="0"/>
              <a:t>Need to protect:</a:t>
            </a:r>
          </a:p>
          <a:p>
            <a:pPr lvl="1">
              <a:lnSpc>
                <a:spcPct val="90000"/>
              </a:lnSpc>
            </a:pPr>
            <a:r>
              <a:rPr lang="en-US" smtClean="0">
                <a:ea typeface="ＭＳ Ｐゴシック" panose="020B0600070205080204" pitchFamily="34" charset="-128"/>
              </a:rPr>
              <a:t>Pointer to free list</a:t>
            </a:r>
          </a:p>
          <a:p>
            <a:pPr lvl="1">
              <a:lnSpc>
                <a:spcPct val="90000"/>
              </a:lnSpc>
            </a:pPr>
            <a:r>
              <a:rPr lang="en-US" smtClean="0">
                <a:ea typeface="ＭＳ Ｐゴシック" panose="020B0600070205080204" pitchFamily="34" charset="-128"/>
              </a:rPr>
              <a:t>Bit map</a:t>
            </a:r>
          </a:p>
          <a:p>
            <a:pPr lvl="2">
              <a:lnSpc>
                <a:spcPct val="90000"/>
              </a:lnSpc>
            </a:pPr>
            <a:r>
              <a:rPr lang="en-US" smtClean="0">
                <a:ea typeface="ＭＳ Ｐゴシック" panose="020B0600070205080204" pitchFamily="34" charset="-128"/>
              </a:rPr>
              <a:t>Must be kept on disk</a:t>
            </a:r>
          </a:p>
          <a:p>
            <a:pPr lvl="2">
              <a:lnSpc>
                <a:spcPct val="90000"/>
              </a:lnSpc>
            </a:pPr>
            <a:r>
              <a:rPr lang="en-US" smtClean="0">
                <a:ea typeface="ＭＳ Ｐゴシック" panose="020B0600070205080204" pitchFamily="34" charset="-128"/>
              </a:rPr>
              <a:t>Copy in memory and disk may differ</a:t>
            </a:r>
          </a:p>
          <a:p>
            <a:pPr lvl="2">
              <a:lnSpc>
                <a:spcPct val="90000"/>
              </a:lnSpc>
            </a:pPr>
            <a:r>
              <a:rPr lang="en-US" smtClean="0">
                <a:ea typeface="ＭＳ Ｐゴシック" panose="020B0600070205080204" pitchFamily="34" charset="-128"/>
              </a:rPr>
              <a:t>Cannot allow for block[</a:t>
            </a:r>
            <a:r>
              <a:rPr lang="en-US" i="1" smtClean="0">
                <a:ea typeface="ＭＳ Ｐゴシック" panose="020B0600070205080204" pitchFamily="34" charset="-128"/>
              </a:rPr>
              <a:t>i</a:t>
            </a:r>
            <a:r>
              <a:rPr lang="en-US" smtClean="0">
                <a:ea typeface="ＭＳ Ｐゴシック" panose="020B0600070205080204" pitchFamily="34" charset="-128"/>
              </a:rPr>
              <a:t>] to have a situation where bit[</a:t>
            </a:r>
            <a:r>
              <a:rPr lang="en-US" i="1" smtClean="0">
                <a:ea typeface="ＭＳ Ｐゴシック" panose="020B0600070205080204" pitchFamily="34" charset="-128"/>
              </a:rPr>
              <a:t>i</a:t>
            </a:r>
            <a:r>
              <a:rPr lang="en-US" smtClean="0">
                <a:ea typeface="ＭＳ Ｐゴシック" panose="020B0600070205080204" pitchFamily="34" charset="-128"/>
              </a:rPr>
              <a:t>] = 1 in memory and bit[</a:t>
            </a:r>
            <a:r>
              <a:rPr lang="en-US" i="1" smtClean="0">
                <a:ea typeface="ＭＳ Ｐゴシック" panose="020B0600070205080204" pitchFamily="34" charset="-128"/>
              </a:rPr>
              <a:t>i</a:t>
            </a:r>
            <a:r>
              <a:rPr lang="en-US" smtClean="0">
                <a:ea typeface="ＭＳ Ｐゴシック" panose="020B0600070205080204" pitchFamily="34" charset="-128"/>
              </a:rPr>
              <a:t>] = 0 on disk</a:t>
            </a:r>
          </a:p>
          <a:p>
            <a:pPr lvl="1">
              <a:lnSpc>
                <a:spcPct val="90000"/>
              </a:lnSpc>
            </a:pPr>
            <a:r>
              <a:rPr lang="en-US" smtClean="0">
                <a:ea typeface="ＭＳ Ｐゴシック" panose="020B0600070205080204" pitchFamily="34" charset="-128"/>
              </a:rPr>
              <a:t>Solution:</a:t>
            </a:r>
          </a:p>
          <a:p>
            <a:pPr lvl="2">
              <a:lnSpc>
                <a:spcPct val="90000"/>
              </a:lnSpc>
            </a:pPr>
            <a:r>
              <a:rPr lang="en-US" smtClean="0">
                <a:ea typeface="ＭＳ Ｐゴシック" panose="020B0600070205080204" pitchFamily="34" charset="-128"/>
              </a:rPr>
              <a:t>Set bit[</a:t>
            </a:r>
            <a:r>
              <a:rPr lang="en-US" i="1" smtClean="0">
                <a:ea typeface="ＭＳ Ｐゴシック" panose="020B0600070205080204" pitchFamily="34" charset="-128"/>
              </a:rPr>
              <a:t>i</a:t>
            </a:r>
            <a:r>
              <a:rPr lang="en-US" smtClean="0">
                <a:ea typeface="ＭＳ Ｐゴシック" panose="020B0600070205080204" pitchFamily="34" charset="-128"/>
              </a:rPr>
              <a:t>] = 1 in disk</a:t>
            </a:r>
          </a:p>
          <a:p>
            <a:pPr lvl="2">
              <a:lnSpc>
                <a:spcPct val="90000"/>
              </a:lnSpc>
            </a:pPr>
            <a:r>
              <a:rPr lang="en-US" smtClean="0">
                <a:ea typeface="ＭＳ Ｐゴシック" panose="020B0600070205080204" pitchFamily="34" charset="-128"/>
              </a:rPr>
              <a:t>Allocate block[</a:t>
            </a:r>
            <a:r>
              <a:rPr lang="en-US" i="1" smtClean="0">
                <a:ea typeface="ＭＳ Ｐゴシック" panose="020B0600070205080204" pitchFamily="34" charset="-128"/>
              </a:rPr>
              <a:t>i</a:t>
            </a:r>
            <a:r>
              <a:rPr lang="en-US" smtClean="0">
                <a:ea typeface="ＭＳ Ｐゴシック" panose="020B0600070205080204" pitchFamily="34" charset="-128"/>
              </a:rPr>
              <a:t>]</a:t>
            </a:r>
          </a:p>
          <a:p>
            <a:pPr lvl="2">
              <a:lnSpc>
                <a:spcPct val="90000"/>
              </a:lnSpc>
            </a:pPr>
            <a:r>
              <a:rPr lang="en-US" smtClean="0">
                <a:ea typeface="ＭＳ Ｐゴシック" panose="020B0600070205080204" pitchFamily="34" charset="-128"/>
              </a:rPr>
              <a:t>Set bit[</a:t>
            </a:r>
            <a:r>
              <a:rPr lang="en-US" i="1" smtClean="0">
                <a:ea typeface="ＭＳ Ｐゴシック" panose="020B0600070205080204" pitchFamily="34" charset="-128"/>
              </a:rPr>
              <a:t>i</a:t>
            </a:r>
            <a:r>
              <a:rPr lang="en-US" smtClean="0">
                <a:ea typeface="ＭＳ Ｐゴシック" panose="020B0600070205080204" pitchFamily="34" charset="-128"/>
              </a:rPr>
              <a:t>] = 1 in memory</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en-US" smtClean="0"/>
              <a:t>Directory Implementation</a:t>
            </a:r>
          </a:p>
        </p:txBody>
      </p:sp>
      <p:sp>
        <p:nvSpPr>
          <p:cNvPr id="76803" name="Rectangle 3"/>
          <p:cNvSpPr>
            <a:spLocks noGrp="1" noChangeArrowheads="1"/>
          </p:cNvSpPr>
          <p:nvPr>
            <p:ph type="body" idx="1"/>
          </p:nvPr>
        </p:nvSpPr>
        <p:spPr/>
        <p:txBody>
          <a:bodyPr/>
          <a:lstStyle/>
          <a:p>
            <a:r>
              <a:rPr lang="en-US" smtClean="0"/>
              <a:t>Linear list of file names with pointer to the data blocks</a:t>
            </a:r>
          </a:p>
          <a:p>
            <a:pPr lvl="1"/>
            <a:r>
              <a:rPr lang="en-US" smtClean="0">
                <a:ea typeface="ＭＳ Ｐゴシック" panose="020B0600070205080204" pitchFamily="34" charset="-128"/>
              </a:rPr>
              <a:t>simple to program</a:t>
            </a:r>
          </a:p>
          <a:p>
            <a:pPr lvl="1"/>
            <a:r>
              <a:rPr lang="en-US" smtClean="0">
                <a:ea typeface="ＭＳ Ｐゴシック" panose="020B0600070205080204" pitchFamily="34" charset="-128"/>
              </a:rPr>
              <a:t>time-consuming to execute</a:t>
            </a:r>
          </a:p>
          <a:p>
            <a:r>
              <a:rPr lang="en-US" smtClean="0"/>
              <a:t>Hash Table – linear list with hash data structure</a:t>
            </a:r>
          </a:p>
          <a:p>
            <a:pPr lvl="1"/>
            <a:r>
              <a:rPr lang="en-US" smtClean="0">
                <a:ea typeface="ＭＳ Ｐゴシック" panose="020B0600070205080204" pitchFamily="34" charset="-128"/>
              </a:rPr>
              <a:t>decreases directory search time</a:t>
            </a:r>
          </a:p>
          <a:p>
            <a:pPr lvl="1"/>
            <a:r>
              <a:rPr lang="en-US" smtClean="0">
                <a:solidFill>
                  <a:srgbClr val="3366FF"/>
                </a:solidFill>
                <a:ea typeface="ＭＳ Ｐゴシック" panose="020B0600070205080204" pitchFamily="34" charset="-128"/>
              </a:rPr>
              <a:t>collisions </a:t>
            </a:r>
            <a:r>
              <a:rPr lang="en-US" smtClean="0">
                <a:ea typeface="ＭＳ Ｐゴシック" panose="020B0600070205080204" pitchFamily="34" charset="-128"/>
              </a:rPr>
              <a:t>– situations where two file names hash to the same location</a:t>
            </a:r>
          </a:p>
          <a:p>
            <a:pPr lvl="1"/>
            <a:r>
              <a:rPr lang="en-US" smtClean="0">
                <a:ea typeface="ＭＳ Ｐゴシック" panose="020B0600070205080204" pitchFamily="34" charset="-128"/>
              </a:rPr>
              <a:t>fixed size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en-US" smtClean="0"/>
              <a:t>Linked Free Space List on Disk</a:t>
            </a:r>
            <a:endParaRPr lang="en-US" sz="2400"/>
          </a:p>
        </p:txBody>
      </p:sp>
      <p:pic>
        <p:nvPicPr>
          <p:cNvPr id="7885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1563" y="1016000"/>
            <a:ext cx="4875212" cy="521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646111" y="452718"/>
            <a:ext cx="9404723" cy="789228"/>
          </a:xfrm>
        </p:spPr>
        <p:txBody>
          <a:bodyPr/>
          <a:lstStyle/>
          <a:p>
            <a:pPr eaLnBrk="1" hangingPunct="1"/>
            <a:r>
              <a:rPr lang="en-US" b="1" dirty="0" smtClean="0"/>
              <a:t>Chapter </a:t>
            </a:r>
            <a:r>
              <a:rPr lang="en-US" b="1" dirty="0"/>
              <a:t>3</a:t>
            </a:r>
            <a:r>
              <a:rPr lang="en-US" b="1" dirty="0" smtClean="0"/>
              <a:t>:  Mass-Storage Systems</a:t>
            </a:r>
          </a:p>
        </p:txBody>
      </p:sp>
      <p:sp>
        <p:nvSpPr>
          <p:cNvPr id="16387" name="Rectangle 3"/>
          <p:cNvSpPr>
            <a:spLocks noGrp="1" noChangeArrowheads="1"/>
          </p:cNvSpPr>
          <p:nvPr>
            <p:ph type="body" idx="1"/>
          </p:nvPr>
        </p:nvSpPr>
        <p:spPr>
          <a:xfrm>
            <a:off x="1103312" y="1241946"/>
            <a:ext cx="8946541" cy="5006453"/>
          </a:xfrm>
        </p:spPr>
        <p:txBody>
          <a:bodyPr>
            <a:normAutofit/>
          </a:bodyPr>
          <a:lstStyle/>
          <a:p>
            <a:r>
              <a:rPr lang="en-US" dirty="0" smtClean="0"/>
              <a:t>Overview of Mass Storage Structure</a:t>
            </a:r>
          </a:p>
          <a:p>
            <a:r>
              <a:rPr lang="en-US" dirty="0" smtClean="0"/>
              <a:t>Disk Structure</a:t>
            </a:r>
          </a:p>
          <a:p>
            <a:r>
              <a:rPr lang="en-US" dirty="0" smtClean="0"/>
              <a:t>Disk Attachment</a:t>
            </a:r>
          </a:p>
          <a:p>
            <a:r>
              <a:rPr lang="en-US" dirty="0" smtClean="0"/>
              <a:t>Disk Scheduling</a:t>
            </a:r>
          </a:p>
          <a:p>
            <a:r>
              <a:rPr lang="en-US" dirty="0" smtClean="0"/>
              <a:t>Disk Management</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646111" y="0"/>
            <a:ext cx="9404723" cy="1009934"/>
          </a:xfrm>
        </p:spPr>
        <p:txBody>
          <a:bodyPr/>
          <a:lstStyle/>
          <a:p>
            <a:pPr eaLnBrk="1" hangingPunct="1"/>
            <a:r>
              <a:rPr lang="en-US" dirty="0" smtClean="0"/>
              <a:t>Overview of Mass Storage Structure</a:t>
            </a:r>
          </a:p>
        </p:txBody>
      </p:sp>
      <p:sp>
        <p:nvSpPr>
          <p:cNvPr id="20483" name="Rectangle 3"/>
          <p:cNvSpPr>
            <a:spLocks noGrp="1" noChangeArrowheads="1"/>
          </p:cNvSpPr>
          <p:nvPr>
            <p:ph type="body" idx="1"/>
          </p:nvPr>
        </p:nvSpPr>
        <p:spPr>
          <a:xfrm>
            <a:off x="0" y="1009934"/>
            <a:ext cx="11941791" cy="5238465"/>
          </a:xfrm>
        </p:spPr>
        <p:txBody>
          <a:bodyPr>
            <a:normAutofit/>
          </a:bodyPr>
          <a:lstStyle/>
          <a:p>
            <a:r>
              <a:rPr lang="en-US" sz="1600" dirty="0"/>
              <a:t>Magnetic disks provide bulk of secondary storage of modern computers</a:t>
            </a:r>
          </a:p>
          <a:p>
            <a:pPr lvl="1"/>
            <a:r>
              <a:rPr lang="en-US" sz="1600" dirty="0">
                <a:ea typeface="ＭＳ Ｐゴシック" panose="020B0600070205080204" pitchFamily="34" charset="-128"/>
              </a:rPr>
              <a:t>Drives rotate at 60 to 200 times per second</a:t>
            </a:r>
          </a:p>
          <a:p>
            <a:pPr lvl="1"/>
            <a:r>
              <a:rPr lang="en-US" sz="1600" dirty="0">
                <a:ea typeface="ＭＳ Ｐゴシック" panose="020B0600070205080204" pitchFamily="34" charset="-128"/>
              </a:rPr>
              <a:t>Transfer rate is rate at which data flow between drive and computer</a:t>
            </a:r>
          </a:p>
          <a:p>
            <a:pPr lvl="1"/>
            <a:r>
              <a:rPr lang="en-US" sz="1600" dirty="0">
                <a:ea typeface="ＭＳ Ｐゴシック" panose="020B0600070205080204" pitchFamily="34" charset="-128"/>
              </a:rPr>
              <a:t>Positioning time (random-access time) is time to move disk arm to desired cylinder (seek time) and time for desired sector to rotate under the disk head (rotational latency)</a:t>
            </a:r>
          </a:p>
          <a:p>
            <a:pPr lvl="1"/>
            <a:r>
              <a:rPr lang="en-US" sz="1600" dirty="0">
                <a:ea typeface="ＭＳ Ｐゴシック" panose="020B0600070205080204" pitchFamily="34" charset="-128"/>
              </a:rPr>
              <a:t>Head crash results from disk head making contact with the disk surface</a:t>
            </a:r>
          </a:p>
          <a:p>
            <a:pPr lvl="2"/>
            <a:r>
              <a:rPr lang="en-US" dirty="0">
                <a:ea typeface="ＭＳ Ｐゴシック" panose="020B0600070205080204" pitchFamily="34" charset="-128"/>
              </a:rPr>
              <a:t>That’s bad</a:t>
            </a:r>
          </a:p>
          <a:p>
            <a:r>
              <a:rPr lang="en-US" sz="1600" dirty="0"/>
              <a:t>Disks can be removable</a:t>
            </a:r>
          </a:p>
          <a:p>
            <a:r>
              <a:rPr lang="en-US" sz="1600" dirty="0"/>
              <a:t>Drive attached to computer via I/O bus</a:t>
            </a:r>
          </a:p>
          <a:p>
            <a:pPr lvl="1"/>
            <a:r>
              <a:rPr lang="en-US" sz="1600" dirty="0">
                <a:ea typeface="ＭＳ Ｐゴシック" panose="020B0600070205080204" pitchFamily="34" charset="-128"/>
              </a:rPr>
              <a:t>Busses vary, including EIDE, ATA, SATA, USB, </a:t>
            </a:r>
            <a:r>
              <a:rPr lang="en-US" sz="1600" dirty="0" err="1">
                <a:ea typeface="ＭＳ Ｐゴシック" panose="020B0600070205080204" pitchFamily="34" charset="-128"/>
              </a:rPr>
              <a:t>Fibre</a:t>
            </a:r>
            <a:r>
              <a:rPr lang="en-US" sz="1600" dirty="0">
                <a:ea typeface="ＭＳ Ｐゴシック" panose="020B0600070205080204" pitchFamily="34" charset="-128"/>
              </a:rPr>
              <a:t> Channel, SCSI</a:t>
            </a:r>
          </a:p>
          <a:p>
            <a:pPr lvl="1"/>
            <a:r>
              <a:rPr lang="en-US" sz="1600" dirty="0">
                <a:ea typeface="ＭＳ Ｐゴシック" panose="020B0600070205080204" pitchFamily="34" charset="-128"/>
              </a:rPr>
              <a:t>Host controller in computer uses bus to talk to disk controller built into drive or storage array</a:t>
            </a:r>
          </a:p>
          <a:p>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95535" y="1"/>
            <a:ext cx="9955300" cy="709683"/>
          </a:xfrm>
        </p:spPr>
        <p:txBody>
          <a:bodyPr/>
          <a:lstStyle/>
          <a:p>
            <a:pPr eaLnBrk="1" hangingPunct="1"/>
            <a:r>
              <a:rPr lang="en-US" sz="2800" b="1" dirty="0"/>
              <a:t>Overview of Mass Storage Structure (</a:t>
            </a:r>
            <a:r>
              <a:rPr lang="en-US" sz="2800" b="1" dirty="0" err="1"/>
              <a:t>Cont</a:t>
            </a:r>
            <a:r>
              <a:rPr lang="en-US" sz="2800" b="1" dirty="0"/>
              <a:t>)</a:t>
            </a:r>
          </a:p>
        </p:txBody>
      </p:sp>
      <p:sp>
        <p:nvSpPr>
          <p:cNvPr id="24579" name="Rectangle 3"/>
          <p:cNvSpPr>
            <a:spLocks noGrp="1" noChangeArrowheads="1"/>
          </p:cNvSpPr>
          <p:nvPr>
            <p:ph type="body" idx="1"/>
          </p:nvPr>
        </p:nvSpPr>
        <p:spPr>
          <a:xfrm>
            <a:off x="95536" y="709684"/>
            <a:ext cx="7369789" cy="5538715"/>
          </a:xfrm>
        </p:spPr>
        <p:txBody>
          <a:bodyPr>
            <a:normAutofit/>
          </a:bodyPr>
          <a:lstStyle/>
          <a:p>
            <a:r>
              <a:rPr lang="en-US" dirty="0" smtClean="0"/>
              <a:t>Magnetic tape</a:t>
            </a:r>
          </a:p>
          <a:p>
            <a:pPr lvl="1"/>
            <a:r>
              <a:rPr lang="en-US" dirty="0" smtClean="0">
                <a:ea typeface="ＭＳ Ｐゴシック" panose="020B0600070205080204" pitchFamily="34" charset="-128"/>
              </a:rPr>
              <a:t>Was early secondary-storage medium</a:t>
            </a:r>
          </a:p>
          <a:p>
            <a:pPr lvl="1"/>
            <a:r>
              <a:rPr lang="en-US" dirty="0" smtClean="0">
                <a:ea typeface="ＭＳ Ｐゴシック" panose="020B0600070205080204" pitchFamily="34" charset="-128"/>
              </a:rPr>
              <a:t>Relatively permanent and holds large quantities of data</a:t>
            </a:r>
          </a:p>
          <a:p>
            <a:pPr lvl="1"/>
            <a:r>
              <a:rPr lang="en-US" dirty="0" smtClean="0">
                <a:ea typeface="ＭＳ Ｐゴシック" panose="020B0600070205080204" pitchFamily="34" charset="-128"/>
              </a:rPr>
              <a:t>Access time slow</a:t>
            </a:r>
          </a:p>
          <a:p>
            <a:pPr lvl="1"/>
            <a:r>
              <a:rPr lang="en-US" dirty="0" smtClean="0">
                <a:ea typeface="ＭＳ Ｐゴシック" panose="020B0600070205080204" pitchFamily="34" charset="-128"/>
              </a:rPr>
              <a:t>Random access ~1000 times slower than disk</a:t>
            </a:r>
          </a:p>
          <a:p>
            <a:pPr lvl="1"/>
            <a:r>
              <a:rPr lang="en-US" dirty="0" smtClean="0">
                <a:ea typeface="ＭＳ Ｐゴシック" panose="020B0600070205080204" pitchFamily="34" charset="-128"/>
              </a:rPr>
              <a:t>Mainly used for backup, storage of infrequently-used data, transfer medium between systems</a:t>
            </a:r>
          </a:p>
          <a:p>
            <a:pPr lvl="1"/>
            <a:r>
              <a:rPr lang="en-US" dirty="0" smtClean="0">
                <a:ea typeface="ＭＳ Ｐゴシック" panose="020B0600070205080204" pitchFamily="34" charset="-128"/>
              </a:rPr>
              <a:t>Kept in spool and wound or rewound past read-write head</a:t>
            </a:r>
          </a:p>
          <a:p>
            <a:pPr lvl="1"/>
            <a:r>
              <a:rPr lang="en-US" dirty="0" smtClean="0">
                <a:ea typeface="ＭＳ Ｐゴシック" panose="020B0600070205080204" pitchFamily="34" charset="-128"/>
              </a:rPr>
              <a:t>Once data under head, transfer rates comparable to disk</a:t>
            </a:r>
          </a:p>
          <a:p>
            <a:pPr lvl="1"/>
            <a:r>
              <a:rPr lang="en-US" dirty="0" smtClean="0">
                <a:ea typeface="ＭＳ Ｐゴシック" panose="020B0600070205080204" pitchFamily="34" charset="-128"/>
              </a:rPr>
              <a:t>20-200GB typical storage</a:t>
            </a:r>
          </a:p>
          <a:p>
            <a:pPr lvl="1"/>
            <a:r>
              <a:rPr lang="en-US" dirty="0" smtClean="0">
                <a:ea typeface="ＭＳ Ｐゴシック" panose="020B0600070205080204" pitchFamily="34" charset="-128"/>
              </a:rPr>
              <a:t>Common technologies are 4mm, 8mm, 19mm, LTO-2 and SDLT</a:t>
            </a:r>
          </a:p>
        </p:txBody>
      </p:sp>
      <p:pic>
        <p:nvPicPr>
          <p:cNvPr id="4" name="Picture 5"/>
          <p:cNvPicPr>
            <a:picLocks noChangeAspect="1" noChangeArrowheads="1"/>
          </p:cNvPicPr>
          <p:nvPr/>
        </p:nvPicPr>
        <p:blipFill>
          <a:blip r:embed="rId3">
            <a:extLst>
              <a:ext uri="{28A0092B-C50C-407E-A947-70E740481C1C}">
                <a14:useLocalDpi xmlns:a14="http://schemas.microsoft.com/office/drawing/2010/main" val="0"/>
              </a:ext>
            </a:extLst>
          </a:blip>
          <a:srcRect l="801" t="2466" r="801" b="2834"/>
          <a:stretch>
            <a:fillRect/>
          </a:stretch>
        </p:blipFill>
        <p:spPr bwMode="auto">
          <a:xfrm>
            <a:off x="7369790" y="709684"/>
            <a:ext cx="4726675" cy="504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
        <p:nvSpPr>
          <p:cNvPr id="2" name="Rectangle 1"/>
          <p:cNvSpPr/>
          <p:nvPr/>
        </p:nvSpPr>
        <p:spPr>
          <a:xfrm>
            <a:off x="7811135" y="5879067"/>
            <a:ext cx="3557384" cy="369332"/>
          </a:xfrm>
          <a:prstGeom prst="rect">
            <a:avLst/>
          </a:prstGeom>
        </p:spPr>
        <p:txBody>
          <a:bodyPr wrap="none">
            <a:spAutoFit/>
          </a:bodyPr>
          <a:lstStyle/>
          <a:p>
            <a:r>
              <a:rPr lang="en-US" dirty="0"/>
              <a:t>Moving-head Disk Mechanism</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646111" y="122830"/>
            <a:ext cx="9404723" cy="805218"/>
          </a:xfrm>
        </p:spPr>
        <p:txBody>
          <a:bodyPr/>
          <a:lstStyle/>
          <a:p>
            <a:pPr eaLnBrk="1" hangingPunct="1"/>
            <a:r>
              <a:rPr lang="en-US" b="1" dirty="0" smtClean="0"/>
              <a:t>Disk Structure</a:t>
            </a:r>
          </a:p>
        </p:txBody>
      </p:sp>
      <p:sp>
        <p:nvSpPr>
          <p:cNvPr id="26627" name="Rectangle 3"/>
          <p:cNvSpPr>
            <a:spLocks noGrp="1" noChangeArrowheads="1"/>
          </p:cNvSpPr>
          <p:nvPr>
            <p:ph type="body" idx="1"/>
          </p:nvPr>
        </p:nvSpPr>
        <p:spPr>
          <a:xfrm>
            <a:off x="646112" y="928048"/>
            <a:ext cx="11545888" cy="5320351"/>
          </a:xfrm>
        </p:spPr>
        <p:txBody>
          <a:bodyPr/>
          <a:lstStyle/>
          <a:p>
            <a:r>
              <a:rPr lang="en-US" dirty="0" smtClean="0"/>
              <a:t>Disk drives are addressed as large 1-dimensional arrays of logical blocks, where the logical block is the smallest unit of transfer</a:t>
            </a:r>
            <a:br>
              <a:rPr lang="en-US" dirty="0" smtClean="0"/>
            </a:br>
            <a:endParaRPr lang="en-US" dirty="0" smtClean="0"/>
          </a:p>
          <a:p>
            <a:r>
              <a:rPr lang="en-US" dirty="0" smtClean="0"/>
              <a:t>The 1-dimensional array of logical blocks is mapped into the sectors of the disk sequentially</a:t>
            </a:r>
          </a:p>
          <a:p>
            <a:pPr lvl="1"/>
            <a:r>
              <a:rPr lang="en-US" dirty="0" smtClean="0">
                <a:ea typeface="ＭＳ Ｐゴシック" panose="020B0600070205080204" pitchFamily="34" charset="-128"/>
              </a:rPr>
              <a:t>Sector 0 is the first sector of the first track on the outermost cylinder</a:t>
            </a:r>
          </a:p>
          <a:p>
            <a:pPr lvl="1"/>
            <a:r>
              <a:rPr lang="en-US" dirty="0" smtClean="0">
                <a:ea typeface="ＭＳ Ｐゴシック" panose="020B0600070205080204" pitchFamily="34" charset="-128"/>
              </a:rPr>
              <a:t>Mapping proceeds in order through that track, then the rest of the tracks in that cylinder, and then through the rest of the cylinders from outermost to innermost</a:t>
            </a:r>
          </a:p>
          <a:p>
            <a:endParaRPr lang="en-US" dirty="0" smtClean="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95533" y="0"/>
            <a:ext cx="9955301" cy="832513"/>
          </a:xfrm>
        </p:spPr>
        <p:txBody>
          <a:bodyPr/>
          <a:lstStyle/>
          <a:p>
            <a:pPr eaLnBrk="1" hangingPunct="1"/>
            <a:r>
              <a:rPr lang="en-US" b="1" dirty="0" smtClean="0"/>
              <a:t>Disk Attachment</a:t>
            </a:r>
          </a:p>
        </p:txBody>
      </p:sp>
      <p:sp>
        <p:nvSpPr>
          <p:cNvPr id="288771" name="Rectangle 3"/>
          <p:cNvSpPr>
            <a:spLocks noGrp="1" noChangeArrowheads="1"/>
          </p:cNvSpPr>
          <p:nvPr>
            <p:ph type="body" idx="1"/>
          </p:nvPr>
        </p:nvSpPr>
        <p:spPr>
          <a:xfrm>
            <a:off x="95533" y="832514"/>
            <a:ext cx="11941791" cy="5415886"/>
          </a:xfrm>
        </p:spPr>
        <p:txBody>
          <a:bodyPr/>
          <a:lstStyle/>
          <a:p>
            <a:r>
              <a:rPr lang="en-US" dirty="0" smtClean="0"/>
              <a:t>Host-attached storage accessed through I/O ports talking to I/O busses</a:t>
            </a:r>
          </a:p>
          <a:p>
            <a:r>
              <a:rPr lang="en-US" dirty="0" smtClean="0"/>
              <a:t>SCSI itself is a bus, up to 16 devices on one cable, SCSI initiator requests operation and SCSI targets perform tasks </a:t>
            </a:r>
          </a:p>
          <a:p>
            <a:pPr lvl="1"/>
            <a:r>
              <a:rPr lang="en-US" dirty="0" smtClean="0">
                <a:ea typeface="ＭＳ Ｐゴシック" panose="020B0600070205080204" pitchFamily="34" charset="-128"/>
              </a:rPr>
              <a:t>Each target can have up to 8 logical units (disks attached to device controller</a:t>
            </a:r>
          </a:p>
          <a:p>
            <a:r>
              <a:rPr lang="en-US" dirty="0" smtClean="0"/>
              <a:t>FC is high-speed serial architecture</a:t>
            </a:r>
          </a:p>
          <a:p>
            <a:pPr lvl="1"/>
            <a:r>
              <a:rPr lang="en-US" dirty="0" smtClean="0">
                <a:ea typeface="ＭＳ Ｐゴシック" panose="020B0600070205080204" pitchFamily="34" charset="-128"/>
              </a:rPr>
              <a:t>Can be switched fabric with 24-bit address space – the basis of storage area networks (SANs) in which many hosts attach to many storage units</a:t>
            </a:r>
          </a:p>
          <a:p>
            <a:pPr lvl="1"/>
            <a:r>
              <a:rPr lang="en-US" dirty="0" smtClean="0">
                <a:ea typeface="ＭＳ Ｐゴシック" panose="020B0600070205080204" pitchFamily="34" charset="-128"/>
              </a:rPr>
              <a:t>Can be arbitrated loop (FC-AL) of 126 devices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646111" y="0"/>
            <a:ext cx="9404723" cy="777922"/>
          </a:xfrm>
        </p:spPr>
        <p:txBody>
          <a:bodyPr/>
          <a:lstStyle/>
          <a:p>
            <a:pPr eaLnBrk="1" hangingPunct="1"/>
            <a:r>
              <a:rPr lang="en-US" b="1" dirty="0" smtClean="0"/>
              <a:t>Network-Attached Storage</a:t>
            </a:r>
          </a:p>
        </p:txBody>
      </p:sp>
      <p:sp>
        <p:nvSpPr>
          <p:cNvPr id="30723" name="Rectangle 3"/>
          <p:cNvSpPr>
            <a:spLocks noGrp="1" noChangeArrowheads="1"/>
          </p:cNvSpPr>
          <p:nvPr>
            <p:ph type="body" idx="1"/>
          </p:nvPr>
        </p:nvSpPr>
        <p:spPr>
          <a:xfrm>
            <a:off x="646112" y="777922"/>
            <a:ext cx="9403742" cy="5470477"/>
          </a:xfrm>
        </p:spPr>
        <p:txBody>
          <a:bodyPr/>
          <a:lstStyle/>
          <a:p>
            <a:r>
              <a:rPr lang="en-US" dirty="0" smtClean="0"/>
              <a:t>Network-attached storage (</a:t>
            </a:r>
            <a:r>
              <a:rPr lang="en-US" dirty="0" smtClean="0">
                <a:solidFill>
                  <a:srgbClr val="3366FF"/>
                </a:solidFill>
              </a:rPr>
              <a:t>NAS</a:t>
            </a:r>
            <a:r>
              <a:rPr lang="en-US" dirty="0" smtClean="0"/>
              <a:t>) is storage made available over a network rather than over a local connection (such as a bus)</a:t>
            </a:r>
          </a:p>
          <a:p>
            <a:r>
              <a:rPr lang="en-US" dirty="0" smtClean="0"/>
              <a:t>NFS and CIFS are common protocols</a:t>
            </a:r>
          </a:p>
          <a:p>
            <a:r>
              <a:rPr lang="en-US" dirty="0" smtClean="0"/>
              <a:t>Implemented via remote procedure calls (RPCs) between host and storage</a:t>
            </a:r>
          </a:p>
          <a:p>
            <a:r>
              <a:rPr lang="en-US" dirty="0" smtClean="0"/>
              <a:t>New </a:t>
            </a:r>
            <a:r>
              <a:rPr lang="en-US" dirty="0" err="1" smtClean="0">
                <a:solidFill>
                  <a:srgbClr val="3366FF"/>
                </a:solidFill>
              </a:rPr>
              <a:t>iSCSI</a:t>
            </a:r>
            <a:r>
              <a:rPr lang="en-US" dirty="0" smtClean="0"/>
              <a:t> protocol uses IP network to carry the SCSI protocol</a:t>
            </a:r>
          </a:p>
        </p:txBody>
      </p:sp>
      <p:pic>
        <p:nvPicPr>
          <p:cNvPr id="3072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0850" y="3232151"/>
            <a:ext cx="6497638" cy="274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46111" y="109182"/>
            <a:ext cx="9404723" cy="955343"/>
          </a:xfrm>
        </p:spPr>
        <p:txBody>
          <a:bodyPr/>
          <a:lstStyle/>
          <a:p>
            <a:pPr eaLnBrk="1" hangingPunct="1"/>
            <a:r>
              <a:rPr lang="en-US" b="1" dirty="0" smtClean="0"/>
              <a:t>Storage Area Network</a:t>
            </a:r>
          </a:p>
        </p:txBody>
      </p:sp>
      <p:sp>
        <p:nvSpPr>
          <p:cNvPr id="32771" name="Rectangle 3"/>
          <p:cNvSpPr>
            <a:spLocks noGrp="1" noChangeArrowheads="1"/>
          </p:cNvSpPr>
          <p:nvPr>
            <p:ph type="body" idx="1"/>
          </p:nvPr>
        </p:nvSpPr>
        <p:spPr>
          <a:xfrm>
            <a:off x="646112" y="1064526"/>
            <a:ext cx="9403742" cy="5183874"/>
          </a:xfrm>
        </p:spPr>
        <p:txBody>
          <a:bodyPr/>
          <a:lstStyle/>
          <a:p>
            <a:r>
              <a:rPr lang="en-US" dirty="0" smtClean="0"/>
              <a:t>Common in large storage environments (and becoming more common)</a:t>
            </a:r>
          </a:p>
          <a:p>
            <a:r>
              <a:rPr lang="en-US" dirty="0" smtClean="0"/>
              <a:t>Multiple hosts attached to multiple storage arrays - flexible</a:t>
            </a:r>
          </a:p>
        </p:txBody>
      </p:sp>
      <p:pic>
        <p:nvPicPr>
          <p:cNvPr id="32772"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4789" y="2370138"/>
            <a:ext cx="6448425" cy="3687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646111" y="0"/>
            <a:ext cx="9404723" cy="750627"/>
          </a:xfrm>
        </p:spPr>
        <p:txBody>
          <a:bodyPr/>
          <a:lstStyle/>
          <a:p>
            <a:pPr eaLnBrk="1" hangingPunct="1"/>
            <a:r>
              <a:rPr lang="en-US" b="1" dirty="0" smtClean="0"/>
              <a:t>Disk Scheduling</a:t>
            </a:r>
          </a:p>
        </p:txBody>
      </p:sp>
      <p:sp>
        <p:nvSpPr>
          <p:cNvPr id="34819" name="Rectangle 3"/>
          <p:cNvSpPr>
            <a:spLocks noGrp="1" noChangeArrowheads="1"/>
          </p:cNvSpPr>
          <p:nvPr>
            <p:ph type="body" idx="1"/>
          </p:nvPr>
        </p:nvSpPr>
        <p:spPr>
          <a:xfrm>
            <a:off x="646112" y="750627"/>
            <a:ext cx="11545888" cy="6107373"/>
          </a:xfrm>
        </p:spPr>
        <p:txBody>
          <a:bodyPr>
            <a:normAutofit/>
          </a:bodyPr>
          <a:lstStyle/>
          <a:p>
            <a:r>
              <a:rPr lang="en-US" dirty="0" smtClean="0"/>
              <a:t>The operating system is responsible for using hardware efficiently — for the disk drives, this means having a fast access time and disk bandwidth</a:t>
            </a:r>
          </a:p>
          <a:p>
            <a:r>
              <a:rPr lang="en-US" dirty="0" smtClean="0"/>
              <a:t>Access time has two major components</a:t>
            </a:r>
          </a:p>
          <a:p>
            <a:pPr lvl="1"/>
            <a:r>
              <a:rPr lang="en-US" dirty="0" smtClean="0">
                <a:ea typeface="ＭＳ Ｐゴシック" panose="020B0600070205080204" pitchFamily="34" charset="-128"/>
              </a:rPr>
              <a:t>Seek time is the time for the disk are to move the heads to the cylinder containing the desired sector</a:t>
            </a:r>
          </a:p>
          <a:p>
            <a:pPr lvl="1"/>
            <a:r>
              <a:rPr lang="en-US" dirty="0" smtClean="0">
                <a:ea typeface="ＭＳ Ｐゴシック" panose="020B0600070205080204" pitchFamily="34" charset="-128"/>
              </a:rPr>
              <a:t>Rotational latency is the additional time waiting for the disk to rotate the desired sector to the disk head</a:t>
            </a:r>
          </a:p>
          <a:p>
            <a:r>
              <a:rPr lang="en-US" dirty="0" smtClean="0"/>
              <a:t>Minimize seek time</a:t>
            </a:r>
          </a:p>
          <a:p>
            <a:r>
              <a:rPr lang="en-US" dirty="0" smtClean="0"/>
              <a:t>Seek time </a:t>
            </a:r>
            <a:r>
              <a:rPr lang="en-US" dirty="0" smtClean="0">
                <a:sym typeface="Symbol" panose="05050102010706020507" pitchFamily="18" charset="2"/>
              </a:rPr>
              <a:t> seek distance</a:t>
            </a:r>
          </a:p>
          <a:p>
            <a:r>
              <a:rPr lang="en-US" dirty="0" smtClean="0">
                <a:sym typeface="Symbol" panose="05050102010706020507" pitchFamily="18" charset="2"/>
              </a:rPr>
              <a:t>Disk bandwidth is the total number of bytes transferred, divided by the total time between the first request for service and the completion of the last transfer</a:t>
            </a:r>
          </a:p>
          <a:p>
            <a:pPr>
              <a:tabLst>
                <a:tab pos="1711325" algn="l"/>
              </a:tabLst>
            </a:pPr>
            <a:r>
              <a:rPr lang="en-US" dirty="0"/>
              <a:t>Several algorithms exist to schedule the servicing of disk I/O requests </a:t>
            </a:r>
          </a:p>
          <a:p>
            <a:pPr>
              <a:tabLst>
                <a:tab pos="1711325" algn="l"/>
              </a:tabLst>
            </a:pPr>
            <a:r>
              <a:rPr lang="en-US" dirty="0"/>
              <a:t>We illustrate them with a request queue (0-199</a:t>
            </a:r>
            <a:r>
              <a:rPr lang="en-US" dirty="0" smtClean="0"/>
              <a:t>)</a:t>
            </a:r>
            <a:r>
              <a:rPr lang="en-US" dirty="0"/>
              <a:t/>
            </a:r>
            <a:br>
              <a:rPr lang="en-US" dirty="0"/>
            </a:br>
            <a:r>
              <a:rPr lang="en-US" dirty="0"/>
              <a:t>	98, 183, 37, 122, 14, 124, 65, </a:t>
            </a:r>
            <a:r>
              <a:rPr lang="en-US" dirty="0" smtClean="0"/>
              <a:t>67</a:t>
            </a:r>
            <a:endParaRPr lang="en-US" dirty="0"/>
          </a:p>
          <a:p>
            <a:pPr>
              <a:buNone/>
              <a:tabLst>
                <a:tab pos="1711325" algn="l"/>
              </a:tabLst>
            </a:pPr>
            <a:r>
              <a:rPr lang="en-US" dirty="0"/>
              <a:t>	Head pointer </a:t>
            </a:r>
            <a:r>
              <a:rPr lang="en-US" dirty="0" smtClean="0"/>
              <a:t>53</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981200" y="277813"/>
            <a:ext cx="7475538" cy="576262"/>
          </a:xfrm>
        </p:spPr>
        <p:txBody>
          <a:bodyPr/>
          <a:lstStyle/>
          <a:p>
            <a:pPr eaLnBrk="1" hangingPunct="1"/>
            <a:r>
              <a:rPr lang="en-US" smtClean="0"/>
              <a:t>FCFS</a:t>
            </a:r>
          </a:p>
        </p:txBody>
      </p:sp>
      <p:sp>
        <p:nvSpPr>
          <p:cNvPr id="38915" name="Text Box 4"/>
          <p:cNvSpPr txBox="1">
            <a:spLocks noChangeArrowheads="1"/>
          </p:cNvSpPr>
          <p:nvPr/>
        </p:nvSpPr>
        <p:spPr bwMode="auto">
          <a:xfrm>
            <a:off x="2349501" y="1295401"/>
            <a:ext cx="64881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sz="2400">
                <a:solidFill>
                  <a:schemeClr val="tx1"/>
                </a:solidFill>
                <a:latin typeface="Verdana" panose="020B0604030504040204" pitchFamily="34" charset="0"/>
                <a:ea typeface="ＭＳ Ｐゴシック" panose="020B0600070205080204" pitchFamily="34" charset="-128"/>
              </a:defRPr>
            </a:lvl1pPr>
            <a:lvl2pPr marL="37931725" indent="-37474525">
              <a:defRPr sz="2400">
                <a:solidFill>
                  <a:schemeClr val="tx1"/>
                </a:solidFill>
                <a:latin typeface="Verdana" panose="020B0604030504040204" pitchFamily="34" charset="0"/>
                <a:ea typeface="ＭＳ Ｐゴシック" panose="020B0600070205080204" pitchFamily="34" charset="-128"/>
              </a:defRPr>
            </a:lvl2pPr>
            <a:lvl3pPr>
              <a:defRPr sz="2400">
                <a:solidFill>
                  <a:schemeClr val="tx1"/>
                </a:solidFill>
                <a:latin typeface="Verdana" panose="020B0604030504040204" pitchFamily="34" charset="0"/>
                <a:ea typeface="ＭＳ Ｐゴシック" panose="020B0600070205080204" pitchFamily="34" charset="-128"/>
              </a:defRPr>
            </a:lvl3pPr>
            <a:lvl4pPr>
              <a:defRPr sz="2400">
                <a:solidFill>
                  <a:schemeClr val="tx1"/>
                </a:solidFill>
                <a:latin typeface="Verdana" panose="020B0604030504040204" pitchFamily="34" charset="0"/>
                <a:ea typeface="ＭＳ Ｐゴシック" panose="020B0600070205080204" pitchFamily="34" charset="-128"/>
              </a:defRPr>
            </a:lvl4pPr>
            <a:lvl5pPr>
              <a:defRPr sz="2400">
                <a:solidFill>
                  <a:schemeClr val="tx1"/>
                </a:solidFill>
                <a:latin typeface="Verdana" panose="020B0604030504040204" pitchFamily="34" charset="0"/>
                <a:ea typeface="ＭＳ Ｐゴシック" panose="020B0600070205080204" pitchFamily="34" charset="-128"/>
              </a:defRPr>
            </a:lvl5pPr>
            <a:lvl6pPr marL="4572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6pPr>
            <a:lvl7pPr marL="9144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7pPr>
            <a:lvl8pPr marL="13716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8pPr>
            <a:lvl9pPr marL="1828800" eaLnBrk="0" fontAlgn="base" hangingPunct="0">
              <a:spcBef>
                <a:spcPct val="0"/>
              </a:spcBef>
              <a:spcAft>
                <a:spcPct val="0"/>
              </a:spcAft>
              <a:defRPr sz="2400">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sz="2000">
                <a:latin typeface="Helvetica" panose="020B0604020202020204" pitchFamily="34" charset="0"/>
              </a:rPr>
              <a:t>Illustration shows total head movement of 640 cylinders</a:t>
            </a:r>
          </a:p>
        </p:txBody>
      </p:sp>
      <p:pic>
        <p:nvPicPr>
          <p:cNvPr id="3891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4788" y="1906589"/>
            <a:ext cx="5840412" cy="423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218365" y="0"/>
            <a:ext cx="9832470" cy="709684"/>
          </a:xfrm>
        </p:spPr>
        <p:txBody>
          <a:bodyPr/>
          <a:lstStyle/>
          <a:p>
            <a:pPr eaLnBrk="1" hangingPunct="1"/>
            <a:r>
              <a:rPr lang="en-US" b="1" dirty="0" smtClean="0"/>
              <a:t>SSTF</a:t>
            </a:r>
          </a:p>
        </p:txBody>
      </p:sp>
      <p:sp>
        <p:nvSpPr>
          <p:cNvPr id="40963" name="Rectangle 3"/>
          <p:cNvSpPr>
            <a:spLocks noGrp="1" noChangeArrowheads="1"/>
          </p:cNvSpPr>
          <p:nvPr>
            <p:ph type="body" idx="1"/>
          </p:nvPr>
        </p:nvSpPr>
        <p:spPr>
          <a:xfrm>
            <a:off x="218366" y="709684"/>
            <a:ext cx="11973634" cy="5538715"/>
          </a:xfrm>
        </p:spPr>
        <p:txBody>
          <a:bodyPr/>
          <a:lstStyle/>
          <a:p>
            <a:r>
              <a:rPr lang="en-US" dirty="0" smtClean="0"/>
              <a:t>Selects the request with the minimum seek time from the current head position</a:t>
            </a:r>
          </a:p>
          <a:p>
            <a:r>
              <a:rPr lang="en-US" dirty="0" smtClean="0"/>
              <a:t>SSTF scheduling is a form of SJF scheduling; may cause starvation of some requests</a:t>
            </a:r>
          </a:p>
          <a:p>
            <a:r>
              <a:rPr lang="en-US" dirty="0" smtClean="0"/>
              <a:t>Illustration shows total head movement of 236 cylinders</a:t>
            </a:r>
          </a:p>
        </p:txBody>
      </p:sp>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l="829" t="6129" r="829" b="6129"/>
          <a:stretch>
            <a:fillRect/>
          </a:stretch>
        </p:blipFill>
        <p:spPr bwMode="auto">
          <a:xfrm>
            <a:off x="1841784" y="1950493"/>
            <a:ext cx="7164388" cy="479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0" y="0"/>
            <a:ext cx="9404723" cy="777922"/>
          </a:xfrm>
        </p:spPr>
        <p:txBody>
          <a:bodyPr/>
          <a:lstStyle/>
          <a:p>
            <a:pPr eaLnBrk="1" hangingPunct="1"/>
            <a:r>
              <a:rPr lang="en-US" b="1" dirty="0" smtClean="0"/>
              <a:t>SCAN</a:t>
            </a:r>
          </a:p>
        </p:txBody>
      </p:sp>
      <p:sp>
        <p:nvSpPr>
          <p:cNvPr id="45059" name="Rectangle 3"/>
          <p:cNvSpPr>
            <a:spLocks noGrp="1" noChangeArrowheads="1"/>
          </p:cNvSpPr>
          <p:nvPr>
            <p:ph type="body" idx="1"/>
          </p:nvPr>
        </p:nvSpPr>
        <p:spPr>
          <a:xfrm>
            <a:off x="0" y="777922"/>
            <a:ext cx="12192000" cy="5470477"/>
          </a:xfrm>
        </p:spPr>
        <p:txBody>
          <a:bodyPr/>
          <a:lstStyle/>
          <a:p>
            <a:r>
              <a:rPr lang="en-US" dirty="0" smtClean="0"/>
              <a:t>The disk arm starts at one end of the disk, and moves toward the other end, servicing requests until it gets to the other end of the disk, where the head movement is reversed and servicing continues.</a:t>
            </a:r>
          </a:p>
          <a:p>
            <a:r>
              <a:rPr lang="en-US" dirty="0" smtClean="0"/>
              <a:t>SCAN algorithm Sometimes called the elevator algorithm</a:t>
            </a:r>
          </a:p>
          <a:p>
            <a:r>
              <a:rPr lang="en-US" dirty="0" smtClean="0"/>
              <a:t>Illustration shows total head movement of 208 cylinders</a:t>
            </a:r>
          </a:p>
        </p:txBody>
      </p:sp>
      <p:pic>
        <p:nvPicPr>
          <p:cNvPr id="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89993" y="2784141"/>
            <a:ext cx="6385518" cy="3650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0" y="0"/>
            <a:ext cx="9404723" cy="928048"/>
          </a:xfrm>
        </p:spPr>
        <p:txBody>
          <a:bodyPr/>
          <a:lstStyle/>
          <a:p>
            <a:pPr eaLnBrk="1" hangingPunct="1"/>
            <a:r>
              <a:rPr lang="en-US" b="1" dirty="0" smtClean="0"/>
              <a:t>C-SCAN</a:t>
            </a:r>
          </a:p>
        </p:txBody>
      </p:sp>
      <p:sp>
        <p:nvSpPr>
          <p:cNvPr id="49155" name="Rectangle 3"/>
          <p:cNvSpPr>
            <a:spLocks noGrp="1" noChangeArrowheads="1"/>
          </p:cNvSpPr>
          <p:nvPr>
            <p:ph type="body" idx="1"/>
          </p:nvPr>
        </p:nvSpPr>
        <p:spPr>
          <a:xfrm>
            <a:off x="0" y="928048"/>
            <a:ext cx="12192000" cy="5320351"/>
          </a:xfrm>
        </p:spPr>
        <p:txBody>
          <a:bodyPr/>
          <a:lstStyle/>
          <a:p>
            <a:r>
              <a:rPr lang="en-US" dirty="0" smtClean="0"/>
              <a:t>Provides a more uniform wait time than SCAN</a:t>
            </a:r>
          </a:p>
          <a:p>
            <a:r>
              <a:rPr lang="en-US" dirty="0" smtClean="0"/>
              <a:t>The head moves from one end of the disk to the other, servicing requests as it goes</a:t>
            </a:r>
          </a:p>
          <a:p>
            <a:pPr lvl="1"/>
            <a:r>
              <a:rPr lang="en-US" dirty="0" smtClean="0">
                <a:ea typeface="ＭＳ Ｐゴシック" panose="020B0600070205080204" pitchFamily="34" charset="-128"/>
              </a:rPr>
              <a:t>When it reaches the other end, however, it immediately returns to the beginning of the disk, without servicing any requests on the return trip</a:t>
            </a:r>
          </a:p>
          <a:p>
            <a:r>
              <a:rPr lang="en-US" dirty="0" smtClean="0"/>
              <a:t>Treats the cylinders as a circular list that wraps around from the last cylinder to the first one</a:t>
            </a:r>
          </a:p>
        </p:txBody>
      </p:sp>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l="706" t="3731" r="925" b="3731"/>
          <a:stretch>
            <a:fillRect/>
          </a:stretch>
        </p:blipFill>
        <p:spPr bwMode="auto">
          <a:xfrm>
            <a:off x="1841501" y="2893326"/>
            <a:ext cx="7000875" cy="373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46111" y="0"/>
            <a:ext cx="9404723" cy="900752"/>
          </a:xfrm>
        </p:spPr>
        <p:txBody>
          <a:bodyPr/>
          <a:lstStyle/>
          <a:p>
            <a:pPr eaLnBrk="1" hangingPunct="1"/>
            <a:r>
              <a:rPr lang="en-US" b="1" dirty="0" smtClean="0"/>
              <a:t>C-LOOK</a:t>
            </a:r>
          </a:p>
        </p:txBody>
      </p:sp>
      <p:sp>
        <p:nvSpPr>
          <p:cNvPr id="53251" name="Rectangle 3"/>
          <p:cNvSpPr>
            <a:spLocks noGrp="1" noChangeArrowheads="1"/>
          </p:cNvSpPr>
          <p:nvPr>
            <p:ph type="body" idx="1"/>
          </p:nvPr>
        </p:nvSpPr>
        <p:spPr>
          <a:xfrm>
            <a:off x="109183" y="696036"/>
            <a:ext cx="11941790" cy="6277970"/>
          </a:xfrm>
        </p:spPr>
        <p:txBody>
          <a:bodyPr/>
          <a:lstStyle/>
          <a:p>
            <a:r>
              <a:rPr lang="en-US" dirty="0" smtClean="0"/>
              <a:t>Version of C-SCAN</a:t>
            </a:r>
          </a:p>
          <a:p>
            <a:r>
              <a:rPr lang="en-US" dirty="0" smtClean="0"/>
              <a:t>Arm only goes as far as the last request in each direction, then reverses direction immediately, without first going all the way to the end of the disk </a:t>
            </a:r>
          </a:p>
        </p:txBody>
      </p:sp>
      <p:pic>
        <p:nvPicPr>
          <p:cNvPr id="4" name="Picture 4"/>
          <p:cNvPicPr>
            <a:picLocks noChangeAspect="1" noChangeArrowheads="1"/>
          </p:cNvPicPr>
          <p:nvPr/>
        </p:nvPicPr>
        <p:blipFill>
          <a:blip r:embed="rId3">
            <a:extLst>
              <a:ext uri="{28A0092B-C50C-407E-A947-70E740481C1C}">
                <a14:useLocalDpi xmlns:a14="http://schemas.microsoft.com/office/drawing/2010/main" val="0"/>
              </a:ext>
            </a:extLst>
          </a:blip>
          <a:srcRect l="514" t="4144" r="1297" b="4504"/>
          <a:stretch>
            <a:fillRect/>
          </a:stretch>
        </p:blipFill>
        <p:spPr bwMode="auto">
          <a:xfrm>
            <a:off x="1636151" y="1869744"/>
            <a:ext cx="7151688" cy="4527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245660" y="452718"/>
            <a:ext cx="11423175" cy="1400530"/>
          </a:xfrm>
        </p:spPr>
        <p:txBody>
          <a:bodyPr/>
          <a:lstStyle/>
          <a:p>
            <a:pPr eaLnBrk="1" hangingPunct="1"/>
            <a:r>
              <a:rPr lang="en-US" b="1" dirty="0" smtClean="0"/>
              <a:t>Selecting a Disk-Scheduling Algorithm</a:t>
            </a:r>
          </a:p>
        </p:txBody>
      </p:sp>
      <p:sp>
        <p:nvSpPr>
          <p:cNvPr id="57347" name="Rectangle 3"/>
          <p:cNvSpPr>
            <a:spLocks noGrp="1" noChangeArrowheads="1"/>
          </p:cNvSpPr>
          <p:nvPr>
            <p:ph type="body" idx="1"/>
          </p:nvPr>
        </p:nvSpPr>
        <p:spPr/>
        <p:txBody>
          <a:bodyPr/>
          <a:lstStyle/>
          <a:p>
            <a:r>
              <a:rPr lang="en-US" smtClean="0"/>
              <a:t>SSTF is common and has a natural appeal</a:t>
            </a:r>
          </a:p>
          <a:p>
            <a:r>
              <a:rPr lang="en-US" smtClean="0"/>
              <a:t>SCAN and C-SCAN perform better for systems that place a heavy load on the disk</a:t>
            </a:r>
          </a:p>
          <a:p>
            <a:r>
              <a:rPr lang="en-US" smtClean="0"/>
              <a:t>Performance depends on the number and types of requests</a:t>
            </a:r>
          </a:p>
          <a:p>
            <a:r>
              <a:rPr lang="en-US" smtClean="0"/>
              <a:t>Requests for disk service can be influenced by the file-allocation method</a:t>
            </a:r>
          </a:p>
          <a:p>
            <a:r>
              <a:rPr lang="en-US" smtClean="0"/>
              <a:t>The disk-scheduling algorithm should be written as a separate module of the operating system, allowing it to be replaced with a different algorithm if necessary</a:t>
            </a:r>
          </a:p>
          <a:p>
            <a:r>
              <a:rPr lang="en-US" smtClean="0"/>
              <a:t>Either SSTF or LOOK is a reasonable choice for the default algorithm</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77421" y="109182"/>
            <a:ext cx="9873413" cy="900752"/>
          </a:xfrm>
        </p:spPr>
        <p:txBody>
          <a:bodyPr/>
          <a:lstStyle/>
          <a:p>
            <a:pPr eaLnBrk="1" hangingPunct="1"/>
            <a:r>
              <a:rPr lang="en-US" b="1" dirty="0" smtClean="0"/>
              <a:t>Disk Management</a:t>
            </a:r>
          </a:p>
        </p:txBody>
      </p:sp>
      <p:sp>
        <p:nvSpPr>
          <p:cNvPr id="117763" name="Rectangle 3"/>
          <p:cNvSpPr>
            <a:spLocks noGrp="1" noChangeArrowheads="1"/>
          </p:cNvSpPr>
          <p:nvPr>
            <p:ph type="body" idx="1"/>
          </p:nvPr>
        </p:nvSpPr>
        <p:spPr>
          <a:xfrm>
            <a:off x="0" y="1009934"/>
            <a:ext cx="12192000" cy="5238465"/>
          </a:xfrm>
        </p:spPr>
        <p:txBody>
          <a:bodyPr>
            <a:normAutofit/>
          </a:bodyPr>
          <a:lstStyle/>
          <a:p>
            <a:r>
              <a:rPr lang="en-US" b="1" dirty="0" smtClean="0"/>
              <a:t>Low-level formatting, or physical formatting — Dividing a disk into sectors that the disk controller can read and write</a:t>
            </a:r>
          </a:p>
          <a:p>
            <a:r>
              <a:rPr lang="en-US" b="1" dirty="0" smtClean="0"/>
              <a:t>To use a disk to hold files, the operating system still needs to record its own data structures on the disk</a:t>
            </a:r>
          </a:p>
          <a:p>
            <a:pPr lvl="1"/>
            <a:r>
              <a:rPr lang="en-US" b="1" dirty="0" smtClean="0">
                <a:ea typeface="ＭＳ Ｐゴシック" panose="020B0600070205080204" pitchFamily="34" charset="-128"/>
              </a:rPr>
              <a:t>Partition the disk into one or more groups of cylinders</a:t>
            </a:r>
          </a:p>
          <a:p>
            <a:pPr lvl="1"/>
            <a:r>
              <a:rPr lang="en-US" b="1" dirty="0" smtClean="0">
                <a:ea typeface="ＭＳ Ｐゴシック" panose="020B0600070205080204" pitchFamily="34" charset="-128"/>
              </a:rPr>
              <a:t>Logical formatting or “making a file system”</a:t>
            </a:r>
          </a:p>
          <a:p>
            <a:pPr lvl="1"/>
            <a:r>
              <a:rPr lang="en-US" b="1" dirty="0" smtClean="0">
                <a:ea typeface="ＭＳ Ｐゴシック" panose="020B0600070205080204" pitchFamily="34" charset="-128"/>
              </a:rPr>
              <a:t>To increase efficiency most file systems group blocks into clusters</a:t>
            </a:r>
          </a:p>
          <a:p>
            <a:pPr lvl="2"/>
            <a:r>
              <a:rPr lang="en-US" b="1" dirty="0" smtClean="0">
                <a:ea typeface="ＭＳ Ｐゴシック" panose="020B0600070205080204" pitchFamily="34" charset="-128"/>
              </a:rPr>
              <a:t>Disk I/O done in blocks</a:t>
            </a:r>
          </a:p>
          <a:p>
            <a:pPr lvl="2"/>
            <a:r>
              <a:rPr lang="en-US" b="1" dirty="0" smtClean="0">
                <a:ea typeface="ＭＳ Ｐゴシック" panose="020B0600070205080204" pitchFamily="34" charset="-128"/>
              </a:rPr>
              <a:t>File I/O done in clusters</a:t>
            </a:r>
          </a:p>
          <a:p>
            <a:r>
              <a:rPr lang="en-US" b="1" dirty="0" smtClean="0"/>
              <a:t>Boot block initializes system</a:t>
            </a:r>
          </a:p>
          <a:p>
            <a:pPr lvl="1"/>
            <a:r>
              <a:rPr lang="en-US" b="1" dirty="0" smtClean="0">
                <a:ea typeface="ＭＳ Ｐゴシック" panose="020B0600070205080204" pitchFamily="34" charset="-128"/>
              </a:rPr>
              <a:t>The bootstrap is stored in ROM</a:t>
            </a:r>
          </a:p>
          <a:p>
            <a:pPr lvl="1"/>
            <a:r>
              <a:rPr lang="en-US" b="1" dirty="0" smtClean="0">
                <a:ea typeface="ＭＳ Ｐゴシック" panose="020B0600070205080204" pitchFamily="34" charset="-128"/>
              </a:rPr>
              <a:t>Bootstrap loader program</a:t>
            </a:r>
          </a:p>
          <a:p>
            <a:r>
              <a:rPr lang="en-US" b="1" dirty="0" smtClean="0"/>
              <a:t>Methods such as sector sparing used to handle bad blocks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US" smtClean="0"/>
              <a:t>Booting from a Disk in Windows 2000</a:t>
            </a:r>
            <a:endParaRPr lang="en-US" sz="2400"/>
          </a:p>
        </p:txBody>
      </p:sp>
      <p:pic>
        <p:nvPicPr>
          <p:cNvPr id="6144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4300" y="1128714"/>
            <a:ext cx="6845300" cy="512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369</TotalTime>
  <Words>2937</Words>
  <Application>Microsoft Office PowerPoint</Application>
  <PresentationFormat>Widescreen</PresentationFormat>
  <Paragraphs>572</Paragraphs>
  <Slides>63</Slides>
  <Notes>59</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63</vt:i4>
      </vt:variant>
    </vt:vector>
  </HeadingPairs>
  <TitlesOfParts>
    <vt:vector size="76" baseType="lpstr">
      <vt:lpstr>ＭＳ Ｐゴシック</vt:lpstr>
      <vt:lpstr>Arial</vt:lpstr>
      <vt:lpstr>Calibri</vt:lpstr>
      <vt:lpstr>Century Gothic</vt:lpstr>
      <vt:lpstr>Helvetica</vt:lpstr>
      <vt:lpstr>Monotype Sorts</vt:lpstr>
      <vt:lpstr>MT Extra</vt:lpstr>
      <vt:lpstr>Symbol</vt:lpstr>
      <vt:lpstr>Times New Roman</vt:lpstr>
      <vt:lpstr>Verdana</vt:lpstr>
      <vt:lpstr>Wingdings</vt:lpstr>
      <vt:lpstr>Wingdings 3</vt:lpstr>
      <vt:lpstr>Ion</vt:lpstr>
      <vt:lpstr>Module 5</vt:lpstr>
      <vt:lpstr>File Concept</vt:lpstr>
      <vt:lpstr>File Structure</vt:lpstr>
      <vt:lpstr>File Attributes</vt:lpstr>
      <vt:lpstr>File Operations</vt:lpstr>
      <vt:lpstr>Open Files</vt:lpstr>
      <vt:lpstr>File Locking Example – Java API</vt:lpstr>
      <vt:lpstr>File Types – Name, Extension</vt:lpstr>
      <vt:lpstr>Access Methods</vt:lpstr>
      <vt:lpstr>Sequential-access File</vt:lpstr>
      <vt:lpstr>Example of Index and Relative Files</vt:lpstr>
      <vt:lpstr>Directory Structure</vt:lpstr>
      <vt:lpstr>Disk Structure</vt:lpstr>
      <vt:lpstr>Operations Performed on Directory</vt:lpstr>
      <vt:lpstr>Organize the Directory (Logically) to Obtain</vt:lpstr>
      <vt:lpstr>Single-Level Directory</vt:lpstr>
      <vt:lpstr>Two-Level Directory</vt:lpstr>
      <vt:lpstr>Tree-Structured Directories</vt:lpstr>
      <vt:lpstr>Acyclic-Graph Directories</vt:lpstr>
      <vt:lpstr>General Graph Directory</vt:lpstr>
      <vt:lpstr>File System Mounting</vt:lpstr>
      <vt:lpstr>(a) Existing.  (b) Unmounted Partition</vt:lpstr>
      <vt:lpstr>Mount Point</vt:lpstr>
      <vt:lpstr>File Sharing</vt:lpstr>
      <vt:lpstr>File Sharing – Remote File Systems</vt:lpstr>
      <vt:lpstr>File Sharing – Failure Modes</vt:lpstr>
      <vt:lpstr>File Sharing – Consistency Semantics</vt:lpstr>
      <vt:lpstr> Chapter 2 : File System Implementation</vt:lpstr>
      <vt:lpstr>File-System Structure</vt:lpstr>
      <vt:lpstr>File-System Implementation</vt:lpstr>
      <vt:lpstr>A Typical File Control Block</vt:lpstr>
      <vt:lpstr>In-Memory File System Structures</vt:lpstr>
      <vt:lpstr>Virtual File Systems</vt:lpstr>
      <vt:lpstr>Directory Implementation</vt:lpstr>
      <vt:lpstr>Allocation Methods</vt:lpstr>
      <vt:lpstr>Contiguous Allocation</vt:lpstr>
      <vt:lpstr>Extent-Based Systems</vt:lpstr>
      <vt:lpstr>Linked Allocation</vt:lpstr>
      <vt:lpstr>File-Allocation Table</vt:lpstr>
      <vt:lpstr>Indexed Allocation</vt:lpstr>
      <vt:lpstr>Indexed Allocation (Cont.)</vt:lpstr>
      <vt:lpstr>Indexed Allocation – Mapping (Cont.)</vt:lpstr>
      <vt:lpstr>Combined Scheme:  UNIX UFS (4K bytes per block)</vt:lpstr>
      <vt:lpstr>Free-Space Management</vt:lpstr>
      <vt:lpstr>Free-Space Management (Cont.)</vt:lpstr>
      <vt:lpstr>Directory Implementation</vt:lpstr>
      <vt:lpstr>Linked Free Space List on Disk</vt:lpstr>
      <vt:lpstr>Chapter 3:  Mass-Storage Systems</vt:lpstr>
      <vt:lpstr>Overview of Mass Storage Structure</vt:lpstr>
      <vt:lpstr>Overview of Mass Storage Structure (Cont)</vt:lpstr>
      <vt:lpstr>Disk Structure</vt:lpstr>
      <vt:lpstr>Disk Attachment</vt:lpstr>
      <vt:lpstr>Network-Attached Storage</vt:lpstr>
      <vt:lpstr>Storage Area Network</vt:lpstr>
      <vt:lpstr>Disk Scheduling</vt:lpstr>
      <vt:lpstr>FCFS</vt:lpstr>
      <vt:lpstr>SSTF</vt:lpstr>
      <vt:lpstr>SCAN</vt:lpstr>
      <vt:lpstr>C-SCAN</vt:lpstr>
      <vt:lpstr>C-LOOK</vt:lpstr>
      <vt:lpstr>Selecting a Disk-Scheduling Algorithm</vt:lpstr>
      <vt:lpstr>Disk Management</vt:lpstr>
      <vt:lpstr>Booting from a Disk in Windows 2000</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Arbeena</dc:creator>
  <cp:lastModifiedBy>Arbeena</cp:lastModifiedBy>
  <cp:revision>31</cp:revision>
  <dcterms:created xsi:type="dcterms:W3CDTF">2023-11-10T05:58:25Z</dcterms:created>
  <dcterms:modified xsi:type="dcterms:W3CDTF">2026-08-12T05:32:44Z</dcterms:modified>
</cp:coreProperties>
</file>