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58"/>
  </p:notesMasterIdLst>
  <p:sldIdLst>
    <p:sldId id="256" r:id="rId2"/>
    <p:sldId id="257" r:id="rId3"/>
    <p:sldId id="258" r:id="rId4"/>
    <p:sldId id="260" r:id="rId5"/>
    <p:sldId id="261" r:id="rId6"/>
    <p:sldId id="265"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80" r:id="rId23"/>
    <p:sldId id="282" r:id="rId24"/>
    <p:sldId id="283" r:id="rId25"/>
    <p:sldId id="285" r:id="rId26"/>
    <p:sldId id="320" r:id="rId27"/>
    <p:sldId id="321" r:id="rId28"/>
    <p:sldId id="323" r:id="rId29"/>
    <p:sldId id="324" r:id="rId30"/>
    <p:sldId id="325" r:id="rId31"/>
    <p:sldId id="327" r:id="rId32"/>
    <p:sldId id="330" r:id="rId33"/>
    <p:sldId id="331" r:id="rId34"/>
    <p:sldId id="332" r:id="rId35"/>
    <p:sldId id="334" r:id="rId36"/>
    <p:sldId id="335" r:id="rId37"/>
    <p:sldId id="336" r:id="rId38"/>
    <p:sldId id="338" r:id="rId39"/>
    <p:sldId id="339" r:id="rId40"/>
    <p:sldId id="342" r:id="rId41"/>
    <p:sldId id="343" r:id="rId42"/>
    <p:sldId id="344" r:id="rId43"/>
    <p:sldId id="345" r:id="rId44"/>
    <p:sldId id="346" r:id="rId45"/>
    <p:sldId id="347" r:id="rId46"/>
    <p:sldId id="348" r:id="rId47"/>
    <p:sldId id="349" r:id="rId48"/>
    <p:sldId id="350" r:id="rId49"/>
    <p:sldId id="362" r:id="rId50"/>
    <p:sldId id="353" r:id="rId51"/>
    <p:sldId id="354" r:id="rId52"/>
    <p:sldId id="356" r:id="rId53"/>
    <p:sldId id="357" r:id="rId54"/>
    <p:sldId id="358" r:id="rId55"/>
    <p:sldId id="359" r:id="rId56"/>
    <p:sldId id="360"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47068D-0666-473E-A8A8-23BF2C2A04E1}" type="datetimeFigureOut">
              <a:rPr lang="en-US" smtClean="0"/>
              <a:t>11/15/2023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92C0EF-7CA6-48AF-A8D3-E74B58CCE171}" type="slidenum">
              <a:rPr lang="en-US" smtClean="0"/>
              <a:t>‹#›</a:t>
            </a:fld>
            <a:endParaRPr lang="en-US"/>
          </a:p>
        </p:txBody>
      </p:sp>
    </p:spTree>
    <p:extLst>
      <p:ext uri="{BB962C8B-B14F-4D97-AF65-F5344CB8AC3E}">
        <p14:creationId xmlns:p14="http://schemas.microsoft.com/office/powerpoint/2010/main" val="3520976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BB3DBDE0-AECC-44A2-8F95-73F18D35747D}" type="slidenum">
              <a:rPr lang="en-US" sz="1400">
                <a:latin typeface="Times New Roman" panose="02020603050405020304" pitchFamily="18" charset="0"/>
              </a:rPr>
              <a:pPr/>
              <a:t>2</a:t>
            </a:fld>
            <a:endParaRPr lang="en-US" sz="1400">
              <a:latin typeface="Times New Roman" panose="02020603050405020304" pitchFamily="18"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230646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176AD3BD-D167-41C7-8C18-59582A253A1A}" type="slidenum">
              <a:rPr lang="en-US" sz="1400">
                <a:latin typeface="Times New Roman" panose="02020603050405020304" pitchFamily="18" charset="0"/>
              </a:rPr>
              <a:pPr/>
              <a:t>3</a:t>
            </a:fld>
            <a:endParaRPr lang="en-US" sz="1400">
              <a:latin typeface="Times New Roman" panose="02020603050405020304" pitchFamily="18"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711386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DB0C51AD-481C-4AB3-B606-4D658C8316B9}" type="slidenum">
              <a:rPr lang="en-US" sz="1400">
                <a:latin typeface="Times New Roman" panose="02020603050405020304" pitchFamily="18" charset="0"/>
              </a:rPr>
              <a:pPr/>
              <a:t>4</a:t>
            </a:fld>
            <a:endParaRPr lang="en-US" sz="1400">
              <a:latin typeface="Times New Roman" panose="02020603050405020304" pitchFamily="18"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615646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17A54DE8-74D0-43EA-89AF-652CE767C977}" type="slidenum">
              <a:rPr lang="en-US" sz="1400">
                <a:latin typeface="Times New Roman" panose="02020603050405020304" pitchFamily="18" charset="0"/>
              </a:rPr>
              <a:pPr/>
              <a:t>5</a:t>
            </a:fld>
            <a:endParaRPr lang="en-US" sz="1400">
              <a:latin typeface="Times New Roman" panose="02020603050405020304" pitchFamily="18"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830664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FC5F9E04-A289-452F-A197-99903781DA9E}" type="slidenum">
              <a:rPr lang="en-US" sz="1400">
                <a:latin typeface="Times New Roman" panose="02020603050405020304" pitchFamily="18" charset="0"/>
              </a:rPr>
              <a:pPr/>
              <a:t>7</a:t>
            </a:fld>
            <a:endParaRPr lang="en-US" sz="1400">
              <a:latin typeface="Times New Roman" panose="02020603050405020304" pitchFamily="18"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23365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F33218F5-6F48-4482-A051-A6B0E8738185}" type="slidenum">
              <a:rPr lang="en-US" sz="1400">
                <a:latin typeface="Times New Roman" panose="02020603050405020304" pitchFamily="18" charset="0"/>
              </a:rPr>
              <a:pPr/>
              <a:t>8</a:t>
            </a:fld>
            <a:endParaRPr lang="en-US" sz="1400">
              <a:latin typeface="Times New Roman" panose="02020603050405020304" pitchFamily="18"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282578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CA67B9DB-576D-44DB-A6E1-E78F1B8EFA35}" type="slidenum">
              <a:rPr lang="en-US" sz="1400">
                <a:latin typeface="Times New Roman" panose="02020603050405020304" pitchFamily="18" charset="0"/>
              </a:rPr>
              <a:pPr/>
              <a:t>9</a:t>
            </a:fld>
            <a:endParaRPr lang="en-US" sz="1400">
              <a:latin typeface="Times New Roman" panose="02020603050405020304" pitchFamily="18"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727376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3186BB4E-73D6-482D-8D2E-1455D78CB0EA}" type="slidenum">
              <a:rPr lang="en-US" sz="1400">
                <a:latin typeface="Times New Roman" panose="02020603050405020304" pitchFamily="18" charset="0"/>
              </a:rPr>
              <a:pPr/>
              <a:t>10</a:t>
            </a:fld>
            <a:endParaRPr lang="en-US" sz="140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1076681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D75C036A-0E31-4319-9248-9CF574B627F1}" type="slidenum">
              <a:rPr lang="en-US" sz="1400">
                <a:latin typeface="Times New Roman" panose="02020603050405020304" pitchFamily="18" charset="0"/>
              </a:rPr>
              <a:pPr/>
              <a:t>11</a:t>
            </a:fld>
            <a:endParaRPr lang="en-US" sz="1400">
              <a:latin typeface="Times New Roman" panose="02020603050405020304" pitchFamily="18"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7577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6CABE3EA-C890-4F55-A8AE-5CFBC880CDB4}" type="slidenum">
              <a:rPr lang="en-US" sz="1400">
                <a:latin typeface="Times New Roman" panose="02020603050405020304" pitchFamily="18" charset="0"/>
              </a:rPr>
              <a:pPr/>
              <a:t>12</a:t>
            </a:fld>
            <a:endParaRPr lang="en-US" sz="140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6172495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1DD017DD-A033-4B0E-80C6-7F96C92DE955}" type="slidenum">
              <a:rPr lang="en-US" sz="1400">
                <a:latin typeface="Times New Roman" panose="02020603050405020304" pitchFamily="18" charset="0"/>
              </a:rPr>
              <a:pPr/>
              <a:t>14</a:t>
            </a:fld>
            <a:endParaRPr lang="en-US" sz="140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829335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E662231D-02B7-4BBE-B0AE-3604F93C79E4}" type="slidenum">
              <a:rPr lang="en-US" sz="1400">
                <a:latin typeface="Times New Roman" panose="02020603050405020304" pitchFamily="18" charset="0"/>
              </a:rPr>
              <a:pPr/>
              <a:t>15</a:t>
            </a:fld>
            <a:endParaRPr lang="en-US" sz="1400">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293421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88B38DAB-43BD-4A45-87CB-7C7C0B422FDD}" type="slidenum">
              <a:rPr lang="en-US" sz="1400">
                <a:latin typeface="Times New Roman" panose="02020603050405020304" pitchFamily="18" charset="0"/>
              </a:rPr>
              <a:pPr/>
              <a:t>16</a:t>
            </a:fld>
            <a:endParaRPr lang="en-US" sz="1400">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2900359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CA216F37-343E-4A49-AD50-301E74C8FC72}" type="slidenum">
              <a:rPr lang="en-US" sz="1400">
                <a:latin typeface="Times New Roman" panose="02020603050405020304" pitchFamily="18" charset="0"/>
              </a:rPr>
              <a:pPr/>
              <a:t>17</a:t>
            </a:fld>
            <a:endParaRPr lang="en-US" sz="1400">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5578837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409EF109-861A-4D52-B1CF-5E13FD549DB5}" type="slidenum">
              <a:rPr lang="en-US" sz="1400">
                <a:latin typeface="Times New Roman" panose="02020603050405020304" pitchFamily="18" charset="0"/>
              </a:rPr>
              <a:pPr/>
              <a:t>18</a:t>
            </a:fld>
            <a:endParaRPr lang="en-US" sz="1400">
              <a:latin typeface="Times New Roman" panose="02020603050405020304" pitchFamily="18"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22127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8A80C9DB-4EF9-40C4-BEF2-90558EDC2620}" type="slidenum">
              <a:rPr lang="en-US" sz="1400">
                <a:latin typeface="Times New Roman" panose="02020603050405020304" pitchFamily="18" charset="0"/>
              </a:rPr>
              <a:pPr/>
              <a:t>19</a:t>
            </a:fld>
            <a:endParaRPr lang="en-US" sz="1400">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634032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4F1AB304-D75F-4412-8689-98951C04B8E2}" type="slidenum">
              <a:rPr lang="en-US" sz="1400">
                <a:latin typeface="Times New Roman" panose="02020603050405020304" pitchFamily="18" charset="0"/>
              </a:rPr>
              <a:pPr/>
              <a:t>20</a:t>
            </a:fld>
            <a:endParaRPr lang="en-US" sz="1400">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744852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F86D0BB6-1248-4C32-88B4-8EAC3E44954F}" type="slidenum">
              <a:rPr lang="en-US" sz="1400">
                <a:latin typeface="Times New Roman" panose="02020603050405020304" pitchFamily="18" charset="0"/>
              </a:rPr>
              <a:pPr/>
              <a:t>21</a:t>
            </a:fld>
            <a:endParaRPr lang="en-US" sz="140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006995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ADB96E4E-3DBB-4BE8-ABF0-959C16928A62}" type="slidenum">
              <a:rPr lang="en-US" sz="1400">
                <a:latin typeface="Times New Roman" panose="02020603050405020304" pitchFamily="18" charset="0"/>
              </a:rPr>
              <a:pPr/>
              <a:t>22</a:t>
            </a:fld>
            <a:endParaRPr lang="en-US" sz="1400">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7046241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0980D81B-9823-4C5A-8530-4433C764EB75}" type="slidenum">
              <a:rPr lang="en-US" sz="1400">
                <a:latin typeface="Times New Roman" panose="02020603050405020304" pitchFamily="18" charset="0"/>
              </a:rPr>
              <a:pPr/>
              <a:t>23</a:t>
            </a:fld>
            <a:endParaRPr lang="en-US" sz="1400">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7526537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F18D4C0D-D474-4B40-899A-F94A47A6F26B}" type="slidenum">
              <a:rPr lang="en-US" sz="1400">
                <a:latin typeface="Times New Roman" panose="02020603050405020304" pitchFamily="18" charset="0"/>
              </a:rPr>
              <a:pPr/>
              <a:t>24</a:t>
            </a:fld>
            <a:endParaRPr lang="en-US" sz="140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7129284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panose="020B0604030504040204" pitchFamily="34" charset="0"/>
                <a:ea typeface="ＭＳ Ｐゴシック" panose="020B0600070205080204" pitchFamily="34" charset="-128"/>
              </a:defRPr>
            </a:lvl1pPr>
            <a:lvl2pPr marL="37931725" indent="-37474525" defTabSz="966788">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FE240CF3-0F68-466F-A6A6-2CD37766C157}" type="slidenum">
              <a:rPr lang="en-US" sz="1400">
                <a:latin typeface="Times New Roman" panose="02020603050405020304" pitchFamily="18" charset="0"/>
              </a:rPr>
              <a:pPr/>
              <a:t>25</a:t>
            </a:fld>
            <a:endParaRPr lang="en-US" sz="14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0530951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4A233B4-F9F0-4BAD-806F-46E4F285C1C5}" type="slidenum">
              <a:rPr lang="en-US">
                <a:latin typeface="Times New Roman" panose="02020603050405020304" pitchFamily="18" charset="0"/>
              </a:rPr>
              <a:pPr/>
              <a:t>26</a:t>
            </a:fld>
            <a:endParaRPr lang="en-US">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6543205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B7572B9A-BC1D-42AE-876F-CA6B5B6E6C70}" type="slidenum">
              <a:rPr lang="en-US">
                <a:latin typeface="Times New Roman" panose="02020603050405020304" pitchFamily="18" charset="0"/>
              </a:rPr>
              <a:pPr/>
              <a:t>27</a:t>
            </a:fld>
            <a:endParaRPr lang="en-US">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4373240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D576B57C-C0F4-4C1E-A8BB-5552AE1ACF17}" type="slidenum">
              <a:rPr lang="en-US">
                <a:latin typeface="Times New Roman" panose="02020603050405020304" pitchFamily="18" charset="0"/>
              </a:rPr>
              <a:pPr/>
              <a:t>28</a:t>
            </a:fld>
            <a:endParaRPr lang="en-US">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2436629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315BFEC5-FB5C-469A-8355-41809414A1A7}" type="slidenum">
              <a:rPr lang="en-US">
                <a:latin typeface="Times New Roman" panose="02020603050405020304" pitchFamily="18" charset="0"/>
              </a:rPr>
              <a:pPr/>
              <a:t>29</a:t>
            </a:fld>
            <a:endParaRPr lang="en-US">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8117123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DE1A5B82-C772-49E0-972D-41907C0CECF1}" type="slidenum">
              <a:rPr lang="en-US">
                <a:latin typeface="Times New Roman" panose="02020603050405020304" pitchFamily="18" charset="0"/>
              </a:rPr>
              <a:pPr/>
              <a:t>30</a:t>
            </a:fld>
            <a:endParaRPr lang="en-US">
              <a:latin typeface="Times New Roman" panose="02020603050405020304" pitchFamily="18"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7275370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E9CFCF4-F49F-4E15-8FA7-85993B3DF737}" type="slidenum">
              <a:rPr lang="en-US">
                <a:latin typeface="Times New Roman" panose="02020603050405020304" pitchFamily="18" charset="0"/>
              </a:rPr>
              <a:pPr/>
              <a:t>31</a:t>
            </a:fld>
            <a:endParaRPr lang="en-US">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0801833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104E907-3CE6-48F7-86E4-C69278B37F27}" type="slidenum">
              <a:rPr lang="en-US">
                <a:latin typeface="Times New Roman" panose="02020603050405020304" pitchFamily="18" charset="0"/>
              </a:rPr>
              <a:pPr/>
              <a:t>32</a:t>
            </a:fld>
            <a:endParaRPr lang="en-US">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4068062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DD6E3C0C-9AD0-47B8-8687-AF0E3365D74A}" type="slidenum">
              <a:rPr lang="en-US">
                <a:latin typeface="Times New Roman" panose="02020603050405020304" pitchFamily="18" charset="0"/>
              </a:rPr>
              <a:pPr/>
              <a:t>33</a:t>
            </a:fld>
            <a:endParaRPr lang="en-US">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6268284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FAC7454D-5586-4CDC-BE4D-04A808E80A20}" type="slidenum">
              <a:rPr lang="en-US">
                <a:latin typeface="Times New Roman" panose="02020603050405020304" pitchFamily="18" charset="0"/>
              </a:rPr>
              <a:pPr/>
              <a:t>34</a:t>
            </a:fld>
            <a:endParaRPr lang="en-US">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9872550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396AEB5-115E-467D-B503-DEAD4FBCBA1A}" type="slidenum">
              <a:rPr lang="en-US">
                <a:latin typeface="Times New Roman" panose="02020603050405020304" pitchFamily="18" charset="0"/>
              </a:rPr>
              <a:pPr/>
              <a:t>35</a:t>
            </a:fld>
            <a:endParaRPr lang="en-US">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8959079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D0076329-CEF4-4C7D-8728-6D6403F8E6FB}" type="slidenum">
              <a:rPr lang="en-US">
                <a:latin typeface="Times New Roman" panose="02020603050405020304" pitchFamily="18" charset="0"/>
              </a:rPr>
              <a:pPr/>
              <a:t>36</a:t>
            </a:fld>
            <a:endParaRPr lang="en-US">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3077827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3C27B1FE-26BD-46ED-9259-E778CC522711}" type="slidenum">
              <a:rPr lang="en-US">
                <a:latin typeface="Times New Roman" panose="02020603050405020304" pitchFamily="18" charset="0"/>
              </a:rPr>
              <a:pPr/>
              <a:t>37</a:t>
            </a:fld>
            <a:endParaRPr lang="en-US">
              <a:latin typeface="Times New Roman" panose="02020603050405020304"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9259469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440E2F9-A531-4220-A3BF-9FD3B60942FF}" type="slidenum">
              <a:rPr lang="en-US">
                <a:latin typeface="Times New Roman" panose="02020603050405020304" pitchFamily="18" charset="0"/>
              </a:rPr>
              <a:pPr/>
              <a:t>38</a:t>
            </a:fld>
            <a:endParaRPr lang="en-US">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7322327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A025B608-7687-44B8-8C91-318C4782E0F3}" type="slidenum">
              <a:rPr lang="en-US">
                <a:latin typeface="Times New Roman" panose="02020603050405020304" pitchFamily="18" charset="0"/>
              </a:rPr>
              <a:pPr/>
              <a:t>39</a:t>
            </a:fld>
            <a:endParaRPr lang="en-US">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0119234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8D529045-084F-4670-9314-FE18FCDA884B}" type="slidenum">
              <a:rPr lang="en-US">
                <a:latin typeface="Times New Roman" panose="02020603050405020304" pitchFamily="18" charset="0"/>
              </a:rPr>
              <a:pPr/>
              <a:t>40</a:t>
            </a:fld>
            <a:endParaRPr lang="en-US">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2207969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558EBF4-B9C5-477F-8B56-09ADA9F77A3F}" type="slidenum">
              <a:rPr lang="en-US">
                <a:latin typeface="Times New Roman" panose="02020603050405020304" pitchFamily="18" charset="0"/>
              </a:rPr>
              <a:pPr/>
              <a:t>41</a:t>
            </a:fld>
            <a:endParaRPr lang="en-US">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1980954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44703B66-CE05-4D98-ACAC-1FB57E99E1E7}" type="slidenum">
              <a:rPr lang="en-US">
                <a:latin typeface="Times New Roman" panose="02020603050405020304" pitchFamily="18" charset="0"/>
              </a:rPr>
              <a:pPr/>
              <a:t>42</a:t>
            </a:fld>
            <a:endParaRPr lang="en-US">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8479149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C21925FB-FAE0-4282-9C8C-8BA4B362B3F9}" type="slidenum">
              <a:rPr lang="en-US">
                <a:latin typeface="Times New Roman" panose="02020603050405020304" pitchFamily="18" charset="0"/>
              </a:rPr>
              <a:pPr/>
              <a:t>43</a:t>
            </a:fld>
            <a:endParaRPr lang="en-US">
              <a:latin typeface="Times New Roman" panose="02020603050405020304"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8681061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0CE4E38-7167-4A3F-978C-D837811B9B7B}" type="slidenum">
              <a:rPr lang="en-US">
                <a:latin typeface="Times New Roman" panose="02020603050405020304" pitchFamily="18" charset="0"/>
              </a:rPr>
              <a:pPr/>
              <a:t>44</a:t>
            </a:fld>
            <a:endParaRPr lang="en-US">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8793542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80A5220-4423-4010-AAF7-9C8FC3CACB6F}" type="slidenum">
              <a:rPr lang="en-US">
                <a:latin typeface="Times New Roman" panose="02020603050405020304" pitchFamily="18" charset="0"/>
              </a:rPr>
              <a:pPr/>
              <a:t>45</a:t>
            </a:fld>
            <a:endParaRPr lang="en-US">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4806493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B3C62528-8BC8-4FBF-8094-497B9E468DBA}" type="slidenum">
              <a:rPr lang="en-US">
                <a:latin typeface="Times New Roman" panose="02020603050405020304" pitchFamily="18" charset="0"/>
              </a:rPr>
              <a:pPr/>
              <a:t>46</a:t>
            </a:fld>
            <a:endParaRPr lang="en-US">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4449987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D3ADB80D-E677-48B3-87D4-DFCAA4B0731A}" type="slidenum">
              <a:rPr lang="en-US">
                <a:latin typeface="Times New Roman" panose="02020603050405020304" pitchFamily="18" charset="0"/>
              </a:rPr>
              <a:pPr/>
              <a:t>47</a:t>
            </a:fld>
            <a:endParaRPr lang="en-US">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1340312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BF89860-0EAA-4A60-96B5-1F7561404A3E}" type="slidenum">
              <a:rPr lang="en-US">
                <a:latin typeface="Times New Roman" panose="02020603050405020304" pitchFamily="18" charset="0"/>
              </a:rPr>
              <a:pPr/>
              <a:t>48</a:t>
            </a:fld>
            <a:endParaRPr lang="en-US">
              <a:latin typeface="Times New Roman" panose="02020603050405020304"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9849437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395841ED-E277-41EB-8CBC-22B1F3788F28}" type="slidenum">
              <a:rPr lang="en-US">
                <a:latin typeface="Times New Roman" panose="02020603050405020304" pitchFamily="18" charset="0"/>
              </a:rPr>
              <a:pPr/>
              <a:t>49</a:t>
            </a:fld>
            <a:endParaRPr lang="en-US">
              <a:latin typeface="Times New Roman" panose="02020603050405020304"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6103922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FE2A38E2-8CA3-4D78-A0C7-CF218884A164}" type="slidenum">
              <a:rPr lang="en-US">
                <a:latin typeface="Times New Roman" panose="02020603050405020304" pitchFamily="18" charset="0"/>
              </a:rPr>
              <a:pPr/>
              <a:t>50</a:t>
            </a:fld>
            <a:endParaRPr lang="en-US">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7960677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F232C24-3621-48AA-9762-2893EB5199A4}" type="slidenum">
              <a:rPr lang="en-US">
                <a:latin typeface="Times New Roman" panose="02020603050405020304" pitchFamily="18" charset="0"/>
              </a:rPr>
              <a:pPr/>
              <a:t>51</a:t>
            </a:fld>
            <a:endParaRPr lang="en-US">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3574600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01B584A6-4D77-4961-8DDE-B64E4C6901BC}" type="slidenum">
              <a:rPr lang="en-US">
                <a:latin typeface="Times New Roman" panose="02020603050405020304" pitchFamily="18" charset="0"/>
              </a:rPr>
              <a:pPr/>
              <a:t>52</a:t>
            </a:fld>
            <a:endParaRPr lang="en-US">
              <a:latin typeface="Times New Roman" panose="02020603050405020304" pitchFamily="18"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612455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AD6AC7F7-7163-4C62-AB58-9913456253AB}" type="slidenum">
              <a:rPr lang="en-US">
                <a:latin typeface="Times New Roman" panose="02020603050405020304" pitchFamily="18" charset="0"/>
              </a:rPr>
              <a:pPr/>
              <a:t>53</a:t>
            </a:fld>
            <a:endParaRPr lang="en-US">
              <a:latin typeface="Times New Roman" panose="02020603050405020304" pitchFamily="18"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0866245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57AAAC0-81B8-4BD9-B2B6-DF0E305BB05E}" type="slidenum">
              <a:rPr lang="en-US">
                <a:latin typeface="Times New Roman" panose="02020603050405020304" pitchFamily="18" charset="0"/>
              </a:rPr>
              <a:pPr/>
              <a:t>54</a:t>
            </a:fld>
            <a:endParaRPr lang="en-US">
              <a:latin typeface="Times New Roman" panose="02020603050405020304"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3751788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77DC827D-2EC2-4B7C-ACD0-82E8DB4B9BFF}" type="slidenum">
              <a:rPr lang="en-US">
                <a:latin typeface="Times New Roman" panose="02020603050405020304" pitchFamily="18" charset="0"/>
              </a:rPr>
              <a:pPr/>
              <a:t>55</a:t>
            </a:fld>
            <a:endParaRPr lang="en-US">
              <a:latin typeface="Times New Roman" panose="02020603050405020304" pitchFamily="18"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6863324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BA8B166B-6E6E-4B46-9F79-F636B1DE9144}" type="slidenum">
              <a:rPr lang="en-US">
                <a:latin typeface="Times New Roman" panose="02020603050405020304" pitchFamily="18" charset="0"/>
              </a:rPr>
              <a:pPr/>
              <a:t>56</a:t>
            </a:fld>
            <a:endParaRPr lang="en-US">
              <a:latin typeface="Times New Roman" panose="02020603050405020304"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17637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4116355-7164-45D5-8F30-367FE9AD36EC}" type="datetimeFigureOut">
              <a:rPr lang="en-US" smtClean="0"/>
              <a:t>11/15/2023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522457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34116355-7164-45D5-8F30-367FE9AD36EC}" type="datetimeFigureOut">
              <a:rPr lang="en-US" smtClean="0"/>
              <a:t>11/15/2023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3268223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116355-7164-45D5-8F30-367FE9AD36EC}" type="datetimeFigureOut">
              <a:rPr lang="en-US" smtClean="0"/>
              <a:t>11/15/2023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1921370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4116355-7164-45D5-8F30-367FE9AD36EC}" type="datetimeFigureOut">
              <a:rPr lang="en-US" smtClean="0"/>
              <a:t>11/15/2023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2439395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4116355-7164-45D5-8F30-367FE9AD36EC}" type="datetimeFigureOut">
              <a:rPr lang="en-US" smtClean="0"/>
              <a:t>11/15/2023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1339247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34116355-7164-45D5-8F30-367FE9AD36EC}" type="datetimeFigureOut">
              <a:rPr lang="en-US" smtClean="0"/>
              <a:t>11/15/2023</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342954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4116355-7164-45D5-8F30-367FE9AD36EC}" type="datetimeFigureOut">
              <a:rPr lang="en-US" smtClean="0"/>
              <a:t>11/15/2023</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1702199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34116355-7164-45D5-8F30-367FE9AD36EC}" type="datetimeFigureOut">
              <a:rPr lang="en-US" smtClean="0"/>
              <a:t>11/15/2023</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716780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116355-7164-45D5-8F30-367FE9AD36EC}" type="datetimeFigureOut">
              <a:rPr lang="en-US" smtClean="0"/>
              <a:t>11/15/2023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4228395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116355-7164-45D5-8F30-367FE9AD36EC}" type="datetimeFigureOut">
              <a:rPr lang="en-US" smtClean="0"/>
              <a:t>11/15/2023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2000294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116355-7164-45D5-8F30-367FE9AD36EC}" type="datetimeFigureOut">
              <a:rPr lang="en-US" smtClean="0"/>
              <a:t>11/15/2023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14072192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116355-7164-45D5-8F30-367FE9AD36EC}" type="datetimeFigureOut">
              <a:rPr lang="en-US" smtClean="0"/>
              <a:t>11/15/2023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87D36-D352-4364-9238-DB785206D1A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395224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116355-7164-45D5-8F30-367FE9AD36EC}" type="datetimeFigureOut">
              <a:rPr lang="en-US" smtClean="0"/>
              <a:t>11/15/2023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34293973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4116355-7164-45D5-8F30-367FE9AD36EC}" type="datetimeFigureOut">
              <a:rPr lang="en-US" smtClean="0"/>
              <a:t>11/15/2023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28591648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4116355-7164-45D5-8F30-367FE9AD36EC}" type="datetimeFigureOut">
              <a:rPr lang="en-US" smtClean="0"/>
              <a:t>11/15/2023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24885135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4116355-7164-45D5-8F30-367FE9AD36EC}" type="datetimeFigureOut">
              <a:rPr lang="en-US" smtClean="0"/>
              <a:t>11/15/2023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39718470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4116355-7164-45D5-8F30-367FE9AD36EC}" type="datetimeFigureOut">
              <a:rPr lang="en-US" smtClean="0"/>
              <a:t>11/15/2023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87D36-D352-4364-9238-DB785206D1AF}" type="slidenum">
              <a:rPr lang="en-US" smtClean="0"/>
              <a:t>‹#›</a:t>
            </a:fld>
            <a:endParaRPr lang="en-US"/>
          </a:p>
        </p:txBody>
      </p:sp>
    </p:spTree>
    <p:extLst>
      <p:ext uri="{BB962C8B-B14F-4D97-AF65-F5344CB8AC3E}">
        <p14:creationId xmlns:p14="http://schemas.microsoft.com/office/powerpoint/2010/main" val="2797024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4116355-7164-45D5-8F30-367FE9AD36EC}" type="datetimeFigureOut">
              <a:rPr lang="en-US" smtClean="0"/>
              <a:t>11/15/2023</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C087D36-D352-4364-9238-DB785206D1AF}" type="slidenum">
              <a:rPr lang="en-US" smtClean="0"/>
              <a:t>‹#›</a:t>
            </a:fld>
            <a:endParaRPr lang="en-US"/>
          </a:p>
        </p:txBody>
      </p:sp>
    </p:spTree>
    <p:extLst>
      <p:ext uri="{BB962C8B-B14F-4D97-AF65-F5344CB8AC3E}">
        <p14:creationId xmlns:p14="http://schemas.microsoft.com/office/powerpoint/2010/main" val="973342186"/>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0251" y="122831"/>
            <a:ext cx="11273050" cy="1037230"/>
          </a:xfrm>
        </p:spPr>
        <p:txBody>
          <a:bodyPr/>
          <a:lstStyle/>
          <a:p>
            <a:pPr algn="ctr"/>
            <a:r>
              <a:rPr lang="en-US" dirty="0" smtClean="0"/>
              <a:t>Module 3</a:t>
            </a:r>
            <a:endParaRPr lang="en-US" dirty="0"/>
          </a:p>
        </p:txBody>
      </p:sp>
      <p:pic>
        <p:nvPicPr>
          <p:cNvPr id="4" name="Picture 3"/>
          <p:cNvPicPr>
            <a:picLocks noChangeAspect="1"/>
          </p:cNvPicPr>
          <p:nvPr/>
        </p:nvPicPr>
        <p:blipFill>
          <a:blip r:embed="rId2"/>
          <a:stretch>
            <a:fillRect/>
          </a:stretch>
        </p:blipFill>
        <p:spPr>
          <a:xfrm>
            <a:off x="300251" y="1364775"/>
            <a:ext cx="11723427" cy="4954137"/>
          </a:xfrm>
          <a:prstGeom prst="rect">
            <a:avLst/>
          </a:prstGeom>
        </p:spPr>
      </p:pic>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248226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title"/>
          </p:nvPr>
        </p:nvSpPr>
        <p:spPr>
          <a:xfrm>
            <a:off x="659759" y="111524"/>
            <a:ext cx="9404723" cy="802876"/>
          </a:xfrm>
        </p:spPr>
        <p:txBody>
          <a:bodyPr/>
          <a:lstStyle/>
          <a:p>
            <a:pPr eaLnBrk="1" hangingPunct="1"/>
            <a:r>
              <a:rPr lang="en-US" b="1" dirty="0" smtClean="0">
                <a:ea typeface="ＭＳ Ｐゴシック" panose="020B0600070205080204" pitchFamily="34" charset="-128"/>
              </a:rPr>
              <a:t>Background</a:t>
            </a:r>
          </a:p>
        </p:txBody>
      </p:sp>
      <p:sp>
        <p:nvSpPr>
          <p:cNvPr id="21507" name="Rectangle 5"/>
          <p:cNvSpPr>
            <a:spLocks noGrp="1" noChangeArrowheads="1"/>
          </p:cNvSpPr>
          <p:nvPr>
            <p:ph type="body" idx="1"/>
          </p:nvPr>
        </p:nvSpPr>
        <p:spPr>
          <a:xfrm>
            <a:off x="659759" y="1365251"/>
            <a:ext cx="11309328" cy="4860925"/>
          </a:xfrm>
        </p:spPr>
        <p:txBody>
          <a:bodyPr/>
          <a:lstStyle/>
          <a:p>
            <a:r>
              <a:rPr lang="en-US" dirty="0" smtClean="0">
                <a:ea typeface="ＭＳ Ｐゴシック" panose="020B0600070205080204" pitchFamily="34" charset="-128"/>
              </a:rPr>
              <a:t>Concurrent access to shared data may result in data inconsistency</a:t>
            </a:r>
          </a:p>
          <a:p>
            <a:r>
              <a:rPr lang="en-US" dirty="0" smtClean="0">
                <a:ea typeface="ＭＳ Ｐゴシック" panose="020B0600070205080204" pitchFamily="34" charset="-128"/>
              </a:rPr>
              <a:t>Maintaining data consistency requires mechanisms to ensure the orderly execution of cooperating processes</a:t>
            </a:r>
          </a:p>
          <a:p>
            <a:r>
              <a:rPr lang="en-US" dirty="0" smtClean="0">
                <a:ea typeface="ＭＳ Ｐゴシック" panose="020B0600070205080204" pitchFamily="34" charset="-128"/>
              </a:rPr>
              <a:t>Suppose that we wanted to provide a solution to the consumer-producer problem that fills all the buffers. We can do so by having an integer count that keeps track of the number of full buffers.  Initially, count is set to 0. It is incremented by the producer after it produces a new buffer and is decremented by the consumer after it consumes a buffer.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46111" y="95534"/>
            <a:ext cx="9404723" cy="245660"/>
          </a:xfrm>
        </p:spPr>
        <p:txBody>
          <a:bodyPr/>
          <a:lstStyle/>
          <a:p>
            <a:pPr eaLnBrk="1" hangingPunct="1"/>
            <a:endParaRPr lang="en-US" dirty="0" smtClean="0">
              <a:ea typeface="ＭＳ Ｐゴシック" panose="020B0600070205080204" pitchFamily="34" charset="-128"/>
            </a:endParaRPr>
          </a:p>
        </p:txBody>
      </p:sp>
      <p:sp>
        <p:nvSpPr>
          <p:cNvPr id="23555" name="Rectangle 3"/>
          <p:cNvSpPr>
            <a:spLocks noGrp="1" noChangeArrowheads="1"/>
          </p:cNvSpPr>
          <p:nvPr>
            <p:ph type="body" idx="1"/>
          </p:nvPr>
        </p:nvSpPr>
        <p:spPr>
          <a:xfrm>
            <a:off x="150125" y="341194"/>
            <a:ext cx="5349526" cy="696036"/>
          </a:xfrm>
        </p:spPr>
        <p:txBody>
          <a:bodyPr/>
          <a:lstStyle/>
          <a:p>
            <a:r>
              <a:rPr lang="en-US" dirty="0">
                <a:ea typeface="ＭＳ Ｐゴシック" panose="020B0600070205080204" pitchFamily="34" charset="-128"/>
              </a:rPr>
              <a:t>Producer</a:t>
            </a:r>
            <a:endParaRPr lang="en-US" dirty="0" smtClean="0">
              <a:ea typeface="ＭＳ Ｐゴシック" panose="020B0600070205080204" pitchFamily="34" charset="-128"/>
            </a:endParaRPr>
          </a:p>
        </p:txBody>
      </p:sp>
      <p:sp>
        <p:nvSpPr>
          <p:cNvPr id="5" name="Content Placeholder 4"/>
          <p:cNvSpPr>
            <a:spLocks noGrp="1"/>
          </p:cNvSpPr>
          <p:nvPr>
            <p:ph sz="half" idx="2"/>
          </p:nvPr>
        </p:nvSpPr>
        <p:spPr>
          <a:xfrm>
            <a:off x="150126" y="1160060"/>
            <a:ext cx="5349526" cy="5096278"/>
          </a:xfrm>
        </p:spPr>
        <p:txBody>
          <a:bodyPr>
            <a:normAutofit/>
          </a:bodyPr>
          <a:lstStyle/>
          <a:p>
            <a:pPr>
              <a:buFont typeface="Monotype Sorts" charset="2"/>
              <a:buNone/>
            </a:pPr>
            <a:r>
              <a:rPr lang="en-US" dirty="0">
                <a:ea typeface="ＭＳ Ｐゴシック" panose="020B0600070205080204" pitchFamily="34" charset="-128"/>
              </a:rPr>
              <a:t>while (true) {</a:t>
            </a:r>
          </a:p>
          <a:p>
            <a:pPr>
              <a:buFont typeface="Monotype Sorts" charset="2"/>
              <a:buNone/>
            </a:pPr>
            <a:r>
              <a:rPr lang="en-US" dirty="0">
                <a:ea typeface="ＭＳ Ｐゴシック" panose="020B0600070205080204" pitchFamily="34" charset="-128"/>
              </a:rPr>
              <a:t>     </a:t>
            </a:r>
          </a:p>
          <a:p>
            <a:pPr>
              <a:buFont typeface="Monotype Sorts" charset="2"/>
              <a:buNone/>
            </a:pPr>
            <a:r>
              <a:rPr lang="en-US" dirty="0">
                <a:ea typeface="ＭＳ Ｐゴシック" panose="020B0600070205080204" pitchFamily="34" charset="-128"/>
              </a:rPr>
              <a:t>          /*  produce an item and put in </a:t>
            </a:r>
            <a:r>
              <a:rPr lang="en-US" dirty="0" err="1">
                <a:ea typeface="ＭＳ Ｐゴシック" panose="020B0600070205080204" pitchFamily="34" charset="-128"/>
              </a:rPr>
              <a:t>nextProduced</a:t>
            </a:r>
            <a:r>
              <a:rPr lang="en-US" dirty="0">
                <a:ea typeface="ＭＳ Ｐゴシック" panose="020B0600070205080204" pitchFamily="34" charset="-128"/>
              </a:rPr>
              <a:t>  */</a:t>
            </a:r>
          </a:p>
          <a:p>
            <a:pPr>
              <a:buFont typeface="Monotype Sorts" charset="2"/>
              <a:buNone/>
            </a:pPr>
            <a:r>
              <a:rPr lang="en-US" dirty="0">
                <a:ea typeface="ＭＳ Ｐゴシック" panose="020B0600070205080204" pitchFamily="34" charset="-128"/>
              </a:rPr>
              <a:t>	      while (count == BUFFER_SIZE)</a:t>
            </a:r>
          </a:p>
          <a:p>
            <a:pPr>
              <a:buFont typeface="Monotype Sorts" charset="2"/>
              <a:buNone/>
            </a:pPr>
            <a:r>
              <a:rPr lang="en-US" dirty="0">
                <a:ea typeface="ＭＳ Ｐゴシック" panose="020B0600070205080204" pitchFamily="34" charset="-128"/>
              </a:rPr>
              <a:t>			; // do nothing</a:t>
            </a:r>
          </a:p>
          <a:p>
            <a:pPr>
              <a:buFont typeface="Monotype Sorts" charset="2"/>
              <a:buNone/>
            </a:pPr>
            <a:r>
              <a:rPr lang="en-US" dirty="0">
                <a:ea typeface="ＭＳ Ｐゴシック" panose="020B0600070205080204" pitchFamily="34" charset="-128"/>
              </a:rPr>
              <a:t>		       buffer [in] = </a:t>
            </a:r>
            <a:r>
              <a:rPr lang="en-US" dirty="0" err="1">
                <a:ea typeface="ＭＳ Ｐゴシック" panose="020B0600070205080204" pitchFamily="34" charset="-128"/>
              </a:rPr>
              <a:t>nextProduced</a:t>
            </a:r>
            <a:r>
              <a:rPr lang="en-US" dirty="0">
                <a:ea typeface="ＭＳ Ｐゴシック" panose="020B0600070205080204" pitchFamily="34" charset="-128"/>
              </a:rPr>
              <a:t>;</a:t>
            </a:r>
          </a:p>
          <a:p>
            <a:pPr>
              <a:buFont typeface="Monotype Sorts" charset="2"/>
              <a:buNone/>
            </a:pPr>
            <a:r>
              <a:rPr lang="en-US" dirty="0">
                <a:ea typeface="ＭＳ Ｐゴシック" panose="020B0600070205080204" pitchFamily="34" charset="-128"/>
              </a:rPr>
              <a:t>		       in = (in + 1) % BUFFER_SIZE;</a:t>
            </a:r>
          </a:p>
          <a:p>
            <a:pPr>
              <a:buFont typeface="Monotype Sorts" charset="2"/>
              <a:buNone/>
            </a:pPr>
            <a:r>
              <a:rPr lang="en-US" dirty="0">
                <a:ea typeface="ＭＳ Ｐゴシック" panose="020B0600070205080204" pitchFamily="34" charset="-128"/>
              </a:rPr>
              <a:t>		       count++;</a:t>
            </a:r>
          </a:p>
          <a:p>
            <a:pPr>
              <a:buFont typeface="Monotype Sorts" charset="2"/>
              <a:buNone/>
            </a:pPr>
            <a:r>
              <a:rPr lang="en-US" dirty="0">
                <a:ea typeface="ＭＳ Ｐゴシック" panose="020B0600070205080204" pitchFamily="34" charset="-128"/>
              </a:rPr>
              <a:t>}   </a:t>
            </a:r>
          </a:p>
          <a:p>
            <a:endParaRPr lang="en-US" dirty="0"/>
          </a:p>
        </p:txBody>
      </p:sp>
      <p:sp>
        <p:nvSpPr>
          <p:cNvPr id="6" name="Text Placeholder 5"/>
          <p:cNvSpPr>
            <a:spLocks noGrp="1"/>
          </p:cNvSpPr>
          <p:nvPr>
            <p:ph type="body" sz="quarter" idx="3"/>
          </p:nvPr>
        </p:nvSpPr>
        <p:spPr>
          <a:xfrm>
            <a:off x="5654495" y="341194"/>
            <a:ext cx="4396339" cy="696036"/>
          </a:xfrm>
        </p:spPr>
        <p:txBody>
          <a:bodyPr/>
          <a:lstStyle/>
          <a:p>
            <a:r>
              <a:rPr lang="en-US" dirty="0">
                <a:ea typeface="ＭＳ Ｐゴシック" panose="020B0600070205080204" pitchFamily="34" charset="-128"/>
              </a:rPr>
              <a:t>Consumer</a:t>
            </a:r>
            <a:endParaRPr lang="en-US" dirty="0"/>
          </a:p>
        </p:txBody>
      </p:sp>
      <p:sp>
        <p:nvSpPr>
          <p:cNvPr id="7" name="Content Placeholder 6"/>
          <p:cNvSpPr>
            <a:spLocks noGrp="1"/>
          </p:cNvSpPr>
          <p:nvPr>
            <p:ph sz="quarter" idx="4"/>
          </p:nvPr>
        </p:nvSpPr>
        <p:spPr>
          <a:xfrm>
            <a:off x="5654495" y="1160060"/>
            <a:ext cx="6341887" cy="5096278"/>
          </a:xfrm>
        </p:spPr>
        <p:txBody>
          <a:bodyPr>
            <a:normAutofit/>
          </a:bodyPr>
          <a:lstStyle/>
          <a:p>
            <a:pPr>
              <a:buFont typeface="Monotype Sorts" charset="2"/>
              <a:buNone/>
            </a:pPr>
            <a:r>
              <a:rPr lang="en-US" dirty="0">
                <a:ea typeface="ＭＳ Ｐゴシック" panose="020B0600070205080204" pitchFamily="34" charset="-128"/>
              </a:rPr>
              <a:t>while (true)  {</a:t>
            </a:r>
          </a:p>
          <a:p>
            <a:pPr>
              <a:buFont typeface="Monotype Sorts" charset="2"/>
              <a:buNone/>
            </a:pPr>
            <a:r>
              <a:rPr lang="en-US" dirty="0">
                <a:ea typeface="ＭＳ Ｐゴシック" panose="020B0600070205080204" pitchFamily="34" charset="-128"/>
              </a:rPr>
              <a:t>	        while (count == 0)</a:t>
            </a:r>
          </a:p>
          <a:p>
            <a:pPr>
              <a:buFont typeface="Monotype Sorts" charset="2"/>
              <a:buNone/>
            </a:pPr>
            <a:r>
              <a:rPr lang="en-US" dirty="0">
                <a:ea typeface="ＭＳ Ｐゴシック" panose="020B0600070205080204" pitchFamily="34" charset="-128"/>
              </a:rPr>
              <a:t>		        ; // do nothing</a:t>
            </a:r>
          </a:p>
          <a:p>
            <a:pPr>
              <a:buFont typeface="Monotype Sorts" charset="2"/>
              <a:buNone/>
            </a:pPr>
            <a:r>
              <a:rPr lang="en-US" dirty="0">
                <a:ea typeface="ＭＳ Ｐゴシック" panose="020B0600070205080204" pitchFamily="34" charset="-128"/>
              </a:rPr>
              <a:t>		        </a:t>
            </a:r>
            <a:r>
              <a:rPr lang="en-US" dirty="0" err="1">
                <a:ea typeface="ＭＳ Ｐゴシック" panose="020B0600070205080204" pitchFamily="34" charset="-128"/>
              </a:rPr>
              <a:t>nextConsumed</a:t>
            </a:r>
            <a:r>
              <a:rPr lang="en-US" dirty="0">
                <a:ea typeface="ＭＳ Ｐゴシック" panose="020B0600070205080204" pitchFamily="34" charset="-128"/>
              </a:rPr>
              <a:t> =  buffer[out];</a:t>
            </a:r>
          </a:p>
          <a:p>
            <a:pPr>
              <a:buFont typeface="Monotype Sorts" charset="2"/>
              <a:buNone/>
            </a:pPr>
            <a:r>
              <a:rPr lang="en-US" dirty="0">
                <a:ea typeface="ＭＳ Ｐゴシック" panose="020B0600070205080204" pitchFamily="34" charset="-128"/>
              </a:rPr>
              <a:t>		         out = (out + 1) % BUFFER_SIZE;</a:t>
            </a:r>
          </a:p>
          <a:p>
            <a:pPr>
              <a:buFont typeface="Monotype Sorts" charset="2"/>
              <a:buNone/>
            </a:pPr>
            <a:r>
              <a:rPr lang="en-US" dirty="0">
                <a:ea typeface="ＭＳ Ｐゴシック" panose="020B0600070205080204" pitchFamily="34" charset="-128"/>
              </a:rPr>
              <a:t>	                  count--;</a:t>
            </a:r>
          </a:p>
          <a:p>
            <a:pPr>
              <a:buFont typeface="Monotype Sorts" charset="2"/>
              <a:buNone/>
            </a:pPr>
            <a:endParaRPr lang="en-US" dirty="0">
              <a:ea typeface="ＭＳ Ｐゴシック" panose="020B0600070205080204" pitchFamily="34" charset="-128"/>
            </a:endParaRPr>
          </a:p>
          <a:p>
            <a:pPr>
              <a:buFont typeface="Monotype Sorts" charset="2"/>
              <a:buNone/>
            </a:pPr>
            <a:r>
              <a:rPr lang="en-US" dirty="0">
                <a:ea typeface="ＭＳ Ｐゴシック" panose="020B0600070205080204" pitchFamily="34" charset="-128"/>
              </a:rPr>
              <a:t>			/*  consume the item in </a:t>
            </a:r>
            <a:r>
              <a:rPr lang="en-US" dirty="0" err="1">
                <a:ea typeface="ＭＳ Ｐゴシック" panose="020B0600070205080204" pitchFamily="34" charset="-128"/>
              </a:rPr>
              <a:t>nextConsumed</a:t>
            </a:r>
            <a:endParaRPr lang="en-US" dirty="0">
              <a:ea typeface="ＭＳ Ｐゴシック" panose="020B0600070205080204" pitchFamily="34" charset="-128"/>
            </a:endParaRPr>
          </a:p>
          <a:p>
            <a:pPr>
              <a:buFont typeface="Monotype Sorts" charset="2"/>
              <a:buNone/>
            </a:pPr>
            <a:r>
              <a:rPr lang="en-US" dirty="0">
                <a:ea typeface="ＭＳ Ｐゴシック" panose="020B0600070205080204" pitchFamily="34" charset="-128"/>
              </a:rPr>
              <a:t>	}</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a:xfrm>
            <a:off x="646111" y="0"/>
            <a:ext cx="9404723" cy="832513"/>
          </a:xfrm>
        </p:spPr>
        <p:txBody>
          <a:bodyPr/>
          <a:lstStyle/>
          <a:p>
            <a:pPr eaLnBrk="1" hangingPunct="1"/>
            <a:r>
              <a:rPr lang="en-US" b="1" dirty="0" smtClean="0">
                <a:ea typeface="ＭＳ Ｐゴシック" panose="020B0600070205080204" pitchFamily="34" charset="-128"/>
              </a:rPr>
              <a:t>Race Condition</a:t>
            </a:r>
          </a:p>
        </p:txBody>
      </p:sp>
      <p:sp>
        <p:nvSpPr>
          <p:cNvPr id="27651" name="Rectangle 1027"/>
          <p:cNvSpPr>
            <a:spLocks noGrp="1" noChangeArrowheads="1"/>
          </p:cNvSpPr>
          <p:nvPr>
            <p:ph type="body" idx="1"/>
          </p:nvPr>
        </p:nvSpPr>
        <p:spPr>
          <a:xfrm>
            <a:off x="646111" y="832514"/>
            <a:ext cx="10367632" cy="5265076"/>
          </a:xfrm>
        </p:spPr>
        <p:txBody>
          <a:bodyPr/>
          <a:lstStyle/>
          <a:p>
            <a:pPr>
              <a:lnSpc>
                <a:spcPct val="90000"/>
              </a:lnSpc>
            </a:pPr>
            <a:r>
              <a:rPr lang="en-US" sz="1600" dirty="0">
                <a:ea typeface="ＭＳ Ｐゴシック" panose="020B0600070205080204" pitchFamily="34" charset="-128"/>
              </a:rPr>
              <a:t>count++ could be implemented as</a:t>
            </a:r>
            <a:br>
              <a:rPr lang="en-US" sz="1600" dirty="0">
                <a:ea typeface="ＭＳ Ｐゴシック" panose="020B0600070205080204" pitchFamily="34" charset="-128"/>
              </a:rPr>
            </a:br>
            <a:r>
              <a:rPr lang="en-US" sz="1600" dirty="0">
                <a:ea typeface="ＭＳ Ｐゴシック" panose="020B0600070205080204" pitchFamily="34" charset="-128"/>
              </a:rPr>
              <a:t/>
            </a:r>
            <a:br>
              <a:rPr lang="en-US" sz="1600" dirty="0">
                <a:ea typeface="ＭＳ Ｐゴシック" panose="020B0600070205080204" pitchFamily="34" charset="-128"/>
              </a:rPr>
            </a:br>
            <a:r>
              <a:rPr lang="en-US" sz="1600" dirty="0">
                <a:ea typeface="ＭＳ Ｐゴシック" panose="020B0600070205080204" pitchFamily="34" charset="-128"/>
              </a:rPr>
              <a:t>     register1 = count</a:t>
            </a:r>
            <a:br>
              <a:rPr lang="en-US" sz="1600" dirty="0">
                <a:ea typeface="ＭＳ Ｐゴシック" panose="020B0600070205080204" pitchFamily="34" charset="-128"/>
              </a:rPr>
            </a:br>
            <a:r>
              <a:rPr lang="en-US" sz="1600" dirty="0">
                <a:ea typeface="ＭＳ Ｐゴシック" panose="020B0600070205080204" pitchFamily="34" charset="-128"/>
              </a:rPr>
              <a:t>     register1 = register1 + 1</a:t>
            </a:r>
            <a:br>
              <a:rPr lang="en-US" sz="1600" dirty="0">
                <a:ea typeface="ＭＳ Ｐゴシック" panose="020B0600070205080204" pitchFamily="34" charset="-128"/>
              </a:rPr>
            </a:br>
            <a:r>
              <a:rPr lang="en-US" sz="1600" dirty="0">
                <a:ea typeface="ＭＳ Ｐゴシック" panose="020B0600070205080204" pitchFamily="34" charset="-128"/>
              </a:rPr>
              <a:t>     count = register1</a:t>
            </a:r>
          </a:p>
          <a:p>
            <a:pPr>
              <a:lnSpc>
                <a:spcPct val="90000"/>
              </a:lnSpc>
            </a:pPr>
            <a:r>
              <a:rPr lang="en-US" sz="1600" dirty="0">
                <a:solidFill>
                  <a:schemeClr val="tx2"/>
                </a:solidFill>
                <a:ea typeface="ＭＳ Ｐゴシック" panose="020B0600070205080204" pitchFamily="34" charset="-128"/>
              </a:rPr>
              <a:t>count--</a:t>
            </a:r>
            <a:r>
              <a:rPr lang="en-US" sz="1600" dirty="0">
                <a:ea typeface="ＭＳ Ｐゴシック" panose="020B0600070205080204" pitchFamily="34" charset="-128"/>
              </a:rPr>
              <a:t> could be implemented as</a:t>
            </a:r>
            <a:br>
              <a:rPr lang="en-US" sz="1600" dirty="0">
                <a:ea typeface="ＭＳ Ｐゴシック" panose="020B0600070205080204" pitchFamily="34" charset="-128"/>
              </a:rPr>
            </a:br>
            <a:r>
              <a:rPr lang="en-US" sz="1600" dirty="0">
                <a:ea typeface="ＭＳ Ｐゴシック" panose="020B0600070205080204" pitchFamily="34" charset="-128"/>
              </a:rPr>
              <a:t/>
            </a:r>
            <a:br>
              <a:rPr lang="en-US" sz="1600" dirty="0">
                <a:ea typeface="ＭＳ Ｐゴシック" panose="020B0600070205080204" pitchFamily="34" charset="-128"/>
              </a:rPr>
            </a:br>
            <a:r>
              <a:rPr lang="en-US" sz="1600" dirty="0">
                <a:ea typeface="ＭＳ Ｐゴシック" panose="020B0600070205080204" pitchFamily="34" charset="-128"/>
              </a:rPr>
              <a:t>     </a:t>
            </a:r>
            <a:r>
              <a:rPr lang="en-US" sz="1600" dirty="0">
                <a:solidFill>
                  <a:schemeClr val="tx2"/>
                </a:solidFill>
                <a:ea typeface="ＭＳ Ｐゴシック" panose="020B0600070205080204" pitchFamily="34" charset="-128"/>
              </a:rPr>
              <a:t>register2 = count</a:t>
            </a:r>
            <a:br>
              <a:rPr lang="en-US" sz="1600" dirty="0">
                <a:solidFill>
                  <a:schemeClr val="tx2"/>
                </a:solidFill>
                <a:ea typeface="ＭＳ Ｐゴシック" panose="020B0600070205080204" pitchFamily="34" charset="-128"/>
              </a:rPr>
            </a:br>
            <a:r>
              <a:rPr lang="en-US" sz="1600" dirty="0">
                <a:solidFill>
                  <a:schemeClr val="tx2"/>
                </a:solidFill>
                <a:ea typeface="ＭＳ Ｐゴシック" panose="020B0600070205080204" pitchFamily="34" charset="-128"/>
              </a:rPr>
              <a:t>     register2 = register2 - 1</a:t>
            </a:r>
            <a:br>
              <a:rPr lang="en-US" sz="1600" dirty="0">
                <a:solidFill>
                  <a:schemeClr val="tx2"/>
                </a:solidFill>
                <a:ea typeface="ＭＳ Ｐゴシック" panose="020B0600070205080204" pitchFamily="34" charset="-128"/>
              </a:rPr>
            </a:br>
            <a:r>
              <a:rPr lang="en-US" sz="1600" dirty="0">
                <a:solidFill>
                  <a:schemeClr val="tx2"/>
                </a:solidFill>
                <a:ea typeface="ＭＳ Ｐゴシック" panose="020B0600070205080204" pitchFamily="34" charset="-128"/>
              </a:rPr>
              <a:t>     count = register2</a:t>
            </a:r>
          </a:p>
          <a:p>
            <a:pPr>
              <a:lnSpc>
                <a:spcPct val="90000"/>
              </a:lnSpc>
            </a:pPr>
            <a:r>
              <a:rPr lang="en-US" sz="1600" dirty="0">
                <a:ea typeface="ＭＳ Ｐゴシック" panose="020B0600070205080204" pitchFamily="34" charset="-128"/>
              </a:rPr>
              <a:t>Consider this execution interleaving with “count = 5” initially:</a:t>
            </a:r>
          </a:p>
          <a:p>
            <a:pPr lvl="1">
              <a:lnSpc>
                <a:spcPct val="90000"/>
              </a:lnSpc>
              <a:buFont typeface="Monotype Sorts" charset="2"/>
              <a:buNone/>
            </a:pPr>
            <a:r>
              <a:rPr lang="en-US" sz="1600" dirty="0">
                <a:ea typeface="ＭＳ Ｐゴシック" panose="020B0600070205080204" pitchFamily="34" charset="-128"/>
              </a:rPr>
              <a:t>	</a:t>
            </a:r>
            <a:r>
              <a:rPr lang="en-US" dirty="0" smtClean="0">
                <a:ea typeface="ＭＳ Ｐゴシック" panose="020B0600070205080204" pitchFamily="34" charset="-128"/>
              </a:rPr>
              <a:t>S0: producer execute register1 = count   {register1 = 5}</a:t>
            </a:r>
            <a:br>
              <a:rPr lang="en-US" dirty="0" smtClean="0">
                <a:ea typeface="ＭＳ Ｐゴシック" panose="020B0600070205080204" pitchFamily="34" charset="-128"/>
              </a:rPr>
            </a:br>
            <a:r>
              <a:rPr lang="en-US" dirty="0" smtClean="0">
                <a:ea typeface="ＭＳ Ｐゴシック" panose="020B0600070205080204" pitchFamily="34" charset="-128"/>
              </a:rPr>
              <a:t>S1: producer execute register1 = register1 + 1   {register1 = 6} </a:t>
            </a:r>
            <a:br>
              <a:rPr lang="en-US" dirty="0" smtClean="0">
                <a:ea typeface="ＭＳ Ｐゴシック" panose="020B0600070205080204" pitchFamily="34" charset="-128"/>
              </a:rPr>
            </a:br>
            <a:r>
              <a:rPr lang="en-US" dirty="0" smtClean="0">
                <a:ea typeface="ＭＳ Ｐゴシック" panose="020B0600070205080204" pitchFamily="34" charset="-128"/>
              </a:rPr>
              <a:t>S2: consumer execute register2 = count   {register2 = 5} </a:t>
            </a:r>
            <a:br>
              <a:rPr lang="en-US" dirty="0" smtClean="0">
                <a:ea typeface="ＭＳ Ｐゴシック" panose="020B0600070205080204" pitchFamily="34" charset="-128"/>
              </a:rPr>
            </a:br>
            <a:r>
              <a:rPr lang="en-US" dirty="0" smtClean="0">
                <a:ea typeface="ＭＳ Ｐゴシック" panose="020B0600070205080204" pitchFamily="34" charset="-128"/>
              </a:rPr>
              <a:t>S3: consumer execute register2 = register2 - 1   {register2 = 4} </a:t>
            </a:r>
            <a:br>
              <a:rPr lang="en-US" dirty="0" smtClean="0">
                <a:ea typeface="ＭＳ Ｐゴシック" panose="020B0600070205080204" pitchFamily="34" charset="-128"/>
              </a:rPr>
            </a:br>
            <a:r>
              <a:rPr lang="en-US" dirty="0" smtClean="0">
                <a:ea typeface="ＭＳ Ｐゴシック" panose="020B0600070205080204" pitchFamily="34" charset="-128"/>
              </a:rPr>
              <a:t>S4: producer execute count = register1   {count = 6 } </a:t>
            </a:r>
            <a:br>
              <a:rPr lang="en-US" dirty="0" smtClean="0">
                <a:ea typeface="ＭＳ Ｐゴシック" panose="020B0600070205080204" pitchFamily="34" charset="-128"/>
              </a:rPr>
            </a:br>
            <a:r>
              <a:rPr lang="en-US" dirty="0" smtClean="0">
                <a:ea typeface="ＭＳ Ｐゴシック" panose="020B0600070205080204" pitchFamily="34" charset="-128"/>
              </a:rPr>
              <a:t>S5: consumer execute count = register2   {count = 4}</a:t>
            </a:r>
          </a:p>
          <a:p>
            <a:pPr lvl="1">
              <a:lnSpc>
                <a:spcPct val="90000"/>
              </a:lnSpc>
              <a:buFont typeface="Monotype Sorts" charset="2"/>
              <a:buNone/>
            </a:pPr>
            <a:endParaRPr lang="en-US" dirty="0" smtClean="0">
              <a:ea typeface="ＭＳ Ｐゴシック" panose="020B0600070205080204" pitchFamily="34"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46111" y="150126"/>
            <a:ext cx="9404723" cy="846162"/>
          </a:xfrm>
        </p:spPr>
        <p:txBody>
          <a:bodyPr/>
          <a:lstStyle/>
          <a:p>
            <a:pPr eaLnBrk="1" hangingPunct="1"/>
            <a:r>
              <a:rPr lang="en-US" b="1" dirty="0" smtClean="0">
                <a:ea typeface="ＭＳ Ｐゴシック" panose="020B0600070205080204" pitchFamily="34" charset="-128"/>
              </a:rPr>
              <a:t>Solution to Critical-Section Problem</a:t>
            </a:r>
          </a:p>
        </p:txBody>
      </p:sp>
      <p:sp>
        <p:nvSpPr>
          <p:cNvPr id="29699" name="Rectangle 3"/>
          <p:cNvSpPr>
            <a:spLocks noGrp="1" noChangeArrowheads="1"/>
          </p:cNvSpPr>
          <p:nvPr>
            <p:ph type="body" idx="1"/>
          </p:nvPr>
        </p:nvSpPr>
        <p:spPr>
          <a:xfrm>
            <a:off x="646111" y="1230314"/>
            <a:ext cx="11213793" cy="4530725"/>
          </a:xfrm>
        </p:spPr>
        <p:txBody>
          <a:bodyPr/>
          <a:lstStyle/>
          <a:p>
            <a:pPr>
              <a:buFont typeface="Monotype Sorts" charset="2"/>
              <a:buNone/>
            </a:pPr>
            <a:r>
              <a:rPr lang="en-US" dirty="0" smtClean="0">
                <a:ea typeface="ＭＳ Ｐゴシック" panose="020B0600070205080204" pitchFamily="34" charset="-128"/>
              </a:rPr>
              <a:t>1.	Mutual Exclusion - If process P</a:t>
            </a:r>
            <a:r>
              <a:rPr lang="en-US" baseline="-25000" dirty="0" smtClean="0">
                <a:ea typeface="ＭＳ Ｐゴシック" panose="020B0600070205080204" pitchFamily="34" charset="-128"/>
              </a:rPr>
              <a:t>i</a:t>
            </a:r>
            <a:r>
              <a:rPr lang="en-US" dirty="0" smtClean="0">
                <a:ea typeface="ＭＳ Ｐゴシック" panose="020B0600070205080204" pitchFamily="34" charset="-128"/>
              </a:rPr>
              <a:t> is executing in its critical section, then no other processes can be executing in their critical sections</a:t>
            </a:r>
          </a:p>
          <a:p>
            <a:pPr>
              <a:buFont typeface="Monotype Sorts" charset="2"/>
              <a:buNone/>
            </a:pPr>
            <a:r>
              <a:rPr lang="en-US" dirty="0" smtClean="0">
                <a:ea typeface="ＭＳ Ｐゴシック" panose="020B0600070205080204" pitchFamily="34" charset="-128"/>
              </a:rPr>
              <a:t>2.	Progress - If no process is executing in its critical section and there exist some processes that wish to enter their critical section, then the selection of the processes that will enter the critical section next cannot be postponed indefinitely</a:t>
            </a:r>
          </a:p>
          <a:p>
            <a:pPr>
              <a:buFont typeface="Monotype Sorts" charset="2"/>
              <a:buNone/>
            </a:pPr>
            <a:r>
              <a:rPr lang="en-US" dirty="0" smtClean="0">
                <a:ea typeface="ＭＳ Ｐゴシック" panose="020B0600070205080204" pitchFamily="34" charset="-128"/>
              </a:rPr>
              <a:t>3.	Bounded Waiting -  A bound must exist on the number of times that other processes are allowed to enter their critical sections after a process has made a request to enter its critical section and before that request is granted</a:t>
            </a:r>
          </a:p>
          <a:p>
            <a:pPr lvl="1">
              <a:buSzPct val="125000"/>
              <a:buFont typeface="Wingdings 2" panose="05020102010507070707" pitchFamily="18" charset="2"/>
              <a:buChar char=""/>
            </a:pPr>
            <a:r>
              <a:rPr lang="en-US" dirty="0" smtClean="0">
                <a:ea typeface="ＭＳ Ｐゴシック" panose="020B0600070205080204" pitchFamily="34" charset="-128"/>
              </a:rPr>
              <a:t>Assume that each process executes at a nonzero speed </a:t>
            </a:r>
          </a:p>
          <a:p>
            <a:pPr lvl="1">
              <a:buSzPct val="125000"/>
              <a:buFont typeface="Wingdings 2" panose="05020102010507070707" pitchFamily="18" charset="2"/>
              <a:buChar char=""/>
            </a:pPr>
            <a:r>
              <a:rPr lang="en-US" dirty="0" smtClean="0">
                <a:ea typeface="ＭＳ Ｐゴシック" panose="020B0600070205080204" pitchFamily="34" charset="-128"/>
              </a:rPr>
              <a:t>No assumption concerning relative speed of the N processes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ChangeArrowheads="1"/>
          </p:cNvSpPr>
          <p:nvPr/>
        </p:nvSpPr>
        <p:spPr bwMode="auto">
          <a:xfrm>
            <a:off x="6555072" y="2342911"/>
            <a:ext cx="1422400" cy="279400"/>
          </a:xfrm>
          <a:prstGeom prst="rect">
            <a:avLst/>
          </a:prstGeom>
          <a:solidFill>
            <a:schemeClr val="accent1"/>
          </a:solidFill>
          <a:ln w="9525">
            <a:solidFill>
              <a:schemeClr val="tx1"/>
            </a:solidFill>
            <a:round/>
            <a:headEnd/>
            <a:tailEnd/>
          </a:ln>
        </p:spPr>
        <p:txBody>
          <a:bodyPr wrap="none"/>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7891" name="Rectangle 3"/>
          <p:cNvSpPr>
            <a:spLocks noChangeArrowheads="1"/>
          </p:cNvSpPr>
          <p:nvPr/>
        </p:nvSpPr>
        <p:spPr bwMode="auto">
          <a:xfrm>
            <a:off x="6492922" y="1773518"/>
            <a:ext cx="1422400" cy="279400"/>
          </a:xfrm>
          <a:prstGeom prst="rect">
            <a:avLst/>
          </a:prstGeom>
          <a:solidFill>
            <a:schemeClr val="accent1"/>
          </a:solidFill>
          <a:ln w="9525">
            <a:solidFill>
              <a:schemeClr val="tx1"/>
            </a:solidFill>
            <a:round/>
            <a:headEnd/>
            <a:tailEnd/>
          </a:ln>
        </p:spPr>
        <p:txBody>
          <a:bodyPr wrap="none"/>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7892" name="Title 1"/>
          <p:cNvSpPr>
            <a:spLocks noGrp="1"/>
          </p:cNvSpPr>
          <p:nvPr>
            <p:ph type="title"/>
          </p:nvPr>
        </p:nvSpPr>
        <p:spPr>
          <a:xfrm>
            <a:off x="646111" y="109182"/>
            <a:ext cx="9404723" cy="723331"/>
          </a:xfrm>
        </p:spPr>
        <p:txBody>
          <a:bodyPr/>
          <a:lstStyle/>
          <a:p>
            <a:r>
              <a:rPr lang="en-US" sz="2400" b="1" dirty="0">
                <a:ea typeface="ＭＳ Ｐゴシック" panose="020B0600070205080204" pitchFamily="34" charset="-128"/>
              </a:rPr>
              <a:t>Solution to Critical-section Problem Using Locks</a:t>
            </a:r>
          </a:p>
        </p:txBody>
      </p:sp>
      <p:sp>
        <p:nvSpPr>
          <p:cNvPr id="37893" name="Content Placeholder 2"/>
          <p:cNvSpPr>
            <a:spLocks noGrp="1"/>
          </p:cNvSpPr>
          <p:nvPr>
            <p:ph idx="1"/>
          </p:nvPr>
        </p:nvSpPr>
        <p:spPr>
          <a:xfrm>
            <a:off x="1103312" y="1214652"/>
            <a:ext cx="8946541" cy="5033748"/>
          </a:xfrm>
        </p:spPr>
        <p:txBody>
          <a:bodyPr/>
          <a:lstStyle/>
          <a:p>
            <a:pPr>
              <a:buFont typeface="Monotype Sorts" charset="2"/>
              <a:buNone/>
            </a:pPr>
            <a:r>
              <a:rPr lang="en-US" dirty="0" smtClean="0">
                <a:solidFill>
                  <a:srgbClr val="0000FF"/>
                </a:solidFill>
                <a:ea typeface="ＭＳ Ｐゴシック" panose="020B0600070205080204" pitchFamily="34" charset="-128"/>
              </a:rPr>
              <a:t>	</a:t>
            </a:r>
            <a:r>
              <a:rPr lang="en-US" dirty="0" smtClean="0">
                <a:ea typeface="ＭＳ Ｐゴシック" panose="020B0600070205080204" pitchFamily="34" charset="-128"/>
              </a:rPr>
              <a:t>do { </a:t>
            </a:r>
          </a:p>
          <a:p>
            <a:pPr>
              <a:buFont typeface="Monotype Sorts" charset="2"/>
              <a:buNone/>
            </a:pPr>
            <a:r>
              <a:rPr lang="en-US" dirty="0" smtClean="0">
                <a:ea typeface="ＭＳ Ｐゴシック" panose="020B0600070205080204" pitchFamily="34" charset="-128"/>
              </a:rPr>
              <a:t>		acquire lock </a:t>
            </a:r>
          </a:p>
          <a:p>
            <a:pPr>
              <a:buFont typeface="Monotype Sorts" charset="2"/>
              <a:buNone/>
            </a:pPr>
            <a:r>
              <a:rPr lang="en-US" dirty="0" smtClean="0">
                <a:ea typeface="ＭＳ Ｐゴシック" panose="020B0600070205080204" pitchFamily="34" charset="-128"/>
              </a:rPr>
              <a:t>			critical section </a:t>
            </a:r>
          </a:p>
          <a:p>
            <a:pPr>
              <a:buFont typeface="Monotype Sorts" charset="2"/>
              <a:buNone/>
            </a:pPr>
            <a:r>
              <a:rPr lang="en-US" dirty="0" smtClean="0">
                <a:ea typeface="ＭＳ Ｐゴシック" panose="020B0600070205080204" pitchFamily="34" charset="-128"/>
              </a:rPr>
              <a:t>		release lock </a:t>
            </a:r>
          </a:p>
          <a:p>
            <a:pPr>
              <a:buFont typeface="Monotype Sorts" charset="2"/>
              <a:buNone/>
            </a:pPr>
            <a:r>
              <a:rPr lang="en-US" dirty="0" smtClean="0">
                <a:ea typeface="ＭＳ Ｐゴシック" panose="020B0600070205080204" pitchFamily="34" charset="-128"/>
              </a:rPr>
              <a:t>			remainder section </a:t>
            </a:r>
          </a:p>
          <a:p>
            <a:pPr>
              <a:buFont typeface="Monotype Sorts" charset="2"/>
              <a:buNone/>
            </a:pPr>
            <a:r>
              <a:rPr lang="en-US" dirty="0" smtClean="0">
                <a:ea typeface="ＭＳ Ｐゴシック" panose="020B0600070205080204" pitchFamily="34" charset="-128"/>
              </a:rPr>
              <a:t>	} while (TRUE);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46111" y="177422"/>
            <a:ext cx="9404723" cy="914400"/>
          </a:xfrm>
        </p:spPr>
        <p:txBody>
          <a:bodyPr/>
          <a:lstStyle/>
          <a:p>
            <a:pPr eaLnBrk="1" hangingPunct="1"/>
            <a:r>
              <a:rPr lang="en-US" b="1" dirty="0" smtClean="0">
                <a:ea typeface="ＭＳ Ｐゴシック" panose="020B0600070205080204" pitchFamily="34" charset="-128"/>
              </a:rPr>
              <a:t>Peterson’s Solution</a:t>
            </a:r>
          </a:p>
        </p:txBody>
      </p:sp>
      <p:sp>
        <p:nvSpPr>
          <p:cNvPr id="31747" name="Rectangle 3"/>
          <p:cNvSpPr>
            <a:spLocks noGrp="1" noChangeArrowheads="1"/>
          </p:cNvSpPr>
          <p:nvPr>
            <p:ph type="body" idx="1"/>
          </p:nvPr>
        </p:nvSpPr>
        <p:spPr>
          <a:xfrm>
            <a:off x="646111" y="1233489"/>
            <a:ext cx="11295680" cy="4422775"/>
          </a:xfrm>
        </p:spPr>
        <p:txBody>
          <a:bodyPr/>
          <a:lstStyle/>
          <a:p>
            <a:pPr>
              <a:lnSpc>
                <a:spcPct val="90000"/>
              </a:lnSpc>
              <a:tabLst>
                <a:tab pos="744538" algn="l"/>
                <a:tab pos="1025525" algn="l"/>
                <a:tab pos="1260475" algn="l"/>
              </a:tabLst>
            </a:pPr>
            <a:r>
              <a:rPr lang="en-US" dirty="0" smtClean="0">
                <a:ea typeface="ＭＳ Ｐゴシック" panose="020B0600070205080204" pitchFamily="34" charset="-128"/>
              </a:rPr>
              <a:t>Two process solution</a:t>
            </a:r>
          </a:p>
          <a:p>
            <a:pPr>
              <a:lnSpc>
                <a:spcPct val="90000"/>
              </a:lnSpc>
              <a:tabLst>
                <a:tab pos="744538" algn="l"/>
                <a:tab pos="1025525" algn="l"/>
                <a:tab pos="1260475" algn="l"/>
              </a:tabLst>
            </a:pPr>
            <a:r>
              <a:rPr lang="en-US" dirty="0" smtClean="0">
                <a:ea typeface="ＭＳ Ｐゴシック" panose="020B0600070205080204" pitchFamily="34" charset="-128"/>
              </a:rPr>
              <a:t>Assume that the LOAD and STORE instructions are atomic; that is, cannot be interrupted.</a:t>
            </a:r>
          </a:p>
          <a:p>
            <a:pPr>
              <a:lnSpc>
                <a:spcPct val="90000"/>
              </a:lnSpc>
              <a:tabLst>
                <a:tab pos="744538" algn="l"/>
                <a:tab pos="1025525" algn="l"/>
                <a:tab pos="1260475" algn="l"/>
              </a:tabLst>
            </a:pPr>
            <a:r>
              <a:rPr lang="en-US" dirty="0" smtClean="0">
                <a:ea typeface="ＭＳ Ｐゴシック" panose="020B0600070205080204" pitchFamily="34" charset="-128"/>
              </a:rPr>
              <a:t>The two processes share two variables:</a:t>
            </a:r>
          </a:p>
          <a:p>
            <a:pPr lvl="1">
              <a:lnSpc>
                <a:spcPct val="90000"/>
              </a:lnSpc>
              <a:tabLst>
                <a:tab pos="744538" algn="l"/>
                <a:tab pos="1025525" algn="l"/>
                <a:tab pos="1260475" algn="l"/>
              </a:tabLst>
            </a:pPr>
            <a:r>
              <a:rPr lang="en-US" dirty="0" err="1" smtClean="0">
                <a:ea typeface="ＭＳ Ｐゴシック" panose="020B0600070205080204" pitchFamily="34" charset="-128"/>
              </a:rPr>
              <a:t>int</a:t>
            </a:r>
            <a:r>
              <a:rPr lang="en-US" dirty="0" smtClean="0">
                <a:ea typeface="ＭＳ Ｐゴシック" panose="020B0600070205080204" pitchFamily="34" charset="-128"/>
              </a:rPr>
              <a:t> turn; </a:t>
            </a:r>
          </a:p>
          <a:p>
            <a:pPr lvl="1">
              <a:lnSpc>
                <a:spcPct val="90000"/>
              </a:lnSpc>
              <a:tabLst>
                <a:tab pos="744538" algn="l"/>
                <a:tab pos="1025525" algn="l"/>
                <a:tab pos="1260475" algn="l"/>
              </a:tabLst>
            </a:pPr>
            <a:r>
              <a:rPr lang="en-US" dirty="0" smtClean="0">
                <a:ea typeface="ＭＳ Ｐゴシック" panose="020B0600070205080204" pitchFamily="34" charset="-128"/>
              </a:rPr>
              <a:t>Boolean flag[2]</a:t>
            </a:r>
          </a:p>
          <a:p>
            <a:pPr>
              <a:lnSpc>
                <a:spcPct val="90000"/>
              </a:lnSpc>
              <a:tabLst>
                <a:tab pos="744538" algn="l"/>
                <a:tab pos="1025525" algn="l"/>
                <a:tab pos="1260475" algn="l"/>
              </a:tabLst>
            </a:pPr>
            <a:r>
              <a:rPr lang="en-US" dirty="0" smtClean="0">
                <a:ea typeface="ＭＳ Ｐゴシック" panose="020B0600070205080204" pitchFamily="34" charset="-128"/>
              </a:rPr>
              <a:t>The variable turn indicates whose turn it is to enter the critical section.  </a:t>
            </a:r>
          </a:p>
          <a:p>
            <a:pPr>
              <a:lnSpc>
                <a:spcPct val="90000"/>
              </a:lnSpc>
              <a:tabLst>
                <a:tab pos="744538" algn="l"/>
                <a:tab pos="1025525" algn="l"/>
                <a:tab pos="1260475" algn="l"/>
              </a:tabLst>
            </a:pPr>
            <a:r>
              <a:rPr lang="en-US" dirty="0" smtClean="0">
                <a:ea typeface="ＭＳ Ｐゴシック" panose="020B0600070205080204" pitchFamily="34" charset="-128"/>
              </a:rPr>
              <a:t>The flag array is used to indicate if a process is ready to enter the critical section. flag[</a:t>
            </a:r>
            <a:r>
              <a:rPr lang="en-US" dirty="0" err="1" smtClean="0">
                <a:ea typeface="ＭＳ Ｐゴシック" panose="020B0600070205080204" pitchFamily="34" charset="-128"/>
              </a:rPr>
              <a:t>i</a:t>
            </a:r>
            <a:r>
              <a:rPr lang="en-US" dirty="0" smtClean="0">
                <a:ea typeface="ＭＳ Ｐゴシック" panose="020B0600070205080204" pitchFamily="34" charset="-128"/>
              </a:rPr>
              <a:t>] = true implies that process P</a:t>
            </a:r>
            <a:r>
              <a:rPr lang="en-US" baseline="-25000" dirty="0" smtClean="0">
                <a:ea typeface="ＭＳ Ｐゴシック" panose="020B0600070205080204" pitchFamily="34" charset="-128"/>
              </a:rPr>
              <a:t>i</a:t>
            </a:r>
            <a:r>
              <a:rPr lang="en-US" dirty="0" smtClean="0">
                <a:ea typeface="ＭＳ Ｐゴシック" panose="020B0600070205080204" pitchFamily="34" charset="-128"/>
              </a:rPr>
              <a:t> is ready!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ChangeArrowheads="1"/>
          </p:cNvSpPr>
          <p:nvPr/>
        </p:nvSpPr>
        <p:spPr bwMode="auto">
          <a:xfrm>
            <a:off x="6172580" y="3325018"/>
            <a:ext cx="1668463" cy="423863"/>
          </a:xfrm>
          <a:prstGeom prst="rect">
            <a:avLst/>
          </a:prstGeom>
          <a:solidFill>
            <a:schemeClr val="accent1"/>
          </a:solidFill>
          <a:ln w="9525">
            <a:solidFill>
              <a:schemeClr val="tx1"/>
            </a:solidFill>
            <a:round/>
            <a:headEnd/>
            <a:tailEnd/>
          </a:ln>
        </p:spPr>
        <p:txBody>
          <a:bodyPr wrap="none"/>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3795" name="Rectangle 3"/>
          <p:cNvSpPr>
            <a:spLocks noChangeArrowheads="1"/>
          </p:cNvSpPr>
          <p:nvPr/>
        </p:nvSpPr>
        <p:spPr bwMode="auto">
          <a:xfrm>
            <a:off x="5458749" y="1595792"/>
            <a:ext cx="2667000" cy="1135063"/>
          </a:xfrm>
          <a:prstGeom prst="rect">
            <a:avLst/>
          </a:prstGeom>
          <a:solidFill>
            <a:schemeClr val="accent1"/>
          </a:solidFill>
          <a:ln w="9525">
            <a:solidFill>
              <a:schemeClr val="tx1"/>
            </a:solidFill>
            <a:round/>
            <a:headEnd/>
            <a:tailEnd/>
          </a:ln>
        </p:spPr>
        <p:txBody>
          <a:bodyPr wrap="none"/>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3796" name="Rectangle 3"/>
          <p:cNvSpPr>
            <a:spLocks noGrp="1" noChangeArrowheads="1"/>
          </p:cNvSpPr>
          <p:nvPr>
            <p:ph type="body" idx="1"/>
          </p:nvPr>
        </p:nvSpPr>
        <p:spPr>
          <a:xfrm>
            <a:off x="0" y="1330325"/>
            <a:ext cx="9575800" cy="4413250"/>
          </a:xfrm>
        </p:spPr>
        <p:txBody>
          <a:bodyPr/>
          <a:lstStyle/>
          <a:p>
            <a:pPr>
              <a:buFont typeface="Monotype Sorts" charset="2"/>
              <a:buNone/>
            </a:pPr>
            <a:r>
              <a:rPr lang="en-US" dirty="0" smtClean="0">
                <a:solidFill>
                  <a:srgbClr val="0000FF"/>
                </a:solidFill>
                <a:ea typeface="ＭＳ Ｐゴシック" panose="020B0600070205080204" pitchFamily="34" charset="-128"/>
              </a:rPr>
              <a:t>	</a:t>
            </a:r>
            <a:r>
              <a:rPr lang="en-US" dirty="0" smtClean="0">
                <a:ea typeface="ＭＳ Ｐゴシック" panose="020B0600070205080204" pitchFamily="34" charset="-128"/>
              </a:rPr>
              <a:t>do { </a:t>
            </a:r>
          </a:p>
          <a:p>
            <a:pPr>
              <a:buFont typeface="Monotype Sorts" charset="2"/>
              <a:buNone/>
            </a:pPr>
            <a:r>
              <a:rPr lang="en-US" dirty="0" smtClean="0">
                <a:ea typeface="ＭＳ Ｐゴシック" panose="020B0600070205080204" pitchFamily="34" charset="-128"/>
              </a:rPr>
              <a:t>		flag[</a:t>
            </a:r>
            <a:r>
              <a:rPr lang="en-US" dirty="0" err="1" smtClean="0">
                <a:ea typeface="ＭＳ Ｐゴシック" panose="020B0600070205080204" pitchFamily="34" charset="-128"/>
              </a:rPr>
              <a:t>i</a:t>
            </a:r>
            <a:r>
              <a:rPr lang="en-US" dirty="0" smtClean="0">
                <a:ea typeface="ＭＳ Ｐゴシック" panose="020B0600070205080204" pitchFamily="34" charset="-128"/>
              </a:rPr>
              <a:t>] = TRUE; </a:t>
            </a:r>
          </a:p>
          <a:p>
            <a:pPr>
              <a:buFont typeface="Monotype Sorts" charset="2"/>
              <a:buNone/>
            </a:pPr>
            <a:r>
              <a:rPr lang="en-US" dirty="0" smtClean="0">
                <a:ea typeface="ＭＳ Ｐゴシック" panose="020B0600070205080204" pitchFamily="34" charset="-128"/>
              </a:rPr>
              <a:t>		turn = j; </a:t>
            </a:r>
          </a:p>
          <a:p>
            <a:pPr>
              <a:buFont typeface="Monotype Sorts" charset="2"/>
              <a:buNone/>
            </a:pPr>
            <a:r>
              <a:rPr lang="en-US" dirty="0" smtClean="0">
                <a:ea typeface="ＭＳ Ｐゴシック" panose="020B0600070205080204" pitchFamily="34" charset="-128"/>
              </a:rPr>
              <a:t>		while (flag[j] &amp;&amp; turn == j); </a:t>
            </a:r>
          </a:p>
          <a:p>
            <a:pPr>
              <a:buFont typeface="Monotype Sorts" charset="2"/>
              <a:buNone/>
            </a:pPr>
            <a:r>
              <a:rPr lang="en-US" dirty="0" smtClean="0">
                <a:ea typeface="ＭＳ Ｐゴシック" panose="020B0600070205080204" pitchFamily="34" charset="-128"/>
              </a:rPr>
              <a:t>			critical section </a:t>
            </a:r>
          </a:p>
          <a:p>
            <a:pPr>
              <a:buFont typeface="Monotype Sorts" charset="2"/>
              <a:buNone/>
            </a:pPr>
            <a:r>
              <a:rPr lang="en-US" dirty="0" smtClean="0">
                <a:ea typeface="ＭＳ Ｐゴシック" panose="020B0600070205080204" pitchFamily="34" charset="-128"/>
              </a:rPr>
              <a:t>		flag[</a:t>
            </a:r>
            <a:r>
              <a:rPr lang="en-US" dirty="0" err="1" smtClean="0">
                <a:ea typeface="ＭＳ Ｐゴシック" panose="020B0600070205080204" pitchFamily="34" charset="-128"/>
              </a:rPr>
              <a:t>i</a:t>
            </a:r>
            <a:r>
              <a:rPr lang="en-US" dirty="0" smtClean="0">
                <a:ea typeface="ＭＳ Ｐゴシック" panose="020B0600070205080204" pitchFamily="34" charset="-128"/>
              </a:rPr>
              <a:t>] = FALSE; </a:t>
            </a:r>
          </a:p>
          <a:p>
            <a:pPr>
              <a:buFont typeface="Monotype Sorts" charset="2"/>
              <a:buNone/>
            </a:pPr>
            <a:r>
              <a:rPr lang="en-US" dirty="0" smtClean="0">
                <a:ea typeface="ＭＳ Ｐゴシック" panose="020B0600070205080204" pitchFamily="34" charset="-128"/>
              </a:rPr>
              <a:t>			remainder section </a:t>
            </a:r>
          </a:p>
          <a:p>
            <a:pPr>
              <a:buFont typeface="Monotype Sorts" charset="2"/>
              <a:buNone/>
            </a:pPr>
            <a:r>
              <a:rPr lang="en-US" dirty="0" smtClean="0">
                <a:ea typeface="ＭＳ Ｐゴシック" panose="020B0600070205080204" pitchFamily="34" charset="-128"/>
              </a:rPr>
              <a:t>	} while (TRUE</a:t>
            </a:r>
            <a:r>
              <a:rPr lang="en-US" dirty="0" smtClean="0">
                <a:solidFill>
                  <a:srgbClr val="0000FF"/>
                </a:solidFill>
                <a:ea typeface="ＭＳ Ｐゴシック" panose="020B0600070205080204" pitchFamily="34" charset="-128"/>
              </a:rPr>
              <a:t>); </a:t>
            </a:r>
            <a:r>
              <a:rPr lang="en-US" sz="1600" dirty="0">
                <a:solidFill>
                  <a:srgbClr val="0000FF"/>
                </a:solidFill>
                <a:ea typeface="ＭＳ Ｐゴシック" panose="020B0600070205080204" pitchFamily="34" charset="-128"/>
              </a:rPr>
              <a:t>	</a:t>
            </a:r>
            <a:endParaRPr lang="en-US" sz="1400" dirty="0">
              <a:solidFill>
                <a:srgbClr val="0000FF"/>
              </a:solidFill>
              <a:ea typeface="ＭＳ Ｐゴシック" panose="020B0600070205080204" pitchFamily="34" charset="-128"/>
            </a:endParaRPr>
          </a:p>
        </p:txBody>
      </p:sp>
      <p:sp>
        <p:nvSpPr>
          <p:cNvPr id="33797" name="Rectangle 2"/>
          <p:cNvSpPr>
            <a:spLocks noGrp="1" noChangeArrowheads="1"/>
          </p:cNvSpPr>
          <p:nvPr>
            <p:ph type="title"/>
          </p:nvPr>
        </p:nvSpPr>
        <p:spPr>
          <a:xfrm>
            <a:off x="646111" y="136478"/>
            <a:ext cx="9404723" cy="865151"/>
          </a:xfrm>
        </p:spPr>
        <p:txBody>
          <a:bodyPr/>
          <a:lstStyle/>
          <a:p>
            <a:pPr eaLnBrk="1" hangingPunct="1"/>
            <a:r>
              <a:rPr lang="en-US" b="1" dirty="0" smtClean="0">
                <a:solidFill>
                  <a:schemeClr val="tx1"/>
                </a:solidFill>
                <a:ea typeface="ＭＳ Ｐゴシック" panose="020B0600070205080204" pitchFamily="34" charset="-128"/>
              </a:rPr>
              <a:t>Algorithm for Process P</a:t>
            </a:r>
            <a:r>
              <a:rPr lang="en-US" b="1" baseline="-25000" dirty="0" smtClean="0">
                <a:solidFill>
                  <a:schemeClr val="tx1"/>
                </a:solidFill>
                <a:ea typeface="ＭＳ Ｐゴシック" panose="020B0600070205080204" pitchFamily="34" charset="-128"/>
              </a:rPr>
              <a:t>i</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46111" y="95534"/>
            <a:ext cx="9404723" cy="818866"/>
          </a:xfrm>
        </p:spPr>
        <p:txBody>
          <a:bodyPr/>
          <a:lstStyle/>
          <a:p>
            <a:pPr eaLnBrk="1" hangingPunct="1"/>
            <a:r>
              <a:rPr lang="en-US" b="1" dirty="0" smtClean="0">
                <a:ea typeface="ＭＳ Ｐゴシック" panose="020B0600070205080204" pitchFamily="34" charset="-128"/>
              </a:rPr>
              <a:t>Synchronization Hardware</a:t>
            </a:r>
          </a:p>
        </p:txBody>
      </p:sp>
      <p:sp>
        <p:nvSpPr>
          <p:cNvPr id="35843" name="Rectangle 3"/>
          <p:cNvSpPr>
            <a:spLocks noGrp="1" noChangeArrowheads="1"/>
          </p:cNvSpPr>
          <p:nvPr>
            <p:ph type="body" idx="1"/>
          </p:nvPr>
        </p:nvSpPr>
        <p:spPr>
          <a:xfrm>
            <a:off x="646111" y="1233489"/>
            <a:ext cx="11063668" cy="4422775"/>
          </a:xfrm>
        </p:spPr>
        <p:txBody>
          <a:bodyPr/>
          <a:lstStyle/>
          <a:p>
            <a:pPr>
              <a:lnSpc>
                <a:spcPct val="90000"/>
              </a:lnSpc>
              <a:tabLst>
                <a:tab pos="744538" algn="l"/>
                <a:tab pos="1025525" algn="l"/>
                <a:tab pos="1260475" algn="l"/>
              </a:tabLst>
            </a:pPr>
            <a:r>
              <a:rPr lang="en-US" dirty="0" smtClean="0">
                <a:ea typeface="ＭＳ Ｐゴシック" panose="020B0600070205080204" pitchFamily="34" charset="-128"/>
              </a:rPr>
              <a:t>Many systems provide hardware support for critical section code</a:t>
            </a:r>
          </a:p>
          <a:p>
            <a:pPr>
              <a:lnSpc>
                <a:spcPct val="90000"/>
              </a:lnSpc>
              <a:tabLst>
                <a:tab pos="744538" algn="l"/>
                <a:tab pos="1025525" algn="l"/>
                <a:tab pos="1260475" algn="l"/>
              </a:tabLst>
            </a:pPr>
            <a:r>
              <a:rPr lang="en-US" dirty="0" smtClean="0">
                <a:ea typeface="ＭＳ Ｐゴシック" panose="020B0600070205080204" pitchFamily="34" charset="-128"/>
              </a:rPr>
              <a:t>Uniprocessors – could disable interrupts</a:t>
            </a:r>
          </a:p>
          <a:p>
            <a:pPr lvl="1">
              <a:lnSpc>
                <a:spcPct val="90000"/>
              </a:lnSpc>
              <a:tabLst>
                <a:tab pos="744538" algn="l"/>
                <a:tab pos="1025525" algn="l"/>
                <a:tab pos="1260475" algn="l"/>
              </a:tabLst>
            </a:pPr>
            <a:r>
              <a:rPr lang="en-US" dirty="0" smtClean="0">
                <a:ea typeface="ＭＳ Ｐゴシック" panose="020B0600070205080204" pitchFamily="34" charset="-128"/>
              </a:rPr>
              <a:t>Currently running code would execute without preemption</a:t>
            </a:r>
          </a:p>
          <a:p>
            <a:pPr lvl="1">
              <a:lnSpc>
                <a:spcPct val="90000"/>
              </a:lnSpc>
              <a:tabLst>
                <a:tab pos="744538" algn="l"/>
                <a:tab pos="1025525" algn="l"/>
                <a:tab pos="1260475" algn="l"/>
              </a:tabLst>
            </a:pPr>
            <a:r>
              <a:rPr lang="en-US" dirty="0" smtClean="0">
                <a:ea typeface="ＭＳ Ｐゴシック" panose="020B0600070205080204" pitchFamily="34" charset="-128"/>
              </a:rPr>
              <a:t>Generally too inefficient on multiprocessor systems</a:t>
            </a:r>
          </a:p>
          <a:p>
            <a:pPr lvl="2">
              <a:lnSpc>
                <a:spcPct val="90000"/>
              </a:lnSpc>
              <a:tabLst>
                <a:tab pos="744538" algn="l"/>
                <a:tab pos="1025525" algn="l"/>
                <a:tab pos="1260475" algn="l"/>
              </a:tabLst>
            </a:pPr>
            <a:r>
              <a:rPr lang="en-US" dirty="0" smtClean="0">
                <a:ea typeface="ＭＳ Ｐゴシック" panose="020B0600070205080204" pitchFamily="34" charset="-128"/>
              </a:rPr>
              <a:t>Operating systems using this not broadly scalable</a:t>
            </a:r>
          </a:p>
          <a:p>
            <a:pPr>
              <a:lnSpc>
                <a:spcPct val="90000"/>
              </a:lnSpc>
              <a:tabLst>
                <a:tab pos="744538" algn="l"/>
                <a:tab pos="1025525" algn="l"/>
                <a:tab pos="1260475" algn="l"/>
              </a:tabLst>
            </a:pPr>
            <a:r>
              <a:rPr lang="en-US" dirty="0" smtClean="0">
                <a:ea typeface="ＭＳ Ｐゴシック" panose="020B0600070205080204" pitchFamily="34" charset="-128"/>
              </a:rPr>
              <a:t>Modern machines provide special atomic hardware instructions</a:t>
            </a:r>
          </a:p>
          <a:p>
            <a:pPr lvl="2">
              <a:lnSpc>
                <a:spcPct val="90000"/>
              </a:lnSpc>
              <a:tabLst>
                <a:tab pos="744538" algn="l"/>
                <a:tab pos="1025525" algn="l"/>
                <a:tab pos="1260475" algn="l"/>
              </a:tabLst>
            </a:pPr>
            <a:r>
              <a:rPr lang="en-US" dirty="0" smtClean="0">
                <a:ea typeface="ＭＳ Ｐゴシック" panose="020B0600070205080204" pitchFamily="34" charset="-128"/>
              </a:rPr>
              <a:t>Atomic = non-</a:t>
            </a:r>
            <a:r>
              <a:rPr lang="en-US" dirty="0" err="1" smtClean="0">
                <a:ea typeface="ＭＳ Ｐゴシック" panose="020B0600070205080204" pitchFamily="34" charset="-128"/>
              </a:rPr>
              <a:t>interruptable</a:t>
            </a:r>
            <a:endParaRPr lang="en-US" dirty="0" smtClean="0">
              <a:ea typeface="ＭＳ Ｐゴシック" panose="020B0600070205080204" pitchFamily="34" charset="-128"/>
            </a:endParaRPr>
          </a:p>
          <a:p>
            <a:pPr lvl="1">
              <a:lnSpc>
                <a:spcPct val="90000"/>
              </a:lnSpc>
              <a:tabLst>
                <a:tab pos="744538" algn="l"/>
                <a:tab pos="1025525" algn="l"/>
                <a:tab pos="1260475" algn="l"/>
              </a:tabLst>
            </a:pPr>
            <a:r>
              <a:rPr lang="en-US" dirty="0" smtClean="0">
                <a:ea typeface="ＭＳ Ｐゴシック" panose="020B0600070205080204" pitchFamily="34" charset="-128"/>
              </a:rPr>
              <a:t>Either test memory word and set value</a:t>
            </a:r>
          </a:p>
          <a:p>
            <a:pPr lvl="1">
              <a:lnSpc>
                <a:spcPct val="90000"/>
              </a:lnSpc>
              <a:tabLst>
                <a:tab pos="744538" algn="l"/>
                <a:tab pos="1025525" algn="l"/>
                <a:tab pos="1260475" algn="l"/>
              </a:tabLst>
            </a:pPr>
            <a:r>
              <a:rPr lang="en-US" dirty="0" smtClean="0">
                <a:ea typeface="ＭＳ Ｐゴシック" panose="020B0600070205080204" pitchFamily="34" charset="-128"/>
              </a:rPr>
              <a:t>Or swap contents of two memory words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b="1" dirty="0" err="1" smtClean="0">
                <a:ea typeface="ＭＳ Ｐゴシック" panose="020B0600070205080204" pitchFamily="34" charset="-128"/>
              </a:rPr>
              <a:t>TestAndndSet</a:t>
            </a:r>
            <a:r>
              <a:rPr lang="en-US" b="1" dirty="0" smtClean="0">
                <a:ea typeface="ＭＳ Ｐゴシック" panose="020B0600070205080204" pitchFamily="34" charset="-128"/>
              </a:rPr>
              <a:t> Instruction </a:t>
            </a:r>
          </a:p>
        </p:txBody>
      </p:sp>
      <p:sp>
        <p:nvSpPr>
          <p:cNvPr id="38915" name="Rectangle 3"/>
          <p:cNvSpPr>
            <a:spLocks noGrp="1" noChangeArrowheads="1"/>
          </p:cNvSpPr>
          <p:nvPr>
            <p:ph type="body" idx="1"/>
          </p:nvPr>
        </p:nvSpPr>
        <p:spPr>
          <a:xfrm>
            <a:off x="646111" y="1233489"/>
            <a:ext cx="9093203" cy="4422775"/>
          </a:xfrm>
        </p:spPr>
        <p:txBody>
          <a:bodyPr/>
          <a:lstStyle/>
          <a:p>
            <a:pPr>
              <a:lnSpc>
                <a:spcPct val="90000"/>
              </a:lnSpc>
              <a:buNone/>
              <a:tabLst>
                <a:tab pos="744538" algn="l"/>
                <a:tab pos="1025525" algn="l"/>
                <a:tab pos="1260475" algn="l"/>
              </a:tabLst>
            </a:pPr>
            <a:endParaRPr lang="en-US" dirty="0" smtClean="0">
              <a:ea typeface="ＭＳ Ｐゴシック" panose="020B0600070205080204" pitchFamily="34" charset="-128"/>
            </a:endParaRPr>
          </a:p>
          <a:p>
            <a:pPr>
              <a:lnSpc>
                <a:spcPct val="90000"/>
              </a:lnSpc>
              <a:tabLst>
                <a:tab pos="744538" algn="l"/>
                <a:tab pos="1025525" algn="l"/>
                <a:tab pos="1260475" algn="l"/>
              </a:tabLst>
            </a:pPr>
            <a:r>
              <a:rPr lang="en-US" dirty="0" smtClean="0">
                <a:ea typeface="ＭＳ Ｐゴシック" panose="020B0600070205080204" pitchFamily="34" charset="-128"/>
              </a:rPr>
              <a:t>Definition:</a:t>
            </a:r>
          </a:p>
          <a:p>
            <a:pPr>
              <a:lnSpc>
                <a:spcPct val="90000"/>
              </a:lnSpc>
              <a:tabLst>
                <a:tab pos="744538" algn="l"/>
                <a:tab pos="1025525" algn="l"/>
                <a:tab pos="1260475" algn="l"/>
              </a:tabLst>
            </a:pPr>
            <a:endParaRPr lang="en-US" dirty="0" smtClean="0">
              <a:ea typeface="ＭＳ Ｐゴシック" panose="020B0600070205080204" pitchFamily="34" charset="-128"/>
            </a:endParaRPr>
          </a:p>
          <a:p>
            <a:pPr>
              <a:lnSpc>
                <a:spcPct val="90000"/>
              </a:lnSpc>
              <a:buNone/>
              <a:tabLst>
                <a:tab pos="744538" algn="l"/>
                <a:tab pos="1025525" algn="l"/>
                <a:tab pos="1260475" algn="l"/>
              </a:tabLst>
            </a:pPr>
            <a:r>
              <a:rPr lang="en-US" dirty="0" smtClean="0">
                <a:ea typeface="ＭＳ Ｐゴシック" panose="020B0600070205080204" pitchFamily="34" charset="-128"/>
              </a:rPr>
              <a:t>         </a:t>
            </a:r>
            <a:r>
              <a:rPr lang="en-US" dirty="0" err="1" smtClean="0">
                <a:ea typeface="ＭＳ Ｐゴシック" panose="020B0600070205080204" pitchFamily="34" charset="-128"/>
              </a:rPr>
              <a:t>boolean</a:t>
            </a:r>
            <a:r>
              <a:rPr lang="en-US" dirty="0" smtClean="0">
                <a:ea typeface="ＭＳ Ｐゴシック" panose="020B0600070205080204" pitchFamily="34" charset="-128"/>
              </a:rPr>
              <a:t> </a:t>
            </a:r>
            <a:r>
              <a:rPr lang="en-US" dirty="0" err="1" smtClean="0">
                <a:ea typeface="ＭＳ Ｐゴシック" panose="020B0600070205080204" pitchFamily="34" charset="-128"/>
              </a:rPr>
              <a:t>TestAndSet</a:t>
            </a:r>
            <a:r>
              <a:rPr lang="en-US" dirty="0" smtClean="0">
                <a:ea typeface="ＭＳ Ｐゴシック" panose="020B0600070205080204" pitchFamily="34" charset="-128"/>
              </a:rPr>
              <a:t> (</a:t>
            </a:r>
            <a:r>
              <a:rPr lang="en-US" dirty="0" err="1" smtClean="0">
                <a:ea typeface="ＭＳ Ｐゴシック" panose="020B0600070205080204" pitchFamily="34" charset="-128"/>
              </a:rPr>
              <a:t>boolean</a:t>
            </a:r>
            <a:r>
              <a:rPr lang="en-US" dirty="0" smtClean="0">
                <a:ea typeface="ＭＳ Ｐゴシック" panose="020B0600070205080204" pitchFamily="34" charset="-128"/>
              </a:rPr>
              <a:t> *target)</a:t>
            </a:r>
          </a:p>
          <a:p>
            <a:pPr>
              <a:lnSpc>
                <a:spcPct val="90000"/>
              </a:lnSpc>
              <a:buNone/>
              <a:tabLst>
                <a:tab pos="744538" algn="l"/>
                <a:tab pos="1025525" algn="l"/>
                <a:tab pos="1260475" algn="l"/>
              </a:tabLst>
            </a:pPr>
            <a:r>
              <a:rPr lang="en-US" dirty="0" smtClean="0">
                <a:ea typeface="ＭＳ Ｐゴシック" panose="020B0600070205080204" pitchFamily="34" charset="-128"/>
              </a:rPr>
              <a:t>          {</a:t>
            </a:r>
          </a:p>
          <a:p>
            <a:pPr>
              <a:lnSpc>
                <a:spcPct val="90000"/>
              </a:lnSpc>
              <a:buNone/>
              <a:tabLst>
                <a:tab pos="744538" algn="l"/>
                <a:tab pos="1025525" algn="l"/>
                <a:tab pos="1260475" algn="l"/>
              </a:tabLst>
            </a:pPr>
            <a:r>
              <a:rPr lang="en-US" dirty="0" smtClean="0">
                <a:ea typeface="ＭＳ Ｐゴシック" panose="020B0600070205080204" pitchFamily="34" charset="-128"/>
              </a:rPr>
              <a:t>               </a:t>
            </a:r>
            <a:r>
              <a:rPr lang="en-US" dirty="0" err="1" smtClean="0">
                <a:ea typeface="ＭＳ Ｐゴシック" panose="020B0600070205080204" pitchFamily="34" charset="-128"/>
              </a:rPr>
              <a:t>boolean</a:t>
            </a:r>
            <a:r>
              <a:rPr lang="en-US" dirty="0" smtClean="0">
                <a:ea typeface="ＭＳ Ｐゴシック" panose="020B0600070205080204" pitchFamily="34" charset="-128"/>
              </a:rPr>
              <a:t> </a:t>
            </a:r>
            <a:r>
              <a:rPr lang="en-US" dirty="0" err="1" smtClean="0">
                <a:ea typeface="ＭＳ Ｐゴシック" panose="020B0600070205080204" pitchFamily="34" charset="-128"/>
              </a:rPr>
              <a:t>rv</a:t>
            </a:r>
            <a:r>
              <a:rPr lang="en-US" dirty="0" smtClean="0">
                <a:ea typeface="ＭＳ Ｐゴシック" panose="020B0600070205080204" pitchFamily="34" charset="-128"/>
              </a:rPr>
              <a:t> = *target;</a:t>
            </a:r>
          </a:p>
          <a:p>
            <a:pPr>
              <a:lnSpc>
                <a:spcPct val="90000"/>
              </a:lnSpc>
              <a:buNone/>
              <a:tabLst>
                <a:tab pos="744538" algn="l"/>
                <a:tab pos="1025525" algn="l"/>
                <a:tab pos="1260475" algn="l"/>
              </a:tabLst>
            </a:pPr>
            <a:r>
              <a:rPr lang="en-US" dirty="0" smtClean="0">
                <a:ea typeface="ＭＳ Ｐゴシック" panose="020B0600070205080204" pitchFamily="34" charset="-128"/>
              </a:rPr>
              <a:t>               *target = TRUE;</a:t>
            </a:r>
          </a:p>
          <a:p>
            <a:pPr>
              <a:lnSpc>
                <a:spcPct val="90000"/>
              </a:lnSpc>
              <a:buNone/>
              <a:tabLst>
                <a:tab pos="744538" algn="l"/>
                <a:tab pos="1025525" algn="l"/>
                <a:tab pos="1260475" algn="l"/>
              </a:tabLst>
            </a:pPr>
            <a:r>
              <a:rPr lang="en-US" dirty="0" smtClean="0">
                <a:ea typeface="ＭＳ Ｐゴシック" panose="020B0600070205080204" pitchFamily="34" charset="-128"/>
              </a:rPr>
              <a:t>               return </a:t>
            </a:r>
            <a:r>
              <a:rPr lang="en-US" dirty="0" err="1" smtClean="0">
                <a:ea typeface="ＭＳ Ｐゴシック" panose="020B0600070205080204" pitchFamily="34" charset="-128"/>
              </a:rPr>
              <a:t>rv</a:t>
            </a:r>
            <a:r>
              <a:rPr lang="en-US" dirty="0" smtClean="0">
                <a:ea typeface="ＭＳ Ｐゴシック" panose="020B0600070205080204" pitchFamily="34" charset="-128"/>
              </a:rPr>
              <a:t>:</a:t>
            </a:r>
          </a:p>
          <a:p>
            <a:pPr>
              <a:lnSpc>
                <a:spcPct val="90000"/>
              </a:lnSpc>
              <a:buNone/>
              <a:tabLst>
                <a:tab pos="744538" algn="l"/>
                <a:tab pos="1025525" algn="l"/>
                <a:tab pos="1260475" algn="l"/>
              </a:tabLst>
            </a:pPr>
            <a:r>
              <a:rPr lang="en-US" dirty="0" smtClean="0">
                <a:ea typeface="ＭＳ Ｐゴシック" panose="020B0600070205080204" pitchFamily="34" charset="-128"/>
              </a:rPr>
              <a:t>          }</a:t>
            </a:r>
          </a:p>
          <a:p>
            <a:pPr>
              <a:lnSpc>
                <a:spcPct val="90000"/>
              </a:lnSpc>
              <a:buNone/>
              <a:tabLst>
                <a:tab pos="744538" algn="l"/>
                <a:tab pos="1025525" algn="l"/>
                <a:tab pos="1260475" algn="l"/>
              </a:tabLst>
            </a:pPr>
            <a:endParaRPr lang="en-US" dirty="0" smtClean="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46111" y="452718"/>
            <a:ext cx="9404723" cy="802876"/>
          </a:xfrm>
        </p:spPr>
        <p:txBody>
          <a:bodyPr/>
          <a:lstStyle/>
          <a:p>
            <a:pPr eaLnBrk="1" hangingPunct="1"/>
            <a:r>
              <a:rPr lang="en-US" b="1" dirty="0" smtClean="0">
                <a:ea typeface="ＭＳ Ｐゴシック" panose="020B0600070205080204" pitchFamily="34" charset="-128"/>
              </a:rPr>
              <a:t>Solution using </a:t>
            </a:r>
            <a:r>
              <a:rPr lang="en-US" b="1" dirty="0" err="1" smtClean="0">
                <a:ea typeface="ＭＳ Ｐゴシック" panose="020B0600070205080204" pitchFamily="34" charset="-128"/>
              </a:rPr>
              <a:t>TestAndSet</a:t>
            </a:r>
            <a:endParaRPr lang="en-US" b="1" dirty="0" smtClean="0">
              <a:ea typeface="ＭＳ Ｐゴシック" panose="020B0600070205080204" pitchFamily="34" charset="-128"/>
            </a:endParaRPr>
          </a:p>
        </p:txBody>
      </p:sp>
      <p:sp>
        <p:nvSpPr>
          <p:cNvPr id="40963" name="Rectangle 3"/>
          <p:cNvSpPr>
            <a:spLocks noGrp="1" noChangeArrowheads="1"/>
          </p:cNvSpPr>
          <p:nvPr>
            <p:ph type="body" idx="1"/>
          </p:nvPr>
        </p:nvSpPr>
        <p:spPr>
          <a:xfrm>
            <a:off x="805219" y="1354139"/>
            <a:ext cx="8411808" cy="5030787"/>
          </a:xfrm>
        </p:spPr>
        <p:txBody>
          <a:bodyPr>
            <a:normAutofit fontScale="85000" lnSpcReduction="20000"/>
          </a:bodyPr>
          <a:lstStyle/>
          <a:p>
            <a:pPr>
              <a:lnSpc>
                <a:spcPct val="90000"/>
              </a:lnSpc>
              <a:tabLst>
                <a:tab pos="744538" algn="l"/>
                <a:tab pos="1025525" algn="l"/>
                <a:tab pos="1260475" algn="l"/>
              </a:tabLst>
            </a:pPr>
            <a:r>
              <a:rPr lang="en-US" dirty="0" smtClean="0">
                <a:ea typeface="ＭＳ Ｐゴシック" panose="020B0600070205080204" pitchFamily="34" charset="-128"/>
              </a:rPr>
              <a:t>Shared </a:t>
            </a:r>
            <a:r>
              <a:rPr lang="en-US" dirty="0" err="1" smtClean="0">
                <a:ea typeface="ＭＳ Ｐゴシック" panose="020B0600070205080204" pitchFamily="34" charset="-128"/>
              </a:rPr>
              <a:t>boolean</a:t>
            </a:r>
            <a:r>
              <a:rPr lang="en-US" dirty="0" smtClean="0">
                <a:ea typeface="ＭＳ Ｐゴシック" panose="020B0600070205080204" pitchFamily="34" charset="-128"/>
              </a:rPr>
              <a:t> variable lock., initialized to false.</a:t>
            </a:r>
          </a:p>
          <a:p>
            <a:pPr>
              <a:lnSpc>
                <a:spcPct val="90000"/>
              </a:lnSpc>
              <a:tabLst>
                <a:tab pos="744538" algn="l"/>
                <a:tab pos="1025525" algn="l"/>
                <a:tab pos="1260475" algn="l"/>
              </a:tabLst>
            </a:pPr>
            <a:r>
              <a:rPr lang="en-US" dirty="0" smtClean="0">
                <a:ea typeface="ＭＳ Ｐゴシック" panose="020B0600070205080204" pitchFamily="34" charset="-128"/>
              </a:rPr>
              <a:t>Solution:</a:t>
            </a:r>
          </a:p>
          <a:p>
            <a:pPr>
              <a:lnSpc>
                <a:spcPct val="90000"/>
              </a:lnSpc>
              <a:buNone/>
              <a:tabLst>
                <a:tab pos="744538" algn="l"/>
                <a:tab pos="1025525" algn="l"/>
                <a:tab pos="1260475" algn="l"/>
              </a:tabLst>
            </a:pPr>
            <a:endParaRPr lang="en-US" dirty="0" smtClean="0">
              <a:ea typeface="ＭＳ Ｐゴシック" panose="020B0600070205080204" pitchFamily="34" charset="-128"/>
            </a:endParaRPr>
          </a:p>
          <a:p>
            <a:pPr>
              <a:lnSpc>
                <a:spcPct val="90000"/>
              </a:lnSpc>
              <a:buNone/>
              <a:tabLst>
                <a:tab pos="744538" algn="l"/>
                <a:tab pos="1025525" algn="l"/>
                <a:tab pos="1260475" algn="l"/>
              </a:tabLst>
            </a:pPr>
            <a:r>
              <a:rPr lang="en-US" dirty="0" smtClean="0">
                <a:solidFill>
                  <a:srgbClr val="0000FF"/>
                </a:solidFill>
                <a:ea typeface="ＭＳ Ｐゴシック" panose="020B0600070205080204" pitchFamily="34" charset="-128"/>
              </a:rPr>
              <a:t>		</a:t>
            </a:r>
            <a:r>
              <a:rPr lang="en-US" dirty="0" smtClean="0">
                <a:ea typeface="ＭＳ Ｐゴシック" panose="020B0600070205080204" pitchFamily="34" charset="-128"/>
              </a:rPr>
              <a:t>do {</a:t>
            </a:r>
          </a:p>
          <a:p>
            <a:pPr>
              <a:lnSpc>
                <a:spcPct val="90000"/>
              </a:lnSpc>
              <a:buNone/>
              <a:tabLst>
                <a:tab pos="744538" algn="l"/>
                <a:tab pos="1025525" algn="l"/>
                <a:tab pos="1260475" algn="l"/>
              </a:tabLst>
            </a:pPr>
            <a:r>
              <a:rPr lang="en-US" dirty="0" smtClean="0">
                <a:ea typeface="ＭＳ Ｐゴシック" panose="020B0600070205080204" pitchFamily="34" charset="-128"/>
              </a:rPr>
              <a:t>                     while ( </a:t>
            </a:r>
            <a:r>
              <a:rPr lang="en-US" dirty="0" err="1" smtClean="0">
                <a:ea typeface="ＭＳ Ｐゴシック" panose="020B0600070205080204" pitchFamily="34" charset="-128"/>
              </a:rPr>
              <a:t>TestAndSet</a:t>
            </a:r>
            <a:r>
              <a:rPr lang="en-US" dirty="0" smtClean="0">
                <a:ea typeface="ＭＳ Ｐゴシック" panose="020B0600070205080204" pitchFamily="34" charset="-128"/>
              </a:rPr>
              <a:t> (&amp;lock ))</a:t>
            </a:r>
          </a:p>
          <a:p>
            <a:pPr>
              <a:lnSpc>
                <a:spcPct val="90000"/>
              </a:lnSpc>
              <a:buNone/>
              <a:tabLst>
                <a:tab pos="744538" algn="l"/>
                <a:tab pos="1025525" algn="l"/>
                <a:tab pos="1260475" algn="l"/>
              </a:tabLst>
            </a:pPr>
            <a:r>
              <a:rPr lang="en-US" dirty="0" smtClean="0">
                <a:ea typeface="ＭＳ Ｐゴシック" panose="020B0600070205080204" pitchFamily="34" charset="-128"/>
              </a:rPr>
              <a:t>                                 ;   // do nothing</a:t>
            </a:r>
          </a:p>
          <a:p>
            <a:pPr>
              <a:lnSpc>
                <a:spcPct val="90000"/>
              </a:lnSpc>
              <a:buNone/>
              <a:tabLst>
                <a:tab pos="744538" algn="l"/>
                <a:tab pos="1025525" algn="l"/>
                <a:tab pos="1260475" algn="l"/>
              </a:tabLst>
            </a:pPr>
            <a:endParaRPr lang="en-US" dirty="0" smtClean="0">
              <a:ea typeface="ＭＳ Ｐゴシック" panose="020B0600070205080204" pitchFamily="34" charset="-128"/>
            </a:endParaRPr>
          </a:p>
          <a:p>
            <a:pPr>
              <a:lnSpc>
                <a:spcPct val="90000"/>
              </a:lnSpc>
              <a:buNone/>
              <a:tabLst>
                <a:tab pos="744538" algn="l"/>
                <a:tab pos="1025525" algn="l"/>
                <a:tab pos="1260475" algn="l"/>
              </a:tabLst>
            </a:pPr>
            <a:r>
              <a:rPr lang="en-US" dirty="0" smtClean="0">
                <a:ea typeface="ＭＳ Ｐゴシック" panose="020B0600070205080204" pitchFamily="34" charset="-128"/>
              </a:rPr>
              <a:t>                               //    critical section</a:t>
            </a:r>
          </a:p>
          <a:p>
            <a:pPr>
              <a:lnSpc>
                <a:spcPct val="90000"/>
              </a:lnSpc>
              <a:buNone/>
              <a:tabLst>
                <a:tab pos="744538" algn="l"/>
                <a:tab pos="1025525" algn="l"/>
                <a:tab pos="1260475" algn="l"/>
              </a:tabLst>
            </a:pPr>
            <a:endParaRPr lang="en-US" dirty="0" smtClean="0">
              <a:ea typeface="ＭＳ Ｐゴシック" panose="020B0600070205080204" pitchFamily="34" charset="-128"/>
            </a:endParaRPr>
          </a:p>
          <a:p>
            <a:pPr>
              <a:lnSpc>
                <a:spcPct val="90000"/>
              </a:lnSpc>
              <a:buNone/>
              <a:tabLst>
                <a:tab pos="744538" algn="l"/>
                <a:tab pos="1025525" algn="l"/>
                <a:tab pos="1260475" algn="l"/>
              </a:tabLst>
            </a:pPr>
            <a:r>
              <a:rPr lang="en-US" dirty="0" smtClean="0">
                <a:ea typeface="ＭＳ Ｐゴシック" panose="020B0600070205080204" pitchFamily="34" charset="-128"/>
              </a:rPr>
              <a:t>                     lock = FALSE;</a:t>
            </a:r>
          </a:p>
          <a:p>
            <a:pPr>
              <a:lnSpc>
                <a:spcPct val="90000"/>
              </a:lnSpc>
              <a:buNone/>
              <a:tabLst>
                <a:tab pos="744538" algn="l"/>
                <a:tab pos="1025525" algn="l"/>
                <a:tab pos="1260475" algn="l"/>
              </a:tabLst>
            </a:pPr>
            <a:endParaRPr lang="en-US" dirty="0" smtClean="0">
              <a:ea typeface="ＭＳ Ｐゴシック" panose="020B0600070205080204" pitchFamily="34" charset="-128"/>
            </a:endParaRPr>
          </a:p>
          <a:p>
            <a:pPr>
              <a:lnSpc>
                <a:spcPct val="90000"/>
              </a:lnSpc>
              <a:buNone/>
              <a:tabLst>
                <a:tab pos="744538" algn="l"/>
                <a:tab pos="1025525" algn="l"/>
                <a:tab pos="1260475" algn="l"/>
              </a:tabLst>
            </a:pPr>
            <a:r>
              <a:rPr lang="en-US" dirty="0" smtClean="0">
                <a:ea typeface="ＭＳ Ｐゴシック" panose="020B0600070205080204" pitchFamily="34" charset="-128"/>
              </a:rPr>
              <a:t>                               //      remainder section </a:t>
            </a:r>
          </a:p>
          <a:p>
            <a:pPr>
              <a:lnSpc>
                <a:spcPct val="90000"/>
              </a:lnSpc>
              <a:buNone/>
              <a:tabLst>
                <a:tab pos="744538" algn="l"/>
                <a:tab pos="1025525" algn="l"/>
                <a:tab pos="1260475" algn="l"/>
              </a:tabLst>
            </a:pPr>
            <a:endParaRPr lang="en-US" dirty="0" smtClean="0">
              <a:ea typeface="ＭＳ Ｐゴシック" panose="020B0600070205080204" pitchFamily="34" charset="-128"/>
            </a:endParaRPr>
          </a:p>
          <a:p>
            <a:pPr>
              <a:lnSpc>
                <a:spcPct val="90000"/>
              </a:lnSpc>
              <a:buNone/>
              <a:tabLst>
                <a:tab pos="744538" algn="l"/>
                <a:tab pos="1025525" algn="l"/>
                <a:tab pos="1260475" algn="l"/>
              </a:tabLst>
            </a:pPr>
            <a:r>
              <a:rPr lang="en-US" dirty="0" smtClean="0">
                <a:ea typeface="ＭＳ Ｐゴシック" panose="020B0600070205080204" pitchFamily="34" charset="-128"/>
              </a:rPr>
              <a:t>           } while (TRUE);</a:t>
            </a:r>
          </a:p>
          <a:p>
            <a:pPr>
              <a:lnSpc>
                <a:spcPct val="90000"/>
              </a:lnSpc>
              <a:buNone/>
              <a:tabLst>
                <a:tab pos="744538" algn="l"/>
                <a:tab pos="1025525" algn="l"/>
                <a:tab pos="1260475" algn="l"/>
              </a:tabLst>
            </a:pPr>
            <a:endParaRPr lang="en-US" dirty="0" smtClean="0">
              <a:solidFill>
                <a:srgbClr val="0000FF"/>
              </a:solidFill>
              <a:ea typeface="ＭＳ Ｐゴシック" panose="020B0600070205080204" pitchFamily="34" charset="-128"/>
            </a:endParaRPr>
          </a:p>
          <a:p>
            <a:pPr>
              <a:lnSpc>
                <a:spcPct val="90000"/>
              </a:lnSpc>
              <a:buNone/>
              <a:tabLst>
                <a:tab pos="744538" algn="l"/>
                <a:tab pos="1025525" algn="l"/>
                <a:tab pos="1260475" algn="l"/>
              </a:tabLst>
            </a:pPr>
            <a:r>
              <a:rPr lang="en-US" dirty="0" smtClean="0">
                <a:ea typeface="ＭＳ Ｐゴシック" panose="020B0600070205080204" pitchFamily="34" charset="-128"/>
              </a:rPr>
              <a:t>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46111" y="452718"/>
            <a:ext cx="9404723" cy="925706"/>
          </a:xfrm>
        </p:spPr>
        <p:txBody>
          <a:bodyPr/>
          <a:lstStyle/>
          <a:p>
            <a:pPr eaLnBrk="1" hangingPunct="1"/>
            <a:r>
              <a:rPr lang="en-US" b="1" dirty="0" smtClean="0">
                <a:ea typeface="ＭＳ Ｐゴシック" panose="020B0600070205080204" pitchFamily="34" charset="-128"/>
              </a:rPr>
              <a:t>Swap  Instruction</a:t>
            </a:r>
          </a:p>
        </p:txBody>
      </p:sp>
      <p:sp>
        <p:nvSpPr>
          <p:cNvPr id="43011" name="Rectangle 3"/>
          <p:cNvSpPr>
            <a:spLocks noGrp="1" noChangeArrowheads="1"/>
          </p:cNvSpPr>
          <p:nvPr>
            <p:ph type="body" idx="1"/>
          </p:nvPr>
        </p:nvSpPr>
        <p:spPr>
          <a:xfrm>
            <a:off x="646111" y="1233489"/>
            <a:ext cx="8252229" cy="4422775"/>
          </a:xfrm>
        </p:spPr>
        <p:txBody>
          <a:bodyPr/>
          <a:lstStyle/>
          <a:p>
            <a:pPr>
              <a:lnSpc>
                <a:spcPct val="90000"/>
              </a:lnSpc>
              <a:buNone/>
              <a:tabLst>
                <a:tab pos="744538" algn="l"/>
                <a:tab pos="1025525" algn="l"/>
                <a:tab pos="1260475" algn="l"/>
              </a:tabLst>
            </a:pPr>
            <a:endParaRPr lang="en-US" dirty="0" smtClean="0">
              <a:ea typeface="ＭＳ Ｐゴシック" panose="020B0600070205080204" pitchFamily="34" charset="-128"/>
            </a:endParaRPr>
          </a:p>
          <a:p>
            <a:pPr>
              <a:lnSpc>
                <a:spcPct val="90000"/>
              </a:lnSpc>
              <a:tabLst>
                <a:tab pos="744538" algn="l"/>
                <a:tab pos="1025525" algn="l"/>
                <a:tab pos="1260475" algn="l"/>
              </a:tabLst>
            </a:pPr>
            <a:r>
              <a:rPr lang="en-US" dirty="0" smtClean="0">
                <a:ea typeface="ＭＳ Ｐゴシック" panose="020B0600070205080204" pitchFamily="34" charset="-128"/>
              </a:rPr>
              <a:t>Definition:</a:t>
            </a:r>
          </a:p>
          <a:p>
            <a:pPr>
              <a:lnSpc>
                <a:spcPct val="90000"/>
              </a:lnSpc>
              <a:tabLst>
                <a:tab pos="744538" algn="l"/>
                <a:tab pos="1025525" algn="l"/>
                <a:tab pos="1260475" algn="l"/>
              </a:tabLst>
            </a:pPr>
            <a:endParaRPr lang="en-US" dirty="0" smtClean="0">
              <a:ea typeface="ＭＳ Ｐゴシック" panose="020B0600070205080204" pitchFamily="34" charset="-128"/>
            </a:endParaRPr>
          </a:p>
          <a:p>
            <a:pPr>
              <a:lnSpc>
                <a:spcPct val="90000"/>
              </a:lnSpc>
              <a:buNone/>
              <a:tabLst>
                <a:tab pos="744538" algn="l"/>
                <a:tab pos="1025525" algn="l"/>
                <a:tab pos="1260475" algn="l"/>
              </a:tabLst>
            </a:pPr>
            <a:r>
              <a:rPr lang="en-US" dirty="0" smtClean="0">
                <a:ea typeface="ＭＳ Ｐゴシック" panose="020B0600070205080204" pitchFamily="34" charset="-128"/>
              </a:rPr>
              <a:t>         void Swap (</a:t>
            </a:r>
            <a:r>
              <a:rPr lang="en-US" dirty="0" err="1" smtClean="0">
                <a:ea typeface="ＭＳ Ｐゴシック" panose="020B0600070205080204" pitchFamily="34" charset="-128"/>
              </a:rPr>
              <a:t>boolean</a:t>
            </a:r>
            <a:r>
              <a:rPr lang="en-US" dirty="0" smtClean="0">
                <a:ea typeface="ＭＳ Ｐゴシック" panose="020B0600070205080204" pitchFamily="34" charset="-128"/>
              </a:rPr>
              <a:t> *a, </a:t>
            </a:r>
            <a:r>
              <a:rPr lang="en-US" dirty="0" err="1" smtClean="0">
                <a:ea typeface="ＭＳ Ｐゴシック" panose="020B0600070205080204" pitchFamily="34" charset="-128"/>
              </a:rPr>
              <a:t>boolean</a:t>
            </a:r>
            <a:r>
              <a:rPr lang="en-US" dirty="0" smtClean="0">
                <a:ea typeface="ＭＳ Ｐゴシック" panose="020B0600070205080204" pitchFamily="34" charset="-128"/>
              </a:rPr>
              <a:t> *b)</a:t>
            </a:r>
          </a:p>
          <a:p>
            <a:pPr>
              <a:lnSpc>
                <a:spcPct val="90000"/>
              </a:lnSpc>
              <a:buNone/>
              <a:tabLst>
                <a:tab pos="744538" algn="l"/>
                <a:tab pos="1025525" algn="l"/>
                <a:tab pos="1260475" algn="l"/>
              </a:tabLst>
            </a:pPr>
            <a:r>
              <a:rPr lang="en-US" dirty="0" smtClean="0">
                <a:ea typeface="ＭＳ Ｐゴシック" panose="020B0600070205080204" pitchFamily="34" charset="-128"/>
              </a:rPr>
              <a:t>          {</a:t>
            </a:r>
          </a:p>
          <a:p>
            <a:pPr>
              <a:lnSpc>
                <a:spcPct val="90000"/>
              </a:lnSpc>
              <a:buNone/>
              <a:tabLst>
                <a:tab pos="744538" algn="l"/>
                <a:tab pos="1025525" algn="l"/>
                <a:tab pos="1260475" algn="l"/>
              </a:tabLst>
            </a:pPr>
            <a:r>
              <a:rPr lang="en-US" dirty="0" smtClean="0">
                <a:ea typeface="ＭＳ Ｐゴシック" panose="020B0600070205080204" pitchFamily="34" charset="-128"/>
              </a:rPr>
              <a:t>                  </a:t>
            </a:r>
            <a:r>
              <a:rPr lang="en-US" dirty="0" err="1" smtClean="0">
                <a:ea typeface="ＭＳ Ｐゴシック" panose="020B0600070205080204" pitchFamily="34" charset="-128"/>
              </a:rPr>
              <a:t>boolean</a:t>
            </a:r>
            <a:r>
              <a:rPr lang="en-US" dirty="0" smtClean="0">
                <a:ea typeface="ＭＳ Ｐゴシック" panose="020B0600070205080204" pitchFamily="34" charset="-128"/>
              </a:rPr>
              <a:t> temp = *a;</a:t>
            </a:r>
          </a:p>
          <a:p>
            <a:pPr>
              <a:lnSpc>
                <a:spcPct val="90000"/>
              </a:lnSpc>
              <a:buNone/>
              <a:tabLst>
                <a:tab pos="744538" algn="l"/>
                <a:tab pos="1025525" algn="l"/>
                <a:tab pos="1260475" algn="l"/>
              </a:tabLst>
            </a:pPr>
            <a:r>
              <a:rPr lang="en-US" dirty="0" smtClean="0">
                <a:ea typeface="ＭＳ Ｐゴシック" panose="020B0600070205080204" pitchFamily="34" charset="-128"/>
              </a:rPr>
              <a:t>                  *a = *b;</a:t>
            </a:r>
          </a:p>
          <a:p>
            <a:pPr>
              <a:lnSpc>
                <a:spcPct val="90000"/>
              </a:lnSpc>
              <a:buNone/>
              <a:tabLst>
                <a:tab pos="744538" algn="l"/>
                <a:tab pos="1025525" algn="l"/>
                <a:tab pos="1260475" algn="l"/>
              </a:tabLst>
            </a:pPr>
            <a:r>
              <a:rPr lang="en-US" dirty="0" smtClean="0">
                <a:ea typeface="ＭＳ Ｐゴシック" panose="020B0600070205080204" pitchFamily="34" charset="-128"/>
              </a:rPr>
              <a:t>                  *b = temp:</a:t>
            </a:r>
          </a:p>
          <a:p>
            <a:pPr>
              <a:lnSpc>
                <a:spcPct val="90000"/>
              </a:lnSpc>
              <a:buNone/>
              <a:tabLst>
                <a:tab pos="744538" algn="l"/>
                <a:tab pos="1025525" algn="l"/>
                <a:tab pos="1260475" algn="l"/>
              </a:tabLst>
            </a:pPr>
            <a:r>
              <a:rPr lang="en-US" dirty="0" smtClean="0">
                <a:ea typeface="ＭＳ Ｐゴシック" panose="020B0600070205080204" pitchFamily="34" charset="-128"/>
              </a:rPr>
              <a:t>          }</a:t>
            </a:r>
          </a:p>
          <a:p>
            <a:pPr>
              <a:lnSpc>
                <a:spcPct val="90000"/>
              </a:lnSpc>
              <a:buNone/>
              <a:tabLst>
                <a:tab pos="744538" algn="l"/>
                <a:tab pos="1025525" algn="l"/>
                <a:tab pos="1260475" algn="l"/>
              </a:tabLst>
            </a:pPr>
            <a:endParaRPr lang="en-US" dirty="0" smtClean="0">
              <a:solidFill>
                <a:srgbClr val="0000FF"/>
              </a:solidFill>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614149" y="260351"/>
            <a:ext cx="9741114" cy="576263"/>
          </a:xfrm>
        </p:spPr>
        <p:txBody>
          <a:bodyPr/>
          <a:lstStyle/>
          <a:p>
            <a:r>
              <a:rPr lang="en-US" sz="2400" b="1" dirty="0">
                <a:ea typeface="ＭＳ Ｐゴシック" panose="020B0600070205080204" pitchFamily="34" charset="-128"/>
              </a:rPr>
              <a:t>Bounded-waiting Mutual Exclusion with </a:t>
            </a:r>
            <a:r>
              <a:rPr lang="en-US" sz="2400" b="1" dirty="0" err="1">
                <a:ea typeface="ＭＳ Ｐゴシック" panose="020B0600070205080204" pitchFamily="34" charset="-128"/>
              </a:rPr>
              <a:t>TestandSet</a:t>
            </a:r>
            <a:r>
              <a:rPr lang="en-US" sz="2400" b="1" dirty="0">
                <a:ea typeface="ＭＳ Ｐゴシック" panose="020B0600070205080204" pitchFamily="34" charset="-128"/>
              </a:rPr>
              <a:t>()</a:t>
            </a:r>
          </a:p>
        </p:txBody>
      </p:sp>
      <p:sp>
        <p:nvSpPr>
          <p:cNvPr id="47107" name="Content Placeholder 2"/>
          <p:cNvSpPr>
            <a:spLocks noGrp="1"/>
          </p:cNvSpPr>
          <p:nvPr>
            <p:ph idx="1"/>
          </p:nvPr>
        </p:nvSpPr>
        <p:spPr>
          <a:xfrm>
            <a:off x="1103312" y="836614"/>
            <a:ext cx="8946541" cy="5411785"/>
          </a:xfrm>
        </p:spPr>
        <p:txBody>
          <a:bodyPr>
            <a:normAutofit/>
          </a:bodyPr>
          <a:lstStyle/>
          <a:p>
            <a:pPr>
              <a:buFont typeface="Monotype Sorts" charset="2"/>
              <a:buNone/>
            </a:pPr>
            <a:r>
              <a:rPr lang="en-US" sz="1400" dirty="0">
                <a:solidFill>
                  <a:srgbClr val="0000FF"/>
                </a:solidFill>
                <a:ea typeface="ＭＳ Ｐゴシック" panose="020B0600070205080204" pitchFamily="34" charset="-128"/>
              </a:rPr>
              <a:t>	</a:t>
            </a:r>
            <a:r>
              <a:rPr lang="en-US" sz="1400" dirty="0">
                <a:ea typeface="ＭＳ Ｐゴシック" panose="020B0600070205080204" pitchFamily="34" charset="-128"/>
              </a:rPr>
              <a:t>do { </a:t>
            </a:r>
          </a:p>
          <a:p>
            <a:pPr>
              <a:buFont typeface="Monotype Sorts" charset="2"/>
              <a:buNone/>
            </a:pPr>
            <a:r>
              <a:rPr lang="en-US" sz="1400" dirty="0">
                <a:ea typeface="ＭＳ Ｐゴシック" panose="020B0600070205080204" pitchFamily="34" charset="-128"/>
              </a:rPr>
              <a:t>		waiting[</a:t>
            </a:r>
            <a:r>
              <a:rPr lang="en-US" sz="1400" dirty="0" err="1">
                <a:ea typeface="ＭＳ Ｐゴシック" panose="020B0600070205080204" pitchFamily="34" charset="-128"/>
              </a:rPr>
              <a:t>i</a:t>
            </a:r>
            <a:r>
              <a:rPr lang="en-US" sz="1400" dirty="0">
                <a:ea typeface="ＭＳ Ｐゴシック" panose="020B0600070205080204" pitchFamily="34" charset="-128"/>
              </a:rPr>
              <a:t>] = TRUE; </a:t>
            </a:r>
          </a:p>
          <a:p>
            <a:pPr>
              <a:buFont typeface="Monotype Sorts" charset="2"/>
              <a:buNone/>
            </a:pPr>
            <a:r>
              <a:rPr lang="en-US" sz="1400" dirty="0">
                <a:ea typeface="ＭＳ Ｐゴシック" panose="020B0600070205080204" pitchFamily="34" charset="-128"/>
              </a:rPr>
              <a:t>		key = TRUE; </a:t>
            </a:r>
          </a:p>
          <a:p>
            <a:pPr>
              <a:buFont typeface="Monotype Sorts" charset="2"/>
              <a:buNone/>
            </a:pPr>
            <a:r>
              <a:rPr lang="en-US" sz="1400" dirty="0">
                <a:ea typeface="ＭＳ Ｐゴシック" panose="020B0600070205080204" pitchFamily="34" charset="-128"/>
              </a:rPr>
              <a:t>		while (waiting[</a:t>
            </a:r>
            <a:r>
              <a:rPr lang="en-US" sz="1400" dirty="0" err="1">
                <a:ea typeface="ＭＳ Ｐゴシック" panose="020B0600070205080204" pitchFamily="34" charset="-128"/>
              </a:rPr>
              <a:t>i</a:t>
            </a:r>
            <a:r>
              <a:rPr lang="en-US" sz="1400" dirty="0">
                <a:ea typeface="ＭＳ Ｐゴシック" panose="020B0600070205080204" pitchFamily="34" charset="-128"/>
              </a:rPr>
              <a:t>] &amp;&amp; key) </a:t>
            </a:r>
          </a:p>
          <a:p>
            <a:pPr>
              <a:buFont typeface="Monotype Sorts" charset="2"/>
              <a:buNone/>
            </a:pPr>
            <a:r>
              <a:rPr lang="en-US" sz="1400" dirty="0">
                <a:ea typeface="ＭＳ Ｐゴシック" panose="020B0600070205080204" pitchFamily="34" charset="-128"/>
              </a:rPr>
              <a:t>			key = </a:t>
            </a:r>
            <a:r>
              <a:rPr lang="en-US" sz="1400" dirty="0" err="1">
                <a:ea typeface="ＭＳ Ｐゴシック" panose="020B0600070205080204" pitchFamily="34" charset="-128"/>
              </a:rPr>
              <a:t>TestAndSet</a:t>
            </a:r>
            <a:r>
              <a:rPr lang="en-US" sz="1400" dirty="0">
                <a:ea typeface="ＭＳ Ｐゴシック" panose="020B0600070205080204" pitchFamily="34" charset="-128"/>
              </a:rPr>
              <a:t>(&amp;lock); </a:t>
            </a:r>
          </a:p>
          <a:p>
            <a:pPr>
              <a:buFont typeface="Monotype Sorts" charset="2"/>
              <a:buNone/>
            </a:pPr>
            <a:r>
              <a:rPr lang="en-US" sz="1400" dirty="0">
                <a:ea typeface="ＭＳ Ｐゴシック" panose="020B0600070205080204" pitchFamily="34" charset="-128"/>
              </a:rPr>
              <a:t>		waiting[</a:t>
            </a:r>
            <a:r>
              <a:rPr lang="en-US" sz="1400" dirty="0" err="1">
                <a:ea typeface="ＭＳ Ｐゴシック" panose="020B0600070205080204" pitchFamily="34" charset="-128"/>
              </a:rPr>
              <a:t>i</a:t>
            </a:r>
            <a:r>
              <a:rPr lang="en-US" sz="1400" dirty="0">
                <a:ea typeface="ＭＳ Ｐゴシック" panose="020B0600070205080204" pitchFamily="34" charset="-128"/>
              </a:rPr>
              <a:t>] = FALSE; </a:t>
            </a:r>
          </a:p>
          <a:p>
            <a:pPr>
              <a:buFont typeface="Monotype Sorts" charset="2"/>
              <a:buNone/>
            </a:pPr>
            <a:r>
              <a:rPr lang="en-US" sz="1400" dirty="0">
                <a:ea typeface="ＭＳ Ｐゴシック" panose="020B0600070205080204" pitchFamily="34" charset="-128"/>
              </a:rPr>
              <a:t>			// critical section </a:t>
            </a:r>
          </a:p>
          <a:p>
            <a:pPr>
              <a:buFont typeface="Monotype Sorts" charset="2"/>
              <a:buNone/>
            </a:pPr>
            <a:r>
              <a:rPr lang="en-US" sz="1400" dirty="0">
                <a:ea typeface="ＭＳ Ｐゴシック" panose="020B0600070205080204" pitchFamily="34" charset="-128"/>
              </a:rPr>
              <a:t>		j = (</a:t>
            </a:r>
            <a:r>
              <a:rPr lang="en-US" sz="1400" dirty="0" err="1">
                <a:ea typeface="ＭＳ Ｐゴシック" panose="020B0600070205080204" pitchFamily="34" charset="-128"/>
              </a:rPr>
              <a:t>i</a:t>
            </a:r>
            <a:r>
              <a:rPr lang="en-US" sz="1400" dirty="0">
                <a:ea typeface="ＭＳ Ｐゴシック" panose="020B0600070205080204" pitchFamily="34" charset="-128"/>
              </a:rPr>
              <a:t> + 1) % n; </a:t>
            </a:r>
          </a:p>
          <a:p>
            <a:pPr>
              <a:buFont typeface="Monotype Sorts" charset="2"/>
              <a:buNone/>
            </a:pPr>
            <a:r>
              <a:rPr lang="en-US" sz="1400" dirty="0">
                <a:ea typeface="ＭＳ Ｐゴシック" panose="020B0600070205080204" pitchFamily="34" charset="-128"/>
              </a:rPr>
              <a:t>		while ((j != </a:t>
            </a:r>
            <a:r>
              <a:rPr lang="en-US" sz="1400" dirty="0" err="1">
                <a:ea typeface="ＭＳ Ｐゴシック" panose="020B0600070205080204" pitchFamily="34" charset="-128"/>
              </a:rPr>
              <a:t>i</a:t>
            </a:r>
            <a:r>
              <a:rPr lang="en-US" sz="1400" dirty="0">
                <a:ea typeface="ＭＳ Ｐゴシック" panose="020B0600070205080204" pitchFamily="34" charset="-128"/>
              </a:rPr>
              <a:t>) &amp;&amp; !waiting[j]) </a:t>
            </a:r>
          </a:p>
          <a:p>
            <a:pPr>
              <a:buFont typeface="Monotype Sorts" charset="2"/>
              <a:buNone/>
            </a:pPr>
            <a:r>
              <a:rPr lang="en-US" sz="1400" dirty="0">
                <a:ea typeface="ＭＳ Ｐゴシック" panose="020B0600070205080204" pitchFamily="34" charset="-128"/>
              </a:rPr>
              <a:t>			j = (j + 1) % n; </a:t>
            </a:r>
          </a:p>
          <a:p>
            <a:pPr>
              <a:buFont typeface="Monotype Sorts" charset="2"/>
              <a:buNone/>
            </a:pPr>
            <a:r>
              <a:rPr lang="en-US" sz="1400" dirty="0">
                <a:ea typeface="ＭＳ Ｐゴシック" panose="020B0600070205080204" pitchFamily="34" charset="-128"/>
              </a:rPr>
              <a:t>		if (j == </a:t>
            </a:r>
            <a:r>
              <a:rPr lang="en-US" sz="1400" dirty="0" err="1">
                <a:ea typeface="ＭＳ Ｐゴシック" panose="020B0600070205080204" pitchFamily="34" charset="-128"/>
              </a:rPr>
              <a:t>i</a:t>
            </a:r>
            <a:r>
              <a:rPr lang="en-US" sz="1400" dirty="0">
                <a:ea typeface="ＭＳ Ｐゴシック" panose="020B0600070205080204" pitchFamily="34" charset="-128"/>
              </a:rPr>
              <a:t>) </a:t>
            </a:r>
          </a:p>
          <a:p>
            <a:pPr>
              <a:buFont typeface="Monotype Sorts" charset="2"/>
              <a:buNone/>
            </a:pPr>
            <a:r>
              <a:rPr lang="en-US" sz="1400" dirty="0">
                <a:ea typeface="ＭＳ Ｐゴシック" panose="020B0600070205080204" pitchFamily="34" charset="-128"/>
              </a:rPr>
              <a:t>			lock = FALSE; </a:t>
            </a:r>
          </a:p>
          <a:p>
            <a:pPr>
              <a:buFont typeface="Monotype Sorts" charset="2"/>
              <a:buNone/>
            </a:pPr>
            <a:r>
              <a:rPr lang="en-US" sz="1400" dirty="0">
                <a:ea typeface="ＭＳ Ｐゴシック" panose="020B0600070205080204" pitchFamily="34" charset="-128"/>
              </a:rPr>
              <a:t>		else </a:t>
            </a:r>
          </a:p>
          <a:p>
            <a:pPr>
              <a:buFont typeface="Monotype Sorts" charset="2"/>
              <a:buNone/>
            </a:pPr>
            <a:r>
              <a:rPr lang="en-US" sz="1400" dirty="0">
                <a:ea typeface="ＭＳ Ｐゴシック" panose="020B0600070205080204" pitchFamily="34" charset="-128"/>
              </a:rPr>
              <a:t>			waiting[j] = FALSE; </a:t>
            </a:r>
          </a:p>
          <a:p>
            <a:pPr>
              <a:buFont typeface="Monotype Sorts" charset="2"/>
              <a:buNone/>
            </a:pPr>
            <a:r>
              <a:rPr lang="en-US" sz="1400" dirty="0">
                <a:ea typeface="ＭＳ Ｐゴシック" panose="020B0600070205080204" pitchFamily="34" charset="-128"/>
              </a:rPr>
              <a:t>			// remainder section </a:t>
            </a:r>
          </a:p>
          <a:p>
            <a:pPr>
              <a:buFont typeface="Monotype Sorts" charset="2"/>
              <a:buNone/>
            </a:pPr>
            <a:r>
              <a:rPr lang="en-US" sz="1400" dirty="0">
                <a:ea typeface="ＭＳ Ｐゴシック" panose="020B0600070205080204" pitchFamily="34" charset="-128"/>
              </a:rPr>
              <a:t>	} while (TRUE);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646111" y="452718"/>
            <a:ext cx="9404723" cy="826808"/>
          </a:xfrm>
        </p:spPr>
        <p:txBody>
          <a:bodyPr/>
          <a:lstStyle/>
          <a:p>
            <a:pPr eaLnBrk="1" hangingPunct="1"/>
            <a:r>
              <a:rPr lang="en-US" b="1" dirty="0" smtClean="0">
                <a:ea typeface="ＭＳ Ｐゴシック" panose="020B0600070205080204" pitchFamily="34" charset="-128"/>
              </a:rPr>
              <a:t>Semaphore</a:t>
            </a:r>
          </a:p>
        </p:txBody>
      </p:sp>
      <p:sp>
        <p:nvSpPr>
          <p:cNvPr id="48131" name="Rectangle 3"/>
          <p:cNvSpPr>
            <a:spLocks noGrp="1" noChangeArrowheads="1"/>
          </p:cNvSpPr>
          <p:nvPr>
            <p:ph type="body" idx="1"/>
          </p:nvPr>
        </p:nvSpPr>
        <p:spPr>
          <a:xfrm>
            <a:off x="646111" y="1279526"/>
            <a:ext cx="9626603" cy="5254625"/>
          </a:xfrm>
        </p:spPr>
        <p:txBody>
          <a:bodyPr/>
          <a:lstStyle/>
          <a:p>
            <a:pPr>
              <a:lnSpc>
                <a:spcPct val="90000"/>
              </a:lnSpc>
            </a:pPr>
            <a:r>
              <a:rPr lang="en-US" sz="1600" dirty="0">
                <a:ea typeface="ＭＳ Ｐゴシック" panose="020B0600070205080204" pitchFamily="34" charset="-128"/>
              </a:rPr>
              <a:t>Synchronization tool that does not require busy waiting </a:t>
            </a:r>
            <a:endParaRPr lang="en-US" sz="1600" i="1" dirty="0">
              <a:ea typeface="ＭＳ Ｐゴシック" panose="020B0600070205080204" pitchFamily="34" charset="-128"/>
            </a:endParaRPr>
          </a:p>
          <a:p>
            <a:pPr>
              <a:lnSpc>
                <a:spcPct val="90000"/>
              </a:lnSpc>
            </a:pPr>
            <a:r>
              <a:rPr lang="en-US" sz="1600" dirty="0">
                <a:ea typeface="ＭＳ Ｐゴシック" panose="020B0600070205080204" pitchFamily="34" charset="-128"/>
              </a:rPr>
              <a:t>Semaphore </a:t>
            </a:r>
            <a:r>
              <a:rPr lang="en-US" sz="1600" i="1" dirty="0">
                <a:ea typeface="ＭＳ Ｐゴシック" panose="020B0600070205080204" pitchFamily="34" charset="-128"/>
              </a:rPr>
              <a:t>S</a:t>
            </a:r>
            <a:r>
              <a:rPr lang="en-US" sz="1600" dirty="0">
                <a:ea typeface="ＭＳ Ｐゴシック" panose="020B0600070205080204" pitchFamily="34" charset="-128"/>
              </a:rPr>
              <a:t> – integer variable</a:t>
            </a:r>
          </a:p>
          <a:p>
            <a:pPr>
              <a:lnSpc>
                <a:spcPct val="90000"/>
              </a:lnSpc>
            </a:pPr>
            <a:r>
              <a:rPr lang="en-US" sz="1600" dirty="0">
                <a:ea typeface="ＭＳ Ｐゴシック" panose="020B0600070205080204" pitchFamily="34" charset="-128"/>
              </a:rPr>
              <a:t>Two standard operations modify S: wait() and signal()</a:t>
            </a:r>
          </a:p>
          <a:p>
            <a:pPr lvl="1">
              <a:lnSpc>
                <a:spcPct val="90000"/>
              </a:lnSpc>
            </a:pPr>
            <a:r>
              <a:rPr lang="en-US" dirty="0" smtClean="0">
                <a:ea typeface="ＭＳ Ｐゴシック" panose="020B0600070205080204" pitchFamily="34" charset="-128"/>
              </a:rPr>
              <a:t>Originally called P() and</a:t>
            </a:r>
            <a:r>
              <a:rPr lang="en-US" i="1" dirty="0" smtClean="0">
                <a:ea typeface="ＭＳ Ｐゴシック" panose="020B0600070205080204" pitchFamily="34" charset="-128"/>
              </a:rPr>
              <a:t> </a:t>
            </a:r>
            <a:r>
              <a:rPr lang="en-US" dirty="0" smtClean="0">
                <a:ea typeface="ＭＳ Ｐゴシック" panose="020B0600070205080204" pitchFamily="34" charset="-128"/>
              </a:rPr>
              <a:t>V()</a:t>
            </a:r>
          </a:p>
          <a:p>
            <a:pPr>
              <a:lnSpc>
                <a:spcPct val="90000"/>
              </a:lnSpc>
            </a:pPr>
            <a:r>
              <a:rPr lang="en-US" sz="1600" dirty="0">
                <a:ea typeface="ＭＳ Ｐゴシック" panose="020B0600070205080204" pitchFamily="34" charset="-128"/>
              </a:rPr>
              <a:t>Less complicated</a:t>
            </a:r>
          </a:p>
          <a:p>
            <a:pPr>
              <a:lnSpc>
                <a:spcPct val="90000"/>
              </a:lnSpc>
            </a:pPr>
            <a:r>
              <a:rPr lang="en-US" sz="1600" dirty="0">
                <a:ea typeface="ＭＳ Ｐゴシック" panose="020B0600070205080204" pitchFamily="34" charset="-128"/>
              </a:rPr>
              <a:t>Can only be accessed via two indivisible (atomic) operations</a:t>
            </a:r>
          </a:p>
          <a:p>
            <a:pPr lvl="1">
              <a:lnSpc>
                <a:spcPct val="90000"/>
              </a:lnSpc>
            </a:pPr>
            <a:r>
              <a:rPr lang="en-US" dirty="0" smtClean="0">
                <a:ea typeface="ＭＳ Ｐゴシック" panose="020B0600070205080204" pitchFamily="34" charset="-128"/>
                <a:sym typeface="Symbol" panose="05050102010706020507" pitchFamily="18" charset="2"/>
              </a:rPr>
              <a:t>wait (S) { </a:t>
            </a:r>
          </a:p>
          <a:p>
            <a:pPr lvl="1">
              <a:lnSpc>
                <a:spcPct val="90000"/>
              </a:lnSpc>
              <a:buFont typeface="Monotype Sorts" charset="2"/>
              <a:buNone/>
            </a:pPr>
            <a:r>
              <a:rPr lang="en-US" dirty="0" smtClean="0">
                <a:ea typeface="ＭＳ Ｐゴシック" panose="020B0600070205080204" pitchFamily="34" charset="-128"/>
                <a:sym typeface="Symbol" panose="05050102010706020507" pitchFamily="18" charset="2"/>
              </a:rPr>
              <a:t>           while S &lt;= 0</a:t>
            </a:r>
          </a:p>
          <a:p>
            <a:pPr lvl="1">
              <a:lnSpc>
                <a:spcPct val="90000"/>
              </a:lnSpc>
              <a:buFont typeface="Monotype Sorts" charset="2"/>
              <a:buNone/>
            </a:pPr>
            <a:r>
              <a:rPr lang="en-US" dirty="0" smtClean="0">
                <a:ea typeface="ＭＳ Ｐゴシック" panose="020B0600070205080204" pitchFamily="34" charset="-128"/>
                <a:sym typeface="Symbol" panose="05050102010706020507" pitchFamily="18" charset="2"/>
              </a:rPr>
              <a:t>		          ; // no-op</a:t>
            </a:r>
          </a:p>
          <a:p>
            <a:pPr lvl="1">
              <a:lnSpc>
                <a:spcPct val="90000"/>
              </a:lnSpc>
              <a:buFont typeface="Monotype Sorts" charset="2"/>
              <a:buNone/>
            </a:pPr>
            <a:r>
              <a:rPr lang="en-US" dirty="0" smtClean="0">
                <a:ea typeface="ＭＳ Ｐゴシック" panose="020B0600070205080204" pitchFamily="34" charset="-128"/>
                <a:sym typeface="Symbol" panose="05050102010706020507" pitchFamily="18" charset="2"/>
              </a:rPr>
              <a:t>              S--;</a:t>
            </a:r>
          </a:p>
          <a:p>
            <a:pPr lvl="1">
              <a:lnSpc>
                <a:spcPct val="90000"/>
              </a:lnSpc>
              <a:buFont typeface="Monotype Sorts" charset="2"/>
              <a:buNone/>
            </a:pPr>
            <a:r>
              <a:rPr lang="en-US" dirty="0" smtClean="0">
                <a:ea typeface="ＭＳ Ｐゴシック" panose="020B0600070205080204" pitchFamily="34" charset="-128"/>
                <a:sym typeface="Symbol" panose="05050102010706020507" pitchFamily="18" charset="2"/>
              </a:rPr>
              <a:t>      }</a:t>
            </a:r>
          </a:p>
          <a:p>
            <a:pPr lvl="1">
              <a:lnSpc>
                <a:spcPct val="90000"/>
              </a:lnSpc>
            </a:pPr>
            <a:r>
              <a:rPr lang="en-US" dirty="0" smtClean="0">
                <a:ea typeface="ＭＳ Ｐゴシック" panose="020B0600070205080204" pitchFamily="34" charset="-128"/>
                <a:sym typeface="Symbol" panose="05050102010706020507" pitchFamily="18" charset="2"/>
              </a:rPr>
              <a:t>signal (S) { </a:t>
            </a:r>
          </a:p>
          <a:p>
            <a:pPr lvl="1">
              <a:lnSpc>
                <a:spcPct val="90000"/>
              </a:lnSpc>
              <a:buFont typeface="Monotype Sorts" charset="2"/>
              <a:buNone/>
            </a:pPr>
            <a:r>
              <a:rPr lang="en-US" dirty="0" smtClean="0">
                <a:ea typeface="ＭＳ Ｐゴシック" panose="020B0600070205080204" pitchFamily="34" charset="-128"/>
                <a:sym typeface="Symbol" panose="05050102010706020507" pitchFamily="18" charset="2"/>
              </a:rPr>
              <a:t>        S++;</a:t>
            </a:r>
          </a:p>
          <a:p>
            <a:pPr lvl="1">
              <a:lnSpc>
                <a:spcPct val="90000"/>
              </a:lnSpc>
              <a:buFont typeface="Monotype Sorts" charset="2"/>
              <a:buNone/>
            </a:pPr>
            <a:r>
              <a:rPr lang="en-US" dirty="0" smtClean="0">
                <a:ea typeface="ＭＳ Ｐゴシック" panose="020B0600070205080204" pitchFamily="34" charset="-128"/>
                <a:sym typeface="Symbol" panose="05050102010706020507" pitchFamily="18" charset="2"/>
              </a:rPr>
              <a:t>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504967" y="309563"/>
            <a:ext cx="10163033" cy="457200"/>
          </a:xfrm>
        </p:spPr>
        <p:txBody>
          <a:bodyPr/>
          <a:lstStyle/>
          <a:p>
            <a:pPr eaLnBrk="1" hangingPunct="1"/>
            <a:r>
              <a:rPr lang="en-US" sz="2800" b="1" dirty="0">
                <a:ea typeface="ＭＳ Ｐゴシック" panose="020B0600070205080204" pitchFamily="34" charset="-128"/>
              </a:rPr>
              <a:t>Semaphore as General Synchronization Tool</a:t>
            </a:r>
          </a:p>
        </p:txBody>
      </p:sp>
      <p:sp>
        <p:nvSpPr>
          <p:cNvPr id="50179" name="Rectangle 3"/>
          <p:cNvSpPr>
            <a:spLocks noGrp="1" noChangeArrowheads="1"/>
          </p:cNvSpPr>
          <p:nvPr>
            <p:ph type="body" idx="1"/>
          </p:nvPr>
        </p:nvSpPr>
        <p:spPr>
          <a:xfrm>
            <a:off x="504968" y="1105468"/>
            <a:ext cx="9544886" cy="5142931"/>
          </a:xfrm>
        </p:spPr>
        <p:txBody>
          <a:bodyPr>
            <a:normAutofit/>
          </a:bodyPr>
          <a:lstStyle/>
          <a:p>
            <a:pPr>
              <a:tabLst>
                <a:tab pos="2005013" algn="ctr"/>
                <a:tab pos="4518025" algn="ctr"/>
              </a:tabLst>
            </a:pPr>
            <a:r>
              <a:rPr lang="en-US" sz="1600" dirty="0">
                <a:ea typeface="ＭＳ Ｐゴシック" panose="020B0600070205080204" pitchFamily="34" charset="-128"/>
              </a:rPr>
              <a:t>Counting semaphore – integer value can range over an unrestricted domain</a:t>
            </a:r>
          </a:p>
          <a:p>
            <a:pPr>
              <a:tabLst>
                <a:tab pos="2005013" algn="ctr"/>
                <a:tab pos="4518025" algn="ctr"/>
              </a:tabLst>
            </a:pPr>
            <a:r>
              <a:rPr lang="en-US" sz="1600" dirty="0">
                <a:ea typeface="ＭＳ Ｐゴシック" panose="020B0600070205080204" pitchFamily="34" charset="-128"/>
              </a:rPr>
              <a:t>Binary semaphore – integer value can range only between 0 </a:t>
            </a:r>
            <a:br>
              <a:rPr lang="en-US" sz="1600" dirty="0">
                <a:ea typeface="ＭＳ Ｐゴシック" panose="020B0600070205080204" pitchFamily="34" charset="-128"/>
              </a:rPr>
            </a:br>
            <a:r>
              <a:rPr lang="en-US" sz="1600" dirty="0">
                <a:ea typeface="ＭＳ Ｐゴシック" panose="020B0600070205080204" pitchFamily="34" charset="-128"/>
              </a:rPr>
              <a:t>and 1; can be simpler to implement</a:t>
            </a:r>
          </a:p>
          <a:p>
            <a:pPr lvl="1">
              <a:tabLst>
                <a:tab pos="2005013" algn="ctr"/>
                <a:tab pos="4518025" algn="ctr"/>
              </a:tabLst>
            </a:pPr>
            <a:r>
              <a:rPr lang="en-US" sz="1600" dirty="0">
                <a:ea typeface="ＭＳ Ｐゴシック" panose="020B0600070205080204" pitchFamily="34" charset="-128"/>
                <a:sym typeface="MT Extra" panose="05050102010205020202" pitchFamily="18" charset="2"/>
              </a:rPr>
              <a:t>Also known as </a:t>
            </a:r>
            <a:r>
              <a:rPr lang="en-US" sz="1600" dirty="0" err="1">
                <a:ea typeface="ＭＳ Ｐゴシック" panose="020B0600070205080204" pitchFamily="34" charset="-128"/>
                <a:sym typeface="MT Extra" panose="05050102010205020202" pitchFamily="18" charset="2"/>
              </a:rPr>
              <a:t>mutex</a:t>
            </a:r>
            <a:r>
              <a:rPr lang="en-US" sz="1600" dirty="0">
                <a:ea typeface="ＭＳ Ｐゴシック" panose="020B0600070205080204" pitchFamily="34" charset="-128"/>
                <a:sym typeface="MT Extra" panose="05050102010205020202" pitchFamily="18" charset="2"/>
              </a:rPr>
              <a:t> locks</a:t>
            </a:r>
            <a:endParaRPr lang="en-US" sz="1600" dirty="0">
              <a:ea typeface="ＭＳ Ｐゴシック" panose="020B0600070205080204" pitchFamily="34" charset="-128"/>
            </a:endParaRPr>
          </a:p>
          <a:p>
            <a:pPr>
              <a:tabLst>
                <a:tab pos="2005013" algn="ctr"/>
                <a:tab pos="4518025" algn="ctr"/>
              </a:tabLst>
            </a:pPr>
            <a:r>
              <a:rPr lang="en-US" sz="1600" dirty="0">
                <a:ea typeface="ＭＳ Ｐゴシック" panose="020B0600070205080204" pitchFamily="34" charset="-128"/>
              </a:rPr>
              <a:t>Can implement a counting semaphore S as a binary semaphore</a:t>
            </a:r>
          </a:p>
          <a:p>
            <a:pPr>
              <a:tabLst>
                <a:tab pos="2005013" algn="ctr"/>
                <a:tab pos="4518025" algn="ctr"/>
              </a:tabLst>
            </a:pPr>
            <a:r>
              <a:rPr lang="en-US" sz="1600" dirty="0">
                <a:ea typeface="ＭＳ Ｐゴシック" panose="020B0600070205080204" pitchFamily="34" charset="-128"/>
                <a:sym typeface="MT Extra" panose="05050102010205020202" pitchFamily="18" charset="2"/>
              </a:rPr>
              <a:t>Provides mutual exclusion</a:t>
            </a:r>
          </a:p>
          <a:p>
            <a:pPr lvl="1">
              <a:buNone/>
              <a:tabLst>
                <a:tab pos="2005013" algn="ctr"/>
                <a:tab pos="4518025" algn="ctr"/>
              </a:tabLst>
            </a:pPr>
            <a:r>
              <a:rPr lang="en-US" sz="1600" dirty="0">
                <a:ea typeface="ＭＳ Ｐゴシック" panose="020B0600070205080204" pitchFamily="34" charset="-128"/>
                <a:sym typeface="MT Extra" panose="05050102010205020202" pitchFamily="18" charset="2"/>
              </a:rPr>
              <a:t>Semaphore </a:t>
            </a:r>
            <a:r>
              <a:rPr lang="en-US" sz="1600" dirty="0" err="1">
                <a:ea typeface="ＭＳ Ｐゴシック" panose="020B0600070205080204" pitchFamily="34" charset="-128"/>
                <a:sym typeface="MT Extra" panose="05050102010205020202" pitchFamily="18" charset="2"/>
              </a:rPr>
              <a:t>mutex</a:t>
            </a:r>
            <a:r>
              <a:rPr lang="en-US" sz="1600" dirty="0">
                <a:ea typeface="ＭＳ Ｐゴシック" panose="020B0600070205080204" pitchFamily="34" charset="-128"/>
                <a:sym typeface="MT Extra" panose="05050102010205020202" pitchFamily="18" charset="2"/>
              </a:rPr>
              <a:t>;    //  initialized to 1</a:t>
            </a:r>
          </a:p>
          <a:p>
            <a:pPr lvl="1">
              <a:buNone/>
              <a:tabLst>
                <a:tab pos="2005013" algn="ctr"/>
                <a:tab pos="4518025" algn="ctr"/>
              </a:tabLst>
            </a:pPr>
            <a:r>
              <a:rPr lang="en-US" sz="1600" dirty="0">
                <a:ea typeface="ＭＳ Ｐゴシック" panose="020B0600070205080204" pitchFamily="34" charset="-128"/>
                <a:sym typeface="MT Extra" panose="05050102010205020202" pitchFamily="18" charset="2"/>
              </a:rPr>
              <a:t>do {</a:t>
            </a:r>
          </a:p>
          <a:p>
            <a:pPr lvl="1">
              <a:buNone/>
              <a:tabLst>
                <a:tab pos="2005013" algn="ctr"/>
                <a:tab pos="4518025" algn="ctr"/>
              </a:tabLst>
            </a:pPr>
            <a:r>
              <a:rPr lang="en-US" sz="1600" dirty="0">
                <a:ea typeface="ＭＳ Ｐゴシック" panose="020B0600070205080204" pitchFamily="34" charset="-128"/>
                <a:sym typeface="MT Extra" panose="05050102010205020202" pitchFamily="18" charset="2"/>
              </a:rPr>
              <a:t>	wait (</a:t>
            </a:r>
            <a:r>
              <a:rPr lang="en-US" sz="1600" dirty="0" err="1">
                <a:ea typeface="ＭＳ Ｐゴシック" panose="020B0600070205080204" pitchFamily="34" charset="-128"/>
                <a:sym typeface="MT Extra" panose="05050102010205020202" pitchFamily="18" charset="2"/>
              </a:rPr>
              <a:t>mutex</a:t>
            </a:r>
            <a:r>
              <a:rPr lang="en-US" sz="1600" dirty="0">
                <a:ea typeface="ＭＳ Ｐゴシック" panose="020B0600070205080204" pitchFamily="34" charset="-128"/>
                <a:sym typeface="MT Extra" panose="05050102010205020202" pitchFamily="18" charset="2"/>
              </a:rPr>
              <a:t>);</a:t>
            </a:r>
          </a:p>
          <a:p>
            <a:pPr lvl="1">
              <a:buNone/>
              <a:tabLst>
                <a:tab pos="2005013" algn="ctr"/>
                <a:tab pos="4518025" algn="ctr"/>
              </a:tabLst>
            </a:pPr>
            <a:r>
              <a:rPr lang="en-US" sz="1600" dirty="0">
                <a:ea typeface="ＭＳ Ｐゴシック" panose="020B0600070205080204" pitchFamily="34" charset="-128"/>
                <a:sym typeface="MT Extra" panose="05050102010205020202" pitchFamily="18" charset="2"/>
              </a:rPr>
              <a:t>         // Critical Section</a:t>
            </a:r>
          </a:p>
          <a:p>
            <a:pPr lvl="1">
              <a:buNone/>
              <a:tabLst>
                <a:tab pos="2005013" algn="ctr"/>
                <a:tab pos="4518025" algn="ctr"/>
              </a:tabLst>
            </a:pPr>
            <a:r>
              <a:rPr lang="en-US" sz="1600" dirty="0">
                <a:ea typeface="ＭＳ Ｐゴシック" panose="020B0600070205080204" pitchFamily="34" charset="-128"/>
                <a:sym typeface="MT Extra" panose="05050102010205020202" pitchFamily="18" charset="2"/>
              </a:rPr>
              <a:t>     signal (</a:t>
            </a:r>
            <a:r>
              <a:rPr lang="en-US" sz="1600" dirty="0" err="1">
                <a:ea typeface="ＭＳ Ｐゴシック" panose="020B0600070205080204" pitchFamily="34" charset="-128"/>
                <a:sym typeface="MT Extra" panose="05050102010205020202" pitchFamily="18" charset="2"/>
              </a:rPr>
              <a:t>mutex</a:t>
            </a:r>
            <a:r>
              <a:rPr lang="en-US" sz="1600" dirty="0">
                <a:ea typeface="ＭＳ Ｐゴシック" panose="020B0600070205080204" pitchFamily="34" charset="-128"/>
                <a:sym typeface="MT Extra" panose="05050102010205020202" pitchFamily="18" charset="2"/>
              </a:rPr>
              <a:t>);</a:t>
            </a:r>
          </a:p>
          <a:p>
            <a:pPr lvl="1">
              <a:buNone/>
              <a:tabLst>
                <a:tab pos="2005013" algn="ctr"/>
                <a:tab pos="4518025" algn="ctr"/>
              </a:tabLst>
            </a:pPr>
            <a:r>
              <a:rPr lang="en-US" sz="1600" dirty="0">
                <a:ea typeface="ＭＳ Ｐゴシック" panose="020B0600070205080204" pitchFamily="34" charset="-128"/>
                <a:sym typeface="MT Extra" panose="05050102010205020202" pitchFamily="18" charset="2"/>
              </a:rPr>
              <a:t>		// remainder section</a:t>
            </a:r>
          </a:p>
          <a:p>
            <a:pPr lvl="1">
              <a:buNone/>
              <a:tabLst>
                <a:tab pos="2005013" algn="ctr"/>
                <a:tab pos="4518025" algn="ctr"/>
              </a:tabLst>
            </a:pPr>
            <a:r>
              <a:rPr lang="en-US" sz="1600" dirty="0">
                <a:ea typeface="ＭＳ Ｐゴシック" panose="020B0600070205080204" pitchFamily="34" charset="-128"/>
                <a:sym typeface="MT Extra" panose="05050102010205020202" pitchFamily="18" charset="2"/>
              </a:rPr>
              <a:t>} while (TRUE);</a:t>
            </a:r>
          </a:p>
          <a:p>
            <a:pPr>
              <a:buNone/>
              <a:tabLst>
                <a:tab pos="2005013" algn="ctr"/>
                <a:tab pos="4518025" algn="ctr"/>
              </a:tabLst>
            </a:pPr>
            <a:endParaRPr lang="en-US" sz="1400" dirty="0">
              <a:ea typeface="ＭＳ Ｐゴシック" panose="020B0600070205080204" pitchFamily="34" charset="-128"/>
              <a:sym typeface="MT Extra" panose="05050102010205020202" pitchFamily="18" charset="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46111" y="204716"/>
            <a:ext cx="9404723" cy="1028773"/>
          </a:xfrm>
        </p:spPr>
        <p:txBody>
          <a:bodyPr/>
          <a:lstStyle/>
          <a:p>
            <a:pPr eaLnBrk="1" hangingPunct="1"/>
            <a:r>
              <a:rPr lang="en-US" b="1" dirty="0" smtClean="0">
                <a:ea typeface="ＭＳ Ｐゴシック" panose="020B0600070205080204" pitchFamily="34" charset="-128"/>
              </a:rPr>
              <a:t>Semaphore Implementation</a:t>
            </a:r>
          </a:p>
        </p:txBody>
      </p:sp>
      <p:sp>
        <p:nvSpPr>
          <p:cNvPr id="52227" name="Rectangle 3"/>
          <p:cNvSpPr>
            <a:spLocks noGrp="1" noChangeArrowheads="1"/>
          </p:cNvSpPr>
          <p:nvPr>
            <p:ph type="body" idx="1"/>
          </p:nvPr>
        </p:nvSpPr>
        <p:spPr>
          <a:xfrm>
            <a:off x="646111" y="1233489"/>
            <a:ext cx="11377567" cy="4530725"/>
          </a:xfrm>
        </p:spPr>
        <p:txBody>
          <a:bodyPr/>
          <a:lstStyle/>
          <a:p>
            <a:r>
              <a:rPr lang="en-US" dirty="0" smtClean="0">
                <a:ea typeface="ＭＳ Ｐゴシック" panose="020B0600070205080204" pitchFamily="34" charset="-128"/>
              </a:rPr>
              <a:t>Must guarantee that no two processes can execute wait () and signal () on the same semaphore at the same time</a:t>
            </a:r>
          </a:p>
          <a:p>
            <a:r>
              <a:rPr lang="en-US" dirty="0" smtClean="0">
                <a:ea typeface="ＭＳ Ｐゴシック" panose="020B0600070205080204" pitchFamily="34" charset="-128"/>
              </a:rPr>
              <a:t>Thus, implementation becomes the critical section problem where the wait and signal code are placed in the </a:t>
            </a:r>
            <a:r>
              <a:rPr lang="en-US" dirty="0" err="1" smtClean="0">
                <a:ea typeface="ＭＳ Ｐゴシック" panose="020B0600070205080204" pitchFamily="34" charset="-128"/>
              </a:rPr>
              <a:t>crtical</a:t>
            </a:r>
            <a:r>
              <a:rPr lang="en-US" dirty="0" smtClean="0">
                <a:ea typeface="ＭＳ Ｐゴシック" panose="020B0600070205080204" pitchFamily="34" charset="-128"/>
              </a:rPr>
              <a:t> section.</a:t>
            </a:r>
          </a:p>
          <a:p>
            <a:pPr lvl="1"/>
            <a:r>
              <a:rPr lang="en-US" dirty="0" smtClean="0">
                <a:ea typeface="ＭＳ Ｐゴシック" panose="020B0600070205080204" pitchFamily="34" charset="-128"/>
              </a:rPr>
              <a:t>Could now have busy waiting in critical section implementation</a:t>
            </a:r>
          </a:p>
          <a:p>
            <a:pPr lvl="2"/>
            <a:r>
              <a:rPr lang="en-US" dirty="0" smtClean="0">
                <a:ea typeface="ＭＳ Ｐゴシック" panose="020B0600070205080204" pitchFamily="34" charset="-128"/>
              </a:rPr>
              <a:t>But implementation code is short</a:t>
            </a:r>
          </a:p>
          <a:p>
            <a:pPr lvl="2"/>
            <a:r>
              <a:rPr lang="en-US" dirty="0" smtClean="0">
                <a:ea typeface="ＭＳ Ｐゴシック" panose="020B0600070205080204" pitchFamily="34" charset="-128"/>
              </a:rPr>
              <a:t>Little busy waiting if critical section rarely occupied</a:t>
            </a:r>
          </a:p>
          <a:p>
            <a:r>
              <a:rPr lang="en-US" dirty="0" smtClean="0">
                <a:ea typeface="ＭＳ Ｐゴシック" panose="020B0600070205080204" pitchFamily="34" charset="-128"/>
              </a:rPr>
              <a:t>Note that applications may spend lots of time in critical sections and therefore this is not a good solution.</a:t>
            </a:r>
          </a:p>
          <a:p>
            <a:pPr>
              <a:buFont typeface="Monotype Sorts" charset="2"/>
              <a:buNone/>
            </a:pPr>
            <a:r>
              <a:rPr lang="en-US" dirty="0" smtClean="0">
                <a:ea typeface="ＭＳ Ｐゴシック" panose="020B0600070205080204" pitchFamily="34" charset="-128"/>
              </a:rPr>
              <a:t> </a:t>
            </a:r>
          </a:p>
          <a:p>
            <a:pPr lvl="1">
              <a:buFont typeface="Monotype Sorts" charset="2"/>
              <a:buNone/>
            </a:pPr>
            <a:endParaRPr lang="en-US" dirty="0" smtClean="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77672" y="142875"/>
            <a:ext cx="9809328" cy="609600"/>
          </a:xfrm>
        </p:spPr>
        <p:txBody>
          <a:bodyPr/>
          <a:lstStyle/>
          <a:p>
            <a:pPr eaLnBrk="1" hangingPunct="1"/>
            <a:r>
              <a:rPr lang="en-US" sz="2400" b="1" dirty="0">
                <a:ea typeface="ＭＳ Ｐゴシック" panose="020B0600070205080204" pitchFamily="34" charset="-128"/>
              </a:rPr>
              <a:t>Semaphore Implementation with no Busy waiting</a:t>
            </a:r>
            <a:r>
              <a:rPr lang="en-US" sz="2800" b="1" dirty="0">
                <a:ea typeface="ＭＳ Ｐゴシック" panose="020B0600070205080204" pitchFamily="34" charset="-128"/>
              </a:rPr>
              <a:t> </a:t>
            </a:r>
          </a:p>
        </p:txBody>
      </p:sp>
      <p:sp>
        <p:nvSpPr>
          <p:cNvPr id="54275" name="Rectangle 3"/>
          <p:cNvSpPr>
            <a:spLocks noGrp="1" noChangeArrowheads="1"/>
          </p:cNvSpPr>
          <p:nvPr>
            <p:ph type="body" idx="1"/>
          </p:nvPr>
        </p:nvSpPr>
        <p:spPr>
          <a:xfrm>
            <a:off x="477672" y="873457"/>
            <a:ext cx="11273050" cy="5252706"/>
          </a:xfrm>
        </p:spPr>
        <p:txBody>
          <a:bodyPr/>
          <a:lstStyle/>
          <a:p>
            <a:r>
              <a:rPr lang="en-US" dirty="0" smtClean="0">
                <a:ea typeface="ＭＳ Ｐゴシック" panose="020B0600070205080204" pitchFamily="34" charset="-128"/>
              </a:rPr>
              <a:t>With each semaphore there is an associated waiting queue. Each entry in a waiting queue has two data items:</a:t>
            </a:r>
          </a:p>
          <a:p>
            <a:pPr lvl="1"/>
            <a:r>
              <a:rPr lang="en-US" dirty="0" smtClean="0">
                <a:ea typeface="ＭＳ Ｐゴシック" panose="020B0600070205080204" pitchFamily="34" charset="-128"/>
              </a:rPr>
              <a:t> value (of type integer)</a:t>
            </a:r>
          </a:p>
          <a:p>
            <a:pPr lvl="1"/>
            <a:r>
              <a:rPr lang="en-US" dirty="0" smtClean="0">
                <a:ea typeface="ＭＳ Ｐゴシック" panose="020B0600070205080204" pitchFamily="34" charset="-128"/>
              </a:rPr>
              <a:t> pointer to next record in the list</a:t>
            </a:r>
          </a:p>
          <a:p>
            <a:pPr lvl="1">
              <a:buFont typeface="Monotype Sorts" charset="2"/>
              <a:buNone/>
            </a:pPr>
            <a:endParaRPr lang="en-US" dirty="0" smtClean="0">
              <a:ea typeface="ＭＳ Ｐゴシック" panose="020B0600070205080204" pitchFamily="34" charset="-128"/>
            </a:endParaRPr>
          </a:p>
          <a:p>
            <a:r>
              <a:rPr lang="en-US" dirty="0" smtClean="0">
                <a:ea typeface="ＭＳ Ｐゴシック" panose="020B0600070205080204" pitchFamily="34" charset="-128"/>
              </a:rPr>
              <a:t>Two operations:</a:t>
            </a:r>
          </a:p>
          <a:p>
            <a:pPr lvl="1"/>
            <a:r>
              <a:rPr lang="en-US" dirty="0" smtClean="0">
                <a:ea typeface="ＭＳ Ｐゴシック" panose="020B0600070205080204" pitchFamily="34" charset="-128"/>
              </a:rPr>
              <a:t>block – place the process invoking the operation on the      appropriate waiting queue.</a:t>
            </a:r>
          </a:p>
          <a:p>
            <a:pPr lvl="1"/>
            <a:r>
              <a:rPr lang="en-US" dirty="0" smtClean="0">
                <a:ea typeface="ＭＳ Ｐゴシック" panose="020B0600070205080204" pitchFamily="34" charset="-128"/>
              </a:rPr>
              <a:t>wakeup – remove one of processes in the waiting queue and place it in the ready queue.</a:t>
            </a:r>
          </a:p>
          <a:p>
            <a:pPr>
              <a:buFont typeface="Monotype Sorts" charset="2"/>
              <a:buNone/>
            </a:pPr>
            <a:r>
              <a:rPr lang="en-US" dirty="0" smtClean="0">
                <a:ea typeface="ＭＳ Ｐゴシック" panose="020B0600070205080204" pitchFamily="34" charset="-128"/>
              </a:rPr>
              <a: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142876"/>
            <a:ext cx="10668000" cy="581025"/>
          </a:xfrm>
        </p:spPr>
        <p:txBody>
          <a:bodyPr/>
          <a:lstStyle/>
          <a:p>
            <a:pPr eaLnBrk="1" hangingPunct="1"/>
            <a:r>
              <a:rPr lang="en-US" sz="2400" b="1" dirty="0">
                <a:ea typeface="ＭＳ Ｐゴシック" panose="020B0600070205080204" pitchFamily="34" charset="-128"/>
              </a:rPr>
              <a:t>Semaphore Implementation with no Busy waiting</a:t>
            </a:r>
            <a:r>
              <a:rPr lang="en-US" sz="2800" b="1" dirty="0">
                <a:ea typeface="ＭＳ Ｐゴシック" panose="020B0600070205080204" pitchFamily="34" charset="-128"/>
              </a:rPr>
              <a:t> </a:t>
            </a:r>
            <a:r>
              <a:rPr lang="en-US" sz="2400" b="1" dirty="0">
                <a:ea typeface="ＭＳ Ｐゴシック" panose="020B0600070205080204" pitchFamily="34" charset="-128"/>
              </a:rPr>
              <a:t>(Cont.)</a:t>
            </a:r>
          </a:p>
        </p:txBody>
      </p:sp>
      <p:sp>
        <p:nvSpPr>
          <p:cNvPr id="56323" name="Rectangle 3"/>
          <p:cNvSpPr>
            <a:spLocks noGrp="1" noChangeArrowheads="1"/>
          </p:cNvSpPr>
          <p:nvPr>
            <p:ph type="body" idx="1"/>
          </p:nvPr>
        </p:nvSpPr>
        <p:spPr>
          <a:xfrm>
            <a:off x="232013" y="723901"/>
            <a:ext cx="9543814" cy="6236457"/>
          </a:xfrm>
        </p:spPr>
        <p:txBody>
          <a:bodyPr>
            <a:normAutofit/>
          </a:bodyPr>
          <a:lstStyle/>
          <a:p>
            <a:pPr>
              <a:lnSpc>
                <a:spcPct val="80000"/>
              </a:lnSpc>
            </a:pPr>
            <a:r>
              <a:rPr lang="en-US" sz="1600" dirty="0">
                <a:ea typeface="ＭＳ Ｐゴシック" panose="020B0600070205080204" pitchFamily="34" charset="-128"/>
              </a:rPr>
              <a:t>Implementation of wait:</a:t>
            </a:r>
          </a:p>
          <a:p>
            <a:pPr>
              <a:lnSpc>
                <a:spcPct val="80000"/>
              </a:lnSpc>
              <a:buFont typeface="Monotype Sorts" charset="2"/>
              <a:buNone/>
            </a:pPr>
            <a:r>
              <a:rPr lang="en-US" sz="1600" dirty="0">
                <a:ea typeface="ＭＳ Ｐゴシック" panose="020B0600070205080204" pitchFamily="34" charset="-128"/>
              </a:rPr>
              <a:t>            wait(semaphore *S) { </a:t>
            </a:r>
          </a:p>
          <a:p>
            <a:pPr>
              <a:lnSpc>
                <a:spcPct val="80000"/>
              </a:lnSpc>
              <a:buFont typeface="Monotype Sorts" charset="2"/>
              <a:buNone/>
            </a:pPr>
            <a:r>
              <a:rPr lang="en-US" sz="1600" dirty="0">
                <a:ea typeface="ＭＳ Ｐゴシック" panose="020B0600070205080204" pitchFamily="34" charset="-128"/>
              </a:rPr>
              <a:t>			S-&gt;value--; </a:t>
            </a:r>
          </a:p>
          <a:p>
            <a:pPr>
              <a:lnSpc>
                <a:spcPct val="80000"/>
              </a:lnSpc>
              <a:buFont typeface="Monotype Sorts" charset="2"/>
              <a:buNone/>
            </a:pPr>
            <a:r>
              <a:rPr lang="en-US" sz="1600" dirty="0">
                <a:ea typeface="ＭＳ Ｐゴシック" panose="020B0600070205080204" pitchFamily="34" charset="-128"/>
              </a:rPr>
              <a:t>			if (S-&gt;value &lt; 0) { </a:t>
            </a:r>
          </a:p>
          <a:p>
            <a:pPr>
              <a:lnSpc>
                <a:spcPct val="80000"/>
              </a:lnSpc>
              <a:buFont typeface="Monotype Sorts" charset="2"/>
              <a:buNone/>
            </a:pPr>
            <a:r>
              <a:rPr lang="en-US" sz="1600" dirty="0">
                <a:ea typeface="ＭＳ Ｐゴシック" panose="020B0600070205080204" pitchFamily="34" charset="-128"/>
              </a:rPr>
              <a:t>				add this process to S-&gt;list; </a:t>
            </a:r>
          </a:p>
          <a:p>
            <a:pPr>
              <a:lnSpc>
                <a:spcPct val="80000"/>
              </a:lnSpc>
              <a:buFont typeface="Monotype Sorts" charset="2"/>
              <a:buNone/>
            </a:pPr>
            <a:r>
              <a:rPr lang="en-US" sz="1600" dirty="0">
                <a:ea typeface="ＭＳ Ｐゴシック" panose="020B0600070205080204" pitchFamily="34" charset="-128"/>
              </a:rPr>
              <a:t>				block(); </a:t>
            </a:r>
          </a:p>
          <a:p>
            <a:pPr>
              <a:lnSpc>
                <a:spcPct val="80000"/>
              </a:lnSpc>
              <a:buFont typeface="Monotype Sorts" charset="2"/>
              <a:buNone/>
            </a:pPr>
            <a:r>
              <a:rPr lang="en-US" sz="1600" dirty="0">
                <a:ea typeface="ＭＳ Ｐゴシック" panose="020B0600070205080204" pitchFamily="34" charset="-128"/>
              </a:rPr>
              <a:t>			} </a:t>
            </a:r>
          </a:p>
          <a:p>
            <a:pPr>
              <a:lnSpc>
                <a:spcPct val="80000"/>
              </a:lnSpc>
              <a:buFont typeface="Monotype Sorts" charset="2"/>
              <a:buNone/>
            </a:pPr>
            <a:r>
              <a:rPr lang="en-US" sz="1600" dirty="0">
                <a:ea typeface="ＭＳ Ｐゴシック" panose="020B0600070205080204" pitchFamily="34" charset="-128"/>
              </a:rPr>
              <a:t>		}</a:t>
            </a:r>
          </a:p>
          <a:p>
            <a:pPr>
              <a:lnSpc>
                <a:spcPct val="80000"/>
              </a:lnSpc>
            </a:pPr>
            <a:r>
              <a:rPr lang="en-US" sz="1600" dirty="0">
                <a:ea typeface="ＭＳ Ｐゴシック" panose="020B0600070205080204" pitchFamily="34" charset="-128"/>
              </a:rPr>
              <a:t>Implementation of signal:</a:t>
            </a:r>
          </a:p>
          <a:p>
            <a:pPr>
              <a:lnSpc>
                <a:spcPct val="80000"/>
              </a:lnSpc>
              <a:buFont typeface="Monotype Sorts" charset="2"/>
              <a:buNone/>
            </a:pPr>
            <a:endParaRPr lang="en-US" sz="1600" dirty="0">
              <a:ea typeface="ＭＳ Ｐゴシック" panose="020B0600070205080204" pitchFamily="34" charset="-128"/>
            </a:endParaRPr>
          </a:p>
          <a:p>
            <a:pPr>
              <a:lnSpc>
                <a:spcPct val="80000"/>
              </a:lnSpc>
              <a:buFont typeface="Monotype Sorts" charset="2"/>
              <a:buNone/>
            </a:pPr>
            <a:r>
              <a:rPr lang="en-US" sz="1600" dirty="0">
                <a:ea typeface="ＭＳ Ｐゴシック" panose="020B0600070205080204" pitchFamily="34" charset="-128"/>
              </a:rPr>
              <a:t>		signal(semaphore *S) { </a:t>
            </a:r>
          </a:p>
          <a:p>
            <a:pPr>
              <a:lnSpc>
                <a:spcPct val="80000"/>
              </a:lnSpc>
              <a:buFont typeface="Monotype Sorts" charset="2"/>
              <a:buNone/>
            </a:pPr>
            <a:r>
              <a:rPr lang="en-US" sz="1600" dirty="0">
                <a:ea typeface="ＭＳ Ｐゴシック" panose="020B0600070205080204" pitchFamily="34" charset="-128"/>
              </a:rPr>
              <a:t>			S-&gt;value++; </a:t>
            </a:r>
          </a:p>
          <a:p>
            <a:pPr>
              <a:lnSpc>
                <a:spcPct val="80000"/>
              </a:lnSpc>
              <a:buFont typeface="Monotype Sorts" charset="2"/>
              <a:buNone/>
            </a:pPr>
            <a:r>
              <a:rPr lang="en-US" sz="1600" dirty="0">
                <a:ea typeface="ＭＳ Ｐゴシック" panose="020B0600070205080204" pitchFamily="34" charset="-128"/>
              </a:rPr>
              <a:t>			if (S-&gt;value &lt;= 0) { </a:t>
            </a:r>
          </a:p>
          <a:p>
            <a:pPr>
              <a:lnSpc>
                <a:spcPct val="80000"/>
              </a:lnSpc>
              <a:buFont typeface="Monotype Sorts" charset="2"/>
              <a:buNone/>
            </a:pPr>
            <a:r>
              <a:rPr lang="en-US" sz="1600" dirty="0">
                <a:ea typeface="ＭＳ Ｐゴシック" panose="020B0600070205080204" pitchFamily="34" charset="-128"/>
              </a:rPr>
              <a:t>				remove a process P from S-&gt;list; </a:t>
            </a:r>
          </a:p>
          <a:p>
            <a:pPr>
              <a:lnSpc>
                <a:spcPct val="80000"/>
              </a:lnSpc>
              <a:buFont typeface="Monotype Sorts" charset="2"/>
              <a:buNone/>
            </a:pPr>
            <a:r>
              <a:rPr lang="en-US" sz="1600" dirty="0">
                <a:ea typeface="ＭＳ Ｐゴシック" panose="020B0600070205080204" pitchFamily="34" charset="-128"/>
              </a:rPr>
              <a:t>				wakeup(P); </a:t>
            </a:r>
          </a:p>
          <a:p>
            <a:pPr>
              <a:lnSpc>
                <a:spcPct val="80000"/>
              </a:lnSpc>
              <a:buFont typeface="Monotype Sorts" charset="2"/>
              <a:buNone/>
            </a:pPr>
            <a:r>
              <a:rPr lang="en-US" sz="1600" dirty="0">
                <a:ea typeface="ＭＳ Ｐゴシック" panose="020B0600070205080204" pitchFamily="34" charset="-128"/>
              </a:rPr>
              <a:t>			}</a:t>
            </a:r>
          </a:p>
          <a:p>
            <a:pPr>
              <a:lnSpc>
                <a:spcPct val="80000"/>
              </a:lnSpc>
              <a:buFont typeface="Monotype Sorts" charset="2"/>
              <a:buNone/>
            </a:pPr>
            <a:r>
              <a:rPr lang="en-US" sz="1600" dirty="0">
                <a:ea typeface="ＭＳ Ｐゴシック" panose="020B0600070205080204" pitchFamily="34" charset="-128"/>
              </a:rPr>
              <a:t>		}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646111" y="452718"/>
            <a:ext cx="9404723" cy="780770"/>
          </a:xfrm>
        </p:spPr>
        <p:txBody>
          <a:bodyPr/>
          <a:lstStyle/>
          <a:p>
            <a:pPr eaLnBrk="1" hangingPunct="1"/>
            <a:r>
              <a:rPr lang="en-US" b="1" dirty="0" smtClean="0">
                <a:ea typeface="ＭＳ Ｐゴシック" panose="020B0600070205080204" pitchFamily="34" charset="-128"/>
              </a:rPr>
              <a:t>Deadlock and Starvation</a:t>
            </a:r>
          </a:p>
        </p:txBody>
      </p:sp>
      <p:sp>
        <p:nvSpPr>
          <p:cNvPr id="58371" name="Rectangle 3"/>
          <p:cNvSpPr>
            <a:spLocks noGrp="1" noChangeArrowheads="1"/>
          </p:cNvSpPr>
          <p:nvPr>
            <p:ph type="body" idx="1"/>
          </p:nvPr>
        </p:nvSpPr>
        <p:spPr>
          <a:xfrm>
            <a:off x="646111" y="1233488"/>
            <a:ext cx="11118259" cy="5624512"/>
          </a:xfrm>
        </p:spPr>
        <p:txBody>
          <a:bodyPr>
            <a:normAutofit/>
          </a:bodyPr>
          <a:lstStyle/>
          <a:p>
            <a:pPr>
              <a:lnSpc>
                <a:spcPct val="90000"/>
              </a:lnSpc>
              <a:tabLst>
                <a:tab pos="1887538" algn="ctr"/>
                <a:tab pos="4572000" algn="ctr"/>
              </a:tabLst>
            </a:pPr>
            <a:r>
              <a:rPr lang="en-US" dirty="0" smtClean="0">
                <a:ea typeface="ＭＳ Ｐゴシック" panose="020B0600070205080204" pitchFamily="34" charset="-128"/>
              </a:rPr>
              <a:t>Deadlock – two or more processes are waiting indefinitely for an event that can be caused by only one of the waiting processes</a:t>
            </a:r>
          </a:p>
          <a:p>
            <a:pPr>
              <a:lnSpc>
                <a:spcPct val="90000"/>
              </a:lnSpc>
              <a:tabLst>
                <a:tab pos="1887538" algn="ctr"/>
                <a:tab pos="4572000" algn="ctr"/>
              </a:tabLst>
            </a:pPr>
            <a:r>
              <a:rPr lang="en-US" dirty="0" smtClean="0">
                <a:ea typeface="ＭＳ Ｐゴシック" panose="020B0600070205080204" pitchFamily="34" charset="-128"/>
              </a:rPr>
              <a:t>Let </a:t>
            </a:r>
            <a:r>
              <a:rPr lang="en-US" sz="1600" dirty="0">
                <a:ea typeface="ＭＳ Ｐゴシック" panose="020B0600070205080204" pitchFamily="34" charset="-128"/>
              </a:rPr>
              <a:t>S</a:t>
            </a:r>
            <a:r>
              <a:rPr lang="en-US" dirty="0" smtClean="0">
                <a:ea typeface="ＭＳ Ｐゴシック" panose="020B0600070205080204" pitchFamily="34" charset="-128"/>
              </a:rPr>
              <a:t> and </a:t>
            </a:r>
            <a:r>
              <a:rPr lang="en-US" sz="1600" dirty="0">
                <a:ea typeface="ＭＳ Ｐゴシック" panose="020B0600070205080204" pitchFamily="34" charset="-128"/>
              </a:rPr>
              <a:t>Q</a:t>
            </a:r>
            <a:r>
              <a:rPr lang="en-US" dirty="0" smtClean="0">
                <a:ea typeface="ＭＳ Ｐゴシック" panose="020B0600070205080204" pitchFamily="34" charset="-128"/>
              </a:rPr>
              <a:t> be two semaphores initialized to 1</a:t>
            </a:r>
          </a:p>
          <a:p>
            <a:pPr>
              <a:lnSpc>
                <a:spcPct val="90000"/>
              </a:lnSpc>
              <a:buNone/>
              <a:tabLst>
                <a:tab pos="1887538" algn="ctr"/>
                <a:tab pos="4572000" algn="ctr"/>
              </a:tabLst>
            </a:pPr>
            <a:r>
              <a:rPr lang="en-US" i="1" dirty="0" smtClean="0">
                <a:ea typeface="ＭＳ Ｐゴシック" panose="020B0600070205080204" pitchFamily="34" charset="-128"/>
              </a:rPr>
              <a:t>		        P</a:t>
            </a:r>
            <a:r>
              <a:rPr lang="en-US" baseline="-25000" dirty="0" smtClean="0">
                <a:ea typeface="ＭＳ Ｐゴシック" panose="020B0600070205080204" pitchFamily="34" charset="-128"/>
              </a:rPr>
              <a:t>0</a:t>
            </a:r>
            <a:r>
              <a:rPr lang="en-US" dirty="0" smtClean="0">
                <a:ea typeface="ＭＳ Ｐゴシック" panose="020B0600070205080204" pitchFamily="34" charset="-128"/>
              </a:rPr>
              <a:t>	                            </a:t>
            </a:r>
            <a:r>
              <a:rPr lang="en-US" i="1" dirty="0" smtClean="0">
                <a:ea typeface="ＭＳ Ｐゴシック" panose="020B0600070205080204" pitchFamily="34" charset="-128"/>
              </a:rPr>
              <a:t>P</a:t>
            </a:r>
            <a:r>
              <a:rPr lang="en-US" baseline="-25000" dirty="0" smtClean="0">
                <a:ea typeface="ＭＳ Ｐゴシック" panose="020B0600070205080204" pitchFamily="34" charset="-128"/>
              </a:rPr>
              <a:t>1</a:t>
            </a:r>
          </a:p>
          <a:p>
            <a:pPr>
              <a:lnSpc>
                <a:spcPct val="90000"/>
              </a:lnSpc>
              <a:buNone/>
              <a:tabLst>
                <a:tab pos="1887538" algn="ctr"/>
                <a:tab pos="4572000" algn="ctr"/>
              </a:tabLst>
            </a:pPr>
            <a:r>
              <a:rPr lang="en-US" dirty="0" smtClean="0">
                <a:ea typeface="ＭＳ Ｐゴシック" panose="020B0600070205080204" pitchFamily="34" charset="-128"/>
              </a:rPr>
              <a:t>		     </a:t>
            </a:r>
            <a:r>
              <a:rPr lang="en-US" sz="1600" dirty="0">
                <a:ea typeface="ＭＳ Ｐゴシック" panose="020B0600070205080204" pitchFamily="34" charset="-128"/>
              </a:rPr>
              <a:t>wait (S); 	                                   wait (Q);</a:t>
            </a:r>
          </a:p>
          <a:p>
            <a:pPr>
              <a:lnSpc>
                <a:spcPct val="90000"/>
              </a:lnSpc>
              <a:buNone/>
              <a:tabLst>
                <a:tab pos="1887538" algn="ctr"/>
                <a:tab pos="4572000" algn="ctr"/>
              </a:tabLst>
            </a:pPr>
            <a:r>
              <a:rPr lang="en-US" sz="1600" dirty="0">
                <a:ea typeface="ＭＳ Ｐゴシック" panose="020B0600070205080204" pitchFamily="34" charset="-128"/>
              </a:rPr>
              <a:t>		      wait (Q); 	                                     wait (S);</a:t>
            </a:r>
          </a:p>
          <a:p>
            <a:pPr>
              <a:lnSpc>
                <a:spcPct val="90000"/>
              </a:lnSpc>
              <a:buNone/>
              <a:tabLst>
                <a:tab pos="1887538" algn="ctr"/>
                <a:tab pos="4572000" algn="ctr"/>
              </a:tabLst>
            </a:pPr>
            <a:r>
              <a:rPr lang="en-US" sz="1600" dirty="0">
                <a:ea typeface="ＭＳ Ｐゴシック" panose="020B0600070205080204" pitchFamily="34" charset="-128"/>
              </a:rPr>
              <a:t>		. 		.</a:t>
            </a:r>
          </a:p>
          <a:p>
            <a:pPr>
              <a:lnSpc>
                <a:spcPct val="90000"/>
              </a:lnSpc>
              <a:buNone/>
              <a:tabLst>
                <a:tab pos="1887538" algn="ctr"/>
                <a:tab pos="4572000" algn="ctr"/>
              </a:tabLst>
            </a:pPr>
            <a:r>
              <a:rPr lang="en-US" sz="1600" dirty="0">
                <a:ea typeface="ＭＳ Ｐゴシック" panose="020B0600070205080204" pitchFamily="34" charset="-128"/>
              </a:rPr>
              <a:t>		. 		.</a:t>
            </a:r>
          </a:p>
          <a:p>
            <a:pPr>
              <a:lnSpc>
                <a:spcPct val="90000"/>
              </a:lnSpc>
              <a:buNone/>
              <a:tabLst>
                <a:tab pos="1887538" algn="ctr"/>
                <a:tab pos="4572000" algn="ctr"/>
              </a:tabLst>
            </a:pPr>
            <a:r>
              <a:rPr lang="en-US" sz="1600" dirty="0">
                <a:ea typeface="ＭＳ Ｐゴシック" panose="020B0600070205080204" pitchFamily="34" charset="-128"/>
              </a:rPr>
              <a:t>		. 		.</a:t>
            </a:r>
          </a:p>
          <a:p>
            <a:pPr>
              <a:lnSpc>
                <a:spcPct val="90000"/>
              </a:lnSpc>
              <a:buNone/>
              <a:tabLst>
                <a:tab pos="1887538" algn="ctr"/>
                <a:tab pos="4572000" algn="ctr"/>
              </a:tabLst>
            </a:pPr>
            <a:r>
              <a:rPr lang="en-US" sz="1600" dirty="0">
                <a:ea typeface="ＭＳ Ｐゴシック" panose="020B0600070205080204" pitchFamily="34" charset="-128"/>
              </a:rPr>
              <a:t>		      signal  (S); 	                                  signal (Q);</a:t>
            </a:r>
          </a:p>
          <a:p>
            <a:pPr>
              <a:lnSpc>
                <a:spcPct val="90000"/>
              </a:lnSpc>
              <a:buNone/>
              <a:tabLst>
                <a:tab pos="1887538" algn="ctr"/>
                <a:tab pos="4572000" algn="ctr"/>
              </a:tabLst>
            </a:pPr>
            <a:r>
              <a:rPr lang="en-US" sz="1600" dirty="0">
                <a:ea typeface="ＭＳ Ｐゴシック" panose="020B0600070205080204" pitchFamily="34" charset="-128"/>
              </a:rPr>
              <a:t>		      signal (Q); 	                                   signal (S);</a:t>
            </a:r>
          </a:p>
          <a:p>
            <a:pPr>
              <a:lnSpc>
                <a:spcPct val="90000"/>
              </a:lnSpc>
              <a:tabLst>
                <a:tab pos="1887538" algn="ctr"/>
                <a:tab pos="4572000" algn="ctr"/>
              </a:tabLst>
            </a:pPr>
            <a:r>
              <a:rPr lang="en-US" dirty="0" smtClean="0">
                <a:ea typeface="ＭＳ Ｐゴシック" panose="020B0600070205080204" pitchFamily="34" charset="-128"/>
                <a:sym typeface="MT Extra" panose="05050102010205020202" pitchFamily="18" charset="2"/>
              </a:rPr>
              <a:t>Starvation </a:t>
            </a:r>
            <a:r>
              <a:rPr lang="en-US" dirty="0" smtClean="0">
                <a:ea typeface="ＭＳ Ｐゴシック" panose="020B0600070205080204" pitchFamily="34" charset="-128"/>
              </a:rPr>
              <a:t> – indefinite blocking.  A process may never be removed from the semaphore queue in which it is suspended</a:t>
            </a:r>
          </a:p>
          <a:p>
            <a:pPr>
              <a:lnSpc>
                <a:spcPct val="90000"/>
              </a:lnSpc>
              <a:tabLst>
                <a:tab pos="1887538" algn="ctr"/>
                <a:tab pos="4572000" algn="ctr"/>
              </a:tabLst>
            </a:pPr>
            <a:r>
              <a:rPr lang="en-US" dirty="0" smtClean="0">
                <a:ea typeface="ＭＳ Ｐゴシック" panose="020B0600070205080204" pitchFamily="34" charset="-128"/>
              </a:rPr>
              <a:t>Priority Inversion  - Scheduling problem when lower-priority process holds a lock needed by higher-priority process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245660" y="228600"/>
            <a:ext cx="10269940" cy="609600"/>
          </a:xfrm>
        </p:spPr>
        <p:txBody>
          <a:bodyPr/>
          <a:lstStyle/>
          <a:p>
            <a:pPr eaLnBrk="1" hangingPunct="1"/>
            <a:r>
              <a:rPr lang="en-US" b="1" dirty="0" smtClean="0">
                <a:ea typeface="ＭＳ Ｐゴシック" panose="020B0600070205080204" pitchFamily="34" charset="-128"/>
              </a:rPr>
              <a:t>Classical Problems of Synchronization</a:t>
            </a:r>
          </a:p>
        </p:txBody>
      </p:sp>
      <p:sp>
        <p:nvSpPr>
          <p:cNvPr id="60419" name="Rectangle 3"/>
          <p:cNvSpPr>
            <a:spLocks noGrp="1" noChangeArrowheads="1"/>
          </p:cNvSpPr>
          <p:nvPr>
            <p:ph type="body" idx="1"/>
          </p:nvPr>
        </p:nvSpPr>
        <p:spPr>
          <a:xfrm>
            <a:off x="245660" y="838200"/>
            <a:ext cx="9804193" cy="5410199"/>
          </a:xfrm>
        </p:spPr>
        <p:txBody>
          <a:bodyPr/>
          <a:lstStyle/>
          <a:p>
            <a:r>
              <a:rPr lang="en-US" dirty="0" smtClean="0">
                <a:ea typeface="ＭＳ Ｐゴシック" panose="020B0600070205080204" pitchFamily="34" charset="-128"/>
              </a:rPr>
              <a:t>Bounded-Buffer Problem</a:t>
            </a:r>
          </a:p>
          <a:p>
            <a:r>
              <a:rPr lang="en-US" dirty="0" smtClean="0">
                <a:ea typeface="ＭＳ Ｐゴシック" panose="020B0600070205080204" pitchFamily="34" charset="-128"/>
              </a:rPr>
              <a:t>Readers and Writers Problem</a:t>
            </a:r>
          </a:p>
          <a:p>
            <a:r>
              <a:rPr lang="en-US" dirty="0" smtClean="0">
                <a:ea typeface="ＭＳ Ｐゴシック" panose="020B0600070205080204" pitchFamily="34" charset="-128"/>
              </a:rPr>
              <a:t>Dining-Philosophers Problem</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204716" y="1"/>
            <a:ext cx="11987283" cy="668740"/>
          </a:xfrm>
        </p:spPr>
        <p:txBody>
          <a:bodyPr/>
          <a:lstStyle/>
          <a:p>
            <a:pPr eaLnBrk="1" hangingPunct="1"/>
            <a:r>
              <a:rPr lang="en-US" b="1" dirty="0" smtClean="0">
                <a:ea typeface="ＭＳ Ｐゴシック" panose="020B0600070205080204" pitchFamily="34" charset="-128"/>
              </a:rPr>
              <a:t>Bounded-Buffer Problem</a:t>
            </a:r>
          </a:p>
        </p:txBody>
      </p:sp>
      <p:sp>
        <p:nvSpPr>
          <p:cNvPr id="62467" name="Rectangle 3"/>
          <p:cNvSpPr>
            <a:spLocks noGrp="1" noChangeArrowheads="1"/>
          </p:cNvSpPr>
          <p:nvPr>
            <p:ph type="body" idx="1"/>
          </p:nvPr>
        </p:nvSpPr>
        <p:spPr>
          <a:xfrm>
            <a:off x="204717" y="668741"/>
            <a:ext cx="11859904" cy="6496334"/>
          </a:xfrm>
        </p:spPr>
        <p:txBody>
          <a:bodyPr>
            <a:normAutofit/>
          </a:bodyPr>
          <a:lstStyle/>
          <a:p>
            <a:r>
              <a:rPr lang="en-US" i="1" dirty="0" smtClean="0">
                <a:ea typeface="ＭＳ Ｐゴシック" panose="020B0600070205080204" pitchFamily="34" charset="-128"/>
              </a:rPr>
              <a:t>N</a:t>
            </a:r>
            <a:r>
              <a:rPr lang="en-US" dirty="0" smtClean="0">
                <a:ea typeface="ＭＳ Ｐゴシック" panose="020B0600070205080204" pitchFamily="34" charset="-128"/>
              </a:rPr>
              <a:t> buffers, each can hold one item</a:t>
            </a:r>
          </a:p>
          <a:p>
            <a:r>
              <a:rPr lang="en-US" dirty="0" smtClean="0">
                <a:ea typeface="ＭＳ Ｐゴシック" panose="020B0600070205080204" pitchFamily="34" charset="-128"/>
              </a:rPr>
              <a:t>Semaphore </a:t>
            </a:r>
            <a:r>
              <a:rPr lang="en-US" dirty="0" err="1" smtClean="0">
                <a:ea typeface="ＭＳ Ｐゴシック" panose="020B0600070205080204" pitchFamily="34" charset="-128"/>
              </a:rPr>
              <a:t>mutex</a:t>
            </a:r>
            <a:r>
              <a:rPr lang="en-US" dirty="0" smtClean="0">
                <a:ea typeface="ＭＳ Ｐゴシック" panose="020B0600070205080204" pitchFamily="34" charset="-128"/>
              </a:rPr>
              <a:t> initialized to the value 1</a:t>
            </a:r>
          </a:p>
          <a:p>
            <a:r>
              <a:rPr lang="en-US" dirty="0" smtClean="0">
                <a:ea typeface="ＭＳ Ｐゴシック" panose="020B0600070205080204" pitchFamily="34" charset="-128"/>
              </a:rPr>
              <a:t>Semaphore full initialized to the value 0</a:t>
            </a:r>
          </a:p>
          <a:p>
            <a:r>
              <a:rPr lang="en-US" dirty="0" smtClean="0">
                <a:ea typeface="ＭＳ Ｐゴシック" panose="020B0600070205080204" pitchFamily="34" charset="-128"/>
              </a:rPr>
              <a:t>Semaphore empty initialized to the value N.</a:t>
            </a:r>
          </a:p>
          <a:p>
            <a:r>
              <a:rPr lang="en-US" dirty="0">
                <a:ea typeface="ＭＳ Ｐゴシック" panose="020B0600070205080204" pitchFamily="34" charset="-128"/>
              </a:rPr>
              <a:t>The structure of the producer </a:t>
            </a:r>
            <a:r>
              <a:rPr lang="en-US" dirty="0" smtClean="0">
                <a:ea typeface="ＭＳ Ｐゴシック" panose="020B0600070205080204" pitchFamily="34" charset="-128"/>
              </a:rPr>
              <a:t>process</a:t>
            </a:r>
            <a:endParaRPr lang="en-US" dirty="0">
              <a:ea typeface="ＭＳ Ｐゴシック" panose="020B0600070205080204" pitchFamily="34" charset="-128"/>
            </a:endParaRPr>
          </a:p>
          <a:p>
            <a:pPr>
              <a:buFont typeface="Monotype Sorts" charset="2"/>
              <a:buNone/>
            </a:pPr>
            <a:r>
              <a:rPr lang="en-US" dirty="0">
                <a:ea typeface="ＭＳ Ｐゴシック" panose="020B0600070205080204" pitchFamily="34" charset="-128"/>
              </a:rPr>
              <a:t>	do  </a:t>
            </a:r>
            <a:r>
              <a:rPr lang="en-US" dirty="0" smtClean="0">
                <a:ea typeface="ＭＳ Ｐゴシック" panose="020B0600070205080204" pitchFamily="34" charset="-128"/>
              </a:rPr>
              <a:t>{</a:t>
            </a:r>
            <a:endParaRPr lang="en-US" dirty="0">
              <a:ea typeface="ＭＳ Ｐゴシック" panose="020B0600070205080204" pitchFamily="34" charset="-128"/>
            </a:endParaRPr>
          </a:p>
          <a:p>
            <a:pPr>
              <a:buFont typeface="Monotype Sorts" charset="2"/>
              <a:buNone/>
            </a:pPr>
            <a:r>
              <a:rPr lang="en-US" dirty="0">
                <a:ea typeface="ＭＳ Ｐゴシック" panose="020B0600070205080204" pitchFamily="34" charset="-128"/>
              </a:rPr>
              <a:t>                         //   produce an item in </a:t>
            </a:r>
            <a:r>
              <a:rPr lang="en-US" dirty="0" err="1" smtClean="0">
                <a:ea typeface="ＭＳ Ｐゴシック" panose="020B0600070205080204" pitchFamily="34" charset="-128"/>
              </a:rPr>
              <a:t>nextp</a:t>
            </a:r>
            <a:endParaRPr lang="en-US" dirty="0">
              <a:ea typeface="ＭＳ Ｐゴシック" panose="020B0600070205080204" pitchFamily="34" charset="-128"/>
            </a:endParaRPr>
          </a:p>
          <a:p>
            <a:pPr>
              <a:buFont typeface="Monotype Sorts" charset="2"/>
              <a:buNone/>
            </a:pPr>
            <a:r>
              <a:rPr lang="en-US" dirty="0">
                <a:ea typeface="ＭＳ Ｐゴシック" panose="020B0600070205080204" pitchFamily="34" charset="-128"/>
              </a:rPr>
              <a:t>                   wait (empty);</a:t>
            </a:r>
          </a:p>
          <a:p>
            <a:pPr>
              <a:buFont typeface="Monotype Sorts" charset="2"/>
              <a:buNone/>
            </a:pPr>
            <a:r>
              <a:rPr lang="en-US" dirty="0">
                <a:ea typeface="ＭＳ Ｐゴシック" panose="020B0600070205080204" pitchFamily="34" charset="-128"/>
              </a:rPr>
              <a:t>                   wait (</a:t>
            </a:r>
            <a:r>
              <a:rPr lang="en-US" dirty="0" err="1">
                <a:ea typeface="ＭＳ Ｐゴシック" panose="020B0600070205080204" pitchFamily="34" charset="-128"/>
              </a:rPr>
              <a:t>mutex</a:t>
            </a:r>
            <a:r>
              <a:rPr lang="en-US" dirty="0" smtClean="0">
                <a:ea typeface="ＭＳ Ｐゴシック" panose="020B0600070205080204" pitchFamily="34" charset="-128"/>
              </a:rPr>
              <a:t>);</a:t>
            </a:r>
            <a:endParaRPr lang="en-US" dirty="0">
              <a:ea typeface="ＭＳ Ｐゴシック" panose="020B0600070205080204" pitchFamily="34" charset="-128"/>
            </a:endParaRPr>
          </a:p>
          <a:p>
            <a:pPr>
              <a:buFont typeface="Monotype Sorts" charset="2"/>
              <a:buNone/>
            </a:pPr>
            <a:r>
              <a:rPr lang="en-US" dirty="0">
                <a:ea typeface="ＭＳ Ｐゴシック" panose="020B0600070205080204" pitchFamily="34" charset="-128"/>
              </a:rPr>
              <a:t>                         //  add the item to the  </a:t>
            </a:r>
            <a:r>
              <a:rPr lang="en-US" dirty="0" smtClean="0">
                <a:ea typeface="ＭＳ Ｐゴシック" panose="020B0600070205080204" pitchFamily="34" charset="-128"/>
              </a:rPr>
              <a:t>buffer</a:t>
            </a:r>
            <a:endParaRPr lang="en-US" dirty="0">
              <a:ea typeface="ＭＳ Ｐゴシック" panose="020B0600070205080204" pitchFamily="34" charset="-128"/>
            </a:endParaRPr>
          </a:p>
          <a:p>
            <a:pPr>
              <a:buFont typeface="Monotype Sorts" charset="2"/>
              <a:buNone/>
            </a:pPr>
            <a:r>
              <a:rPr lang="en-US" dirty="0">
                <a:ea typeface="ＭＳ Ｐゴシック" panose="020B0600070205080204" pitchFamily="34" charset="-128"/>
              </a:rPr>
              <a:t>                    signal (</a:t>
            </a:r>
            <a:r>
              <a:rPr lang="en-US" dirty="0" err="1">
                <a:ea typeface="ＭＳ Ｐゴシック" panose="020B0600070205080204" pitchFamily="34" charset="-128"/>
              </a:rPr>
              <a:t>mutex</a:t>
            </a:r>
            <a:r>
              <a:rPr lang="en-US" dirty="0">
                <a:ea typeface="ＭＳ Ｐゴシック" panose="020B0600070205080204" pitchFamily="34" charset="-128"/>
              </a:rPr>
              <a:t>);</a:t>
            </a:r>
          </a:p>
          <a:p>
            <a:pPr>
              <a:buFont typeface="Monotype Sorts" charset="2"/>
              <a:buNone/>
            </a:pPr>
            <a:r>
              <a:rPr lang="en-US" dirty="0">
                <a:ea typeface="ＭＳ Ｐゴシック" panose="020B0600070205080204" pitchFamily="34" charset="-128"/>
              </a:rPr>
              <a:t>                    signal (full);</a:t>
            </a:r>
          </a:p>
          <a:p>
            <a:pPr>
              <a:buFont typeface="Monotype Sorts" charset="2"/>
              <a:buNone/>
            </a:pPr>
            <a:r>
              <a:rPr lang="en-US" dirty="0">
                <a:ea typeface="ＭＳ Ｐゴシック" panose="020B0600070205080204" pitchFamily="34" charset="-128"/>
              </a:rPr>
              <a:t>           } while (TRUE);</a:t>
            </a:r>
          </a:p>
          <a:p>
            <a:endParaRPr lang="en-US" dirty="0" smtClean="0">
              <a:ea typeface="ＭＳ Ｐゴシック" panose="020B0600070205080204" pitchFamily="34" charset="-128"/>
            </a:endParaRPr>
          </a:p>
          <a:p>
            <a:endParaRPr lang="en-US" dirty="0" smtClean="0">
              <a:ea typeface="ＭＳ Ｐゴシック" panose="020B0600070205080204" pitchFamily="34" charset="-128"/>
            </a:endParaRPr>
          </a:p>
        </p:txBody>
      </p:sp>
      <p:sp>
        <p:nvSpPr>
          <p:cNvPr id="62468" name="Rectangle 5"/>
          <p:cNvSpPr>
            <a:spLocks noChangeArrowheads="1"/>
          </p:cNvSpPr>
          <p:nvPr/>
        </p:nvSpPr>
        <p:spPr bwMode="auto">
          <a:xfrm>
            <a:off x="4016375" y="32464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kumimoji="1" lang="en-US" sz="1800">
              <a:latin typeface="Helvetica" panose="020B0604020202020204"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646111" y="109182"/>
            <a:ext cx="9404723" cy="791570"/>
          </a:xfrm>
        </p:spPr>
        <p:txBody>
          <a:bodyPr/>
          <a:lstStyle/>
          <a:p>
            <a:pPr eaLnBrk="1" hangingPunct="1"/>
            <a:r>
              <a:rPr lang="en-US" b="1" dirty="0" smtClean="0">
                <a:ea typeface="ＭＳ Ｐゴシック" panose="020B0600070205080204" pitchFamily="34" charset="-128"/>
              </a:rPr>
              <a:t>Readers-Writers Problem</a:t>
            </a:r>
          </a:p>
        </p:txBody>
      </p:sp>
      <p:sp>
        <p:nvSpPr>
          <p:cNvPr id="68611" name="Rectangle 3"/>
          <p:cNvSpPr>
            <a:spLocks noGrp="1" noChangeArrowheads="1"/>
          </p:cNvSpPr>
          <p:nvPr>
            <p:ph type="body" idx="1"/>
          </p:nvPr>
        </p:nvSpPr>
        <p:spPr>
          <a:xfrm>
            <a:off x="232013" y="900752"/>
            <a:ext cx="11791666" cy="5957248"/>
          </a:xfrm>
        </p:spPr>
        <p:txBody>
          <a:bodyPr>
            <a:normAutofit fontScale="92500" lnSpcReduction="10000"/>
          </a:bodyPr>
          <a:lstStyle/>
          <a:p>
            <a:r>
              <a:rPr lang="en-US" dirty="0" smtClean="0">
                <a:ea typeface="ＭＳ Ｐゴシック" panose="020B0600070205080204" pitchFamily="34" charset="-128"/>
              </a:rPr>
              <a:t>A data set is shared among a number of concurrent processes</a:t>
            </a:r>
          </a:p>
          <a:p>
            <a:pPr lvl="1"/>
            <a:r>
              <a:rPr lang="en-US" dirty="0" smtClean="0">
                <a:ea typeface="ＭＳ Ｐゴシック" panose="020B0600070205080204" pitchFamily="34" charset="-128"/>
              </a:rPr>
              <a:t>Readers – only read the data set; they do </a:t>
            </a:r>
            <a:r>
              <a:rPr lang="en-US" b="1" dirty="0" smtClean="0">
                <a:ea typeface="ＭＳ Ｐゴシック" panose="020B0600070205080204" pitchFamily="34" charset="-128"/>
              </a:rPr>
              <a:t>not </a:t>
            </a:r>
            <a:r>
              <a:rPr lang="en-US" dirty="0" smtClean="0">
                <a:ea typeface="ＭＳ Ｐゴシック" panose="020B0600070205080204" pitchFamily="34" charset="-128"/>
              </a:rPr>
              <a:t>perform any updates</a:t>
            </a:r>
          </a:p>
          <a:p>
            <a:pPr lvl="1"/>
            <a:r>
              <a:rPr lang="en-US" dirty="0" smtClean="0">
                <a:ea typeface="ＭＳ Ｐゴシック" panose="020B0600070205080204" pitchFamily="34" charset="-128"/>
              </a:rPr>
              <a:t>Writers   – can both read and write</a:t>
            </a:r>
          </a:p>
          <a:p>
            <a:r>
              <a:rPr lang="en-US" dirty="0" smtClean="0">
                <a:ea typeface="ＭＳ Ｐゴシック" panose="020B0600070205080204" pitchFamily="34" charset="-128"/>
              </a:rPr>
              <a:t>Problem – allow multiple readers to read at the same time.  Only one single writer can access the shared data at the same time</a:t>
            </a:r>
          </a:p>
          <a:p>
            <a:r>
              <a:rPr lang="en-US" dirty="0" smtClean="0">
                <a:ea typeface="ＭＳ Ｐゴシック" panose="020B0600070205080204" pitchFamily="34" charset="-128"/>
              </a:rPr>
              <a:t>Shared Data</a:t>
            </a:r>
          </a:p>
          <a:p>
            <a:pPr lvl="1"/>
            <a:r>
              <a:rPr lang="en-US" dirty="0" smtClean="0">
                <a:ea typeface="ＭＳ Ｐゴシック" panose="020B0600070205080204" pitchFamily="34" charset="-128"/>
              </a:rPr>
              <a:t>Data set</a:t>
            </a:r>
          </a:p>
          <a:p>
            <a:pPr lvl="1"/>
            <a:r>
              <a:rPr lang="en-US" dirty="0" smtClean="0">
                <a:ea typeface="ＭＳ Ｐゴシック" panose="020B0600070205080204" pitchFamily="34" charset="-128"/>
              </a:rPr>
              <a:t>Semaphore </a:t>
            </a:r>
            <a:r>
              <a:rPr lang="en-US" dirty="0" err="1" smtClean="0">
                <a:ea typeface="ＭＳ Ｐゴシック" panose="020B0600070205080204" pitchFamily="34" charset="-128"/>
              </a:rPr>
              <a:t>mutex</a:t>
            </a:r>
            <a:r>
              <a:rPr lang="en-US" dirty="0" smtClean="0">
                <a:ea typeface="ＭＳ Ｐゴシック" panose="020B0600070205080204" pitchFamily="34" charset="-128"/>
              </a:rPr>
              <a:t> initialized to 1</a:t>
            </a:r>
          </a:p>
          <a:p>
            <a:pPr lvl="1"/>
            <a:r>
              <a:rPr lang="en-US" dirty="0" smtClean="0">
                <a:ea typeface="ＭＳ Ｐゴシック" panose="020B0600070205080204" pitchFamily="34" charset="-128"/>
              </a:rPr>
              <a:t>Semaphore </a:t>
            </a:r>
            <a:r>
              <a:rPr lang="en-US" dirty="0" err="1" smtClean="0">
                <a:ea typeface="ＭＳ Ｐゴシック" panose="020B0600070205080204" pitchFamily="34" charset="-128"/>
              </a:rPr>
              <a:t>wrt</a:t>
            </a:r>
            <a:r>
              <a:rPr lang="en-US" dirty="0" smtClean="0">
                <a:ea typeface="ＭＳ Ｐゴシック" panose="020B0600070205080204" pitchFamily="34" charset="-128"/>
              </a:rPr>
              <a:t> initialized to 1</a:t>
            </a:r>
          </a:p>
          <a:p>
            <a:r>
              <a:rPr lang="en-US" dirty="0" smtClean="0">
                <a:ea typeface="ＭＳ Ｐゴシック" panose="020B0600070205080204" pitchFamily="34" charset="-128"/>
              </a:rPr>
              <a:t>Integer </a:t>
            </a:r>
            <a:r>
              <a:rPr lang="en-US" dirty="0" err="1" smtClean="0">
                <a:ea typeface="ＭＳ Ｐゴシック" panose="020B0600070205080204" pitchFamily="34" charset="-128"/>
              </a:rPr>
              <a:t>readcount</a:t>
            </a:r>
            <a:r>
              <a:rPr lang="en-US" dirty="0" smtClean="0">
                <a:ea typeface="ＭＳ Ｐゴシック" panose="020B0600070205080204" pitchFamily="34" charset="-128"/>
              </a:rPr>
              <a:t> initialized to 0</a:t>
            </a:r>
          </a:p>
          <a:p>
            <a:r>
              <a:rPr lang="en-US" dirty="0" smtClean="0">
                <a:ea typeface="ＭＳ Ｐゴシック" panose="020B0600070205080204" pitchFamily="34" charset="-128"/>
              </a:rPr>
              <a:t>The </a:t>
            </a:r>
            <a:r>
              <a:rPr lang="en-US" dirty="0">
                <a:ea typeface="ＭＳ Ｐゴシック" panose="020B0600070205080204" pitchFamily="34" charset="-128"/>
              </a:rPr>
              <a:t>structure of a writer </a:t>
            </a:r>
            <a:r>
              <a:rPr lang="en-US" dirty="0" smtClean="0">
                <a:ea typeface="ＭＳ Ｐゴシック" panose="020B0600070205080204" pitchFamily="34" charset="-128"/>
              </a:rPr>
              <a:t>process</a:t>
            </a:r>
            <a:endParaRPr lang="en-US" dirty="0">
              <a:ea typeface="ＭＳ Ｐゴシック" panose="020B0600070205080204" pitchFamily="34" charset="-128"/>
            </a:endParaRPr>
          </a:p>
          <a:p>
            <a:pPr>
              <a:buFont typeface="Monotype Sorts" charset="2"/>
              <a:buNone/>
            </a:pPr>
            <a:r>
              <a:rPr lang="en-US" dirty="0">
                <a:ea typeface="ＭＳ Ｐゴシック" panose="020B0600070205080204" pitchFamily="34" charset="-128"/>
              </a:rPr>
              <a:t>              do {</a:t>
            </a:r>
          </a:p>
          <a:p>
            <a:pPr>
              <a:buFont typeface="Monotype Sorts" charset="2"/>
              <a:buNone/>
            </a:pPr>
            <a:r>
              <a:rPr lang="en-US" dirty="0">
                <a:ea typeface="ＭＳ Ｐゴシック" panose="020B0600070205080204" pitchFamily="34" charset="-128"/>
              </a:rPr>
              <a:t>                        wait (</a:t>
            </a:r>
            <a:r>
              <a:rPr lang="en-US" dirty="0" err="1">
                <a:ea typeface="ＭＳ Ｐゴシック" panose="020B0600070205080204" pitchFamily="34" charset="-128"/>
              </a:rPr>
              <a:t>wrt</a:t>
            </a:r>
            <a:r>
              <a:rPr lang="en-US" dirty="0">
                <a:ea typeface="ＭＳ Ｐゴシック" panose="020B0600070205080204" pitchFamily="34" charset="-128"/>
              </a:rPr>
              <a:t>) </a:t>
            </a:r>
            <a:r>
              <a:rPr lang="en-US" dirty="0" smtClean="0">
                <a:ea typeface="ＭＳ Ｐゴシック" panose="020B0600070205080204" pitchFamily="34" charset="-128"/>
              </a:rPr>
              <a:t>;</a:t>
            </a:r>
            <a:endParaRPr lang="en-US" dirty="0">
              <a:ea typeface="ＭＳ Ｐゴシック" panose="020B0600070205080204" pitchFamily="34" charset="-128"/>
            </a:endParaRPr>
          </a:p>
          <a:p>
            <a:pPr>
              <a:buFont typeface="Monotype Sorts" charset="2"/>
              <a:buNone/>
            </a:pPr>
            <a:r>
              <a:rPr lang="en-US" dirty="0">
                <a:ea typeface="ＭＳ Ｐゴシック" panose="020B0600070205080204" pitchFamily="34" charset="-128"/>
              </a:rPr>
              <a:t>                             //    writing is </a:t>
            </a:r>
            <a:r>
              <a:rPr lang="en-US" dirty="0" smtClean="0">
                <a:ea typeface="ＭＳ Ｐゴシック" panose="020B0600070205080204" pitchFamily="34" charset="-128"/>
              </a:rPr>
              <a:t>performed</a:t>
            </a:r>
            <a:endParaRPr lang="en-US" dirty="0">
              <a:ea typeface="ＭＳ Ｐゴシック" panose="020B0600070205080204" pitchFamily="34" charset="-128"/>
            </a:endParaRPr>
          </a:p>
          <a:p>
            <a:pPr>
              <a:buFont typeface="Monotype Sorts" charset="2"/>
              <a:buNone/>
            </a:pPr>
            <a:r>
              <a:rPr lang="en-US" dirty="0">
                <a:ea typeface="ＭＳ Ｐゴシック" panose="020B0600070205080204" pitchFamily="34" charset="-128"/>
              </a:rPr>
              <a:t>                        signal (</a:t>
            </a:r>
            <a:r>
              <a:rPr lang="en-US" dirty="0" err="1">
                <a:ea typeface="ＭＳ Ｐゴシック" panose="020B0600070205080204" pitchFamily="34" charset="-128"/>
              </a:rPr>
              <a:t>wrt</a:t>
            </a:r>
            <a:r>
              <a:rPr lang="en-US" dirty="0">
                <a:ea typeface="ＭＳ Ｐゴシック" panose="020B0600070205080204" pitchFamily="34" charset="-128"/>
              </a:rPr>
              <a:t>) ;</a:t>
            </a:r>
          </a:p>
          <a:p>
            <a:pPr>
              <a:buFont typeface="Monotype Sorts" charset="2"/>
              <a:buNone/>
            </a:pPr>
            <a:r>
              <a:rPr lang="en-US" dirty="0">
                <a:ea typeface="ＭＳ Ｐゴシック" panose="020B0600070205080204" pitchFamily="34" charset="-128"/>
              </a:rPr>
              <a:t>             } while (TRUE);</a:t>
            </a:r>
          </a:p>
          <a:p>
            <a:pPr lvl="1"/>
            <a:endParaRPr lang="en-US" dirty="0" smtClean="0">
              <a:ea typeface="ＭＳ Ｐゴシック" panose="020B0600070205080204" pitchFamily="34" charset="-128"/>
            </a:endParaRPr>
          </a:p>
          <a:p>
            <a:pPr lvl="1"/>
            <a:endParaRPr lang="en-US" dirty="0" smtClean="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646111" y="452718"/>
            <a:ext cx="9404723" cy="826808"/>
          </a:xfrm>
        </p:spPr>
        <p:txBody>
          <a:bodyPr/>
          <a:lstStyle/>
          <a:p>
            <a:pPr eaLnBrk="1" hangingPunct="1"/>
            <a:r>
              <a:rPr lang="en-US" b="1" dirty="0" smtClean="0">
                <a:ea typeface="ＭＳ Ｐゴシック" panose="020B0600070205080204" pitchFamily="34" charset="-128"/>
              </a:rPr>
              <a:t>Readers-Writers Problem (Cont.)</a:t>
            </a:r>
          </a:p>
        </p:txBody>
      </p:sp>
      <p:sp>
        <p:nvSpPr>
          <p:cNvPr id="72707" name="Rectangle 3"/>
          <p:cNvSpPr>
            <a:spLocks noGrp="1" noChangeArrowheads="1"/>
          </p:cNvSpPr>
          <p:nvPr>
            <p:ph type="body" idx="1"/>
          </p:nvPr>
        </p:nvSpPr>
        <p:spPr>
          <a:xfrm>
            <a:off x="646111" y="1279526"/>
            <a:ext cx="10053734" cy="5578474"/>
          </a:xfrm>
        </p:spPr>
        <p:txBody>
          <a:bodyPr>
            <a:normAutofit/>
          </a:bodyPr>
          <a:lstStyle/>
          <a:p>
            <a:pPr marL="0" indent="0">
              <a:lnSpc>
                <a:spcPct val="80000"/>
              </a:lnSpc>
              <a:buNone/>
            </a:pPr>
            <a:r>
              <a:rPr lang="en-US" sz="1600" dirty="0" smtClean="0">
                <a:ea typeface="ＭＳ Ｐゴシック" panose="020B0600070205080204" pitchFamily="34" charset="-128"/>
              </a:rPr>
              <a:t>The </a:t>
            </a:r>
            <a:r>
              <a:rPr lang="en-US" sz="1600" dirty="0">
                <a:ea typeface="ＭＳ Ｐゴシック" panose="020B0600070205080204" pitchFamily="34" charset="-128"/>
              </a:rPr>
              <a:t>structure of a reader </a:t>
            </a:r>
            <a:r>
              <a:rPr lang="en-US" sz="1600" dirty="0" smtClean="0">
                <a:ea typeface="ＭＳ Ｐゴシック" panose="020B0600070205080204" pitchFamily="34" charset="-128"/>
              </a:rPr>
              <a:t>process</a:t>
            </a:r>
            <a:endParaRPr lang="en-US" sz="1600" dirty="0">
              <a:ea typeface="ＭＳ Ｐゴシック" panose="020B0600070205080204" pitchFamily="34" charset="-128"/>
            </a:endParaRPr>
          </a:p>
          <a:p>
            <a:pPr>
              <a:lnSpc>
                <a:spcPct val="80000"/>
              </a:lnSpc>
              <a:buFont typeface="Monotype Sorts" charset="2"/>
              <a:buNone/>
            </a:pPr>
            <a:r>
              <a:rPr lang="en-US" sz="1600" dirty="0">
                <a:ea typeface="ＭＳ Ｐゴシック" panose="020B0600070205080204" pitchFamily="34" charset="-128"/>
              </a:rPr>
              <a:t>	do {</a:t>
            </a:r>
          </a:p>
          <a:p>
            <a:pPr>
              <a:lnSpc>
                <a:spcPct val="80000"/>
              </a:lnSpc>
              <a:buFont typeface="Monotype Sorts" charset="2"/>
              <a:buNone/>
            </a:pPr>
            <a:r>
              <a:rPr lang="en-US" sz="1600" dirty="0">
                <a:ea typeface="ＭＳ Ｐゴシック" panose="020B0600070205080204" pitchFamily="34" charset="-128"/>
              </a:rPr>
              <a:t>                       wait (</a:t>
            </a:r>
            <a:r>
              <a:rPr lang="en-US" sz="1600" dirty="0" err="1">
                <a:ea typeface="ＭＳ Ｐゴシック" panose="020B0600070205080204" pitchFamily="34" charset="-128"/>
              </a:rPr>
              <a:t>mutex</a:t>
            </a:r>
            <a:r>
              <a:rPr lang="en-US" sz="1600" dirty="0">
                <a:ea typeface="ＭＳ Ｐゴシック" panose="020B0600070205080204" pitchFamily="34" charset="-128"/>
              </a:rPr>
              <a:t>) ;</a:t>
            </a:r>
          </a:p>
          <a:p>
            <a:pPr>
              <a:lnSpc>
                <a:spcPct val="80000"/>
              </a:lnSpc>
              <a:buFont typeface="Monotype Sorts" charset="2"/>
              <a:buNone/>
            </a:pPr>
            <a:r>
              <a:rPr lang="en-US" sz="1600" dirty="0">
                <a:ea typeface="ＭＳ Ｐゴシック" panose="020B0600070205080204" pitchFamily="34" charset="-128"/>
              </a:rPr>
              <a:t>                       </a:t>
            </a:r>
            <a:r>
              <a:rPr lang="en-US" sz="1600" dirty="0" err="1">
                <a:ea typeface="ＭＳ Ｐゴシック" panose="020B0600070205080204" pitchFamily="34" charset="-128"/>
              </a:rPr>
              <a:t>readcount</a:t>
            </a:r>
            <a:r>
              <a:rPr lang="en-US" sz="1600" dirty="0">
                <a:ea typeface="ＭＳ Ｐゴシック" panose="020B0600070205080204" pitchFamily="34" charset="-128"/>
              </a:rPr>
              <a:t> ++ ;</a:t>
            </a:r>
          </a:p>
          <a:p>
            <a:pPr>
              <a:lnSpc>
                <a:spcPct val="80000"/>
              </a:lnSpc>
              <a:buFont typeface="Monotype Sorts" charset="2"/>
              <a:buNone/>
            </a:pPr>
            <a:r>
              <a:rPr lang="en-US" sz="1600" dirty="0">
                <a:ea typeface="ＭＳ Ｐゴシック" panose="020B0600070205080204" pitchFamily="34" charset="-128"/>
              </a:rPr>
              <a:t>                       if (</a:t>
            </a:r>
            <a:r>
              <a:rPr lang="en-US" sz="1600" dirty="0" err="1">
                <a:ea typeface="ＭＳ Ｐゴシック" panose="020B0600070205080204" pitchFamily="34" charset="-128"/>
              </a:rPr>
              <a:t>readcount</a:t>
            </a:r>
            <a:r>
              <a:rPr lang="en-US" sz="1600" dirty="0">
                <a:ea typeface="ＭＳ Ｐゴシック" panose="020B0600070205080204" pitchFamily="34" charset="-128"/>
              </a:rPr>
              <a:t> == 1)  </a:t>
            </a:r>
          </a:p>
          <a:p>
            <a:pPr>
              <a:lnSpc>
                <a:spcPct val="80000"/>
              </a:lnSpc>
              <a:buFont typeface="Monotype Sorts" charset="2"/>
              <a:buNone/>
            </a:pPr>
            <a:r>
              <a:rPr lang="en-US" sz="1600" dirty="0">
                <a:ea typeface="ＭＳ Ｐゴシック" panose="020B0600070205080204" pitchFamily="34" charset="-128"/>
              </a:rPr>
              <a:t>			          wait (</a:t>
            </a:r>
            <a:r>
              <a:rPr lang="en-US" sz="1600" dirty="0" err="1">
                <a:ea typeface="ＭＳ Ｐゴシック" panose="020B0600070205080204" pitchFamily="34" charset="-128"/>
              </a:rPr>
              <a:t>wrt</a:t>
            </a:r>
            <a:r>
              <a:rPr lang="en-US" sz="1600" dirty="0">
                <a:ea typeface="ＭＳ Ｐゴシック" panose="020B0600070205080204" pitchFamily="34" charset="-128"/>
              </a:rPr>
              <a:t>) ;</a:t>
            </a:r>
          </a:p>
          <a:p>
            <a:pPr>
              <a:lnSpc>
                <a:spcPct val="80000"/>
              </a:lnSpc>
              <a:buFont typeface="Monotype Sorts" charset="2"/>
              <a:buNone/>
            </a:pPr>
            <a:r>
              <a:rPr lang="en-US" sz="1600" dirty="0">
                <a:ea typeface="ＭＳ Ｐゴシック" panose="020B0600070205080204" pitchFamily="34" charset="-128"/>
              </a:rPr>
              <a:t>                       signal (</a:t>
            </a:r>
            <a:r>
              <a:rPr lang="en-US" sz="1600" dirty="0" err="1">
                <a:ea typeface="ＭＳ Ｐゴシック" panose="020B0600070205080204" pitchFamily="34" charset="-128"/>
              </a:rPr>
              <a:t>mutex</a:t>
            </a:r>
            <a:r>
              <a:rPr lang="en-US" sz="1600" dirty="0" smtClean="0">
                <a:ea typeface="ＭＳ Ｐゴシック" panose="020B0600070205080204" pitchFamily="34" charset="-128"/>
              </a:rPr>
              <a:t>)</a:t>
            </a:r>
            <a:endParaRPr lang="en-US" sz="1600" dirty="0">
              <a:ea typeface="ＭＳ Ｐゴシック" panose="020B0600070205080204" pitchFamily="34" charset="-128"/>
            </a:endParaRPr>
          </a:p>
          <a:p>
            <a:pPr>
              <a:lnSpc>
                <a:spcPct val="80000"/>
              </a:lnSpc>
              <a:buFont typeface="Monotype Sorts" charset="2"/>
              <a:buNone/>
            </a:pPr>
            <a:r>
              <a:rPr lang="en-US" sz="1600" dirty="0">
                <a:ea typeface="ＭＳ Ｐゴシック" panose="020B0600070205080204" pitchFamily="34" charset="-128"/>
              </a:rPr>
              <a:t>                               // reading is </a:t>
            </a:r>
            <a:r>
              <a:rPr lang="en-US" sz="1600" dirty="0" smtClean="0">
                <a:ea typeface="ＭＳ Ｐゴシック" panose="020B0600070205080204" pitchFamily="34" charset="-128"/>
              </a:rPr>
              <a:t>performed</a:t>
            </a:r>
            <a:endParaRPr lang="en-US" sz="1600" dirty="0">
              <a:ea typeface="ＭＳ Ｐゴシック" panose="020B0600070205080204" pitchFamily="34" charset="-128"/>
            </a:endParaRPr>
          </a:p>
          <a:p>
            <a:pPr>
              <a:lnSpc>
                <a:spcPct val="80000"/>
              </a:lnSpc>
              <a:buFont typeface="Monotype Sorts" charset="2"/>
              <a:buNone/>
            </a:pPr>
            <a:r>
              <a:rPr lang="en-US" sz="1600" dirty="0">
                <a:ea typeface="ＭＳ Ｐゴシック" panose="020B0600070205080204" pitchFamily="34" charset="-128"/>
              </a:rPr>
              <a:t>                        wait (</a:t>
            </a:r>
            <a:r>
              <a:rPr lang="en-US" sz="1600" dirty="0" err="1">
                <a:ea typeface="ＭＳ Ｐゴシック" panose="020B0600070205080204" pitchFamily="34" charset="-128"/>
              </a:rPr>
              <a:t>mutex</a:t>
            </a:r>
            <a:r>
              <a:rPr lang="en-US" sz="1600" dirty="0">
                <a:ea typeface="ＭＳ Ｐゴシック" panose="020B0600070205080204" pitchFamily="34" charset="-128"/>
              </a:rPr>
              <a:t>) ;</a:t>
            </a:r>
          </a:p>
          <a:p>
            <a:pPr>
              <a:lnSpc>
                <a:spcPct val="80000"/>
              </a:lnSpc>
              <a:buFont typeface="Monotype Sorts" charset="2"/>
              <a:buNone/>
            </a:pPr>
            <a:r>
              <a:rPr lang="en-US" sz="1600" dirty="0">
                <a:ea typeface="ＭＳ Ｐゴシック" panose="020B0600070205080204" pitchFamily="34" charset="-128"/>
              </a:rPr>
              <a:t>                        </a:t>
            </a:r>
            <a:r>
              <a:rPr lang="en-US" sz="1600" dirty="0" err="1">
                <a:ea typeface="ＭＳ Ｐゴシック" panose="020B0600070205080204" pitchFamily="34" charset="-128"/>
              </a:rPr>
              <a:t>readcount</a:t>
            </a:r>
            <a:r>
              <a:rPr lang="en-US" sz="1600" dirty="0">
                <a:ea typeface="ＭＳ Ｐゴシック" panose="020B0600070205080204" pitchFamily="34" charset="-128"/>
              </a:rPr>
              <a:t>  - - ;</a:t>
            </a:r>
          </a:p>
          <a:p>
            <a:pPr>
              <a:lnSpc>
                <a:spcPct val="80000"/>
              </a:lnSpc>
              <a:buFont typeface="Monotype Sorts" charset="2"/>
              <a:buNone/>
            </a:pPr>
            <a:r>
              <a:rPr lang="en-US" sz="1600" dirty="0">
                <a:ea typeface="ＭＳ Ｐゴシック" panose="020B0600070205080204" pitchFamily="34" charset="-128"/>
              </a:rPr>
              <a:t>                        if (</a:t>
            </a:r>
            <a:r>
              <a:rPr lang="en-US" sz="1600" dirty="0" err="1">
                <a:ea typeface="ＭＳ Ｐゴシック" panose="020B0600070205080204" pitchFamily="34" charset="-128"/>
              </a:rPr>
              <a:t>readcount</a:t>
            </a:r>
            <a:r>
              <a:rPr lang="en-US" sz="1600" dirty="0">
                <a:ea typeface="ＭＳ Ｐゴシック" panose="020B0600070205080204" pitchFamily="34" charset="-128"/>
              </a:rPr>
              <a:t>  == 0)  </a:t>
            </a:r>
          </a:p>
          <a:p>
            <a:pPr>
              <a:lnSpc>
                <a:spcPct val="80000"/>
              </a:lnSpc>
              <a:buFont typeface="Monotype Sorts" charset="2"/>
              <a:buNone/>
            </a:pPr>
            <a:r>
              <a:rPr lang="en-US" sz="1600" dirty="0">
                <a:ea typeface="ＭＳ Ｐゴシック" panose="020B0600070205080204" pitchFamily="34" charset="-128"/>
              </a:rPr>
              <a:t>			         signal (</a:t>
            </a:r>
            <a:r>
              <a:rPr lang="en-US" sz="1600" dirty="0" err="1">
                <a:ea typeface="ＭＳ Ｐゴシック" panose="020B0600070205080204" pitchFamily="34" charset="-128"/>
              </a:rPr>
              <a:t>wrt</a:t>
            </a:r>
            <a:r>
              <a:rPr lang="en-US" sz="1600" dirty="0">
                <a:ea typeface="ＭＳ Ｐゴシック" panose="020B0600070205080204" pitchFamily="34" charset="-128"/>
              </a:rPr>
              <a:t>) ;</a:t>
            </a:r>
          </a:p>
          <a:p>
            <a:pPr>
              <a:lnSpc>
                <a:spcPct val="80000"/>
              </a:lnSpc>
              <a:buFont typeface="Monotype Sorts" charset="2"/>
              <a:buNone/>
            </a:pPr>
            <a:r>
              <a:rPr lang="en-US" sz="1600" dirty="0">
                <a:ea typeface="ＭＳ Ｐゴシック" panose="020B0600070205080204" pitchFamily="34" charset="-128"/>
              </a:rPr>
              <a:t>                        signal (</a:t>
            </a:r>
            <a:r>
              <a:rPr lang="en-US" sz="1600" dirty="0" err="1">
                <a:ea typeface="ＭＳ Ｐゴシック" panose="020B0600070205080204" pitchFamily="34" charset="-128"/>
              </a:rPr>
              <a:t>mutex</a:t>
            </a:r>
            <a:r>
              <a:rPr lang="en-US" sz="1600" dirty="0">
                <a:ea typeface="ＭＳ Ｐゴシック" panose="020B0600070205080204" pitchFamily="34" charset="-128"/>
              </a:rPr>
              <a:t>) ;</a:t>
            </a:r>
          </a:p>
          <a:p>
            <a:pPr>
              <a:lnSpc>
                <a:spcPct val="80000"/>
              </a:lnSpc>
              <a:buFont typeface="Monotype Sorts" charset="2"/>
              <a:buNone/>
            </a:pPr>
            <a:r>
              <a:rPr lang="en-US" sz="1600" dirty="0">
                <a:ea typeface="ＭＳ Ｐゴシック" panose="020B0600070205080204" pitchFamily="34" charset="-128"/>
              </a:rPr>
              <a:t>              } while (TRUE</a:t>
            </a:r>
            <a:r>
              <a:rPr lang="en-US" sz="1600" dirty="0" smtClean="0">
                <a:ea typeface="ＭＳ Ｐゴシック" panose="020B0600070205080204" pitchFamily="34" charset="-128"/>
              </a:rPr>
              <a:t>);</a:t>
            </a:r>
            <a:endParaRPr lang="en-US" sz="1600" dirty="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646111" y="191070"/>
            <a:ext cx="9404723" cy="914400"/>
          </a:xfrm>
        </p:spPr>
        <p:txBody>
          <a:bodyPr/>
          <a:lstStyle/>
          <a:p>
            <a:pPr eaLnBrk="1" hangingPunct="1"/>
            <a:r>
              <a:rPr lang="en-US" b="1" dirty="0" smtClean="0">
                <a:ea typeface="ＭＳ Ｐゴシック" panose="020B0600070205080204" pitchFamily="34" charset="-128"/>
              </a:rPr>
              <a:t>Dining-Philosophers Problem</a:t>
            </a:r>
          </a:p>
        </p:txBody>
      </p:sp>
      <p:sp>
        <p:nvSpPr>
          <p:cNvPr id="74755" name="Rectangle 3"/>
          <p:cNvSpPr>
            <a:spLocks noGrp="1" noChangeArrowheads="1"/>
          </p:cNvSpPr>
          <p:nvPr>
            <p:ph type="body" idx="1"/>
          </p:nvPr>
        </p:nvSpPr>
        <p:spPr>
          <a:xfrm>
            <a:off x="194080" y="4876801"/>
            <a:ext cx="8618678" cy="1247775"/>
          </a:xfrm>
        </p:spPr>
        <p:txBody>
          <a:bodyPr/>
          <a:lstStyle/>
          <a:p>
            <a:pPr>
              <a:tabLst>
                <a:tab pos="1370013" algn="l"/>
                <a:tab pos="1541463" algn="l"/>
              </a:tabLst>
            </a:pPr>
            <a:r>
              <a:rPr lang="en-US" dirty="0" smtClean="0">
                <a:ea typeface="ＭＳ Ｐゴシック" panose="020B0600070205080204" pitchFamily="34" charset="-128"/>
              </a:rPr>
              <a:t>Shared data </a:t>
            </a:r>
          </a:p>
          <a:p>
            <a:pPr lvl="1">
              <a:tabLst>
                <a:tab pos="1370013" algn="l"/>
                <a:tab pos="1541463" algn="l"/>
              </a:tabLst>
            </a:pPr>
            <a:r>
              <a:rPr lang="en-US" dirty="0" smtClean="0">
                <a:ea typeface="ＭＳ Ｐゴシック" panose="020B0600070205080204" pitchFamily="34" charset="-128"/>
              </a:rPr>
              <a:t>Bowl of rice (data set)</a:t>
            </a:r>
          </a:p>
          <a:p>
            <a:pPr lvl="1">
              <a:tabLst>
                <a:tab pos="1370013" algn="l"/>
                <a:tab pos="1541463" algn="l"/>
              </a:tabLst>
            </a:pPr>
            <a:r>
              <a:rPr lang="en-US" sz="1600" dirty="0">
                <a:ea typeface="ＭＳ Ｐゴシック" panose="020B0600070205080204" pitchFamily="34" charset="-128"/>
              </a:rPr>
              <a:t>Semaphore </a:t>
            </a:r>
            <a:r>
              <a:rPr lang="en-US" sz="1600" dirty="0">
                <a:solidFill>
                  <a:srgbClr val="FF0000"/>
                </a:solidFill>
                <a:ea typeface="ＭＳ Ｐゴシック" panose="020B0600070205080204" pitchFamily="34" charset="-128"/>
              </a:rPr>
              <a:t>chopstick [5]</a:t>
            </a:r>
            <a:r>
              <a:rPr lang="en-US" sz="1600" dirty="0">
                <a:ea typeface="ＭＳ Ｐゴシック" panose="020B0600070205080204" pitchFamily="34" charset="-128"/>
              </a:rPr>
              <a:t> initialized to 1</a:t>
            </a:r>
          </a:p>
        </p:txBody>
      </p:sp>
      <p:pic>
        <p:nvPicPr>
          <p:cNvPr id="7475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172" y="1318704"/>
            <a:ext cx="3489325" cy="334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5895833" y="1746923"/>
            <a:ext cx="5622877" cy="3582519"/>
          </a:xfrm>
          <a:prstGeom prst="rect">
            <a:avLst/>
          </a:prstGeom>
        </p:spPr>
        <p:txBody>
          <a:bodyPr wrap="square">
            <a:spAutoFit/>
          </a:bodyPr>
          <a:lstStyle/>
          <a:p>
            <a:pPr marL="381000" indent="-381000">
              <a:lnSpc>
                <a:spcPct val="90000"/>
              </a:lnSpc>
              <a:tabLst>
                <a:tab pos="1712913" algn="l"/>
                <a:tab pos="2005013" algn="l"/>
                <a:tab pos="2232025" algn="l"/>
                <a:tab pos="2459038" algn="l"/>
              </a:tabLst>
            </a:pPr>
            <a:r>
              <a:rPr lang="en-US" dirty="0">
                <a:ea typeface="ＭＳ Ｐゴシック" panose="020B0600070205080204" pitchFamily="34" charset="-128"/>
              </a:rPr>
              <a:t>The structure of Philosopher</a:t>
            </a:r>
            <a:r>
              <a:rPr lang="en-US" i="1" dirty="0">
                <a:ea typeface="ＭＳ Ｐゴシック" panose="020B0600070205080204" pitchFamily="34" charset="-128"/>
              </a:rPr>
              <a:t> i</a:t>
            </a:r>
            <a:r>
              <a:rPr lang="en-US" dirty="0">
                <a:ea typeface="ＭＳ Ｐゴシック" panose="020B0600070205080204" pitchFamily="34" charset="-128"/>
              </a:rPr>
              <a:t>:</a:t>
            </a:r>
          </a:p>
          <a:p>
            <a:pPr marL="381000" indent="-381000">
              <a:lnSpc>
                <a:spcPct val="90000"/>
              </a:lnSpc>
              <a:buNone/>
              <a:tabLst>
                <a:tab pos="1712913" algn="l"/>
                <a:tab pos="2005013" algn="l"/>
                <a:tab pos="2232025" algn="l"/>
                <a:tab pos="2459038" algn="l"/>
              </a:tabLst>
            </a:pPr>
            <a:endParaRPr lang="en-US" dirty="0">
              <a:ea typeface="ＭＳ Ｐゴシック" panose="020B0600070205080204" pitchFamily="34" charset="-128"/>
            </a:endParaRPr>
          </a:p>
          <a:p>
            <a:pPr marL="1200150" lvl="2" indent="-342900">
              <a:lnSpc>
                <a:spcPct val="90000"/>
              </a:lnSpc>
              <a:buNone/>
              <a:tabLst>
                <a:tab pos="1712913" algn="l"/>
                <a:tab pos="2005013" algn="l"/>
                <a:tab pos="2232025" algn="l"/>
                <a:tab pos="2459038" algn="l"/>
              </a:tabLst>
            </a:pPr>
            <a:r>
              <a:rPr lang="en-US" dirty="0">
                <a:ea typeface="ＭＳ Ｐゴシック" panose="020B0600070205080204" pitchFamily="34" charset="-128"/>
              </a:rPr>
              <a:t>do  { </a:t>
            </a:r>
          </a:p>
          <a:p>
            <a:pPr marL="1200150" lvl="2" indent="-342900">
              <a:lnSpc>
                <a:spcPct val="90000"/>
              </a:lnSpc>
              <a:buNone/>
              <a:tabLst>
                <a:tab pos="1712913" algn="l"/>
                <a:tab pos="2005013" algn="l"/>
                <a:tab pos="2232025" algn="l"/>
                <a:tab pos="2459038" algn="l"/>
              </a:tabLst>
            </a:pPr>
            <a:r>
              <a:rPr lang="en-US" dirty="0">
                <a:ea typeface="ＭＳ Ｐゴシック" panose="020B0600070205080204" pitchFamily="34" charset="-128"/>
              </a:rPr>
              <a:t>          wait ( chopstick[</a:t>
            </a:r>
            <a:r>
              <a:rPr lang="en-US" dirty="0" err="1">
                <a:ea typeface="ＭＳ Ｐゴシック" panose="020B0600070205080204" pitchFamily="34" charset="-128"/>
              </a:rPr>
              <a:t>i</a:t>
            </a:r>
            <a:r>
              <a:rPr lang="en-US" dirty="0">
                <a:ea typeface="ＭＳ Ｐゴシック" panose="020B0600070205080204" pitchFamily="34" charset="-128"/>
              </a:rPr>
              <a:t>] );</a:t>
            </a:r>
          </a:p>
          <a:p>
            <a:pPr marL="1200150" lvl="2" indent="-342900">
              <a:lnSpc>
                <a:spcPct val="90000"/>
              </a:lnSpc>
              <a:buNone/>
              <a:tabLst>
                <a:tab pos="1712913" algn="l"/>
                <a:tab pos="2005013" algn="l"/>
                <a:tab pos="2232025" algn="l"/>
                <a:tab pos="2459038" algn="l"/>
              </a:tabLst>
            </a:pPr>
            <a:r>
              <a:rPr lang="en-US" dirty="0">
                <a:ea typeface="ＭＳ Ｐゴシック" panose="020B0600070205080204" pitchFamily="34" charset="-128"/>
              </a:rPr>
              <a:t>	     wait ( </a:t>
            </a:r>
            <a:r>
              <a:rPr lang="en-US" dirty="0" err="1">
                <a:ea typeface="ＭＳ Ｐゴシック" panose="020B0600070205080204" pitchFamily="34" charset="-128"/>
              </a:rPr>
              <a:t>chopStick</a:t>
            </a:r>
            <a:r>
              <a:rPr lang="en-US" dirty="0">
                <a:ea typeface="ＭＳ Ｐゴシック" panose="020B0600070205080204" pitchFamily="34" charset="-128"/>
              </a:rPr>
              <a:t>[ (</a:t>
            </a:r>
            <a:r>
              <a:rPr lang="en-US" dirty="0" err="1">
                <a:ea typeface="ＭＳ Ｐゴシック" panose="020B0600070205080204" pitchFamily="34" charset="-128"/>
              </a:rPr>
              <a:t>i</a:t>
            </a:r>
            <a:r>
              <a:rPr lang="en-US" dirty="0">
                <a:ea typeface="ＭＳ Ｐゴシック" panose="020B0600070205080204" pitchFamily="34" charset="-128"/>
              </a:rPr>
              <a:t> + 1) % 5] );</a:t>
            </a:r>
          </a:p>
          <a:p>
            <a:pPr marL="1200150" lvl="2" indent="-342900">
              <a:lnSpc>
                <a:spcPct val="90000"/>
              </a:lnSpc>
              <a:buNone/>
              <a:tabLst>
                <a:tab pos="1712913" algn="l"/>
                <a:tab pos="2005013" algn="l"/>
                <a:tab pos="2232025" algn="l"/>
                <a:tab pos="2459038" algn="l"/>
              </a:tabLst>
            </a:pPr>
            <a:r>
              <a:rPr lang="en-US" dirty="0">
                <a:ea typeface="ＭＳ Ｐゴシック" panose="020B0600070205080204" pitchFamily="34" charset="-128"/>
              </a:rPr>
              <a:t>	</a:t>
            </a:r>
          </a:p>
          <a:p>
            <a:pPr marL="1200150" lvl="2" indent="-342900">
              <a:lnSpc>
                <a:spcPct val="90000"/>
              </a:lnSpc>
              <a:buNone/>
              <a:tabLst>
                <a:tab pos="1712913" algn="l"/>
                <a:tab pos="2005013" algn="l"/>
                <a:tab pos="2232025" algn="l"/>
                <a:tab pos="2459038" algn="l"/>
              </a:tabLst>
            </a:pPr>
            <a:r>
              <a:rPr lang="en-US" dirty="0">
                <a:ea typeface="ＭＳ Ｐゴシック" panose="020B0600070205080204" pitchFamily="34" charset="-128"/>
              </a:rPr>
              <a:t>	             //  eat</a:t>
            </a:r>
          </a:p>
          <a:p>
            <a:pPr marL="1200150" lvl="2" indent="-342900">
              <a:lnSpc>
                <a:spcPct val="90000"/>
              </a:lnSpc>
              <a:buNone/>
              <a:tabLst>
                <a:tab pos="1712913" algn="l"/>
                <a:tab pos="2005013" algn="l"/>
                <a:tab pos="2232025" algn="l"/>
                <a:tab pos="2459038" algn="l"/>
              </a:tabLst>
            </a:pPr>
            <a:endParaRPr lang="en-US" dirty="0">
              <a:ea typeface="ＭＳ Ｐゴシック" panose="020B0600070205080204" pitchFamily="34" charset="-128"/>
            </a:endParaRPr>
          </a:p>
          <a:p>
            <a:pPr marL="1200150" lvl="2" indent="-342900">
              <a:lnSpc>
                <a:spcPct val="90000"/>
              </a:lnSpc>
              <a:buNone/>
              <a:tabLst>
                <a:tab pos="1712913" algn="l"/>
                <a:tab pos="2005013" algn="l"/>
                <a:tab pos="2232025" algn="l"/>
                <a:tab pos="2459038" algn="l"/>
              </a:tabLst>
            </a:pPr>
            <a:r>
              <a:rPr lang="en-US" dirty="0">
                <a:ea typeface="ＭＳ Ｐゴシック" panose="020B0600070205080204" pitchFamily="34" charset="-128"/>
              </a:rPr>
              <a:t>	     signal ( chopstick[</a:t>
            </a:r>
            <a:r>
              <a:rPr lang="en-US" dirty="0" err="1">
                <a:ea typeface="ＭＳ Ｐゴシック" panose="020B0600070205080204" pitchFamily="34" charset="-128"/>
              </a:rPr>
              <a:t>i</a:t>
            </a:r>
            <a:r>
              <a:rPr lang="en-US" dirty="0">
                <a:ea typeface="ＭＳ Ｐゴシック" panose="020B0600070205080204" pitchFamily="34" charset="-128"/>
              </a:rPr>
              <a:t>] );</a:t>
            </a:r>
          </a:p>
          <a:p>
            <a:pPr marL="1200150" lvl="2" indent="-342900">
              <a:lnSpc>
                <a:spcPct val="90000"/>
              </a:lnSpc>
              <a:buNone/>
              <a:tabLst>
                <a:tab pos="1712913" algn="l"/>
                <a:tab pos="2005013" algn="l"/>
                <a:tab pos="2232025" algn="l"/>
                <a:tab pos="2459038" algn="l"/>
              </a:tabLst>
            </a:pPr>
            <a:r>
              <a:rPr lang="en-US" dirty="0">
                <a:ea typeface="ＭＳ Ｐゴシック" panose="020B0600070205080204" pitchFamily="34" charset="-128"/>
              </a:rPr>
              <a:t>	     signal (chopstick[ (</a:t>
            </a:r>
            <a:r>
              <a:rPr lang="en-US" dirty="0" err="1">
                <a:ea typeface="ＭＳ Ｐゴシック" panose="020B0600070205080204" pitchFamily="34" charset="-128"/>
              </a:rPr>
              <a:t>i</a:t>
            </a:r>
            <a:r>
              <a:rPr lang="en-US" dirty="0">
                <a:ea typeface="ＭＳ Ｐゴシック" panose="020B0600070205080204" pitchFamily="34" charset="-128"/>
              </a:rPr>
              <a:t> + 1) % 5] );</a:t>
            </a:r>
          </a:p>
          <a:p>
            <a:pPr marL="1200150" lvl="2" indent="-342900">
              <a:lnSpc>
                <a:spcPct val="90000"/>
              </a:lnSpc>
              <a:buNone/>
              <a:tabLst>
                <a:tab pos="1712913" algn="l"/>
                <a:tab pos="2005013" algn="l"/>
                <a:tab pos="2232025" algn="l"/>
                <a:tab pos="2459038" algn="l"/>
              </a:tabLst>
            </a:pPr>
            <a:r>
              <a:rPr lang="en-US" dirty="0">
                <a:ea typeface="ＭＳ Ｐゴシック" panose="020B0600070205080204" pitchFamily="34" charset="-128"/>
              </a:rPr>
              <a:t>	</a:t>
            </a:r>
          </a:p>
          <a:p>
            <a:pPr marL="1200150" lvl="2" indent="-342900">
              <a:lnSpc>
                <a:spcPct val="90000"/>
              </a:lnSpc>
              <a:buNone/>
              <a:tabLst>
                <a:tab pos="1712913" algn="l"/>
                <a:tab pos="2005013" algn="l"/>
                <a:tab pos="2232025" algn="l"/>
                <a:tab pos="2459038" algn="l"/>
              </a:tabLst>
            </a:pPr>
            <a:r>
              <a:rPr lang="en-US" dirty="0">
                <a:ea typeface="ＭＳ Ｐゴシック" panose="020B0600070205080204" pitchFamily="34" charset="-128"/>
              </a:rPr>
              <a:t>                 //  think</a:t>
            </a:r>
          </a:p>
          <a:p>
            <a:pPr marL="1200150" lvl="2" indent="-342900">
              <a:lnSpc>
                <a:spcPct val="90000"/>
              </a:lnSpc>
              <a:buNone/>
              <a:tabLst>
                <a:tab pos="1712913" algn="l"/>
                <a:tab pos="2005013" algn="l"/>
                <a:tab pos="2232025" algn="l"/>
                <a:tab pos="2459038" algn="l"/>
              </a:tabLst>
            </a:pPr>
            <a:endParaRPr lang="en-US" dirty="0">
              <a:ea typeface="ＭＳ Ｐゴシック" panose="020B0600070205080204" pitchFamily="34" charset="-128"/>
            </a:endParaRPr>
          </a:p>
          <a:p>
            <a:pPr marL="1200150" lvl="2" indent="-342900">
              <a:lnSpc>
                <a:spcPct val="90000"/>
              </a:lnSpc>
              <a:buNone/>
              <a:tabLst>
                <a:tab pos="1712913" algn="l"/>
                <a:tab pos="2005013" algn="l"/>
                <a:tab pos="2232025" algn="l"/>
                <a:tab pos="2459038" algn="l"/>
              </a:tabLst>
            </a:pPr>
            <a:r>
              <a:rPr lang="en-US" dirty="0">
                <a:ea typeface="ＭＳ Ｐゴシック" panose="020B0600070205080204" pitchFamily="34" charset="-128"/>
              </a:rPr>
              <a:t>} while (TRUE);</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smtClean="0">
                <a:ea typeface="ＭＳ Ｐゴシック" panose="020B0600070205080204" pitchFamily="34" charset="-128"/>
              </a:rPr>
              <a:t>Problems with Semaphores</a:t>
            </a:r>
          </a:p>
        </p:txBody>
      </p:sp>
      <p:sp>
        <p:nvSpPr>
          <p:cNvPr id="78851" name="Rectangle 3"/>
          <p:cNvSpPr>
            <a:spLocks noGrp="1" noChangeArrowheads="1"/>
          </p:cNvSpPr>
          <p:nvPr>
            <p:ph type="body" idx="1"/>
          </p:nvPr>
        </p:nvSpPr>
        <p:spPr>
          <a:xfrm>
            <a:off x="2351088" y="1282701"/>
            <a:ext cx="6959600" cy="4860925"/>
          </a:xfrm>
        </p:spPr>
        <p:txBody>
          <a:bodyPr/>
          <a:lstStyle/>
          <a:p>
            <a:r>
              <a:rPr lang="en-US" smtClean="0">
                <a:ea typeface="ＭＳ Ｐゴシック" panose="020B0600070205080204" pitchFamily="34" charset="-128"/>
              </a:rPr>
              <a:t> Incorrect use of semaphore operations:</a:t>
            </a:r>
            <a:br>
              <a:rPr lang="en-US" smtClean="0">
                <a:ea typeface="ＭＳ Ｐゴシック" panose="020B0600070205080204" pitchFamily="34" charset="-128"/>
              </a:rPr>
            </a:br>
            <a:endParaRPr lang="en-US" smtClean="0">
              <a:ea typeface="ＭＳ Ｐゴシック" panose="020B0600070205080204" pitchFamily="34" charset="-128"/>
            </a:endParaRPr>
          </a:p>
          <a:p>
            <a:pPr lvl="1"/>
            <a:r>
              <a:rPr lang="en-US" smtClean="0">
                <a:ea typeface="ＭＳ Ｐゴシック" panose="020B0600070205080204" pitchFamily="34" charset="-128"/>
              </a:rPr>
              <a:t> signal (mutex)  ….  wait (mutex)</a:t>
            </a:r>
            <a:br>
              <a:rPr lang="en-US" smtClean="0">
                <a:ea typeface="ＭＳ Ｐゴシック" panose="020B0600070205080204" pitchFamily="34" charset="-128"/>
              </a:rPr>
            </a:br>
            <a:endParaRPr lang="en-US" smtClean="0">
              <a:ea typeface="ＭＳ Ｐゴシック" panose="020B0600070205080204" pitchFamily="34" charset="-128"/>
            </a:endParaRPr>
          </a:p>
          <a:p>
            <a:pPr lvl="1"/>
            <a:r>
              <a:rPr lang="en-US" smtClean="0">
                <a:ea typeface="ＭＳ Ｐゴシック" panose="020B0600070205080204" pitchFamily="34" charset="-128"/>
              </a:rPr>
              <a:t> wait (mutex)  …  wait (mutex)</a:t>
            </a:r>
          </a:p>
          <a:p>
            <a:pPr lvl="1"/>
            <a:endParaRPr lang="en-US" smtClean="0">
              <a:ea typeface="ＭＳ Ｐゴシック" panose="020B0600070205080204" pitchFamily="34" charset="-128"/>
            </a:endParaRPr>
          </a:p>
          <a:p>
            <a:pPr lvl="1"/>
            <a:r>
              <a:rPr lang="en-US" smtClean="0">
                <a:ea typeface="ＭＳ Ｐゴシック" panose="020B0600070205080204" pitchFamily="34" charset="-128"/>
              </a:rPr>
              <a:t> Omitting  of wait (mutex) or signal (mutex) (or both)</a:t>
            </a:r>
          </a:p>
          <a:p>
            <a:endParaRPr lang="en-US" smtClean="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59307" y="0"/>
            <a:ext cx="9791527" cy="723331"/>
          </a:xfrm>
        </p:spPr>
        <p:txBody>
          <a:bodyPr/>
          <a:lstStyle/>
          <a:p>
            <a:pPr algn="ctr"/>
            <a:r>
              <a:rPr lang="en-US" sz="4000" b="1" dirty="0" smtClean="0">
                <a:ea typeface="ＭＳ Ｐゴシック" panose="020B0600070205080204" pitchFamily="34" charset="-128"/>
              </a:rPr>
              <a:t>Chapter 2: Deadlocks</a:t>
            </a:r>
            <a:r>
              <a:rPr lang="en-US" dirty="0" smtClean="0">
                <a:ea typeface="ＭＳ Ｐゴシック" panose="020B0600070205080204" pitchFamily="34" charset="-128"/>
              </a:rPr>
              <a:t/>
            </a:r>
            <a:br>
              <a:rPr lang="en-US" dirty="0" smtClean="0">
                <a:ea typeface="ＭＳ Ｐゴシック" panose="020B0600070205080204" pitchFamily="34" charset="-128"/>
              </a:rPr>
            </a:br>
            <a:endParaRPr lang="en-US" dirty="0" smtClean="0">
              <a:ea typeface="ＭＳ Ｐゴシック" panose="020B0600070205080204" pitchFamily="34" charset="-128"/>
            </a:endParaRPr>
          </a:p>
        </p:txBody>
      </p:sp>
      <p:sp>
        <p:nvSpPr>
          <p:cNvPr id="6147" name="Rectangle 3"/>
          <p:cNvSpPr>
            <a:spLocks noGrp="1" noChangeArrowheads="1"/>
          </p:cNvSpPr>
          <p:nvPr>
            <p:ph type="body" idx="1"/>
          </p:nvPr>
        </p:nvSpPr>
        <p:spPr>
          <a:xfrm>
            <a:off x="259307" y="723331"/>
            <a:ext cx="11532359" cy="5950423"/>
          </a:xfrm>
        </p:spPr>
        <p:txBody>
          <a:bodyPr/>
          <a:lstStyle/>
          <a:p>
            <a:pPr marL="0" indent="0">
              <a:buNone/>
            </a:pPr>
            <a:r>
              <a:rPr lang="en-US" sz="3600" b="1" dirty="0" smtClean="0">
                <a:ea typeface="ＭＳ Ｐゴシック" panose="020B0600070205080204" pitchFamily="34" charset="-128"/>
              </a:rPr>
              <a:t>The </a:t>
            </a:r>
            <a:r>
              <a:rPr lang="en-US" sz="3600" b="1" dirty="0">
                <a:ea typeface="ＭＳ Ｐゴシック" panose="020B0600070205080204" pitchFamily="34" charset="-128"/>
              </a:rPr>
              <a:t>Deadlock </a:t>
            </a:r>
            <a:r>
              <a:rPr lang="en-US" sz="3600" b="1" dirty="0" smtClean="0">
                <a:ea typeface="ＭＳ Ｐゴシック" panose="020B0600070205080204" pitchFamily="34" charset="-128"/>
              </a:rPr>
              <a:t>Problem</a:t>
            </a:r>
            <a:endParaRPr lang="en-US" sz="1800" dirty="0" smtClean="0">
              <a:ea typeface="ＭＳ Ｐゴシック" panose="020B0600070205080204" pitchFamily="34" charset="-128"/>
            </a:endParaRPr>
          </a:p>
          <a:p>
            <a:r>
              <a:rPr lang="en-US" sz="1800" dirty="0" smtClean="0">
                <a:ea typeface="ＭＳ Ｐゴシック" panose="020B0600070205080204" pitchFamily="34" charset="-128"/>
              </a:rPr>
              <a:t>A </a:t>
            </a:r>
            <a:r>
              <a:rPr lang="en-US" sz="1800" dirty="0">
                <a:ea typeface="ＭＳ Ｐゴシック" panose="020B0600070205080204" pitchFamily="34" charset="-128"/>
              </a:rPr>
              <a:t>set of blocked processes each holding a resource and waiting to acquire a resource held by another process in the set</a:t>
            </a:r>
          </a:p>
          <a:p>
            <a:pPr>
              <a:buSzPct val="85000"/>
            </a:pPr>
            <a:r>
              <a:rPr lang="en-US" sz="1800" dirty="0">
                <a:ea typeface="ＭＳ Ｐゴシック" panose="020B0600070205080204" pitchFamily="34" charset="-128"/>
              </a:rPr>
              <a:t>Example </a:t>
            </a:r>
          </a:p>
          <a:p>
            <a:pPr lvl="1"/>
            <a:r>
              <a:rPr lang="en-US" dirty="0">
                <a:ea typeface="ＭＳ Ｐゴシック" panose="020B0600070205080204" pitchFamily="34" charset="-128"/>
              </a:rPr>
              <a:t>System has 2 disk drives</a:t>
            </a:r>
          </a:p>
          <a:p>
            <a:pPr lvl="1"/>
            <a:r>
              <a:rPr lang="en-US" i="1" dirty="0">
                <a:ea typeface="ＭＳ Ｐゴシック" panose="020B0600070205080204" pitchFamily="34" charset="-128"/>
              </a:rPr>
              <a:t>P</a:t>
            </a:r>
            <a:r>
              <a:rPr lang="en-US" baseline="-25000" dirty="0">
                <a:ea typeface="ＭＳ Ｐゴシック" panose="020B0600070205080204" pitchFamily="34" charset="-128"/>
              </a:rPr>
              <a:t>1</a:t>
            </a:r>
            <a:r>
              <a:rPr lang="en-US" dirty="0">
                <a:ea typeface="ＭＳ Ｐゴシック" panose="020B0600070205080204" pitchFamily="34" charset="-128"/>
              </a:rPr>
              <a:t> and </a:t>
            </a:r>
            <a:r>
              <a:rPr lang="en-US" i="1" dirty="0">
                <a:ea typeface="ＭＳ Ｐゴシック" panose="020B0600070205080204" pitchFamily="34" charset="-128"/>
              </a:rPr>
              <a:t>P</a:t>
            </a:r>
            <a:r>
              <a:rPr lang="en-US" baseline="-25000" dirty="0">
                <a:ea typeface="ＭＳ Ｐゴシック" panose="020B0600070205080204" pitchFamily="34" charset="-128"/>
              </a:rPr>
              <a:t>2</a:t>
            </a:r>
            <a:r>
              <a:rPr lang="en-US" dirty="0">
                <a:ea typeface="ＭＳ Ｐゴシック" panose="020B0600070205080204" pitchFamily="34" charset="-128"/>
              </a:rPr>
              <a:t> each hold one disk drive and each needs another one</a:t>
            </a:r>
          </a:p>
          <a:p>
            <a:pPr>
              <a:buSzPct val="85000"/>
            </a:pPr>
            <a:r>
              <a:rPr lang="en-US" sz="1800" dirty="0">
                <a:ea typeface="ＭＳ Ｐゴシック" panose="020B0600070205080204" pitchFamily="34" charset="-128"/>
              </a:rPr>
              <a:t>Example </a:t>
            </a:r>
          </a:p>
          <a:p>
            <a:pPr lvl="1"/>
            <a:r>
              <a:rPr lang="en-US" dirty="0">
                <a:ea typeface="ＭＳ Ｐゴシック" panose="020B0600070205080204" pitchFamily="34" charset="-128"/>
              </a:rPr>
              <a:t>semaphores </a:t>
            </a:r>
            <a:r>
              <a:rPr lang="en-US" i="1" dirty="0">
                <a:ea typeface="ＭＳ Ｐゴシック" panose="020B0600070205080204" pitchFamily="34" charset="-128"/>
              </a:rPr>
              <a:t>A</a:t>
            </a:r>
            <a:r>
              <a:rPr lang="en-US" dirty="0">
                <a:ea typeface="ＭＳ Ｐゴシック" panose="020B0600070205080204" pitchFamily="34" charset="-128"/>
              </a:rPr>
              <a:t> and</a:t>
            </a:r>
            <a:r>
              <a:rPr lang="en-US" i="1" dirty="0">
                <a:ea typeface="ＭＳ Ｐゴシック" panose="020B0600070205080204" pitchFamily="34" charset="-128"/>
              </a:rPr>
              <a:t> B</a:t>
            </a:r>
            <a:r>
              <a:rPr lang="en-US" dirty="0">
                <a:ea typeface="ＭＳ Ｐゴシック" panose="020B0600070205080204" pitchFamily="34" charset="-128"/>
              </a:rPr>
              <a:t>, initialized to 1</a:t>
            </a:r>
            <a:endParaRPr lang="en-US" dirty="0" smtClean="0">
              <a:ea typeface="ＭＳ Ｐゴシック" panose="020B0600070205080204" pitchFamily="34" charset="-128"/>
            </a:endParaRPr>
          </a:p>
          <a:p>
            <a:pPr lvl="4">
              <a:buFontTx/>
              <a:buNone/>
            </a:pPr>
            <a:r>
              <a:rPr lang="en-US" sz="2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0</a:t>
            </a: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1</a:t>
            </a:r>
            <a:endParaRPr lang="en-US" sz="1800" dirty="0">
              <a:ea typeface="ＭＳ Ｐゴシック" panose="020B0600070205080204" pitchFamily="34" charset="-128"/>
            </a:endParaRPr>
          </a:p>
          <a:p>
            <a:pPr lvl="4">
              <a:buFontTx/>
              <a:buNone/>
            </a:pPr>
            <a:r>
              <a:rPr lang="en-US" sz="1800" dirty="0">
                <a:ea typeface="ＭＳ Ｐゴシック" panose="020B0600070205080204" pitchFamily="34" charset="-128"/>
              </a:rPr>
              <a:t>wait (A);		wait(B)</a:t>
            </a:r>
          </a:p>
          <a:p>
            <a:pPr lvl="4">
              <a:buFontTx/>
              <a:buNone/>
            </a:pPr>
            <a:r>
              <a:rPr lang="en-US" sz="1800" dirty="0">
                <a:ea typeface="ＭＳ Ｐゴシック" panose="020B0600070205080204" pitchFamily="34" charset="-128"/>
              </a:rPr>
              <a:t>wait (B);		wait(A)</a:t>
            </a:r>
          </a:p>
          <a:p>
            <a:pPr lvl="1"/>
            <a:endParaRPr lang="en-US" dirty="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46111" y="452718"/>
            <a:ext cx="9404723" cy="861732"/>
          </a:xfrm>
        </p:spPr>
        <p:txBody>
          <a:bodyPr/>
          <a:lstStyle/>
          <a:p>
            <a:pPr eaLnBrk="1" hangingPunct="1"/>
            <a:r>
              <a:rPr lang="en-US" b="1" dirty="0" smtClean="0">
                <a:ea typeface="ＭＳ Ｐゴシック" panose="020B0600070205080204" pitchFamily="34" charset="-128"/>
              </a:rPr>
              <a:t>Bridge Crossing Example</a:t>
            </a:r>
          </a:p>
        </p:txBody>
      </p:sp>
      <p:sp>
        <p:nvSpPr>
          <p:cNvPr id="7171" name="Rectangle 3"/>
          <p:cNvSpPr>
            <a:spLocks noGrp="1" noChangeArrowheads="1"/>
          </p:cNvSpPr>
          <p:nvPr>
            <p:ph type="body" idx="1"/>
          </p:nvPr>
        </p:nvSpPr>
        <p:spPr>
          <a:xfrm>
            <a:off x="791570" y="3341688"/>
            <a:ext cx="11163869" cy="3181942"/>
          </a:xfrm>
        </p:spPr>
        <p:txBody>
          <a:bodyPr>
            <a:normAutofit/>
          </a:bodyPr>
          <a:lstStyle/>
          <a:p>
            <a:r>
              <a:rPr lang="en-US" sz="1800" dirty="0">
                <a:ea typeface="ＭＳ Ｐゴシック" panose="020B0600070205080204" pitchFamily="34" charset="-128"/>
              </a:rPr>
              <a:t>Traffic only in one direction</a:t>
            </a:r>
          </a:p>
          <a:p>
            <a:r>
              <a:rPr lang="en-US" sz="1800" dirty="0">
                <a:ea typeface="ＭＳ Ｐゴシック" panose="020B0600070205080204" pitchFamily="34" charset="-128"/>
              </a:rPr>
              <a:t>Each section of a bridge can be viewed as a resource</a:t>
            </a:r>
          </a:p>
          <a:p>
            <a:r>
              <a:rPr lang="en-US" sz="1800" dirty="0">
                <a:ea typeface="ＭＳ Ｐゴシック" panose="020B0600070205080204" pitchFamily="34" charset="-128"/>
              </a:rPr>
              <a:t>If a deadlock occurs, it can be resolved if one car backs up (preempt resources and rollback)</a:t>
            </a:r>
          </a:p>
          <a:p>
            <a:r>
              <a:rPr lang="en-US" sz="1800" dirty="0">
                <a:ea typeface="ＭＳ Ｐゴシック" panose="020B0600070205080204" pitchFamily="34" charset="-128"/>
              </a:rPr>
              <a:t>Several cars may have to be backed up if a deadlock occurs</a:t>
            </a:r>
          </a:p>
          <a:p>
            <a:r>
              <a:rPr lang="en-US" sz="1800" dirty="0">
                <a:ea typeface="ＭＳ Ｐゴシック" panose="020B0600070205080204" pitchFamily="34" charset="-128"/>
              </a:rPr>
              <a:t>Starvation is possible</a:t>
            </a:r>
          </a:p>
          <a:p>
            <a:r>
              <a:rPr lang="en-US" sz="1800" dirty="0">
                <a:ea typeface="ＭＳ Ｐゴシック" panose="020B0600070205080204" pitchFamily="34" charset="-128"/>
              </a:rPr>
              <a:t>Note – Most </a:t>
            </a:r>
            <a:r>
              <a:rPr lang="en-US" sz="1800" dirty="0" err="1">
                <a:ea typeface="ＭＳ Ｐゴシック" panose="020B0600070205080204" pitchFamily="34" charset="-128"/>
              </a:rPr>
              <a:t>OSes</a:t>
            </a:r>
            <a:r>
              <a:rPr lang="en-US" sz="1800" dirty="0">
                <a:ea typeface="ＭＳ Ｐゴシック" panose="020B0600070205080204" pitchFamily="34" charset="-128"/>
              </a:rPr>
              <a:t> do not prevent or deal with deadlocks</a:t>
            </a:r>
          </a:p>
        </p:txBody>
      </p:sp>
      <p:grpSp>
        <p:nvGrpSpPr>
          <p:cNvPr id="7172" name="Group 35"/>
          <p:cNvGrpSpPr>
            <a:grpSpLocks/>
          </p:cNvGrpSpPr>
          <p:nvPr/>
        </p:nvGrpSpPr>
        <p:grpSpPr bwMode="auto">
          <a:xfrm>
            <a:off x="2790826" y="1600200"/>
            <a:ext cx="6276975" cy="1371600"/>
            <a:chOff x="798" y="1008"/>
            <a:chExt cx="3954" cy="864"/>
          </a:xfrm>
        </p:grpSpPr>
        <p:grpSp>
          <p:nvGrpSpPr>
            <p:cNvPr id="7173" name="Group 11"/>
            <p:cNvGrpSpPr>
              <a:grpSpLocks/>
            </p:cNvGrpSpPr>
            <p:nvPr/>
          </p:nvGrpSpPr>
          <p:grpSpPr bwMode="auto">
            <a:xfrm>
              <a:off x="816" y="1008"/>
              <a:ext cx="3936" cy="240"/>
              <a:chOff x="672" y="1008"/>
              <a:chExt cx="3936" cy="240"/>
            </a:xfrm>
          </p:grpSpPr>
          <p:sp>
            <p:nvSpPr>
              <p:cNvPr id="7197" name="Line 6"/>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8" name="Line 7"/>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9" name="Line 8"/>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00" name="Line 9"/>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01" name="Line 10"/>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74" name="Group 12"/>
            <p:cNvGrpSpPr>
              <a:grpSpLocks/>
            </p:cNvGrpSpPr>
            <p:nvPr/>
          </p:nvGrpSpPr>
          <p:grpSpPr bwMode="auto">
            <a:xfrm flipV="1">
              <a:off x="816" y="1632"/>
              <a:ext cx="3936" cy="240"/>
              <a:chOff x="672" y="1008"/>
              <a:chExt cx="3936" cy="240"/>
            </a:xfrm>
          </p:grpSpPr>
          <p:sp>
            <p:nvSpPr>
              <p:cNvPr id="7192" name="Line 13"/>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3" name="Line 14"/>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4" name="Line 15"/>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5" name="Line 16"/>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6" name="Line 17"/>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75" name="Group 22"/>
            <p:cNvGrpSpPr>
              <a:grpSpLocks/>
            </p:cNvGrpSpPr>
            <p:nvPr/>
          </p:nvGrpSpPr>
          <p:grpSpPr bwMode="auto">
            <a:xfrm>
              <a:off x="1512" y="1614"/>
              <a:ext cx="288" cy="162"/>
              <a:chOff x="1056" y="1614"/>
              <a:chExt cx="288" cy="162"/>
            </a:xfrm>
          </p:grpSpPr>
          <p:sp>
            <p:nvSpPr>
              <p:cNvPr id="7190" name="Rectangle 18"/>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7191" name="Rectangle 19"/>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grpSp>
        <p:sp>
          <p:nvSpPr>
            <p:cNvPr id="7176" name="Line 20"/>
            <p:cNvSpPr>
              <a:spLocks noChangeShapeType="1"/>
            </p:cNvSpPr>
            <p:nvPr/>
          </p:nvSpPr>
          <p:spPr bwMode="auto">
            <a:xfrm>
              <a:off x="798" y="1428"/>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7" name="Line 21"/>
            <p:cNvSpPr>
              <a:spLocks noChangeShapeType="1"/>
            </p:cNvSpPr>
            <p:nvPr/>
          </p:nvSpPr>
          <p:spPr bwMode="auto">
            <a:xfrm>
              <a:off x="3444" y="1422"/>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178" name="Group 23"/>
            <p:cNvGrpSpPr>
              <a:grpSpLocks/>
            </p:cNvGrpSpPr>
            <p:nvPr/>
          </p:nvGrpSpPr>
          <p:grpSpPr bwMode="auto">
            <a:xfrm>
              <a:off x="2382" y="1344"/>
              <a:ext cx="288" cy="162"/>
              <a:chOff x="1056" y="1614"/>
              <a:chExt cx="288" cy="162"/>
            </a:xfrm>
          </p:grpSpPr>
          <p:sp>
            <p:nvSpPr>
              <p:cNvPr id="7188" name="Rectangle 24"/>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7189" name="Rectangle 25"/>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grpSp>
        <p:grpSp>
          <p:nvGrpSpPr>
            <p:cNvPr id="7179" name="Group 26"/>
            <p:cNvGrpSpPr>
              <a:grpSpLocks/>
            </p:cNvGrpSpPr>
            <p:nvPr/>
          </p:nvGrpSpPr>
          <p:grpSpPr bwMode="auto">
            <a:xfrm flipH="1">
              <a:off x="2838" y="1344"/>
              <a:ext cx="288" cy="162"/>
              <a:chOff x="1056" y="1614"/>
              <a:chExt cx="288" cy="162"/>
            </a:xfrm>
          </p:grpSpPr>
          <p:sp>
            <p:nvSpPr>
              <p:cNvPr id="7186" name="Rectangle 27"/>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7187" name="Rectangle 28"/>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grpSp>
        <p:grpSp>
          <p:nvGrpSpPr>
            <p:cNvPr id="7180" name="Group 29"/>
            <p:cNvGrpSpPr>
              <a:grpSpLocks/>
            </p:cNvGrpSpPr>
            <p:nvPr/>
          </p:nvGrpSpPr>
          <p:grpSpPr bwMode="auto">
            <a:xfrm flipH="1">
              <a:off x="3822" y="1140"/>
              <a:ext cx="288" cy="162"/>
              <a:chOff x="1056" y="1614"/>
              <a:chExt cx="288" cy="162"/>
            </a:xfrm>
          </p:grpSpPr>
          <p:sp>
            <p:nvSpPr>
              <p:cNvPr id="7184" name="Rectangle 30"/>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7185" name="Rectangle 31"/>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grpSp>
        <p:grpSp>
          <p:nvGrpSpPr>
            <p:cNvPr id="7181" name="Group 32"/>
            <p:cNvGrpSpPr>
              <a:grpSpLocks/>
            </p:cNvGrpSpPr>
            <p:nvPr/>
          </p:nvGrpSpPr>
          <p:grpSpPr bwMode="auto">
            <a:xfrm flipH="1">
              <a:off x="4248" y="1140"/>
              <a:ext cx="288" cy="162"/>
              <a:chOff x="1056" y="1614"/>
              <a:chExt cx="288" cy="162"/>
            </a:xfrm>
          </p:grpSpPr>
          <p:sp>
            <p:nvSpPr>
              <p:cNvPr id="7182" name="Rectangle 33"/>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7183" name="Rectangle 34"/>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gr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46111" y="0"/>
            <a:ext cx="9404723" cy="805218"/>
          </a:xfrm>
        </p:spPr>
        <p:txBody>
          <a:bodyPr/>
          <a:lstStyle/>
          <a:p>
            <a:pPr eaLnBrk="1" hangingPunct="1"/>
            <a:r>
              <a:rPr lang="en-US" b="1" dirty="0" smtClean="0">
                <a:ea typeface="ＭＳ Ｐゴシック" panose="020B0600070205080204" pitchFamily="34" charset="-128"/>
              </a:rPr>
              <a:t>System Model</a:t>
            </a:r>
          </a:p>
        </p:txBody>
      </p:sp>
      <p:sp>
        <p:nvSpPr>
          <p:cNvPr id="8195" name="Rectangle 3"/>
          <p:cNvSpPr>
            <a:spLocks noGrp="1" noChangeArrowheads="1"/>
          </p:cNvSpPr>
          <p:nvPr>
            <p:ph type="body" idx="1"/>
          </p:nvPr>
        </p:nvSpPr>
        <p:spPr>
          <a:xfrm>
            <a:off x="646111" y="996287"/>
            <a:ext cx="9056689" cy="4912388"/>
          </a:xfrm>
        </p:spPr>
        <p:txBody>
          <a:bodyPr/>
          <a:lstStyle/>
          <a:p>
            <a:r>
              <a:rPr lang="en-US" sz="1800" dirty="0">
                <a:ea typeface="ＭＳ Ｐゴシック" panose="020B0600070205080204" pitchFamily="34" charset="-128"/>
              </a:rPr>
              <a:t>Resource types </a:t>
            </a:r>
            <a:r>
              <a:rPr lang="en-US" sz="1800" i="1" dirty="0">
                <a:ea typeface="ＭＳ Ｐゴシック" panose="020B0600070205080204" pitchFamily="34" charset="-128"/>
              </a:rPr>
              <a:t>R</a:t>
            </a:r>
            <a:r>
              <a:rPr lang="en-US" sz="1800" baseline="-25000" dirty="0">
                <a:ea typeface="ＭＳ Ｐゴシック" panose="020B0600070205080204" pitchFamily="34" charset="-128"/>
              </a:rPr>
              <a:t>1</a:t>
            </a:r>
            <a:r>
              <a:rPr lang="en-US" sz="1800" dirty="0">
                <a:ea typeface="ＭＳ Ｐゴシック" panose="020B0600070205080204" pitchFamily="34" charset="-128"/>
              </a:rPr>
              <a:t>, </a:t>
            </a:r>
            <a:r>
              <a:rPr lang="en-US" sz="1800" i="1" dirty="0">
                <a:ea typeface="ＭＳ Ｐゴシック" panose="020B0600070205080204" pitchFamily="34" charset="-128"/>
              </a:rPr>
              <a:t>R</a:t>
            </a:r>
            <a:r>
              <a:rPr lang="en-US" sz="1800" baseline="-25000" dirty="0">
                <a:ea typeface="ＭＳ Ｐゴシック" panose="020B0600070205080204" pitchFamily="34" charset="-128"/>
              </a:rPr>
              <a:t>2</a:t>
            </a:r>
            <a:r>
              <a:rPr lang="en-US" sz="1800" dirty="0">
                <a:ea typeface="ＭＳ Ｐゴシック" panose="020B0600070205080204" pitchFamily="34" charset="-128"/>
              </a:rPr>
              <a:t>, . . ., </a:t>
            </a:r>
            <a:r>
              <a:rPr lang="en-US" sz="1800" i="1" dirty="0" err="1">
                <a:ea typeface="ＭＳ Ｐゴシック" panose="020B0600070205080204" pitchFamily="34" charset="-128"/>
              </a:rPr>
              <a:t>R</a:t>
            </a:r>
            <a:r>
              <a:rPr lang="en-US" sz="1800" baseline="-25000" dirty="0" err="1">
                <a:ea typeface="ＭＳ Ｐゴシック" panose="020B0600070205080204" pitchFamily="34" charset="-128"/>
              </a:rPr>
              <a:t>m</a:t>
            </a:r>
            <a:endParaRPr lang="en-US" sz="1800" baseline="-25000" dirty="0">
              <a:ea typeface="ＭＳ Ｐゴシック" panose="020B0600070205080204" pitchFamily="34" charset="-128"/>
            </a:endParaRPr>
          </a:p>
          <a:p>
            <a:pPr lvl="2">
              <a:buFont typeface="Webdings" panose="05030102010509060703" pitchFamily="18" charset="2"/>
              <a:buNone/>
            </a:pPr>
            <a:r>
              <a:rPr lang="en-US" sz="1800" i="1" dirty="0">
                <a:ea typeface="ＭＳ Ｐゴシック" panose="020B0600070205080204" pitchFamily="34" charset="-128"/>
              </a:rPr>
              <a:t>CPU cycles, memory space, I/O devices</a:t>
            </a:r>
          </a:p>
          <a:p>
            <a:r>
              <a:rPr lang="en-US" sz="1800" dirty="0">
                <a:ea typeface="ＭＳ Ｐゴシック" panose="020B0600070205080204" pitchFamily="34" charset="-128"/>
              </a:rPr>
              <a:t>Each resource type </a:t>
            </a:r>
            <a:r>
              <a:rPr lang="en-US" sz="1800" i="1" dirty="0" err="1">
                <a:ea typeface="ＭＳ Ｐゴシック" panose="020B0600070205080204" pitchFamily="34" charset="-128"/>
              </a:rPr>
              <a:t>R</a:t>
            </a:r>
            <a:r>
              <a:rPr lang="en-US" sz="1800" baseline="-25000" dirty="0" err="1">
                <a:ea typeface="ＭＳ Ｐゴシック" panose="020B0600070205080204" pitchFamily="34" charset="-128"/>
              </a:rPr>
              <a:t>i</a:t>
            </a:r>
            <a:r>
              <a:rPr lang="en-US" sz="1800" dirty="0">
                <a:ea typeface="ＭＳ Ｐゴシック" panose="020B0600070205080204" pitchFamily="34" charset="-128"/>
              </a:rPr>
              <a:t> has </a:t>
            </a:r>
            <a:r>
              <a:rPr lang="en-US" sz="1800" i="1" dirty="0">
                <a:ea typeface="ＭＳ Ｐゴシック" panose="020B0600070205080204" pitchFamily="34" charset="-128"/>
              </a:rPr>
              <a:t>W</a:t>
            </a:r>
            <a:r>
              <a:rPr lang="en-US" sz="1800" baseline="-25000" dirty="0">
                <a:ea typeface="ＭＳ Ｐゴシック" panose="020B0600070205080204" pitchFamily="34" charset="-128"/>
              </a:rPr>
              <a:t>i</a:t>
            </a:r>
            <a:r>
              <a:rPr lang="en-US" sz="1800" dirty="0">
                <a:ea typeface="ＭＳ Ｐゴシック" panose="020B0600070205080204" pitchFamily="34" charset="-128"/>
              </a:rPr>
              <a:t> instances.</a:t>
            </a:r>
          </a:p>
          <a:p>
            <a:r>
              <a:rPr lang="en-US" sz="1800" dirty="0">
                <a:ea typeface="ＭＳ Ｐゴシック" panose="020B0600070205080204" pitchFamily="34" charset="-128"/>
              </a:rPr>
              <a:t>Each process utilizes a resource as follows:</a:t>
            </a:r>
          </a:p>
          <a:p>
            <a:pPr lvl="1"/>
            <a:r>
              <a:rPr lang="en-US" b="1" dirty="0">
                <a:ea typeface="ＭＳ Ｐゴシック" panose="020B0600070205080204" pitchFamily="34" charset="-128"/>
              </a:rPr>
              <a:t>request </a:t>
            </a:r>
          </a:p>
          <a:p>
            <a:pPr lvl="1"/>
            <a:r>
              <a:rPr lang="en-US" b="1" dirty="0">
                <a:ea typeface="ＭＳ Ｐゴシック" panose="020B0600070205080204" pitchFamily="34" charset="-128"/>
              </a:rPr>
              <a:t>use </a:t>
            </a:r>
          </a:p>
          <a:p>
            <a:pPr lvl="1"/>
            <a:r>
              <a:rPr lang="en-US" b="1" dirty="0">
                <a:ea typeface="ＭＳ Ｐゴシック" panose="020B0600070205080204" pitchFamily="34" charset="-128"/>
              </a:rPr>
              <a:t>release</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46111" y="136478"/>
            <a:ext cx="9404723" cy="1166861"/>
          </a:xfrm>
        </p:spPr>
        <p:txBody>
          <a:bodyPr/>
          <a:lstStyle/>
          <a:p>
            <a:pPr eaLnBrk="1" hangingPunct="1"/>
            <a:r>
              <a:rPr lang="en-US" b="1" dirty="0" smtClean="0">
                <a:ea typeface="ＭＳ Ｐゴシック" panose="020B0600070205080204" pitchFamily="34" charset="-128"/>
              </a:rPr>
              <a:t>Deadlock Characterization</a:t>
            </a:r>
          </a:p>
        </p:txBody>
      </p:sp>
      <p:sp>
        <p:nvSpPr>
          <p:cNvPr id="9219" name="Rectangle 3"/>
          <p:cNvSpPr>
            <a:spLocks noGrp="1" noChangeArrowheads="1"/>
          </p:cNvSpPr>
          <p:nvPr>
            <p:ph type="body" idx="1"/>
          </p:nvPr>
        </p:nvSpPr>
        <p:spPr>
          <a:xfrm>
            <a:off x="646111" y="1803401"/>
            <a:ext cx="11418510" cy="4017963"/>
          </a:xfrm>
        </p:spPr>
        <p:txBody>
          <a:bodyPr/>
          <a:lstStyle/>
          <a:p>
            <a:pPr>
              <a:lnSpc>
                <a:spcPct val="90000"/>
              </a:lnSpc>
            </a:pPr>
            <a:r>
              <a:rPr lang="en-US" sz="1800" b="1" dirty="0">
                <a:ea typeface="ＭＳ Ｐゴシック" panose="020B0600070205080204" pitchFamily="34" charset="-128"/>
              </a:rPr>
              <a:t>Mutual exclusion:</a:t>
            </a:r>
            <a:r>
              <a:rPr lang="en-US" sz="1800" dirty="0">
                <a:ea typeface="ＭＳ Ｐゴシック" panose="020B0600070205080204" pitchFamily="34" charset="-128"/>
              </a:rPr>
              <a:t>  only one process at a time can use a resource</a:t>
            </a:r>
          </a:p>
          <a:p>
            <a:pPr>
              <a:lnSpc>
                <a:spcPct val="90000"/>
              </a:lnSpc>
            </a:pPr>
            <a:r>
              <a:rPr lang="en-US" sz="1800" b="1" dirty="0">
                <a:ea typeface="ＭＳ Ｐゴシック" panose="020B0600070205080204" pitchFamily="34" charset="-128"/>
              </a:rPr>
              <a:t>Hold and wait:</a:t>
            </a:r>
            <a:r>
              <a:rPr lang="en-US" sz="1800" dirty="0">
                <a:ea typeface="ＭＳ Ｐゴシック" panose="020B0600070205080204" pitchFamily="34" charset="-128"/>
              </a:rPr>
              <a:t>  a process holding at least one resource is waiting to acquire additional resources held by other processes</a:t>
            </a:r>
          </a:p>
          <a:p>
            <a:pPr>
              <a:lnSpc>
                <a:spcPct val="90000"/>
              </a:lnSpc>
            </a:pPr>
            <a:r>
              <a:rPr lang="en-US" sz="1800" b="1" dirty="0">
                <a:ea typeface="ＭＳ Ｐゴシック" panose="020B0600070205080204" pitchFamily="34" charset="-128"/>
              </a:rPr>
              <a:t>No preemption:</a:t>
            </a:r>
            <a:r>
              <a:rPr lang="en-US" sz="1800" dirty="0">
                <a:ea typeface="ＭＳ Ｐゴシック" panose="020B0600070205080204" pitchFamily="34" charset="-128"/>
              </a:rPr>
              <a:t>  a resource can be released only voluntarily by the process holding it, after that process has completed its task</a:t>
            </a:r>
          </a:p>
          <a:p>
            <a:pPr>
              <a:lnSpc>
                <a:spcPct val="90000"/>
              </a:lnSpc>
            </a:pPr>
            <a:r>
              <a:rPr lang="en-US" sz="1800" b="1" dirty="0">
                <a:ea typeface="ＭＳ Ｐゴシック" panose="020B0600070205080204" pitchFamily="34" charset="-128"/>
              </a:rPr>
              <a:t>Circular wait:</a:t>
            </a:r>
            <a:r>
              <a:rPr lang="en-US" sz="1800" dirty="0">
                <a:ea typeface="ＭＳ Ｐゴシック" panose="020B0600070205080204" pitchFamily="34" charset="-128"/>
              </a:rPr>
              <a:t>  there exists a set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0</a:t>
            </a: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1</a:t>
            </a:r>
            <a:r>
              <a:rPr lang="en-US" sz="1800" dirty="0">
                <a:ea typeface="ＭＳ Ｐゴシック" panose="020B0600070205080204" pitchFamily="34" charset="-128"/>
              </a:rPr>
              <a:t>, …, </a:t>
            </a:r>
            <a:r>
              <a:rPr lang="en-US" sz="1800" i="1" dirty="0" err="1">
                <a:ea typeface="ＭＳ Ｐゴシック" panose="020B0600070205080204" pitchFamily="34" charset="-128"/>
              </a:rPr>
              <a:t>P</a:t>
            </a:r>
            <a:r>
              <a:rPr lang="en-US" sz="1800" baseline="-25000" dirty="0" err="1">
                <a:ea typeface="ＭＳ Ｐゴシック" panose="020B0600070205080204" pitchFamily="34" charset="-128"/>
              </a:rPr>
              <a:t>n</a:t>
            </a:r>
            <a:r>
              <a:rPr lang="en-US" sz="1800" dirty="0">
                <a:ea typeface="ＭＳ Ｐゴシック" panose="020B0600070205080204" pitchFamily="34" charset="-128"/>
              </a:rPr>
              <a:t>} of waiting processes such that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0 </a:t>
            </a:r>
            <a:r>
              <a:rPr lang="en-US" sz="1800" dirty="0">
                <a:ea typeface="ＭＳ Ｐゴシック" panose="020B0600070205080204" pitchFamily="34" charset="-128"/>
              </a:rPr>
              <a:t>is waiting for a resource that is held by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1</a:t>
            </a: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1</a:t>
            </a:r>
            <a:r>
              <a:rPr lang="en-US" sz="1800" dirty="0">
                <a:ea typeface="ＭＳ Ｐゴシック" panose="020B0600070205080204" pitchFamily="34" charset="-128"/>
              </a:rPr>
              <a:t> is waiting for a resource that is held by </a:t>
            </a:r>
          </a:p>
          <a:p>
            <a:pPr>
              <a:lnSpc>
                <a:spcPct val="90000"/>
              </a:lnSpc>
              <a:buFont typeface="Monotype Sorts" charset="2"/>
              <a:buNone/>
            </a:pPr>
            <a:r>
              <a:rPr lang="en-US" sz="1800" i="1" dirty="0">
                <a:ea typeface="ＭＳ Ｐゴシック" panose="020B0600070205080204" pitchFamily="34" charset="-128"/>
              </a:rPr>
              <a:t>	P</a:t>
            </a:r>
            <a:r>
              <a:rPr lang="en-US" sz="1800" baseline="-25000" dirty="0">
                <a:ea typeface="ＭＳ Ｐゴシック" panose="020B0600070205080204" pitchFamily="34" charset="-128"/>
              </a:rPr>
              <a:t>2</a:t>
            </a:r>
            <a:r>
              <a:rPr lang="en-US" sz="1800" dirty="0">
                <a:ea typeface="ＭＳ Ｐゴシック" panose="020B0600070205080204" pitchFamily="34" charset="-128"/>
              </a:rPr>
              <a:t>, …, </a:t>
            </a:r>
            <a:r>
              <a:rPr lang="en-US" sz="1800" i="1" dirty="0" err="1">
                <a:ea typeface="ＭＳ Ｐゴシック" panose="020B0600070205080204" pitchFamily="34" charset="-128"/>
              </a:rPr>
              <a:t>P</a:t>
            </a:r>
            <a:r>
              <a:rPr lang="en-US" sz="1800" i="1" baseline="-25000" dirty="0" err="1">
                <a:ea typeface="ＭＳ Ｐゴシック" panose="020B0600070205080204" pitchFamily="34" charset="-128"/>
              </a:rPr>
              <a:t>n</a:t>
            </a:r>
            <a:r>
              <a:rPr lang="en-US" sz="1800" baseline="-25000" dirty="0">
                <a:ea typeface="ＭＳ Ｐゴシック" panose="020B0600070205080204" pitchFamily="34" charset="-128"/>
              </a:rPr>
              <a:t>–1</a:t>
            </a:r>
            <a:r>
              <a:rPr lang="en-US" sz="1800" dirty="0">
                <a:ea typeface="ＭＳ Ｐゴシック" panose="020B0600070205080204" pitchFamily="34" charset="-128"/>
              </a:rPr>
              <a:t> is waiting for a resource that is held by </a:t>
            </a:r>
            <a:r>
              <a:rPr lang="en-US" sz="1800" i="1" dirty="0" err="1">
                <a:ea typeface="ＭＳ Ｐゴシック" panose="020B0600070205080204" pitchFamily="34" charset="-128"/>
              </a:rPr>
              <a:t>P</a:t>
            </a:r>
            <a:r>
              <a:rPr lang="en-US" sz="1800" baseline="-25000" dirty="0" err="1">
                <a:ea typeface="ＭＳ Ｐゴシック" panose="020B0600070205080204" pitchFamily="34" charset="-128"/>
              </a:rPr>
              <a:t>n</a:t>
            </a:r>
            <a:r>
              <a:rPr lang="en-US" sz="1800" dirty="0">
                <a:ea typeface="ＭＳ Ｐゴシック" panose="020B0600070205080204" pitchFamily="34" charset="-128"/>
              </a:rPr>
              <a:t>, and </a:t>
            </a:r>
            <a:r>
              <a:rPr lang="en-US" sz="1800" i="1" dirty="0" err="1">
                <a:ea typeface="ＭＳ Ｐゴシック" panose="020B0600070205080204" pitchFamily="34" charset="-128"/>
              </a:rPr>
              <a:t>P</a:t>
            </a:r>
            <a:r>
              <a:rPr lang="en-US" sz="1800" baseline="-25000" dirty="0" err="1">
                <a:ea typeface="ＭＳ Ｐゴシック" panose="020B0600070205080204" pitchFamily="34" charset="-128"/>
              </a:rPr>
              <a:t>n</a:t>
            </a:r>
            <a:r>
              <a:rPr lang="en-US" sz="1800" dirty="0">
                <a:ea typeface="ＭＳ Ｐゴシック" panose="020B0600070205080204" pitchFamily="34" charset="-128"/>
              </a:rPr>
              <a:t> is waiting for a resource that is held by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0</a:t>
            </a:r>
            <a:r>
              <a:rPr lang="en-US" sz="1800" dirty="0">
                <a:ea typeface="ＭＳ Ｐゴシック" panose="020B0600070205080204" pitchFamily="34" charset="-128"/>
              </a:rPr>
              <a:t>.</a:t>
            </a:r>
          </a:p>
          <a:p>
            <a:pPr>
              <a:lnSpc>
                <a:spcPct val="90000"/>
              </a:lnSpc>
            </a:pPr>
            <a:endParaRPr lang="en-US" sz="1800" dirty="0">
              <a:ea typeface="ＭＳ Ｐゴシック" panose="020B0600070205080204" pitchFamily="34" charset="-128"/>
            </a:endParaRPr>
          </a:p>
        </p:txBody>
      </p:sp>
      <p:sp>
        <p:nvSpPr>
          <p:cNvPr id="9220" name="Text Box 5"/>
          <p:cNvSpPr txBox="1">
            <a:spLocks noChangeArrowheads="1"/>
          </p:cNvSpPr>
          <p:nvPr/>
        </p:nvSpPr>
        <p:spPr bwMode="auto">
          <a:xfrm>
            <a:off x="646111" y="1303339"/>
            <a:ext cx="864597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spcBef>
                <a:spcPct val="50000"/>
              </a:spcBef>
            </a:pPr>
            <a:r>
              <a:rPr lang="en-US" sz="2000" b="1" dirty="0">
                <a:latin typeface="Helvetica" panose="020B0604020202020204" pitchFamily="34" charset="0"/>
              </a:rPr>
              <a:t>Deadlock can arise if four conditions hold simultaneously</a:t>
            </a:r>
            <a:r>
              <a:rPr lang="en-US" sz="2000" dirty="0">
                <a:latin typeface="Helvetica" panose="020B0604020202020204" pitchFamily="34" charset="0"/>
              </a:rPr>
              <a:t>.</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46111" y="218364"/>
            <a:ext cx="9404723" cy="682388"/>
          </a:xfrm>
        </p:spPr>
        <p:txBody>
          <a:bodyPr/>
          <a:lstStyle/>
          <a:p>
            <a:pPr eaLnBrk="1" hangingPunct="1"/>
            <a:r>
              <a:rPr lang="en-US" b="1" dirty="0" smtClean="0">
                <a:ea typeface="ＭＳ Ｐゴシック" panose="020B0600070205080204" pitchFamily="34" charset="-128"/>
              </a:rPr>
              <a:t>Resource-Allocation Graph</a:t>
            </a:r>
          </a:p>
        </p:txBody>
      </p:sp>
      <p:sp>
        <p:nvSpPr>
          <p:cNvPr id="10243" name="Rectangle 3"/>
          <p:cNvSpPr>
            <a:spLocks noGrp="1" noChangeArrowheads="1"/>
          </p:cNvSpPr>
          <p:nvPr>
            <p:ph type="body" idx="1"/>
          </p:nvPr>
        </p:nvSpPr>
        <p:spPr>
          <a:xfrm>
            <a:off x="646110" y="1493391"/>
            <a:ext cx="9999143" cy="5835457"/>
          </a:xfrm>
        </p:spPr>
        <p:txBody>
          <a:bodyPr>
            <a:normAutofit/>
          </a:bodyPr>
          <a:lstStyle/>
          <a:p>
            <a:r>
              <a:rPr lang="en-US" sz="1800" dirty="0">
                <a:ea typeface="ＭＳ Ｐゴシック" panose="020B0600070205080204" pitchFamily="34" charset="-128"/>
              </a:rPr>
              <a:t>V is partitioned into two types:</a:t>
            </a:r>
          </a:p>
          <a:p>
            <a:pPr lvl="1"/>
            <a:r>
              <a:rPr lang="en-US" i="1" dirty="0">
                <a:ea typeface="ＭＳ Ｐゴシック" panose="020B0600070205080204" pitchFamily="34" charset="-128"/>
              </a:rPr>
              <a:t>P</a:t>
            </a:r>
            <a:r>
              <a:rPr lang="en-US" dirty="0">
                <a:ea typeface="ＭＳ Ｐゴシック" panose="020B0600070205080204" pitchFamily="34" charset="-128"/>
              </a:rPr>
              <a:t> = {</a:t>
            </a:r>
            <a:r>
              <a:rPr lang="en-US" i="1" dirty="0">
                <a:ea typeface="ＭＳ Ｐゴシック" panose="020B0600070205080204" pitchFamily="34" charset="-128"/>
              </a:rPr>
              <a:t>P</a:t>
            </a:r>
            <a:r>
              <a:rPr lang="en-US" baseline="-25000" dirty="0">
                <a:ea typeface="ＭＳ Ｐゴシック" panose="020B0600070205080204" pitchFamily="34" charset="-128"/>
              </a:rPr>
              <a:t>1</a:t>
            </a:r>
            <a:r>
              <a:rPr lang="en-US" dirty="0">
                <a:ea typeface="ＭＳ Ｐゴシック" panose="020B0600070205080204" pitchFamily="34" charset="-128"/>
              </a:rPr>
              <a:t>, </a:t>
            </a:r>
            <a:r>
              <a:rPr lang="en-US" i="1" dirty="0">
                <a:ea typeface="ＭＳ Ｐゴシック" panose="020B0600070205080204" pitchFamily="34" charset="-128"/>
              </a:rPr>
              <a:t>P</a:t>
            </a:r>
            <a:r>
              <a:rPr lang="en-US" baseline="-25000" dirty="0">
                <a:ea typeface="ＭＳ Ｐゴシック" panose="020B0600070205080204" pitchFamily="34" charset="-128"/>
              </a:rPr>
              <a:t>2</a:t>
            </a:r>
            <a:r>
              <a:rPr lang="en-US" dirty="0">
                <a:ea typeface="ＭＳ Ｐゴシック" panose="020B0600070205080204" pitchFamily="34" charset="-128"/>
              </a:rPr>
              <a:t>, …, </a:t>
            </a:r>
            <a:r>
              <a:rPr lang="en-US" i="1" dirty="0" err="1">
                <a:ea typeface="ＭＳ Ｐゴシック" panose="020B0600070205080204" pitchFamily="34" charset="-128"/>
              </a:rPr>
              <a:t>P</a:t>
            </a:r>
            <a:r>
              <a:rPr lang="en-US" i="1" baseline="-25000" dirty="0" err="1">
                <a:ea typeface="ＭＳ Ｐゴシック" panose="020B0600070205080204" pitchFamily="34" charset="-128"/>
              </a:rPr>
              <a:t>n</a:t>
            </a:r>
            <a:r>
              <a:rPr lang="en-US" dirty="0">
                <a:ea typeface="ＭＳ Ｐゴシック" panose="020B0600070205080204" pitchFamily="34" charset="-128"/>
              </a:rPr>
              <a:t>}, the set consisting of all the processes in the system</a:t>
            </a:r>
            <a:br>
              <a:rPr lang="en-US" dirty="0">
                <a:ea typeface="ＭＳ Ｐゴシック" panose="020B0600070205080204" pitchFamily="34" charset="-128"/>
              </a:rPr>
            </a:br>
            <a:endParaRPr lang="en-US" dirty="0">
              <a:ea typeface="ＭＳ Ｐゴシック" panose="020B0600070205080204" pitchFamily="34" charset="-128"/>
            </a:endParaRPr>
          </a:p>
          <a:p>
            <a:pPr lvl="1"/>
            <a:r>
              <a:rPr lang="en-US" i="1" dirty="0">
                <a:ea typeface="ＭＳ Ｐゴシック" panose="020B0600070205080204" pitchFamily="34" charset="-128"/>
              </a:rPr>
              <a:t>R</a:t>
            </a:r>
            <a:r>
              <a:rPr lang="en-US" dirty="0">
                <a:ea typeface="ＭＳ Ｐゴシック" panose="020B0600070205080204" pitchFamily="34" charset="-128"/>
              </a:rPr>
              <a:t> = {</a:t>
            </a:r>
            <a:r>
              <a:rPr lang="en-US" i="1" dirty="0">
                <a:ea typeface="ＭＳ Ｐゴシック" panose="020B0600070205080204" pitchFamily="34" charset="-128"/>
              </a:rPr>
              <a:t>R</a:t>
            </a:r>
            <a:r>
              <a:rPr lang="en-US" baseline="-25000" dirty="0">
                <a:ea typeface="ＭＳ Ｐゴシック" panose="020B0600070205080204" pitchFamily="34" charset="-128"/>
              </a:rPr>
              <a:t>1</a:t>
            </a:r>
            <a:r>
              <a:rPr lang="en-US" dirty="0">
                <a:ea typeface="ＭＳ Ｐゴシック" panose="020B0600070205080204" pitchFamily="34" charset="-128"/>
              </a:rPr>
              <a:t>, </a:t>
            </a:r>
            <a:r>
              <a:rPr lang="en-US" i="1" dirty="0">
                <a:ea typeface="ＭＳ Ｐゴシック" panose="020B0600070205080204" pitchFamily="34" charset="-128"/>
              </a:rPr>
              <a:t>R</a:t>
            </a:r>
            <a:r>
              <a:rPr lang="en-US" baseline="-25000" dirty="0">
                <a:ea typeface="ＭＳ Ｐゴシック" panose="020B0600070205080204" pitchFamily="34" charset="-128"/>
              </a:rPr>
              <a:t>2</a:t>
            </a:r>
            <a:r>
              <a:rPr lang="en-US" dirty="0">
                <a:ea typeface="ＭＳ Ｐゴシック" panose="020B0600070205080204" pitchFamily="34" charset="-128"/>
              </a:rPr>
              <a:t>, …, </a:t>
            </a:r>
            <a:r>
              <a:rPr lang="en-US" i="1" dirty="0" err="1">
                <a:ea typeface="ＭＳ Ｐゴシック" panose="020B0600070205080204" pitchFamily="34" charset="-128"/>
              </a:rPr>
              <a:t>R</a:t>
            </a:r>
            <a:r>
              <a:rPr lang="en-US" i="1" baseline="-25000" dirty="0" err="1">
                <a:ea typeface="ＭＳ Ｐゴシック" panose="020B0600070205080204" pitchFamily="34" charset="-128"/>
              </a:rPr>
              <a:t>m</a:t>
            </a:r>
            <a:r>
              <a:rPr lang="en-US" dirty="0">
                <a:ea typeface="ＭＳ Ｐゴシック" panose="020B0600070205080204" pitchFamily="34" charset="-128"/>
              </a:rPr>
              <a:t>}, the set consisting of all resource types in the system</a:t>
            </a:r>
          </a:p>
          <a:p>
            <a:r>
              <a:rPr lang="en-US" sz="1800" dirty="0">
                <a:ea typeface="ＭＳ Ｐゴシック" panose="020B0600070205080204" pitchFamily="34" charset="-128"/>
              </a:rPr>
              <a:t>request edge – directed edge </a:t>
            </a:r>
            <a:r>
              <a:rPr lang="en-US" sz="1800" i="1" dirty="0">
                <a:ea typeface="ＭＳ Ｐゴシック" panose="020B0600070205080204" pitchFamily="34" charset="-128"/>
              </a:rPr>
              <a:t>P</a:t>
            </a:r>
            <a:r>
              <a:rPr lang="en-US" sz="1800" i="1" baseline="-25000" dirty="0">
                <a:ea typeface="ＭＳ Ｐゴシック" panose="020B0600070205080204" pitchFamily="34" charset="-128"/>
              </a:rPr>
              <a:t>i </a:t>
            </a:r>
            <a:r>
              <a:rPr lang="en-US" sz="1800" dirty="0">
                <a:ea typeface="ＭＳ Ｐゴシック" panose="020B0600070205080204" pitchFamily="34" charset="-128"/>
                <a:sym typeface="Symbol" panose="05050102010706020507" pitchFamily="18" charset="2"/>
              </a:rPr>
              <a:t> </a:t>
            </a:r>
            <a:r>
              <a:rPr lang="en-US" sz="1800" i="1" dirty="0" err="1">
                <a:ea typeface="ＭＳ Ｐゴシック" panose="020B0600070205080204" pitchFamily="34" charset="-128"/>
                <a:sym typeface="Symbol" panose="05050102010706020507" pitchFamily="18" charset="2"/>
              </a:rPr>
              <a:t>R</a:t>
            </a:r>
            <a:r>
              <a:rPr lang="en-US" sz="1800" i="1" baseline="-25000" dirty="0" err="1">
                <a:ea typeface="ＭＳ Ｐゴシック" panose="020B0600070205080204" pitchFamily="34" charset="-128"/>
                <a:sym typeface="Symbol" panose="05050102010706020507" pitchFamily="18" charset="2"/>
              </a:rPr>
              <a:t>j</a:t>
            </a:r>
            <a:endParaRPr lang="en-US" sz="1800" i="1" dirty="0">
              <a:ea typeface="ＭＳ Ｐゴシック" panose="020B0600070205080204" pitchFamily="34" charset="-128"/>
              <a:sym typeface="Symbol" panose="05050102010706020507" pitchFamily="18" charset="2"/>
            </a:endParaRPr>
          </a:p>
          <a:p>
            <a:r>
              <a:rPr lang="en-US" sz="1800" dirty="0">
                <a:ea typeface="ＭＳ Ｐゴシック" panose="020B0600070205080204" pitchFamily="34" charset="-128"/>
                <a:sym typeface="Symbol" panose="05050102010706020507" pitchFamily="18" charset="2"/>
              </a:rPr>
              <a:t>assignment edge </a:t>
            </a:r>
            <a:r>
              <a:rPr lang="en-US" sz="1800" dirty="0">
                <a:ea typeface="ＭＳ Ｐゴシック" panose="020B0600070205080204" pitchFamily="34" charset="-128"/>
              </a:rPr>
              <a:t>– directed edge </a:t>
            </a:r>
            <a:r>
              <a:rPr lang="en-US" sz="1800" i="1" dirty="0" err="1">
                <a:ea typeface="ＭＳ Ｐゴシック" panose="020B0600070205080204" pitchFamily="34" charset="-128"/>
              </a:rPr>
              <a:t>R</a:t>
            </a:r>
            <a:r>
              <a:rPr lang="en-US" sz="1800" i="1" baseline="-25000" dirty="0" err="1">
                <a:ea typeface="ＭＳ Ｐゴシック" panose="020B0600070205080204" pitchFamily="34" charset="-128"/>
              </a:rPr>
              <a:t>j</a:t>
            </a:r>
            <a:r>
              <a:rPr lang="en-US" sz="1800" i="1" dirty="0">
                <a:ea typeface="ＭＳ Ｐゴシック" panose="020B0600070205080204" pitchFamily="34" charset="-128"/>
              </a:rPr>
              <a:t> </a:t>
            </a:r>
            <a:r>
              <a:rPr lang="en-US" sz="1800" dirty="0">
                <a:ea typeface="ＭＳ Ｐゴシック" panose="020B0600070205080204" pitchFamily="34" charset="-128"/>
                <a:sym typeface="Symbol" panose="05050102010706020507" pitchFamily="18" charset="2"/>
              </a:rPr>
              <a:t> </a:t>
            </a:r>
            <a:r>
              <a:rPr lang="en-US" sz="1800" i="1" dirty="0" smtClean="0">
                <a:ea typeface="ＭＳ Ｐゴシック" panose="020B0600070205080204" pitchFamily="34" charset="-128"/>
                <a:sym typeface="Symbol" panose="05050102010706020507" pitchFamily="18" charset="2"/>
              </a:rPr>
              <a:t>P</a:t>
            </a:r>
            <a:r>
              <a:rPr lang="en-US" sz="1800" i="1" baseline="-25000" dirty="0" smtClean="0">
                <a:ea typeface="ＭＳ Ｐゴシック" panose="020B0600070205080204" pitchFamily="34" charset="-128"/>
                <a:sym typeface="Symbol" panose="05050102010706020507" pitchFamily="18" charset="2"/>
              </a:rPr>
              <a:t>i</a:t>
            </a:r>
          </a:p>
          <a:p>
            <a:r>
              <a:rPr lang="en-US" sz="1800" dirty="0">
                <a:ea typeface="ＭＳ Ｐゴシック" panose="020B0600070205080204" pitchFamily="34" charset="-128"/>
              </a:rPr>
              <a:t>Process</a:t>
            </a:r>
            <a:br>
              <a:rPr lang="en-US" sz="1800" dirty="0">
                <a:ea typeface="ＭＳ Ｐゴシック" panose="020B0600070205080204" pitchFamily="34" charset="-128"/>
              </a:rPr>
            </a:br>
            <a:endParaRPr lang="en-US" sz="1800" dirty="0">
              <a:ea typeface="ＭＳ Ｐゴシック" panose="020B0600070205080204" pitchFamily="34" charset="-128"/>
            </a:endParaRPr>
          </a:p>
          <a:p>
            <a:r>
              <a:rPr lang="en-US" sz="1800" dirty="0">
                <a:ea typeface="ＭＳ Ｐゴシック" panose="020B0600070205080204" pitchFamily="34" charset="-128"/>
              </a:rPr>
              <a:t>Resource Type with 4 instances</a:t>
            </a:r>
          </a:p>
          <a:p>
            <a:pPr marL="0" indent="0">
              <a:buNone/>
            </a:pPr>
            <a:endParaRPr lang="en-US" sz="1800" dirty="0">
              <a:ea typeface="ＭＳ Ｐゴシック" panose="020B0600070205080204" pitchFamily="34" charset="-128"/>
            </a:endParaRPr>
          </a:p>
          <a:p>
            <a:r>
              <a:rPr lang="en-US" sz="1800" i="1" dirty="0">
                <a:ea typeface="ＭＳ Ｐゴシック" panose="020B0600070205080204" pitchFamily="34" charset="-128"/>
              </a:rPr>
              <a:t>P</a:t>
            </a:r>
            <a:r>
              <a:rPr lang="en-US" sz="1800" i="1" baseline="-25000" dirty="0">
                <a:ea typeface="ＭＳ Ｐゴシック" panose="020B0600070205080204" pitchFamily="34" charset="-128"/>
              </a:rPr>
              <a:t>i</a:t>
            </a:r>
            <a:r>
              <a:rPr lang="en-US" sz="1800" i="1" dirty="0">
                <a:ea typeface="ＭＳ Ｐゴシック" panose="020B0600070205080204" pitchFamily="34" charset="-128"/>
              </a:rPr>
              <a:t> </a:t>
            </a:r>
            <a:r>
              <a:rPr lang="en-US" sz="1800" dirty="0">
                <a:ea typeface="ＭＳ Ｐゴシック" panose="020B0600070205080204" pitchFamily="34" charset="-128"/>
              </a:rPr>
              <a:t>requests instance of </a:t>
            </a:r>
            <a:r>
              <a:rPr lang="en-US" sz="1800" i="1" dirty="0" err="1">
                <a:ea typeface="ＭＳ Ｐゴシック" panose="020B0600070205080204" pitchFamily="34" charset="-128"/>
              </a:rPr>
              <a:t>R</a:t>
            </a:r>
            <a:r>
              <a:rPr lang="en-US" sz="1800" i="1" baseline="-25000" dirty="0" err="1">
                <a:ea typeface="ＭＳ Ｐゴシック" panose="020B0600070205080204" pitchFamily="34" charset="-128"/>
              </a:rPr>
              <a:t>j</a:t>
            </a:r>
            <a:endParaRPr lang="en-US" sz="1800" dirty="0">
              <a:ea typeface="ＭＳ Ｐゴシック" panose="020B0600070205080204" pitchFamily="34" charset="-128"/>
            </a:endParaRPr>
          </a:p>
          <a:p>
            <a:pPr>
              <a:buFont typeface="Monotype Sorts" charset="2"/>
              <a:buNone/>
            </a:pPr>
            <a:endParaRPr lang="en-US" sz="1800" dirty="0">
              <a:ea typeface="ＭＳ Ｐゴシック" panose="020B0600070205080204" pitchFamily="34" charset="-128"/>
            </a:endParaRPr>
          </a:p>
          <a:p>
            <a:r>
              <a:rPr lang="en-US" sz="1800" i="1" dirty="0">
                <a:ea typeface="ＭＳ Ｐゴシック" panose="020B0600070205080204" pitchFamily="34" charset="-128"/>
              </a:rPr>
              <a:t>P</a:t>
            </a:r>
            <a:r>
              <a:rPr lang="en-US" sz="1800" i="1" baseline="-25000" dirty="0">
                <a:ea typeface="ＭＳ Ｐゴシック" panose="020B0600070205080204" pitchFamily="34" charset="-128"/>
              </a:rPr>
              <a:t>i</a:t>
            </a:r>
            <a:r>
              <a:rPr lang="en-US" sz="1800" dirty="0">
                <a:ea typeface="ＭＳ Ｐゴシック" panose="020B0600070205080204" pitchFamily="34" charset="-128"/>
              </a:rPr>
              <a:t> is holding an instance of </a:t>
            </a:r>
            <a:r>
              <a:rPr lang="en-US" sz="1800" i="1" dirty="0" err="1" smtClean="0">
                <a:ea typeface="ＭＳ Ｐゴシック" panose="020B0600070205080204" pitchFamily="34" charset="-128"/>
              </a:rPr>
              <a:t>R</a:t>
            </a:r>
            <a:r>
              <a:rPr lang="en-US" sz="1800" i="1" baseline="-25000" dirty="0" err="1" smtClean="0">
                <a:ea typeface="ＭＳ Ｐゴシック" panose="020B0600070205080204" pitchFamily="34" charset="-128"/>
              </a:rPr>
              <a:t>j</a:t>
            </a:r>
            <a:endParaRPr lang="en-US" sz="1800" i="1" dirty="0">
              <a:ea typeface="ＭＳ Ｐゴシック" panose="020B0600070205080204" pitchFamily="34" charset="-128"/>
            </a:endParaRPr>
          </a:p>
        </p:txBody>
      </p:sp>
      <p:sp>
        <p:nvSpPr>
          <p:cNvPr id="10244" name="Text Box 4"/>
          <p:cNvSpPr txBox="1">
            <a:spLocks noChangeArrowheads="1"/>
          </p:cNvSpPr>
          <p:nvPr/>
        </p:nvSpPr>
        <p:spPr bwMode="auto">
          <a:xfrm>
            <a:off x="646110" y="998634"/>
            <a:ext cx="639286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spcBef>
                <a:spcPct val="50000"/>
              </a:spcBef>
            </a:pPr>
            <a:r>
              <a:rPr lang="en-US" sz="2000" dirty="0">
                <a:latin typeface="Helvetica" panose="020B0604020202020204" pitchFamily="34" charset="0"/>
              </a:rPr>
              <a:t>A set of vertices </a:t>
            </a:r>
            <a:r>
              <a:rPr lang="en-US" sz="2000" i="1" dirty="0">
                <a:latin typeface="Helvetica" panose="020B0604020202020204" pitchFamily="34" charset="0"/>
              </a:rPr>
              <a:t>V</a:t>
            </a:r>
            <a:r>
              <a:rPr lang="en-US" sz="2000" dirty="0">
                <a:latin typeface="Helvetica" panose="020B0604020202020204" pitchFamily="34" charset="0"/>
              </a:rPr>
              <a:t> and a set of edges </a:t>
            </a:r>
            <a:r>
              <a:rPr lang="en-US" sz="2000" i="1" dirty="0">
                <a:latin typeface="Helvetica" panose="020B0604020202020204" pitchFamily="34" charset="0"/>
              </a:rPr>
              <a:t>E</a:t>
            </a:r>
            <a:r>
              <a:rPr lang="en-US" sz="2000" dirty="0">
                <a:latin typeface="Helvetica" panose="020B0604020202020204" pitchFamily="34" charset="0"/>
              </a:rPr>
              <a:t>.</a:t>
            </a:r>
          </a:p>
        </p:txBody>
      </p:sp>
      <p:sp>
        <p:nvSpPr>
          <p:cNvPr id="5" name="Oval 4"/>
          <p:cNvSpPr>
            <a:spLocks noChangeArrowheads="1"/>
          </p:cNvSpPr>
          <p:nvPr/>
        </p:nvSpPr>
        <p:spPr bwMode="auto">
          <a:xfrm>
            <a:off x="2407609" y="3695131"/>
            <a:ext cx="495300" cy="4953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grpSp>
        <p:nvGrpSpPr>
          <p:cNvPr id="6" name="Group 12"/>
          <p:cNvGrpSpPr>
            <a:grpSpLocks/>
          </p:cNvGrpSpPr>
          <p:nvPr/>
        </p:nvGrpSpPr>
        <p:grpSpPr bwMode="auto">
          <a:xfrm>
            <a:off x="4910322" y="4411119"/>
            <a:ext cx="438150" cy="419100"/>
            <a:chOff x="2666" y="1966"/>
            <a:chExt cx="276" cy="264"/>
          </a:xfrm>
        </p:grpSpPr>
        <p:sp>
          <p:nvSpPr>
            <p:cNvPr id="7" name="Rectangle 7"/>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8" name="Rectangle 8"/>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9" name="Rectangle 9"/>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10" name="Rectangle 10"/>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11" name="Rectangle 11"/>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grpSp>
      <p:sp>
        <p:nvSpPr>
          <p:cNvPr id="12" name="Oval 6"/>
          <p:cNvSpPr>
            <a:spLocks noChangeArrowheads="1"/>
          </p:cNvSpPr>
          <p:nvPr/>
        </p:nvSpPr>
        <p:spPr bwMode="auto">
          <a:xfrm>
            <a:off x="3938137" y="5210743"/>
            <a:ext cx="495300" cy="4953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i="1">
                <a:latin typeface="Helvetica" panose="020B0604020202020204" pitchFamily="34" charset="0"/>
              </a:rPr>
              <a:t>P</a:t>
            </a:r>
            <a:r>
              <a:rPr lang="en-US" i="1" baseline="-25000">
                <a:latin typeface="Helvetica" panose="020B0604020202020204" pitchFamily="34" charset="0"/>
              </a:rPr>
              <a:t>i</a:t>
            </a:r>
            <a:endParaRPr lang="en-US" i="1">
              <a:latin typeface="Helvetica" panose="020B0604020202020204" pitchFamily="34" charset="0"/>
            </a:endParaRPr>
          </a:p>
        </p:txBody>
      </p:sp>
      <p:sp>
        <p:nvSpPr>
          <p:cNvPr id="13" name="Line 19"/>
          <p:cNvSpPr>
            <a:spLocks noChangeShapeType="1"/>
          </p:cNvSpPr>
          <p:nvPr/>
        </p:nvSpPr>
        <p:spPr bwMode="auto">
          <a:xfrm>
            <a:off x="4433437" y="5463796"/>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4" name="Group 13"/>
          <p:cNvGrpSpPr>
            <a:grpSpLocks/>
          </p:cNvGrpSpPr>
          <p:nvPr/>
        </p:nvGrpSpPr>
        <p:grpSpPr bwMode="auto">
          <a:xfrm>
            <a:off x="4735697" y="5210743"/>
            <a:ext cx="438150" cy="419100"/>
            <a:chOff x="2666" y="1966"/>
            <a:chExt cx="276" cy="264"/>
          </a:xfrm>
        </p:grpSpPr>
        <p:sp>
          <p:nvSpPr>
            <p:cNvPr id="15" name="Rectangle 14"/>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16" name="Rectangle 15"/>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17" name="Rectangle 16"/>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18" name="Rectangle 17"/>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19" name="Rectangle 18"/>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grpSp>
      <p:sp>
        <p:nvSpPr>
          <p:cNvPr id="20" name="Line 27"/>
          <p:cNvSpPr>
            <a:spLocks noChangeShapeType="1"/>
          </p:cNvSpPr>
          <p:nvPr/>
        </p:nvSpPr>
        <p:spPr bwMode="auto">
          <a:xfrm flipH="1">
            <a:off x="4820628" y="6170094"/>
            <a:ext cx="476250" cy="1047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 name="Oval 6"/>
          <p:cNvSpPr>
            <a:spLocks noChangeArrowheads="1"/>
          </p:cNvSpPr>
          <p:nvPr/>
        </p:nvSpPr>
        <p:spPr bwMode="auto">
          <a:xfrm>
            <a:off x="4338187" y="6022145"/>
            <a:ext cx="495300" cy="4953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i="1" dirty="0">
                <a:latin typeface="Helvetica" panose="020B0604020202020204" pitchFamily="34" charset="0"/>
              </a:rPr>
              <a:t>P</a:t>
            </a:r>
            <a:r>
              <a:rPr lang="en-US" i="1" baseline="-25000" dirty="0">
                <a:latin typeface="Helvetica" panose="020B0604020202020204" pitchFamily="34" charset="0"/>
              </a:rPr>
              <a:t>i</a:t>
            </a:r>
            <a:endParaRPr lang="en-US" i="1" dirty="0">
              <a:latin typeface="Helvetica" panose="020B0604020202020204" pitchFamily="34" charset="0"/>
            </a:endParaRPr>
          </a:p>
        </p:txBody>
      </p:sp>
      <p:grpSp>
        <p:nvGrpSpPr>
          <p:cNvPr id="24" name="Group 23"/>
          <p:cNvGrpSpPr>
            <a:grpSpLocks/>
          </p:cNvGrpSpPr>
          <p:nvPr/>
        </p:nvGrpSpPr>
        <p:grpSpPr bwMode="auto">
          <a:xfrm>
            <a:off x="5336371" y="5960544"/>
            <a:ext cx="438150" cy="419100"/>
            <a:chOff x="2666" y="1966"/>
            <a:chExt cx="276" cy="264"/>
          </a:xfrm>
        </p:grpSpPr>
        <p:sp>
          <p:nvSpPr>
            <p:cNvPr id="25" name="Rectangle 24"/>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26" name="Rectangle 25"/>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27" name="Rectangle 26"/>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28" name="Rectangle 27"/>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sp>
          <p:nvSpPr>
            <p:cNvPr id="29" name="Rectangle 28"/>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26"/>
          <p:cNvSpPr>
            <a:spLocks noGrp="1" noChangeArrowheads="1"/>
          </p:cNvSpPr>
          <p:nvPr>
            <p:ph type="title"/>
          </p:nvPr>
        </p:nvSpPr>
        <p:spPr>
          <a:xfrm>
            <a:off x="218364" y="319088"/>
            <a:ext cx="11464120" cy="512762"/>
          </a:xfrm>
        </p:spPr>
        <p:txBody>
          <a:bodyPr/>
          <a:lstStyle/>
          <a:p>
            <a:pPr eaLnBrk="1" hangingPunct="1"/>
            <a:r>
              <a:rPr lang="en-US" b="1" dirty="0" smtClean="0">
                <a:ea typeface="ＭＳ Ｐゴシック" panose="020B0600070205080204" pitchFamily="34" charset="-128"/>
              </a:rPr>
              <a:t>Example of a Resource Allocation Graph</a:t>
            </a:r>
          </a:p>
        </p:txBody>
      </p:sp>
      <p:pic>
        <p:nvPicPr>
          <p:cNvPr id="12291" name="Picture 1032"/>
          <p:cNvPicPr>
            <a:picLocks noChangeAspect="1" noChangeArrowheads="1"/>
          </p:cNvPicPr>
          <p:nvPr/>
        </p:nvPicPr>
        <p:blipFill>
          <a:blip r:embed="rId3">
            <a:extLst>
              <a:ext uri="{28A0092B-C50C-407E-A947-70E740481C1C}">
                <a14:useLocalDpi xmlns:a14="http://schemas.microsoft.com/office/drawing/2010/main" val="0"/>
              </a:ext>
            </a:extLst>
          </a:blip>
          <a:srcRect l="25287" t="926" r="25287" b="1532"/>
          <a:stretch>
            <a:fillRect/>
          </a:stretch>
        </p:blipFill>
        <p:spPr bwMode="auto">
          <a:xfrm>
            <a:off x="218364" y="1532034"/>
            <a:ext cx="2741613" cy="405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pic>
        <p:nvPicPr>
          <p:cNvPr id="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483" y="1532034"/>
            <a:ext cx="2781300"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2959977" y="5823761"/>
            <a:ext cx="4900935" cy="646331"/>
          </a:xfrm>
          <a:prstGeom prst="rect">
            <a:avLst/>
          </a:prstGeom>
        </p:spPr>
        <p:txBody>
          <a:bodyPr wrap="square">
            <a:spAutoFit/>
          </a:bodyPr>
          <a:lstStyle/>
          <a:p>
            <a:pPr algn="ctr"/>
            <a:r>
              <a:rPr lang="en-US" dirty="0">
                <a:ea typeface="ＭＳ Ｐゴシック" panose="020B0600070205080204" pitchFamily="34" charset="-128"/>
              </a:rPr>
              <a:t>Resource Allocation Graph With A Deadlock</a:t>
            </a:r>
            <a:endParaRPr lang="en-US" dirty="0"/>
          </a:p>
        </p:txBody>
      </p:sp>
      <p:pic>
        <p:nvPicPr>
          <p:cNvPr id="6"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7492" y="1398437"/>
            <a:ext cx="3248025" cy="415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7668435" y="5777594"/>
            <a:ext cx="4386137" cy="369332"/>
          </a:xfrm>
          <a:prstGeom prst="rect">
            <a:avLst/>
          </a:prstGeom>
        </p:spPr>
        <p:txBody>
          <a:bodyPr wrap="none">
            <a:spAutoFit/>
          </a:bodyPr>
          <a:lstStyle/>
          <a:p>
            <a:r>
              <a:rPr lang="en-US" dirty="0">
                <a:ea typeface="ＭＳ Ｐゴシック" panose="020B0600070205080204" pitchFamily="34" charset="-128"/>
              </a:rPr>
              <a:t>Graph With A Cycle But No Deadlock</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46111" y="452718"/>
            <a:ext cx="9404723" cy="666398"/>
          </a:xfrm>
        </p:spPr>
        <p:txBody>
          <a:bodyPr/>
          <a:lstStyle/>
          <a:p>
            <a:pPr eaLnBrk="1" hangingPunct="1"/>
            <a:r>
              <a:rPr lang="en-US" b="1" dirty="0" smtClean="0">
                <a:ea typeface="ＭＳ Ｐゴシック" panose="020B0600070205080204" pitchFamily="34" charset="-128"/>
              </a:rPr>
              <a:t>Basic Facts</a:t>
            </a:r>
          </a:p>
        </p:txBody>
      </p:sp>
      <p:sp>
        <p:nvSpPr>
          <p:cNvPr id="15363" name="Rectangle 3"/>
          <p:cNvSpPr>
            <a:spLocks noGrp="1" noChangeArrowheads="1"/>
          </p:cNvSpPr>
          <p:nvPr>
            <p:ph type="body" idx="1"/>
          </p:nvPr>
        </p:nvSpPr>
        <p:spPr>
          <a:xfrm>
            <a:off x="646111" y="1119116"/>
            <a:ext cx="9139334" cy="4735584"/>
          </a:xfrm>
        </p:spPr>
        <p:txBody>
          <a:bodyPr/>
          <a:lstStyle/>
          <a:p>
            <a:r>
              <a:rPr lang="en-US" sz="1800" dirty="0">
                <a:ea typeface="ＭＳ Ｐゴシック" panose="020B0600070205080204" pitchFamily="34" charset="-128"/>
              </a:rPr>
              <a:t>If graph contains no cycles </a:t>
            </a:r>
            <a:r>
              <a:rPr lang="en-US" sz="1800" dirty="0">
                <a:ea typeface="ＭＳ Ｐゴシック" panose="020B0600070205080204" pitchFamily="34" charset="-128"/>
                <a:sym typeface="Symbol" panose="05050102010706020507" pitchFamily="18" charset="2"/>
              </a:rPr>
              <a:t> no deadlock</a:t>
            </a:r>
            <a:br>
              <a:rPr lang="en-US" sz="1800" dirty="0">
                <a:ea typeface="ＭＳ Ｐゴシック" panose="020B0600070205080204" pitchFamily="34" charset="-128"/>
                <a:sym typeface="Symbol" panose="05050102010706020507" pitchFamily="18" charset="2"/>
              </a:rPr>
            </a:br>
            <a:endParaRPr lang="en-US" sz="1800" dirty="0">
              <a:ea typeface="ＭＳ Ｐゴシック" panose="020B0600070205080204" pitchFamily="34" charset="-128"/>
              <a:sym typeface="Symbol" panose="05050102010706020507" pitchFamily="18" charset="2"/>
            </a:endParaRPr>
          </a:p>
          <a:p>
            <a:r>
              <a:rPr lang="en-US" sz="1800" dirty="0">
                <a:ea typeface="ＭＳ Ｐゴシック" panose="020B0600070205080204" pitchFamily="34" charset="-128"/>
                <a:sym typeface="Symbol" panose="05050102010706020507" pitchFamily="18" charset="2"/>
              </a:rPr>
              <a:t>If graph contains a cycle </a:t>
            </a:r>
          </a:p>
          <a:p>
            <a:pPr lvl="1"/>
            <a:r>
              <a:rPr lang="en-US" dirty="0">
                <a:ea typeface="ＭＳ Ｐゴシック" panose="020B0600070205080204" pitchFamily="34" charset="-128"/>
                <a:sym typeface="Symbol" panose="05050102010706020507" pitchFamily="18" charset="2"/>
              </a:rPr>
              <a:t>if only one instance per resource type, then deadlock</a:t>
            </a:r>
          </a:p>
          <a:p>
            <a:pPr lvl="1"/>
            <a:r>
              <a:rPr lang="en-US" dirty="0">
                <a:ea typeface="ＭＳ Ｐゴシック" panose="020B0600070205080204" pitchFamily="34" charset="-128"/>
                <a:sym typeface="Symbol" panose="05050102010706020507" pitchFamily="18" charset="2"/>
              </a:rPr>
              <a:t>if several instances per resource type, possibility of deadlock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46111" y="452718"/>
            <a:ext cx="9404723" cy="843819"/>
          </a:xfrm>
        </p:spPr>
        <p:txBody>
          <a:bodyPr/>
          <a:lstStyle/>
          <a:p>
            <a:pPr eaLnBrk="1" hangingPunct="1"/>
            <a:r>
              <a:rPr lang="en-US" b="1" dirty="0" smtClean="0">
                <a:ea typeface="ＭＳ Ｐゴシック" panose="020B0600070205080204" pitchFamily="34" charset="-128"/>
              </a:rPr>
              <a:t>Methods for Handling Deadlocks</a:t>
            </a:r>
          </a:p>
        </p:txBody>
      </p:sp>
      <p:sp>
        <p:nvSpPr>
          <p:cNvPr id="16387" name="Rectangle 3"/>
          <p:cNvSpPr>
            <a:spLocks noGrp="1" noChangeArrowheads="1"/>
          </p:cNvSpPr>
          <p:nvPr>
            <p:ph type="body" idx="1"/>
          </p:nvPr>
        </p:nvSpPr>
        <p:spPr>
          <a:xfrm>
            <a:off x="829196" y="1581434"/>
            <a:ext cx="11058004" cy="3295650"/>
          </a:xfrm>
        </p:spPr>
        <p:txBody>
          <a:bodyPr/>
          <a:lstStyle/>
          <a:p>
            <a:r>
              <a:rPr lang="en-US" sz="1800" dirty="0">
                <a:ea typeface="ＭＳ Ｐゴシック" panose="020B0600070205080204" pitchFamily="34" charset="-128"/>
              </a:rPr>
              <a:t>Ensure that the system will </a:t>
            </a:r>
            <a:r>
              <a:rPr lang="en-US" sz="1800" i="1" dirty="0">
                <a:ea typeface="ＭＳ Ｐゴシック" panose="020B0600070205080204" pitchFamily="34" charset="-128"/>
              </a:rPr>
              <a:t>never</a:t>
            </a:r>
            <a:r>
              <a:rPr lang="en-US" sz="1800" dirty="0">
                <a:ea typeface="ＭＳ Ｐゴシック" panose="020B0600070205080204" pitchFamily="34" charset="-128"/>
              </a:rPr>
              <a:t> enter a deadlock state</a:t>
            </a:r>
            <a:br>
              <a:rPr lang="en-US" sz="1800" dirty="0">
                <a:ea typeface="ＭＳ Ｐゴシック" panose="020B0600070205080204" pitchFamily="34" charset="-128"/>
              </a:rPr>
            </a:br>
            <a:endParaRPr lang="en-US" sz="1800" dirty="0">
              <a:ea typeface="ＭＳ Ｐゴシック" panose="020B0600070205080204" pitchFamily="34" charset="-128"/>
            </a:endParaRPr>
          </a:p>
          <a:p>
            <a:r>
              <a:rPr lang="en-US" sz="1800" dirty="0">
                <a:ea typeface="ＭＳ Ｐゴシック" panose="020B0600070205080204" pitchFamily="34" charset="-128"/>
              </a:rPr>
              <a:t>Allow the system to enter a deadlock state and then recover</a:t>
            </a:r>
            <a:br>
              <a:rPr lang="en-US" sz="1800" dirty="0">
                <a:ea typeface="ＭＳ Ｐゴシック" panose="020B0600070205080204" pitchFamily="34" charset="-128"/>
              </a:rPr>
            </a:br>
            <a:endParaRPr lang="en-US" sz="1800" dirty="0">
              <a:ea typeface="ＭＳ Ｐゴシック" panose="020B0600070205080204" pitchFamily="34" charset="-128"/>
            </a:endParaRPr>
          </a:p>
          <a:p>
            <a:r>
              <a:rPr lang="en-US" sz="1800" dirty="0">
                <a:ea typeface="ＭＳ Ｐゴシック" panose="020B0600070205080204" pitchFamily="34" charset="-128"/>
              </a:rPr>
              <a:t>Ignore the problem and pretend that deadlocks never occur in the system; used by most operating systems, including UNIX</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a:xfrm>
            <a:off x="646111" y="452718"/>
            <a:ext cx="9404723" cy="748285"/>
          </a:xfrm>
        </p:spPr>
        <p:txBody>
          <a:bodyPr/>
          <a:lstStyle/>
          <a:p>
            <a:pPr eaLnBrk="1" hangingPunct="1"/>
            <a:r>
              <a:rPr lang="en-US" b="1" dirty="0" smtClean="0">
                <a:ea typeface="ＭＳ Ｐゴシック" panose="020B0600070205080204" pitchFamily="34" charset="-128"/>
              </a:rPr>
              <a:t>Deadlock Prevention</a:t>
            </a:r>
          </a:p>
        </p:txBody>
      </p:sp>
      <p:sp>
        <p:nvSpPr>
          <p:cNvPr id="17411" name="Rectangle 1027"/>
          <p:cNvSpPr>
            <a:spLocks noGrp="1" noChangeArrowheads="1"/>
          </p:cNvSpPr>
          <p:nvPr>
            <p:ph type="body" idx="1"/>
          </p:nvPr>
        </p:nvSpPr>
        <p:spPr>
          <a:xfrm>
            <a:off x="646111" y="1567716"/>
            <a:ext cx="11227441" cy="5290284"/>
          </a:xfrm>
        </p:spPr>
        <p:txBody>
          <a:bodyPr/>
          <a:lstStyle/>
          <a:p>
            <a:r>
              <a:rPr lang="en-US" sz="1800" b="1" dirty="0">
                <a:ea typeface="ＭＳ Ｐゴシック" panose="020B0600070205080204" pitchFamily="34" charset="-128"/>
              </a:rPr>
              <a:t>Mutual Exclusion</a:t>
            </a:r>
            <a:r>
              <a:rPr lang="en-US" sz="1800" dirty="0">
                <a:ea typeface="ＭＳ Ｐゴシック" panose="020B0600070205080204" pitchFamily="34" charset="-128"/>
              </a:rPr>
              <a:t> – not required for sharable resources; must hold for </a:t>
            </a:r>
            <a:r>
              <a:rPr lang="en-US" sz="1800" dirty="0" smtClean="0">
                <a:ea typeface="ＭＳ Ｐゴシック" panose="020B0600070205080204" pitchFamily="34" charset="-128"/>
              </a:rPr>
              <a:t>non-sharable resources</a:t>
            </a:r>
            <a:endParaRPr lang="en-US" sz="1800" dirty="0">
              <a:ea typeface="ＭＳ Ｐゴシック" panose="020B0600070205080204" pitchFamily="34" charset="-128"/>
            </a:endParaRPr>
          </a:p>
          <a:p>
            <a:r>
              <a:rPr lang="en-US" sz="1800" b="1" dirty="0">
                <a:ea typeface="ＭＳ Ｐゴシック" panose="020B0600070205080204" pitchFamily="34" charset="-128"/>
              </a:rPr>
              <a:t>Hold and Wait</a:t>
            </a:r>
            <a:r>
              <a:rPr lang="en-US" sz="1800" dirty="0">
                <a:ea typeface="ＭＳ Ｐゴシック" panose="020B0600070205080204" pitchFamily="34" charset="-128"/>
              </a:rPr>
              <a:t> – must guarantee that whenever a process requests a resource, it does not hold any other resources</a:t>
            </a:r>
          </a:p>
          <a:p>
            <a:pPr lvl="1"/>
            <a:r>
              <a:rPr lang="en-US" dirty="0">
                <a:ea typeface="ＭＳ Ｐゴシック" panose="020B0600070205080204" pitchFamily="34" charset="-128"/>
              </a:rPr>
              <a:t>Require process to request and be allocated all its resources before it begins execution, or allow process to request resources only when the process has none</a:t>
            </a:r>
          </a:p>
          <a:p>
            <a:pPr lvl="1"/>
            <a:r>
              <a:rPr lang="en-US" dirty="0">
                <a:ea typeface="ＭＳ Ｐゴシック" panose="020B0600070205080204" pitchFamily="34" charset="-128"/>
              </a:rPr>
              <a:t>Low resource utilization; starvation </a:t>
            </a:r>
            <a:r>
              <a:rPr lang="en-US" dirty="0" smtClean="0">
                <a:ea typeface="ＭＳ Ｐゴシック" panose="020B0600070205080204" pitchFamily="34" charset="-128"/>
              </a:rPr>
              <a:t>possible</a:t>
            </a:r>
            <a:endParaRPr lang="en-US" dirty="0">
              <a:ea typeface="ＭＳ Ｐゴシック" panose="020B0600070205080204" pitchFamily="34" charset="-128"/>
            </a:endParaRPr>
          </a:p>
          <a:p>
            <a:pPr marL="0" indent="0">
              <a:buNone/>
            </a:pPr>
            <a:r>
              <a:rPr lang="en-US" sz="1800" b="1" dirty="0">
                <a:ea typeface="ＭＳ Ｐゴシック" panose="020B0600070205080204" pitchFamily="34" charset="-128"/>
              </a:rPr>
              <a:t>No Preemption</a:t>
            </a:r>
            <a:r>
              <a:rPr lang="en-US" sz="1800" dirty="0">
                <a:ea typeface="ＭＳ Ｐゴシック" panose="020B0600070205080204" pitchFamily="34" charset="-128"/>
              </a:rPr>
              <a:t> –</a:t>
            </a:r>
          </a:p>
          <a:p>
            <a:pPr lvl="1"/>
            <a:r>
              <a:rPr lang="en-US" dirty="0">
                <a:ea typeface="ＭＳ Ｐゴシック" panose="020B0600070205080204" pitchFamily="34" charset="-128"/>
              </a:rPr>
              <a:t>If a process that is holding some resources requests another resource that cannot be immediately allocated to it, then all resources currently being held are released</a:t>
            </a:r>
          </a:p>
          <a:p>
            <a:pPr lvl="1"/>
            <a:r>
              <a:rPr lang="en-US" dirty="0">
                <a:ea typeface="ＭＳ Ｐゴシック" panose="020B0600070205080204" pitchFamily="34" charset="-128"/>
              </a:rPr>
              <a:t>Preempted resources are added to the list of resources for which the process is waiting</a:t>
            </a:r>
          </a:p>
          <a:p>
            <a:pPr lvl="1"/>
            <a:r>
              <a:rPr lang="en-US" dirty="0">
                <a:ea typeface="ＭＳ Ｐゴシック" panose="020B0600070205080204" pitchFamily="34" charset="-128"/>
              </a:rPr>
              <a:t>Process will be restarted only when it can regain its old resources, as well as the new ones that it is </a:t>
            </a:r>
            <a:r>
              <a:rPr lang="en-US" dirty="0" smtClean="0">
                <a:ea typeface="ＭＳ Ｐゴシック" panose="020B0600070205080204" pitchFamily="34" charset="-128"/>
              </a:rPr>
              <a:t>requesting</a:t>
            </a:r>
            <a:endParaRPr lang="en-US" dirty="0">
              <a:ea typeface="ＭＳ Ｐゴシック" panose="020B0600070205080204" pitchFamily="34" charset="-128"/>
            </a:endParaRPr>
          </a:p>
          <a:p>
            <a:r>
              <a:rPr lang="en-US" sz="1800" b="1" dirty="0">
                <a:ea typeface="ＭＳ Ｐゴシック" panose="020B0600070205080204" pitchFamily="34" charset="-128"/>
              </a:rPr>
              <a:t>Circular Wait</a:t>
            </a:r>
            <a:r>
              <a:rPr lang="en-US" sz="1800" dirty="0">
                <a:ea typeface="ＭＳ Ｐゴシック" panose="020B0600070205080204" pitchFamily="34" charset="-128"/>
              </a:rPr>
              <a:t> – impose a total ordering of all resource types, and require that each process requests resources in an increasing order of enumeration</a:t>
            </a:r>
          </a:p>
          <a:p>
            <a:pPr lvl="1"/>
            <a:endParaRPr lang="en-US" dirty="0" smtClean="0">
              <a:ea typeface="ＭＳ Ｐゴシック" panose="020B0600070205080204" pitchFamily="34" charset="-128"/>
            </a:endParaRPr>
          </a:p>
        </p:txBody>
      </p:sp>
      <p:sp>
        <p:nvSpPr>
          <p:cNvPr id="17412" name="Text Box 1028"/>
          <p:cNvSpPr txBox="1">
            <a:spLocks noChangeArrowheads="1"/>
          </p:cNvSpPr>
          <p:nvPr/>
        </p:nvSpPr>
        <p:spPr bwMode="auto">
          <a:xfrm>
            <a:off x="523282" y="1201003"/>
            <a:ext cx="940472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spcBef>
                <a:spcPct val="50000"/>
              </a:spcBef>
            </a:pPr>
            <a:r>
              <a:rPr lang="en-US" dirty="0">
                <a:latin typeface="Helvetica" panose="020B0604020202020204" pitchFamily="34" charset="0"/>
              </a:rPr>
              <a:t>Restrain the ways request can be made</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46111" y="452718"/>
            <a:ext cx="9404723" cy="816381"/>
          </a:xfrm>
        </p:spPr>
        <p:txBody>
          <a:bodyPr/>
          <a:lstStyle/>
          <a:p>
            <a:pPr eaLnBrk="1" hangingPunct="1"/>
            <a:r>
              <a:rPr lang="en-US" b="1" dirty="0" smtClean="0">
                <a:ea typeface="ＭＳ Ｐゴシック" panose="020B0600070205080204" pitchFamily="34" charset="-128"/>
              </a:rPr>
              <a:t>Deadlock Avoidance</a:t>
            </a:r>
          </a:p>
        </p:txBody>
      </p:sp>
      <p:sp>
        <p:nvSpPr>
          <p:cNvPr id="19459" name="Rectangle 3"/>
          <p:cNvSpPr>
            <a:spLocks noGrp="1" noChangeArrowheads="1"/>
          </p:cNvSpPr>
          <p:nvPr>
            <p:ph type="body" idx="1"/>
          </p:nvPr>
        </p:nvSpPr>
        <p:spPr>
          <a:xfrm>
            <a:off x="646111" y="1638431"/>
            <a:ext cx="11445805" cy="4182933"/>
          </a:xfrm>
        </p:spPr>
        <p:txBody>
          <a:bodyPr/>
          <a:lstStyle/>
          <a:p>
            <a:r>
              <a:rPr lang="en-US" sz="1800" dirty="0">
                <a:ea typeface="ＭＳ Ｐゴシック" panose="020B0600070205080204" pitchFamily="34" charset="-128"/>
              </a:rPr>
              <a:t>Simplest and most useful model requires that each process declare the </a:t>
            </a:r>
            <a:r>
              <a:rPr lang="en-US" sz="1800" i="1" dirty="0">
                <a:ea typeface="ＭＳ Ｐゴシック" panose="020B0600070205080204" pitchFamily="34" charset="-128"/>
              </a:rPr>
              <a:t>maximum number</a:t>
            </a:r>
            <a:r>
              <a:rPr lang="en-US" sz="1800" dirty="0">
                <a:ea typeface="ＭＳ Ｐゴシック" panose="020B0600070205080204" pitchFamily="34" charset="-128"/>
              </a:rPr>
              <a:t> of resources of each type that it may need</a:t>
            </a:r>
            <a:br>
              <a:rPr lang="en-US" sz="1800" dirty="0">
                <a:ea typeface="ＭＳ Ｐゴシック" panose="020B0600070205080204" pitchFamily="34" charset="-128"/>
              </a:rPr>
            </a:br>
            <a:endParaRPr lang="en-US" sz="1800" dirty="0">
              <a:ea typeface="ＭＳ Ｐゴシック" panose="020B0600070205080204" pitchFamily="34" charset="-128"/>
            </a:endParaRPr>
          </a:p>
          <a:p>
            <a:r>
              <a:rPr lang="en-US" sz="1800" dirty="0">
                <a:ea typeface="ＭＳ Ｐゴシック" panose="020B0600070205080204" pitchFamily="34" charset="-128"/>
              </a:rPr>
              <a:t>The deadlock-avoidance algorithm dynamically examines the resource-allocation state to ensure that there can never be a circular-wait condition</a:t>
            </a:r>
            <a:br>
              <a:rPr lang="en-US" sz="1800" dirty="0">
                <a:ea typeface="ＭＳ Ｐゴシック" panose="020B0600070205080204" pitchFamily="34" charset="-128"/>
              </a:rPr>
            </a:br>
            <a:endParaRPr lang="en-US" sz="1800" dirty="0">
              <a:ea typeface="ＭＳ Ｐゴシック" panose="020B0600070205080204" pitchFamily="34" charset="-128"/>
            </a:endParaRPr>
          </a:p>
          <a:p>
            <a:r>
              <a:rPr lang="en-US" sz="1800" dirty="0">
                <a:ea typeface="ＭＳ Ｐゴシック" panose="020B0600070205080204" pitchFamily="34" charset="-128"/>
              </a:rPr>
              <a:t>Resource-allocation </a:t>
            </a:r>
            <a:r>
              <a:rPr lang="en-US" sz="1800" i="1" dirty="0">
                <a:ea typeface="ＭＳ Ｐゴシック" panose="020B0600070205080204" pitchFamily="34" charset="-128"/>
              </a:rPr>
              <a:t>state</a:t>
            </a:r>
            <a:r>
              <a:rPr lang="en-US" sz="1800" dirty="0">
                <a:ea typeface="ＭＳ Ｐゴシック" panose="020B0600070205080204" pitchFamily="34" charset="-128"/>
              </a:rPr>
              <a:t> is defined by the number of available and allocated resources, and the maximum demands of the processes</a:t>
            </a:r>
          </a:p>
        </p:txBody>
      </p:sp>
      <p:sp>
        <p:nvSpPr>
          <p:cNvPr id="19460" name="Text Box 4"/>
          <p:cNvSpPr txBox="1">
            <a:spLocks noChangeArrowheads="1"/>
          </p:cNvSpPr>
          <p:nvPr/>
        </p:nvSpPr>
        <p:spPr bwMode="auto">
          <a:xfrm>
            <a:off x="646111" y="1269099"/>
            <a:ext cx="98490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spcBef>
                <a:spcPct val="50000"/>
              </a:spcBef>
            </a:pPr>
            <a:r>
              <a:rPr lang="en-US" dirty="0">
                <a:latin typeface="Helvetica" panose="020B0604020202020204" pitchFamily="34" charset="0"/>
              </a:rPr>
              <a:t>Requires that the system has some additional </a:t>
            </a:r>
            <a:r>
              <a:rPr lang="en-US" i="1" dirty="0">
                <a:latin typeface="Helvetica" panose="020B0604020202020204" pitchFamily="34" charset="0"/>
              </a:rPr>
              <a:t>a priori </a:t>
            </a:r>
            <a:r>
              <a:rPr lang="en-US" dirty="0">
                <a:latin typeface="Helvetica" panose="020B0604020202020204" pitchFamily="34" charset="0"/>
              </a:rPr>
              <a:t>information </a:t>
            </a:r>
            <a:r>
              <a:rPr lang="en-US" dirty="0" smtClean="0">
                <a:latin typeface="Helvetica" panose="020B0604020202020204" pitchFamily="34" charset="0"/>
              </a:rPr>
              <a:t>available</a:t>
            </a:r>
            <a:endParaRPr lang="en-US" dirty="0">
              <a:latin typeface="Helvetica"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64224" y="97876"/>
            <a:ext cx="9404723" cy="707342"/>
          </a:xfrm>
        </p:spPr>
        <p:txBody>
          <a:bodyPr/>
          <a:lstStyle/>
          <a:p>
            <a:pPr eaLnBrk="1" hangingPunct="1"/>
            <a:r>
              <a:rPr lang="en-US" b="1" dirty="0" smtClean="0">
                <a:ea typeface="ＭＳ Ｐゴシック" panose="020B0600070205080204" pitchFamily="34" charset="-128"/>
              </a:rPr>
              <a:t>Safe State</a:t>
            </a:r>
          </a:p>
        </p:txBody>
      </p:sp>
      <p:sp>
        <p:nvSpPr>
          <p:cNvPr id="20483" name="Rectangle 3"/>
          <p:cNvSpPr>
            <a:spLocks noGrp="1" noChangeArrowheads="1"/>
          </p:cNvSpPr>
          <p:nvPr>
            <p:ph type="body" idx="1"/>
          </p:nvPr>
        </p:nvSpPr>
        <p:spPr>
          <a:xfrm>
            <a:off x="564224" y="805218"/>
            <a:ext cx="11377567" cy="5139971"/>
          </a:xfrm>
        </p:spPr>
        <p:txBody>
          <a:bodyPr>
            <a:normAutofit/>
          </a:bodyPr>
          <a:lstStyle/>
          <a:p>
            <a:r>
              <a:rPr lang="en-US" sz="1800" dirty="0">
                <a:ea typeface="ＭＳ Ｐゴシック" panose="020B0600070205080204" pitchFamily="34" charset="-128"/>
              </a:rPr>
              <a:t>When a process requests an available resource, system must decide if immediate allocation leaves the system in a safe state</a:t>
            </a:r>
            <a:br>
              <a:rPr lang="en-US" sz="1800" dirty="0">
                <a:ea typeface="ＭＳ Ｐゴシック" panose="020B0600070205080204" pitchFamily="34" charset="-128"/>
              </a:rPr>
            </a:br>
            <a:endParaRPr lang="en-US" sz="1800" dirty="0">
              <a:ea typeface="ＭＳ Ｐゴシック" panose="020B0600070205080204" pitchFamily="34" charset="-128"/>
            </a:endParaRPr>
          </a:p>
          <a:p>
            <a:r>
              <a:rPr lang="en-US" sz="1800" dirty="0">
                <a:ea typeface="ＭＳ Ｐゴシック" panose="020B0600070205080204" pitchFamily="34" charset="-128"/>
              </a:rPr>
              <a:t>System is in safe state if there exists a sequence &lt;</a:t>
            </a:r>
            <a:r>
              <a:rPr lang="en-US" sz="1800" i="1" dirty="0">
                <a:ea typeface="ＭＳ Ｐゴシック" panose="020B0600070205080204" pitchFamily="34" charset="-128"/>
              </a:rPr>
              <a:t>P</a:t>
            </a:r>
            <a:r>
              <a:rPr lang="en-US" sz="1800" i="1" baseline="-25000" dirty="0">
                <a:ea typeface="ＭＳ Ｐゴシック" panose="020B0600070205080204" pitchFamily="34" charset="-128"/>
              </a:rPr>
              <a:t>1</a:t>
            </a:r>
            <a:r>
              <a:rPr lang="en-US" sz="1800" i="1" dirty="0">
                <a:ea typeface="ＭＳ Ｐゴシック" panose="020B0600070205080204" pitchFamily="34" charset="-128"/>
              </a:rPr>
              <a:t>, P</a:t>
            </a:r>
            <a:r>
              <a:rPr lang="en-US" sz="1800" i="1" baseline="-25000" dirty="0">
                <a:ea typeface="ＭＳ Ｐゴシック" panose="020B0600070205080204" pitchFamily="34" charset="-128"/>
              </a:rPr>
              <a:t>2</a:t>
            </a:r>
            <a:r>
              <a:rPr lang="en-US" sz="1800" i="1" dirty="0">
                <a:ea typeface="ＭＳ Ｐゴシック" panose="020B0600070205080204" pitchFamily="34" charset="-128"/>
              </a:rPr>
              <a:t>, …, </a:t>
            </a:r>
            <a:r>
              <a:rPr lang="en-US" sz="1800" i="1" dirty="0" err="1">
                <a:ea typeface="ＭＳ Ｐゴシック" panose="020B0600070205080204" pitchFamily="34" charset="-128"/>
              </a:rPr>
              <a:t>P</a:t>
            </a:r>
            <a:r>
              <a:rPr lang="en-US" sz="1800" i="1" baseline="-25000" dirty="0" err="1">
                <a:ea typeface="ＭＳ Ｐゴシック" panose="020B0600070205080204" pitchFamily="34" charset="-128"/>
              </a:rPr>
              <a:t>n</a:t>
            </a:r>
            <a:r>
              <a:rPr lang="en-US" sz="1800" dirty="0">
                <a:ea typeface="ＭＳ Ｐゴシック" panose="020B0600070205080204" pitchFamily="34" charset="-128"/>
              </a:rPr>
              <a:t>&gt; of ALL the  processes  is the systems such that  for each P</a:t>
            </a:r>
            <a:r>
              <a:rPr lang="en-US" sz="1800" baseline="-25000" dirty="0">
                <a:ea typeface="ＭＳ Ｐゴシック" panose="020B0600070205080204" pitchFamily="34" charset="-128"/>
              </a:rPr>
              <a:t>i</a:t>
            </a:r>
            <a:r>
              <a:rPr lang="en-US" sz="1800" dirty="0">
                <a:ea typeface="ＭＳ Ｐゴシック" panose="020B0600070205080204" pitchFamily="34" charset="-128"/>
              </a:rPr>
              <a:t>, the resources that P</a:t>
            </a:r>
            <a:r>
              <a:rPr lang="en-US" sz="1800" baseline="-25000" dirty="0">
                <a:ea typeface="ＭＳ Ｐゴシック" panose="020B0600070205080204" pitchFamily="34" charset="-128"/>
              </a:rPr>
              <a:t>i </a:t>
            </a:r>
            <a:r>
              <a:rPr lang="en-US" sz="1800" dirty="0">
                <a:ea typeface="ＭＳ Ｐゴシック" panose="020B0600070205080204" pitchFamily="34" charset="-128"/>
              </a:rPr>
              <a:t>can still request can be satisfied by currently available resources + resources held by all the </a:t>
            </a:r>
            <a:r>
              <a:rPr lang="en-US" sz="1800" i="1" dirty="0" err="1">
                <a:ea typeface="ＭＳ Ｐゴシック" panose="020B0600070205080204" pitchFamily="34" charset="-128"/>
              </a:rPr>
              <a:t>P</a:t>
            </a:r>
            <a:r>
              <a:rPr lang="en-US" sz="1800" i="1" baseline="-25000" dirty="0" err="1">
                <a:ea typeface="ＭＳ Ｐゴシック" panose="020B0600070205080204" pitchFamily="34" charset="-128"/>
              </a:rPr>
              <a:t>j</a:t>
            </a:r>
            <a:r>
              <a:rPr lang="en-US" sz="1800" dirty="0">
                <a:ea typeface="ＭＳ Ｐゴシック" panose="020B0600070205080204" pitchFamily="34" charset="-128"/>
              </a:rPr>
              <a:t>, with</a:t>
            </a:r>
            <a:r>
              <a:rPr lang="en-US" sz="1800" i="1" dirty="0">
                <a:ea typeface="ＭＳ Ｐゴシック" panose="020B0600070205080204" pitchFamily="34" charset="-128"/>
              </a:rPr>
              <a:t> j </a:t>
            </a:r>
            <a:r>
              <a:rPr lang="en-US" sz="1800" dirty="0">
                <a:ea typeface="ＭＳ Ｐゴシック" panose="020B0600070205080204" pitchFamily="34" charset="-128"/>
              </a:rPr>
              <a:t>&lt; </a:t>
            </a:r>
            <a:r>
              <a:rPr lang="en-US" sz="1800" i="1" dirty="0" err="1">
                <a:ea typeface="ＭＳ Ｐゴシック" panose="020B0600070205080204" pitchFamily="34" charset="-128"/>
              </a:rPr>
              <a:t>i</a:t>
            </a:r>
            <a:endParaRPr lang="en-US" sz="1800" dirty="0">
              <a:ea typeface="ＭＳ Ｐゴシック" panose="020B0600070205080204" pitchFamily="34" charset="-128"/>
            </a:endParaRPr>
          </a:p>
          <a:p>
            <a:r>
              <a:rPr lang="en-US" sz="1800" dirty="0">
                <a:ea typeface="ＭＳ Ｐゴシック" panose="020B0600070205080204" pitchFamily="34" charset="-128"/>
              </a:rPr>
              <a:t>That is:</a:t>
            </a:r>
          </a:p>
          <a:p>
            <a:pPr lvl="1"/>
            <a:r>
              <a:rPr lang="en-US" dirty="0">
                <a:ea typeface="ＭＳ Ｐゴシック" panose="020B0600070205080204" pitchFamily="34" charset="-128"/>
              </a:rPr>
              <a:t>If P</a:t>
            </a:r>
            <a:r>
              <a:rPr lang="en-US" baseline="-25000" dirty="0">
                <a:ea typeface="ＭＳ Ｐゴシック" panose="020B0600070205080204" pitchFamily="34" charset="-128"/>
              </a:rPr>
              <a:t>i</a:t>
            </a:r>
            <a:r>
              <a:rPr lang="en-US" dirty="0">
                <a:ea typeface="ＭＳ Ｐゴシック" panose="020B0600070205080204" pitchFamily="34" charset="-128"/>
              </a:rPr>
              <a:t> resource needs are not immediately available, then </a:t>
            </a:r>
            <a:r>
              <a:rPr lang="en-US" i="1" dirty="0">
                <a:ea typeface="ＭＳ Ｐゴシック" panose="020B0600070205080204" pitchFamily="34" charset="-128"/>
              </a:rPr>
              <a:t>P</a:t>
            </a:r>
            <a:r>
              <a:rPr lang="en-US" i="1" baseline="-25000" dirty="0">
                <a:ea typeface="ＭＳ Ｐゴシック" panose="020B0600070205080204" pitchFamily="34" charset="-128"/>
              </a:rPr>
              <a:t>i</a:t>
            </a:r>
            <a:r>
              <a:rPr lang="en-US" dirty="0">
                <a:ea typeface="ＭＳ Ｐゴシック" panose="020B0600070205080204" pitchFamily="34" charset="-128"/>
              </a:rPr>
              <a:t> can wait until all </a:t>
            </a:r>
            <a:r>
              <a:rPr lang="en-US" i="1" dirty="0" err="1">
                <a:ea typeface="ＭＳ Ｐゴシック" panose="020B0600070205080204" pitchFamily="34" charset="-128"/>
              </a:rPr>
              <a:t>P</a:t>
            </a:r>
            <a:r>
              <a:rPr lang="en-US" i="1" baseline="-25000" dirty="0" err="1">
                <a:ea typeface="ＭＳ Ｐゴシック" panose="020B0600070205080204" pitchFamily="34" charset="-128"/>
              </a:rPr>
              <a:t>j</a:t>
            </a:r>
            <a:r>
              <a:rPr lang="en-US" i="1" dirty="0">
                <a:ea typeface="ＭＳ Ｐゴシック" panose="020B0600070205080204" pitchFamily="34" charset="-128"/>
              </a:rPr>
              <a:t> </a:t>
            </a:r>
            <a:r>
              <a:rPr lang="en-US" dirty="0">
                <a:ea typeface="ＭＳ Ｐゴシック" panose="020B0600070205080204" pitchFamily="34" charset="-128"/>
              </a:rPr>
              <a:t>have finished</a:t>
            </a:r>
          </a:p>
          <a:p>
            <a:pPr lvl="1"/>
            <a:r>
              <a:rPr lang="en-US" dirty="0">
                <a:ea typeface="ＭＳ Ｐゴシック" panose="020B0600070205080204" pitchFamily="34" charset="-128"/>
              </a:rPr>
              <a:t>When </a:t>
            </a:r>
            <a:r>
              <a:rPr lang="en-US" i="1" dirty="0" err="1">
                <a:ea typeface="ＭＳ Ｐゴシック" panose="020B0600070205080204" pitchFamily="34" charset="-128"/>
              </a:rPr>
              <a:t>P</a:t>
            </a:r>
            <a:r>
              <a:rPr lang="en-US" i="1" baseline="-25000" dirty="0" err="1">
                <a:ea typeface="ＭＳ Ｐゴシック" panose="020B0600070205080204" pitchFamily="34" charset="-128"/>
              </a:rPr>
              <a:t>j</a:t>
            </a:r>
            <a:r>
              <a:rPr lang="en-US" dirty="0">
                <a:ea typeface="ＭＳ Ｐゴシック" panose="020B0600070205080204" pitchFamily="34" charset="-128"/>
              </a:rPr>
              <a:t> is finished, </a:t>
            </a:r>
            <a:r>
              <a:rPr lang="en-US" i="1" dirty="0">
                <a:ea typeface="ＭＳ Ｐゴシック" panose="020B0600070205080204" pitchFamily="34" charset="-128"/>
              </a:rPr>
              <a:t>P</a:t>
            </a:r>
            <a:r>
              <a:rPr lang="en-US" i="1" baseline="-25000" dirty="0">
                <a:ea typeface="ＭＳ Ｐゴシック" panose="020B0600070205080204" pitchFamily="34" charset="-128"/>
              </a:rPr>
              <a:t>i</a:t>
            </a:r>
            <a:r>
              <a:rPr lang="en-US" dirty="0">
                <a:ea typeface="ＭＳ Ｐゴシック" panose="020B0600070205080204" pitchFamily="34" charset="-128"/>
              </a:rPr>
              <a:t> can obtain needed resources, execute, return allocated resources, and terminate</a:t>
            </a:r>
          </a:p>
          <a:p>
            <a:pPr lvl="1"/>
            <a:r>
              <a:rPr lang="en-US" dirty="0">
                <a:ea typeface="ＭＳ Ｐゴシック" panose="020B0600070205080204" pitchFamily="34" charset="-128"/>
              </a:rPr>
              <a:t>When </a:t>
            </a:r>
            <a:r>
              <a:rPr lang="en-US" i="1" dirty="0">
                <a:ea typeface="ＭＳ Ｐゴシック" panose="020B0600070205080204" pitchFamily="34" charset="-128"/>
              </a:rPr>
              <a:t>P</a:t>
            </a:r>
            <a:r>
              <a:rPr lang="en-US" i="1" baseline="-25000" dirty="0">
                <a:ea typeface="ＭＳ Ｐゴシック" panose="020B0600070205080204" pitchFamily="34" charset="-128"/>
              </a:rPr>
              <a:t>i</a:t>
            </a:r>
            <a:r>
              <a:rPr lang="en-US" dirty="0">
                <a:ea typeface="ＭＳ Ｐゴシック" panose="020B0600070205080204" pitchFamily="34" charset="-128"/>
              </a:rPr>
              <a:t> terminates, </a:t>
            </a:r>
            <a:r>
              <a:rPr lang="en-US" i="1" dirty="0">
                <a:ea typeface="ＭＳ Ｐゴシック" panose="020B0600070205080204" pitchFamily="34" charset="-128"/>
              </a:rPr>
              <a:t>P</a:t>
            </a:r>
            <a:r>
              <a:rPr lang="en-US" i="1" baseline="-25000" dirty="0">
                <a:ea typeface="ＭＳ Ｐゴシック" panose="020B0600070205080204" pitchFamily="34" charset="-128"/>
              </a:rPr>
              <a:t>i </a:t>
            </a:r>
            <a:r>
              <a:rPr lang="en-US" baseline="-25000" dirty="0">
                <a:ea typeface="ＭＳ Ｐゴシック" panose="020B0600070205080204" pitchFamily="34" charset="-128"/>
              </a:rPr>
              <a:t>+1</a:t>
            </a:r>
            <a:r>
              <a:rPr lang="en-US" dirty="0">
                <a:ea typeface="ＭＳ Ｐゴシック" panose="020B0600070205080204" pitchFamily="34" charset="-128"/>
              </a:rPr>
              <a:t> can obtain its needed resources, and so on </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46111" y="0"/>
            <a:ext cx="9404723" cy="723331"/>
          </a:xfrm>
        </p:spPr>
        <p:txBody>
          <a:bodyPr/>
          <a:lstStyle/>
          <a:p>
            <a:pPr eaLnBrk="1" hangingPunct="1"/>
            <a:r>
              <a:rPr lang="en-US" b="1" dirty="0" smtClean="0">
                <a:ea typeface="ＭＳ Ｐゴシック" panose="020B0600070205080204" pitchFamily="34" charset="-128"/>
              </a:rPr>
              <a:t>Basic Facts</a:t>
            </a:r>
          </a:p>
        </p:txBody>
      </p:sp>
      <p:sp>
        <p:nvSpPr>
          <p:cNvPr id="21507" name="Rectangle 3"/>
          <p:cNvSpPr>
            <a:spLocks noGrp="1" noChangeArrowheads="1"/>
          </p:cNvSpPr>
          <p:nvPr>
            <p:ph type="body" idx="1"/>
          </p:nvPr>
        </p:nvSpPr>
        <p:spPr>
          <a:xfrm>
            <a:off x="646111" y="723331"/>
            <a:ext cx="11227441" cy="5102795"/>
          </a:xfrm>
        </p:spPr>
        <p:txBody>
          <a:bodyPr/>
          <a:lstStyle/>
          <a:p>
            <a:r>
              <a:rPr lang="en-US" sz="1800" dirty="0">
                <a:ea typeface="ＭＳ Ｐゴシック" panose="020B0600070205080204" pitchFamily="34" charset="-128"/>
              </a:rPr>
              <a:t>If a system is in safe state </a:t>
            </a:r>
            <a:r>
              <a:rPr lang="en-US" sz="1800" dirty="0">
                <a:ea typeface="ＭＳ Ｐゴシック" panose="020B0600070205080204" pitchFamily="34" charset="-128"/>
                <a:sym typeface="Symbol" panose="05050102010706020507" pitchFamily="18" charset="2"/>
              </a:rPr>
              <a:t> no deadlocks</a:t>
            </a:r>
            <a:br>
              <a:rPr lang="en-US" sz="1800" dirty="0">
                <a:ea typeface="ＭＳ Ｐゴシック" panose="020B0600070205080204" pitchFamily="34" charset="-128"/>
                <a:sym typeface="Symbol" panose="05050102010706020507" pitchFamily="18" charset="2"/>
              </a:rPr>
            </a:br>
            <a:endParaRPr lang="en-US" sz="1800" dirty="0">
              <a:ea typeface="ＭＳ Ｐゴシック" panose="020B0600070205080204" pitchFamily="34" charset="-128"/>
              <a:sym typeface="Symbol" panose="05050102010706020507" pitchFamily="18" charset="2"/>
            </a:endParaRPr>
          </a:p>
          <a:p>
            <a:r>
              <a:rPr lang="en-US" sz="1800" dirty="0">
                <a:ea typeface="ＭＳ Ｐゴシック" panose="020B0600070205080204" pitchFamily="34" charset="-128"/>
                <a:sym typeface="Symbol" panose="05050102010706020507" pitchFamily="18" charset="2"/>
              </a:rPr>
              <a:t>If a system is in unsafe state  possibility of deadlock</a:t>
            </a:r>
            <a:br>
              <a:rPr lang="en-US" sz="1800" dirty="0">
                <a:ea typeface="ＭＳ Ｐゴシック" panose="020B0600070205080204" pitchFamily="34" charset="-128"/>
                <a:sym typeface="Symbol" panose="05050102010706020507" pitchFamily="18" charset="2"/>
              </a:rPr>
            </a:br>
            <a:endParaRPr lang="en-US" sz="1800" dirty="0">
              <a:ea typeface="ＭＳ Ｐゴシック" panose="020B0600070205080204" pitchFamily="34" charset="-128"/>
              <a:sym typeface="Symbol" panose="05050102010706020507" pitchFamily="18" charset="2"/>
            </a:endParaRPr>
          </a:p>
          <a:p>
            <a:r>
              <a:rPr lang="en-US" sz="1800" dirty="0">
                <a:ea typeface="ＭＳ Ｐゴシック" panose="020B0600070205080204" pitchFamily="34" charset="-128"/>
                <a:sym typeface="Symbol" panose="05050102010706020507" pitchFamily="18" charset="2"/>
              </a:rPr>
              <a:t>Avoidance  ensure that a system will never enter an unsafe state.</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l="13437" t="1572" r="13683" b="2194"/>
          <a:stretch>
            <a:fillRect/>
          </a:stretch>
        </p:blipFill>
        <p:spPr bwMode="auto">
          <a:xfrm>
            <a:off x="2892426" y="2603193"/>
            <a:ext cx="3808626" cy="2951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2" name="Rectangle 1"/>
          <p:cNvSpPr/>
          <p:nvPr/>
        </p:nvSpPr>
        <p:spPr>
          <a:xfrm>
            <a:off x="3011635" y="5777204"/>
            <a:ext cx="3570208" cy="369332"/>
          </a:xfrm>
          <a:prstGeom prst="rect">
            <a:avLst/>
          </a:prstGeom>
        </p:spPr>
        <p:txBody>
          <a:bodyPr wrap="none">
            <a:spAutoFit/>
          </a:bodyPr>
          <a:lstStyle/>
          <a:p>
            <a:r>
              <a:rPr lang="en-US" dirty="0">
                <a:ea typeface="ＭＳ Ｐゴシック" panose="020B0600070205080204" pitchFamily="34" charset="-128"/>
              </a:rPr>
              <a:t>Safe, Unsafe , Deadlock State </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46111" y="452718"/>
            <a:ext cx="9404723" cy="884763"/>
          </a:xfrm>
        </p:spPr>
        <p:txBody>
          <a:bodyPr/>
          <a:lstStyle/>
          <a:p>
            <a:pPr eaLnBrk="1" hangingPunct="1"/>
            <a:r>
              <a:rPr lang="en-US" b="1" dirty="0" smtClean="0">
                <a:ea typeface="ＭＳ Ｐゴシック" panose="020B0600070205080204" pitchFamily="34" charset="-128"/>
              </a:rPr>
              <a:t>Avoidance algorithms</a:t>
            </a:r>
          </a:p>
        </p:txBody>
      </p:sp>
      <p:sp>
        <p:nvSpPr>
          <p:cNvPr id="23555" name="Rectangle 3"/>
          <p:cNvSpPr>
            <a:spLocks noGrp="1" noChangeArrowheads="1"/>
          </p:cNvSpPr>
          <p:nvPr>
            <p:ph type="body" idx="1"/>
          </p:nvPr>
        </p:nvSpPr>
        <p:spPr>
          <a:xfrm>
            <a:off x="646111" y="1439863"/>
            <a:ext cx="8364539" cy="4483100"/>
          </a:xfrm>
        </p:spPr>
        <p:txBody>
          <a:bodyPr/>
          <a:lstStyle/>
          <a:p>
            <a:r>
              <a:rPr lang="en-US" sz="1800" dirty="0">
                <a:ea typeface="ＭＳ Ｐゴシック" panose="020B0600070205080204" pitchFamily="34" charset="-128"/>
              </a:rPr>
              <a:t>Single instance of a resource type</a:t>
            </a:r>
          </a:p>
          <a:p>
            <a:pPr lvl="1"/>
            <a:r>
              <a:rPr lang="en-US" dirty="0">
                <a:ea typeface="ＭＳ Ｐゴシック" panose="020B0600070205080204" pitchFamily="34" charset="-128"/>
              </a:rPr>
              <a:t>Use a resource-allocation graph</a:t>
            </a:r>
          </a:p>
          <a:p>
            <a:endParaRPr lang="en-US" sz="1800" dirty="0">
              <a:ea typeface="ＭＳ Ｐゴシック" panose="020B0600070205080204" pitchFamily="34" charset="-128"/>
            </a:endParaRPr>
          </a:p>
          <a:p>
            <a:r>
              <a:rPr lang="en-US" sz="1800" dirty="0">
                <a:ea typeface="ＭＳ Ｐゴシック" panose="020B0600070205080204" pitchFamily="34" charset="-128"/>
              </a:rPr>
              <a:t>Multiple instances of a resource type</a:t>
            </a:r>
          </a:p>
          <a:p>
            <a:pPr lvl="1"/>
            <a:r>
              <a:rPr lang="en-US" dirty="0">
                <a:ea typeface="ＭＳ Ｐゴシック" panose="020B0600070205080204" pitchFamily="34" charset="-128"/>
              </a:rPr>
              <a:t> Use the banker’s algorithm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86603" y="39333"/>
            <a:ext cx="9900709" cy="629407"/>
          </a:xfrm>
        </p:spPr>
        <p:txBody>
          <a:bodyPr/>
          <a:lstStyle/>
          <a:p>
            <a:pPr eaLnBrk="1" hangingPunct="1"/>
            <a:r>
              <a:rPr lang="en-US" b="1" dirty="0" smtClean="0">
                <a:ea typeface="ＭＳ Ｐゴシック" panose="020B0600070205080204" pitchFamily="34" charset="-128"/>
              </a:rPr>
              <a:t>Resource-Allocation Graph Scheme</a:t>
            </a:r>
          </a:p>
        </p:txBody>
      </p:sp>
      <p:sp>
        <p:nvSpPr>
          <p:cNvPr id="24579" name="Rectangle 3"/>
          <p:cNvSpPr>
            <a:spLocks noGrp="1" noChangeArrowheads="1"/>
          </p:cNvSpPr>
          <p:nvPr>
            <p:ph type="body" idx="1"/>
          </p:nvPr>
        </p:nvSpPr>
        <p:spPr>
          <a:xfrm>
            <a:off x="286603" y="668740"/>
            <a:ext cx="11709779" cy="6189260"/>
          </a:xfrm>
        </p:spPr>
        <p:txBody>
          <a:bodyPr/>
          <a:lstStyle/>
          <a:p>
            <a:r>
              <a:rPr lang="en-US" sz="1800" dirty="0">
                <a:ea typeface="ＭＳ Ｐゴシック" panose="020B0600070205080204" pitchFamily="34" charset="-128"/>
              </a:rPr>
              <a:t>Claim edge </a:t>
            </a:r>
            <a:r>
              <a:rPr lang="en-US" sz="1800" i="1" dirty="0">
                <a:ea typeface="ＭＳ Ｐゴシック" panose="020B0600070205080204" pitchFamily="34" charset="-128"/>
              </a:rPr>
              <a:t>P</a:t>
            </a:r>
            <a:r>
              <a:rPr lang="en-US" sz="1800" i="1" baseline="-25000" dirty="0">
                <a:ea typeface="ＭＳ Ｐゴシック" panose="020B0600070205080204" pitchFamily="34" charset="-128"/>
              </a:rPr>
              <a:t>i</a:t>
            </a:r>
            <a:r>
              <a:rPr lang="en-US" sz="1800" dirty="0">
                <a:ea typeface="ＭＳ Ｐゴシック" panose="020B0600070205080204" pitchFamily="34" charset="-128"/>
              </a:rPr>
              <a:t> </a:t>
            </a:r>
            <a:r>
              <a:rPr lang="en-US" sz="1800" dirty="0">
                <a:ea typeface="ＭＳ Ｐゴシック" panose="020B0600070205080204" pitchFamily="34" charset="-128"/>
                <a:sym typeface="Symbol" panose="05050102010706020507" pitchFamily="18" charset="2"/>
              </a:rPr>
              <a:t> </a:t>
            </a:r>
            <a:r>
              <a:rPr lang="en-US" sz="1800" i="1" dirty="0" err="1">
                <a:ea typeface="ＭＳ Ｐゴシック" panose="020B0600070205080204" pitchFamily="34" charset="-128"/>
                <a:sym typeface="Symbol" panose="05050102010706020507" pitchFamily="18" charset="2"/>
              </a:rPr>
              <a:t>R</a:t>
            </a:r>
            <a:r>
              <a:rPr lang="en-US" sz="1800" i="1" baseline="-25000" dirty="0" err="1">
                <a:ea typeface="ＭＳ Ｐゴシック" panose="020B0600070205080204" pitchFamily="34" charset="-128"/>
                <a:sym typeface="Symbol" panose="05050102010706020507" pitchFamily="18" charset="2"/>
              </a:rPr>
              <a:t>j</a:t>
            </a:r>
            <a:r>
              <a:rPr lang="en-US" sz="1800" dirty="0">
                <a:ea typeface="ＭＳ Ｐゴシック" panose="020B0600070205080204" pitchFamily="34" charset="-128"/>
                <a:sym typeface="Symbol" panose="05050102010706020507" pitchFamily="18" charset="2"/>
              </a:rPr>
              <a:t> indicated that process </a:t>
            </a:r>
            <a:r>
              <a:rPr lang="en-US" sz="1800" i="1" dirty="0" err="1">
                <a:ea typeface="ＭＳ Ｐゴシック" panose="020B0600070205080204" pitchFamily="34" charset="-128"/>
                <a:sym typeface="Symbol" panose="05050102010706020507" pitchFamily="18" charset="2"/>
              </a:rPr>
              <a:t>P</a:t>
            </a:r>
            <a:r>
              <a:rPr lang="en-US" sz="1800" i="1" baseline="-25000" dirty="0" err="1">
                <a:ea typeface="ＭＳ Ｐゴシック" panose="020B0600070205080204" pitchFamily="34" charset="-128"/>
                <a:sym typeface="Symbol" panose="05050102010706020507" pitchFamily="18" charset="2"/>
              </a:rPr>
              <a:t>j</a:t>
            </a:r>
            <a:r>
              <a:rPr lang="en-US" sz="1800" dirty="0">
                <a:ea typeface="ＭＳ Ｐゴシック" panose="020B0600070205080204" pitchFamily="34" charset="-128"/>
                <a:sym typeface="Symbol" panose="05050102010706020507" pitchFamily="18" charset="2"/>
              </a:rPr>
              <a:t> may request resource </a:t>
            </a:r>
            <a:r>
              <a:rPr lang="en-US" sz="1800" i="1" dirty="0" err="1">
                <a:ea typeface="ＭＳ Ｐゴシック" panose="020B0600070205080204" pitchFamily="34" charset="-128"/>
                <a:sym typeface="Symbol" panose="05050102010706020507" pitchFamily="18" charset="2"/>
              </a:rPr>
              <a:t>R</a:t>
            </a:r>
            <a:r>
              <a:rPr lang="en-US" sz="1800" i="1" baseline="-25000" dirty="0" err="1">
                <a:ea typeface="ＭＳ Ｐゴシック" panose="020B0600070205080204" pitchFamily="34" charset="-128"/>
                <a:sym typeface="Symbol" panose="05050102010706020507" pitchFamily="18" charset="2"/>
              </a:rPr>
              <a:t>j</a:t>
            </a:r>
            <a:r>
              <a:rPr lang="en-US" sz="1800" dirty="0">
                <a:ea typeface="ＭＳ Ｐゴシック" panose="020B0600070205080204" pitchFamily="34" charset="-128"/>
                <a:sym typeface="Symbol" panose="05050102010706020507" pitchFamily="18" charset="2"/>
              </a:rPr>
              <a:t>; represented by a dashed </a:t>
            </a:r>
            <a:r>
              <a:rPr lang="en-US" sz="1800" dirty="0" smtClean="0">
                <a:ea typeface="ＭＳ Ｐゴシック" panose="020B0600070205080204" pitchFamily="34" charset="-128"/>
                <a:sym typeface="Symbol" panose="05050102010706020507" pitchFamily="18" charset="2"/>
              </a:rPr>
              <a:t>line</a:t>
            </a:r>
            <a:endParaRPr lang="en-US" sz="1800" dirty="0">
              <a:ea typeface="ＭＳ Ｐゴシック" panose="020B0600070205080204" pitchFamily="34" charset="-128"/>
              <a:sym typeface="Symbol" panose="05050102010706020507" pitchFamily="18" charset="2"/>
            </a:endParaRPr>
          </a:p>
          <a:p>
            <a:r>
              <a:rPr lang="en-US" sz="1800" dirty="0">
                <a:ea typeface="ＭＳ Ｐゴシック" panose="020B0600070205080204" pitchFamily="34" charset="-128"/>
                <a:sym typeface="Symbol" panose="05050102010706020507" pitchFamily="18" charset="2"/>
              </a:rPr>
              <a:t>Claim edge converts to request edge when a process requests a </a:t>
            </a:r>
            <a:r>
              <a:rPr lang="en-US" sz="1800" dirty="0" smtClean="0">
                <a:ea typeface="ＭＳ Ｐゴシック" panose="020B0600070205080204" pitchFamily="34" charset="-128"/>
                <a:sym typeface="Symbol" panose="05050102010706020507" pitchFamily="18" charset="2"/>
              </a:rPr>
              <a:t>resource</a:t>
            </a:r>
            <a:endParaRPr lang="en-US" sz="1800" dirty="0">
              <a:ea typeface="ＭＳ Ｐゴシック" panose="020B0600070205080204" pitchFamily="34" charset="-128"/>
              <a:sym typeface="Symbol" panose="05050102010706020507" pitchFamily="18" charset="2"/>
            </a:endParaRPr>
          </a:p>
          <a:p>
            <a:r>
              <a:rPr lang="en-US" sz="1800" dirty="0">
                <a:ea typeface="ＭＳ Ｐゴシック" panose="020B0600070205080204" pitchFamily="34" charset="-128"/>
                <a:sym typeface="Symbol" panose="05050102010706020507" pitchFamily="18" charset="2"/>
              </a:rPr>
              <a:t>Request edge converted to an assignment edge when the  resource is allocated to the </a:t>
            </a:r>
            <a:r>
              <a:rPr lang="en-US" sz="1800" dirty="0" smtClean="0">
                <a:ea typeface="ＭＳ Ｐゴシック" panose="020B0600070205080204" pitchFamily="34" charset="-128"/>
                <a:sym typeface="Symbol" panose="05050102010706020507" pitchFamily="18" charset="2"/>
              </a:rPr>
              <a:t>process</a:t>
            </a:r>
            <a:endParaRPr lang="en-US" sz="1800" dirty="0">
              <a:ea typeface="ＭＳ Ｐゴシック" panose="020B0600070205080204" pitchFamily="34" charset="-128"/>
              <a:sym typeface="Symbol" panose="05050102010706020507" pitchFamily="18" charset="2"/>
            </a:endParaRPr>
          </a:p>
          <a:p>
            <a:r>
              <a:rPr lang="en-US" sz="1800" dirty="0">
                <a:ea typeface="ＭＳ Ｐゴシック" panose="020B0600070205080204" pitchFamily="34" charset="-128"/>
                <a:sym typeface="Symbol" panose="05050102010706020507" pitchFamily="18" charset="2"/>
              </a:rPr>
              <a:t>When a resource is released by a process, assignment edge reconverts to a claim </a:t>
            </a:r>
            <a:r>
              <a:rPr lang="en-US" sz="1800" dirty="0" smtClean="0">
                <a:ea typeface="ＭＳ Ｐゴシック" panose="020B0600070205080204" pitchFamily="34" charset="-128"/>
                <a:sym typeface="Symbol" panose="05050102010706020507" pitchFamily="18" charset="2"/>
              </a:rPr>
              <a:t>edge</a:t>
            </a:r>
            <a:endParaRPr lang="en-US" sz="1800" dirty="0">
              <a:ea typeface="ＭＳ Ｐゴシック" panose="020B0600070205080204" pitchFamily="34" charset="-128"/>
              <a:sym typeface="Symbol" panose="05050102010706020507" pitchFamily="18" charset="2"/>
            </a:endParaRPr>
          </a:p>
          <a:p>
            <a:r>
              <a:rPr lang="en-US" sz="1800" dirty="0">
                <a:ea typeface="ＭＳ Ｐゴシック" panose="020B0600070205080204" pitchFamily="34" charset="-128"/>
                <a:sym typeface="Symbol" panose="05050102010706020507" pitchFamily="18" charset="2"/>
              </a:rPr>
              <a:t>Resources must be claimed </a:t>
            </a:r>
            <a:r>
              <a:rPr lang="en-US" sz="1800" i="1" dirty="0">
                <a:ea typeface="ＭＳ Ｐゴシック" panose="020B0600070205080204" pitchFamily="34" charset="-128"/>
                <a:sym typeface="Symbol" panose="05050102010706020507" pitchFamily="18" charset="2"/>
              </a:rPr>
              <a:t>a priori</a:t>
            </a:r>
            <a:r>
              <a:rPr lang="en-US" sz="1800" dirty="0">
                <a:ea typeface="ＭＳ Ｐゴシック" panose="020B0600070205080204" pitchFamily="34" charset="-128"/>
                <a:sym typeface="Symbol" panose="05050102010706020507" pitchFamily="18" charset="2"/>
              </a:rPr>
              <a:t> in the system</a:t>
            </a:r>
            <a:endParaRPr lang="en-US" sz="1800" dirty="0">
              <a:ea typeface="ＭＳ Ｐゴシック" panose="020B0600070205080204" pitchFamily="34" charset="-128"/>
            </a:endParaRPr>
          </a:p>
        </p:txBody>
      </p:sp>
      <p:pic>
        <p:nvPicPr>
          <p:cNvPr id="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0761" y="2816417"/>
            <a:ext cx="2877592" cy="2874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79475" y="2816417"/>
            <a:ext cx="2797791" cy="2874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504371" y="5951191"/>
            <a:ext cx="3230372" cy="369332"/>
          </a:xfrm>
          <a:prstGeom prst="rect">
            <a:avLst/>
          </a:prstGeom>
        </p:spPr>
        <p:txBody>
          <a:bodyPr wrap="none">
            <a:spAutoFit/>
          </a:bodyPr>
          <a:lstStyle/>
          <a:p>
            <a:r>
              <a:rPr lang="en-US" dirty="0">
                <a:ea typeface="ＭＳ Ｐゴシック" panose="020B0600070205080204" pitchFamily="34" charset="-128"/>
              </a:rPr>
              <a:t>Resource-Allocation Graph</a:t>
            </a:r>
            <a:endParaRPr lang="en-US" dirty="0"/>
          </a:p>
        </p:txBody>
      </p:sp>
      <p:sp>
        <p:nvSpPr>
          <p:cNvPr id="3" name="Rectangle 2"/>
          <p:cNvSpPr/>
          <p:nvPr/>
        </p:nvSpPr>
        <p:spPr>
          <a:xfrm>
            <a:off x="6783076" y="5905226"/>
            <a:ext cx="4958409" cy="369332"/>
          </a:xfrm>
          <a:prstGeom prst="rect">
            <a:avLst/>
          </a:prstGeom>
        </p:spPr>
        <p:txBody>
          <a:bodyPr wrap="none">
            <a:spAutoFit/>
          </a:bodyPr>
          <a:lstStyle/>
          <a:p>
            <a:r>
              <a:rPr lang="en-US" dirty="0">
                <a:ea typeface="ＭＳ Ｐゴシック" panose="020B0600070205080204" pitchFamily="34" charset="-128"/>
              </a:rPr>
              <a:t>Unsafe State In Resource-Allocation Graph</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46111" y="122830"/>
            <a:ext cx="11022725" cy="955343"/>
          </a:xfrm>
        </p:spPr>
        <p:txBody>
          <a:bodyPr/>
          <a:lstStyle/>
          <a:p>
            <a:pPr eaLnBrk="1" hangingPunct="1"/>
            <a:r>
              <a:rPr lang="en-US" b="1" dirty="0" smtClean="0">
                <a:ea typeface="ＭＳ Ｐゴシック" panose="020B0600070205080204" pitchFamily="34" charset="-128"/>
              </a:rPr>
              <a:t>Resource-Allocation Graph Algorithm</a:t>
            </a:r>
          </a:p>
        </p:txBody>
      </p:sp>
      <p:sp>
        <p:nvSpPr>
          <p:cNvPr id="27651" name="Rectangle 3"/>
          <p:cNvSpPr>
            <a:spLocks noGrp="1" noChangeArrowheads="1"/>
          </p:cNvSpPr>
          <p:nvPr>
            <p:ph type="body" idx="1"/>
          </p:nvPr>
        </p:nvSpPr>
        <p:spPr>
          <a:xfrm>
            <a:off x="646111" y="1392238"/>
            <a:ext cx="11432158" cy="4303712"/>
          </a:xfrm>
        </p:spPr>
        <p:txBody>
          <a:bodyPr/>
          <a:lstStyle/>
          <a:p>
            <a:r>
              <a:rPr lang="en-US" sz="1800" dirty="0">
                <a:ea typeface="ＭＳ Ｐゴシック" panose="020B0600070205080204" pitchFamily="34" charset="-128"/>
              </a:rPr>
              <a:t>Suppose that process</a:t>
            </a:r>
            <a:r>
              <a:rPr lang="en-US" sz="1800" i="1" dirty="0">
                <a:ea typeface="ＭＳ Ｐゴシック" panose="020B0600070205080204" pitchFamily="34" charset="-128"/>
              </a:rPr>
              <a:t> P</a:t>
            </a:r>
            <a:r>
              <a:rPr lang="en-US" sz="1800" i="1" baseline="-25000" dirty="0">
                <a:ea typeface="ＭＳ Ｐゴシック" panose="020B0600070205080204" pitchFamily="34" charset="-128"/>
              </a:rPr>
              <a:t>i</a:t>
            </a:r>
            <a:r>
              <a:rPr lang="en-US" sz="1800" dirty="0">
                <a:ea typeface="ＭＳ Ｐゴシック" panose="020B0600070205080204" pitchFamily="34" charset="-128"/>
              </a:rPr>
              <a:t> requests a resource </a:t>
            </a:r>
            <a:r>
              <a:rPr lang="en-US" sz="1800" i="1" dirty="0" err="1">
                <a:ea typeface="ＭＳ Ｐゴシック" panose="020B0600070205080204" pitchFamily="34" charset="-128"/>
                <a:sym typeface="Symbol" panose="05050102010706020507" pitchFamily="18" charset="2"/>
              </a:rPr>
              <a:t>R</a:t>
            </a:r>
            <a:r>
              <a:rPr lang="en-US" sz="1800" i="1" baseline="-25000" dirty="0" err="1">
                <a:ea typeface="ＭＳ Ｐゴシック" panose="020B0600070205080204" pitchFamily="34" charset="-128"/>
                <a:sym typeface="Symbol" panose="05050102010706020507" pitchFamily="18" charset="2"/>
              </a:rPr>
              <a:t>j</a:t>
            </a:r>
            <a:endParaRPr lang="en-US" sz="1800" i="1" baseline="-25000" dirty="0">
              <a:ea typeface="ＭＳ Ｐゴシック" panose="020B0600070205080204" pitchFamily="34" charset="-128"/>
              <a:sym typeface="Symbol" panose="05050102010706020507" pitchFamily="18" charset="2"/>
            </a:endParaRPr>
          </a:p>
          <a:p>
            <a:endParaRPr lang="en-US" sz="1800" i="1" baseline="-25000" dirty="0">
              <a:ea typeface="ＭＳ Ｐゴシック" panose="020B0600070205080204" pitchFamily="34" charset="-128"/>
              <a:sym typeface="Symbol" panose="05050102010706020507" pitchFamily="18" charset="2"/>
            </a:endParaRPr>
          </a:p>
          <a:p>
            <a:r>
              <a:rPr lang="en-US" sz="1800" dirty="0">
                <a:ea typeface="ＭＳ Ｐゴシック" panose="020B0600070205080204" pitchFamily="34" charset="-128"/>
                <a:sym typeface="Symbol" panose="05050102010706020507" pitchFamily="18" charset="2"/>
              </a:rPr>
              <a:t>The request can be granted only if converting the request edge to an assignment edge does not result in the formation of a cycle in the resource allocation graph</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46111" y="95534"/>
            <a:ext cx="9404723" cy="682388"/>
          </a:xfrm>
        </p:spPr>
        <p:txBody>
          <a:bodyPr/>
          <a:lstStyle/>
          <a:p>
            <a:pPr eaLnBrk="1" hangingPunct="1"/>
            <a:r>
              <a:rPr lang="en-US" b="1" dirty="0" smtClean="0">
                <a:ea typeface="ＭＳ Ｐゴシック" panose="020B0600070205080204" pitchFamily="34" charset="-128"/>
              </a:rPr>
              <a:t>Banker’s Algorithm</a:t>
            </a:r>
          </a:p>
        </p:txBody>
      </p:sp>
      <p:sp>
        <p:nvSpPr>
          <p:cNvPr id="28675" name="Rectangle 3"/>
          <p:cNvSpPr>
            <a:spLocks noGrp="1" noChangeArrowheads="1"/>
          </p:cNvSpPr>
          <p:nvPr>
            <p:ph type="body" idx="1"/>
          </p:nvPr>
        </p:nvSpPr>
        <p:spPr>
          <a:xfrm>
            <a:off x="646111" y="777922"/>
            <a:ext cx="11336623" cy="6080077"/>
          </a:xfrm>
        </p:spPr>
        <p:txBody>
          <a:bodyPr/>
          <a:lstStyle/>
          <a:p>
            <a:r>
              <a:rPr lang="en-US" sz="1800" dirty="0">
                <a:ea typeface="ＭＳ Ｐゴシック" panose="020B0600070205080204" pitchFamily="34" charset="-128"/>
              </a:rPr>
              <a:t>Multiple </a:t>
            </a:r>
            <a:r>
              <a:rPr lang="en-US" sz="1800" dirty="0" smtClean="0">
                <a:ea typeface="ＭＳ Ｐゴシック" panose="020B0600070205080204" pitchFamily="34" charset="-128"/>
              </a:rPr>
              <a:t>instances</a:t>
            </a:r>
            <a:endParaRPr lang="en-US" sz="1800" dirty="0">
              <a:ea typeface="ＭＳ Ｐゴシック" panose="020B0600070205080204" pitchFamily="34" charset="-128"/>
            </a:endParaRPr>
          </a:p>
          <a:p>
            <a:r>
              <a:rPr lang="en-US" sz="1800" dirty="0">
                <a:ea typeface="ＭＳ Ｐゴシック" panose="020B0600070205080204" pitchFamily="34" charset="-128"/>
              </a:rPr>
              <a:t>Each process must a priori claim maximum </a:t>
            </a:r>
            <a:r>
              <a:rPr lang="en-US" sz="1800" dirty="0" smtClean="0">
                <a:ea typeface="ＭＳ Ｐゴシック" panose="020B0600070205080204" pitchFamily="34" charset="-128"/>
              </a:rPr>
              <a:t>use</a:t>
            </a:r>
            <a:endParaRPr lang="en-US" sz="1800" dirty="0">
              <a:ea typeface="ＭＳ Ｐゴシック" panose="020B0600070205080204" pitchFamily="34" charset="-128"/>
            </a:endParaRPr>
          </a:p>
          <a:p>
            <a:r>
              <a:rPr lang="en-US" sz="1800" dirty="0">
                <a:ea typeface="ＭＳ Ｐゴシック" panose="020B0600070205080204" pitchFamily="34" charset="-128"/>
              </a:rPr>
              <a:t>When a process requests a resource it may have to wait  </a:t>
            </a:r>
          </a:p>
          <a:p>
            <a:r>
              <a:rPr lang="en-US" sz="1800" dirty="0">
                <a:ea typeface="ＭＳ Ｐゴシック" panose="020B0600070205080204" pitchFamily="34" charset="-128"/>
              </a:rPr>
              <a:t>When a process gets all its resources it must return them in a finite amount of time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27534" y="135672"/>
            <a:ext cx="9659441" cy="560364"/>
          </a:xfrm>
        </p:spPr>
        <p:txBody>
          <a:bodyPr/>
          <a:lstStyle/>
          <a:p>
            <a:pPr eaLnBrk="1" hangingPunct="1"/>
            <a:r>
              <a:rPr lang="en-US" sz="2800" b="1" dirty="0">
                <a:ea typeface="ＭＳ Ｐゴシック" panose="020B0600070205080204" pitchFamily="34" charset="-128"/>
              </a:rPr>
              <a:t>Data Structures for the Banker’s Algorithm </a:t>
            </a:r>
          </a:p>
        </p:txBody>
      </p:sp>
      <p:sp>
        <p:nvSpPr>
          <p:cNvPr id="29699" name="Rectangle 3"/>
          <p:cNvSpPr>
            <a:spLocks noGrp="1" noChangeArrowheads="1"/>
          </p:cNvSpPr>
          <p:nvPr>
            <p:ph type="body" idx="1"/>
          </p:nvPr>
        </p:nvSpPr>
        <p:spPr>
          <a:xfrm>
            <a:off x="427534" y="1065368"/>
            <a:ext cx="11473314" cy="4600420"/>
          </a:xfrm>
        </p:spPr>
        <p:txBody>
          <a:bodyPr/>
          <a:lstStyle/>
          <a:p>
            <a:r>
              <a:rPr lang="en-US" sz="1800" b="1" dirty="0">
                <a:ea typeface="ＭＳ Ｐゴシック" panose="020B0600070205080204" pitchFamily="34" charset="-128"/>
              </a:rPr>
              <a:t>Available</a:t>
            </a:r>
            <a:r>
              <a:rPr lang="en-US" sz="1800" i="1" dirty="0">
                <a:ea typeface="ＭＳ Ｐゴシック" panose="020B0600070205080204" pitchFamily="34" charset="-128"/>
              </a:rPr>
              <a:t>:</a:t>
            </a:r>
            <a:r>
              <a:rPr lang="en-US" sz="1800" dirty="0">
                <a:ea typeface="ＭＳ Ｐゴシック" panose="020B0600070205080204" pitchFamily="34" charset="-128"/>
              </a:rPr>
              <a:t>  Vector of length </a:t>
            </a:r>
            <a:r>
              <a:rPr lang="en-US" sz="1800" i="1" dirty="0">
                <a:ea typeface="ＭＳ Ｐゴシック" panose="020B0600070205080204" pitchFamily="34" charset="-128"/>
              </a:rPr>
              <a:t>m</a:t>
            </a:r>
            <a:r>
              <a:rPr lang="en-US" sz="1800" dirty="0">
                <a:ea typeface="ＭＳ Ｐゴシック" panose="020B0600070205080204" pitchFamily="34" charset="-128"/>
              </a:rPr>
              <a:t>. If available [</a:t>
            </a:r>
            <a:r>
              <a:rPr lang="en-US" sz="1800" i="1" dirty="0">
                <a:ea typeface="ＭＳ Ｐゴシック" panose="020B0600070205080204" pitchFamily="34" charset="-128"/>
              </a:rPr>
              <a:t>j</a:t>
            </a:r>
            <a:r>
              <a:rPr lang="en-US" sz="1800" dirty="0">
                <a:ea typeface="ＭＳ Ｐゴシック" panose="020B0600070205080204" pitchFamily="34" charset="-128"/>
              </a:rPr>
              <a:t>] = </a:t>
            </a:r>
            <a:r>
              <a:rPr lang="en-US" sz="1800" i="1" dirty="0">
                <a:ea typeface="ＭＳ Ｐゴシック" panose="020B0600070205080204" pitchFamily="34" charset="-128"/>
              </a:rPr>
              <a:t>k</a:t>
            </a:r>
            <a:r>
              <a:rPr lang="en-US" sz="1800" dirty="0">
                <a:ea typeface="ＭＳ Ｐゴシック" panose="020B0600070205080204" pitchFamily="34" charset="-128"/>
              </a:rPr>
              <a:t>, there are</a:t>
            </a:r>
            <a:r>
              <a:rPr lang="en-US" sz="1800" i="1" dirty="0">
                <a:ea typeface="ＭＳ Ｐゴシック" panose="020B0600070205080204" pitchFamily="34" charset="-128"/>
              </a:rPr>
              <a:t> k</a:t>
            </a:r>
            <a:r>
              <a:rPr lang="en-US" sz="1800" dirty="0">
                <a:ea typeface="ＭＳ Ｐゴシック" panose="020B0600070205080204" pitchFamily="34" charset="-128"/>
              </a:rPr>
              <a:t> instances of resource type </a:t>
            </a:r>
            <a:r>
              <a:rPr lang="en-US" sz="1800" i="1" dirty="0" err="1">
                <a:ea typeface="ＭＳ Ｐゴシック" panose="020B0600070205080204" pitchFamily="34" charset="-128"/>
              </a:rPr>
              <a:t>R</a:t>
            </a:r>
            <a:r>
              <a:rPr lang="en-US" sz="1800" i="1" baseline="-25000" dirty="0" err="1">
                <a:ea typeface="ＭＳ Ｐゴシック" panose="020B0600070205080204" pitchFamily="34" charset="-128"/>
              </a:rPr>
              <a:t>j</a:t>
            </a:r>
            <a:r>
              <a:rPr lang="en-US" sz="1800" baseline="-25000" dirty="0">
                <a:ea typeface="ＭＳ Ｐゴシック" panose="020B0600070205080204" pitchFamily="34" charset="-128"/>
              </a:rPr>
              <a:t>  </a:t>
            </a:r>
            <a:r>
              <a:rPr lang="en-US" sz="1800" dirty="0">
                <a:ea typeface="ＭＳ Ｐゴシック" panose="020B0600070205080204" pitchFamily="34" charset="-128"/>
              </a:rPr>
              <a:t>available</a:t>
            </a:r>
          </a:p>
          <a:p>
            <a:r>
              <a:rPr lang="en-US" sz="1800" b="1" dirty="0">
                <a:ea typeface="ＭＳ Ｐゴシック" panose="020B0600070205080204" pitchFamily="34" charset="-128"/>
              </a:rPr>
              <a:t>Max</a:t>
            </a:r>
            <a:r>
              <a:rPr lang="en-US" sz="1800" i="1" dirty="0">
                <a:ea typeface="ＭＳ Ｐゴシック" panose="020B0600070205080204" pitchFamily="34" charset="-128"/>
              </a:rPr>
              <a:t>: n x m</a:t>
            </a:r>
            <a:r>
              <a:rPr lang="en-US" sz="1800" dirty="0">
                <a:ea typeface="ＭＳ Ｐゴシック" panose="020B0600070205080204" pitchFamily="34" charset="-128"/>
              </a:rPr>
              <a:t> matrix.  If </a:t>
            </a:r>
            <a:r>
              <a:rPr lang="en-US" sz="1800" i="1" dirty="0">
                <a:ea typeface="ＭＳ Ｐゴシック" panose="020B0600070205080204" pitchFamily="34" charset="-128"/>
              </a:rPr>
              <a:t>Max </a:t>
            </a:r>
            <a:r>
              <a:rPr lang="en-US" sz="1800" dirty="0">
                <a:ea typeface="ＭＳ Ｐゴシック" panose="020B0600070205080204" pitchFamily="34" charset="-128"/>
              </a:rPr>
              <a:t>[</a:t>
            </a:r>
            <a:r>
              <a:rPr lang="en-US" sz="1800" i="1" dirty="0" err="1">
                <a:ea typeface="ＭＳ Ｐゴシック" panose="020B0600070205080204" pitchFamily="34" charset="-128"/>
              </a:rPr>
              <a:t>i,j</a:t>
            </a:r>
            <a:r>
              <a:rPr lang="en-US" sz="1800" dirty="0">
                <a:ea typeface="ＭＳ Ｐゴシック" panose="020B0600070205080204" pitchFamily="34" charset="-128"/>
              </a:rPr>
              <a:t>] = </a:t>
            </a:r>
            <a:r>
              <a:rPr lang="en-US" sz="1800" i="1" dirty="0">
                <a:ea typeface="ＭＳ Ｐゴシック" panose="020B0600070205080204" pitchFamily="34" charset="-128"/>
              </a:rPr>
              <a:t>k</a:t>
            </a:r>
            <a:r>
              <a:rPr lang="en-US" sz="1800" dirty="0">
                <a:ea typeface="ＭＳ Ｐゴシック" panose="020B0600070205080204" pitchFamily="34" charset="-128"/>
              </a:rPr>
              <a:t>, then process </a:t>
            </a:r>
            <a:r>
              <a:rPr lang="en-US" sz="1800" i="1" dirty="0">
                <a:ea typeface="ＭＳ Ｐゴシック" panose="020B0600070205080204" pitchFamily="34" charset="-128"/>
              </a:rPr>
              <a:t>P</a:t>
            </a:r>
            <a:r>
              <a:rPr lang="en-US" sz="1800" i="1" baseline="-25000" dirty="0">
                <a:ea typeface="ＭＳ Ｐゴシック" panose="020B0600070205080204" pitchFamily="34" charset="-128"/>
              </a:rPr>
              <a:t>i</a:t>
            </a:r>
            <a:r>
              <a:rPr lang="en-US" sz="1800" i="1" dirty="0">
                <a:ea typeface="ＭＳ Ｐゴシック" panose="020B0600070205080204" pitchFamily="34" charset="-128"/>
              </a:rPr>
              <a:t> </a:t>
            </a:r>
            <a:r>
              <a:rPr lang="en-US" sz="1800" dirty="0">
                <a:ea typeface="ＭＳ Ｐゴシック" panose="020B0600070205080204" pitchFamily="34" charset="-128"/>
              </a:rPr>
              <a:t>may request at most</a:t>
            </a:r>
            <a:r>
              <a:rPr lang="en-US" sz="1800" i="1" dirty="0">
                <a:ea typeface="ＭＳ Ｐゴシック" panose="020B0600070205080204" pitchFamily="34" charset="-128"/>
              </a:rPr>
              <a:t> k </a:t>
            </a:r>
            <a:r>
              <a:rPr lang="en-US" sz="1800" dirty="0">
                <a:ea typeface="ＭＳ Ｐゴシック" panose="020B0600070205080204" pitchFamily="34" charset="-128"/>
              </a:rPr>
              <a:t>instances of resource type </a:t>
            </a:r>
            <a:r>
              <a:rPr lang="en-US" sz="1800" i="1" dirty="0" err="1">
                <a:ea typeface="ＭＳ Ｐゴシック" panose="020B0600070205080204" pitchFamily="34" charset="-128"/>
              </a:rPr>
              <a:t>R</a:t>
            </a:r>
            <a:r>
              <a:rPr lang="en-US" sz="1800" i="1" baseline="-25000" dirty="0" err="1">
                <a:ea typeface="ＭＳ Ｐゴシック" panose="020B0600070205080204" pitchFamily="34" charset="-128"/>
              </a:rPr>
              <a:t>j</a:t>
            </a:r>
            <a:endParaRPr lang="en-US" sz="1800" dirty="0">
              <a:ea typeface="ＭＳ Ｐゴシック" panose="020B0600070205080204" pitchFamily="34" charset="-128"/>
            </a:endParaRPr>
          </a:p>
          <a:p>
            <a:r>
              <a:rPr lang="en-US" sz="1800" b="1" dirty="0">
                <a:ea typeface="ＭＳ Ｐゴシック" panose="020B0600070205080204" pitchFamily="34" charset="-128"/>
              </a:rPr>
              <a:t>Allocation</a:t>
            </a:r>
            <a:r>
              <a:rPr lang="en-US" sz="1800" i="1" dirty="0">
                <a:ea typeface="ＭＳ Ｐゴシック" panose="020B0600070205080204" pitchFamily="34" charset="-128"/>
              </a:rPr>
              <a:t>:  n </a:t>
            </a:r>
            <a:r>
              <a:rPr lang="en-US" sz="1800" dirty="0">
                <a:ea typeface="ＭＳ Ｐゴシック" panose="020B0600070205080204" pitchFamily="34" charset="-128"/>
              </a:rPr>
              <a:t>x</a:t>
            </a:r>
            <a:r>
              <a:rPr lang="en-US" sz="1800" i="1" dirty="0">
                <a:ea typeface="ＭＳ Ｐゴシック" panose="020B0600070205080204" pitchFamily="34" charset="-128"/>
              </a:rPr>
              <a:t> m</a:t>
            </a:r>
            <a:r>
              <a:rPr lang="en-US" sz="1800" dirty="0">
                <a:ea typeface="ＭＳ Ｐゴシック" panose="020B0600070205080204" pitchFamily="34" charset="-128"/>
              </a:rPr>
              <a:t> matrix.  If Allocation[</a:t>
            </a:r>
            <a:r>
              <a:rPr lang="en-US" sz="1800" i="1" dirty="0" err="1">
                <a:ea typeface="ＭＳ Ｐゴシック" panose="020B0600070205080204" pitchFamily="34" charset="-128"/>
              </a:rPr>
              <a:t>i,j</a:t>
            </a:r>
            <a:r>
              <a:rPr lang="en-US" sz="1800" dirty="0">
                <a:ea typeface="ＭＳ Ｐゴシック" panose="020B0600070205080204" pitchFamily="34" charset="-128"/>
              </a:rPr>
              <a:t>] = </a:t>
            </a:r>
            <a:r>
              <a:rPr lang="en-US" sz="1800" i="1" dirty="0">
                <a:ea typeface="ＭＳ Ｐゴシック" panose="020B0600070205080204" pitchFamily="34" charset="-128"/>
              </a:rPr>
              <a:t>k</a:t>
            </a:r>
            <a:r>
              <a:rPr lang="en-US" sz="1800" dirty="0">
                <a:ea typeface="ＭＳ Ｐゴシック" panose="020B0600070205080204" pitchFamily="34" charset="-128"/>
              </a:rPr>
              <a:t> then</a:t>
            </a:r>
            <a:r>
              <a:rPr lang="en-US" sz="1800" i="1" dirty="0">
                <a:ea typeface="ＭＳ Ｐゴシック" panose="020B0600070205080204" pitchFamily="34" charset="-128"/>
              </a:rPr>
              <a:t> P</a:t>
            </a:r>
            <a:r>
              <a:rPr lang="en-US" sz="1800" i="1" baseline="-25000" dirty="0">
                <a:ea typeface="ＭＳ Ｐゴシック" panose="020B0600070205080204" pitchFamily="34" charset="-128"/>
              </a:rPr>
              <a:t>i</a:t>
            </a:r>
            <a:r>
              <a:rPr lang="en-US" sz="1800" dirty="0">
                <a:ea typeface="ＭＳ Ｐゴシック" panose="020B0600070205080204" pitchFamily="34" charset="-128"/>
              </a:rPr>
              <a:t> is currently allocated </a:t>
            </a:r>
            <a:r>
              <a:rPr lang="en-US" sz="1800" i="1" dirty="0">
                <a:ea typeface="ＭＳ Ｐゴシック" panose="020B0600070205080204" pitchFamily="34" charset="-128"/>
              </a:rPr>
              <a:t>k</a:t>
            </a:r>
            <a:r>
              <a:rPr lang="en-US" sz="1800" dirty="0">
                <a:ea typeface="ＭＳ Ｐゴシック" panose="020B0600070205080204" pitchFamily="34" charset="-128"/>
              </a:rPr>
              <a:t> instances of </a:t>
            </a:r>
            <a:r>
              <a:rPr lang="en-US" sz="1800" i="1" dirty="0" err="1">
                <a:ea typeface="ＭＳ Ｐゴシック" panose="020B0600070205080204" pitchFamily="34" charset="-128"/>
              </a:rPr>
              <a:t>R</a:t>
            </a:r>
            <a:r>
              <a:rPr lang="en-US" sz="1800" i="1" baseline="-25000" dirty="0" err="1">
                <a:ea typeface="ＭＳ Ｐゴシック" panose="020B0600070205080204" pitchFamily="34" charset="-128"/>
              </a:rPr>
              <a:t>j</a:t>
            </a:r>
            <a:endParaRPr lang="en-US" sz="1800" baseline="-25000" dirty="0">
              <a:ea typeface="ＭＳ Ｐゴシック" panose="020B0600070205080204" pitchFamily="34" charset="-128"/>
            </a:endParaRPr>
          </a:p>
          <a:p>
            <a:r>
              <a:rPr lang="en-US" sz="1800" b="1" dirty="0">
                <a:ea typeface="ＭＳ Ｐゴシック" panose="020B0600070205080204" pitchFamily="34" charset="-128"/>
              </a:rPr>
              <a:t>Need</a:t>
            </a:r>
            <a:r>
              <a:rPr lang="en-US" sz="1800" i="1" dirty="0">
                <a:ea typeface="ＭＳ Ｐゴシック" panose="020B0600070205080204" pitchFamily="34" charset="-128"/>
              </a:rPr>
              <a:t>:  n </a:t>
            </a:r>
            <a:r>
              <a:rPr lang="en-US" sz="1800" dirty="0">
                <a:ea typeface="ＭＳ Ｐゴシック" panose="020B0600070205080204" pitchFamily="34" charset="-128"/>
              </a:rPr>
              <a:t>x</a:t>
            </a:r>
            <a:r>
              <a:rPr lang="en-US" sz="1800" i="1" dirty="0">
                <a:ea typeface="ＭＳ Ｐゴシック" panose="020B0600070205080204" pitchFamily="34" charset="-128"/>
              </a:rPr>
              <a:t> m</a:t>
            </a:r>
            <a:r>
              <a:rPr lang="en-US" sz="1800" dirty="0">
                <a:ea typeface="ＭＳ Ｐゴシック" panose="020B0600070205080204" pitchFamily="34" charset="-128"/>
              </a:rPr>
              <a:t> matrix. If </a:t>
            </a:r>
            <a:r>
              <a:rPr lang="en-US" sz="1800" i="1" dirty="0">
                <a:ea typeface="ＭＳ Ｐゴシック" panose="020B0600070205080204" pitchFamily="34" charset="-128"/>
              </a:rPr>
              <a:t>Need</a:t>
            </a:r>
            <a:r>
              <a:rPr lang="en-US" sz="1800" dirty="0">
                <a:ea typeface="ＭＳ Ｐゴシック" panose="020B0600070205080204" pitchFamily="34" charset="-128"/>
              </a:rPr>
              <a:t>[</a:t>
            </a:r>
            <a:r>
              <a:rPr lang="en-US" sz="1800" i="1" dirty="0" err="1">
                <a:ea typeface="ＭＳ Ｐゴシック" panose="020B0600070205080204" pitchFamily="34" charset="-128"/>
              </a:rPr>
              <a:t>i,j</a:t>
            </a:r>
            <a:r>
              <a:rPr lang="en-US" sz="1800" dirty="0">
                <a:ea typeface="ＭＳ Ｐゴシック" panose="020B0600070205080204" pitchFamily="34" charset="-128"/>
              </a:rPr>
              <a:t>] =</a:t>
            </a:r>
            <a:r>
              <a:rPr lang="en-US" sz="1800" i="1" dirty="0">
                <a:ea typeface="ＭＳ Ｐゴシック" panose="020B0600070205080204" pitchFamily="34" charset="-128"/>
              </a:rPr>
              <a:t> k</a:t>
            </a:r>
            <a:r>
              <a:rPr lang="en-US" sz="1800" dirty="0">
                <a:ea typeface="ＭＳ Ｐゴシック" panose="020B0600070205080204" pitchFamily="34" charset="-128"/>
              </a:rPr>
              <a:t>, then</a:t>
            </a:r>
            <a:r>
              <a:rPr lang="en-US" sz="1800" i="1" dirty="0">
                <a:ea typeface="ＭＳ Ｐゴシック" panose="020B0600070205080204" pitchFamily="34" charset="-128"/>
              </a:rPr>
              <a:t> P</a:t>
            </a:r>
            <a:r>
              <a:rPr lang="en-US" sz="1800" i="1" baseline="-25000" dirty="0">
                <a:ea typeface="ＭＳ Ｐゴシック" panose="020B0600070205080204" pitchFamily="34" charset="-128"/>
              </a:rPr>
              <a:t>i</a:t>
            </a:r>
            <a:r>
              <a:rPr lang="en-US" sz="1800" dirty="0">
                <a:ea typeface="ＭＳ Ｐゴシック" panose="020B0600070205080204" pitchFamily="34" charset="-128"/>
              </a:rPr>
              <a:t> may need </a:t>
            </a:r>
            <a:r>
              <a:rPr lang="en-US" sz="1800" i="1" dirty="0">
                <a:ea typeface="ＭＳ Ｐゴシック" panose="020B0600070205080204" pitchFamily="34" charset="-128"/>
              </a:rPr>
              <a:t>k</a:t>
            </a:r>
            <a:r>
              <a:rPr lang="en-US" sz="1800" dirty="0">
                <a:ea typeface="ＭＳ Ｐゴシック" panose="020B0600070205080204" pitchFamily="34" charset="-128"/>
              </a:rPr>
              <a:t> more instances of </a:t>
            </a:r>
            <a:r>
              <a:rPr lang="en-US" sz="1800" i="1" dirty="0" err="1">
                <a:ea typeface="ＭＳ Ｐゴシック" panose="020B0600070205080204" pitchFamily="34" charset="-128"/>
              </a:rPr>
              <a:t>R</a:t>
            </a:r>
            <a:r>
              <a:rPr lang="en-US" sz="1800" i="1" baseline="-25000" dirty="0" err="1">
                <a:ea typeface="ＭＳ Ｐゴシック" panose="020B0600070205080204" pitchFamily="34" charset="-128"/>
              </a:rPr>
              <a:t>j</a:t>
            </a:r>
            <a:r>
              <a:rPr lang="en-US" sz="1800" baseline="-25000" dirty="0">
                <a:ea typeface="ＭＳ Ｐゴシック" panose="020B0600070205080204" pitchFamily="34" charset="-128"/>
              </a:rPr>
              <a:t> </a:t>
            </a:r>
            <a:r>
              <a:rPr lang="en-US" sz="1800" dirty="0">
                <a:ea typeface="ＭＳ Ｐゴシック" panose="020B0600070205080204" pitchFamily="34" charset="-128"/>
              </a:rPr>
              <a:t>to complete its </a:t>
            </a:r>
            <a:r>
              <a:rPr lang="en-US" sz="1800" dirty="0" smtClean="0">
                <a:ea typeface="ＭＳ Ｐゴシック" panose="020B0600070205080204" pitchFamily="34" charset="-128"/>
              </a:rPr>
              <a:t>task</a:t>
            </a:r>
            <a:r>
              <a:rPr lang="en-US" sz="1800" dirty="0">
                <a:ea typeface="ＭＳ Ｐゴシック" panose="020B0600070205080204" pitchFamily="34" charset="-128"/>
              </a:rPr>
              <a:t/>
            </a:r>
            <a:br>
              <a:rPr lang="en-US" sz="1800" dirty="0">
                <a:ea typeface="ＭＳ Ｐゴシック" panose="020B0600070205080204" pitchFamily="34" charset="-128"/>
              </a:rPr>
            </a:br>
            <a:r>
              <a:rPr lang="en-US" sz="1800" i="1" dirty="0">
                <a:ea typeface="ＭＳ Ｐゴシック" panose="020B0600070205080204" pitchFamily="34" charset="-128"/>
              </a:rPr>
              <a:t>Need</a:t>
            </a:r>
            <a:r>
              <a:rPr lang="en-US" sz="1800" dirty="0">
                <a:ea typeface="ＭＳ Ｐゴシック" panose="020B0600070205080204" pitchFamily="34" charset="-128"/>
              </a:rPr>
              <a:t> [</a:t>
            </a:r>
            <a:r>
              <a:rPr lang="en-US" sz="1800" i="1" dirty="0" err="1">
                <a:ea typeface="ＭＳ Ｐゴシック" panose="020B0600070205080204" pitchFamily="34" charset="-128"/>
              </a:rPr>
              <a:t>i,j</a:t>
            </a:r>
            <a:r>
              <a:rPr lang="en-US" sz="1800" i="1" dirty="0">
                <a:ea typeface="ＭＳ Ｐゴシック" panose="020B0600070205080204" pitchFamily="34" charset="-128"/>
              </a:rPr>
              <a:t>]</a:t>
            </a:r>
            <a:r>
              <a:rPr lang="en-US" sz="1800" dirty="0">
                <a:ea typeface="ＭＳ Ｐゴシック" panose="020B0600070205080204" pitchFamily="34" charset="-128"/>
              </a:rPr>
              <a:t> = </a:t>
            </a:r>
            <a:r>
              <a:rPr lang="en-US" sz="1800" i="1" dirty="0">
                <a:ea typeface="ＭＳ Ｐゴシック" panose="020B0600070205080204" pitchFamily="34" charset="-128"/>
              </a:rPr>
              <a:t>Max</a:t>
            </a:r>
            <a:r>
              <a:rPr lang="en-US" sz="1800" dirty="0">
                <a:ea typeface="ＭＳ Ｐゴシック" panose="020B0600070205080204" pitchFamily="34" charset="-128"/>
              </a:rPr>
              <a:t>[</a:t>
            </a:r>
            <a:r>
              <a:rPr lang="en-US" sz="1800" i="1" dirty="0" err="1">
                <a:ea typeface="ＭＳ Ｐゴシック" panose="020B0600070205080204" pitchFamily="34" charset="-128"/>
              </a:rPr>
              <a:t>i,j</a:t>
            </a:r>
            <a:r>
              <a:rPr lang="en-US" sz="1800" dirty="0">
                <a:ea typeface="ＭＳ Ｐゴシック" panose="020B0600070205080204" pitchFamily="34" charset="-128"/>
              </a:rPr>
              <a:t>] – </a:t>
            </a:r>
            <a:r>
              <a:rPr lang="en-US" sz="1800" i="1" dirty="0">
                <a:ea typeface="ＭＳ Ｐゴシック" panose="020B0600070205080204" pitchFamily="34" charset="-128"/>
              </a:rPr>
              <a:t>Allocation</a:t>
            </a:r>
            <a:r>
              <a:rPr lang="en-US" sz="1800" dirty="0">
                <a:ea typeface="ＭＳ Ｐゴシック" panose="020B0600070205080204" pitchFamily="34" charset="-128"/>
              </a:rPr>
              <a:t> [</a:t>
            </a:r>
            <a:r>
              <a:rPr lang="en-US" sz="1800" i="1" dirty="0" err="1">
                <a:ea typeface="ＭＳ Ｐゴシック" panose="020B0600070205080204" pitchFamily="34" charset="-128"/>
              </a:rPr>
              <a:t>i,j</a:t>
            </a:r>
            <a:r>
              <a:rPr lang="en-US" sz="1800" dirty="0">
                <a:ea typeface="ＭＳ Ｐゴシック" panose="020B0600070205080204" pitchFamily="34" charset="-128"/>
              </a:rPr>
              <a:t>]</a:t>
            </a:r>
          </a:p>
        </p:txBody>
      </p:sp>
      <p:sp>
        <p:nvSpPr>
          <p:cNvPr id="29700" name="Text Box 4"/>
          <p:cNvSpPr txBox="1">
            <a:spLocks noChangeArrowheads="1"/>
          </p:cNvSpPr>
          <p:nvPr/>
        </p:nvSpPr>
        <p:spPr bwMode="auto">
          <a:xfrm>
            <a:off x="427534" y="696036"/>
            <a:ext cx="70070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spcBef>
                <a:spcPct val="50000"/>
              </a:spcBef>
            </a:pPr>
            <a:r>
              <a:rPr lang="en-US" dirty="0">
                <a:latin typeface="Helvetica" panose="020B0604020202020204" pitchFamily="34" charset="0"/>
              </a:rPr>
              <a:t>Let </a:t>
            </a:r>
            <a:r>
              <a:rPr lang="en-US" i="1" dirty="0">
                <a:latin typeface="Helvetica" panose="020B0604020202020204" pitchFamily="34" charset="0"/>
              </a:rPr>
              <a:t>n</a:t>
            </a:r>
            <a:r>
              <a:rPr lang="en-US" dirty="0">
                <a:latin typeface="Helvetica" panose="020B0604020202020204" pitchFamily="34" charset="0"/>
              </a:rPr>
              <a:t> = number of processes, and </a:t>
            </a:r>
            <a:r>
              <a:rPr lang="en-US" i="1" dirty="0">
                <a:latin typeface="Helvetica" panose="020B0604020202020204" pitchFamily="34" charset="0"/>
              </a:rPr>
              <a:t>m </a:t>
            </a:r>
            <a:r>
              <a:rPr lang="en-US" dirty="0">
                <a:latin typeface="Helvetica" panose="020B0604020202020204" pitchFamily="34" charset="0"/>
              </a:rPr>
              <a:t>= number of resources types. </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46111" y="163773"/>
            <a:ext cx="9404723" cy="859809"/>
          </a:xfrm>
        </p:spPr>
        <p:txBody>
          <a:bodyPr/>
          <a:lstStyle/>
          <a:p>
            <a:pPr eaLnBrk="1" hangingPunct="1"/>
            <a:r>
              <a:rPr lang="en-US" b="1" dirty="0" smtClean="0">
                <a:ea typeface="ＭＳ Ｐゴシック" panose="020B0600070205080204" pitchFamily="34" charset="-128"/>
              </a:rPr>
              <a:t>Safety Algorithm</a:t>
            </a:r>
          </a:p>
        </p:txBody>
      </p:sp>
      <p:sp>
        <p:nvSpPr>
          <p:cNvPr id="30723" name="Rectangle 3"/>
          <p:cNvSpPr>
            <a:spLocks noGrp="1" noChangeArrowheads="1"/>
          </p:cNvSpPr>
          <p:nvPr>
            <p:ph type="body" idx="1"/>
          </p:nvPr>
        </p:nvSpPr>
        <p:spPr>
          <a:xfrm>
            <a:off x="646111" y="1023582"/>
            <a:ext cx="10886247" cy="4831308"/>
          </a:xfrm>
        </p:spPr>
        <p:txBody>
          <a:bodyPr/>
          <a:lstStyle/>
          <a:p>
            <a:pPr>
              <a:lnSpc>
                <a:spcPct val="90000"/>
              </a:lnSpc>
              <a:buFont typeface="Monotype Sorts" charset="2"/>
              <a:buNone/>
            </a:pPr>
            <a:r>
              <a:rPr lang="en-US" sz="1800" dirty="0">
                <a:ea typeface="ＭＳ Ｐゴシック" panose="020B0600070205080204" pitchFamily="34" charset="-128"/>
              </a:rPr>
              <a:t>1.	Let</a:t>
            </a:r>
            <a:r>
              <a:rPr lang="en-US" sz="1800" i="1" dirty="0">
                <a:ea typeface="ＭＳ Ｐゴシック" panose="020B0600070205080204" pitchFamily="34" charset="-128"/>
              </a:rPr>
              <a:t> Finish</a:t>
            </a:r>
            <a:r>
              <a:rPr lang="en-US" sz="1800" dirty="0">
                <a:ea typeface="ＭＳ Ｐゴシック" panose="020B0600070205080204" pitchFamily="34" charset="-128"/>
              </a:rPr>
              <a:t> be vector of length</a:t>
            </a:r>
            <a:r>
              <a:rPr lang="en-US" sz="1800" i="1" dirty="0">
                <a:ea typeface="ＭＳ Ｐゴシック" panose="020B0600070205080204" pitchFamily="34" charset="-128"/>
              </a:rPr>
              <a:t> n</a:t>
            </a:r>
            <a:r>
              <a:rPr lang="en-US" sz="1800" dirty="0">
                <a:ea typeface="ＭＳ Ｐゴシック" panose="020B0600070205080204" pitchFamily="34" charset="-128"/>
              </a:rPr>
              <a:t>.  Initialize:</a:t>
            </a:r>
            <a:endParaRPr lang="en-US" sz="1800" i="1" dirty="0">
              <a:ea typeface="ＭＳ Ｐゴシック" panose="020B0600070205080204" pitchFamily="34" charset="-128"/>
            </a:endParaRPr>
          </a:p>
          <a:p>
            <a:pPr lvl="3">
              <a:lnSpc>
                <a:spcPct val="90000"/>
              </a:lnSpc>
              <a:buFontTx/>
              <a:buNone/>
            </a:pPr>
            <a:r>
              <a:rPr lang="en-US" sz="1800" i="1" dirty="0">
                <a:ea typeface="ＭＳ Ｐゴシック" panose="020B0600070205080204" pitchFamily="34" charset="-128"/>
              </a:rPr>
              <a:t>Finish </a:t>
            </a:r>
            <a:r>
              <a:rPr lang="en-US" sz="1800" dirty="0">
                <a:ea typeface="ＭＳ Ｐゴシック" panose="020B0600070205080204" pitchFamily="34" charset="-128"/>
              </a:rPr>
              <a:t>[</a:t>
            </a:r>
            <a:r>
              <a:rPr lang="en-US" sz="1800" i="1" dirty="0" err="1">
                <a:ea typeface="ＭＳ Ｐゴシック" panose="020B0600070205080204" pitchFamily="34" charset="-128"/>
              </a:rPr>
              <a:t>i</a:t>
            </a:r>
            <a:r>
              <a:rPr lang="en-US" sz="1800" dirty="0">
                <a:ea typeface="ＭＳ Ｐゴシック" panose="020B0600070205080204" pitchFamily="34" charset="-128"/>
              </a:rPr>
              <a:t>] =</a:t>
            </a:r>
            <a:r>
              <a:rPr lang="en-US" sz="1800" i="1" dirty="0">
                <a:ea typeface="ＭＳ Ｐゴシック" panose="020B0600070205080204" pitchFamily="34" charset="-128"/>
              </a:rPr>
              <a:t> false </a:t>
            </a:r>
            <a:r>
              <a:rPr lang="en-US" sz="1800" dirty="0">
                <a:ea typeface="ＭＳ Ｐゴシック" panose="020B0600070205080204" pitchFamily="34" charset="-128"/>
              </a:rPr>
              <a:t>for</a:t>
            </a:r>
            <a:r>
              <a:rPr lang="en-US" sz="1800" i="1" dirty="0">
                <a:ea typeface="ＭＳ Ｐゴシック" panose="020B0600070205080204" pitchFamily="34" charset="-128"/>
              </a:rPr>
              <a:t> </a:t>
            </a:r>
            <a:r>
              <a:rPr lang="en-US" sz="1800" i="1" dirty="0" err="1">
                <a:ea typeface="ＭＳ Ｐゴシック" panose="020B0600070205080204" pitchFamily="34" charset="-128"/>
              </a:rPr>
              <a:t>i</a:t>
            </a:r>
            <a:r>
              <a:rPr lang="en-US" sz="1800" dirty="0">
                <a:ea typeface="ＭＳ Ｐゴシック" panose="020B0600070205080204" pitchFamily="34" charset="-128"/>
              </a:rPr>
              <a:t> = 0, 1, …, </a:t>
            </a:r>
            <a:r>
              <a:rPr lang="en-US" sz="1800" i="1" dirty="0">
                <a:ea typeface="ＭＳ Ｐゴシック" panose="020B0600070205080204" pitchFamily="34" charset="-128"/>
              </a:rPr>
              <a:t>n- </a:t>
            </a:r>
            <a:r>
              <a:rPr lang="en-US" sz="1800" dirty="0">
                <a:ea typeface="ＭＳ Ｐゴシック" panose="020B0600070205080204" pitchFamily="34" charset="-128"/>
              </a:rPr>
              <a:t>1</a:t>
            </a:r>
          </a:p>
          <a:p>
            <a:pPr>
              <a:lnSpc>
                <a:spcPct val="90000"/>
              </a:lnSpc>
              <a:buFont typeface="Monotype Sorts" charset="2"/>
              <a:buNone/>
            </a:pPr>
            <a:r>
              <a:rPr lang="en-US" sz="1800" dirty="0">
                <a:ea typeface="ＭＳ Ｐゴシック" panose="020B0600070205080204" pitchFamily="34" charset="-128"/>
              </a:rPr>
              <a:t>2.	Find an </a:t>
            </a:r>
            <a:r>
              <a:rPr lang="en-US" sz="1800" i="1" dirty="0" err="1">
                <a:ea typeface="ＭＳ Ｐゴシック" panose="020B0600070205080204" pitchFamily="34" charset="-128"/>
              </a:rPr>
              <a:t>i</a:t>
            </a:r>
            <a:r>
              <a:rPr lang="en-US" sz="1800" i="1" dirty="0">
                <a:ea typeface="ＭＳ Ｐゴシック" panose="020B0600070205080204" pitchFamily="34" charset="-128"/>
              </a:rPr>
              <a:t> </a:t>
            </a:r>
            <a:r>
              <a:rPr lang="en-US" sz="1800" dirty="0">
                <a:ea typeface="ＭＳ Ｐゴシック" panose="020B0600070205080204" pitchFamily="34" charset="-128"/>
              </a:rPr>
              <a:t>such that both: </a:t>
            </a:r>
          </a:p>
          <a:p>
            <a:pPr lvl="1">
              <a:lnSpc>
                <a:spcPct val="90000"/>
              </a:lnSpc>
              <a:buFont typeface="Monotype Sorts" charset="2"/>
              <a:buNone/>
            </a:pPr>
            <a:r>
              <a:rPr lang="en-US" dirty="0">
                <a:ea typeface="ＭＳ Ｐゴシック" panose="020B0600070205080204" pitchFamily="34" charset="-128"/>
              </a:rPr>
              <a:t>(a) </a:t>
            </a:r>
            <a:r>
              <a:rPr lang="en-US" i="1" dirty="0">
                <a:ea typeface="ＭＳ Ｐゴシック" panose="020B0600070205080204" pitchFamily="34" charset="-128"/>
              </a:rPr>
              <a:t>Finish</a:t>
            </a:r>
            <a:r>
              <a:rPr lang="en-US" dirty="0">
                <a:ea typeface="ＭＳ Ｐゴシック" panose="020B0600070205080204" pitchFamily="34" charset="-128"/>
              </a:rPr>
              <a:t> [</a:t>
            </a:r>
            <a:r>
              <a:rPr lang="en-US" i="1" dirty="0" err="1">
                <a:ea typeface="ＭＳ Ｐゴシック" panose="020B0600070205080204" pitchFamily="34" charset="-128"/>
              </a:rPr>
              <a:t>i</a:t>
            </a:r>
            <a:r>
              <a:rPr lang="en-US" dirty="0">
                <a:ea typeface="ＭＳ Ｐゴシック" panose="020B0600070205080204" pitchFamily="34" charset="-128"/>
              </a:rPr>
              <a:t>] = </a:t>
            </a:r>
            <a:r>
              <a:rPr lang="en-US" i="1" dirty="0">
                <a:ea typeface="ＭＳ Ｐゴシック" panose="020B0600070205080204" pitchFamily="34" charset="-128"/>
              </a:rPr>
              <a:t>false</a:t>
            </a:r>
            <a:endParaRPr lang="en-US" dirty="0">
              <a:ea typeface="ＭＳ Ｐゴシック" panose="020B0600070205080204" pitchFamily="34" charset="-128"/>
            </a:endParaRPr>
          </a:p>
          <a:p>
            <a:pPr lvl="1">
              <a:lnSpc>
                <a:spcPct val="90000"/>
              </a:lnSpc>
              <a:buFont typeface="Monotype Sorts" charset="2"/>
              <a:buNone/>
            </a:pPr>
            <a:r>
              <a:rPr lang="en-US" dirty="0">
                <a:ea typeface="ＭＳ Ｐゴシック" panose="020B0600070205080204" pitchFamily="34" charset="-128"/>
              </a:rPr>
              <a:t>(b) </a:t>
            </a:r>
            <a:r>
              <a:rPr lang="en-US" i="1" dirty="0" err="1">
                <a:ea typeface="ＭＳ Ｐゴシック" panose="020B0600070205080204" pitchFamily="34" charset="-128"/>
              </a:rPr>
              <a:t>Need</a:t>
            </a:r>
            <a:r>
              <a:rPr lang="en-US" i="1" baseline="-25000" dirty="0" err="1">
                <a:ea typeface="ＭＳ Ｐゴシック" panose="020B0600070205080204" pitchFamily="34" charset="-128"/>
              </a:rPr>
              <a:t>i</a:t>
            </a:r>
            <a:r>
              <a:rPr lang="en-US" dirty="0">
                <a:ea typeface="ＭＳ Ｐゴシック" panose="020B0600070205080204" pitchFamily="34" charset="-128"/>
              </a:rPr>
              <a:t> </a:t>
            </a:r>
            <a:r>
              <a:rPr lang="en-US" dirty="0">
                <a:ea typeface="ＭＳ Ｐゴシック" panose="020B0600070205080204" pitchFamily="34" charset="-128"/>
                <a:sym typeface="Symbol" panose="05050102010706020507" pitchFamily="18" charset="2"/>
              </a:rPr>
              <a:t> Available [j]</a:t>
            </a:r>
            <a:endParaRPr lang="en-US" i="1" dirty="0">
              <a:ea typeface="ＭＳ Ｐゴシック" panose="020B0600070205080204" pitchFamily="34" charset="-128"/>
              <a:sym typeface="Symbol" panose="05050102010706020507" pitchFamily="18" charset="2"/>
            </a:endParaRPr>
          </a:p>
          <a:p>
            <a:pPr lvl="1">
              <a:lnSpc>
                <a:spcPct val="90000"/>
              </a:lnSpc>
              <a:buFont typeface="Monotype Sorts" charset="2"/>
              <a:buNone/>
            </a:pPr>
            <a:r>
              <a:rPr lang="en-US" dirty="0">
                <a:ea typeface="ＭＳ Ｐゴシック" panose="020B0600070205080204" pitchFamily="34" charset="-128"/>
                <a:sym typeface="Symbol" panose="05050102010706020507" pitchFamily="18" charset="2"/>
              </a:rPr>
              <a:t>If no such </a:t>
            </a:r>
            <a:r>
              <a:rPr lang="en-US" i="1" dirty="0" err="1">
                <a:ea typeface="ＭＳ Ｐゴシック" panose="020B0600070205080204" pitchFamily="34" charset="-128"/>
                <a:sym typeface="Symbol" panose="05050102010706020507" pitchFamily="18" charset="2"/>
              </a:rPr>
              <a:t>i</a:t>
            </a:r>
            <a:r>
              <a:rPr lang="en-US" i="1" dirty="0">
                <a:ea typeface="ＭＳ Ｐゴシック" panose="020B0600070205080204" pitchFamily="34" charset="-128"/>
                <a:sym typeface="Symbol" panose="05050102010706020507" pitchFamily="18" charset="2"/>
              </a:rPr>
              <a:t> </a:t>
            </a:r>
            <a:r>
              <a:rPr lang="en-US" dirty="0">
                <a:ea typeface="ＭＳ Ｐゴシック" panose="020B0600070205080204" pitchFamily="34" charset="-128"/>
                <a:sym typeface="Symbol" panose="05050102010706020507" pitchFamily="18" charset="2"/>
              </a:rPr>
              <a:t>exists, go to step 4</a:t>
            </a:r>
          </a:p>
          <a:p>
            <a:pPr>
              <a:lnSpc>
                <a:spcPct val="90000"/>
              </a:lnSpc>
              <a:buFont typeface="Monotype Sorts" charset="2"/>
              <a:buNone/>
            </a:pPr>
            <a:r>
              <a:rPr lang="en-US" sz="1800" dirty="0">
                <a:ea typeface="ＭＳ Ｐゴシック" panose="020B0600070205080204" pitchFamily="34" charset="-128"/>
              </a:rPr>
              <a:t>3.	</a:t>
            </a:r>
            <a:r>
              <a:rPr lang="en-US" sz="1800" i="1" dirty="0">
                <a:ea typeface="ＭＳ Ｐゴシック" panose="020B0600070205080204" pitchFamily="34" charset="-128"/>
              </a:rPr>
              <a:t>Available [j]</a:t>
            </a:r>
            <a:r>
              <a:rPr lang="en-US" sz="1800" dirty="0">
                <a:ea typeface="ＭＳ Ｐゴシック" panose="020B0600070205080204" pitchFamily="34" charset="-128"/>
              </a:rPr>
              <a:t> = </a:t>
            </a:r>
            <a:r>
              <a:rPr lang="en-US" sz="1800" i="1" dirty="0">
                <a:ea typeface="ＭＳ Ｐゴシック" panose="020B0600070205080204" pitchFamily="34" charset="-128"/>
              </a:rPr>
              <a:t>Available [j] </a:t>
            </a:r>
            <a:r>
              <a:rPr lang="en-US" sz="1800" dirty="0">
                <a:ea typeface="ＭＳ Ｐゴシック" panose="020B0600070205080204" pitchFamily="34" charset="-128"/>
              </a:rPr>
              <a:t>+ </a:t>
            </a:r>
            <a:r>
              <a:rPr lang="en-US" sz="1800" i="1" dirty="0" err="1">
                <a:ea typeface="ＭＳ Ｐゴシック" panose="020B0600070205080204" pitchFamily="34" charset="-128"/>
              </a:rPr>
              <a:t>Allocation</a:t>
            </a:r>
            <a:r>
              <a:rPr lang="en-US" sz="1800" i="1" baseline="-25000" dirty="0" err="1">
                <a:ea typeface="ＭＳ Ｐゴシック" panose="020B0600070205080204" pitchFamily="34" charset="-128"/>
              </a:rPr>
              <a:t>i</a:t>
            </a:r>
            <a:r>
              <a:rPr lang="en-US" sz="1800" dirty="0">
                <a:ea typeface="ＭＳ Ｐゴシック" panose="020B0600070205080204" pitchFamily="34" charset="-128"/>
              </a:rPr>
              <a:t/>
            </a:r>
            <a:br>
              <a:rPr lang="en-US" sz="1800" dirty="0">
                <a:ea typeface="ＭＳ Ｐゴシック" panose="020B0600070205080204" pitchFamily="34" charset="-128"/>
              </a:rPr>
            </a:br>
            <a:r>
              <a:rPr lang="en-US" sz="1800" i="1" dirty="0">
                <a:ea typeface="ＭＳ Ｐゴシック" panose="020B0600070205080204" pitchFamily="34" charset="-128"/>
              </a:rPr>
              <a:t>Finish</a:t>
            </a:r>
            <a:r>
              <a:rPr lang="en-US" sz="1800" dirty="0">
                <a:ea typeface="ＭＳ Ｐゴシック" panose="020B0600070205080204" pitchFamily="34" charset="-128"/>
              </a:rPr>
              <a:t>[</a:t>
            </a:r>
            <a:r>
              <a:rPr lang="en-US" sz="1800" i="1" dirty="0" err="1">
                <a:ea typeface="ＭＳ Ｐゴシック" panose="020B0600070205080204" pitchFamily="34" charset="-128"/>
              </a:rPr>
              <a:t>i</a:t>
            </a:r>
            <a:r>
              <a:rPr lang="en-US" sz="1800" dirty="0">
                <a:ea typeface="ＭＳ Ｐゴシック" panose="020B0600070205080204" pitchFamily="34" charset="-128"/>
              </a:rPr>
              <a:t>] =</a:t>
            </a:r>
            <a:r>
              <a:rPr lang="en-US" sz="1800" i="1" dirty="0">
                <a:ea typeface="ＭＳ Ｐゴシック" panose="020B0600070205080204" pitchFamily="34" charset="-128"/>
              </a:rPr>
              <a:t> true</a:t>
            </a:r>
            <a:r>
              <a:rPr lang="en-US" sz="1800" dirty="0">
                <a:ea typeface="ＭＳ Ｐゴシック" panose="020B0600070205080204" pitchFamily="34" charset="-128"/>
              </a:rPr>
              <a:t/>
            </a:r>
            <a:br>
              <a:rPr lang="en-US" sz="1800" dirty="0">
                <a:ea typeface="ＭＳ Ｐゴシック" panose="020B0600070205080204" pitchFamily="34" charset="-128"/>
              </a:rPr>
            </a:br>
            <a:r>
              <a:rPr lang="en-US" sz="1800" dirty="0">
                <a:ea typeface="ＭＳ Ｐゴシック" panose="020B0600070205080204" pitchFamily="34" charset="-128"/>
              </a:rPr>
              <a:t>go to step 2</a:t>
            </a:r>
          </a:p>
          <a:p>
            <a:pPr>
              <a:lnSpc>
                <a:spcPct val="90000"/>
              </a:lnSpc>
              <a:buFont typeface="Monotype Sorts" charset="2"/>
              <a:buNone/>
            </a:pPr>
            <a:r>
              <a:rPr lang="en-US" sz="1800" dirty="0">
                <a:ea typeface="ＭＳ Ｐゴシック" panose="020B0600070205080204" pitchFamily="34" charset="-128"/>
              </a:rPr>
              <a:t>4.	If </a:t>
            </a:r>
            <a:r>
              <a:rPr lang="en-US" sz="1800" i="1" dirty="0">
                <a:ea typeface="ＭＳ Ｐゴシック" panose="020B0600070205080204" pitchFamily="34" charset="-128"/>
              </a:rPr>
              <a:t>Finish</a:t>
            </a:r>
            <a:r>
              <a:rPr lang="en-US" sz="1800" dirty="0">
                <a:ea typeface="ＭＳ Ｐゴシック" panose="020B0600070205080204" pitchFamily="34" charset="-128"/>
              </a:rPr>
              <a:t> [</a:t>
            </a:r>
            <a:r>
              <a:rPr lang="en-US" sz="1800" i="1" dirty="0" err="1">
                <a:ea typeface="ＭＳ Ｐゴシック" panose="020B0600070205080204" pitchFamily="34" charset="-128"/>
              </a:rPr>
              <a:t>i</a:t>
            </a:r>
            <a:r>
              <a:rPr lang="en-US" sz="1800" dirty="0">
                <a:ea typeface="ＭＳ Ｐゴシック" panose="020B0600070205080204" pitchFamily="34" charset="-128"/>
              </a:rPr>
              <a:t>] == true for all </a:t>
            </a:r>
            <a:r>
              <a:rPr lang="en-US" sz="1800" i="1" dirty="0" err="1">
                <a:ea typeface="ＭＳ Ｐゴシック" panose="020B0600070205080204" pitchFamily="34" charset="-128"/>
              </a:rPr>
              <a:t>i</a:t>
            </a:r>
            <a:r>
              <a:rPr lang="en-US" sz="1800" dirty="0">
                <a:ea typeface="ＭＳ Ｐゴシック" panose="020B0600070205080204" pitchFamily="34" charset="-128"/>
              </a:rPr>
              <a:t>, then the system is in a safe state.</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559558" y="271463"/>
            <a:ext cx="9919530" cy="457200"/>
          </a:xfrm>
        </p:spPr>
        <p:txBody>
          <a:bodyPr/>
          <a:lstStyle/>
          <a:p>
            <a:pPr eaLnBrk="1" hangingPunct="1"/>
            <a:r>
              <a:rPr lang="en-US" sz="2800" b="1" dirty="0">
                <a:ea typeface="ＭＳ Ｐゴシック" panose="020B0600070205080204" pitchFamily="34" charset="-128"/>
              </a:rPr>
              <a:t>Resource-Request Algorithm for Process </a:t>
            </a:r>
            <a:r>
              <a:rPr lang="en-US" sz="2800" b="1" i="1" dirty="0">
                <a:ea typeface="ＭＳ Ｐゴシック" panose="020B0600070205080204" pitchFamily="34" charset="-128"/>
              </a:rPr>
              <a:t>P</a:t>
            </a:r>
            <a:r>
              <a:rPr lang="en-US" sz="2800" b="1" i="1" baseline="-25000" dirty="0">
                <a:ea typeface="ＭＳ Ｐゴシック" panose="020B0600070205080204" pitchFamily="34" charset="-128"/>
              </a:rPr>
              <a:t>i</a:t>
            </a:r>
            <a:endParaRPr lang="en-US" sz="2800" b="1" dirty="0">
              <a:ea typeface="ＭＳ Ｐゴシック" panose="020B0600070205080204" pitchFamily="34" charset="-128"/>
            </a:endParaRPr>
          </a:p>
        </p:txBody>
      </p:sp>
      <p:sp>
        <p:nvSpPr>
          <p:cNvPr id="31747" name="Rectangle 3"/>
          <p:cNvSpPr>
            <a:spLocks noGrp="1" noChangeArrowheads="1"/>
          </p:cNvSpPr>
          <p:nvPr>
            <p:ph type="body" idx="1"/>
          </p:nvPr>
        </p:nvSpPr>
        <p:spPr>
          <a:xfrm>
            <a:off x="559558" y="728663"/>
            <a:ext cx="11477767" cy="5229225"/>
          </a:xfrm>
        </p:spPr>
        <p:txBody>
          <a:bodyPr>
            <a:normAutofit/>
          </a:bodyPr>
          <a:lstStyle/>
          <a:p>
            <a:pPr marL="0" indent="0">
              <a:lnSpc>
                <a:spcPct val="90000"/>
              </a:lnSpc>
              <a:buNone/>
            </a:pPr>
            <a:r>
              <a:rPr lang="en-US" sz="1800" i="1" dirty="0">
                <a:ea typeface="ＭＳ Ｐゴシック" panose="020B0600070205080204" pitchFamily="34" charset="-128"/>
              </a:rPr>
              <a:t>      Request</a:t>
            </a:r>
            <a:r>
              <a:rPr lang="en-US" sz="1800" dirty="0">
                <a:ea typeface="ＭＳ Ｐゴシック" panose="020B0600070205080204" pitchFamily="34" charset="-128"/>
              </a:rPr>
              <a:t> = request vector for process </a:t>
            </a:r>
            <a:r>
              <a:rPr lang="en-US" sz="1800" i="1" dirty="0">
                <a:ea typeface="ＭＳ Ｐゴシック" panose="020B0600070205080204" pitchFamily="34" charset="-128"/>
              </a:rPr>
              <a:t>P</a:t>
            </a:r>
            <a:r>
              <a:rPr lang="en-US" sz="1800" i="1" baseline="-25000" dirty="0">
                <a:ea typeface="ＭＳ Ｐゴシック" panose="020B0600070205080204" pitchFamily="34" charset="-128"/>
              </a:rPr>
              <a:t>i</a:t>
            </a:r>
            <a:r>
              <a:rPr lang="en-US" sz="1800" dirty="0">
                <a:ea typeface="ＭＳ Ｐゴシック" panose="020B0600070205080204" pitchFamily="34" charset="-128"/>
              </a:rPr>
              <a:t>.  If </a:t>
            </a:r>
            <a:r>
              <a:rPr lang="en-US" sz="1800" i="1" dirty="0" err="1">
                <a:ea typeface="ＭＳ Ｐゴシック" panose="020B0600070205080204" pitchFamily="34" charset="-128"/>
              </a:rPr>
              <a:t>Request</a:t>
            </a:r>
            <a:r>
              <a:rPr lang="en-US" sz="1800" i="1" baseline="-25000" dirty="0" err="1">
                <a:ea typeface="ＭＳ Ｐゴシック" panose="020B0600070205080204" pitchFamily="34" charset="-128"/>
              </a:rPr>
              <a:t>i</a:t>
            </a:r>
            <a:r>
              <a:rPr lang="en-US" sz="1800" baseline="-25000" dirty="0">
                <a:ea typeface="ＭＳ Ｐゴシック" panose="020B0600070205080204" pitchFamily="34" charset="-128"/>
              </a:rPr>
              <a:t> </a:t>
            </a:r>
            <a:r>
              <a:rPr lang="en-US" sz="1800" dirty="0">
                <a:ea typeface="ＭＳ Ｐゴシック" panose="020B0600070205080204" pitchFamily="34" charset="-128"/>
              </a:rPr>
              <a:t>[</a:t>
            </a:r>
            <a:r>
              <a:rPr lang="en-US" sz="1800" i="1" dirty="0">
                <a:ea typeface="ＭＳ Ｐゴシック" panose="020B0600070205080204" pitchFamily="34" charset="-128"/>
              </a:rPr>
              <a:t>j</a:t>
            </a:r>
            <a:r>
              <a:rPr lang="en-US" sz="1800" dirty="0">
                <a:ea typeface="ＭＳ Ｐゴシック" panose="020B0600070205080204" pitchFamily="34" charset="-128"/>
              </a:rPr>
              <a:t>] = </a:t>
            </a:r>
            <a:r>
              <a:rPr lang="en-US" sz="1800" i="1" dirty="0">
                <a:ea typeface="ＭＳ Ｐゴシック" panose="020B0600070205080204" pitchFamily="34" charset="-128"/>
              </a:rPr>
              <a:t>k</a:t>
            </a:r>
            <a:r>
              <a:rPr lang="en-US" sz="1800" dirty="0">
                <a:ea typeface="ＭＳ Ｐゴシック" panose="020B0600070205080204" pitchFamily="34" charset="-128"/>
              </a:rPr>
              <a:t> then process </a:t>
            </a:r>
            <a:r>
              <a:rPr lang="en-US" sz="1800" i="1" dirty="0">
                <a:ea typeface="ＭＳ Ｐゴシック" panose="020B0600070205080204" pitchFamily="34" charset="-128"/>
              </a:rPr>
              <a:t>P</a:t>
            </a:r>
            <a:r>
              <a:rPr lang="en-US" sz="1800" i="1" baseline="-25000" dirty="0">
                <a:ea typeface="ＭＳ Ｐゴシック" panose="020B0600070205080204" pitchFamily="34" charset="-128"/>
              </a:rPr>
              <a:t>i</a:t>
            </a:r>
            <a:r>
              <a:rPr lang="en-US" sz="1800" dirty="0">
                <a:ea typeface="ＭＳ Ｐゴシック" panose="020B0600070205080204" pitchFamily="34" charset="-128"/>
              </a:rPr>
              <a:t> wants </a:t>
            </a:r>
            <a:r>
              <a:rPr lang="en-US" sz="1800" i="1" dirty="0">
                <a:ea typeface="ＭＳ Ｐゴシック" panose="020B0600070205080204" pitchFamily="34" charset="-128"/>
              </a:rPr>
              <a:t>k</a:t>
            </a:r>
            <a:r>
              <a:rPr lang="en-US" sz="1800" dirty="0">
                <a:ea typeface="ＭＳ Ｐゴシック" panose="020B0600070205080204" pitchFamily="34" charset="-128"/>
              </a:rPr>
              <a:t> instances of resource type </a:t>
            </a:r>
            <a:r>
              <a:rPr lang="en-US" sz="1800" i="1" dirty="0" err="1">
                <a:ea typeface="ＭＳ Ｐゴシック" panose="020B0600070205080204" pitchFamily="34" charset="-128"/>
              </a:rPr>
              <a:t>R</a:t>
            </a:r>
            <a:r>
              <a:rPr lang="en-US" sz="1800" i="1" baseline="-25000" dirty="0" err="1">
                <a:ea typeface="ＭＳ Ｐゴシック" panose="020B0600070205080204" pitchFamily="34" charset="-128"/>
              </a:rPr>
              <a:t>j</a:t>
            </a:r>
            <a:endParaRPr lang="en-US" sz="1800" baseline="-25000" dirty="0">
              <a:ea typeface="ＭＳ Ｐゴシック" panose="020B0600070205080204" pitchFamily="34" charset="-128"/>
            </a:endParaRPr>
          </a:p>
          <a:p>
            <a:pPr marL="457200" lvl="1" indent="0">
              <a:lnSpc>
                <a:spcPct val="90000"/>
              </a:lnSpc>
              <a:buNone/>
            </a:pPr>
            <a:r>
              <a:rPr lang="en-US" dirty="0">
                <a:ea typeface="ＭＳ Ｐゴシック" panose="020B0600070205080204" pitchFamily="34" charset="-128"/>
              </a:rPr>
              <a:t>1.	If </a:t>
            </a:r>
            <a:r>
              <a:rPr lang="en-US" i="1" dirty="0" err="1">
                <a:ea typeface="ＭＳ Ｐゴシック" panose="020B0600070205080204" pitchFamily="34" charset="-128"/>
              </a:rPr>
              <a:t>Request</a:t>
            </a:r>
            <a:r>
              <a:rPr lang="en-US" i="1" baseline="-25000" dirty="0" err="1">
                <a:ea typeface="ＭＳ Ｐゴシック" panose="020B0600070205080204" pitchFamily="34" charset="-128"/>
              </a:rPr>
              <a:t>i</a:t>
            </a:r>
            <a:r>
              <a:rPr lang="en-US" i="1" dirty="0">
                <a:ea typeface="ＭＳ Ｐゴシック" panose="020B0600070205080204" pitchFamily="34" charset="-128"/>
              </a:rPr>
              <a:t> </a:t>
            </a:r>
            <a:r>
              <a:rPr lang="en-US" dirty="0">
                <a:ea typeface="ＭＳ Ｐゴシック" panose="020B0600070205080204" pitchFamily="34" charset="-128"/>
                <a:sym typeface="Symbol" panose="05050102010706020507" pitchFamily="18" charset="2"/>
              </a:rPr>
              <a:t> </a:t>
            </a:r>
            <a:r>
              <a:rPr lang="en-US" i="1" dirty="0" err="1">
                <a:ea typeface="ＭＳ Ｐゴシック" panose="020B0600070205080204" pitchFamily="34" charset="-128"/>
                <a:sym typeface="Symbol" panose="05050102010706020507" pitchFamily="18" charset="2"/>
              </a:rPr>
              <a:t>Need</a:t>
            </a:r>
            <a:r>
              <a:rPr lang="en-US" i="1" baseline="-25000" dirty="0" err="1">
                <a:ea typeface="ＭＳ Ｐゴシック" panose="020B0600070205080204" pitchFamily="34" charset="-128"/>
                <a:sym typeface="Symbol" panose="05050102010706020507" pitchFamily="18" charset="2"/>
              </a:rPr>
              <a:t>i</a:t>
            </a:r>
            <a:r>
              <a:rPr lang="en-US" i="1" dirty="0">
                <a:ea typeface="ＭＳ Ｐゴシック" panose="020B0600070205080204" pitchFamily="34" charset="-128"/>
                <a:sym typeface="Symbol" panose="05050102010706020507" pitchFamily="18" charset="2"/>
              </a:rPr>
              <a:t> </a:t>
            </a:r>
            <a:r>
              <a:rPr lang="en-US" dirty="0">
                <a:ea typeface="ＭＳ Ｐゴシック" panose="020B0600070205080204" pitchFamily="34" charset="-128"/>
                <a:sym typeface="Symbol" panose="05050102010706020507" pitchFamily="18" charset="2"/>
              </a:rPr>
              <a:t>go to step 2.  Otherwise, raise error condition, since process has exceeded its maximum claim</a:t>
            </a:r>
          </a:p>
          <a:p>
            <a:pPr marL="457200" lvl="1" indent="0">
              <a:lnSpc>
                <a:spcPct val="90000"/>
              </a:lnSpc>
              <a:buNone/>
            </a:pPr>
            <a:r>
              <a:rPr lang="en-US" dirty="0">
                <a:ea typeface="ＭＳ Ｐゴシック" panose="020B0600070205080204" pitchFamily="34" charset="-128"/>
                <a:sym typeface="Symbol" panose="05050102010706020507" pitchFamily="18" charset="2"/>
              </a:rPr>
              <a:t>2.	If </a:t>
            </a:r>
            <a:r>
              <a:rPr lang="en-US" i="1" dirty="0" err="1">
                <a:ea typeface="ＭＳ Ｐゴシック" panose="020B0600070205080204" pitchFamily="34" charset="-128"/>
              </a:rPr>
              <a:t>Request</a:t>
            </a:r>
            <a:r>
              <a:rPr lang="en-US" i="1" baseline="-25000" dirty="0" err="1">
                <a:ea typeface="ＭＳ Ｐゴシック" panose="020B0600070205080204" pitchFamily="34" charset="-128"/>
              </a:rPr>
              <a:t>i</a:t>
            </a:r>
            <a:r>
              <a:rPr lang="en-US" dirty="0">
                <a:ea typeface="ＭＳ Ｐゴシック" panose="020B0600070205080204" pitchFamily="34" charset="-128"/>
              </a:rPr>
              <a:t> </a:t>
            </a:r>
            <a:r>
              <a:rPr lang="en-US" dirty="0">
                <a:ea typeface="ＭＳ Ｐゴシック" panose="020B0600070205080204" pitchFamily="34" charset="-128"/>
                <a:sym typeface="Symbol" panose="05050102010706020507" pitchFamily="18" charset="2"/>
              </a:rPr>
              <a:t> </a:t>
            </a:r>
            <a:r>
              <a:rPr lang="en-US" i="1" dirty="0">
                <a:ea typeface="ＭＳ Ｐゴシック" panose="020B0600070205080204" pitchFamily="34" charset="-128"/>
                <a:sym typeface="Symbol" panose="05050102010706020507" pitchFamily="18" charset="2"/>
              </a:rPr>
              <a:t>Available</a:t>
            </a:r>
            <a:r>
              <a:rPr lang="en-US" dirty="0">
                <a:ea typeface="ＭＳ Ｐゴシック" panose="020B0600070205080204" pitchFamily="34" charset="-128"/>
                <a:sym typeface="Symbol" panose="05050102010706020507" pitchFamily="18" charset="2"/>
              </a:rPr>
              <a:t>, go to step 3.  Otherwise </a:t>
            </a:r>
            <a:r>
              <a:rPr lang="en-US" i="1" dirty="0">
                <a:ea typeface="ＭＳ Ｐゴシック" panose="020B0600070205080204" pitchFamily="34" charset="-128"/>
                <a:sym typeface="Symbol" panose="05050102010706020507" pitchFamily="18" charset="2"/>
              </a:rPr>
              <a:t>P</a:t>
            </a:r>
            <a:r>
              <a:rPr lang="en-US" i="1" baseline="-25000" dirty="0">
                <a:ea typeface="ＭＳ Ｐゴシック" panose="020B0600070205080204" pitchFamily="34" charset="-128"/>
                <a:sym typeface="Symbol" panose="05050102010706020507" pitchFamily="18" charset="2"/>
              </a:rPr>
              <a:t>i</a:t>
            </a:r>
            <a:r>
              <a:rPr lang="en-US" dirty="0">
                <a:ea typeface="ＭＳ Ｐゴシック" panose="020B0600070205080204" pitchFamily="34" charset="-128"/>
                <a:sym typeface="Symbol" panose="05050102010706020507" pitchFamily="18" charset="2"/>
              </a:rPr>
              <a:t>  must wait, since resources are not available</a:t>
            </a:r>
          </a:p>
          <a:p>
            <a:pPr marL="457200" lvl="1" indent="0">
              <a:lnSpc>
                <a:spcPct val="90000"/>
              </a:lnSpc>
              <a:buNone/>
            </a:pPr>
            <a:r>
              <a:rPr lang="en-US" dirty="0">
                <a:ea typeface="ＭＳ Ｐゴシック" panose="020B0600070205080204" pitchFamily="34" charset="-128"/>
                <a:sym typeface="Symbol" panose="05050102010706020507" pitchFamily="18" charset="2"/>
              </a:rPr>
              <a:t>3.	Pretend to allocate requested resources to </a:t>
            </a:r>
            <a:r>
              <a:rPr lang="en-US" i="1" dirty="0">
                <a:ea typeface="ＭＳ Ｐゴシック" panose="020B0600070205080204" pitchFamily="34" charset="-128"/>
                <a:sym typeface="Symbol" panose="05050102010706020507" pitchFamily="18" charset="2"/>
              </a:rPr>
              <a:t>P</a:t>
            </a:r>
            <a:r>
              <a:rPr lang="en-US" i="1" baseline="-25000" dirty="0">
                <a:ea typeface="ＭＳ Ｐゴシック" panose="020B0600070205080204" pitchFamily="34" charset="-128"/>
                <a:sym typeface="Symbol" panose="05050102010706020507" pitchFamily="18" charset="2"/>
              </a:rPr>
              <a:t>i</a:t>
            </a:r>
            <a:r>
              <a:rPr lang="en-US" dirty="0">
                <a:ea typeface="ＭＳ Ｐゴシック" panose="020B0600070205080204" pitchFamily="34" charset="-128"/>
                <a:sym typeface="Symbol" panose="05050102010706020507" pitchFamily="18" charset="2"/>
              </a:rPr>
              <a:t> by modifying the state as follows:</a:t>
            </a:r>
          </a:p>
          <a:p>
            <a:pPr marL="1371600" lvl="3" indent="0">
              <a:lnSpc>
                <a:spcPct val="90000"/>
              </a:lnSpc>
              <a:buNone/>
            </a:pPr>
            <a:r>
              <a:rPr lang="en-US" sz="1800" dirty="0">
                <a:ea typeface="ＭＳ Ｐゴシック" panose="020B0600070205080204" pitchFamily="34" charset="-128"/>
                <a:sym typeface="Symbol" panose="05050102010706020507" pitchFamily="18" charset="2"/>
              </a:rPr>
              <a:t>		</a:t>
            </a:r>
            <a:r>
              <a:rPr lang="en-US" sz="1800" i="1" dirty="0">
                <a:ea typeface="ＭＳ Ｐゴシック" panose="020B0600070205080204" pitchFamily="34" charset="-128"/>
                <a:sym typeface="Symbol" panose="05050102010706020507" pitchFamily="18" charset="2"/>
              </a:rPr>
              <a:t>Available</a:t>
            </a:r>
            <a:r>
              <a:rPr lang="en-US" sz="1800" dirty="0">
                <a:ea typeface="ＭＳ Ｐゴシック" panose="020B0600070205080204" pitchFamily="34" charset="-128"/>
                <a:sym typeface="Symbol" panose="05050102010706020507" pitchFamily="18" charset="2"/>
              </a:rPr>
              <a:t> = </a:t>
            </a:r>
            <a:r>
              <a:rPr lang="en-US" sz="1800" i="1" dirty="0">
                <a:ea typeface="ＭＳ Ｐゴシック" panose="020B0600070205080204" pitchFamily="34" charset="-128"/>
                <a:sym typeface="Symbol" panose="05050102010706020507" pitchFamily="18" charset="2"/>
              </a:rPr>
              <a:t>Available  </a:t>
            </a:r>
            <a:r>
              <a:rPr lang="en-US" sz="1800" dirty="0">
                <a:ea typeface="ＭＳ Ｐゴシック" panose="020B0600070205080204" pitchFamily="34" charset="-128"/>
                <a:sym typeface="Symbol" panose="05050102010706020507" pitchFamily="18" charset="2"/>
              </a:rPr>
              <a:t>–</a:t>
            </a:r>
            <a:r>
              <a:rPr lang="en-US" sz="1800" i="1" dirty="0">
                <a:ea typeface="ＭＳ Ｐゴシック" panose="020B0600070205080204" pitchFamily="34" charset="-128"/>
                <a:sym typeface="Symbol" panose="05050102010706020507" pitchFamily="18" charset="2"/>
              </a:rPr>
              <a:t> Request;</a:t>
            </a:r>
          </a:p>
          <a:p>
            <a:pPr marL="1371600" lvl="3" indent="0">
              <a:lnSpc>
                <a:spcPct val="90000"/>
              </a:lnSpc>
              <a:buNone/>
            </a:pPr>
            <a:r>
              <a:rPr lang="en-US" sz="1800" dirty="0">
                <a:ea typeface="ＭＳ Ｐゴシック" panose="020B0600070205080204" pitchFamily="34" charset="-128"/>
                <a:sym typeface="Symbol" panose="05050102010706020507" pitchFamily="18" charset="2"/>
              </a:rPr>
              <a:t>		</a:t>
            </a:r>
            <a:r>
              <a:rPr lang="en-US" sz="1800" i="1" dirty="0" err="1">
                <a:ea typeface="ＭＳ Ｐゴシック" panose="020B0600070205080204" pitchFamily="34" charset="-128"/>
                <a:sym typeface="Symbol" panose="05050102010706020507" pitchFamily="18" charset="2"/>
              </a:rPr>
              <a:t>Allocation</a:t>
            </a:r>
            <a:r>
              <a:rPr lang="en-US" sz="1800" i="1" baseline="-25000" dirty="0" err="1">
                <a:ea typeface="ＭＳ Ｐゴシック" panose="020B0600070205080204" pitchFamily="34" charset="-128"/>
                <a:sym typeface="Symbol" panose="05050102010706020507" pitchFamily="18" charset="2"/>
              </a:rPr>
              <a:t>i</a:t>
            </a:r>
            <a:r>
              <a:rPr lang="en-US" sz="1800" baseline="-25000" dirty="0">
                <a:ea typeface="ＭＳ Ｐゴシック" panose="020B0600070205080204" pitchFamily="34" charset="-128"/>
                <a:sym typeface="Symbol" panose="05050102010706020507" pitchFamily="18" charset="2"/>
              </a:rPr>
              <a:t> </a:t>
            </a:r>
            <a:r>
              <a:rPr lang="en-US" sz="1800" dirty="0">
                <a:ea typeface="ＭＳ Ｐゴシック" panose="020B0600070205080204" pitchFamily="34" charset="-128"/>
                <a:sym typeface="Symbol" panose="05050102010706020507" pitchFamily="18" charset="2"/>
              </a:rPr>
              <a:t>= </a:t>
            </a:r>
            <a:r>
              <a:rPr lang="en-US" sz="1800" i="1" dirty="0" err="1">
                <a:ea typeface="ＭＳ Ｐゴシック" panose="020B0600070205080204" pitchFamily="34" charset="-128"/>
                <a:sym typeface="Symbol" panose="05050102010706020507" pitchFamily="18" charset="2"/>
              </a:rPr>
              <a:t>Allocation</a:t>
            </a:r>
            <a:r>
              <a:rPr lang="en-US" sz="1800" i="1" baseline="-25000" dirty="0" err="1">
                <a:ea typeface="ＭＳ Ｐゴシック" panose="020B0600070205080204" pitchFamily="34" charset="-128"/>
                <a:sym typeface="Symbol" panose="05050102010706020507" pitchFamily="18" charset="2"/>
              </a:rPr>
              <a:t>i</a:t>
            </a:r>
            <a:r>
              <a:rPr lang="en-US" sz="1800" dirty="0">
                <a:ea typeface="ＭＳ Ｐゴシック" panose="020B0600070205080204" pitchFamily="34" charset="-128"/>
                <a:sym typeface="Symbol" panose="05050102010706020507" pitchFamily="18" charset="2"/>
              </a:rPr>
              <a:t> + </a:t>
            </a:r>
            <a:r>
              <a:rPr lang="en-US" sz="1800" i="1" dirty="0" err="1">
                <a:ea typeface="ＭＳ Ｐゴシック" panose="020B0600070205080204" pitchFamily="34" charset="-128"/>
                <a:sym typeface="Symbol" panose="05050102010706020507" pitchFamily="18" charset="2"/>
              </a:rPr>
              <a:t>Request</a:t>
            </a:r>
            <a:r>
              <a:rPr lang="en-US" sz="1800" i="1" baseline="-25000" dirty="0" err="1">
                <a:ea typeface="ＭＳ Ｐゴシック" panose="020B0600070205080204" pitchFamily="34" charset="-128"/>
                <a:sym typeface="Symbol" panose="05050102010706020507" pitchFamily="18" charset="2"/>
              </a:rPr>
              <a:t>i</a:t>
            </a:r>
            <a:r>
              <a:rPr lang="en-US" sz="1800" dirty="0">
                <a:ea typeface="ＭＳ Ｐゴシック" panose="020B0600070205080204" pitchFamily="34" charset="-128"/>
                <a:sym typeface="Symbol" panose="05050102010706020507" pitchFamily="18" charset="2"/>
              </a:rPr>
              <a:t>;</a:t>
            </a:r>
          </a:p>
          <a:p>
            <a:pPr marL="1371600" lvl="3" indent="0">
              <a:lnSpc>
                <a:spcPct val="90000"/>
              </a:lnSpc>
              <a:buNone/>
            </a:pPr>
            <a:r>
              <a:rPr lang="en-US" sz="1800" dirty="0">
                <a:ea typeface="ＭＳ Ｐゴシック" panose="020B0600070205080204" pitchFamily="34" charset="-128"/>
                <a:sym typeface="Symbol" panose="05050102010706020507" pitchFamily="18" charset="2"/>
              </a:rPr>
              <a:t>		</a:t>
            </a:r>
            <a:r>
              <a:rPr lang="en-US" sz="1800" i="1" dirty="0" err="1">
                <a:ea typeface="ＭＳ Ｐゴシック" panose="020B0600070205080204" pitchFamily="34" charset="-128"/>
                <a:sym typeface="Symbol" panose="05050102010706020507" pitchFamily="18" charset="2"/>
              </a:rPr>
              <a:t>Need</a:t>
            </a:r>
            <a:r>
              <a:rPr lang="en-US" sz="1800" i="1" baseline="-25000" dirty="0" err="1">
                <a:ea typeface="ＭＳ Ｐゴシック" panose="020B0600070205080204" pitchFamily="34" charset="-128"/>
                <a:sym typeface="Symbol" panose="05050102010706020507" pitchFamily="18" charset="2"/>
              </a:rPr>
              <a:t>i</a:t>
            </a:r>
            <a:r>
              <a:rPr lang="en-US" sz="1800" i="1" dirty="0">
                <a:ea typeface="ＭＳ Ｐゴシック" panose="020B0600070205080204" pitchFamily="34" charset="-128"/>
                <a:sym typeface="Symbol" panose="05050102010706020507" pitchFamily="18" charset="2"/>
              </a:rPr>
              <a:t> </a:t>
            </a:r>
            <a:r>
              <a:rPr lang="en-US" sz="1800" dirty="0">
                <a:ea typeface="ＭＳ Ｐゴシック" panose="020B0600070205080204" pitchFamily="34" charset="-128"/>
                <a:sym typeface="Symbol" panose="05050102010706020507" pitchFamily="18" charset="2"/>
              </a:rPr>
              <a:t>=</a:t>
            </a:r>
            <a:r>
              <a:rPr lang="en-US" sz="1800" i="1" dirty="0">
                <a:ea typeface="ＭＳ Ｐゴシック" panose="020B0600070205080204" pitchFamily="34" charset="-128"/>
                <a:sym typeface="Symbol" panose="05050102010706020507" pitchFamily="18" charset="2"/>
              </a:rPr>
              <a:t> </a:t>
            </a:r>
            <a:r>
              <a:rPr lang="en-US" sz="1800" i="1" dirty="0" err="1">
                <a:ea typeface="ＭＳ Ｐゴシック" panose="020B0600070205080204" pitchFamily="34" charset="-128"/>
                <a:sym typeface="Symbol" panose="05050102010706020507" pitchFamily="18" charset="2"/>
              </a:rPr>
              <a:t>Need</a:t>
            </a:r>
            <a:r>
              <a:rPr lang="en-US" sz="1800" i="1" baseline="-25000" dirty="0" err="1">
                <a:ea typeface="ＭＳ Ｐゴシック" panose="020B0600070205080204" pitchFamily="34" charset="-128"/>
                <a:sym typeface="Symbol" panose="05050102010706020507" pitchFamily="18" charset="2"/>
              </a:rPr>
              <a:t>i</a:t>
            </a:r>
            <a:r>
              <a:rPr lang="en-US" sz="1800" dirty="0">
                <a:ea typeface="ＭＳ Ｐゴシック" panose="020B0600070205080204" pitchFamily="34" charset="-128"/>
                <a:sym typeface="Symbol" panose="05050102010706020507" pitchFamily="18" charset="2"/>
              </a:rPr>
              <a:t> – </a:t>
            </a:r>
            <a:r>
              <a:rPr lang="en-US" sz="1800" i="1" dirty="0" err="1">
                <a:ea typeface="ＭＳ Ｐゴシック" panose="020B0600070205080204" pitchFamily="34" charset="-128"/>
                <a:sym typeface="Symbol" panose="05050102010706020507" pitchFamily="18" charset="2"/>
              </a:rPr>
              <a:t>Request</a:t>
            </a:r>
            <a:r>
              <a:rPr lang="en-US" sz="1800" i="1" baseline="-25000" dirty="0" err="1">
                <a:ea typeface="ＭＳ Ｐゴシック" panose="020B0600070205080204" pitchFamily="34" charset="-128"/>
                <a:sym typeface="Symbol" panose="05050102010706020507" pitchFamily="18" charset="2"/>
              </a:rPr>
              <a:t>i</a:t>
            </a:r>
            <a:r>
              <a:rPr lang="en-US" sz="1800" i="1" dirty="0">
                <a:ea typeface="ＭＳ Ｐゴシック" panose="020B0600070205080204" pitchFamily="34" charset="-128"/>
                <a:sym typeface="Symbol" panose="05050102010706020507" pitchFamily="18" charset="2"/>
              </a:rPr>
              <a:t>;</a:t>
            </a:r>
          </a:p>
          <a:p>
            <a:pPr marL="914400" lvl="2" indent="0">
              <a:lnSpc>
                <a:spcPct val="90000"/>
              </a:lnSpc>
              <a:buClr>
                <a:srgbClr val="CC6600"/>
              </a:buClr>
              <a:buSzPct val="80000"/>
              <a:buNone/>
            </a:pPr>
            <a:r>
              <a:rPr lang="en-US" sz="1800" i="1" dirty="0">
                <a:ea typeface="ＭＳ Ｐゴシック" panose="020B0600070205080204" pitchFamily="34" charset="-128"/>
                <a:sym typeface="Symbol" panose="05050102010706020507" pitchFamily="18" charset="2"/>
              </a:rPr>
              <a:t>If safe  the resources are allocated to Pi</a:t>
            </a:r>
          </a:p>
          <a:p>
            <a:pPr marL="914400" lvl="2" indent="0">
              <a:lnSpc>
                <a:spcPct val="90000"/>
              </a:lnSpc>
              <a:buClr>
                <a:srgbClr val="CC6600"/>
              </a:buClr>
              <a:buSzPct val="80000"/>
              <a:buNone/>
            </a:pPr>
            <a:r>
              <a:rPr lang="en-US" sz="1800" i="1" dirty="0">
                <a:ea typeface="ＭＳ Ｐゴシック" panose="020B0600070205080204" pitchFamily="34" charset="-128"/>
                <a:sym typeface="Symbol" panose="05050102010706020507" pitchFamily="18" charset="2"/>
              </a:rPr>
              <a:t>If unsafe  Pi must wait, and the old resource-allocation state is restored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smtClean="0">
                <a:ea typeface="ＭＳ Ｐゴシック" panose="020B0600070205080204" pitchFamily="34" charset="-128"/>
              </a:rPr>
              <a:t>Example of Banker’s Algorithm</a:t>
            </a:r>
          </a:p>
        </p:txBody>
      </p:sp>
      <p:sp>
        <p:nvSpPr>
          <p:cNvPr id="32771" name="Rectangle 3"/>
          <p:cNvSpPr>
            <a:spLocks noGrp="1" noChangeArrowheads="1"/>
          </p:cNvSpPr>
          <p:nvPr>
            <p:ph type="body" idx="1"/>
          </p:nvPr>
        </p:nvSpPr>
        <p:spPr>
          <a:xfrm>
            <a:off x="2376488" y="1360488"/>
            <a:ext cx="7923212" cy="4540250"/>
          </a:xfrm>
        </p:spPr>
        <p:txBody>
          <a:bodyPr/>
          <a:lstStyle/>
          <a:p>
            <a:pPr>
              <a:tabLst>
                <a:tab pos="1371600" algn="l"/>
                <a:tab pos="2395538" algn="ctr"/>
                <a:tab pos="3594100" algn="ctr"/>
                <a:tab pos="4805363" algn="ctr"/>
              </a:tabLst>
            </a:pPr>
            <a:r>
              <a:rPr lang="en-US" sz="1800">
                <a:ea typeface="ＭＳ Ｐゴシック" panose="020B0600070205080204" pitchFamily="34" charset="-128"/>
              </a:rPr>
              <a:t>5 processes </a:t>
            </a:r>
            <a:r>
              <a:rPr lang="en-US" sz="1800" i="1">
                <a:ea typeface="ＭＳ Ｐゴシック" panose="020B0600070205080204" pitchFamily="34" charset="-128"/>
              </a:rPr>
              <a:t>P</a:t>
            </a:r>
            <a:r>
              <a:rPr lang="en-US" sz="1800" baseline="-25000">
                <a:ea typeface="ＭＳ Ｐゴシック" panose="020B0600070205080204" pitchFamily="34" charset="-128"/>
              </a:rPr>
              <a:t>0  </a:t>
            </a:r>
            <a:r>
              <a:rPr lang="en-US" sz="1800">
                <a:ea typeface="ＭＳ Ｐゴシック" panose="020B0600070205080204" pitchFamily="34" charset="-128"/>
              </a:rPr>
              <a:t>through </a:t>
            </a:r>
            <a:r>
              <a:rPr lang="en-US" sz="1800" i="1">
                <a:ea typeface="ＭＳ Ｐゴシック" panose="020B0600070205080204" pitchFamily="34" charset="-128"/>
              </a:rPr>
              <a:t>P</a:t>
            </a:r>
            <a:r>
              <a:rPr lang="en-US" sz="1800" baseline="-25000">
                <a:ea typeface="ＭＳ Ｐゴシック" panose="020B0600070205080204" pitchFamily="34" charset="-128"/>
              </a:rPr>
              <a:t>4</a:t>
            </a:r>
            <a:r>
              <a:rPr lang="en-US" sz="1800">
                <a:ea typeface="ＭＳ Ｐゴシック" panose="020B0600070205080204" pitchFamily="34" charset="-128"/>
              </a:rPr>
              <a:t>; </a:t>
            </a:r>
          </a:p>
          <a:p>
            <a:pPr>
              <a:buNone/>
              <a:tabLst>
                <a:tab pos="1371600" algn="l"/>
                <a:tab pos="2395538" algn="ctr"/>
                <a:tab pos="3594100" algn="ctr"/>
                <a:tab pos="4805363" algn="ctr"/>
              </a:tabLst>
            </a:pPr>
            <a:r>
              <a:rPr lang="en-US" sz="1800">
                <a:ea typeface="ＭＳ Ｐゴシック" panose="020B0600070205080204" pitchFamily="34" charset="-128"/>
              </a:rPr>
              <a:t>      3 resource types:</a:t>
            </a:r>
          </a:p>
          <a:p>
            <a:pPr>
              <a:buNone/>
              <a:tabLst>
                <a:tab pos="1371600" algn="l"/>
                <a:tab pos="2395538" algn="ctr"/>
                <a:tab pos="3594100" algn="ctr"/>
                <a:tab pos="4805363" algn="ctr"/>
              </a:tabLst>
            </a:pPr>
            <a:r>
              <a:rPr lang="en-US" sz="1800">
                <a:ea typeface="ＭＳ Ｐゴシック" panose="020B0600070205080204" pitchFamily="34" charset="-128"/>
              </a:rPr>
              <a:t>              </a:t>
            </a:r>
            <a:r>
              <a:rPr lang="en-US" sz="1800" i="1">
                <a:ea typeface="ＭＳ Ｐゴシック" panose="020B0600070205080204" pitchFamily="34" charset="-128"/>
              </a:rPr>
              <a:t>A</a:t>
            </a:r>
            <a:r>
              <a:rPr lang="en-US" sz="1800">
                <a:ea typeface="ＭＳ Ｐゴシック" panose="020B0600070205080204" pitchFamily="34" charset="-128"/>
              </a:rPr>
              <a:t> (10 instances),  </a:t>
            </a:r>
            <a:r>
              <a:rPr lang="en-US" sz="1800" i="1">
                <a:ea typeface="ＭＳ Ｐゴシック" panose="020B0600070205080204" pitchFamily="34" charset="-128"/>
              </a:rPr>
              <a:t>B</a:t>
            </a:r>
            <a:r>
              <a:rPr lang="en-US" sz="1800">
                <a:ea typeface="ＭＳ Ｐゴシック" panose="020B0600070205080204" pitchFamily="34" charset="-128"/>
              </a:rPr>
              <a:t> (5instances), and </a:t>
            </a:r>
            <a:r>
              <a:rPr lang="en-US" sz="1800" i="1">
                <a:ea typeface="ＭＳ Ｐゴシック" panose="020B0600070205080204" pitchFamily="34" charset="-128"/>
              </a:rPr>
              <a:t>C</a:t>
            </a:r>
            <a:r>
              <a:rPr lang="en-US" sz="1800">
                <a:ea typeface="ＭＳ Ｐゴシック" panose="020B0600070205080204" pitchFamily="34" charset="-128"/>
              </a:rPr>
              <a:t> (7 instances)</a:t>
            </a:r>
          </a:p>
          <a:p>
            <a:pPr>
              <a:buNone/>
              <a:tabLst>
                <a:tab pos="1371600" algn="l"/>
                <a:tab pos="2395538" algn="ctr"/>
                <a:tab pos="3594100" algn="ctr"/>
                <a:tab pos="4805363" algn="ctr"/>
              </a:tabLst>
            </a:pPr>
            <a:r>
              <a:rPr lang="en-US" sz="1800">
                <a:ea typeface="ＭＳ Ｐゴシック" panose="020B0600070205080204" pitchFamily="34" charset="-128"/>
              </a:rPr>
              <a:t> Snapshot at time </a:t>
            </a:r>
            <a:r>
              <a:rPr lang="en-US" sz="1800" i="1">
                <a:ea typeface="ＭＳ Ｐゴシック" panose="020B0600070205080204" pitchFamily="34" charset="-128"/>
              </a:rPr>
              <a:t>T</a:t>
            </a:r>
            <a:r>
              <a:rPr lang="en-US" sz="1800" baseline="-25000">
                <a:ea typeface="ＭＳ Ｐゴシック" panose="020B0600070205080204" pitchFamily="34" charset="-128"/>
              </a:rPr>
              <a:t>0</a:t>
            </a:r>
            <a:r>
              <a:rPr lang="en-US" sz="1800">
                <a:ea typeface="ＭＳ Ｐゴシック" panose="020B0600070205080204" pitchFamily="34" charset="-128"/>
              </a:rPr>
              <a:t>:</a:t>
            </a:r>
          </a:p>
          <a:p>
            <a:pPr>
              <a:buNone/>
              <a:tabLst>
                <a:tab pos="1371600" algn="l"/>
                <a:tab pos="2395538" algn="ctr"/>
                <a:tab pos="3594100" algn="ctr"/>
                <a:tab pos="4805363" algn="ctr"/>
              </a:tabLst>
            </a:pPr>
            <a:r>
              <a:rPr lang="en-US" sz="1800">
                <a:ea typeface="ＭＳ Ｐゴシック" panose="020B0600070205080204" pitchFamily="34" charset="-128"/>
              </a:rPr>
              <a:t>			</a:t>
            </a:r>
            <a:r>
              <a:rPr lang="en-US" sz="1800" i="1" u="sng">
                <a:ea typeface="ＭＳ Ｐゴシック" panose="020B0600070205080204" pitchFamily="34" charset="-128"/>
              </a:rPr>
              <a:t>Allocation</a:t>
            </a:r>
            <a:r>
              <a:rPr lang="en-US" sz="1800" i="1">
                <a:ea typeface="ＭＳ Ｐゴシック" panose="020B0600070205080204" pitchFamily="34" charset="-128"/>
              </a:rPr>
              <a:t>	  </a:t>
            </a:r>
            <a:r>
              <a:rPr lang="en-US" sz="1800" i="1" u="sng">
                <a:ea typeface="ＭＳ Ｐゴシック" panose="020B0600070205080204" pitchFamily="34" charset="-128"/>
              </a:rPr>
              <a:t>Max</a:t>
            </a:r>
            <a:r>
              <a:rPr lang="en-US" sz="1800" i="1">
                <a:ea typeface="ＭＳ Ｐゴシック" panose="020B0600070205080204" pitchFamily="34" charset="-128"/>
              </a:rPr>
              <a:t>	</a:t>
            </a:r>
            <a:r>
              <a:rPr lang="en-US" sz="1800" i="1" u="sng">
                <a:ea typeface="ＭＳ Ｐゴシック" panose="020B0600070205080204" pitchFamily="34" charset="-128"/>
              </a:rPr>
              <a:t>Available</a:t>
            </a:r>
            <a:endParaRPr lang="en-US" sz="1800" i="1">
              <a:ea typeface="ＭＳ Ｐゴシック" panose="020B0600070205080204" pitchFamily="34" charset="-128"/>
            </a:endParaRPr>
          </a:p>
          <a:p>
            <a:pPr>
              <a:buNone/>
              <a:tabLst>
                <a:tab pos="1371600" algn="l"/>
                <a:tab pos="2395538" algn="ctr"/>
                <a:tab pos="3594100" algn="ctr"/>
                <a:tab pos="4805363" algn="ctr"/>
              </a:tabLst>
            </a:pPr>
            <a:r>
              <a:rPr lang="en-US" sz="1800" i="1">
                <a:ea typeface="ＭＳ Ｐゴシック" panose="020B0600070205080204" pitchFamily="34" charset="-128"/>
              </a:rPr>
              <a:t>			A B C	        A B C 	A B C</a:t>
            </a:r>
          </a:p>
          <a:p>
            <a:pPr>
              <a:buNone/>
              <a:tabLst>
                <a:tab pos="1371600" algn="l"/>
                <a:tab pos="2395538" algn="ctr"/>
                <a:tab pos="3594100" algn="ctr"/>
                <a:tab pos="4805363"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0	</a:t>
            </a:r>
            <a:r>
              <a:rPr lang="en-US" sz="1800">
                <a:ea typeface="ＭＳ Ｐゴシック" panose="020B0600070205080204" pitchFamily="34" charset="-128"/>
              </a:rPr>
              <a:t>0 1 0	       7 5 3 	3 3 2</a:t>
            </a:r>
          </a:p>
          <a:p>
            <a:pPr>
              <a:buNone/>
              <a:tabLst>
                <a:tab pos="1371600" algn="l"/>
                <a:tab pos="2395538" algn="ctr"/>
                <a:tab pos="3594100" algn="ctr"/>
                <a:tab pos="4805363"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1	</a:t>
            </a:r>
            <a:r>
              <a:rPr lang="en-US" sz="1800">
                <a:ea typeface="ＭＳ Ｐゴシック" panose="020B0600070205080204" pitchFamily="34" charset="-128"/>
              </a:rPr>
              <a:t>2 0 0 	        3 2 2  </a:t>
            </a:r>
          </a:p>
          <a:p>
            <a:pPr>
              <a:buNone/>
              <a:tabLst>
                <a:tab pos="1371600" algn="l"/>
                <a:tab pos="2395538" algn="ctr"/>
                <a:tab pos="3594100" algn="ctr"/>
                <a:tab pos="4805363"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2</a:t>
            </a:r>
            <a:r>
              <a:rPr lang="en-US" sz="1800">
                <a:ea typeface="ＭＳ Ｐゴシック" panose="020B0600070205080204" pitchFamily="34" charset="-128"/>
              </a:rPr>
              <a:t>	3 0 2 	        9 0 2</a:t>
            </a:r>
          </a:p>
          <a:p>
            <a:pPr>
              <a:buNone/>
              <a:tabLst>
                <a:tab pos="1371600" algn="l"/>
                <a:tab pos="2395538" algn="ctr"/>
                <a:tab pos="3594100" algn="ctr"/>
                <a:tab pos="4805363"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3</a:t>
            </a:r>
            <a:r>
              <a:rPr lang="en-US" sz="1800">
                <a:ea typeface="ＭＳ Ｐゴシック" panose="020B0600070205080204" pitchFamily="34" charset="-128"/>
              </a:rPr>
              <a:t>	2 1 1 	        2 2 2</a:t>
            </a:r>
          </a:p>
          <a:p>
            <a:pPr>
              <a:buNone/>
              <a:tabLst>
                <a:tab pos="1371600" algn="l"/>
                <a:tab pos="2395538" algn="ctr"/>
                <a:tab pos="3594100" algn="ctr"/>
                <a:tab pos="4805363"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4</a:t>
            </a:r>
            <a:r>
              <a:rPr lang="en-US" sz="1800">
                <a:ea typeface="ＭＳ Ｐゴシック" panose="020B0600070205080204" pitchFamily="34" charset="-128"/>
              </a:rPr>
              <a:t>	0 0 2	       4 3 3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smtClean="0">
                <a:ea typeface="ＭＳ Ｐゴシック" panose="020B0600070205080204" pitchFamily="34" charset="-128"/>
              </a:rPr>
              <a:t>Example (Cont.)</a:t>
            </a:r>
          </a:p>
        </p:txBody>
      </p:sp>
      <p:sp>
        <p:nvSpPr>
          <p:cNvPr id="33795" name="Rectangle 3"/>
          <p:cNvSpPr>
            <a:spLocks noGrp="1" noChangeArrowheads="1"/>
          </p:cNvSpPr>
          <p:nvPr>
            <p:ph type="body" idx="1"/>
          </p:nvPr>
        </p:nvSpPr>
        <p:spPr>
          <a:xfrm>
            <a:off x="2392364" y="1293813"/>
            <a:ext cx="7724775" cy="4640262"/>
          </a:xfrm>
        </p:spPr>
        <p:txBody>
          <a:bodyPr/>
          <a:lstStyle/>
          <a:p>
            <a:pPr>
              <a:tabLst>
                <a:tab pos="2452688" algn="l"/>
                <a:tab pos="3492500" algn="ctr"/>
              </a:tabLst>
            </a:pPr>
            <a:r>
              <a:rPr lang="en-US" sz="1800">
                <a:ea typeface="ＭＳ Ｐゴシック" panose="020B0600070205080204" pitchFamily="34" charset="-128"/>
              </a:rPr>
              <a:t>The content of the matrix </a:t>
            </a:r>
            <a:r>
              <a:rPr lang="en-US" sz="1800" i="1">
                <a:ea typeface="ＭＳ Ｐゴシック" panose="020B0600070205080204" pitchFamily="34" charset="-128"/>
              </a:rPr>
              <a:t>Need</a:t>
            </a:r>
            <a:r>
              <a:rPr lang="en-US" sz="1800">
                <a:ea typeface="ＭＳ Ｐゴシック" panose="020B0600070205080204" pitchFamily="34" charset="-128"/>
              </a:rPr>
              <a:t> is defined to be </a:t>
            </a:r>
            <a:r>
              <a:rPr lang="en-US" sz="1800" i="1">
                <a:ea typeface="ＭＳ Ｐゴシック" panose="020B0600070205080204" pitchFamily="34" charset="-128"/>
              </a:rPr>
              <a:t>Max</a:t>
            </a:r>
            <a:r>
              <a:rPr lang="en-US" sz="1800">
                <a:ea typeface="ＭＳ Ｐゴシック" panose="020B0600070205080204" pitchFamily="34" charset="-128"/>
              </a:rPr>
              <a:t> – </a:t>
            </a:r>
            <a:r>
              <a:rPr lang="en-US" sz="1800" i="1">
                <a:ea typeface="ＭＳ Ｐゴシック" panose="020B0600070205080204" pitchFamily="34" charset="-128"/>
              </a:rPr>
              <a:t>Allocation</a:t>
            </a:r>
            <a:endParaRPr lang="en-US" sz="1800">
              <a:ea typeface="ＭＳ Ｐゴシック" panose="020B0600070205080204" pitchFamily="34" charset="-128"/>
            </a:endParaRPr>
          </a:p>
          <a:p>
            <a:pPr>
              <a:buNone/>
              <a:tabLst>
                <a:tab pos="2452688" algn="l"/>
                <a:tab pos="3492500" algn="ctr"/>
              </a:tabLst>
            </a:pPr>
            <a:endParaRPr lang="en-US" sz="1800">
              <a:ea typeface="ＭＳ Ｐゴシック" panose="020B0600070205080204" pitchFamily="34" charset="-128"/>
            </a:endParaRPr>
          </a:p>
          <a:p>
            <a:pPr>
              <a:buNone/>
              <a:tabLst>
                <a:tab pos="2452688" algn="l"/>
                <a:tab pos="3492500" algn="ctr"/>
              </a:tabLst>
            </a:pPr>
            <a:r>
              <a:rPr lang="en-US" sz="1800">
                <a:ea typeface="ＭＳ Ｐゴシック" panose="020B0600070205080204" pitchFamily="34" charset="-128"/>
              </a:rPr>
              <a:t>			</a:t>
            </a:r>
            <a:r>
              <a:rPr lang="en-US" sz="1800" i="1" u="sng">
                <a:ea typeface="ＭＳ Ｐゴシック" panose="020B0600070205080204" pitchFamily="34" charset="-128"/>
              </a:rPr>
              <a:t>Need</a:t>
            </a:r>
            <a:endParaRPr lang="en-US" sz="1800" u="sng">
              <a:ea typeface="ＭＳ Ｐゴシック" panose="020B0600070205080204" pitchFamily="34" charset="-128"/>
            </a:endParaRPr>
          </a:p>
          <a:p>
            <a:pPr>
              <a:buNone/>
              <a:tabLst>
                <a:tab pos="2452688" algn="l"/>
                <a:tab pos="3492500" algn="ctr"/>
              </a:tabLst>
            </a:pPr>
            <a:r>
              <a:rPr lang="en-US" sz="1800">
                <a:ea typeface="ＭＳ Ｐゴシック" panose="020B0600070205080204" pitchFamily="34" charset="-128"/>
              </a:rPr>
              <a:t>			</a:t>
            </a:r>
            <a:r>
              <a:rPr lang="en-US" sz="1800" i="1">
                <a:ea typeface="ＭＳ Ｐゴシック" panose="020B0600070205080204" pitchFamily="34" charset="-128"/>
              </a:rPr>
              <a:t>A B C</a:t>
            </a:r>
          </a:p>
          <a:p>
            <a:pPr>
              <a:buNone/>
              <a:tabLst>
                <a:tab pos="2452688" algn="l"/>
                <a:tab pos="3492500"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0	</a:t>
            </a:r>
            <a:r>
              <a:rPr lang="en-US" sz="1800">
                <a:ea typeface="ＭＳ Ｐゴシック" panose="020B0600070205080204" pitchFamily="34" charset="-128"/>
              </a:rPr>
              <a:t>7 4 3 </a:t>
            </a:r>
          </a:p>
          <a:p>
            <a:pPr>
              <a:buNone/>
              <a:tabLst>
                <a:tab pos="2452688" algn="l"/>
                <a:tab pos="3492500"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1	</a:t>
            </a:r>
            <a:r>
              <a:rPr lang="en-US" sz="1800">
                <a:ea typeface="ＭＳ Ｐゴシック" panose="020B0600070205080204" pitchFamily="34" charset="-128"/>
              </a:rPr>
              <a:t>1 2 2 </a:t>
            </a:r>
          </a:p>
          <a:p>
            <a:pPr>
              <a:buNone/>
              <a:tabLst>
                <a:tab pos="2452688" algn="l"/>
                <a:tab pos="3492500"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2</a:t>
            </a:r>
            <a:r>
              <a:rPr lang="en-US" sz="1800">
                <a:ea typeface="ＭＳ Ｐゴシック" panose="020B0600070205080204" pitchFamily="34" charset="-128"/>
              </a:rPr>
              <a:t>	6 0 0 </a:t>
            </a:r>
          </a:p>
          <a:p>
            <a:pPr>
              <a:buNone/>
              <a:tabLst>
                <a:tab pos="2452688" algn="l"/>
                <a:tab pos="3492500"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3</a:t>
            </a:r>
            <a:r>
              <a:rPr lang="en-US" sz="1800">
                <a:ea typeface="ＭＳ Ｐゴシック" panose="020B0600070205080204" pitchFamily="34" charset="-128"/>
              </a:rPr>
              <a:t>	0 1 1</a:t>
            </a:r>
          </a:p>
          <a:p>
            <a:pPr>
              <a:buNone/>
              <a:tabLst>
                <a:tab pos="2452688" algn="l"/>
                <a:tab pos="3492500"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4</a:t>
            </a:r>
            <a:r>
              <a:rPr lang="en-US" sz="1800">
                <a:ea typeface="ＭＳ Ｐゴシック" panose="020B0600070205080204" pitchFamily="34" charset="-128"/>
              </a:rPr>
              <a:t>	4 3 1 </a:t>
            </a:r>
            <a:br>
              <a:rPr lang="en-US" sz="1800">
                <a:ea typeface="ＭＳ Ｐゴシック" panose="020B0600070205080204" pitchFamily="34" charset="-128"/>
              </a:rPr>
            </a:br>
            <a:endParaRPr lang="en-US" sz="1800">
              <a:ea typeface="ＭＳ Ｐゴシック" panose="020B0600070205080204" pitchFamily="34" charset="-128"/>
            </a:endParaRPr>
          </a:p>
          <a:p>
            <a:pPr>
              <a:tabLst>
                <a:tab pos="2452688" algn="l"/>
                <a:tab pos="3492500" algn="ctr"/>
              </a:tabLst>
            </a:pPr>
            <a:r>
              <a:rPr lang="en-US" sz="1800">
                <a:ea typeface="ＭＳ Ｐゴシック" panose="020B0600070205080204" pitchFamily="34" charset="-128"/>
              </a:rPr>
              <a:t>The system is in a safe state since the sequence &lt; </a:t>
            </a:r>
            <a:r>
              <a:rPr lang="en-US" sz="1800" i="1">
                <a:ea typeface="ＭＳ Ｐゴシック" panose="020B0600070205080204" pitchFamily="34" charset="-128"/>
              </a:rPr>
              <a:t>P</a:t>
            </a:r>
            <a:r>
              <a:rPr lang="en-US" sz="1800" baseline="-25000">
                <a:ea typeface="ＭＳ Ｐゴシック" panose="020B0600070205080204" pitchFamily="34" charset="-128"/>
              </a:rPr>
              <a:t>1</a:t>
            </a: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3</a:t>
            </a: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4</a:t>
            </a: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2</a:t>
            </a: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0</a:t>
            </a:r>
            <a:r>
              <a:rPr lang="en-US" sz="1800">
                <a:ea typeface="ＭＳ Ｐゴシック" panose="020B0600070205080204" pitchFamily="34" charset="-128"/>
              </a:rPr>
              <a:t>&gt; satisfies safety criteria</a:t>
            </a:r>
            <a:endParaRPr lang="en-US" sz="1800" baseline="-25000">
              <a:ea typeface="ＭＳ Ｐゴシック" panose="020B0600070205080204" pitchFamily="34" charset="-128"/>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smtClean="0">
                <a:ea typeface="ＭＳ Ｐゴシック" panose="020B0600070205080204" pitchFamily="34" charset="-128"/>
              </a:rPr>
              <a:t>Example:  </a:t>
            </a:r>
            <a:r>
              <a:rPr lang="en-US" i="1" smtClean="0">
                <a:ea typeface="ＭＳ Ｐゴシック" panose="020B0600070205080204" pitchFamily="34" charset="-128"/>
              </a:rPr>
              <a:t>P</a:t>
            </a:r>
            <a:r>
              <a:rPr lang="en-US" baseline="-25000" smtClean="0">
                <a:ea typeface="ＭＳ Ｐゴシック" panose="020B0600070205080204" pitchFamily="34" charset="-128"/>
              </a:rPr>
              <a:t>1</a:t>
            </a:r>
            <a:r>
              <a:rPr lang="en-US" smtClean="0">
                <a:ea typeface="ＭＳ Ｐゴシック" panose="020B0600070205080204" pitchFamily="34" charset="-128"/>
              </a:rPr>
              <a:t> Request (1,0,2)</a:t>
            </a:r>
          </a:p>
        </p:txBody>
      </p:sp>
      <p:sp>
        <p:nvSpPr>
          <p:cNvPr id="34819" name="Rectangle 3"/>
          <p:cNvSpPr>
            <a:spLocks noGrp="1" noChangeArrowheads="1"/>
          </p:cNvSpPr>
          <p:nvPr>
            <p:ph type="body" idx="1"/>
          </p:nvPr>
        </p:nvSpPr>
        <p:spPr>
          <a:xfrm>
            <a:off x="2357438" y="1292225"/>
            <a:ext cx="7766050" cy="4724400"/>
          </a:xfrm>
        </p:spPr>
        <p:txBody>
          <a:bodyPr/>
          <a:lstStyle/>
          <a:p>
            <a:pPr>
              <a:tabLst>
                <a:tab pos="1544638" algn="l"/>
                <a:tab pos="2452688" algn="ctr"/>
                <a:tab pos="3767138" algn="ctr"/>
                <a:tab pos="5022850" algn="ctr"/>
              </a:tabLst>
            </a:pPr>
            <a:r>
              <a:rPr lang="en-US" sz="1800">
                <a:ea typeface="ＭＳ Ｐゴシック" panose="020B0600070205080204" pitchFamily="34" charset="-128"/>
              </a:rPr>
              <a:t>Check that Request </a:t>
            </a:r>
            <a:r>
              <a:rPr lang="en-US" sz="1800">
                <a:ea typeface="ＭＳ Ｐゴシック" panose="020B0600070205080204" pitchFamily="34" charset="-128"/>
                <a:sym typeface="Symbol" panose="05050102010706020507" pitchFamily="18" charset="2"/>
              </a:rPr>
              <a:t> Available (that is, (1,0,2)  (3,3,2)  true</a:t>
            </a:r>
            <a:endParaRPr lang="en-US" sz="1800" i="1">
              <a:ea typeface="ＭＳ Ｐゴシック" panose="020B0600070205080204" pitchFamily="34" charset="-128"/>
              <a:sym typeface="Symbol" panose="05050102010706020507" pitchFamily="18" charset="2"/>
            </a:endParaRPr>
          </a:p>
          <a:p>
            <a:pPr>
              <a:buNone/>
              <a:tabLst>
                <a:tab pos="1544638" algn="l"/>
                <a:tab pos="2452688" algn="ctr"/>
                <a:tab pos="3767138" algn="ctr"/>
                <a:tab pos="5022850" algn="ctr"/>
              </a:tabLst>
            </a:pPr>
            <a:r>
              <a:rPr lang="en-US" sz="1800" i="1">
                <a:ea typeface="ＭＳ Ｐゴシック" panose="020B0600070205080204" pitchFamily="34" charset="-128"/>
              </a:rPr>
              <a:t>			</a:t>
            </a:r>
            <a:r>
              <a:rPr lang="en-US" sz="1800" i="1" u="sng">
                <a:ea typeface="ＭＳ Ｐゴシック" panose="020B0600070205080204" pitchFamily="34" charset="-128"/>
              </a:rPr>
              <a:t>Allocation</a:t>
            </a:r>
            <a:r>
              <a:rPr lang="en-US" sz="1800" i="1">
                <a:ea typeface="ＭＳ Ｐゴシック" panose="020B0600070205080204" pitchFamily="34" charset="-128"/>
              </a:rPr>
              <a:t>	</a:t>
            </a:r>
            <a:r>
              <a:rPr lang="en-US" sz="1800" i="1" u="sng">
                <a:ea typeface="ＭＳ Ｐゴシック" panose="020B0600070205080204" pitchFamily="34" charset="-128"/>
              </a:rPr>
              <a:t>Need</a:t>
            </a:r>
            <a:r>
              <a:rPr lang="en-US" sz="1800" i="1">
                <a:ea typeface="ＭＳ Ｐゴシック" panose="020B0600070205080204" pitchFamily="34" charset="-128"/>
              </a:rPr>
              <a:t>	</a:t>
            </a:r>
            <a:r>
              <a:rPr lang="en-US" sz="1800" i="1" u="sng">
                <a:ea typeface="ＭＳ Ｐゴシック" panose="020B0600070205080204" pitchFamily="34" charset="-128"/>
              </a:rPr>
              <a:t>Available</a:t>
            </a:r>
            <a:endParaRPr lang="en-US" sz="1800" i="1">
              <a:ea typeface="ＭＳ Ｐゴシック" panose="020B0600070205080204" pitchFamily="34" charset="-128"/>
            </a:endParaRPr>
          </a:p>
          <a:p>
            <a:pPr>
              <a:buNone/>
              <a:tabLst>
                <a:tab pos="1544638" algn="l"/>
                <a:tab pos="2452688" algn="ctr"/>
                <a:tab pos="3767138" algn="ctr"/>
                <a:tab pos="5022850" algn="ctr"/>
              </a:tabLst>
            </a:pPr>
            <a:r>
              <a:rPr lang="en-US" sz="1800" i="1">
                <a:ea typeface="ＭＳ Ｐゴシック" panose="020B0600070205080204" pitchFamily="34" charset="-128"/>
              </a:rPr>
              <a:t>			          A B C           A B C	A B C </a:t>
            </a:r>
          </a:p>
          <a:p>
            <a:pPr>
              <a:buNone/>
              <a:tabLst>
                <a:tab pos="1544638" algn="l"/>
                <a:tab pos="2452688" algn="ctr"/>
                <a:tab pos="3767138" algn="ctr"/>
                <a:tab pos="5022850"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0</a:t>
            </a:r>
            <a:r>
              <a:rPr lang="en-US" sz="1800">
                <a:ea typeface="ＭＳ Ｐゴシック" panose="020B0600070205080204" pitchFamily="34" charset="-128"/>
              </a:rPr>
              <a:t>	0 1 0 	7 4 3 	2 3 0</a:t>
            </a:r>
          </a:p>
          <a:p>
            <a:pPr>
              <a:buNone/>
              <a:tabLst>
                <a:tab pos="1544638" algn="l"/>
                <a:tab pos="2452688" algn="ctr"/>
                <a:tab pos="3767138" algn="ctr"/>
                <a:tab pos="5022850"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1          </a:t>
            </a:r>
            <a:r>
              <a:rPr lang="en-US" sz="1800">
                <a:ea typeface="ＭＳ Ｐゴシック" panose="020B0600070205080204" pitchFamily="34" charset="-128"/>
              </a:rPr>
              <a:t>	3 0 2             0 2 0 	</a:t>
            </a:r>
          </a:p>
          <a:p>
            <a:pPr>
              <a:buNone/>
              <a:tabLst>
                <a:tab pos="1544638" algn="l"/>
                <a:tab pos="2452688" algn="ctr"/>
                <a:tab pos="3767138" algn="ctr"/>
                <a:tab pos="5022850"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2</a:t>
            </a:r>
            <a:r>
              <a:rPr lang="en-US" sz="1800">
                <a:ea typeface="ＭＳ Ｐゴシック" panose="020B0600070205080204" pitchFamily="34" charset="-128"/>
              </a:rPr>
              <a:t>	3 0 1 	  6 0 0 </a:t>
            </a:r>
          </a:p>
          <a:p>
            <a:pPr>
              <a:buNone/>
              <a:tabLst>
                <a:tab pos="1544638" algn="l"/>
                <a:tab pos="2452688" algn="ctr"/>
                <a:tab pos="3767138" algn="ctr"/>
                <a:tab pos="5022850"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3</a:t>
            </a:r>
            <a:r>
              <a:rPr lang="en-US" sz="1800">
                <a:ea typeface="ＭＳ Ｐゴシック" panose="020B0600070205080204" pitchFamily="34" charset="-128"/>
              </a:rPr>
              <a:t>	2 1 1 	   0 1 1</a:t>
            </a:r>
          </a:p>
          <a:p>
            <a:pPr>
              <a:buNone/>
              <a:tabLst>
                <a:tab pos="1544638" algn="l"/>
                <a:tab pos="2452688" algn="ctr"/>
                <a:tab pos="3767138" algn="ctr"/>
                <a:tab pos="5022850" algn="ctr"/>
              </a:tabLst>
            </a:pP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4</a:t>
            </a:r>
            <a:r>
              <a:rPr lang="en-US" sz="1800">
                <a:ea typeface="ＭＳ Ｐゴシック" panose="020B0600070205080204" pitchFamily="34" charset="-128"/>
              </a:rPr>
              <a:t>	0 0 2 	   4 3 1 </a:t>
            </a:r>
          </a:p>
          <a:p>
            <a:pPr>
              <a:tabLst>
                <a:tab pos="1544638" algn="l"/>
                <a:tab pos="2452688" algn="ctr"/>
                <a:tab pos="3767138" algn="ctr"/>
                <a:tab pos="5022850" algn="ctr"/>
              </a:tabLst>
            </a:pPr>
            <a:r>
              <a:rPr lang="en-US" sz="1800">
                <a:ea typeface="ＭＳ Ｐゴシック" panose="020B0600070205080204" pitchFamily="34" charset="-128"/>
              </a:rPr>
              <a:t>Executing safety algorithm shows that sequence &lt; </a:t>
            </a:r>
            <a:r>
              <a:rPr lang="en-US" sz="1800" i="1">
                <a:ea typeface="ＭＳ Ｐゴシック" panose="020B0600070205080204" pitchFamily="34" charset="-128"/>
              </a:rPr>
              <a:t>P</a:t>
            </a:r>
            <a:r>
              <a:rPr lang="en-US" sz="1800" baseline="-25000">
                <a:ea typeface="ＭＳ Ｐゴシック" panose="020B0600070205080204" pitchFamily="34" charset="-128"/>
              </a:rPr>
              <a:t>1</a:t>
            </a: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3</a:t>
            </a: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4</a:t>
            </a: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0</a:t>
            </a:r>
            <a:r>
              <a:rPr lang="en-US" sz="1800">
                <a:ea typeface="ＭＳ Ｐゴシック" panose="020B0600070205080204" pitchFamily="34" charset="-128"/>
              </a:rPr>
              <a:t>, </a:t>
            </a:r>
            <a:r>
              <a:rPr lang="en-US" sz="1800" i="1">
                <a:ea typeface="ＭＳ Ｐゴシック" panose="020B0600070205080204" pitchFamily="34" charset="-128"/>
              </a:rPr>
              <a:t>P</a:t>
            </a:r>
            <a:r>
              <a:rPr lang="en-US" sz="1800" baseline="-25000">
                <a:ea typeface="ＭＳ Ｐゴシック" panose="020B0600070205080204" pitchFamily="34" charset="-128"/>
              </a:rPr>
              <a:t>2</a:t>
            </a:r>
            <a:r>
              <a:rPr lang="en-US" sz="1800">
                <a:ea typeface="ＭＳ Ｐゴシック" panose="020B0600070205080204" pitchFamily="34" charset="-128"/>
              </a:rPr>
              <a:t>&gt; satisfies safety requirement</a:t>
            </a:r>
          </a:p>
          <a:p>
            <a:pPr>
              <a:tabLst>
                <a:tab pos="1544638" algn="l"/>
                <a:tab pos="2452688" algn="ctr"/>
                <a:tab pos="3767138" algn="ctr"/>
                <a:tab pos="5022850" algn="ctr"/>
              </a:tabLst>
            </a:pPr>
            <a:r>
              <a:rPr lang="en-US" sz="1800">
                <a:ea typeface="ＭＳ Ｐゴシック" panose="020B0600070205080204" pitchFamily="34" charset="-128"/>
              </a:rPr>
              <a:t>Can request for (3,3,0) by </a:t>
            </a:r>
            <a:r>
              <a:rPr lang="en-US" sz="1800" i="1">
                <a:ea typeface="ＭＳ Ｐゴシック" panose="020B0600070205080204" pitchFamily="34" charset="-128"/>
              </a:rPr>
              <a:t>P</a:t>
            </a:r>
            <a:r>
              <a:rPr lang="en-US" sz="1800" baseline="-25000">
                <a:ea typeface="ＭＳ Ｐゴシック" panose="020B0600070205080204" pitchFamily="34" charset="-128"/>
              </a:rPr>
              <a:t>4</a:t>
            </a:r>
            <a:r>
              <a:rPr lang="en-US" sz="1800">
                <a:ea typeface="ＭＳ Ｐゴシック" panose="020B0600070205080204" pitchFamily="34" charset="-128"/>
              </a:rPr>
              <a:t> be granted?</a:t>
            </a:r>
          </a:p>
          <a:p>
            <a:pPr>
              <a:tabLst>
                <a:tab pos="1544638" algn="l"/>
                <a:tab pos="2452688" algn="ctr"/>
                <a:tab pos="3767138" algn="ctr"/>
                <a:tab pos="5022850" algn="ctr"/>
              </a:tabLst>
            </a:pPr>
            <a:r>
              <a:rPr lang="en-US" sz="1800">
                <a:ea typeface="ＭＳ Ｐゴシック" panose="020B0600070205080204" pitchFamily="34" charset="-128"/>
              </a:rPr>
              <a:t>Can request for (0,2,0) by </a:t>
            </a:r>
            <a:r>
              <a:rPr lang="en-US" sz="1800" i="1">
                <a:ea typeface="ＭＳ Ｐゴシック" panose="020B0600070205080204" pitchFamily="34" charset="-128"/>
              </a:rPr>
              <a:t>P</a:t>
            </a:r>
            <a:r>
              <a:rPr lang="en-US" sz="1800" baseline="-25000">
                <a:ea typeface="ＭＳ Ｐゴシック" panose="020B0600070205080204" pitchFamily="34" charset="-128"/>
              </a:rPr>
              <a:t>0</a:t>
            </a:r>
            <a:r>
              <a:rPr lang="en-US" sz="1800">
                <a:ea typeface="ＭＳ Ｐゴシック" panose="020B0600070205080204" pitchFamily="34" charset="-128"/>
              </a:rPr>
              <a:t> be granted?</a:t>
            </a:r>
          </a:p>
          <a:p>
            <a:pPr>
              <a:buNone/>
              <a:tabLst>
                <a:tab pos="1544638" algn="l"/>
                <a:tab pos="2452688" algn="ctr"/>
                <a:tab pos="3767138" algn="ctr"/>
                <a:tab pos="5022850" algn="ctr"/>
              </a:tabLst>
            </a:pPr>
            <a:endParaRPr lang="en-US" sz="1800">
              <a:ea typeface="ＭＳ Ｐゴシック" panose="020B0600070205080204" pitchFamily="34" charset="-128"/>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46111" y="109182"/>
            <a:ext cx="9404723" cy="641445"/>
          </a:xfrm>
        </p:spPr>
        <p:txBody>
          <a:bodyPr/>
          <a:lstStyle/>
          <a:p>
            <a:pPr eaLnBrk="1" hangingPunct="1"/>
            <a:r>
              <a:rPr lang="en-US" b="1" dirty="0" smtClean="0">
                <a:ea typeface="ＭＳ Ｐゴシック" panose="020B0600070205080204" pitchFamily="34" charset="-128"/>
              </a:rPr>
              <a:t>Deadlock Detection</a:t>
            </a:r>
          </a:p>
        </p:txBody>
      </p:sp>
      <p:sp>
        <p:nvSpPr>
          <p:cNvPr id="35843" name="Rectangle 3"/>
          <p:cNvSpPr>
            <a:spLocks noGrp="1" noChangeArrowheads="1"/>
          </p:cNvSpPr>
          <p:nvPr>
            <p:ph type="body" idx="1"/>
          </p:nvPr>
        </p:nvSpPr>
        <p:spPr>
          <a:xfrm>
            <a:off x="646112" y="750628"/>
            <a:ext cx="9403742" cy="5497772"/>
          </a:xfrm>
        </p:spPr>
        <p:txBody>
          <a:bodyPr/>
          <a:lstStyle/>
          <a:p>
            <a:r>
              <a:rPr lang="en-US" sz="1800" dirty="0">
                <a:ea typeface="ＭＳ Ｐゴシック" panose="020B0600070205080204" pitchFamily="34" charset="-128"/>
              </a:rPr>
              <a:t>Allow system to enter deadlock state </a:t>
            </a:r>
            <a:br>
              <a:rPr lang="en-US" sz="1800" dirty="0">
                <a:ea typeface="ＭＳ Ｐゴシック" panose="020B0600070205080204" pitchFamily="34" charset="-128"/>
              </a:rPr>
            </a:br>
            <a:endParaRPr lang="en-US" sz="1800" dirty="0">
              <a:ea typeface="ＭＳ Ｐゴシック" panose="020B0600070205080204" pitchFamily="34" charset="-128"/>
            </a:endParaRPr>
          </a:p>
          <a:p>
            <a:r>
              <a:rPr lang="en-US" sz="1800" dirty="0">
                <a:ea typeface="ＭＳ Ｐゴシック" panose="020B0600070205080204" pitchFamily="34" charset="-128"/>
              </a:rPr>
              <a:t>Detection algorithm</a:t>
            </a:r>
            <a:br>
              <a:rPr lang="en-US" sz="1800" dirty="0">
                <a:ea typeface="ＭＳ Ｐゴシック" panose="020B0600070205080204" pitchFamily="34" charset="-128"/>
              </a:rPr>
            </a:br>
            <a:endParaRPr lang="en-US" sz="1800" dirty="0">
              <a:ea typeface="ＭＳ Ｐゴシック" panose="020B0600070205080204" pitchFamily="34" charset="-128"/>
            </a:endParaRPr>
          </a:p>
          <a:p>
            <a:r>
              <a:rPr lang="en-US" sz="1800" dirty="0">
                <a:ea typeface="ＭＳ Ｐゴシック" panose="020B0600070205080204" pitchFamily="34" charset="-128"/>
              </a:rPr>
              <a:t>Recovery scheme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354842" y="0"/>
            <a:ext cx="10740788" cy="844550"/>
          </a:xfrm>
        </p:spPr>
        <p:txBody>
          <a:bodyPr/>
          <a:lstStyle/>
          <a:p>
            <a:pPr eaLnBrk="1" hangingPunct="1"/>
            <a:r>
              <a:rPr lang="en-US" b="1" dirty="0" smtClean="0">
                <a:ea typeface="ＭＳ Ｐゴシック" panose="020B0600070205080204" pitchFamily="34" charset="-128"/>
              </a:rPr>
              <a:t>Single Instance of Each Resource Type</a:t>
            </a:r>
          </a:p>
        </p:txBody>
      </p:sp>
      <p:sp>
        <p:nvSpPr>
          <p:cNvPr id="36867" name="Rectangle 3"/>
          <p:cNvSpPr>
            <a:spLocks noGrp="1" noChangeArrowheads="1"/>
          </p:cNvSpPr>
          <p:nvPr>
            <p:ph type="body" idx="1"/>
          </p:nvPr>
        </p:nvSpPr>
        <p:spPr>
          <a:xfrm>
            <a:off x="354842" y="844550"/>
            <a:ext cx="11655188" cy="5556250"/>
          </a:xfrm>
        </p:spPr>
        <p:txBody>
          <a:bodyPr/>
          <a:lstStyle/>
          <a:p>
            <a:r>
              <a:rPr lang="en-US" sz="1800" dirty="0">
                <a:ea typeface="ＭＳ Ｐゴシック" panose="020B0600070205080204" pitchFamily="34" charset="-128"/>
              </a:rPr>
              <a:t>Maintain </a:t>
            </a:r>
            <a:r>
              <a:rPr lang="en-US" sz="1800" i="1" dirty="0">
                <a:ea typeface="ＭＳ Ｐゴシック" panose="020B0600070205080204" pitchFamily="34" charset="-128"/>
              </a:rPr>
              <a:t>wait-for</a:t>
            </a:r>
            <a:r>
              <a:rPr lang="en-US" sz="1800" dirty="0">
                <a:ea typeface="ＭＳ Ｐゴシック" panose="020B0600070205080204" pitchFamily="34" charset="-128"/>
              </a:rPr>
              <a:t> graph</a:t>
            </a:r>
          </a:p>
          <a:p>
            <a:pPr lvl="1"/>
            <a:r>
              <a:rPr lang="en-US" dirty="0">
                <a:ea typeface="ＭＳ Ｐゴシック" panose="020B0600070205080204" pitchFamily="34" charset="-128"/>
              </a:rPr>
              <a:t>Nodes are processes</a:t>
            </a:r>
          </a:p>
          <a:p>
            <a:pPr lvl="1"/>
            <a:r>
              <a:rPr lang="en-US" i="1" dirty="0">
                <a:ea typeface="ＭＳ Ｐゴシック" panose="020B0600070205080204" pitchFamily="34" charset="-128"/>
              </a:rPr>
              <a:t>P</a:t>
            </a:r>
            <a:r>
              <a:rPr lang="en-US" i="1" baseline="-25000" dirty="0">
                <a:ea typeface="ＭＳ Ｐゴシック" panose="020B0600070205080204" pitchFamily="34" charset="-128"/>
              </a:rPr>
              <a:t>i</a:t>
            </a:r>
            <a:r>
              <a:rPr lang="en-US" dirty="0">
                <a:ea typeface="ＭＳ Ｐゴシック" panose="020B0600070205080204" pitchFamily="34" charset="-128"/>
              </a:rPr>
              <a:t> </a:t>
            </a:r>
            <a:r>
              <a:rPr lang="en-US" dirty="0">
                <a:ea typeface="ＭＳ Ｐゴシック" panose="020B0600070205080204" pitchFamily="34" charset="-128"/>
                <a:sym typeface="Symbol" panose="05050102010706020507" pitchFamily="18" charset="2"/>
              </a:rPr>
              <a:t> </a:t>
            </a:r>
            <a:r>
              <a:rPr lang="en-US" i="1" dirty="0" err="1">
                <a:ea typeface="ＭＳ Ｐゴシック" panose="020B0600070205080204" pitchFamily="34" charset="-128"/>
                <a:sym typeface="Symbol" panose="05050102010706020507" pitchFamily="18" charset="2"/>
              </a:rPr>
              <a:t>P</a:t>
            </a:r>
            <a:r>
              <a:rPr lang="en-US" i="1" baseline="-25000" dirty="0" err="1">
                <a:ea typeface="ＭＳ Ｐゴシック" panose="020B0600070205080204" pitchFamily="34" charset="-128"/>
                <a:sym typeface="Symbol" panose="05050102010706020507" pitchFamily="18" charset="2"/>
              </a:rPr>
              <a:t>j</a:t>
            </a:r>
            <a:r>
              <a:rPr lang="en-US" i="1" baseline="-25000" dirty="0">
                <a:ea typeface="ＭＳ Ｐゴシック" panose="020B0600070205080204" pitchFamily="34" charset="-128"/>
                <a:sym typeface="Symbol" panose="05050102010706020507" pitchFamily="18" charset="2"/>
              </a:rPr>
              <a:t>   </a:t>
            </a:r>
            <a:r>
              <a:rPr lang="en-US" dirty="0">
                <a:ea typeface="ＭＳ Ｐゴシック" panose="020B0600070205080204" pitchFamily="34" charset="-128"/>
                <a:sym typeface="Symbol" panose="05050102010706020507" pitchFamily="18" charset="2"/>
              </a:rPr>
              <a:t>if </a:t>
            </a:r>
            <a:r>
              <a:rPr lang="en-US" i="1" dirty="0">
                <a:ea typeface="ＭＳ Ｐゴシック" panose="020B0600070205080204" pitchFamily="34" charset="-128"/>
                <a:sym typeface="Symbol" panose="05050102010706020507" pitchFamily="18" charset="2"/>
              </a:rPr>
              <a:t>P</a:t>
            </a:r>
            <a:r>
              <a:rPr lang="en-US" i="1" baseline="-25000" dirty="0">
                <a:ea typeface="ＭＳ Ｐゴシック" panose="020B0600070205080204" pitchFamily="34" charset="-128"/>
                <a:sym typeface="Symbol" panose="05050102010706020507" pitchFamily="18" charset="2"/>
              </a:rPr>
              <a:t>i</a:t>
            </a:r>
            <a:r>
              <a:rPr lang="en-US" i="1" dirty="0">
                <a:ea typeface="ＭＳ Ｐゴシック" panose="020B0600070205080204" pitchFamily="34" charset="-128"/>
                <a:sym typeface="Symbol" panose="05050102010706020507" pitchFamily="18" charset="2"/>
              </a:rPr>
              <a:t> </a:t>
            </a:r>
            <a:r>
              <a:rPr lang="en-US" dirty="0">
                <a:ea typeface="ＭＳ Ｐゴシック" panose="020B0600070205080204" pitchFamily="34" charset="-128"/>
                <a:sym typeface="Symbol" panose="05050102010706020507" pitchFamily="18" charset="2"/>
              </a:rPr>
              <a:t>is waiting for</a:t>
            </a:r>
            <a:r>
              <a:rPr lang="en-US" i="1" dirty="0">
                <a:ea typeface="ＭＳ Ｐゴシック" panose="020B0600070205080204" pitchFamily="34" charset="-128"/>
                <a:sym typeface="Symbol" panose="05050102010706020507" pitchFamily="18" charset="2"/>
              </a:rPr>
              <a:t> </a:t>
            </a:r>
            <a:r>
              <a:rPr lang="en-US" i="1" dirty="0" err="1" smtClean="0">
                <a:ea typeface="ＭＳ Ｐゴシック" panose="020B0600070205080204" pitchFamily="34" charset="-128"/>
                <a:sym typeface="Symbol" panose="05050102010706020507" pitchFamily="18" charset="2"/>
              </a:rPr>
              <a:t>P</a:t>
            </a:r>
            <a:r>
              <a:rPr lang="en-US" i="1" baseline="-25000" dirty="0" err="1" smtClean="0">
                <a:ea typeface="ＭＳ Ｐゴシック" panose="020B0600070205080204" pitchFamily="34" charset="-128"/>
                <a:sym typeface="Symbol" panose="05050102010706020507" pitchFamily="18" charset="2"/>
              </a:rPr>
              <a:t>j</a:t>
            </a:r>
            <a:endParaRPr lang="en-US" i="1" dirty="0">
              <a:ea typeface="ＭＳ Ｐゴシック" panose="020B0600070205080204" pitchFamily="34" charset="-128"/>
              <a:sym typeface="Symbol" panose="05050102010706020507" pitchFamily="18" charset="2"/>
            </a:endParaRPr>
          </a:p>
          <a:p>
            <a:r>
              <a:rPr lang="en-US" sz="1800" dirty="0">
                <a:ea typeface="ＭＳ Ｐゴシック" panose="020B0600070205080204" pitchFamily="34" charset="-128"/>
              </a:rPr>
              <a:t>Periodically invoke an algorithm that searches for a cycle in the graph. If there is a cycle, there exists a </a:t>
            </a:r>
            <a:r>
              <a:rPr lang="en-US" sz="1800" dirty="0" smtClean="0">
                <a:ea typeface="ＭＳ Ｐゴシック" panose="020B0600070205080204" pitchFamily="34" charset="-128"/>
              </a:rPr>
              <a:t>deadlock</a:t>
            </a:r>
            <a:endParaRPr lang="en-US" sz="1800" dirty="0">
              <a:ea typeface="ＭＳ Ｐゴシック" panose="020B0600070205080204" pitchFamily="34" charset="-128"/>
            </a:endParaRPr>
          </a:p>
          <a:p>
            <a:r>
              <a:rPr lang="en-US" sz="1800" dirty="0">
                <a:ea typeface="ＭＳ Ｐゴシック" panose="020B0600070205080204" pitchFamily="34" charset="-128"/>
              </a:rPr>
              <a:t>An algorithm to detect a cycle in a graph requires an order of</a:t>
            </a:r>
            <a:r>
              <a:rPr lang="en-US" sz="1800" i="1" dirty="0">
                <a:ea typeface="ＭＳ Ｐゴシック" panose="020B0600070205080204" pitchFamily="34" charset="-128"/>
              </a:rPr>
              <a:t> n</a:t>
            </a:r>
            <a:r>
              <a:rPr lang="en-US" sz="1800" baseline="30000" dirty="0">
                <a:ea typeface="ＭＳ Ｐゴシック" panose="020B0600070205080204" pitchFamily="34" charset="-128"/>
              </a:rPr>
              <a:t>2</a:t>
            </a:r>
            <a:r>
              <a:rPr lang="en-US" sz="1800" dirty="0">
                <a:ea typeface="ＭＳ Ｐゴシック" panose="020B0600070205080204" pitchFamily="34" charset="-128"/>
              </a:rPr>
              <a:t> operations, where </a:t>
            </a:r>
            <a:r>
              <a:rPr lang="en-US" sz="1800" i="1" dirty="0">
                <a:ea typeface="ＭＳ Ｐゴシック" panose="020B0600070205080204" pitchFamily="34" charset="-128"/>
              </a:rPr>
              <a:t>n</a:t>
            </a:r>
            <a:r>
              <a:rPr lang="en-US" sz="1800" dirty="0">
                <a:ea typeface="ＭＳ Ｐゴシック" panose="020B0600070205080204" pitchFamily="34" charset="-128"/>
              </a:rPr>
              <a:t> is the number of vertices in the graph</a:t>
            </a:r>
          </a:p>
        </p:txBody>
      </p:sp>
      <p:sp>
        <p:nvSpPr>
          <p:cNvPr id="2" name="Rectangle 1"/>
          <p:cNvSpPr/>
          <p:nvPr/>
        </p:nvSpPr>
        <p:spPr>
          <a:xfrm>
            <a:off x="704654" y="3438009"/>
            <a:ext cx="5477782" cy="369332"/>
          </a:xfrm>
          <a:prstGeom prst="rect">
            <a:avLst/>
          </a:prstGeom>
        </p:spPr>
        <p:txBody>
          <a:bodyPr wrap="none">
            <a:spAutoFit/>
          </a:bodyPr>
          <a:lstStyle/>
          <a:p>
            <a:r>
              <a:rPr lang="en-US" b="1" dirty="0">
                <a:ea typeface="ＭＳ Ｐゴシック" panose="020B0600070205080204" pitchFamily="34" charset="-128"/>
              </a:rPr>
              <a:t>Resource-Allocation Graph and Wait-for Graph</a:t>
            </a:r>
            <a:endParaRPr lang="en-US" b="1" dirty="0"/>
          </a:p>
        </p:txBody>
      </p:sp>
      <p:pic>
        <p:nvPicPr>
          <p:cNvPr id="5"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6184" y="3807341"/>
            <a:ext cx="5053983" cy="215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2571508" y="6031468"/>
            <a:ext cx="2954655" cy="369332"/>
          </a:xfrm>
          <a:prstGeom prst="rect">
            <a:avLst/>
          </a:prstGeom>
        </p:spPr>
        <p:txBody>
          <a:bodyPr wrap="none">
            <a:spAutoFit/>
          </a:bodyPr>
          <a:lstStyle/>
          <a:p>
            <a:pPr algn="ctr">
              <a:spcBef>
                <a:spcPct val="50000"/>
              </a:spcBef>
            </a:pPr>
            <a:r>
              <a:rPr lang="en-US" dirty="0">
                <a:latin typeface="Helvetica" panose="020B0604020202020204" pitchFamily="34" charset="0"/>
              </a:rPr>
              <a:t>Resource-Allocation Graph</a:t>
            </a:r>
            <a:endParaRPr lang="en-US" dirty="0">
              <a:latin typeface="Helvetica" panose="020B0604020202020204" pitchFamily="34" charset="0"/>
            </a:endParaRPr>
          </a:p>
        </p:txBody>
      </p:sp>
      <p:sp>
        <p:nvSpPr>
          <p:cNvPr id="4" name="Rectangle 3"/>
          <p:cNvSpPr/>
          <p:nvPr/>
        </p:nvSpPr>
        <p:spPr>
          <a:xfrm>
            <a:off x="5595433" y="5997770"/>
            <a:ext cx="3172663" cy="369332"/>
          </a:xfrm>
          <a:prstGeom prst="rect">
            <a:avLst/>
          </a:prstGeom>
        </p:spPr>
        <p:txBody>
          <a:bodyPr wrap="none">
            <a:spAutoFit/>
          </a:bodyPr>
          <a:lstStyle/>
          <a:p>
            <a:pPr algn="ctr">
              <a:spcBef>
                <a:spcPct val="50000"/>
              </a:spcBef>
            </a:pPr>
            <a:r>
              <a:rPr lang="en-US" dirty="0">
                <a:latin typeface="Helvetica" panose="020B0604020202020204" pitchFamily="34" charset="0"/>
              </a:rPr>
              <a:t>Corresponding wait-for graph</a:t>
            </a:r>
            <a:endParaRPr lang="en-US" dirty="0">
              <a:latin typeface="Helvetica" panose="020B0604020202020204" pitchFamily="34" charset="0"/>
            </a:endParaRPr>
          </a:p>
        </p:txBody>
      </p:sp>
    </p:spTree>
    <p:extLst>
      <p:ext uri="{BB962C8B-B14F-4D97-AF65-F5344CB8AC3E}">
        <p14:creationId xmlns:p14="http://schemas.microsoft.com/office/powerpoint/2010/main" val="36737327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1069" y="-1"/>
            <a:ext cx="10276906" cy="758825"/>
          </a:xfrm>
        </p:spPr>
        <p:txBody>
          <a:bodyPr/>
          <a:lstStyle/>
          <a:p>
            <a:pPr eaLnBrk="1" hangingPunct="1"/>
            <a:r>
              <a:rPr lang="en-US" b="1" dirty="0" smtClean="0">
                <a:ea typeface="ＭＳ Ｐゴシック" panose="020B0600070205080204" pitchFamily="34" charset="-128"/>
              </a:rPr>
              <a:t>Several Instances of a Resource Type</a:t>
            </a:r>
          </a:p>
        </p:txBody>
      </p:sp>
      <p:sp>
        <p:nvSpPr>
          <p:cNvPr id="38915" name="Rectangle 3"/>
          <p:cNvSpPr>
            <a:spLocks noGrp="1" noChangeArrowheads="1"/>
          </p:cNvSpPr>
          <p:nvPr>
            <p:ph type="body" idx="1"/>
          </p:nvPr>
        </p:nvSpPr>
        <p:spPr>
          <a:xfrm>
            <a:off x="191068" y="758824"/>
            <a:ext cx="12000931" cy="4437065"/>
          </a:xfrm>
        </p:spPr>
        <p:txBody>
          <a:bodyPr/>
          <a:lstStyle/>
          <a:p>
            <a:r>
              <a:rPr lang="en-US" sz="1800" b="1" dirty="0">
                <a:ea typeface="ＭＳ Ｐゴシック" panose="020B0600070205080204" pitchFamily="34" charset="-128"/>
              </a:rPr>
              <a:t>Available</a:t>
            </a:r>
            <a:r>
              <a:rPr lang="en-US" sz="1800" i="1" dirty="0">
                <a:ea typeface="ＭＳ Ｐゴシック" panose="020B0600070205080204" pitchFamily="34" charset="-128"/>
              </a:rPr>
              <a:t>:</a:t>
            </a:r>
            <a:r>
              <a:rPr lang="en-US" sz="1800" dirty="0">
                <a:ea typeface="ＭＳ Ｐゴシック" panose="020B0600070205080204" pitchFamily="34" charset="-128"/>
              </a:rPr>
              <a:t>  A vector of length </a:t>
            </a:r>
            <a:r>
              <a:rPr lang="en-US" sz="1800" i="1" dirty="0">
                <a:ea typeface="ＭＳ Ｐゴシック" panose="020B0600070205080204" pitchFamily="34" charset="-128"/>
              </a:rPr>
              <a:t>m</a:t>
            </a:r>
            <a:r>
              <a:rPr lang="en-US" sz="1800" dirty="0">
                <a:ea typeface="ＭＳ Ｐゴシック" panose="020B0600070205080204" pitchFamily="34" charset="-128"/>
              </a:rPr>
              <a:t> indicates the number of available resources of each type.</a:t>
            </a:r>
            <a:br>
              <a:rPr lang="en-US" sz="1800" dirty="0">
                <a:ea typeface="ＭＳ Ｐゴシック" panose="020B0600070205080204" pitchFamily="34" charset="-128"/>
              </a:rPr>
            </a:br>
            <a:endParaRPr lang="en-US" sz="1800" dirty="0">
              <a:ea typeface="ＭＳ Ｐゴシック" panose="020B0600070205080204" pitchFamily="34" charset="-128"/>
            </a:endParaRPr>
          </a:p>
          <a:p>
            <a:r>
              <a:rPr lang="en-US" sz="1800" b="1" dirty="0">
                <a:ea typeface="ＭＳ Ｐゴシック" panose="020B0600070205080204" pitchFamily="34" charset="-128"/>
              </a:rPr>
              <a:t>Allocation</a:t>
            </a:r>
            <a:r>
              <a:rPr lang="en-US" sz="1800" i="1" dirty="0">
                <a:ea typeface="ＭＳ Ｐゴシック" panose="020B0600070205080204" pitchFamily="34" charset="-128"/>
              </a:rPr>
              <a:t>:</a:t>
            </a:r>
            <a:r>
              <a:rPr lang="en-US" sz="1800" dirty="0">
                <a:ea typeface="ＭＳ Ｐゴシック" panose="020B0600070205080204" pitchFamily="34" charset="-128"/>
              </a:rPr>
              <a:t>  An </a:t>
            </a:r>
            <a:r>
              <a:rPr lang="en-US" sz="1800" i="1" dirty="0">
                <a:ea typeface="ＭＳ Ｐゴシック" panose="020B0600070205080204" pitchFamily="34" charset="-128"/>
              </a:rPr>
              <a:t>n </a:t>
            </a:r>
            <a:r>
              <a:rPr lang="en-US" sz="1800" dirty="0">
                <a:ea typeface="ＭＳ Ｐゴシック" panose="020B0600070205080204" pitchFamily="34" charset="-128"/>
              </a:rPr>
              <a:t>x</a:t>
            </a:r>
            <a:r>
              <a:rPr lang="en-US" sz="1800" i="1" dirty="0">
                <a:ea typeface="ＭＳ Ｐゴシック" panose="020B0600070205080204" pitchFamily="34" charset="-128"/>
              </a:rPr>
              <a:t> m</a:t>
            </a:r>
            <a:r>
              <a:rPr lang="en-US" sz="1800" dirty="0">
                <a:ea typeface="ＭＳ Ｐゴシック" panose="020B0600070205080204" pitchFamily="34" charset="-128"/>
              </a:rPr>
              <a:t> matrix defines the number of resources of each type currently allocated to each process.</a:t>
            </a:r>
            <a:br>
              <a:rPr lang="en-US" sz="1800" dirty="0">
                <a:ea typeface="ＭＳ Ｐゴシック" panose="020B0600070205080204" pitchFamily="34" charset="-128"/>
              </a:rPr>
            </a:br>
            <a:endParaRPr lang="en-US" sz="1800" dirty="0">
              <a:ea typeface="ＭＳ Ｐゴシック" panose="020B0600070205080204" pitchFamily="34" charset="-128"/>
            </a:endParaRPr>
          </a:p>
          <a:p>
            <a:r>
              <a:rPr lang="en-US" sz="1800" b="1" dirty="0">
                <a:ea typeface="ＭＳ Ｐゴシック" panose="020B0600070205080204" pitchFamily="34" charset="-128"/>
              </a:rPr>
              <a:t>Request</a:t>
            </a:r>
            <a:r>
              <a:rPr lang="en-US" sz="1800" i="1" dirty="0">
                <a:ea typeface="ＭＳ Ｐゴシック" panose="020B0600070205080204" pitchFamily="34" charset="-128"/>
              </a:rPr>
              <a:t>:</a:t>
            </a:r>
            <a:r>
              <a:rPr lang="en-US" sz="1800" dirty="0">
                <a:ea typeface="ＭＳ Ｐゴシック" panose="020B0600070205080204" pitchFamily="34" charset="-128"/>
              </a:rPr>
              <a:t>  An </a:t>
            </a:r>
            <a:r>
              <a:rPr lang="en-US" sz="1800" i="1" dirty="0">
                <a:ea typeface="ＭＳ Ｐゴシック" panose="020B0600070205080204" pitchFamily="34" charset="-128"/>
              </a:rPr>
              <a:t>n </a:t>
            </a:r>
            <a:r>
              <a:rPr lang="en-US" sz="1800" dirty="0">
                <a:ea typeface="ＭＳ Ｐゴシック" panose="020B0600070205080204" pitchFamily="34" charset="-128"/>
              </a:rPr>
              <a:t>x</a:t>
            </a:r>
            <a:r>
              <a:rPr lang="en-US" sz="1800" i="1" dirty="0">
                <a:ea typeface="ＭＳ Ｐゴシック" panose="020B0600070205080204" pitchFamily="34" charset="-128"/>
              </a:rPr>
              <a:t> m</a:t>
            </a:r>
            <a:r>
              <a:rPr lang="en-US" sz="1800" dirty="0">
                <a:ea typeface="ＭＳ Ｐゴシック" panose="020B0600070205080204" pitchFamily="34" charset="-128"/>
              </a:rPr>
              <a:t> matrix indicates the current request  of each process.  If </a:t>
            </a:r>
            <a:r>
              <a:rPr lang="en-US" sz="1800" i="1" dirty="0">
                <a:ea typeface="ＭＳ Ｐゴシック" panose="020B0600070205080204" pitchFamily="34" charset="-128"/>
              </a:rPr>
              <a:t>Request </a:t>
            </a:r>
            <a:r>
              <a:rPr lang="en-US" sz="1800" dirty="0">
                <a:ea typeface="ＭＳ Ｐゴシック" panose="020B0600070205080204" pitchFamily="34" charset="-128"/>
              </a:rPr>
              <a:t>[</a:t>
            </a:r>
            <a:r>
              <a:rPr lang="en-US" sz="1800" i="1" dirty="0" err="1">
                <a:ea typeface="ＭＳ Ｐゴシック" panose="020B0600070205080204" pitchFamily="34" charset="-128"/>
              </a:rPr>
              <a:t>i</a:t>
            </a:r>
            <a:r>
              <a:rPr lang="en-US" sz="1800" i="1" baseline="-25000" dirty="0" err="1">
                <a:ea typeface="ＭＳ Ｐゴシック" panose="020B0600070205080204" pitchFamily="34" charset="-128"/>
              </a:rPr>
              <a:t>j</a:t>
            </a:r>
            <a:r>
              <a:rPr lang="en-US" sz="1800" dirty="0">
                <a:ea typeface="ＭＳ Ｐゴシック" panose="020B0600070205080204" pitchFamily="34" charset="-128"/>
              </a:rPr>
              <a:t>] = </a:t>
            </a:r>
            <a:r>
              <a:rPr lang="en-US" sz="1800" i="1" dirty="0">
                <a:ea typeface="ＭＳ Ｐゴシック" panose="020B0600070205080204" pitchFamily="34" charset="-128"/>
              </a:rPr>
              <a:t>k</a:t>
            </a:r>
            <a:r>
              <a:rPr lang="en-US" sz="1800" dirty="0">
                <a:ea typeface="ＭＳ Ｐゴシック" panose="020B0600070205080204" pitchFamily="34" charset="-128"/>
              </a:rPr>
              <a:t>, then process</a:t>
            </a:r>
            <a:r>
              <a:rPr lang="en-US" sz="1800" i="1" dirty="0">
                <a:ea typeface="ＭＳ Ｐゴシック" panose="020B0600070205080204" pitchFamily="34" charset="-128"/>
              </a:rPr>
              <a:t> P</a:t>
            </a:r>
            <a:r>
              <a:rPr lang="en-US" sz="1800" i="1" baseline="-25000" dirty="0">
                <a:ea typeface="ＭＳ Ｐゴシック" panose="020B0600070205080204" pitchFamily="34" charset="-128"/>
              </a:rPr>
              <a:t>i</a:t>
            </a:r>
            <a:r>
              <a:rPr lang="en-US" sz="1800" dirty="0">
                <a:ea typeface="ＭＳ Ｐゴシック" panose="020B0600070205080204" pitchFamily="34" charset="-128"/>
              </a:rPr>
              <a:t> is requesting</a:t>
            </a:r>
            <a:r>
              <a:rPr lang="en-US" sz="1800" i="1" dirty="0">
                <a:ea typeface="ＭＳ Ｐゴシック" panose="020B0600070205080204" pitchFamily="34" charset="-128"/>
              </a:rPr>
              <a:t> k</a:t>
            </a:r>
            <a:r>
              <a:rPr lang="en-US" sz="1800" dirty="0">
                <a:ea typeface="ＭＳ Ｐゴシック" panose="020B0600070205080204" pitchFamily="34" charset="-128"/>
              </a:rPr>
              <a:t> more instances of resource type. </a:t>
            </a:r>
            <a:r>
              <a:rPr lang="en-US" sz="1800" i="1" dirty="0" err="1">
                <a:ea typeface="ＭＳ Ｐゴシック" panose="020B0600070205080204" pitchFamily="34" charset="-128"/>
              </a:rPr>
              <a:t>R</a:t>
            </a:r>
            <a:r>
              <a:rPr lang="en-US" sz="1800" i="1" baseline="-25000" dirty="0" err="1">
                <a:ea typeface="ＭＳ Ｐゴシック" panose="020B0600070205080204" pitchFamily="34" charset="-128"/>
              </a:rPr>
              <a:t>j</a:t>
            </a:r>
            <a:r>
              <a:rPr lang="en-US" sz="1800" dirty="0">
                <a:ea typeface="ＭＳ Ｐゴシック" panose="020B0600070205080204" pitchFamily="34" charset="-128"/>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46111" y="0"/>
            <a:ext cx="9404723" cy="873457"/>
          </a:xfrm>
        </p:spPr>
        <p:txBody>
          <a:bodyPr/>
          <a:lstStyle/>
          <a:p>
            <a:pPr eaLnBrk="1" hangingPunct="1"/>
            <a:r>
              <a:rPr lang="en-US" b="1" dirty="0" smtClean="0">
                <a:ea typeface="ＭＳ Ｐゴシック" panose="020B0600070205080204" pitchFamily="34" charset="-128"/>
              </a:rPr>
              <a:t>Detection Algorithm</a:t>
            </a:r>
          </a:p>
        </p:txBody>
      </p:sp>
      <p:sp>
        <p:nvSpPr>
          <p:cNvPr id="39939" name="Rectangle 3"/>
          <p:cNvSpPr>
            <a:spLocks noGrp="1" noChangeArrowheads="1"/>
          </p:cNvSpPr>
          <p:nvPr>
            <p:ph type="body" idx="1"/>
          </p:nvPr>
        </p:nvSpPr>
        <p:spPr>
          <a:xfrm>
            <a:off x="646112" y="873458"/>
            <a:ext cx="11022724" cy="5984542"/>
          </a:xfrm>
        </p:spPr>
        <p:txBody>
          <a:bodyPr/>
          <a:lstStyle/>
          <a:p>
            <a:pPr>
              <a:buFont typeface="Monotype Sorts" charset="2"/>
              <a:buNone/>
            </a:pPr>
            <a:r>
              <a:rPr lang="en-US" sz="1800" dirty="0">
                <a:ea typeface="ＭＳ Ｐゴシック" panose="020B0600070205080204" pitchFamily="34" charset="-128"/>
              </a:rPr>
              <a:t>1.	Let </a:t>
            </a:r>
            <a:r>
              <a:rPr lang="en-US" sz="1800" i="1" dirty="0">
                <a:ea typeface="ＭＳ Ｐゴシック" panose="020B0600070205080204" pitchFamily="34" charset="-128"/>
              </a:rPr>
              <a:t>Work</a:t>
            </a:r>
            <a:r>
              <a:rPr lang="en-US" sz="1800" dirty="0">
                <a:ea typeface="ＭＳ Ｐゴシック" panose="020B0600070205080204" pitchFamily="34" charset="-128"/>
              </a:rPr>
              <a:t> and </a:t>
            </a:r>
            <a:r>
              <a:rPr lang="en-US" sz="1800" i="1" dirty="0">
                <a:ea typeface="ＭＳ Ｐゴシック" panose="020B0600070205080204" pitchFamily="34" charset="-128"/>
              </a:rPr>
              <a:t>Finish</a:t>
            </a:r>
            <a:r>
              <a:rPr lang="en-US" sz="1800" dirty="0">
                <a:ea typeface="ＭＳ Ｐゴシック" panose="020B0600070205080204" pitchFamily="34" charset="-128"/>
              </a:rPr>
              <a:t> be vectors of length </a:t>
            </a:r>
            <a:r>
              <a:rPr lang="en-US" sz="1800" i="1" dirty="0">
                <a:ea typeface="ＭＳ Ｐゴシック" panose="020B0600070205080204" pitchFamily="34" charset="-128"/>
              </a:rPr>
              <a:t>m</a:t>
            </a:r>
            <a:r>
              <a:rPr lang="en-US" sz="1800" dirty="0">
                <a:ea typeface="ＭＳ Ｐゴシック" panose="020B0600070205080204" pitchFamily="34" charset="-128"/>
              </a:rPr>
              <a:t> and </a:t>
            </a:r>
            <a:r>
              <a:rPr lang="en-US" sz="1800" i="1" dirty="0">
                <a:ea typeface="ＭＳ Ｐゴシック" panose="020B0600070205080204" pitchFamily="34" charset="-128"/>
              </a:rPr>
              <a:t>n</a:t>
            </a:r>
            <a:r>
              <a:rPr lang="en-US" sz="1800" dirty="0">
                <a:ea typeface="ＭＳ Ｐゴシック" panose="020B0600070205080204" pitchFamily="34" charset="-128"/>
              </a:rPr>
              <a:t>, respectively Initialize:</a:t>
            </a:r>
          </a:p>
          <a:p>
            <a:pPr marL="850900" lvl="1" indent="-393700">
              <a:buNone/>
            </a:pPr>
            <a:r>
              <a:rPr lang="en-US" dirty="0">
                <a:ea typeface="ＭＳ Ｐゴシック" panose="020B0600070205080204" pitchFamily="34" charset="-128"/>
              </a:rPr>
              <a:t>(a) </a:t>
            </a:r>
            <a:r>
              <a:rPr lang="en-US" i="1" dirty="0">
                <a:ea typeface="ＭＳ Ｐゴシック" panose="020B0600070205080204" pitchFamily="34" charset="-128"/>
              </a:rPr>
              <a:t>Work</a:t>
            </a:r>
            <a:r>
              <a:rPr lang="en-US" dirty="0">
                <a:ea typeface="ＭＳ Ｐゴシック" panose="020B0600070205080204" pitchFamily="34" charset="-128"/>
              </a:rPr>
              <a:t> = </a:t>
            </a:r>
            <a:r>
              <a:rPr lang="en-US" i="1" dirty="0">
                <a:ea typeface="ＭＳ Ｐゴシック" panose="020B0600070205080204" pitchFamily="34" charset="-128"/>
              </a:rPr>
              <a:t>Available</a:t>
            </a:r>
            <a:endParaRPr lang="en-US" dirty="0">
              <a:ea typeface="ＭＳ Ｐゴシック" panose="020B0600070205080204" pitchFamily="34" charset="-128"/>
            </a:endParaRPr>
          </a:p>
          <a:p>
            <a:pPr marL="850900" lvl="1" indent="-393700">
              <a:buNone/>
            </a:pPr>
            <a:r>
              <a:rPr lang="en-US" dirty="0">
                <a:ea typeface="ＭＳ Ｐゴシック" panose="020B0600070205080204" pitchFamily="34" charset="-128"/>
              </a:rPr>
              <a:t>(b)	For </a:t>
            </a:r>
            <a:r>
              <a:rPr lang="en-US" i="1" dirty="0" err="1">
                <a:ea typeface="ＭＳ Ｐゴシック" panose="020B0600070205080204" pitchFamily="34" charset="-128"/>
              </a:rPr>
              <a:t>i</a:t>
            </a:r>
            <a:r>
              <a:rPr lang="en-US" dirty="0">
                <a:ea typeface="ＭＳ Ｐゴシック" panose="020B0600070205080204" pitchFamily="34" charset="-128"/>
              </a:rPr>
              <a:t> = 1,2, …,</a:t>
            </a:r>
            <a:r>
              <a:rPr lang="en-US" i="1" dirty="0">
                <a:ea typeface="ＭＳ Ｐゴシック" panose="020B0600070205080204" pitchFamily="34" charset="-128"/>
              </a:rPr>
              <a:t> n</a:t>
            </a:r>
            <a:r>
              <a:rPr lang="en-US" dirty="0">
                <a:ea typeface="ＭＳ Ｐゴシック" panose="020B0600070205080204" pitchFamily="34" charset="-128"/>
              </a:rPr>
              <a:t>, if </a:t>
            </a:r>
            <a:r>
              <a:rPr lang="en-US" i="1" dirty="0" err="1">
                <a:ea typeface="ＭＳ Ｐゴシック" panose="020B0600070205080204" pitchFamily="34" charset="-128"/>
              </a:rPr>
              <a:t>Allocation</a:t>
            </a:r>
            <a:r>
              <a:rPr lang="en-US" i="1" baseline="-25000" dirty="0" err="1">
                <a:ea typeface="ＭＳ Ｐゴシック" panose="020B0600070205080204" pitchFamily="34" charset="-128"/>
              </a:rPr>
              <a:t>i</a:t>
            </a:r>
            <a:r>
              <a:rPr lang="en-US" dirty="0">
                <a:ea typeface="ＭＳ Ｐゴシック" panose="020B0600070205080204" pitchFamily="34" charset="-128"/>
              </a:rPr>
              <a:t> </a:t>
            </a:r>
            <a:r>
              <a:rPr lang="en-US" dirty="0">
                <a:ea typeface="ＭＳ Ｐゴシック" panose="020B0600070205080204" pitchFamily="34" charset="-128"/>
                <a:sym typeface="Symbol" panose="05050102010706020507" pitchFamily="18" charset="2"/>
              </a:rPr>
              <a:t> 0, then </a:t>
            </a:r>
            <a:br>
              <a:rPr lang="en-US" dirty="0">
                <a:ea typeface="ＭＳ Ｐゴシック" panose="020B0600070205080204" pitchFamily="34" charset="-128"/>
                <a:sym typeface="Symbol" panose="05050102010706020507" pitchFamily="18" charset="2"/>
              </a:rPr>
            </a:br>
            <a:r>
              <a:rPr lang="en-US" i="1" dirty="0">
                <a:ea typeface="ＭＳ Ｐゴシック" panose="020B0600070205080204" pitchFamily="34" charset="-128"/>
                <a:sym typeface="Symbol" panose="05050102010706020507" pitchFamily="18" charset="2"/>
              </a:rPr>
              <a:t>Finish</a:t>
            </a:r>
            <a:r>
              <a:rPr lang="en-US" dirty="0">
                <a:ea typeface="ＭＳ Ｐゴシック" panose="020B0600070205080204" pitchFamily="34" charset="-128"/>
                <a:sym typeface="Symbol" panose="05050102010706020507" pitchFamily="18" charset="2"/>
              </a:rPr>
              <a:t>[</a:t>
            </a:r>
            <a:r>
              <a:rPr lang="en-US" dirty="0" err="1">
                <a:ea typeface="ＭＳ Ｐゴシック" panose="020B0600070205080204" pitchFamily="34" charset="-128"/>
                <a:sym typeface="Symbol" panose="05050102010706020507" pitchFamily="18" charset="2"/>
              </a:rPr>
              <a:t>i</a:t>
            </a:r>
            <a:r>
              <a:rPr lang="en-US" dirty="0">
                <a:ea typeface="ＭＳ Ｐゴシック" panose="020B0600070205080204" pitchFamily="34" charset="-128"/>
                <a:sym typeface="Symbol" panose="05050102010706020507" pitchFamily="18" charset="2"/>
              </a:rPr>
              <a:t>] = </a:t>
            </a:r>
            <a:r>
              <a:rPr lang="en-US" dirty="0" err="1">
                <a:ea typeface="ＭＳ Ｐゴシック" panose="020B0600070205080204" pitchFamily="34" charset="-128"/>
                <a:sym typeface="Symbol" panose="05050102010706020507" pitchFamily="18" charset="2"/>
              </a:rPr>
              <a:t>false;otherwise</a:t>
            </a:r>
            <a:r>
              <a:rPr lang="en-US" dirty="0">
                <a:ea typeface="ＭＳ Ｐゴシック" panose="020B0600070205080204" pitchFamily="34" charset="-128"/>
                <a:sym typeface="Symbol" panose="05050102010706020507" pitchFamily="18" charset="2"/>
              </a:rPr>
              <a:t>, </a:t>
            </a:r>
            <a:r>
              <a:rPr lang="en-US" i="1" dirty="0">
                <a:ea typeface="ＭＳ Ｐゴシック" panose="020B0600070205080204" pitchFamily="34" charset="-128"/>
                <a:sym typeface="Symbol" panose="05050102010706020507" pitchFamily="18" charset="2"/>
              </a:rPr>
              <a:t>Finish</a:t>
            </a:r>
            <a:r>
              <a:rPr lang="en-US" dirty="0">
                <a:ea typeface="ＭＳ Ｐゴシック" panose="020B0600070205080204" pitchFamily="34" charset="-128"/>
                <a:sym typeface="Symbol" panose="05050102010706020507" pitchFamily="18" charset="2"/>
              </a:rPr>
              <a:t>[</a:t>
            </a:r>
            <a:r>
              <a:rPr lang="en-US" dirty="0" err="1">
                <a:ea typeface="ＭＳ Ｐゴシック" panose="020B0600070205080204" pitchFamily="34" charset="-128"/>
                <a:sym typeface="Symbol" panose="05050102010706020507" pitchFamily="18" charset="2"/>
              </a:rPr>
              <a:t>i</a:t>
            </a:r>
            <a:r>
              <a:rPr lang="en-US" dirty="0">
                <a:ea typeface="ＭＳ Ｐゴシック" panose="020B0600070205080204" pitchFamily="34" charset="-128"/>
                <a:sym typeface="Symbol" panose="05050102010706020507" pitchFamily="18" charset="2"/>
              </a:rPr>
              <a:t>] = </a:t>
            </a:r>
            <a:r>
              <a:rPr lang="en-US" i="1" dirty="0">
                <a:ea typeface="ＭＳ Ｐゴシック" panose="020B0600070205080204" pitchFamily="34" charset="-128"/>
                <a:sym typeface="Symbol" panose="05050102010706020507" pitchFamily="18" charset="2"/>
              </a:rPr>
              <a:t>true</a:t>
            </a:r>
            <a:endParaRPr lang="en-US" dirty="0">
              <a:ea typeface="ＭＳ Ｐゴシック" panose="020B0600070205080204" pitchFamily="34" charset="-128"/>
              <a:sym typeface="Symbol" panose="05050102010706020507" pitchFamily="18" charset="2"/>
            </a:endParaRPr>
          </a:p>
          <a:p>
            <a:pPr>
              <a:buFont typeface="Monotype Sorts" charset="2"/>
              <a:buNone/>
            </a:pPr>
            <a:r>
              <a:rPr lang="en-US" sz="1800" dirty="0">
                <a:ea typeface="ＭＳ Ｐゴシック" panose="020B0600070205080204" pitchFamily="34" charset="-128"/>
              </a:rPr>
              <a:t>2.	Find an index </a:t>
            </a:r>
            <a:r>
              <a:rPr lang="en-US" sz="1800" i="1" dirty="0" err="1">
                <a:ea typeface="ＭＳ Ｐゴシック" panose="020B0600070205080204" pitchFamily="34" charset="-128"/>
              </a:rPr>
              <a:t>i</a:t>
            </a:r>
            <a:r>
              <a:rPr lang="en-US" sz="1800" i="1" dirty="0">
                <a:ea typeface="ＭＳ Ｐゴシック" panose="020B0600070205080204" pitchFamily="34" charset="-128"/>
              </a:rPr>
              <a:t> </a:t>
            </a:r>
            <a:r>
              <a:rPr lang="en-US" sz="1800" dirty="0">
                <a:ea typeface="ＭＳ Ｐゴシック" panose="020B0600070205080204" pitchFamily="34" charset="-128"/>
              </a:rPr>
              <a:t>such that both:</a:t>
            </a:r>
          </a:p>
          <a:p>
            <a:pPr marL="850900" lvl="1" indent="-393700">
              <a:buNone/>
            </a:pPr>
            <a:r>
              <a:rPr lang="en-US" dirty="0">
                <a:ea typeface="ＭＳ Ｐゴシック" panose="020B0600070205080204" pitchFamily="34" charset="-128"/>
              </a:rPr>
              <a:t>(a)	</a:t>
            </a:r>
            <a:r>
              <a:rPr lang="en-US" i="1" dirty="0">
                <a:ea typeface="ＭＳ Ｐゴシック" panose="020B0600070205080204" pitchFamily="34" charset="-128"/>
              </a:rPr>
              <a:t>Finish</a:t>
            </a:r>
            <a:r>
              <a:rPr lang="en-US" dirty="0">
                <a:ea typeface="ＭＳ Ｐゴシック" panose="020B0600070205080204" pitchFamily="34" charset="-128"/>
              </a:rPr>
              <a:t>[</a:t>
            </a:r>
            <a:r>
              <a:rPr lang="en-US" i="1" dirty="0" err="1">
                <a:ea typeface="ＭＳ Ｐゴシック" panose="020B0600070205080204" pitchFamily="34" charset="-128"/>
              </a:rPr>
              <a:t>i</a:t>
            </a:r>
            <a:r>
              <a:rPr lang="en-US" dirty="0">
                <a:ea typeface="ＭＳ Ｐゴシック" panose="020B0600070205080204" pitchFamily="34" charset="-128"/>
              </a:rPr>
              <a:t>] == </a:t>
            </a:r>
            <a:r>
              <a:rPr lang="en-US" i="1" dirty="0">
                <a:ea typeface="ＭＳ Ｐゴシック" panose="020B0600070205080204" pitchFamily="34" charset="-128"/>
              </a:rPr>
              <a:t>false</a:t>
            </a:r>
            <a:endParaRPr lang="en-US" dirty="0">
              <a:ea typeface="ＭＳ Ｐゴシック" panose="020B0600070205080204" pitchFamily="34" charset="-128"/>
            </a:endParaRPr>
          </a:p>
          <a:p>
            <a:pPr marL="850900" lvl="1" indent="-393700">
              <a:buNone/>
            </a:pPr>
            <a:r>
              <a:rPr lang="en-US" dirty="0">
                <a:ea typeface="ＭＳ Ｐゴシック" panose="020B0600070205080204" pitchFamily="34" charset="-128"/>
              </a:rPr>
              <a:t>(b)	</a:t>
            </a:r>
            <a:r>
              <a:rPr lang="en-US" i="1" dirty="0" err="1">
                <a:ea typeface="ＭＳ Ｐゴシック" panose="020B0600070205080204" pitchFamily="34" charset="-128"/>
              </a:rPr>
              <a:t>Request</a:t>
            </a:r>
            <a:r>
              <a:rPr lang="en-US" i="1" baseline="-25000" dirty="0" err="1">
                <a:ea typeface="ＭＳ Ｐゴシック" panose="020B0600070205080204" pitchFamily="34" charset="-128"/>
              </a:rPr>
              <a:t>i</a:t>
            </a:r>
            <a:r>
              <a:rPr lang="en-US" dirty="0">
                <a:ea typeface="ＭＳ Ｐゴシック" panose="020B0600070205080204" pitchFamily="34" charset="-128"/>
              </a:rPr>
              <a:t> </a:t>
            </a:r>
            <a:r>
              <a:rPr lang="en-US" dirty="0">
                <a:ea typeface="ＭＳ Ｐゴシック" panose="020B0600070205080204" pitchFamily="34" charset="-128"/>
                <a:sym typeface="Symbol" panose="05050102010706020507" pitchFamily="18" charset="2"/>
              </a:rPr>
              <a:t> </a:t>
            </a:r>
            <a:r>
              <a:rPr lang="en-US" i="1" dirty="0" smtClean="0">
                <a:ea typeface="ＭＳ Ｐゴシック" panose="020B0600070205080204" pitchFamily="34" charset="-128"/>
                <a:sym typeface="Symbol" panose="05050102010706020507" pitchFamily="18" charset="2"/>
              </a:rPr>
              <a:t>Work</a:t>
            </a:r>
            <a:endParaRPr lang="en-US" dirty="0">
              <a:ea typeface="ＭＳ Ｐゴシック" panose="020B0600070205080204" pitchFamily="34" charset="-128"/>
              <a:sym typeface="Symbol" panose="05050102010706020507" pitchFamily="18" charset="2"/>
            </a:endParaRPr>
          </a:p>
          <a:p>
            <a:pPr marL="850900" lvl="1" indent="-393700">
              <a:buNone/>
            </a:pPr>
            <a:r>
              <a:rPr lang="en-US" dirty="0">
                <a:ea typeface="ＭＳ Ｐゴシック" panose="020B0600070205080204" pitchFamily="34" charset="-128"/>
                <a:sym typeface="Symbol" panose="05050102010706020507" pitchFamily="18" charset="2"/>
              </a:rPr>
              <a:t>If no such </a:t>
            </a:r>
            <a:r>
              <a:rPr lang="en-US" i="1" dirty="0" err="1">
                <a:ea typeface="ＭＳ Ｐゴシック" panose="020B0600070205080204" pitchFamily="34" charset="-128"/>
                <a:sym typeface="Symbol" panose="05050102010706020507" pitchFamily="18" charset="2"/>
              </a:rPr>
              <a:t>i</a:t>
            </a:r>
            <a:r>
              <a:rPr lang="en-US" dirty="0">
                <a:ea typeface="ＭＳ Ｐゴシック" panose="020B0600070205080204" pitchFamily="34" charset="-128"/>
                <a:sym typeface="Symbol" panose="05050102010706020507" pitchFamily="18" charset="2"/>
              </a:rPr>
              <a:t> exists, go to step </a:t>
            </a:r>
            <a:r>
              <a:rPr lang="en-US" dirty="0" smtClean="0">
                <a:ea typeface="ＭＳ Ｐゴシック" panose="020B0600070205080204" pitchFamily="34" charset="-128"/>
                <a:sym typeface="Symbol" panose="05050102010706020507" pitchFamily="18" charset="2"/>
              </a:rPr>
              <a:t>4</a:t>
            </a:r>
          </a:p>
          <a:p>
            <a:pPr>
              <a:lnSpc>
                <a:spcPct val="90000"/>
              </a:lnSpc>
              <a:buFont typeface="Monotype Sorts" charset="2"/>
              <a:buNone/>
            </a:pPr>
            <a:r>
              <a:rPr lang="en-US" sz="1800" dirty="0">
                <a:ea typeface="ＭＳ Ｐゴシック" panose="020B0600070205080204" pitchFamily="34" charset="-128"/>
              </a:rPr>
              <a:t>3.	</a:t>
            </a:r>
            <a:r>
              <a:rPr lang="en-US" sz="1800" i="1" dirty="0">
                <a:ea typeface="ＭＳ Ｐゴシック" panose="020B0600070205080204" pitchFamily="34" charset="-128"/>
              </a:rPr>
              <a:t>Work</a:t>
            </a:r>
            <a:r>
              <a:rPr lang="en-US" sz="1800" dirty="0">
                <a:ea typeface="ＭＳ Ｐゴシック" panose="020B0600070205080204" pitchFamily="34" charset="-128"/>
              </a:rPr>
              <a:t> = </a:t>
            </a:r>
            <a:r>
              <a:rPr lang="en-US" sz="1800" i="1" dirty="0">
                <a:ea typeface="ＭＳ Ｐゴシック" panose="020B0600070205080204" pitchFamily="34" charset="-128"/>
              </a:rPr>
              <a:t>Work</a:t>
            </a:r>
            <a:r>
              <a:rPr lang="en-US" sz="1800" dirty="0">
                <a:ea typeface="ＭＳ Ｐゴシック" panose="020B0600070205080204" pitchFamily="34" charset="-128"/>
              </a:rPr>
              <a:t> + </a:t>
            </a:r>
            <a:r>
              <a:rPr lang="en-US" sz="1800" i="1" dirty="0" err="1">
                <a:ea typeface="ＭＳ Ｐゴシック" panose="020B0600070205080204" pitchFamily="34" charset="-128"/>
              </a:rPr>
              <a:t>Allocation</a:t>
            </a:r>
            <a:r>
              <a:rPr lang="en-US" sz="1800" i="1" baseline="-25000" dirty="0" err="1">
                <a:ea typeface="ＭＳ Ｐゴシック" panose="020B0600070205080204" pitchFamily="34" charset="-128"/>
              </a:rPr>
              <a:t>i</a:t>
            </a:r>
            <a:r>
              <a:rPr lang="en-US" sz="1800" dirty="0">
                <a:ea typeface="ＭＳ Ｐゴシック" panose="020B0600070205080204" pitchFamily="34" charset="-128"/>
              </a:rPr>
              <a:t/>
            </a:r>
            <a:br>
              <a:rPr lang="en-US" sz="1800" dirty="0">
                <a:ea typeface="ＭＳ Ｐゴシック" panose="020B0600070205080204" pitchFamily="34" charset="-128"/>
              </a:rPr>
            </a:br>
            <a:r>
              <a:rPr lang="en-US" sz="1800" i="1" dirty="0">
                <a:ea typeface="ＭＳ Ｐゴシック" panose="020B0600070205080204" pitchFamily="34" charset="-128"/>
              </a:rPr>
              <a:t>Finish</a:t>
            </a:r>
            <a:r>
              <a:rPr lang="en-US" sz="1800" dirty="0">
                <a:ea typeface="ＭＳ Ｐゴシック" panose="020B0600070205080204" pitchFamily="34" charset="-128"/>
              </a:rPr>
              <a:t>[</a:t>
            </a:r>
            <a:r>
              <a:rPr lang="en-US" sz="1800" i="1" dirty="0" err="1">
                <a:ea typeface="ＭＳ Ｐゴシック" panose="020B0600070205080204" pitchFamily="34" charset="-128"/>
              </a:rPr>
              <a:t>i</a:t>
            </a:r>
            <a:r>
              <a:rPr lang="en-US" sz="1800" dirty="0">
                <a:ea typeface="ＭＳ Ｐゴシック" panose="020B0600070205080204" pitchFamily="34" charset="-128"/>
              </a:rPr>
              <a:t>] = </a:t>
            </a:r>
            <a:r>
              <a:rPr lang="en-US" sz="1800" i="1" dirty="0">
                <a:ea typeface="ＭＳ Ｐゴシック" panose="020B0600070205080204" pitchFamily="34" charset="-128"/>
              </a:rPr>
              <a:t>true</a:t>
            </a:r>
            <a:r>
              <a:rPr lang="en-US" sz="1800" dirty="0">
                <a:ea typeface="ＭＳ Ｐゴシック" panose="020B0600070205080204" pitchFamily="34" charset="-128"/>
              </a:rPr>
              <a:t/>
            </a:r>
            <a:br>
              <a:rPr lang="en-US" sz="1800" dirty="0">
                <a:ea typeface="ＭＳ Ｐゴシック" panose="020B0600070205080204" pitchFamily="34" charset="-128"/>
              </a:rPr>
            </a:br>
            <a:r>
              <a:rPr lang="en-US" sz="1800" dirty="0">
                <a:ea typeface="ＭＳ Ｐゴシック" panose="020B0600070205080204" pitchFamily="34" charset="-128"/>
              </a:rPr>
              <a:t>go to step 2</a:t>
            </a:r>
            <a:br>
              <a:rPr lang="en-US" sz="1800" dirty="0">
                <a:ea typeface="ＭＳ Ｐゴシック" panose="020B0600070205080204" pitchFamily="34" charset="-128"/>
              </a:rPr>
            </a:br>
            <a:endParaRPr lang="en-US" sz="1800" dirty="0">
              <a:ea typeface="ＭＳ Ｐゴシック" panose="020B0600070205080204" pitchFamily="34" charset="-128"/>
            </a:endParaRPr>
          </a:p>
          <a:p>
            <a:pPr>
              <a:lnSpc>
                <a:spcPct val="90000"/>
              </a:lnSpc>
              <a:buFont typeface="Monotype Sorts" charset="2"/>
              <a:buNone/>
            </a:pPr>
            <a:r>
              <a:rPr lang="en-US" sz="1800" dirty="0">
                <a:ea typeface="ＭＳ Ｐゴシック" panose="020B0600070205080204" pitchFamily="34" charset="-128"/>
              </a:rPr>
              <a:t>4.	If </a:t>
            </a:r>
            <a:r>
              <a:rPr lang="en-US" sz="1800" i="1" dirty="0">
                <a:ea typeface="ＭＳ Ｐゴシック" panose="020B0600070205080204" pitchFamily="34" charset="-128"/>
              </a:rPr>
              <a:t>Finish</a:t>
            </a:r>
            <a:r>
              <a:rPr lang="en-US" sz="1800" dirty="0">
                <a:ea typeface="ＭＳ Ｐゴシック" panose="020B0600070205080204" pitchFamily="34" charset="-128"/>
              </a:rPr>
              <a:t>[</a:t>
            </a:r>
            <a:r>
              <a:rPr lang="en-US" sz="1800" i="1" dirty="0" err="1">
                <a:ea typeface="ＭＳ Ｐゴシック" panose="020B0600070205080204" pitchFamily="34" charset="-128"/>
              </a:rPr>
              <a:t>i</a:t>
            </a:r>
            <a:r>
              <a:rPr lang="en-US" sz="1800" dirty="0">
                <a:ea typeface="ＭＳ Ｐゴシック" panose="020B0600070205080204" pitchFamily="34" charset="-128"/>
              </a:rPr>
              <a:t>] == false, for some </a:t>
            </a:r>
            <a:r>
              <a:rPr lang="en-US" sz="1800" i="1" dirty="0" err="1">
                <a:ea typeface="ＭＳ Ｐゴシック" panose="020B0600070205080204" pitchFamily="34" charset="-128"/>
              </a:rPr>
              <a:t>i</a:t>
            </a:r>
            <a:r>
              <a:rPr lang="en-US" sz="1800" dirty="0">
                <a:ea typeface="ＭＳ Ｐゴシック" panose="020B0600070205080204" pitchFamily="34" charset="-128"/>
              </a:rPr>
              <a:t>, 1 </a:t>
            </a:r>
            <a:r>
              <a:rPr lang="en-US" sz="1800" dirty="0">
                <a:ea typeface="ＭＳ Ｐゴシック" panose="020B0600070205080204" pitchFamily="34" charset="-128"/>
                <a:sym typeface="Symbol" panose="05050102010706020507" pitchFamily="18" charset="2"/>
              </a:rPr>
              <a:t> </a:t>
            </a:r>
            <a:r>
              <a:rPr lang="en-US" sz="1800" i="1" dirty="0" err="1">
                <a:ea typeface="ＭＳ Ｐゴシック" panose="020B0600070205080204" pitchFamily="34" charset="-128"/>
                <a:sym typeface="Symbol" panose="05050102010706020507" pitchFamily="18" charset="2"/>
              </a:rPr>
              <a:t>i</a:t>
            </a:r>
            <a:r>
              <a:rPr lang="en-US" sz="1800" dirty="0">
                <a:ea typeface="ＭＳ Ｐゴシック" panose="020B0600070205080204" pitchFamily="34" charset="-128"/>
                <a:sym typeface="Symbol" panose="05050102010706020507" pitchFamily="18" charset="2"/>
              </a:rPr>
              <a:t>   </a:t>
            </a:r>
            <a:r>
              <a:rPr lang="en-US" sz="1800" i="1" dirty="0">
                <a:ea typeface="ＭＳ Ｐゴシック" panose="020B0600070205080204" pitchFamily="34" charset="-128"/>
                <a:sym typeface="Symbol" panose="05050102010706020507" pitchFamily="18" charset="2"/>
              </a:rPr>
              <a:t>n</a:t>
            </a:r>
            <a:r>
              <a:rPr lang="en-US" sz="1800" dirty="0">
                <a:ea typeface="ＭＳ Ｐゴシック" panose="020B0600070205080204" pitchFamily="34" charset="-128"/>
                <a:sym typeface="Symbol" panose="05050102010706020507" pitchFamily="18" charset="2"/>
              </a:rPr>
              <a:t>, then the system is in deadlock state. Moreover, if </a:t>
            </a:r>
            <a:r>
              <a:rPr lang="en-US" sz="1800" i="1" dirty="0">
                <a:ea typeface="ＭＳ Ｐゴシック" panose="020B0600070205080204" pitchFamily="34" charset="-128"/>
                <a:sym typeface="Symbol" panose="05050102010706020507" pitchFamily="18" charset="2"/>
              </a:rPr>
              <a:t>Finish</a:t>
            </a:r>
            <a:r>
              <a:rPr lang="en-US" sz="1800" dirty="0">
                <a:ea typeface="ＭＳ Ｐゴシック" panose="020B0600070205080204" pitchFamily="34" charset="-128"/>
                <a:sym typeface="Symbol" panose="05050102010706020507" pitchFamily="18" charset="2"/>
              </a:rPr>
              <a:t>[</a:t>
            </a:r>
            <a:r>
              <a:rPr lang="en-US" sz="1800" i="1" dirty="0" err="1">
                <a:ea typeface="ＭＳ Ｐゴシック" panose="020B0600070205080204" pitchFamily="34" charset="-128"/>
                <a:sym typeface="Symbol" panose="05050102010706020507" pitchFamily="18" charset="2"/>
              </a:rPr>
              <a:t>i</a:t>
            </a:r>
            <a:r>
              <a:rPr lang="en-US" sz="1800" dirty="0">
                <a:ea typeface="ＭＳ Ｐゴシック" panose="020B0600070205080204" pitchFamily="34" charset="-128"/>
                <a:sym typeface="Symbol" panose="05050102010706020507" pitchFamily="18" charset="2"/>
              </a:rPr>
              <a:t>] == </a:t>
            </a:r>
            <a:r>
              <a:rPr lang="en-US" sz="1800" i="1" dirty="0">
                <a:ea typeface="ＭＳ Ｐゴシック" panose="020B0600070205080204" pitchFamily="34" charset="-128"/>
                <a:sym typeface="Symbol" panose="05050102010706020507" pitchFamily="18" charset="2"/>
              </a:rPr>
              <a:t>false</a:t>
            </a:r>
            <a:r>
              <a:rPr lang="en-US" sz="1800" dirty="0">
                <a:ea typeface="ＭＳ Ｐゴシック" panose="020B0600070205080204" pitchFamily="34" charset="-128"/>
                <a:sym typeface="Symbol" panose="05050102010706020507" pitchFamily="18" charset="2"/>
              </a:rPr>
              <a:t>, then </a:t>
            </a:r>
            <a:r>
              <a:rPr lang="en-US" sz="1800" i="1" dirty="0">
                <a:ea typeface="ＭＳ Ｐゴシック" panose="020B0600070205080204" pitchFamily="34" charset="-128"/>
                <a:sym typeface="Symbol" panose="05050102010706020507" pitchFamily="18" charset="2"/>
              </a:rPr>
              <a:t>P</a:t>
            </a:r>
            <a:r>
              <a:rPr lang="en-US" sz="1800" i="1" baseline="-25000" dirty="0">
                <a:ea typeface="ＭＳ Ｐゴシック" panose="020B0600070205080204" pitchFamily="34" charset="-128"/>
                <a:sym typeface="Symbol" panose="05050102010706020507" pitchFamily="18" charset="2"/>
              </a:rPr>
              <a:t>i</a:t>
            </a:r>
            <a:r>
              <a:rPr lang="en-US" sz="1800" dirty="0">
                <a:ea typeface="ＭＳ Ｐゴシック" panose="020B0600070205080204" pitchFamily="34" charset="-128"/>
                <a:sym typeface="Symbol" panose="05050102010706020507" pitchFamily="18" charset="2"/>
              </a:rPr>
              <a:t> is deadlocked</a:t>
            </a:r>
          </a:p>
          <a:p>
            <a:pPr>
              <a:lnSpc>
                <a:spcPct val="90000"/>
              </a:lnSpc>
              <a:buFont typeface="Monotype Sorts" charset="2"/>
              <a:buNone/>
            </a:pPr>
            <a:r>
              <a:rPr lang="en-US" sz="1800" dirty="0">
                <a:ea typeface="ＭＳ Ｐゴシック" panose="020B0600070205080204" pitchFamily="34" charset="-128"/>
                <a:sym typeface="Symbol" panose="05050102010706020507" pitchFamily="18" charset="2"/>
              </a:rPr>
              <a:t>	</a:t>
            </a:r>
            <a:endParaRPr lang="en-US" dirty="0">
              <a:ea typeface="ＭＳ Ｐゴシック" panose="020B0600070205080204" pitchFamily="34" charset="-128"/>
            </a:endParaRPr>
          </a:p>
        </p:txBody>
      </p:sp>
      <p:sp>
        <p:nvSpPr>
          <p:cNvPr id="2" name="Rectangle 1"/>
          <p:cNvSpPr/>
          <p:nvPr/>
        </p:nvSpPr>
        <p:spPr>
          <a:xfrm>
            <a:off x="1382973" y="5796171"/>
            <a:ext cx="6096000" cy="1061829"/>
          </a:xfrm>
          <a:prstGeom prst="rect">
            <a:avLst/>
          </a:prstGeom>
        </p:spPr>
        <p:txBody>
          <a:bodyPr>
            <a:spAutoFit/>
          </a:bodyPr>
          <a:lstStyle/>
          <a:p>
            <a:r>
              <a:rPr lang="en-US" b="1" dirty="0">
                <a:solidFill>
                  <a:srgbClr val="FF0066"/>
                </a:solidFill>
                <a:latin typeface="Helvetica" panose="020B0604020202020204" pitchFamily="34" charset="0"/>
                <a:sym typeface="Symbol" panose="05050102010706020507" pitchFamily="18" charset="2"/>
              </a:rPr>
              <a:t>Algorithm requires an order of O(</a:t>
            </a:r>
            <a:r>
              <a:rPr lang="en-US" b="1" i="1" dirty="0">
                <a:solidFill>
                  <a:srgbClr val="FF0066"/>
                </a:solidFill>
                <a:latin typeface="Helvetica" panose="020B0604020202020204" pitchFamily="34" charset="0"/>
                <a:sym typeface="Symbol" panose="05050102010706020507" pitchFamily="18" charset="2"/>
              </a:rPr>
              <a:t>m </a:t>
            </a:r>
            <a:r>
              <a:rPr lang="en-US" b="1" dirty="0">
                <a:solidFill>
                  <a:srgbClr val="FF0066"/>
                </a:solidFill>
                <a:latin typeface="Helvetica" panose="020B0604020202020204" pitchFamily="34" charset="0"/>
                <a:sym typeface="Symbol" panose="05050102010706020507" pitchFamily="18" charset="2"/>
              </a:rPr>
              <a:t>x</a:t>
            </a:r>
            <a:r>
              <a:rPr lang="en-US" b="1" i="1" dirty="0">
                <a:solidFill>
                  <a:srgbClr val="FF0066"/>
                </a:solidFill>
                <a:latin typeface="Helvetica" panose="020B0604020202020204" pitchFamily="34" charset="0"/>
                <a:sym typeface="Symbol" panose="05050102010706020507" pitchFamily="18" charset="2"/>
              </a:rPr>
              <a:t> n</a:t>
            </a:r>
            <a:r>
              <a:rPr lang="en-US" b="1" baseline="30000" dirty="0">
                <a:solidFill>
                  <a:srgbClr val="FF0066"/>
                </a:solidFill>
                <a:latin typeface="Helvetica" panose="020B0604020202020204" pitchFamily="34" charset="0"/>
                <a:sym typeface="Symbol" panose="05050102010706020507" pitchFamily="18" charset="2"/>
              </a:rPr>
              <a:t>2)</a:t>
            </a:r>
            <a:r>
              <a:rPr lang="en-US" b="1" dirty="0">
                <a:solidFill>
                  <a:srgbClr val="FF0066"/>
                </a:solidFill>
                <a:latin typeface="Helvetica" panose="020B0604020202020204" pitchFamily="34" charset="0"/>
                <a:sym typeface="Symbol" panose="05050102010706020507" pitchFamily="18" charset="2"/>
              </a:rPr>
              <a:t> operations to detect whether the system is in deadlocked state</a:t>
            </a:r>
            <a:endParaRPr lang="en-US" dirty="0">
              <a:solidFill>
                <a:srgbClr val="FF0066"/>
              </a:solidFill>
              <a:latin typeface="Helvetica" panose="020B0604020202020204" pitchFamily="34" charset="0"/>
            </a:endParaRPr>
          </a:p>
          <a:p>
            <a:pPr>
              <a:spcBef>
                <a:spcPct val="50000"/>
              </a:spcBef>
            </a:pPr>
            <a:endParaRPr lang="en-US" dirty="0">
              <a:solidFill>
                <a:srgbClr val="FF0066"/>
              </a:solidFill>
              <a:latin typeface="Helvetica"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394804" y="0"/>
            <a:ext cx="9655049" cy="777922"/>
          </a:xfrm>
        </p:spPr>
        <p:txBody>
          <a:bodyPr/>
          <a:lstStyle/>
          <a:p>
            <a:pPr eaLnBrk="1" hangingPunct="1"/>
            <a:r>
              <a:rPr lang="en-US" dirty="0" smtClean="0">
                <a:ea typeface="ＭＳ Ｐゴシック" panose="020B0600070205080204" pitchFamily="34" charset="-128"/>
              </a:rPr>
              <a:t>Example of Detection Algorithm</a:t>
            </a:r>
          </a:p>
        </p:txBody>
      </p:sp>
      <p:sp>
        <p:nvSpPr>
          <p:cNvPr id="41987" name="Rectangle 3"/>
          <p:cNvSpPr>
            <a:spLocks noGrp="1" noChangeArrowheads="1"/>
          </p:cNvSpPr>
          <p:nvPr>
            <p:ph type="body" idx="1"/>
          </p:nvPr>
        </p:nvSpPr>
        <p:spPr>
          <a:xfrm>
            <a:off x="394804" y="777922"/>
            <a:ext cx="9655049" cy="5470477"/>
          </a:xfrm>
        </p:spPr>
        <p:txBody>
          <a:bodyPr>
            <a:normAutofit/>
          </a:bodyPr>
          <a:lstStyle/>
          <a:p>
            <a:pPr>
              <a:tabLst>
                <a:tab pos="1428750" algn="l"/>
                <a:tab pos="2338388" algn="ctr"/>
                <a:tab pos="3594100" algn="ctr"/>
                <a:tab pos="4921250" algn="ctr"/>
              </a:tabLst>
            </a:pPr>
            <a:r>
              <a:rPr lang="en-US" sz="1800" dirty="0">
                <a:ea typeface="ＭＳ Ｐゴシック" panose="020B0600070205080204" pitchFamily="34" charset="-128"/>
              </a:rPr>
              <a:t>Five processes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0</a:t>
            </a:r>
            <a:r>
              <a:rPr lang="en-US" sz="1800" dirty="0">
                <a:ea typeface="ＭＳ Ｐゴシック" panose="020B0600070205080204" pitchFamily="34" charset="-128"/>
              </a:rPr>
              <a:t> through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4</a:t>
            </a:r>
            <a:r>
              <a:rPr lang="en-US" sz="1800" dirty="0">
                <a:ea typeface="ＭＳ Ｐゴシック" panose="020B0600070205080204" pitchFamily="34" charset="-128"/>
              </a:rPr>
              <a:t>;</a:t>
            </a:r>
            <a:r>
              <a:rPr lang="en-US" sz="1800" baseline="-25000" dirty="0">
                <a:ea typeface="ＭＳ Ｐゴシック" panose="020B0600070205080204" pitchFamily="34" charset="-128"/>
              </a:rPr>
              <a:t> </a:t>
            </a:r>
            <a:r>
              <a:rPr lang="en-US" sz="1800" dirty="0">
                <a:ea typeface="ＭＳ Ｐゴシック" panose="020B0600070205080204" pitchFamily="34" charset="-128"/>
              </a:rPr>
              <a:t>three resource types </a:t>
            </a:r>
            <a:br>
              <a:rPr lang="en-US" sz="1800" dirty="0">
                <a:ea typeface="ＭＳ Ｐゴシック" panose="020B0600070205080204" pitchFamily="34" charset="-128"/>
              </a:rPr>
            </a:br>
            <a:r>
              <a:rPr lang="en-US" sz="1800" dirty="0">
                <a:ea typeface="ＭＳ Ｐゴシック" panose="020B0600070205080204" pitchFamily="34" charset="-128"/>
              </a:rPr>
              <a:t>A (7 instances), </a:t>
            </a:r>
            <a:r>
              <a:rPr lang="en-US" sz="1800" i="1" dirty="0">
                <a:ea typeface="ＭＳ Ｐゴシック" panose="020B0600070205080204" pitchFamily="34" charset="-128"/>
              </a:rPr>
              <a:t>B </a:t>
            </a:r>
            <a:r>
              <a:rPr lang="en-US" sz="1800" dirty="0">
                <a:ea typeface="ＭＳ Ｐゴシック" panose="020B0600070205080204" pitchFamily="34" charset="-128"/>
              </a:rPr>
              <a:t>(2 instances), and </a:t>
            </a:r>
            <a:r>
              <a:rPr lang="en-US" sz="1800" i="1" dirty="0">
                <a:ea typeface="ＭＳ Ｐゴシック" panose="020B0600070205080204" pitchFamily="34" charset="-128"/>
              </a:rPr>
              <a:t>C</a:t>
            </a:r>
            <a:r>
              <a:rPr lang="en-US" sz="1800" dirty="0">
                <a:ea typeface="ＭＳ Ｐゴシック" panose="020B0600070205080204" pitchFamily="34" charset="-128"/>
              </a:rPr>
              <a:t> (6 instances)</a:t>
            </a:r>
          </a:p>
          <a:p>
            <a:pPr>
              <a:tabLst>
                <a:tab pos="1428750" algn="l"/>
                <a:tab pos="2338388" algn="ctr"/>
                <a:tab pos="3594100" algn="ctr"/>
                <a:tab pos="4921250" algn="ctr"/>
              </a:tabLst>
            </a:pPr>
            <a:r>
              <a:rPr lang="en-US" sz="1800" dirty="0">
                <a:ea typeface="ＭＳ Ｐゴシック" panose="020B0600070205080204" pitchFamily="34" charset="-128"/>
              </a:rPr>
              <a:t>Snapshot at time </a:t>
            </a:r>
            <a:r>
              <a:rPr lang="en-US" sz="1800" i="1" dirty="0">
                <a:ea typeface="ＭＳ Ｐゴシック" panose="020B0600070205080204" pitchFamily="34" charset="-128"/>
              </a:rPr>
              <a:t>T</a:t>
            </a:r>
            <a:r>
              <a:rPr lang="en-US" sz="1800" baseline="-25000" dirty="0">
                <a:ea typeface="ＭＳ Ｐゴシック" panose="020B0600070205080204" pitchFamily="34" charset="-128"/>
              </a:rPr>
              <a:t>0</a:t>
            </a:r>
            <a:r>
              <a:rPr lang="en-US" sz="1800" dirty="0">
                <a:ea typeface="ＭＳ Ｐゴシック" panose="020B0600070205080204" pitchFamily="34" charset="-128"/>
              </a:rPr>
              <a:t>:</a:t>
            </a:r>
          </a:p>
          <a:p>
            <a:pPr>
              <a:buNone/>
              <a:tabLst>
                <a:tab pos="1428750" algn="l"/>
                <a:tab pos="2338388" algn="ctr"/>
                <a:tab pos="3594100" algn="ctr"/>
                <a:tab pos="4921250" algn="ctr"/>
              </a:tabLst>
            </a:pPr>
            <a:r>
              <a:rPr lang="en-US" sz="1800" dirty="0">
                <a:ea typeface="ＭＳ Ｐゴシック" panose="020B0600070205080204" pitchFamily="34" charset="-128"/>
              </a:rPr>
              <a:t>			 </a:t>
            </a:r>
            <a:r>
              <a:rPr lang="en-US" sz="1800" i="1" u="sng" dirty="0">
                <a:ea typeface="ＭＳ Ｐゴシック" panose="020B0600070205080204" pitchFamily="34" charset="-128"/>
              </a:rPr>
              <a:t>Allocation</a:t>
            </a:r>
            <a:r>
              <a:rPr lang="en-US" sz="1800" i="1" dirty="0">
                <a:ea typeface="ＭＳ Ｐゴシック" panose="020B0600070205080204" pitchFamily="34" charset="-128"/>
              </a:rPr>
              <a:t>	</a:t>
            </a:r>
            <a:r>
              <a:rPr lang="en-US" sz="1800" i="1" u="sng" dirty="0">
                <a:ea typeface="ＭＳ Ｐゴシック" panose="020B0600070205080204" pitchFamily="34" charset="-128"/>
              </a:rPr>
              <a:t>Request</a:t>
            </a:r>
            <a:r>
              <a:rPr lang="en-US" sz="1800" i="1" dirty="0">
                <a:ea typeface="ＭＳ Ｐゴシック" panose="020B0600070205080204" pitchFamily="34" charset="-128"/>
              </a:rPr>
              <a:t>	</a:t>
            </a:r>
            <a:r>
              <a:rPr lang="en-US" sz="1800" i="1" u="sng" dirty="0">
                <a:ea typeface="ＭＳ Ｐゴシック" panose="020B0600070205080204" pitchFamily="34" charset="-128"/>
              </a:rPr>
              <a:t>Available</a:t>
            </a:r>
          </a:p>
          <a:p>
            <a:pPr>
              <a:buNone/>
              <a:tabLst>
                <a:tab pos="1428750" algn="l"/>
                <a:tab pos="2338388" algn="ctr"/>
                <a:tab pos="3594100" algn="ctr"/>
                <a:tab pos="4921250" algn="ctr"/>
              </a:tabLst>
            </a:pPr>
            <a:r>
              <a:rPr lang="en-US" sz="1800" dirty="0">
                <a:ea typeface="ＭＳ Ｐゴシック" panose="020B0600070205080204" pitchFamily="34" charset="-128"/>
              </a:rPr>
              <a:t>			</a:t>
            </a:r>
            <a:r>
              <a:rPr lang="en-US" sz="1800" i="1" dirty="0">
                <a:ea typeface="ＭＳ Ｐゴシック" panose="020B0600070205080204" pitchFamily="34" charset="-128"/>
              </a:rPr>
              <a:t>A B C 	  </a:t>
            </a:r>
            <a:r>
              <a:rPr lang="en-US" sz="1800" i="1" dirty="0" smtClean="0">
                <a:ea typeface="ＭＳ Ｐゴシック" panose="020B0600070205080204" pitchFamily="34" charset="-128"/>
              </a:rPr>
              <a:t>A </a:t>
            </a:r>
            <a:r>
              <a:rPr lang="en-US" sz="1800" i="1" dirty="0">
                <a:ea typeface="ＭＳ Ｐゴシック" panose="020B0600070205080204" pitchFamily="34" charset="-128"/>
              </a:rPr>
              <a:t>B C 	A B C</a:t>
            </a:r>
          </a:p>
          <a:p>
            <a:pPr>
              <a:buNone/>
              <a:tabLst>
                <a:tab pos="1428750" algn="l"/>
                <a:tab pos="2338388" algn="ctr"/>
                <a:tab pos="3594100" algn="ctr"/>
                <a:tab pos="4921250" algn="ctr"/>
              </a:tabLst>
            </a:pPr>
            <a:r>
              <a:rPr lang="en-US" sz="1800" dirty="0">
                <a:ea typeface="ＭＳ Ｐゴシック" panose="020B0600070205080204" pitchFamily="34" charset="-128"/>
              </a:rPr>
              <a:t>		</a:t>
            </a:r>
            <a:r>
              <a:rPr lang="en-US" sz="1800" i="1" dirty="0" smtClean="0">
                <a:ea typeface="ＭＳ Ｐゴシック" panose="020B0600070205080204" pitchFamily="34" charset="-128"/>
              </a:rPr>
              <a:t>P</a:t>
            </a:r>
            <a:r>
              <a:rPr lang="en-US" sz="1800" baseline="-25000" dirty="0" smtClean="0">
                <a:ea typeface="ＭＳ Ｐゴシック" panose="020B0600070205080204" pitchFamily="34" charset="-128"/>
              </a:rPr>
              <a:t>0         </a:t>
            </a:r>
            <a:r>
              <a:rPr lang="en-US" sz="1800" dirty="0">
                <a:ea typeface="ＭＳ Ｐゴシック" panose="020B0600070205080204" pitchFamily="34" charset="-128"/>
              </a:rPr>
              <a:t>	0 1 0              </a:t>
            </a:r>
            <a:r>
              <a:rPr lang="en-US" sz="1800" dirty="0" smtClean="0">
                <a:ea typeface="ＭＳ Ｐゴシック" panose="020B0600070205080204" pitchFamily="34" charset="-128"/>
              </a:rPr>
              <a:t>0 </a:t>
            </a:r>
            <a:r>
              <a:rPr lang="en-US" sz="1800" dirty="0">
                <a:ea typeface="ＭＳ Ｐゴシック" panose="020B0600070205080204" pitchFamily="34" charset="-128"/>
              </a:rPr>
              <a:t>0 0 	0 0 0</a:t>
            </a:r>
          </a:p>
          <a:p>
            <a:pPr>
              <a:buNone/>
              <a:tabLst>
                <a:tab pos="1428750" algn="l"/>
                <a:tab pos="2338388" algn="ctr"/>
                <a:tab pos="3594100" algn="ctr"/>
                <a:tab pos="4921250" algn="ctr"/>
              </a:tabLst>
            </a:pP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1</a:t>
            </a:r>
            <a:r>
              <a:rPr lang="en-US" sz="1800" dirty="0">
                <a:ea typeface="ＭＳ Ｐゴシック" panose="020B0600070205080204" pitchFamily="34" charset="-128"/>
              </a:rPr>
              <a:t>	2 0 0 	     </a:t>
            </a:r>
            <a:r>
              <a:rPr lang="en-US" sz="1800" dirty="0" smtClean="0">
                <a:ea typeface="ＭＳ Ｐゴシック" panose="020B0600070205080204" pitchFamily="34" charset="-128"/>
              </a:rPr>
              <a:t>2 </a:t>
            </a:r>
            <a:r>
              <a:rPr lang="en-US" sz="1800" dirty="0">
                <a:ea typeface="ＭＳ Ｐゴシック" panose="020B0600070205080204" pitchFamily="34" charset="-128"/>
              </a:rPr>
              <a:t>0 2</a:t>
            </a:r>
          </a:p>
          <a:p>
            <a:pPr>
              <a:buNone/>
              <a:tabLst>
                <a:tab pos="1428750" algn="l"/>
                <a:tab pos="2338388" algn="ctr"/>
                <a:tab pos="3594100" algn="ctr"/>
                <a:tab pos="4921250" algn="ctr"/>
              </a:tabLst>
            </a:pPr>
            <a:r>
              <a:rPr lang="en-US" sz="1800" dirty="0">
                <a:ea typeface="ＭＳ Ｐゴシック" panose="020B0600070205080204" pitchFamily="34" charset="-128"/>
              </a:rPr>
              <a:t>		</a:t>
            </a:r>
            <a:r>
              <a:rPr lang="en-US" sz="1800" i="1" dirty="0" smtClean="0">
                <a:ea typeface="ＭＳ Ｐゴシック" panose="020B0600070205080204" pitchFamily="34" charset="-128"/>
              </a:rPr>
              <a:t>P</a:t>
            </a:r>
            <a:r>
              <a:rPr lang="en-US" sz="1800" baseline="-25000" dirty="0" smtClean="0">
                <a:ea typeface="ＭＳ Ｐゴシック" panose="020B0600070205080204" pitchFamily="34" charset="-128"/>
              </a:rPr>
              <a:t>2         </a:t>
            </a:r>
            <a:r>
              <a:rPr lang="en-US" sz="1800" dirty="0">
                <a:ea typeface="ＭＳ Ｐゴシック" panose="020B0600070205080204" pitchFamily="34" charset="-128"/>
              </a:rPr>
              <a:t>	3 0 3               </a:t>
            </a:r>
            <a:r>
              <a:rPr lang="en-US" sz="1800" dirty="0" smtClean="0">
                <a:ea typeface="ＭＳ Ｐゴシック" panose="020B0600070205080204" pitchFamily="34" charset="-128"/>
              </a:rPr>
              <a:t>0 </a:t>
            </a:r>
            <a:r>
              <a:rPr lang="en-US" sz="1800" dirty="0">
                <a:ea typeface="ＭＳ Ｐゴシック" panose="020B0600070205080204" pitchFamily="34" charset="-128"/>
              </a:rPr>
              <a:t>0 0 </a:t>
            </a:r>
          </a:p>
          <a:p>
            <a:pPr>
              <a:buNone/>
              <a:tabLst>
                <a:tab pos="1428750" algn="l"/>
                <a:tab pos="2338388" algn="ctr"/>
                <a:tab pos="3594100" algn="ctr"/>
                <a:tab pos="4921250" algn="ctr"/>
              </a:tabLst>
            </a:pP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3</a:t>
            </a:r>
            <a:r>
              <a:rPr lang="en-US" sz="1800" dirty="0">
                <a:ea typeface="ＭＳ Ｐゴシック" panose="020B0600070205080204" pitchFamily="34" charset="-128"/>
              </a:rPr>
              <a:t>	2 1 1 	     </a:t>
            </a:r>
            <a:r>
              <a:rPr lang="en-US" sz="1800" dirty="0" smtClean="0">
                <a:ea typeface="ＭＳ Ｐゴシック" panose="020B0600070205080204" pitchFamily="34" charset="-128"/>
              </a:rPr>
              <a:t>1 </a:t>
            </a:r>
            <a:r>
              <a:rPr lang="en-US" sz="1800" dirty="0">
                <a:ea typeface="ＭＳ Ｐゴシック" panose="020B0600070205080204" pitchFamily="34" charset="-128"/>
              </a:rPr>
              <a:t>0 0 </a:t>
            </a:r>
          </a:p>
          <a:p>
            <a:pPr>
              <a:buNone/>
              <a:tabLst>
                <a:tab pos="1428750" algn="l"/>
                <a:tab pos="2338388" algn="ctr"/>
                <a:tab pos="3594100" algn="ctr"/>
                <a:tab pos="4921250" algn="ctr"/>
              </a:tabLst>
            </a:pP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4</a:t>
            </a:r>
            <a:r>
              <a:rPr lang="en-US" sz="1800" dirty="0">
                <a:ea typeface="ＭＳ Ｐゴシック" panose="020B0600070205080204" pitchFamily="34" charset="-128"/>
              </a:rPr>
              <a:t>	0 0 2 	     </a:t>
            </a:r>
            <a:r>
              <a:rPr lang="en-US" sz="1800" dirty="0" smtClean="0">
                <a:ea typeface="ＭＳ Ｐゴシック" panose="020B0600070205080204" pitchFamily="34" charset="-128"/>
              </a:rPr>
              <a:t>0 </a:t>
            </a:r>
            <a:r>
              <a:rPr lang="en-US" sz="1800" dirty="0">
                <a:ea typeface="ＭＳ Ｐゴシック" panose="020B0600070205080204" pitchFamily="34" charset="-128"/>
              </a:rPr>
              <a:t>0 2</a:t>
            </a:r>
          </a:p>
          <a:p>
            <a:pPr>
              <a:tabLst>
                <a:tab pos="1428750" algn="l"/>
                <a:tab pos="2338388" algn="ctr"/>
                <a:tab pos="3594100" algn="ctr"/>
                <a:tab pos="4921250" algn="ctr"/>
              </a:tabLst>
            </a:pPr>
            <a:r>
              <a:rPr lang="en-US" sz="1800" dirty="0">
                <a:ea typeface="ＭＳ Ｐゴシック" panose="020B0600070205080204" pitchFamily="34" charset="-128"/>
              </a:rPr>
              <a:t>Sequence &lt;</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0</a:t>
            </a: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2</a:t>
            </a: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3</a:t>
            </a: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1</a:t>
            </a: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4</a:t>
            </a:r>
            <a:r>
              <a:rPr lang="en-US" sz="1800" dirty="0">
                <a:ea typeface="ＭＳ Ｐゴシック" panose="020B0600070205080204" pitchFamily="34" charset="-128"/>
              </a:rPr>
              <a:t>&gt; will result in </a:t>
            </a:r>
            <a:r>
              <a:rPr lang="en-US" sz="1800" i="1" dirty="0">
                <a:ea typeface="ＭＳ Ｐゴシック" panose="020B0600070205080204" pitchFamily="34" charset="-128"/>
              </a:rPr>
              <a:t>Finish</a:t>
            </a:r>
            <a:r>
              <a:rPr lang="en-US" sz="1800" dirty="0">
                <a:ea typeface="ＭＳ Ｐゴシック" panose="020B0600070205080204" pitchFamily="34" charset="-128"/>
              </a:rPr>
              <a:t>[</a:t>
            </a:r>
            <a:r>
              <a:rPr lang="en-US" sz="1800" i="1" dirty="0" err="1">
                <a:ea typeface="ＭＳ Ｐゴシック" panose="020B0600070205080204" pitchFamily="34" charset="-128"/>
              </a:rPr>
              <a:t>i</a:t>
            </a:r>
            <a:r>
              <a:rPr lang="en-US" sz="1800" dirty="0">
                <a:ea typeface="ＭＳ Ｐゴシック" panose="020B0600070205080204" pitchFamily="34" charset="-128"/>
              </a:rPr>
              <a:t>] = true for all </a:t>
            </a:r>
            <a:r>
              <a:rPr lang="en-US" sz="1800" i="1" dirty="0" err="1">
                <a:ea typeface="ＭＳ Ｐゴシック" panose="020B0600070205080204" pitchFamily="34" charset="-128"/>
              </a:rPr>
              <a:t>i</a:t>
            </a:r>
            <a:endParaRPr lang="en-US" sz="1800" dirty="0">
              <a:ea typeface="ＭＳ Ｐゴシック" panose="020B0600070205080204" pitchFamily="34" charset="-128"/>
            </a:endParaRPr>
          </a:p>
          <a:p>
            <a:pPr>
              <a:buNone/>
              <a:tabLst>
                <a:tab pos="1428750" algn="l"/>
                <a:tab pos="2338388" algn="ctr"/>
                <a:tab pos="3594100" algn="ctr"/>
                <a:tab pos="4921250" algn="ctr"/>
              </a:tabLst>
            </a:pPr>
            <a:endParaRPr lang="en-US" sz="1800" dirty="0">
              <a:ea typeface="ＭＳ Ｐゴシック" panose="020B0600070205080204" pitchFamily="34" charset="-128"/>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46111" y="0"/>
            <a:ext cx="9404723" cy="1009934"/>
          </a:xfrm>
        </p:spPr>
        <p:txBody>
          <a:bodyPr/>
          <a:lstStyle/>
          <a:p>
            <a:pPr eaLnBrk="1" hangingPunct="1"/>
            <a:r>
              <a:rPr lang="en-US" b="1" dirty="0" smtClean="0">
                <a:ea typeface="ＭＳ Ｐゴシック" panose="020B0600070205080204" pitchFamily="34" charset="-128"/>
              </a:rPr>
              <a:t>Example (Cont.)</a:t>
            </a:r>
          </a:p>
        </p:txBody>
      </p:sp>
      <p:sp>
        <p:nvSpPr>
          <p:cNvPr id="43011" name="Rectangle 3"/>
          <p:cNvSpPr>
            <a:spLocks noGrp="1" noChangeArrowheads="1"/>
          </p:cNvSpPr>
          <p:nvPr>
            <p:ph type="body" idx="1"/>
          </p:nvPr>
        </p:nvSpPr>
        <p:spPr>
          <a:xfrm>
            <a:off x="646112" y="1009934"/>
            <a:ext cx="9403742" cy="5238465"/>
          </a:xfrm>
        </p:spPr>
        <p:txBody>
          <a:bodyPr>
            <a:normAutofit/>
          </a:bodyPr>
          <a:lstStyle/>
          <a:p>
            <a:pPr>
              <a:tabLst>
                <a:tab pos="2800350" algn="l"/>
                <a:tab pos="3708400" algn="ctr"/>
              </a:tabLst>
            </a:pPr>
            <a:r>
              <a:rPr lang="en-US" sz="1800" i="1" dirty="0">
                <a:ea typeface="ＭＳ Ｐゴシック" panose="020B0600070205080204" pitchFamily="34" charset="-128"/>
              </a:rPr>
              <a:t>P</a:t>
            </a:r>
            <a:r>
              <a:rPr lang="en-US" sz="1800" baseline="-25000" dirty="0">
                <a:ea typeface="ＭＳ Ｐゴシック" panose="020B0600070205080204" pitchFamily="34" charset="-128"/>
              </a:rPr>
              <a:t>2</a:t>
            </a:r>
            <a:r>
              <a:rPr lang="en-US" sz="1800" dirty="0">
                <a:ea typeface="ＭＳ Ｐゴシック" panose="020B0600070205080204" pitchFamily="34" charset="-128"/>
              </a:rPr>
              <a:t> requests an additional instance of type</a:t>
            </a:r>
            <a:r>
              <a:rPr lang="en-US" sz="1800" i="1" dirty="0">
                <a:ea typeface="ＭＳ Ｐゴシック" panose="020B0600070205080204" pitchFamily="34" charset="-128"/>
              </a:rPr>
              <a:t> C</a:t>
            </a:r>
            <a:endParaRPr lang="en-US" sz="1800" dirty="0">
              <a:ea typeface="ＭＳ Ｐゴシック" panose="020B0600070205080204" pitchFamily="34" charset="-128"/>
            </a:endParaRPr>
          </a:p>
          <a:p>
            <a:pPr>
              <a:buNone/>
              <a:tabLst>
                <a:tab pos="2800350" algn="l"/>
                <a:tab pos="3708400" algn="ctr"/>
              </a:tabLst>
            </a:pPr>
            <a:r>
              <a:rPr lang="en-US" sz="1800" dirty="0">
                <a:ea typeface="ＭＳ Ｐゴシック" panose="020B0600070205080204" pitchFamily="34" charset="-128"/>
              </a:rPr>
              <a:t>			</a:t>
            </a:r>
            <a:r>
              <a:rPr lang="en-US" sz="1800" i="1" u="sng" dirty="0">
                <a:ea typeface="ＭＳ Ｐゴシック" panose="020B0600070205080204" pitchFamily="34" charset="-128"/>
              </a:rPr>
              <a:t>Request</a:t>
            </a:r>
            <a:endParaRPr lang="en-US" sz="1800" i="1" dirty="0">
              <a:ea typeface="ＭＳ Ｐゴシック" panose="020B0600070205080204" pitchFamily="34" charset="-128"/>
            </a:endParaRPr>
          </a:p>
          <a:p>
            <a:pPr>
              <a:buNone/>
              <a:tabLst>
                <a:tab pos="2800350" algn="l"/>
                <a:tab pos="3708400" algn="ctr"/>
              </a:tabLst>
            </a:pPr>
            <a:r>
              <a:rPr lang="en-US" sz="1800" i="1" dirty="0">
                <a:ea typeface="ＭＳ Ｐゴシック" panose="020B0600070205080204" pitchFamily="34" charset="-128"/>
              </a:rPr>
              <a:t>			A B C</a:t>
            </a:r>
          </a:p>
          <a:p>
            <a:pPr>
              <a:buNone/>
              <a:tabLst>
                <a:tab pos="2800350" algn="l"/>
                <a:tab pos="3708400" algn="ctr"/>
              </a:tabLst>
            </a:pP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0</a:t>
            </a:r>
            <a:r>
              <a:rPr lang="en-US" sz="1800" dirty="0">
                <a:ea typeface="ＭＳ Ｐゴシック" panose="020B0600070205080204" pitchFamily="34" charset="-128"/>
              </a:rPr>
              <a:t>	0 0 0</a:t>
            </a:r>
          </a:p>
          <a:p>
            <a:pPr>
              <a:buNone/>
              <a:tabLst>
                <a:tab pos="2800350" algn="l"/>
                <a:tab pos="3708400" algn="ctr"/>
              </a:tabLst>
            </a:pP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1</a:t>
            </a:r>
            <a:r>
              <a:rPr lang="en-US" sz="1800" dirty="0">
                <a:ea typeface="ＭＳ Ｐゴシック" panose="020B0600070205080204" pitchFamily="34" charset="-128"/>
              </a:rPr>
              <a:t>	2 0 1</a:t>
            </a:r>
          </a:p>
          <a:p>
            <a:pPr>
              <a:buNone/>
              <a:tabLst>
                <a:tab pos="2800350" algn="l"/>
                <a:tab pos="3708400" algn="ctr"/>
              </a:tabLst>
            </a:pP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2</a:t>
            </a:r>
            <a:r>
              <a:rPr lang="en-US" sz="1800" dirty="0">
                <a:ea typeface="ＭＳ Ｐゴシック" panose="020B0600070205080204" pitchFamily="34" charset="-128"/>
              </a:rPr>
              <a:t>	0 0 1</a:t>
            </a:r>
          </a:p>
          <a:p>
            <a:pPr>
              <a:buNone/>
              <a:tabLst>
                <a:tab pos="2800350" algn="l"/>
                <a:tab pos="3708400" algn="ctr"/>
              </a:tabLst>
            </a:pP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3</a:t>
            </a:r>
            <a:r>
              <a:rPr lang="en-US" sz="1800" dirty="0">
                <a:ea typeface="ＭＳ Ｐゴシック" panose="020B0600070205080204" pitchFamily="34" charset="-128"/>
              </a:rPr>
              <a:t>	1 0 0 </a:t>
            </a:r>
          </a:p>
          <a:p>
            <a:pPr>
              <a:buNone/>
              <a:tabLst>
                <a:tab pos="2800350" algn="l"/>
                <a:tab pos="3708400" algn="ctr"/>
              </a:tabLst>
            </a:pPr>
            <a:r>
              <a:rPr lang="en-US" sz="1800" dirty="0">
                <a:ea typeface="ＭＳ Ｐゴシック" panose="020B0600070205080204" pitchFamily="34" charset="-128"/>
              </a:rPr>
              <a:t>		</a:t>
            </a:r>
            <a:r>
              <a:rPr lang="en-US" sz="1800" i="1" dirty="0">
                <a:ea typeface="ＭＳ Ｐゴシック" panose="020B0600070205080204" pitchFamily="34" charset="-128"/>
              </a:rPr>
              <a:t>P</a:t>
            </a:r>
            <a:r>
              <a:rPr lang="en-US" sz="1800" baseline="-25000" dirty="0">
                <a:ea typeface="ＭＳ Ｐゴシック" panose="020B0600070205080204" pitchFamily="34" charset="-128"/>
              </a:rPr>
              <a:t>4</a:t>
            </a:r>
            <a:r>
              <a:rPr lang="en-US" sz="1800" dirty="0">
                <a:ea typeface="ＭＳ Ｐゴシック" panose="020B0600070205080204" pitchFamily="34" charset="-128"/>
              </a:rPr>
              <a:t>	0 0 2</a:t>
            </a:r>
          </a:p>
          <a:p>
            <a:pPr>
              <a:tabLst>
                <a:tab pos="2800350" algn="l"/>
                <a:tab pos="3708400" algn="ctr"/>
              </a:tabLst>
            </a:pPr>
            <a:r>
              <a:rPr lang="en-US" sz="1800" dirty="0">
                <a:ea typeface="ＭＳ Ｐゴシック" panose="020B0600070205080204" pitchFamily="34" charset="-128"/>
              </a:rPr>
              <a:t>State of system?</a:t>
            </a:r>
          </a:p>
          <a:p>
            <a:pPr lvl="1">
              <a:tabLst>
                <a:tab pos="2800350" algn="l"/>
                <a:tab pos="3708400" algn="ctr"/>
              </a:tabLst>
            </a:pPr>
            <a:r>
              <a:rPr lang="en-US" dirty="0">
                <a:ea typeface="ＭＳ Ｐゴシック" panose="020B0600070205080204" pitchFamily="34" charset="-128"/>
              </a:rPr>
              <a:t>Can reclaim resources held by process </a:t>
            </a:r>
            <a:r>
              <a:rPr lang="en-US" i="1" dirty="0">
                <a:ea typeface="ＭＳ Ｐゴシック" panose="020B0600070205080204" pitchFamily="34" charset="-128"/>
              </a:rPr>
              <a:t>P</a:t>
            </a:r>
            <a:r>
              <a:rPr lang="en-US" baseline="-25000" dirty="0">
                <a:ea typeface="ＭＳ Ｐゴシック" panose="020B0600070205080204" pitchFamily="34" charset="-128"/>
              </a:rPr>
              <a:t>0</a:t>
            </a:r>
            <a:r>
              <a:rPr lang="en-US" dirty="0">
                <a:ea typeface="ＭＳ Ｐゴシック" panose="020B0600070205080204" pitchFamily="34" charset="-128"/>
              </a:rPr>
              <a:t>, but insufficient resources to fulfill other processes; requests</a:t>
            </a:r>
          </a:p>
          <a:p>
            <a:pPr lvl="1">
              <a:tabLst>
                <a:tab pos="2800350" algn="l"/>
                <a:tab pos="3708400" algn="ctr"/>
              </a:tabLst>
            </a:pPr>
            <a:r>
              <a:rPr lang="en-US" dirty="0">
                <a:ea typeface="ＭＳ Ｐゴシック" panose="020B0600070205080204" pitchFamily="34" charset="-128"/>
              </a:rPr>
              <a:t>Deadlock exists, consisting of processes </a:t>
            </a:r>
            <a:r>
              <a:rPr lang="en-US" i="1" dirty="0">
                <a:ea typeface="ＭＳ Ｐゴシック" panose="020B0600070205080204" pitchFamily="34" charset="-128"/>
              </a:rPr>
              <a:t>P</a:t>
            </a:r>
            <a:r>
              <a:rPr lang="en-US" baseline="-25000" dirty="0">
                <a:ea typeface="ＭＳ Ｐゴシック" panose="020B0600070205080204" pitchFamily="34" charset="-128"/>
              </a:rPr>
              <a:t>1</a:t>
            </a:r>
            <a:r>
              <a:rPr lang="en-US" dirty="0">
                <a:ea typeface="ＭＳ Ｐゴシック" panose="020B0600070205080204" pitchFamily="34" charset="-128"/>
              </a:rPr>
              <a:t>, </a:t>
            </a:r>
            <a:r>
              <a:rPr lang="en-US" baseline="-25000" dirty="0">
                <a:ea typeface="ＭＳ Ｐゴシック" panose="020B0600070205080204" pitchFamily="34" charset="-128"/>
              </a:rPr>
              <a:t> </a:t>
            </a:r>
            <a:r>
              <a:rPr lang="en-US" i="1" dirty="0">
                <a:ea typeface="ＭＳ Ｐゴシック" panose="020B0600070205080204" pitchFamily="34" charset="-128"/>
              </a:rPr>
              <a:t>P</a:t>
            </a:r>
            <a:r>
              <a:rPr lang="en-US" baseline="-25000" dirty="0">
                <a:ea typeface="ＭＳ Ｐゴシック" panose="020B0600070205080204" pitchFamily="34" charset="-128"/>
              </a:rPr>
              <a:t>2</a:t>
            </a:r>
            <a:r>
              <a:rPr lang="en-US" dirty="0">
                <a:ea typeface="ＭＳ Ｐゴシック" panose="020B0600070205080204" pitchFamily="34" charset="-128"/>
              </a:rPr>
              <a:t>, </a:t>
            </a:r>
            <a:r>
              <a:rPr lang="en-US" i="1" dirty="0">
                <a:ea typeface="ＭＳ Ｐゴシック" panose="020B0600070205080204" pitchFamily="34" charset="-128"/>
              </a:rPr>
              <a:t>P</a:t>
            </a:r>
            <a:r>
              <a:rPr lang="en-US" baseline="-25000" dirty="0">
                <a:ea typeface="ＭＳ Ｐゴシック" panose="020B0600070205080204" pitchFamily="34" charset="-128"/>
              </a:rPr>
              <a:t>3</a:t>
            </a:r>
            <a:r>
              <a:rPr lang="en-US" dirty="0">
                <a:ea typeface="ＭＳ Ｐゴシック" panose="020B0600070205080204" pitchFamily="34" charset="-128"/>
              </a:rPr>
              <a:t>, and </a:t>
            </a:r>
            <a:r>
              <a:rPr lang="en-US" i="1" dirty="0">
                <a:ea typeface="ＭＳ Ｐゴシック" panose="020B0600070205080204" pitchFamily="34" charset="-128"/>
              </a:rPr>
              <a:t>P</a:t>
            </a:r>
            <a:r>
              <a:rPr lang="en-US" baseline="-25000" dirty="0">
                <a:ea typeface="ＭＳ Ｐゴシック" panose="020B0600070205080204" pitchFamily="34" charset="-128"/>
              </a:rPr>
              <a:t>4</a:t>
            </a:r>
            <a:endParaRPr lang="en-US" dirty="0">
              <a:ea typeface="ＭＳ Ｐゴシック" panose="020B0600070205080204" pitchFamily="34" charset="-128"/>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46111" y="0"/>
            <a:ext cx="11036373" cy="846161"/>
          </a:xfrm>
        </p:spPr>
        <p:txBody>
          <a:bodyPr/>
          <a:lstStyle/>
          <a:p>
            <a:pPr eaLnBrk="1" hangingPunct="1"/>
            <a:r>
              <a:rPr lang="en-US" b="1" dirty="0" smtClean="0">
                <a:ea typeface="ＭＳ Ｐゴシック" panose="020B0600070205080204" pitchFamily="34" charset="-128"/>
              </a:rPr>
              <a:t>Detection-Algorithm Usage</a:t>
            </a:r>
          </a:p>
        </p:txBody>
      </p:sp>
      <p:sp>
        <p:nvSpPr>
          <p:cNvPr id="44035" name="Rectangle 3"/>
          <p:cNvSpPr>
            <a:spLocks noGrp="1" noChangeArrowheads="1"/>
          </p:cNvSpPr>
          <p:nvPr>
            <p:ph type="body" idx="1"/>
          </p:nvPr>
        </p:nvSpPr>
        <p:spPr>
          <a:xfrm>
            <a:off x="646111" y="846162"/>
            <a:ext cx="11309327" cy="5402238"/>
          </a:xfrm>
        </p:spPr>
        <p:txBody>
          <a:bodyPr/>
          <a:lstStyle/>
          <a:p>
            <a:r>
              <a:rPr lang="en-US" sz="1800" dirty="0">
                <a:ea typeface="ＭＳ Ｐゴシック" panose="020B0600070205080204" pitchFamily="34" charset="-128"/>
              </a:rPr>
              <a:t>When, and how often, to invoke depends on:</a:t>
            </a:r>
          </a:p>
          <a:p>
            <a:pPr lvl="1"/>
            <a:r>
              <a:rPr lang="en-US" dirty="0">
                <a:ea typeface="ＭＳ Ｐゴシック" panose="020B0600070205080204" pitchFamily="34" charset="-128"/>
              </a:rPr>
              <a:t>How often a deadlock is likely to occur?</a:t>
            </a:r>
          </a:p>
          <a:p>
            <a:pPr lvl="1"/>
            <a:r>
              <a:rPr lang="en-US" dirty="0">
                <a:ea typeface="ＭＳ Ｐゴシック" panose="020B0600070205080204" pitchFamily="34" charset="-128"/>
              </a:rPr>
              <a:t>How many processes will need to be rolled back?</a:t>
            </a:r>
          </a:p>
          <a:p>
            <a:pPr lvl="2"/>
            <a:r>
              <a:rPr lang="en-US" sz="1800" dirty="0">
                <a:ea typeface="ＭＳ Ｐゴシック" panose="020B0600070205080204" pitchFamily="34" charset="-128"/>
              </a:rPr>
              <a:t>one for each disjoint </a:t>
            </a:r>
            <a:r>
              <a:rPr lang="en-US" sz="1800" dirty="0" smtClean="0">
                <a:ea typeface="ＭＳ Ｐゴシック" panose="020B0600070205080204" pitchFamily="34" charset="-128"/>
              </a:rPr>
              <a:t>cycle</a:t>
            </a:r>
            <a:endParaRPr lang="en-US" sz="1800" dirty="0">
              <a:ea typeface="ＭＳ Ｐゴシック" panose="020B0600070205080204" pitchFamily="34" charset="-128"/>
            </a:endParaRPr>
          </a:p>
          <a:p>
            <a:r>
              <a:rPr lang="en-US" sz="1800" dirty="0">
                <a:ea typeface="ＭＳ Ｐゴシック" panose="020B0600070205080204" pitchFamily="34" charset="-128"/>
              </a:rPr>
              <a:t>If detection algorithm is invoked arbitrarily, there may be many cycles in the resource graph and so we would not be able to tell which of the many deadlocked processes “caused” the deadlock</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91319" y="350838"/>
            <a:ext cx="10300506" cy="457200"/>
          </a:xfrm>
        </p:spPr>
        <p:txBody>
          <a:bodyPr/>
          <a:lstStyle/>
          <a:p>
            <a:pPr eaLnBrk="1" hangingPunct="1"/>
            <a:r>
              <a:rPr lang="en-US" sz="2700" b="1" dirty="0" smtClean="0">
                <a:ea typeface="ＭＳ Ｐゴシック" panose="020B0600070205080204" pitchFamily="34" charset="-128"/>
              </a:rPr>
              <a:t>Recovery </a:t>
            </a:r>
            <a:r>
              <a:rPr lang="en-US" sz="2700" b="1" dirty="0">
                <a:ea typeface="ＭＳ Ｐゴシック" panose="020B0600070205080204" pitchFamily="34" charset="-128"/>
              </a:rPr>
              <a:t>from Deadlock:  Process Termination</a:t>
            </a:r>
          </a:p>
        </p:txBody>
      </p:sp>
      <p:sp>
        <p:nvSpPr>
          <p:cNvPr id="45059" name="Rectangle 3"/>
          <p:cNvSpPr>
            <a:spLocks noGrp="1" noChangeArrowheads="1"/>
          </p:cNvSpPr>
          <p:nvPr>
            <p:ph type="body" idx="1"/>
          </p:nvPr>
        </p:nvSpPr>
        <p:spPr>
          <a:xfrm>
            <a:off x="491320" y="808038"/>
            <a:ext cx="9558534" cy="5440361"/>
          </a:xfrm>
        </p:spPr>
        <p:txBody>
          <a:bodyPr/>
          <a:lstStyle/>
          <a:p>
            <a:r>
              <a:rPr lang="en-US" sz="1800" dirty="0">
                <a:ea typeface="ＭＳ Ｐゴシック" panose="020B0600070205080204" pitchFamily="34" charset="-128"/>
              </a:rPr>
              <a:t>Abort all deadlocked </a:t>
            </a:r>
            <a:r>
              <a:rPr lang="en-US" sz="1800" dirty="0" smtClean="0">
                <a:ea typeface="ＭＳ Ｐゴシック" panose="020B0600070205080204" pitchFamily="34" charset="-128"/>
              </a:rPr>
              <a:t>processes</a:t>
            </a:r>
            <a:endParaRPr lang="en-US" sz="1800" dirty="0">
              <a:ea typeface="ＭＳ Ｐゴシック" panose="020B0600070205080204" pitchFamily="34" charset="-128"/>
            </a:endParaRPr>
          </a:p>
          <a:p>
            <a:r>
              <a:rPr lang="en-US" sz="1800" dirty="0">
                <a:ea typeface="ＭＳ Ｐゴシック" panose="020B0600070205080204" pitchFamily="34" charset="-128"/>
              </a:rPr>
              <a:t>Abort one process at a time until the deadlock cycle is </a:t>
            </a:r>
            <a:r>
              <a:rPr lang="en-US" sz="1800" dirty="0" smtClean="0">
                <a:ea typeface="ＭＳ Ｐゴシック" panose="020B0600070205080204" pitchFamily="34" charset="-128"/>
              </a:rPr>
              <a:t>eliminated</a:t>
            </a:r>
            <a:endParaRPr lang="en-US" sz="1800" dirty="0">
              <a:ea typeface="ＭＳ Ｐゴシック" panose="020B0600070205080204" pitchFamily="34" charset="-128"/>
            </a:endParaRPr>
          </a:p>
          <a:p>
            <a:r>
              <a:rPr lang="en-US" sz="1800" dirty="0">
                <a:ea typeface="ＭＳ Ｐゴシック" panose="020B0600070205080204" pitchFamily="34" charset="-128"/>
              </a:rPr>
              <a:t>In which order should we choose to abort?</a:t>
            </a:r>
          </a:p>
          <a:p>
            <a:pPr lvl="1"/>
            <a:r>
              <a:rPr lang="en-US" dirty="0">
                <a:ea typeface="ＭＳ Ｐゴシック" panose="020B0600070205080204" pitchFamily="34" charset="-128"/>
              </a:rPr>
              <a:t>Priority of the process</a:t>
            </a:r>
          </a:p>
          <a:p>
            <a:pPr lvl="1"/>
            <a:r>
              <a:rPr lang="en-US" dirty="0">
                <a:ea typeface="ＭＳ Ｐゴシック" panose="020B0600070205080204" pitchFamily="34" charset="-128"/>
              </a:rPr>
              <a:t>How long process has computed, and how much longer to completion</a:t>
            </a:r>
          </a:p>
          <a:p>
            <a:pPr lvl="1"/>
            <a:r>
              <a:rPr lang="en-US" dirty="0">
                <a:ea typeface="ＭＳ Ｐゴシック" panose="020B0600070205080204" pitchFamily="34" charset="-128"/>
              </a:rPr>
              <a:t>Resources the process has used</a:t>
            </a:r>
          </a:p>
          <a:p>
            <a:pPr lvl="1"/>
            <a:r>
              <a:rPr lang="en-US" dirty="0">
                <a:ea typeface="ＭＳ Ｐゴシック" panose="020B0600070205080204" pitchFamily="34" charset="-128"/>
              </a:rPr>
              <a:t>Resources process needs to complete</a:t>
            </a:r>
          </a:p>
          <a:p>
            <a:pPr lvl="1"/>
            <a:r>
              <a:rPr lang="en-US" dirty="0">
                <a:ea typeface="ＭＳ Ｐゴシック" panose="020B0600070205080204" pitchFamily="34" charset="-128"/>
              </a:rPr>
              <a:t>How many processes will need to be terminated</a:t>
            </a:r>
          </a:p>
          <a:p>
            <a:pPr lvl="1"/>
            <a:r>
              <a:rPr lang="en-US" dirty="0">
                <a:ea typeface="ＭＳ Ｐゴシック" panose="020B0600070205080204" pitchFamily="34" charset="-128"/>
              </a:rPr>
              <a:t>Is process interactive or batch?</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382137" y="312738"/>
            <a:ext cx="10014401" cy="457200"/>
          </a:xfrm>
        </p:spPr>
        <p:txBody>
          <a:bodyPr/>
          <a:lstStyle/>
          <a:p>
            <a:pPr eaLnBrk="1" hangingPunct="1"/>
            <a:r>
              <a:rPr lang="en-US" sz="2700" dirty="0">
                <a:ea typeface="ＭＳ Ｐゴシック" panose="020B0600070205080204" pitchFamily="34" charset="-128"/>
              </a:rPr>
              <a:t>Recovery from Deadlock: Resource Preemption</a:t>
            </a:r>
          </a:p>
        </p:txBody>
      </p:sp>
      <p:sp>
        <p:nvSpPr>
          <p:cNvPr id="46083" name="Rectangle 3"/>
          <p:cNvSpPr>
            <a:spLocks noGrp="1" noChangeArrowheads="1"/>
          </p:cNvSpPr>
          <p:nvPr>
            <p:ph type="body" idx="1"/>
          </p:nvPr>
        </p:nvSpPr>
        <p:spPr>
          <a:xfrm>
            <a:off x="382137" y="769938"/>
            <a:ext cx="9320663" cy="5195887"/>
          </a:xfrm>
        </p:spPr>
        <p:txBody>
          <a:bodyPr/>
          <a:lstStyle/>
          <a:p>
            <a:r>
              <a:rPr lang="en-US" sz="1800" dirty="0">
                <a:ea typeface="ＭＳ Ｐゴシック" panose="020B0600070205080204" pitchFamily="34" charset="-128"/>
              </a:rPr>
              <a:t>Selecting a victim – minimize </a:t>
            </a:r>
            <a:r>
              <a:rPr lang="en-US" sz="1800" dirty="0" smtClean="0">
                <a:ea typeface="ＭＳ Ｐゴシック" panose="020B0600070205080204" pitchFamily="34" charset="-128"/>
              </a:rPr>
              <a:t>cost</a:t>
            </a:r>
            <a:endParaRPr lang="en-US" sz="1800" dirty="0">
              <a:ea typeface="ＭＳ Ｐゴシック" panose="020B0600070205080204" pitchFamily="34" charset="-128"/>
            </a:endParaRPr>
          </a:p>
          <a:p>
            <a:r>
              <a:rPr lang="en-US" sz="1800" dirty="0">
                <a:ea typeface="ＭＳ Ｐゴシック" panose="020B0600070205080204" pitchFamily="34" charset="-128"/>
              </a:rPr>
              <a:t>Rollback – return to some safe state, restart process for that </a:t>
            </a:r>
            <a:r>
              <a:rPr lang="en-US" sz="1800" dirty="0" smtClean="0">
                <a:ea typeface="ＭＳ Ｐゴシック" panose="020B0600070205080204" pitchFamily="34" charset="-128"/>
              </a:rPr>
              <a:t>state</a:t>
            </a:r>
            <a:endParaRPr lang="en-US" sz="1800" dirty="0">
              <a:ea typeface="ＭＳ Ｐゴシック" panose="020B0600070205080204" pitchFamily="34" charset="-128"/>
            </a:endParaRPr>
          </a:p>
          <a:p>
            <a:r>
              <a:rPr lang="en-US" sz="1800" dirty="0">
                <a:ea typeface="ＭＳ Ｐゴシック" panose="020B0600070205080204" pitchFamily="34" charset="-128"/>
              </a:rPr>
              <a:t>Starvation –  same process may always be picked as victim, include number of rollback in cost factor</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455</TotalTime>
  <Words>2312</Words>
  <Application>Microsoft Office PowerPoint</Application>
  <PresentationFormat>Widescreen</PresentationFormat>
  <Paragraphs>569</Paragraphs>
  <Slides>56</Slides>
  <Notes>53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56</vt:i4>
      </vt:variant>
    </vt:vector>
  </HeadingPairs>
  <TitlesOfParts>
    <vt:vector size="70" baseType="lpstr">
      <vt:lpstr>ＭＳ Ｐゴシック</vt:lpstr>
      <vt:lpstr>Arial</vt:lpstr>
      <vt:lpstr>Calibri</vt:lpstr>
      <vt:lpstr>Century Gothic</vt:lpstr>
      <vt:lpstr>Helvetica</vt:lpstr>
      <vt:lpstr>Monotype Sorts</vt:lpstr>
      <vt:lpstr>MT Extra</vt:lpstr>
      <vt:lpstr>Symbol</vt:lpstr>
      <vt:lpstr>Times New Roman</vt:lpstr>
      <vt:lpstr>Verdana</vt:lpstr>
      <vt:lpstr>Webdings</vt:lpstr>
      <vt:lpstr>Wingdings 2</vt:lpstr>
      <vt:lpstr>Wingdings 3</vt:lpstr>
      <vt:lpstr>Ion</vt:lpstr>
      <vt:lpstr>Module 3</vt:lpstr>
      <vt:lpstr>Background</vt:lpstr>
      <vt:lpstr>PowerPoint Presentation</vt:lpstr>
      <vt:lpstr>Race Condition</vt:lpstr>
      <vt:lpstr>Solution to Critical-Section Problem</vt:lpstr>
      <vt:lpstr>Solution to Critical-section Problem Using Locks</vt:lpstr>
      <vt:lpstr>Peterson’s Solution</vt:lpstr>
      <vt:lpstr>Algorithm for Process Pi</vt:lpstr>
      <vt:lpstr>Synchronization Hardware</vt:lpstr>
      <vt:lpstr>TestAndndSet Instruction </vt:lpstr>
      <vt:lpstr>Solution using TestAndSet</vt:lpstr>
      <vt:lpstr>Swap  Instruction</vt:lpstr>
      <vt:lpstr>Bounded-waiting Mutual Exclusion with TestandSet()</vt:lpstr>
      <vt:lpstr>Semaphore</vt:lpstr>
      <vt:lpstr>Semaphore as General Synchronization Tool</vt:lpstr>
      <vt:lpstr>Semaphore Implementation</vt:lpstr>
      <vt:lpstr>Semaphore Implementation with no Busy waiting </vt:lpstr>
      <vt:lpstr>Semaphore Implementation with no Busy waiting (Cont.)</vt:lpstr>
      <vt:lpstr>Deadlock and Starvation</vt:lpstr>
      <vt:lpstr>Classical Problems of Synchronization</vt:lpstr>
      <vt:lpstr>Bounded-Buffer Problem</vt:lpstr>
      <vt:lpstr>Readers-Writers Problem</vt:lpstr>
      <vt:lpstr>Readers-Writers Problem (Cont.)</vt:lpstr>
      <vt:lpstr>Dining-Philosophers Problem</vt:lpstr>
      <vt:lpstr>Problems with Semaphores</vt:lpstr>
      <vt:lpstr>Chapter 2: Deadlocks </vt:lpstr>
      <vt:lpstr>Bridge Crossing Example</vt:lpstr>
      <vt:lpstr>System Model</vt:lpstr>
      <vt:lpstr>Deadlock Characterization</vt:lpstr>
      <vt:lpstr>Resource-Allocation Graph</vt:lpstr>
      <vt:lpstr>Example of a Resource Allocation Graph</vt:lpstr>
      <vt:lpstr>Basic Facts</vt:lpstr>
      <vt:lpstr>Methods for Handling Deadlocks</vt:lpstr>
      <vt:lpstr>Deadlock Prevention</vt:lpstr>
      <vt:lpstr>Deadlock Avoidance</vt:lpstr>
      <vt:lpstr>Safe State</vt:lpstr>
      <vt:lpstr>Basic Facts</vt:lpstr>
      <vt:lpstr>Avoidance algorithms</vt:lpstr>
      <vt:lpstr>Resource-Allocation Graph Scheme</vt:lpstr>
      <vt:lpstr>Resource-Allocation Graph Algorithm</vt:lpstr>
      <vt:lpstr>Banker’s Algorithm</vt:lpstr>
      <vt:lpstr>Data Structures for the Banker’s Algorithm </vt:lpstr>
      <vt:lpstr>Safety Algorithm</vt:lpstr>
      <vt:lpstr>Resource-Request Algorithm for Process Pi</vt:lpstr>
      <vt:lpstr>Example of Banker’s Algorithm</vt:lpstr>
      <vt:lpstr>Example (Cont.)</vt:lpstr>
      <vt:lpstr>Example:  P1 Request (1,0,2)</vt:lpstr>
      <vt:lpstr>Deadlock Detection</vt:lpstr>
      <vt:lpstr>Single Instance of Each Resource Type</vt:lpstr>
      <vt:lpstr>Several Instances of a Resource Type</vt:lpstr>
      <vt:lpstr>Detection Algorithm</vt:lpstr>
      <vt:lpstr>Example of Detection Algorithm</vt:lpstr>
      <vt:lpstr>Example (Cont.)</vt:lpstr>
      <vt:lpstr>Detection-Algorithm Usage</vt:lpstr>
      <vt:lpstr>Recovery from Deadlock:  Process Termination</vt:lpstr>
      <vt:lpstr>Recovery from Deadlock: Resource Preemption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dc:title>
  <dc:creator>Arbeena</dc:creator>
  <cp:lastModifiedBy>Arbeena</cp:lastModifiedBy>
  <cp:revision>33</cp:revision>
  <dcterms:created xsi:type="dcterms:W3CDTF">2023-10-24T13:50:39Z</dcterms:created>
  <dcterms:modified xsi:type="dcterms:W3CDTF">2023-11-15T07:51:01Z</dcterms:modified>
</cp:coreProperties>
</file>