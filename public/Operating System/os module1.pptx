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5"/>
  </p:notesMasterIdLst>
  <p:sldIdLst>
    <p:sldId id="256" r:id="rId2"/>
    <p:sldId id="261" r:id="rId3"/>
    <p:sldId id="257" r:id="rId4"/>
    <p:sldId id="258" r:id="rId5"/>
    <p:sldId id="259" r:id="rId6"/>
    <p:sldId id="260" r:id="rId7"/>
    <p:sldId id="262" r:id="rId8"/>
    <p:sldId id="263" r:id="rId9"/>
    <p:sldId id="264" r:id="rId10"/>
    <p:sldId id="265" r:id="rId11"/>
    <p:sldId id="266" r:id="rId12"/>
    <p:sldId id="267" r:id="rId13"/>
    <p:sldId id="268" r:id="rId14"/>
    <p:sldId id="269" r:id="rId15"/>
    <p:sldId id="271" r:id="rId16"/>
    <p:sldId id="272" r:id="rId17"/>
    <p:sldId id="274" r:id="rId18"/>
    <p:sldId id="273" r:id="rId19"/>
    <p:sldId id="275" r:id="rId20"/>
    <p:sldId id="276" r:id="rId21"/>
    <p:sldId id="283" r:id="rId22"/>
    <p:sldId id="284" r:id="rId23"/>
    <p:sldId id="285" r:id="rId24"/>
    <p:sldId id="288" r:id="rId25"/>
    <p:sldId id="290" r:id="rId26"/>
    <p:sldId id="292" r:id="rId27"/>
    <p:sldId id="294" r:id="rId28"/>
    <p:sldId id="295" r:id="rId29"/>
    <p:sldId id="296" r:id="rId30"/>
    <p:sldId id="298" r:id="rId31"/>
    <p:sldId id="300" r:id="rId32"/>
    <p:sldId id="302" r:id="rId33"/>
    <p:sldId id="303" r:id="rId34"/>
    <p:sldId id="304" r:id="rId35"/>
    <p:sldId id="307" r:id="rId36"/>
    <p:sldId id="309" r:id="rId37"/>
    <p:sldId id="312" r:id="rId38"/>
    <p:sldId id="311" r:id="rId39"/>
    <p:sldId id="313" r:id="rId40"/>
    <p:sldId id="315" r:id="rId41"/>
    <p:sldId id="316" r:id="rId42"/>
    <p:sldId id="317" r:id="rId43"/>
    <p:sldId id="319" r:id="rId44"/>
    <p:sldId id="320" r:id="rId45"/>
    <p:sldId id="321" r:id="rId46"/>
    <p:sldId id="322" r:id="rId47"/>
    <p:sldId id="323" r:id="rId48"/>
    <p:sldId id="324" r:id="rId49"/>
    <p:sldId id="325" r:id="rId50"/>
    <p:sldId id="326" r:id="rId51"/>
    <p:sldId id="327" r:id="rId52"/>
    <p:sldId id="328" r:id="rId53"/>
    <p:sldId id="329"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434" autoAdjust="0"/>
  </p:normalViewPr>
  <p:slideViewPr>
    <p:cSldViewPr snapToGrid="0">
      <p:cViewPr varScale="1">
        <p:scale>
          <a:sx n="70" d="100"/>
          <a:sy n="70" d="100"/>
        </p:scale>
        <p:origin x="1062" y="84"/>
      </p:cViewPr>
      <p:guideLst/>
    </p:cSldViewPr>
  </p:slideViewPr>
  <p:outlineViewPr>
    <p:cViewPr>
      <p:scale>
        <a:sx n="33" d="100"/>
        <a:sy n="33" d="100"/>
      </p:scale>
      <p:origin x="0" y="-138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C300FF-20E2-4DB6-A560-C74C24EE032F}"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21CDC6-47FA-4A33-9DB6-BFE334ED8A2B}" type="slidenum">
              <a:rPr lang="en-US" smtClean="0"/>
              <a:t>‹#›</a:t>
            </a:fld>
            <a:endParaRPr lang="en-US"/>
          </a:p>
        </p:txBody>
      </p:sp>
    </p:spTree>
    <p:extLst>
      <p:ext uri="{BB962C8B-B14F-4D97-AF65-F5344CB8AC3E}">
        <p14:creationId xmlns:p14="http://schemas.microsoft.com/office/powerpoint/2010/main" val="2339589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15791D5-D868-4958-BC48-49968E2B4591}" type="slidenum">
              <a:rPr lang="en-US">
                <a:latin typeface="Times New Roman" panose="02020603050405020304" pitchFamily="18" charset="0"/>
              </a:rPr>
              <a:pPr/>
              <a:t>24</a:t>
            </a:fld>
            <a:endParaRPr lang="en-US">
              <a:latin typeface="Times New Roman" panose="02020603050405020304" pitchFamily="18" charset="0"/>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982318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545960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40B04292-2AA0-4095-BD40-A83DFD6D284B}" type="slidenum">
              <a:rPr lang="en-US">
                <a:latin typeface="Times New Roman" panose="02020603050405020304" pitchFamily="18" charset="0"/>
              </a:rPr>
              <a:pPr/>
              <a:t>26</a:t>
            </a:fld>
            <a:endParaRPr lang="en-US">
              <a:latin typeface="Times New Roman" panose="02020603050405020304"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591190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C37327A-D517-4123-ADE5-DDDAF305B4B2}" type="slidenum">
              <a:rPr lang="en-US">
                <a:latin typeface="Times New Roman" panose="02020603050405020304" pitchFamily="18" charset="0"/>
              </a:rPr>
              <a:pPr/>
              <a:t>27</a:t>
            </a:fld>
            <a:endParaRPr lang="en-US">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083795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3AC25D3-D733-4A0F-8CCD-5E49F65B768A}" type="slidenum">
              <a:rPr lang="en-US">
                <a:latin typeface="Times New Roman" panose="02020603050405020304" pitchFamily="18" charset="0"/>
              </a:rPr>
              <a:pPr/>
              <a:t>28</a:t>
            </a:fld>
            <a:endParaRPr lang="en-US">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48192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0409E9D-0926-4569-AAC5-00CF0E332942}" type="slidenum">
              <a:rPr lang="en-US">
                <a:latin typeface="Times New Roman" panose="02020603050405020304" pitchFamily="18" charset="0"/>
              </a:rPr>
              <a:pPr/>
              <a:t>29</a:t>
            </a:fld>
            <a:endParaRPr lang="en-US">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473378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939EF12-7D1A-472C-B2B9-F50E533F2000}" type="slidenum">
              <a:rPr lang="en-US">
                <a:latin typeface="Times New Roman" panose="02020603050405020304" pitchFamily="18" charset="0"/>
              </a:rPr>
              <a:pPr/>
              <a:t>30</a:t>
            </a:fld>
            <a:endParaRPr lang="en-US">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068434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54C67F2-3125-4DE2-A39B-7124616E1274}" type="slidenum">
              <a:rPr lang="en-US">
                <a:latin typeface="Times New Roman" panose="02020603050405020304" pitchFamily="18" charset="0"/>
              </a:rPr>
              <a:pPr/>
              <a:t>31</a:t>
            </a:fld>
            <a:endParaRPr lang="en-US">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891872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5E36681-AF72-4F3B-BF1D-F40F545DD090}" type="slidenum">
              <a:rPr lang="en-US">
                <a:latin typeface="Times New Roman" panose="02020603050405020304" pitchFamily="18" charset="0"/>
              </a:rPr>
              <a:pPr/>
              <a:t>32</a:t>
            </a:fld>
            <a:endParaRPr lang="en-US">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563008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3427A20-0AD9-47EC-923D-E636C90BCD6E}" type="slidenum">
              <a:rPr lang="en-US">
                <a:latin typeface="Times New Roman" panose="02020603050405020304" pitchFamily="18" charset="0"/>
              </a:rPr>
              <a:pPr/>
              <a:t>33</a:t>
            </a:fld>
            <a:endParaRPr lang="en-US">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299885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3A7909C-3784-4240-BD59-03916707020D}" type="slidenum">
              <a:rPr lang="en-US">
                <a:latin typeface="Times New Roman" panose="02020603050405020304" pitchFamily="18" charset="0"/>
              </a:rPr>
              <a:pPr/>
              <a:t>34</a:t>
            </a:fld>
            <a:endParaRPr lang="en-US">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719767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A6956A56-ED17-492B-A287-5FB80D446F73}" type="slidenum">
              <a:rPr lang="en-US">
                <a:latin typeface="Times New Roman" panose="02020603050405020304" pitchFamily="18" charset="0"/>
              </a:rPr>
              <a:pPr/>
              <a:t>35</a:t>
            </a:fld>
            <a:endParaRPr lang="en-US">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781491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3D6963D-2968-4384-9017-A337210D1CD6}" type="slidenum">
              <a:rPr lang="en-US">
                <a:latin typeface="Times New Roman" panose="02020603050405020304" pitchFamily="18" charset="0"/>
              </a:rPr>
              <a:pPr/>
              <a:t>36</a:t>
            </a:fld>
            <a:endParaRPr lang="en-US">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479158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299FC7B-55AC-4013-9762-6C95986E5446}" type="slidenum">
              <a:rPr lang="en-US">
                <a:latin typeface="Times New Roman" panose="02020603050405020304" pitchFamily="18" charset="0"/>
              </a:rPr>
              <a:pPr/>
              <a:t>37</a:t>
            </a:fld>
            <a:endParaRPr lang="en-US">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534819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279C390-509E-4EC8-8B09-828442935990}" type="slidenum">
              <a:rPr lang="en-US">
                <a:latin typeface="Times New Roman" panose="02020603050405020304" pitchFamily="18" charset="0"/>
              </a:rPr>
              <a:pPr/>
              <a:t>38</a:t>
            </a:fld>
            <a:endParaRPr lang="en-US">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722385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BBF503D-AC39-4D03-AC67-8D3FAAB61E5D}" type="slidenum">
              <a:rPr lang="en-US">
                <a:latin typeface="Times New Roman" panose="02020603050405020304" pitchFamily="18" charset="0"/>
              </a:rPr>
              <a:pPr/>
              <a:t>39</a:t>
            </a:fld>
            <a:endParaRPr lang="en-US">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0587801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F5D7543-606E-4C04-9EF5-75ECFCE74566}" type="slidenum">
              <a:rPr lang="en-US">
                <a:latin typeface="Times New Roman" panose="02020603050405020304" pitchFamily="18" charset="0"/>
              </a:rPr>
              <a:pPr/>
              <a:t>40</a:t>
            </a:fld>
            <a:endParaRPr lang="en-US">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305594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04319E2-9966-4CD2-99DC-45F1E074020E}" type="slidenum">
              <a:rPr lang="en-US">
                <a:latin typeface="Times New Roman" panose="02020603050405020304" pitchFamily="18" charset="0"/>
              </a:rPr>
              <a:pPr/>
              <a:t>41</a:t>
            </a:fld>
            <a:endParaRPr lang="en-US">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575092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3C8D910-1F9F-4271-81A5-06E329AC2033}" type="slidenum">
              <a:rPr lang="en-US">
                <a:latin typeface="Times New Roman" panose="02020603050405020304" pitchFamily="18" charset="0"/>
              </a:rPr>
              <a:pPr/>
              <a:t>42</a:t>
            </a:fld>
            <a:endParaRPr lang="en-US">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9570886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CD21B642-67F4-44FE-A328-5A8D6C30BBC3}" type="slidenum">
              <a:rPr lang="en-US">
                <a:latin typeface="Times New Roman" panose="02020603050405020304" pitchFamily="18" charset="0"/>
              </a:rPr>
              <a:pPr/>
              <a:t>43</a:t>
            </a:fld>
            <a:endParaRPr lang="en-US">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963842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4BB20C0-4E42-41B6-B02D-9C0D5DD77FFB}" type="slidenum">
              <a:rPr lang="en-US">
                <a:latin typeface="Times New Roman" panose="02020603050405020304" pitchFamily="18" charset="0"/>
              </a:rPr>
              <a:pPr/>
              <a:t>44</a:t>
            </a:fld>
            <a:endParaRPr lang="en-US">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5532981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D5305E1-8AEB-4F65-8F03-4F296E9397B6}" type="slidenum">
              <a:rPr lang="en-US">
                <a:latin typeface="Times New Roman" panose="02020603050405020304" pitchFamily="18" charset="0"/>
              </a:rPr>
              <a:pPr/>
              <a:t>45</a:t>
            </a:fld>
            <a:endParaRPr lang="en-US">
              <a:latin typeface="Times New Roman" panose="02020603050405020304"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8474515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7748741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5358713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5A7E271-D738-4A53-87F3-E59C8DCFC4E3}" type="slidenum">
              <a:rPr lang="en-US">
                <a:latin typeface="Times New Roman" panose="02020603050405020304" pitchFamily="18" charset="0"/>
              </a:rPr>
              <a:pPr/>
              <a:t>48</a:t>
            </a:fld>
            <a:endParaRPr lang="en-US">
              <a:latin typeface="Times New Roman" panose="02020603050405020304"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4349312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FA6F3BC-8DEB-46D1-BA79-D372CBB6127D}" type="slidenum">
              <a:rPr lang="en-US">
                <a:latin typeface="Times New Roman" panose="02020603050405020304" pitchFamily="18" charset="0"/>
              </a:rPr>
              <a:pPr/>
              <a:t>49</a:t>
            </a:fld>
            <a:endParaRPr lang="en-US">
              <a:latin typeface="Times New Roman" panose="02020603050405020304"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5797183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046756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A9A233E-06A4-42A4-94E7-4F3955539379}" type="slidenum">
              <a:rPr lang="en-US">
                <a:latin typeface="Times New Roman" panose="02020603050405020304" pitchFamily="18" charset="0"/>
              </a:rPr>
              <a:pPr/>
              <a:t>51</a:t>
            </a:fld>
            <a:endParaRPr lang="en-US">
              <a:latin typeface="Times New Roman" panose="02020603050405020304"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42600368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F40B3447-9CA7-4A7B-985B-F208300A507C}" type="slidenum">
              <a:rPr lang="en-US">
                <a:latin typeface="Times New Roman" panose="02020603050405020304" pitchFamily="18" charset="0"/>
              </a:rPr>
              <a:pPr/>
              <a:t>52</a:t>
            </a:fld>
            <a:endParaRPr lang="en-US">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2440588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defTabSz="923925">
              <a:defRPr>
                <a:solidFill>
                  <a:schemeClr val="tx1"/>
                </a:solidFill>
                <a:latin typeface="Verdana" panose="020B0604030504040204" pitchFamily="34" charset="0"/>
                <a:ea typeface="ＭＳ Ｐゴシック" panose="020B0600070205080204" pitchFamily="34" charset="-128"/>
              </a:defRPr>
            </a:lvl1pPr>
            <a:lvl2pPr marL="36274375" indent="-35837813" defTabSz="923925">
              <a:defRPr>
                <a:solidFill>
                  <a:schemeClr val="tx1"/>
                </a:solidFill>
                <a:latin typeface="Verdana" panose="020B0604030504040204" pitchFamily="34" charset="0"/>
                <a:ea typeface="ＭＳ Ｐゴシック" panose="020B0600070205080204" pitchFamily="34" charset="-128"/>
              </a:defRPr>
            </a:lvl2pPr>
            <a:lvl3pPr marL="49442688" indent="-48567975" defTabSz="923925">
              <a:defRPr>
                <a:solidFill>
                  <a:schemeClr val="tx1"/>
                </a:solidFill>
                <a:latin typeface="Verdana" panose="020B0604030504040204" pitchFamily="34" charset="0"/>
                <a:ea typeface="ＭＳ Ｐゴシック" panose="020B0600070205080204" pitchFamily="34" charset="-128"/>
              </a:defRPr>
            </a:lvl3pPr>
            <a:lvl4pPr marL="1600200" indent="-228600" defTabSz="923925">
              <a:defRPr>
                <a:solidFill>
                  <a:schemeClr val="tx1"/>
                </a:solidFill>
                <a:latin typeface="Verdana" panose="020B0604030504040204" pitchFamily="34" charset="0"/>
                <a:ea typeface="ＭＳ Ｐゴシック" panose="020B0600070205080204" pitchFamily="34" charset="-128"/>
              </a:defRPr>
            </a:lvl4pPr>
            <a:lvl5pPr marL="2057400" indent="-228600" defTabSz="923925">
              <a:defRPr>
                <a:solidFill>
                  <a:schemeClr val="tx1"/>
                </a:solidFill>
                <a:latin typeface="Verdana" panose="020B0604030504040204" pitchFamily="34" charset="0"/>
                <a:ea typeface="ＭＳ Ｐゴシック"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59EF7D1-9231-4B16-B7F4-4C99674B3FEA}" type="slidenum">
              <a:rPr lang="en-US">
                <a:latin typeface="Times New Roman" panose="02020603050405020304" pitchFamily="18" charset="0"/>
              </a:rPr>
              <a:pPr/>
              <a:t>53</a:t>
            </a:fld>
            <a:endParaRPr lang="en-US">
              <a:latin typeface="Times New Roman" panose="02020603050405020304" pitchFamily="18"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329784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8/10/2026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8/10/2026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8/10/2026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8/10/2026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0.jpe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546" y="334851"/>
            <a:ext cx="11771291" cy="2369711"/>
          </a:xfrm>
        </p:spPr>
        <p:txBody>
          <a:bodyPr/>
          <a:lstStyle/>
          <a:p>
            <a:pPr algn="ctr"/>
            <a:r>
              <a:rPr lang="en-US" dirty="0" smtClean="0"/>
              <a:t>Operating system </a:t>
            </a:r>
            <a:br>
              <a:rPr lang="en-US" dirty="0" smtClean="0"/>
            </a:br>
            <a:r>
              <a:rPr lang="en-US" sz="4000" dirty="0" smtClean="0"/>
              <a:t>module 1</a:t>
            </a:r>
            <a:endParaRPr lang="en-US" dirty="0"/>
          </a:p>
        </p:txBody>
      </p:sp>
      <p:pic>
        <p:nvPicPr>
          <p:cNvPr id="4" name="Picture 3"/>
          <p:cNvPicPr>
            <a:picLocks noChangeAspect="1"/>
          </p:cNvPicPr>
          <p:nvPr/>
        </p:nvPicPr>
        <p:blipFill>
          <a:blip r:embed="rId2"/>
          <a:stretch>
            <a:fillRect/>
          </a:stretch>
        </p:blipFill>
        <p:spPr>
          <a:xfrm>
            <a:off x="618186" y="2846231"/>
            <a:ext cx="10947042" cy="3812146"/>
          </a:xfrm>
          <a:prstGeom prst="rect">
            <a:avLst/>
          </a:prstGeom>
        </p:spPr>
      </p:pic>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485204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Where is your operating system </a:t>
            </a:r>
            <a:r>
              <a:rPr lang="en-US" dirty="0" err="1" smtClean="0"/>
              <a:t>ln</a:t>
            </a:r>
            <a:r>
              <a:rPr lang="en-US" dirty="0" smtClean="0"/>
              <a:t> computer ?</a:t>
            </a:r>
            <a:endParaRPr lang="en-US" dirty="0"/>
          </a:p>
        </p:txBody>
      </p:sp>
      <p:pic>
        <p:nvPicPr>
          <p:cNvPr id="4" name="Content Placeholder 3"/>
          <p:cNvPicPr>
            <a:picLocks noGrp="1" noChangeAspect="1"/>
          </p:cNvPicPr>
          <p:nvPr>
            <p:ph idx="1"/>
          </p:nvPr>
        </p:nvPicPr>
        <p:blipFill>
          <a:blip r:embed="rId2"/>
          <a:stretch>
            <a:fillRect/>
          </a:stretch>
        </p:blipFill>
        <p:spPr>
          <a:xfrm>
            <a:off x="2558383" y="2052638"/>
            <a:ext cx="6037009" cy="4195762"/>
          </a:xfrm>
          <a:prstGeom prst="rect">
            <a:avLst/>
          </a:prstGeom>
        </p:spPr>
      </p:pic>
    </p:spTree>
    <p:extLst>
      <p:ext uri="{BB962C8B-B14F-4D97-AF65-F5344CB8AC3E}">
        <p14:creationId xmlns:p14="http://schemas.microsoft.com/office/powerpoint/2010/main" val="1998144395"/>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204105"/>
          </a:xfrm>
        </p:spPr>
        <p:txBody>
          <a:bodyPr/>
          <a:lstStyle/>
          <a:p>
            <a:endParaRPr lang="en-US" dirty="0"/>
          </a:p>
        </p:txBody>
      </p:sp>
      <p:sp>
        <p:nvSpPr>
          <p:cNvPr id="3" name="Content Placeholder 2"/>
          <p:cNvSpPr>
            <a:spLocks noGrp="1"/>
          </p:cNvSpPr>
          <p:nvPr>
            <p:ph idx="1"/>
          </p:nvPr>
        </p:nvSpPr>
        <p:spPr>
          <a:xfrm>
            <a:off x="1103312" y="1210614"/>
            <a:ext cx="8946541" cy="5037785"/>
          </a:xfrm>
        </p:spPr>
        <p:txBody>
          <a:bodyPr/>
          <a:lstStyle/>
          <a:p>
            <a:r>
              <a:rPr lang="en-US" b="1" dirty="0"/>
              <a:t>What is an Operating System?</a:t>
            </a:r>
            <a:endParaRPr lang="en-US" b="1" u="sng" dirty="0"/>
          </a:p>
          <a:p>
            <a:pPr marL="0" indent="0">
              <a:buNone/>
            </a:pPr>
            <a:r>
              <a:rPr lang="en-US" b="1" i="1" dirty="0"/>
              <a:t>An operating system is system software that acts as an intermediary between a user of a computer and the computer hardware. </a:t>
            </a:r>
            <a:endParaRPr lang="en-US" b="1" i="1" dirty="0" smtClean="0"/>
          </a:p>
          <a:p>
            <a:pPr marL="0" indent="0">
              <a:buNone/>
            </a:pPr>
            <a:endParaRPr lang="en-US" dirty="0"/>
          </a:p>
        </p:txBody>
      </p:sp>
      <p:pic>
        <p:nvPicPr>
          <p:cNvPr id="4" name="image1.jpeg"/>
          <p:cNvPicPr/>
          <p:nvPr/>
        </p:nvPicPr>
        <p:blipFill>
          <a:blip r:embed="rId2" cstate="print"/>
          <a:stretch>
            <a:fillRect/>
          </a:stretch>
        </p:blipFill>
        <p:spPr>
          <a:xfrm>
            <a:off x="1169842" y="2665926"/>
            <a:ext cx="8813480" cy="3271235"/>
          </a:xfrm>
          <a:prstGeom prst="rect">
            <a:avLst/>
          </a:prstGeom>
        </p:spPr>
      </p:pic>
    </p:spTree>
    <p:extLst>
      <p:ext uri="{BB962C8B-B14F-4D97-AF65-F5344CB8AC3E}">
        <p14:creationId xmlns:p14="http://schemas.microsoft.com/office/powerpoint/2010/main" val="3692978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78347"/>
          </a:xfrm>
        </p:spPr>
        <p:txBody>
          <a:bodyPr/>
          <a:lstStyle/>
          <a:p>
            <a:endParaRPr lang="en-US" dirty="0"/>
          </a:p>
        </p:txBody>
      </p:sp>
      <p:sp>
        <p:nvSpPr>
          <p:cNvPr id="3" name="Content Placeholder 2"/>
          <p:cNvSpPr>
            <a:spLocks noGrp="1"/>
          </p:cNvSpPr>
          <p:nvPr>
            <p:ph idx="1"/>
          </p:nvPr>
        </p:nvSpPr>
        <p:spPr>
          <a:xfrm>
            <a:off x="373487" y="759854"/>
            <a:ext cx="10650827" cy="5962918"/>
          </a:xfrm>
        </p:spPr>
        <p:txBody>
          <a:bodyPr/>
          <a:lstStyle/>
          <a:p>
            <a:r>
              <a:rPr lang="en-US" dirty="0"/>
              <a:t>Operating System can be viewed from two </a:t>
            </a:r>
            <a:r>
              <a:rPr lang="en-US" dirty="0" smtClean="0"/>
              <a:t>viewpoints–User </a:t>
            </a:r>
            <a:r>
              <a:rPr lang="en-US" dirty="0"/>
              <a:t>views &amp; System </a:t>
            </a:r>
            <a:r>
              <a:rPr lang="en-US" dirty="0" smtClean="0"/>
              <a:t>views</a:t>
            </a:r>
          </a:p>
          <a:p>
            <a:pPr marL="0" indent="0">
              <a:buNone/>
            </a:pPr>
            <a:r>
              <a:rPr lang="en-US" b="1" i="1" u="heavy" dirty="0"/>
              <a:t>User Views</a:t>
            </a:r>
            <a:r>
              <a:rPr lang="en-US" b="1" i="1" u="heavy" dirty="0" smtClean="0"/>
              <a:t>:-</a:t>
            </a:r>
          </a:p>
          <a:p>
            <a:r>
              <a:rPr lang="en-US" dirty="0"/>
              <a:t>If the user is using </a:t>
            </a:r>
            <a:r>
              <a:rPr lang="en-US" b="1" dirty="0"/>
              <a:t>standalone </a:t>
            </a:r>
            <a:r>
              <a:rPr lang="en-US" dirty="0"/>
              <a:t>system</a:t>
            </a:r>
          </a:p>
          <a:p>
            <a:r>
              <a:rPr lang="en-US" dirty="0"/>
              <a:t>If the users are at different </a:t>
            </a:r>
            <a:r>
              <a:rPr lang="en-US" b="1" dirty="0"/>
              <a:t>terminals </a:t>
            </a:r>
            <a:r>
              <a:rPr lang="en-US" dirty="0"/>
              <a:t>connected to a mainframe or minicomputers.</a:t>
            </a:r>
          </a:p>
          <a:p>
            <a:r>
              <a:rPr lang="en-US" dirty="0"/>
              <a:t>If the users are in </a:t>
            </a:r>
            <a:r>
              <a:rPr lang="en-US" b="1" dirty="0"/>
              <a:t>workstations</a:t>
            </a:r>
            <a:r>
              <a:rPr lang="en-US" dirty="0"/>
              <a:t>.</a:t>
            </a:r>
          </a:p>
          <a:p>
            <a:r>
              <a:rPr lang="en-US" dirty="0"/>
              <a:t>Users of </a:t>
            </a:r>
            <a:r>
              <a:rPr lang="en-US" b="1" dirty="0"/>
              <a:t>hand held </a:t>
            </a:r>
            <a:r>
              <a:rPr lang="en-US" dirty="0" smtClean="0"/>
              <a:t>systems</a:t>
            </a:r>
            <a:endParaRPr lang="en-US" b="1" i="1" u="heavy" dirty="0" smtClean="0"/>
          </a:p>
          <a:p>
            <a:pPr marL="0" indent="0">
              <a:buNone/>
            </a:pPr>
            <a:r>
              <a:rPr lang="en-US" b="1" i="1" u="heavy" dirty="0" smtClean="0"/>
              <a:t>System Views:-</a:t>
            </a:r>
          </a:p>
          <a:p>
            <a:r>
              <a:rPr lang="en-US" dirty="0"/>
              <a:t>Operating system can be viewed as a </a:t>
            </a:r>
            <a:r>
              <a:rPr lang="en-US" b="1" dirty="0"/>
              <a:t>resource allocator </a:t>
            </a:r>
            <a:r>
              <a:rPr lang="en-US" dirty="0"/>
              <a:t>and </a:t>
            </a:r>
            <a:r>
              <a:rPr lang="en-US" b="1" dirty="0"/>
              <a:t>control program</a:t>
            </a:r>
            <a:r>
              <a:rPr lang="en-US" dirty="0" smtClean="0"/>
              <a:t>.</a:t>
            </a:r>
          </a:p>
          <a:p>
            <a:r>
              <a:rPr lang="en-US" b="1" dirty="0"/>
              <a:t>Resource allocator </a:t>
            </a:r>
            <a:endParaRPr lang="en-US" b="1" dirty="0" smtClean="0"/>
          </a:p>
          <a:p>
            <a:r>
              <a:rPr lang="en-US" b="1" dirty="0"/>
              <a:t>Control Program</a:t>
            </a:r>
            <a:endParaRPr lang="en-US" b="1" i="1" u="heavy" dirty="0" smtClean="0"/>
          </a:p>
          <a:p>
            <a:pPr marL="0" indent="0">
              <a:buNone/>
            </a:pPr>
            <a:endParaRPr lang="en-US" dirty="0"/>
          </a:p>
        </p:txBody>
      </p:sp>
    </p:spTree>
    <p:extLst>
      <p:ext uri="{BB962C8B-B14F-4D97-AF65-F5344CB8AC3E}">
        <p14:creationId xmlns:p14="http://schemas.microsoft.com/office/powerpoint/2010/main" val="4176804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heavy" dirty="0"/>
              <a:t>Computer System Organization</a:t>
            </a:r>
            <a:r>
              <a:rPr lang="en-US" b="1" u="sng" dirty="0"/>
              <a:t/>
            </a:r>
            <a:br>
              <a:rPr lang="en-US" b="1" u="sng" dirty="0"/>
            </a:br>
            <a:endParaRPr lang="en-US" dirty="0"/>
          </a:p>
        </p:txBody>
      </p:sp>
      <p:sp>
        <p:nvSpPr>
          <p:cNvPr id="3" name="Content Placeholder 2"/>
          <p:cNvSpPr>
            <a:spLocks noGrp="1"/>
          </p:cNvSpPr>
          <p:nvPr>
            <p:ph idx="1"/>
          </p:nvPr>
        </p:nvSpPr>
        <p:spPr>
          <a:xfrm>
            <a:off x="1103312" y="1378040"/>
            <a:ext cx="8946541" cy="4870360"/>
          </a:xfrm>
        </p:spPr>
        <p:txBody>
          <a:bodyPr/>
          <a:lstStyle/>
          <a:p>
            <a:pPr marL="0" indent="0">
              <a:buNone/>
            </a:pPr>
            <a:r>
              <a:rPr lang="en-US" b="1" i="1" dirty="0"/>
              <a:t>Computer-system </a:t>
            </a:r>
            <a:r>
              <a:rPr lang="en-US" b="1" i="1" dirty="0" smtClean="0"/>
              <a:t>operation</a:t>
            </a:r>
          </a:p>
          <a:p>
            <a:pPr marL="0" indent="0">
              <a:buNone/>
            </a:pPr>
            <a:endParaRPr lang="en-US" b="1" i="1" dirty="0"/>
          </a:p>
          <a:p>
            <a:pPr marL="0" indent="0">
              <a:buNone/>
            </a:pPr>
            <a:endParaRPr lang="en-US" b="1" i="1" dirty="0" smtClean="0"/>
          </a:p>
          <a:p>
            <a:pPr marL="0" indent="0">
              <a:buNone/>
            </a:pPr>
            <a:endParaRPr lang="en-US" b="1" i="1" dirty="0"/>
          </a:p>
          <a:p>
            <a:pPr marL="0" indent="0">
              <a:buNone/>
            </a:pPr>
            <a:endParaRPr lang="en-US" b="1" i="1" dirty="0" smtClean="0"/>
          </a:p>
          <a:p>
            <a:r>
              <a:rPr lang="en-US" dirty="0"/>
              <a:t>When system is switched on, ‘</a:t>
            </a:r>
            <a:r>
              <a:rPr lang="en-US" b="1" dirty="0"/>
              <a:t>Bootstrap’ </a:t>
            </a:r>
            <a:r>
              <a:rPr lang="en-US" dirty="0"/>
              <a:t>program is </a:t>
            </a:r>
            <a:r>
              <a:rPr lang="en-US" dirty="0" smtClean="0"/>
              <a:t>executed</a:t>
            </a:r>
          </a:p>
          <a:p>
            <a:r>
              <a:rPr lang="en-US" dirty="0"/>
              <a:t>‘Bootstrap’ program</a:t>
            </a:r>
          </a:p>
          <a:p>
            <a:pPr lvl="1"/>
            <a:r>
              <a:rPr lang="en-US" dirty="0"/>
              <a:t>Initializes the registers, memory and I/O devices</a:t>
            </a:r>
            <a:endParaRPr lang="en-US" sz="1600" dirty="0"/>
          </a:p>
          <a:p>
            <a:pPr lvl="1"/>
            <a:r>
              <a:rPr lang="en-US" dirty="0"/>
              <a:t>Locates &amp; loads kernel into memory</a:t>
            </a:r>
            <a:endParaRPr lang="en-US" sz="1600" dirty="0"/>
          </a:p>
          <a:p>
            <a:pPr lvl="1"/>
            <a:r>
              <a:rPr lang="en-US" dirty="0"/>
              <a:t>Starts with ‘</a:t>
            </a:r>
            <a:r>
              <a:rPr lang="en-US" dirty="0" err="1"/>
              <a:t>init</a:t>
            </a:r>
            <a:r>
              <a:rPr lang="en-US" dirty="0"/>
              <a:t>’ </a:t>
            </a:r>
            <a:r>
              <a:rPr lang="en-US" dirty="0" smtClean="0"/>
              <a:t>process</a:t>
            </a:r>
            <a:endParaRPr lang="en-US" sz="1600" dirty="0"/>
          </a:p>
          <a:p>
            <a:pPr lvl="1"/>
            <a:r>
              <a:rPr lang="en-US" dirty="0" smtClean="0"/>
              <a:t>Waits </a:t>
            </a:r>
            <a:r>
              <a:rPr lang="en-US" dirty="0"/>
              <a:t>for interrupt from user</a:t>
            </a:r>
            <a:endParaRPr lang="en-US" b="1" i="1" dirty="0"/>
          </a:p>
        </p:txBody>
      </p:sp>
      <p:pic>
        <p:nvPicPr>
          <p:cNvPr id="6" name="image2.jpeg"/>
          <p:cNvPicPr/>
          <p:nvPr/>
        </p:nvPicPr>
        <p:blipFill>
          <a:blip r:embed="rId2" cstate="print"/>
          <a:stretch>
            <a:fillRect/>
          </a:stretch>
        </p:blipFill>
        <p:spPr>
          <a:xfrm>
            <a:off x="1201475" y="1759785"/>
            <a:ext cx="8293994" cy="1756147"/>
          </a:xfrm>
          <a:prstGeom prst="rect">
            <a:avLst/>
          </a:prstGeom>
        </p:spPr>
      </p:pic>
    </p:spTree>
    <p:extLst>
      <p:ext uri="{BB962C8B-B14F-4D97-AF65-F5344CB8AC3E}">
        <p14:creationId xmlns:p14="http://schemas.microsoft.com/office/powerpoint/2010/main" val="2674287842"/>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38200"/>
          </a:xfrm>
        </p:spPr>
        <p:txBody>
          <a:bodyPr/>
          <a:lstStyle/>
          <a:p>
            <a:r>
              <a:rPr lang="en-US" b="1" u="heavy" dirty="0"/>
              <a:t>Computer System Organization</a:t>
            </a:r>
            <a:r>
              <a:rPr lang="en-US" b="1" u="sng" dirty="0"/>
              <a:t/>
            </a:r>
            <a:br>
              <a:rPr lang="en-US" b="1" u="sng" dirty="0"/>
            </a:br>
            <a:endParaRPr lang="en-US" dirty="0"/>
          </a:p>
        </p:txBody>
      </p:sp>
      <p:sp>
        <p:nvSpPr>
          <p:cNvPr id="3" name="Content Placeholder 2"/>
          <p:cNvSpPr>
            <a:spLocks noGrp="1"/>
          </p:cNvSpPr>
          <p:nvPr>
            <p:ph idx="1"/>
          </p:nvPr>
        </p:nvSpPr>
        <p:spPr>
          <a:xfrm>
            <a:off x="0" y="1249252"/>
            <a:ext cx="12191999" cy="5608748"/>
          </a:xfrm>
        </p:spPr>
        <p:txBody>
          <a:bodyPr>
            <a:normAutofit fontScale="92500" lnSpcReduction="20000"/>
          </a:bodyPr>
          <a:lstStyle/>
          <a:p>
            <a:r>
              <a:rPr lang="en-US" b="1" dirty="0"/>
              <a:t>Interrupt handling </a:t>
            </a:r>
            <a:r>
              <a:rPr lang="en-US" b="1" dirty="0" smtClean="0"/>
              <a:t>                                                 storage structure </a:t>
            </a:r>
          </a:p>
          <a:p>
            <a:endParaRPr lang="en-US" b="1" dirty="0" smtClean="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r>
              <a:rPr lang="en-US" b="1" dirty="0"/>
              <a:t>Cashing </a:t>
            </a:r>
          </a:p>
          <a:p>
            <a:pPr marL="0" indent="0">
              <a:buNone/>
            </a:pPr>
            <a:r>
              <a:rPr lang="en-US" dirty="0" smtClean="0"/>
              <a:t>Information </a:t>
            </a:r>
            <a:r>
              <a:rPr lang="en-US" dirty="0"/>
              <a:t>in use copied from slower to faster storage temporarily. Faster storage (cache) checked first to determine if information is there, If it is, information used directly from the cache (fast) .If not, data copied to cache and used their Cache smaller than storage being cached Cache management </a:t>
            </a:r>
          </a:p>
          <a:p>
            <a:pPr marL="0" indent="0">
              <a:buNone/>
            </a:pPr>
            <a:endParaRPr lang="en-US" dirty="0"/>
          </a:p>
          <a:p>
            <a:pPr marL="0" indent="0">
              <a:buNone/>
            </a:pPr>
            <a:endParaRPr lang="en-US" dirty="0"/>
          </a:p>
        </p:txBody>
      </p:sp>
      <p:pic>
        <p:nvPicPr>
          <p:cNvPr id="4" name="image3.png"/>
          <p:cNvPicPr/>
          <p:nvPr/>
        </p:nvPicPr>
        <p:blipFill>
          <a:blip r:embed="rId2" cstate="print"/>
          <a:stretch>
            <a:fillRect/>
          </a:stretch>
        </p:blipFill>
        <p:spPr>
          <a:xfrm>
            <a:off x="191069" y="1597306"/>
            <a:ext cx="4946449" cy="3616140"/>
          </a:xfrm>
          <a:prstGeom prst="rect">
            <a:avLst/>
          </a:prstGeom>
        </p:spPr>
      </p:pic>
      <p:pic>
        <p:nvPicPr>
          <p:cNvPr id="5" name="image4.jpeg"/>
          <p:cNvPicPr/>
          <p:nvPr/>
        </p:nvPicPr>
        <p:blipFill>
          <a:blip r:embed="rId3" cstate="print"/>
          <a:stretch>
            <a:fillRect/>
          </a:stretch>
        </p:blipFill>
        <p:spPr>
          <a:xfrm>
            <a:off x="5888146" y="1597306"/>
            <a:ext cx="5776140" cy="3616140"/>
          </a:xfrm>
          <a:prstGeom prst="rect">
            <a:avLst/>
          </a:prstGeom>
        </p:spPr>
      </p:pic>
    </p:spTree>
    <p:extLst>
      <p:ext uri="{BB962C8B-B14F-4D97-AF65-F5344CB8AC3E}">
        <p14:creationId xmlns:p14="http://schemas.microsoft.com/office/powerpoint/2010/main" val="1897245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61933"/>
          </a:xfrm>
        </p:spPr>
        <p:txBody>
          <a:bodyPr/>
          <a:lstStyle/>
          <a:p>
            <a:r>
              <a:rPr lang="en-US" b="1" u="heavy" dirty="0"/>
              <a:t>Computer System </a:t>
            </a:r>
            <a:r>
              <a:rPr lang="en-US" b="1" u="heavy" dirty="0" smtClean="0"/>
              <a:t>Architecture </a:t>
            </a:r>
            <a:endParaRPr lang="en-US" dirty="0"/>
          </a:p>
        </p:txBody>
      </p:sp>
      <p:sp>
        <p:nvSpPr>
          <p:cNvPr id="5" name="Content Placeholder 4"/>
          <p:cNvSpPr>
            <a:spLocks noGrp="1"/>
          </p:cNvSpPr>
          <p:nvPr>
            <p:ph idx="1"/>
          </p:nvPr>
        </p:nvSpPr>
        <p:spPr>
          <a:xfrm>
            <a:off x="0" y="1214652"/>
            <a:ext cx="12192000" cy="5643348"/>
          </a:xfrm>
        </p:spPr>
        <p:txBody>
          <a:bodyPr/>
          <a:lstStyle/>
          <a:p>
            <a:endParaRPr lang="en-US" b="1" dirty="0" smtClean="0"/>
          </a:p>
          <a:p>
            <a:endParaRPr lang="en-US" b="1" dirty="0" smtClean="0"/>
          </a:p>
          <a:p>
            <a:endParaRPr lang="en-US" b="1" dirty="0" smtClean="0"/>
          </a:p>
          <a:p>
            <a:endParaRPr lang="en-US" b="1" dirty="0" smtClean="0"/>
          </a:p>
          <a:p>
            <a:endParaRPr lang="en-US" b="1" dirty="0" smtClean="0"/>
          </a:p>
          <a:p>
            <a:pPr marL="0" indent="0">
              <a:buNone/>
            </a:pPr>
            <a:r>
              <a:rPr lang="en-US" b="1" dirty="0" smtClean="0"/>
              <a:t>                                                                                              </a:t>
            </a:r>
          </a:p>
          <a:p>
            <a:pPr marL="0" indent="0">
              <a:buNone/>
            </a:pPr>
            <a:r>
              <a:rPr lang="en-US" b="1" dirty="0" smtClean="0"/>
              <a:t>Single-Processor </a:t>
            </a:r>
            <a:r>
              <a:rPr lang="en-US" b="1" dirty="0"/>
              <a:t>Systems </a:t>
            </a:r>
            <a:r>
              <a:rPr lang="en-US" dirty="0" smtClean="0"/>
              <a:t> On a single-processor system, there is one main CPU capable of executing instructions from user processes. It contains special-purpose processors, in the form of device-specific processors, for devices such as disk, keyboard, and graphics controllers.</a:t>
            </a:r>
            <a:endParaRPr lang="en-US" b="1" dirty="0" smtClean="0"/>
          </a:p>
          <a:p>
            <a:r>
              <a:rPr lang="en-US" b="1" dirty="0" smtClean="0"/>
              <a:t>Multiprocessor </a:t>
            </a:r>
            <a:r>
              <a:rPr lang="en-US" b="1" dirty="0"/>
              <a:t>Systems (parallel systems </a:t>
            </a:r>
            <a:r>
              <a:rPr lang="en-US" dirty="0"/>
              <a:t>or </a:t>
            </a:r>
            <a:r>
              <a:rPr lang="en-US" b="1" dirty="0"/>
              <a:t>tightly coupled systems) </a:t>
            </a:r>
            <a:endParaRPr lang="en-US" b="1" dirty="0" smtClean="0"/>
          </a:p>
          <a:p>
            <a:pPr marL="0" indent="0">
              <a:buNone/>
            </a:pPr>
            <a:r>
              <a:rPr lang="en-US" dirty="0"/>
              <a:t>Systems that have two or more processors in close communication, sharing the computer bus, the clock, memory, and peripheral devices are the multiprocessor systems</a:t>
            </a:r>
            <a:r>
              <a:rPr lang="en-US" dirty="0" smtClean="0"/>
              <a:t>.</a:t>
            </a:r>
          </a:p>
          <a:p>
            <a:pPr marL="0" indent="0">
              <a:buNone/>
            </a:pPr>
            <a:r>
              <a:rPr lang="en-US" dirty="0" smtClean="0"/>
              <a:t>Advantage : </a:t>
            </a:r>
            <a:r>
              <a:rPr lang="en-US" b="1" dirty="0"/>
              <a:t>Increased throughput </a:t>
            </a:r>
            <a:r>
              <a:rPr lang="en-US" b="1" dirty="0" smtClean="0"/>
              <a:t>, </a:t>
            </a:r>
            <a:r>
              <a:rPr lang="en-US" b="1" dirty="0"/>
              <a:t>Economy of scale </a:t>
            </a:r>
            <a:r>
              <a:rPr lang="en-US" b="1" dirty="0" smtClean="0"/>
              <a:t>, </a:t>
            </a:r>
            <a:r>
              <a:rPr lang="en-US" b="1" dirty="0"/>
              <a:t>Increased </a:t>
            </a:r>
            <a:r>
              <a:rPr lang="en-US" b="1" dirty="0" smtClean="0"/>
              <a:t>reliability. </a:t>
            </a:r>
            <a:endParaRPr lang="en-US" dirty="0"/>
          </a:p>
          <a:p>
            <a:pPr marL="0" indent="0">
              <a:buNone/>
            </a:pPr>
            <a:endParaRPr lang="en-US" b="1" dirty="0"/>
          </a:p>
          <a:p>
            <a:pPr marL="0" indent="0">
              <a:buNone/>
            </a:pPr>
            <a:endParaRPr lang="en-US" dirty="0"/>
          </a:p>
        </p:txBody>
      </p:sp>
      <p:pic>
        <p:nvPicPr>
          <p:cNvPr id="6" name="image5.jpeg"/>
          <p:cNvPicPr/>
          <p:nvPr/>
        </p:nvPicPr>
        <p:blipFill>
          <a:blip r:embed="rId2" cstate="print"/>
          <a:stretch>
            <a:fillRect/>
          </a:stretch>
        </p:blipFill>
        <p:spPr>
          <a:xfrm>
            <a:off x="2729552" y="1214651"/>
            <a:ext cx="5772524" cy="2635749"/>
          </a:xfrm>
          <a:prstGeom prst="rect">
            <a:avLst/>
          </a:prstGeom>
        </p:spPr>
      </p:pic>
    </p:spTree>
    <p:extLst>
      <p:ext uri="{BB962C8B-B14F-4D97-AF65-F5344CB8AC3E}">
        <p14:creationId xmlns:p14="http://schemas.microsoft.com/office/powerpoint/2010/main" val="29289033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013" y="452718"/>
            <a:ext cx="11805312" cy="707342"/>
          </a:xfrm>
        </p:spPr>
        <p:txBody>
          <a:bodyPr/>
          <a:lstStyle/>
          <a:p>
            <a:r>
              <a:rPr lang="en-US" b="1" u="heavy" dirty="0"/>
              <a:t>Computer System Architecture </a:t>
            </a:r>
            <a:endParaRPr lang="en-US" dirty="0"/>
          </a:p>
        </p:txBody>
      </p:sp>
      <p:sp>
        <p:nvSpPr>
          <p:cNvPr id="3" name="Content Placeholder 2"/>
          <p:cNvSpPr>
            <a:spLocks noGrp="1"/>
          </p:cNvSpPr>
          <p:nvPr>
            <p:ph idx="1"/>
          </p:nvPr>
        </p:nvSpPr>
        <p:spPr>
          <a:xfrm>
            <a:off x="232013" y="1160060"/>
            <a:ext cx="11805311" cy="5595582"/>
          </a:xfrm>
        </p:spPr>
        <p:txBody>
          <a:bodyPr/>
          <a:lstStyle/>
          <a:p>
            <a:pPr marL="0" indent="0">
              <a:buNone/>
            </a:pPr>
            <a:r>
              <a:rPr lang="en-US" b="1" dirty="0"/>
              <a:t>D</a:t>
            </a:r>
            <a:r>
              <a:rPr lang="en-US" b="1" dirty="0" smtClean="0"/>
              <a:t>ifferent </a:t>
            </a:r>
            <a:r>
              <a:rPr lang="en-US" b="1" dirty="0"/>
              <a:t>types of multiprocessor systems </a:t>
            </a:r>
            <a:endParaRPr lang="en-US" b="1" dirty="0" smtClean="0"/>
          </a:p>
          <a:p>
            <a:r>
              <a:rPr lang="en-US" b="1" dirty="0"/>
              <a:t>Asymmetric </a:t>
            </a:r>
            <a:r>
              <a:rPr lang="en-US" b="1" dirty="0" smtClean="0"/>
              <a:t>multiprocessing </a:t>
            </a:r>
            <a:r>
              <a:rPr lang="en-US" b="1" dirty="0"/>
              <a:t>– (Master/Slave architecture</a:t>
            </a:r>
            <a:r>
              <a:rPr lang="en-US" b="1" dirty="0" smtClean="0"/>
              <a:t>)</a:t>
            </a:r>
          </a:p>
          <a:p>
            <a:r>
              <a:rPr lang="en-US" b="1" dirty="0"/>
              <a:t>Symmetric multiprocessing (SMP) </a:t>
            </a:r>
            <a:endParaRPr lang="en-US" dirty="0"/>
          </a:p>
          <a:p>
            <a:pPr marL="0" indent="0">
              <a:buNone/>
            </a:pPr>
            <a:r>
              <a:rPr lang="en-US" b="1" dirty="0" smtClean="0"/>
              <a:t> </a:t>
            </a:r>
            <a:r>
              <a:rPr lang="en-US" b="1" dirty="0"/>
              <a:t>Asymmetric multiprocessing</a:t>
            </a:r>
            <a:r>
              <a:rPr lang="en-US" b="1" dirty="0" smtClean="0"/>
              <a:t>                         dual core system:</a:t>
            </a:r>
          </a:p>
          <a:p>
            <a:endParaRPr lang="en-US" b="1" dirty="0"/>
          </a:p>
          <a:p>
            <a:endParaRPr lang="en-US" b="1" dirty="0" smtClean="0"/>
          </a:p>
          <a:p>
            <a:endParaRPr lang="en-US" b="1" dirty="0"/>
          </a:p>
          <a:p>
            <a:endParaRPr lang="en-US" b="1" dirty="0" smtClean="0"/>
          </a:p>
          <a:p>
            <a:endParaRPr lang="en-US" b="1" dirty="0"/>
          </a:p>
          <a:p>
            <a:endParaRPr lang="en-US" dirty="0" smtClean="0"/>
          </a:p>
          <a:p>
            <a:endParaRPr lang="en-US" dirty="0"/>
          </a:p>
          <a:p>
            <a:endParaRPr lang="en-US" dirty="0" smtClean="0"/>
          </a:p>
          <a:p>
            <a:endParaRPr lang="en-US" dirty="0"/>
          </a:p>
        </p:txBody>
      </p:sp>
      <p:pic>
        <p:nvPicPr>
          <p:cNvPr id="4" name="image6.png"/>
          <p:cNvPicPr/>
          <p:nvPr/>
        </p:nvPicPr>
        <p:blipFill>
          <a:blip r:embed="rId2" cstate="print"/>
          <a:stretch>
            <a:fillRect/>
          </a:stretch>
        </p:blipFill>
        <p:spPr>
          <a:xfrm>
            <a:off x="232012" y="2971715"/>
            <a:ext cx="4954136" cy="3306255"/>
          </a:xfrm>
          <a:prstGeom prst="rect">
            <a:avLst/>
          </a:prstGeom>
        </p:spPr>
      </p:pic>
      <p:pic>
        <p:nvPicPr>
          <p:cNvPr id="5" name="image7.jpeg"/>
          <p:cNvPicPr/>
          <p:nvPr/>
        </p:nvPicPr>
        <p:blipFill>
          <a:blip r:embed="rId3" cstate="print"/>
          <a:stretch>
            <a:fillRect/>
          </a:stretch>
        </p:blipFill>
        <p:spPr>
          <a:xfrm>
            <a:off x="5677467" y="2971715"/>
            <a:ext cx="6059606" cy="3306255"/>
          </a:xfrm>
          <a:prstGeom prst="rect">
            <a:avLst/>
          </a:prstGeom>
        </p:spPr>
      </p:pic>
    </p:spTree>
    <p:extLst>
      <p:ext uri="{BB962C8B-B14F-4D97-AF65-F5344CB8AC3E}">
        <p14:creationId xmlns:p14="http://schemas.microsoft.com/office/powerpoint/2010/main" val="3395666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831" y="452718"/>
            <a:ext cx="11914494" cy="843819"/>
          </a:xfrm>
        </p:spPr>
        <p:txBody>
          <a:bodyPr/>
          <a:lstStyle/>
          <a:p>
            <a:r>
              <a:rPr lang="en-US" b="1" u="heavy" dirty="0"/>
              <a:t>Computer System Architecture </a:t>
            </a:r>
            <a:endParaRPr lang="en-US" dirty="0"/>
          </a:p>
        </p:txBody>
      </p:sp>
      <p:sp>
        <p:nvSpPr>
          <p:cNvPr id="3" name="Content Placeholder 2"/>
          <p:cNvSpPr>
            <a:spLocks noGrp="1"/>
          </p:cNvSpPr>
          <p:nvPr>
            <p:ph idx="1"/>
          </p:nvPr>
        </p:nvSpPr>
        <p:spPr>
          <a:xfrm>
            <a:off x="122829" y="1296537"/>
            <a:ext cx="11914495" cy="5363569"/>
          </a:xfrm>
        </p:spPr>
        <p:txBody>
          <a:bodyPr/>
          <a:lstStyle/>
          <a:p>
            <a:pPr marL="0" indent="0">
              <a:buNone/>
            </a:pPr>
            <a:r>
              <a:rPr lang="en-US" b="1" dirty="0"/>
              <a:t>Clustered </a:t>
            </a:r>
            <a:r>
              <a:rPr lang="en-US" b="1" dirty="0" smtClean="0"/>
              <a:t>Systems : </a:t>
            </a:r>
            <a:r>
              <a:rPr lang="en-US" dirty="0" smtClean="0"/>
              <a:t>Clustered </a:t>
            </a:r>
            <a:r>
              <a:rPr lang="en-US" dirty="0"/>
              <a:t>systems are two or more individual systems connected together via network and sharing software resources. Clustering provides </a:t>
            </a:r>
            <a:r>
              <a:rPr lang="en-US" b="1" dirty="0"/>
              <a:t>high-availability </a:t>
            </a:r>
            <a:endParaRPr lang="en-US" b="1" dirty="0" smtClean="0"/>
          </a:p>
          <a:p>
            <a:pPr marL="0" indent="0">
              <a:buNone/>
            </a:pPr>
            <a:r>
              <a:rPr lang="en-US" b="1" dirty="0"/>
              <a:t>There are two types of Clustered systems </a:t>
            </a:r>
            <a:r>
              <a:rPr lang="en-US" dirty="0"/>
              <a:t>– </a:t>
            </a:r>
            <a:endParaRPr lang="en-US" dirty="0" smtClean="0"/>
          </a:p>
          <a:p>
            <a:pPr marL="0" indent="0">
              <a:buNone/>
            </a:pPr>
            <a:r>
              <a:rPr lang="en-US" b="1" dirty="0" smtClean="0"/>
              <a:t>asymmetric :</a:t>
            </a:r>
            <a:r>
              <a:rPr lang="en-US" dirty="0" smtClean="0"/>
              <a:t>one </a:t>
            </a:r>
            <a:r>
              <a:rPr lang="en-US" dirty="0"/>
              <a:t>system is in hot-stand by mode while the others are running the </a:t>
            </a:r>
            <a:r>
              <a:rPr lang="en-US" dirty="0" smtClean="0"/>
              <a:t>applications.</a:t>
            </a:r>
            <a:endParaRPr lang="en-US" dirty="0"/>
          </a:p>
          <a:p>
            <a:pPr marL="0" indent="0">
              <a:buNone/>
            </a:pPr>
            <a:r>
              <a:rPr lang="en-US" b="1" dirty="0" smtClean="0"/>
              <a:t>Symmetric : </a:t>
            </a:r>
            <a:r>
              <a:rPr lang="en-US" dirty="0"/>
              <a:t>two or more systems are running applications, and are monitoring each other</a:t>
            </a:r>
            <a:r>
              <a:rPr lang="en-US" dirty="0" smtClean="0"/>
              <a:t>.</a:t>
            </a:r>
          </a:p>
          <a:p>
            <a:r>
              <a:rPr lang="en-US" dirty="0"/>
              <a:t>Other forms of clusters include parallel clusters and clustering over a wide-area network (WAN)</a:t>
            </a:r>
          </a:p>
          <a:p>
            <a:pPr marL="0" indent="0">
              <a:buNone/>
            </a:pPr>
            <a:endParaRPr lang="en-US" dirty="0"/>
          </a:p>
          <a:p>
            <a:endParaRPr lang="en-US" dirty="0"/>
          </a:p>
        </p:txBody>
      </p:sp>
    </p:spTree>
    <p:extLst>
      <p:ext uri="{BB962C8B-B14F-4D97-AF65-F5344CB8AC3E}">
        <p14:creationId xmlns:p14="http://schemas.microsoft.com/office/powerpoint/2010/main" val="1461961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2718"/>
            <a:ext cx="11682483" cy="898410"/>
          </a:xfrm>
        </p:spPr>
        <p:txBody>
          <a:bodyPr/>
          <a:lstStyle/>
          <a:p>
            <a:r>
              <a:rPr lang="en-US" b="1" u="heavy" dirty="0"/>
              <a:t>Computer System </a:t>
            </a:r>
            <a:r>
              <a:rPr lang="en-US" b="1" u="heavy" dirty="0" smtClean="0"/>
              <a:t>Structure  </a:t>
            </a:r>
            <a:endParaRPr lang="en-US" dirty="0"/>
          </a:p>
        </p:txBody>
      </p:sp>
      <p:sp>
        <p:nvSpPr>
          <p:cNvPr id="3" name="Content Placeholder 2"/>
          <p:cNvSpPr>
            <a:spLocks noGrp="1"/>
          </p:cNvSpPr>
          <p:nvPr>
            <p:ph idx="1"/>
          </p:nvPr>
        </p:nvSpPr>
        <p:spPr>
          <a:xfrm>
            <a:off x="272956" y="1187355"/>
            <a:ext cx="11723426" cy="5513695"/>
          </a:xfrm>
        </p:spPr>
        <p:txBody>
          <a:bodyPr/>
          <a:lstStyle/>
          <a:p>
            <a:pPr>
              <a:lnSpc>
                <a:spcPct val="90000"/>
              </a:lnSpc>
            </a:pPr>
            <a:r>
              <a:rPr lang="en-US" b="1" dirty="0">
                <a:solidFill>
                  <a:srgbClr val="3366FF"/>
                </a:solidFill>
                <a:ea typeface="ＭＳ Ｐゴシック" panose="020B0600070205080204" pitchFamily="34" charset="-128"/>
              </a:rPr>
              <a:t>Multiprogramming</a:t>
            </a:r>
            <a:r>
              <a:rPr lang="en-US" sz="1600" dirty="0">
                <a:ea typeface="ＭＳ Ｐゴシック" panose="020B0600070205080204" pitchFamily="34" charset="-128"/>
              </a:rPr>
              <a:t> needed for efficiency</a:t>
            </a:r>
          </a:p>
          <a:p>
            <a:pPr lvl="1">
              <a:lnSpc>
                <a:spcPct val="90000"/>
              </a:lnSpc>
            </a:pPr>
            <a:r>
              <a:rPr lang="en-US" sz="1600" dirty="0">
                <a:ea typeface="ＭＳ Ｐゴシック" panose="020B0600070205080204" pitchFamily="34" charset="-128"/>
              </a:rPr>
              <a:t>Single user cannot keep CPU and I/O devices busy at all times</a:t>
            </a:r>
          </a:p>
          <a:p>
            <a:pPr lvl="1">
              <a:lnSpc>
                <a:spcPct val="90000"/>
              </a:lnSpc>
            </a:pPr>
            <a:r>
              <a:rPr lang="en-US" sz="1600" dirty="0">
                <a:ea typeface="ＭＳ Ｐゴシック" panose="020B0600070205080204" pitchFamily="34" charset="-128"/>
              </a:rPr>
              <a:t>Multiprogramming organizes jobs (code and data) so CPU </a:t>
            </a:r>
            <a:r>
              <a:rPr lang="en-US" sz="1600" dirty="0" smtClean="0">
                <a:ea typeface="ＭＳ Ｐゴシック" panose="020B0600070205080204" pitchFamily="34" charset="-128"/>
              </a:rPr>
              <a:t>always</a:t>
            </a:r>
          </a:p>
          <a:p>
            <a:pPr marL="457200" lvl="1" indent="0">
              <a:lnSpc>
                <a:spcPct val="90000"/>
              </a:lnSpc>
              <a:buNone/>
            </a:pPr>
            <a:r>
              <a:rPr lang="en-US" sz="1600" dirty="0" smtClean="0">
                <a:ea typeface="ＭＳ Ｐゴシック" panose="020B0600070205080204" pitchFamily="34" charset="-128"/>
              </a:rPr>
              <a:t> </a:t>
            </a:r>
            <a:r>
              <a:rPr lang="en-US" sz="1600" dirty="0">
                <a:ea typeface="ＭＳ Ｐゴシック" panose="020B0600070205080204" pitchFamily="34" charset="-128"/>
              </a:rPr>
              <a:t>has one to execute</a:t>
            </a:r>
          </a:p>
          <a:p>
            <a:pPr lvl="1">
              <a:lnSpc>
                <a:spcPct val="90000"/>
              </a:lnSpc>
            </a:pPr>
            <a:r>
              <a:rPr lang="en-US" sz="1600" dirty="0">
                <a:ea typeface="ＭＳ Ｐゴシック" panose="020B0600070205080204" pitchFamily="34" charset="-128"/>
              </a:rPr>
              <a:t>A subset of total jobs in system is kept in memory</a:t>
            </a:r>
          </a:p>
          <a:p>
            <a:pPr lvl="1">
              <a:lnSpc>
                <a:spcPct val="90000"/>
              </a:lnSpc>
            </a:pPr>
            <a:r>
              <a:rPr lang="en-US" sz="1600" dirty="0">
                <a:ea typeface="ＭＳ Ｐゴシック" panose="020B0600070205080204" pitchFamily="34" charset="-128"/>
              </a:rPr>
              <a:t>One job selected and run via </a:t>
            </a:r>
            <a:r>
              <a:rPr lang="en-US" b="1" dirty="0">
                <a:solidFill>
                  <a:srgbClr val="3366FF"/>
                </a:solidFill>
                <a:ea typeface="ＭＳ Ｐゴシック" panose="020B0600070205080204" pitchFamily="34" charset="-128"/>
              </a:rPr>
              <a:t>job scheduling</a:t>
            </a:r>
          </a:p>
          <a:p>
            <a:pPr lvl="1">
              <a:lnSpc>
                <a:spcPct val="90000"/>
              </a:lnSpc>
            </a:pPr>
            <a:r>
              <a:rPr lang="en-US" sz="1600" dirty="0">
                <a:ea typeface="ＭＳ Ｐゴシック" panose="020B0600070205080204" pitchFamily="34" charset="-128"/>
              </a:rPr>
              <a:t>When it has to wait (for I/O for example), OS switches to another job</a:t>
            </a:r>
          </a:p>
          <a:p>
            <a:pPr>
              <a:lnSpc>
                <a:spcPct val="90000"/>
              </a:lnSpc>
            </a:pPr>
            <a:r>
              <a:rPr lang="en-US" b="1" dirty="0">
                <a:solidFill>
                  <a:srgbClr val="3366FF"/>
                </a:solidFill>
                <a:ea typeface="ＭＳ Ｐゴシック" panose="020B0600070205080204" pitchFamily="34" charset="-128"/>
              </a:rPr>
              <a:t>Timesharing (multitasking) </a:t>
            </a:r>
            <a:r>
              <a:rPr lang="en-US" sz="1600" dirty="0">
                <a:ea typeface="ＭＳ Ｐゴシック" panose="020B0600070205080204" pitchFamily="34" charset="-128"/>
              </a:rPr>
              <a:t>is logical extension in which CPU switches </a:t>
            </a:r>
            <a:endParaRPr lang="en-US" sz="1600" dirty="0" smtClean="0">
              <a:ea typeface="ＭＳ Ｐゴシック" panose="020B0600070205080204" pitchFamily="34" charset="-128"/>
            </a:endParaRPr>
          </a:p>
          <a:p>
            <a:pPr marL="0" indent="0">
              <a:lnSpc>
                <a:spcPct val="90000"/>
              </a:lnSpc>
              <a:buNone/>
            </a:pPr>
            <a:r>
              <a:rPr lang="en-US" sz="1600" dirty="0" smtClean="0">
                <a:ea typeface="ＭＳ Ｐゴシック" panose="020B0600070205080204" pitchFamily="34" charset="-128"/>
              </a:rPr>
              <a:t>jobs </a:t>
            </a:r>
            <a:r>
              <a:rPr lang="en-US" sz="1600" dirty="0">
                <a:ea typeface="ＭＳ Ｐゴシック" panose="020B0600070205080204" pitchFamily="34" charset="-128"/>
              </a:rPr>
              <a:t>so frequently that users can interact with each job while it is running, </a:t>
            </a:r>
            <a:endParaRPr lang="en-US" sz="1600" dirty="0" smtClean="0">
              <a:ea typeface="ＭＳ Ｐゴシック" panose="020B0600070205080204" pitchFamily="34" charset="-128"/>
            </a:endParaRPr>
          </a:p>
          <a:p>
            <a:pPr marL="0" indent="0">
              <a:lnSpc>
                <a:spcPct val="90000"/>
              </a:lnSpc>
              <a:buNone/>
            </a:pPr>
            <a:r>
              <a:rPr lang="en-US" sz="1600" dirty="0" smtClean="0">
                <a:ea typeface="ＭＳ Ｐゴシック" panose="020B0600070205080204" pitchFamily="34" charset="-128"/>
              </a:rPr>
              <a:t>creating </a:t>
            </a:r>
            <a:r>
              <a:rPr lang="en-US" b="1" dirty="0">
                <a:solidFill>
                  <a:srgbClr val="3366FF"/>
                </a:solidFill>
                <a:ea typeface="ＭＳ Ｐゴシック" panose="020B0600070205080204" pitchFamily="34" charset="-128"/>
              </a:rPr>
              <a:t>interactive</a:t>
            </a:r>
            <a:r>
              <a:rPr lang="en-US" sz="1600" dirty="0">
                <a:ea typeface="ＭＳ Ｐゴシック" panose="020B0600070205080204" pitchFamily="34" charset="-128"/>
              </a:rPr>
              <a:t> computing</a:t>
            </a:r>
          </a:p>
          <a:p>
            <a:pPr lvl="1">
              <a:lnSpc>
                <a:spcPct val="90000"/>
              </a:lnSpc>
            </a:pPr>
            <a:r>
              <a:rPr lang="en-US" b="1" dirty="0">
                <a:solidFill>
                  <a:srgbClr val="3366FF"/>
                </a:solidFill>
                <a:ea typeface="ＭＳ Ｐゴシック" panose="020B0600070205080204" pitchFamily="34" charset="-128"/>
              </a:rPr>
              <a:t>Response time </a:t>
            </a:r>
            <a:r>
              <a:rPr lang="en-US" sz="1600" dirty="0">
                <a:ea typeface="ＭＳ Ｐゴシック" panose="020B0600070205080204" pitchFamily="34" charset="-128"/>
              </a:rPr>
              <a:t>should be &lt; 1 second</a:t>
            </a:r>
          </a:p>
          <a:p>
            <a:pPr lvl="1">
              <a:lnSpc>
                <a:spcPct val="90000"/>
              </a:lnSpc>
            </a:pPr>
            <a:r>
              <a:rPr lang="en-US" sz="1600" dirty="0">
                <a:ea typeface="ＭＳ Ｐゴシック" panose="020B0600070205080204" pitchFamily="34" charset="-128"/>
              </a:rPr>
              <a:t>Each user has at least one program executing in memory </a:t>
            </a:r>
            <a:r>
              <a:rPr lang="en-US" sz="1600" dirty="0">
                <a:ea typeface="ＭＳ Ｐゴシック" panose="020B0600070205080204" pitchFamily="34" charset="-128"/>
                <a:sym typeface="Wingdings 3" panose="05040102010807070707" pitchFamily="18" charset="2"/>
              </a:rPr>
              <a:t></a:t>
            </a:r>
            <a:r>
              <a:rPr lang="en-US" b="1" dirty="0">
                <a:solidFill>
                  <a:srgbClr val="3366FF"/>
                </a:solidFill>
                <a:ea typeface="ＭＳ Ｐゴシック" panose="020B0600070205080204" pitchFamily="34" charset="-128"/>
                <a:sym typeface="Wingdings 3" panose="05040102010807070707" pitchFamily="18" charset="2"/>
              </a:rPr>
              <a:t>process</a:t>
            </a:r>
          </a:p>
          <a:p>
            <a:pPr lvl="1">
              <a:lnSpc>
                <a:spcPct val="90000"/>
              </a:lnSpc>
            </a:pPr>
            <a:r>
              <a:rPr lang="en-US" sz="1600" dirty="0">
                <a:ea typeface="ＭＳ Ｐゴシック" panose="020B0600070205080204" pitchFamily="34" charset="-128"/>
                <a:sym typeface="Wingdings 3" panose="05040102010807070707" pitchFamily="18" charset="2"/>
              </a:rPr>
              <a:t>If several jobs ready to run at the same time  </a:t>
            </a:r>
            <a:r>
              <a:rPr lang="en-US" b="1" dirty="0">
                <a:solidFill>
                  <a:srgbClr val="3366FF"/>
                </a:solidFill>
                <a:ea typeface="ＭＳ Ｐゴシック" panose="020B0600070205080204" pitchFamily="34" charset="-128"/>
                <a:sym typeface="Wingdings 3" panose="05040102010807070707" pitchFamily="18" charset="2"/>
              </a:rPr>
              <a:t>CPU scheduling</a:t>
            </a:r>
          </a:p>
          <a:p>
            <a:pPr lvl="1">
              <a:lnSpc>
                <a:spcPct val="90000"/>
              </a:lnSpc>
            </a:pPr>
            <a:r>
              <a:rPr lang="en-US" sz="1600" dirty="0">
                <a:ea typeface="ＭＳ Ｐゴシック" panose="020B0600070205080204" pitchFamily="34" charset="-128"/>
                <a:sym typeface="Wingdings 3" panose="05040102010807070707" pitchFamily="18" charset="2"/>
              </a:rPr>
              <a:t>If processes don’t fit in memory, </a:t>
            </a:r>
            <a:r>
              <a:rPr lang="en-US" b="1" dirty="0">
                <a:solidFill>
                  <a:srgbClr val="3366FF"/>
                </a:solidFill>
                <a:ea typeface="ＭＳ Ｐゴシック" panose="020B0600070205080204" pitchFamily="34" charset="-128"/>
                <a:sym typeface="Wingdings 3" panose="05040102010807070707" pitchFamily="18" charset="2"/>
              </a:rPr>
              <a:t>swapping</a:t>
            </a:r>
            <a:r>
              <a:rPr lang="en-US" sz="1600" dirty="0">
                <a:ea typeface="ＭＳ Ｐゴシック" panose="020B0600070205080204" pitchFamily="34" charset="-128"/>
                <a:sym typeface="Wingdings 3" panose="05040102010807070707" pitchFamily="18" charset="2"/>
              </a:rPr>
              <a:t> moves them in and out to run</a:t>
            </a:r>
          </a:p>
          <a:p>
            <a:pPr lvl="1">
              <a:lnSpc>
                <a:spcPct val="90000"/>
              </a:lnSpc>
            </a:pPr>
            <a:r>
              <a:rPr lang="en-US" b="1" dirty="0">
                <a:solidFill>
                  <a:srgbClr val="3366FF"/>
                </a:solidFill>
                <a:ea typeface="ＭＳ Ｐゴシック" panose="020B0600070205080204" pitchFamily="34" charset="-128"/>
                <a:sym typeface="Wingdings 3" panose="05040102010807070707" pitchFamily="18" charset="2"/>
              </a:rPr>
              <a:t>Virtual memory </a:t>
            </a:r>
            <a:r>
              <a:rPr lang="en-US" sz="1600" dirty="0">
                <a:ea typeface="ＭＳ Ｐゴシック" panose="020B0600070205080204" pitchFamily="34" charset="-128"/>
                <a:sym typeface="Wingdings 3" panose="05040102010807070707" pitchFamily="18" charset="2"/>
              </a:rPr>
              <a:t>allows execution of processes not completely in memory</a:t>
            </a:r>
          </a:p>
          <a:p>
            <a:pPr marL="0" indent="0">
              <a:buNone/>
            </a:pPr>
            <a:endParaRPr lang="en-US" dirty="0"/>
          </a:p>
        </p:txBody>
      </p:sp>
      <p:pic>
        <p:nvPicPr>
          <p:cNvPr id="4" name="image8.jpeg"/>
          <p:cNvPicPr/>
          <p:nvPr/>
        </p:nvPicPr>
        <p:blipFill>
          <a:blip r:embed="rId2" cstate="print"/>
          <a:stretch>
            <a:fillRect/>
          </a:stretch>
        </p:blipFill>
        <p:spPr>
          <a:xfrm>
            <a:off x="8106770" y="1187354"/>
            <a:ext cx="3425588" cy="3248167"/>
          </a:xfrm>
          <a:prstGeom prst="rect">
            <a:avLst/>
          </a:prstGeom>
        </p:spPr>
      </p:pic>
    </p:spTree>
    <p:extLst>
      <p:ext uri="{BB962C8B-B14F-4D97-AF65-F5344CB8AC3E}">
        <p14:creationId xmlns:p14="http://schemas.microsoft.com/office/powerpoint/2010/main" val="8330344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0"/>
            <a:ext cx="9404723" cy="846161"/>
          </a:xfrm>
        </p:spPr>
        <p:txBody>
          <a:bodyPr/>
          <a:lstStyle/>
          <a:p>
            <a:r>
              <a:rPr lang="en-US" b="1" u="heavy" dirty="0"/>
              <a:t>Computer System </a:t>
            </a:r>
            <a:r>
              <a:rPr lang="en-US" b="1" u="heavy" dirty="0" smtClean="0"/>
              <a:t>Structure  </a:t>
            </a:r>
            <a:endParaRPr lang="en-US" dirty="0"/>
          </a:p>
        </p:txBody>
      </p:sp>
      <p:sp>
        <p:nvSpPr>
          <p:cNvPr id="3" name="Content Placeholder 2"/>
          <p:cNvSpPr>
            <a:spLocks noGrp="1"/>
          </p:cNvSpPr>
          <p:nvPr>
            <p:ph idx="1"/>
          </p:nvPr>
        </p:nvSpPr>
        <p:spPr>
          <a:xfrm>
            <a:off x="0" y="846162"/>
            <a:ext cx="12037325" cy="6011838"/>
          </a:xfrm>
        </p:spPr>
        <p:txBody>
          <a:bodyPr>
            <a:normAutofit/>
          </a:bodyPr>
          <a:lstStyle/>
          <a:p>
            <a:r>
              <a:rPr lang="en-US" b="1" dirty="0"/>
              <a:t>Distributed </a:t>
            </a:r>
            <a:r>
              <a:rPr lang="en-US" b="1" dirty="0" smtClean="0"/>
              <a:t>Systems </a:t>
            </a:r>
          </a:p>
          <a:p>
            <a:pPr marL="0" indent="0">
              <a:buNone/>
            </a:pPr>
            <a:r>
              <a:rPr lang="en-US" dirty="0"/>
              <a:t>Individual systems that are connected and share the resource available in network is called Distributed </a:t>
            </a:r>
            <a:r>
              <a:rPr lang="en-US" dirty="0" smtClean="0"/>
              <a:t>system .A </a:t>
            </a:r>
            <a:r>
              <a:rPr lang="en-US" b="1" dirty="0"/>
              <a:t>network </a:t>
            </a:r>
            <a:r>
              <a:rPr lang="en-US" dirty="0"/>
              <a:t>is a communication path between two or more </a:t>
            </a:r>
            <a:r>
              <a:rPr lang="en-US" dirty="0" smtClean="0"/>
              <a:t>systems.</a:t>
            </a:r>
          </a:p>
          <a:p>
            <a:pPr marL="0" indent="0">
              <a:buNone/>
            </a:pPr>
            <a:r>
              <a:rPr lang="en-US" dirty="0"/>
              <a:t>Networks are characterized based on the distances between their nodes. </a:t>
            </a:r>
            <a:endParaRPr lang="en-US" dirty="0" smtClean="0"/>
          </a:p>
          <a:p>
            <a:pPr marL="0" indent="0">
              <a:buNone/>
            </a:pPr>
            <a:r>
              <a:rPr lang="en-US" dirty="0" smtClean="0"/>
              <a:t>A </a:t>
            </a:r>
            <a:r>
              <a:rPr lang="en-US" b="1" dirty="0"/>
              <a:t>local-area network (LAN) </a:t>
            </a:r>
            <a:r>
              <a:rPr lang="en-US" dirty="0"/>
              <a:t>connects computers within a room, a floor, or a building. </a:t>
            </a:r>
            <a:endParaRPr lang="en-US" dirty="0" smtClean="0"/>
          </a:p>
          <a:p>
            <a:pPr marL="0" indent="0">
              <a:buNone/>
            </a:pPr>
            <a:r>
              <a:rPr lang="en-US" dirty="0" smtClean="0"/>
              <a:t>A </a:t>
            </a:r>
            <a:r>
              <a:rPr lang="en-US" b="1" dirty="0"/>
              <a:t>wide-area network (WAN</a:t>
            </a:r>
            <a:r>
              <a:rPr lang="en-US" b="1" dirty="0" smtClean="0"/>
              <a:t>) </a:t>
            </a:r>
            <a:r>
              <a:rPr lang="en-US" dirty="0"/>
              <a:t>usually links buildings, cities, or countries. A global company may have a WAN to connect its offices worldwide. </a:t>
            </a:r>
            <a:endParaRPr lang="en-US" dirty="0" smtClean="0"/>
          </a:p>
          <a:p>
            <a:pPr marL="0" indent="0">
              <a:buNone/>
            </a:pPr>
            <a:r>
              <a:rPr lang="en-US" dirty="0" smtClean="0"/>
              <a:t>A </a:t>
            </a:r>
            <a:r>
              <a:rPr lang="en-US" b="1" dirty="0"/>
              <a:t>metropolitan-area network </a:t>
            </a:r>
            <a:r>
              <a:rPr lang="en-US" dirty="0"/>
              <a:t>(MAN) links buildings within a city. </a:t>
            </a:r>
            <a:endParaRPr lang="en-US" dirty="0" smtClean="0"/>
          </a:p>
          <a:p>
            <a:pPr marL="0" indent="0">
              <a:buNone/>
            </a:pPr>
            <a:r>
              <a:rPr lang="en-US" dirty="0" smtClean="0"/>
              <a:t>A </a:t>
            </a:r>
            <a:r>
              <a:rPr lang="en-US" b="1" dirty="0"/>
              <a:t>small-area network </a:t>
            </a:r>
            <a:r>
              <a:rPr lang="en-US" dirty="0"/>
              <a:t>connects systems within a several feet using wireless technology. </a:t>
            </a:r>
          </a:p>
          <a:p>
            <a:pPr marL="0" indent="0">
              <a:buNone/>
            </a:pPr>
            <a:endParaRPr lang="en-US" dirty="0"/>
          </a:p>
        </p:txBody>
      </p:sp>
    </p:spTree>
    <p:extLst>
      <p:ext uri="{BB962C8B-B14F-4D97-AF65-F5344CB8AC3E}">
        <p14:creationId xmlns:p14="http://schemas.microsoft.com/office/powerpoint/2010/main" val="7226905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982733" cy="777922"/>
          </a:xfrm>
        </p:spPr>
        <p:txBody>
          <a:bodyPr/>
          <a:lstStyle/>
          <a:p>
            <a:r>
              <a:rPr lang="en-US" b="1" u="heavy" dirty="0"/>
              <a:t>Computer System </a:t>
            </a:r>
            <a:r>
              <a:rPr lang="en-US" b="1" u="heavy" dirty="0" smtClean="0"/>
              <a:t>operations  </a:t>
            </a:r>
            <a:endParaRPr lang="en-US" dirty="0"/>
          </a:p>
        </p:txBody>
      </p:sp>
      <p:sp>
        <p:nvSpPr>
          <p:cNvPr id="3" name="Content Placeholder 2"/>
          <p:cNvSpPr>
            <a:spLocks noGrp="1"/>
          </p:cNvSpPr>
          <p:nvPr>
            <p:ph idx="1"/>
          </p:nvPr>
        </p:nvSpPr>
        <p:spPr>
          <a:xfrm>
            <a:off x="122830" y="777922"/>
            <a:ext cx="11859903" cy="5936777"/>
          </a:xfrm>
        </p:spPr>
        <p:txBody>
          <a:bodyPr/>
          <a:lstStyle/>
          <a:p>
            <a:pPr>
              <a:lnSpc>
                <a:spcPct val="90000"/>
              </a:lnSpc>
            </a:pPr>
            <a:r>
              <a:rPr lang="en-US" b="1" dirty="0">
                <a:solidFill>
                  <a:srgbClr val="3366FF"/>
                </a:solidFill>
                <a:ea typeface="ＭＳ Ｐゴシック" panose="020B0600070205080204" pitchFamily="34" charset="-128"/>
              </a:rPr>
              <a:t>Dual-mode </a:t>
            </a:r>
            <a:r>
              <a:rPr lang="en-US" dirty="0">
                <a:ea typeface="ＭＳ Ｐゴシック" panose="020B0600070205080204" pitchFamily="34" charset="-128"/>
              </a:rPr>
              <a:t>operation allows OS to protect itself and other system components</a:t>
            </a:r>
          </a:p>
          <a:p>
            <a:pPr lvl="1">
              <a:lnSpc>
                <a:spcPct val="90000"/>
              </a:lnSpc>
            </a:pPr>
            <a:r>
              <a:rPr lang="en-US" b="1" dirty="0">
                <a:solidFill>
                  <a:srgbClr val="3366FF"/>
                </a:solidFill>
                <a:ea typeface="ＭＳ Ｐゴシック" panose="020B0600070205080204" pitchFamily="34" charset="-128"/>
              </a:rPr>
              <a:t>User mode </a:t>
            </a:r>
            <a:r>
              <a:rPr lang="en-US" dirty="0">
                <a:ea typeface="ＭＳ Ｐゴシック" panose="020B0600070205080204" pitchFamily="34" charset="-128"/>
              </a:rPr>
              <a:t>and </a:t>
            </a:r>
            <a:r>
              <a:rPr lang="en-US" b="1" dirty="0">
                <a:solidFill>
                  <a:srgbClr val="3366FF"/>
                </a:solidFill>
                <a:ea typeface="ＭＳ Ｐゴシック" panose="020B0600070205080204" pitchFamily="34" charset="-128"/>
              </a:rPr>
              <a:t>kernel mode </a:t>
            </a:r>
          </a:p>
          <a:p>
            <a:pPr lvl="1">
              <a:lnSpc>
                <a:spcPct val="90000"/>
              </a:lnSpc>
            </a:pPr>
            <a:r>
              <a:rPr lang="en-US" b="1" dirty="0">
                <a:solidFill>
                  <a:srgbClr val="3366FF"/>
                </a:solidFill>
                <a:ea typeface="ＭＳ Ｐゴシック" panose="020B0600070205080204" pitchFamily="34" charset="-128"/>
              </a:rPr>
              <a:t>Mode bit </a:t>
            </a:r>
            <a:r>
              <a:rPr lang="en-US" dirty="0">
                <a:ea typeface="ＭＳ Ｐゴシック" panose="020B0600070205080204" pitchFamily="34" charset="-128"/>
              </a:rPr>
              <a:t>provided by hardware</a:t>
            </a:r>
          </a:p>
          <a:p>
            <a:pPr lvl="2">
              <a:lnSpc>
                <a:spcPct val="90000"/>
              </a:lnSpc>
            </a:pPr>
            <a:r>
              <a:rPr lang="en-US" dirty="0">
                <a:ea typeface="ＭＳ Ｐゴシック" panose="020B0600070205080204" pitchFamily="34" charset="-128"/>
              </a:rPr>
              <a:t>Provides ability to distinguish when system is running user code or kernel code</a:t>
            </a:r>
          </a:p>
          <a:p>
            <a:pPr lvl="2">
              <a:lnSpc>
                <a:spcPct val="90000"/>
              </a:lnSpc>
            </a:pPr>
            <a:r>
              <a:rPr lang="en-US" dirty="0">
                <a:ea typeface="ＭＳ Ｐゴシック" panose="020B0600070205080204" pitchFamily="34" charset="-128"/>
              </a:rPr>
              <a:t>Some instructions designated as </a:t>
            </a:r>
            <a:r>
              <a:rPr lang="en-US" b="1" dirty="0">
                <a:solidFill>
                  <a:srgbClr val="3366FF"/>
                </a:solidFill>
                <a:ea typeface="ＭＳ Ｐゴシック" panose="020B0600070205080204" pitchFamily="34" charset="-128"/>
              </a:rPr>
              <a:t>privileged</a:t>
            </a:r>
            <a:r>
              <a:rPr lang="en-US" dirty="0">
                <a:ea typeface="ＭＳ Ｐゴシック" panose="020B0600070205080204" pitchFamily="34" charset="-128"/>
              </a:rPr>
              <a:t>, only executable in kernel mode</a:t>
            </a:r>
          </a:p>
          <a:p>
            <a:pPr lvl="2">
              <a:lnSpc>
                <a:spcPct val="90000"/>
              </a:lnSpc>
            </a:pPr>
            <a:r>
              <a:rPr lang="en-US" dirty="0">
                <a:ea typeface="ＭＳ Ｐゴシック" panose="020B0600070205080204" pitchFamily="34" charset="-128"/>
              </a:rPr>
              <a:t>System call changes mode to kernel, return from call resets it to user</a:t>
            </a:r>
          </a:p>
          <a:p>
            <a:r>
              <a:rPr lang="en-US" dirty="0">
                <a:ea typeface="ＭＳ Ｐゴシック" panose="020B0600070205080204" pitchFamily="34" charset="-128"/>
              </a:rPr>
              <a:t>Timer to prevent infinite loop / process hogging resources</a:t>
            </a:r>
          </a:p>
          <a:p>
            <a:pPr lvl="1"/>
            <a:r>
              <a:rPr lang="en-US" dirty="0">
                <a:ea typeface="ＭＳ Ｐゴシック" panose="020B0600070205080204" pitchFamily="34" charset="-128"/>
              </a:rPr>
              <a:t>Set interrupt after specific period</a:t>
            </a:r>
          </a:p>
          <a:p>
            <a:pPr lvl="1"/>
            <a:r>
              <a:rPr lang="en-US" dirty="0">
                <a:ea typeface="ＭＳ Ｐゴシック" panose="020B0600070205080204" pitchFamily="34" charset="-128"/>
              </a:rPr>
              <a:t>Operating system decrements counter</a:t>
            </a:r>
          </a:p>
          <a:p>
            <a:pPr lvl="1"/>
            <a:r>
              <a:rPr lang="en-US" dirty="0">
                <a:ea typeface="ＭＳ Ｐゴシック" panose="020B0600070205080204" pitchFamily="34" charset="-128"/>
              </a:rPr>
              <a:t>When counter zero generate an interrupt</a:t>
            </a:r>
          </a:p>
          <a:p>
            <a:pPr lvl="1"/>
            <a:r>
              <a:rPr lang="en-US" dirty="0">
                <a:ea typeface="ＭＳ Ｐゴシック" panose="020B0600070205080204" pitchFamily="34" charset="-128"/>
              </a:rPr>
              <a:t>Set up before scheduling process to </a:t>
            </a:r>
            <a:r>
              <a:rPr lang="en-US" dirty="0" smtClean="0">
                <a:ea typeface="ＭＳ Ｐゴシック" panose="020B0600070205080204" pitchFamily="34" charset="-128"/>
              </a:rPr>
              <a:t>regain</a:t>
            </a:r>
          </a:p>
          <a:p>
            <a:pPr marL="457200" lvl="1" indent="0">
              <a:buNone/>
            </a:pPr>
            <a:r>
              <a:rPr lang="en-US" dirty="0" smtClean="0">
                <a:ea typeface="ＭＳ Ｐゴシック" panose="020B0600070205080204" pitchFamily="34" charset="-128"/>
              </a:rPr>
              <a:t>control </a:t>
            </a:r>
            <a:r>
              <a:rPr lang="en-US" dirty="0">
                <a:ea typeface="ＭＳ Ｐゴシック" panose="020B0600070205080204" pitchFamily="34" charset="-128"/>
              </a:rPr>
              <a:t>or terminate program that exceeds </a:t>
            </a:r>
            <a:endParaRPr lang="en-US" dirty="0" smtClean="0">
              <a:ea typeface="ＭＳ Ｐゴシック" panose="020B0600070205080204" pitchFamily="34" charset="-128"/>
            </a:endParaRPr>
          </a:p>
          <a:p>
            <a:pPr marL="457200" lvl="1" indent="0">
              <a:buNone/>
            </a:pPr>
            <a:r>
              <a:rPr lang="en-US" dirty="0" smtClean="0">
                <a:ea typeface="ＭＳ Ｐゴシック" panose="020B0600070205080204" pitchFamily="34" charset="-128"/>
              </a:rPr>
              <a:t>allotted time</a:t>
            </a:r>
            <a:endParaRPr lang="en-US" dirty="0">
              <a:ea typeface="ＭＳ Ｐゴシック" panose="020B0600070205080204" pitchFamily="34" charset="-128"/>
            </a:endParaRPr>
          </a:p>
          <a:p>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6651" y="3419853"/>
            <a:ext cx="6196081" cy="3294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5828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013" y="122830"/>
            <a:ext cx="11723426" cy="846161"/>
          </a:xfrm>
        </p:spPr>
        <p:txBody>
          <a:bodyPr/>
          <a:lstStyle/>
          <a:p>
            <a:r>
              <a:rPr lang="en-US" b="1" u="sng" dirty="0">
                <a:ea typeface="ＭＳ Ｐゴシック" panose="020B0600070205080204" pitchFamily="34" charset="-128"/>
              </a:rPr>
              <a:t>Process Management</a:t>
            </a:r>
            <a:endParaRPr lang="en-US" b="1" u="sng" dirty="0"/>
          </a:p>
        </p:txBody>
      </p:sp>
      <p:sp>
        <p:nvSpPr>
          <p:cNvPr id="3" name="Content Placeholder 2"/>
          <p:cNvSpPr>
            <a:spLocks noGrp="1"/>
          </p:cNvSpPr>
          <p:nvPr>
            <p:ph idx="1"/>
          </p:nvPr>
        </p:nvSpPr>
        <p:spPr>
          <a:xfrm>
            <a:off x="232013" y="968992"/>
            <a:ext cx="11491413" cy="5279408"/>
          </a:xfrm>
        </p:spPr>
        <p:txBody>
          <a:bodyPr>
            <a:normAutofit/>
          </a:bodyPr>
          <a:lstStyle/>
          <a:p>
            <a:pPr>
              <a:lnSpc>
                <a:spcPct val="90000"/>
              </a:lnSpc>
            </a:pPr>
            <a:r>
              <a:rPr lang="en-US" dirty="0">
                <a:ea typeface="ＭＳ Ｐゴシック" panose="020B0600070205080204" pitchFamily="34" charset="-128"/>
              </a:rPr>
              <a:t>A process is a program in execution. It is a unit of work within the system. Program is a </a:t>
            </a:r>
            <a:r>
              <a:rPr lang="en-US" i="1" dirty="0">
                <a:ea typeface="ＭＳ Ｐゴシック" panose="020B0600070205080204" pitchFamily="34" charset="-128"/>
              </a:rPr>
              <a:t>passive entity</a:t>
            </a:r>
            <a:r>
              <a:rPr lang="en-US" dirty="0">
                <a:ea typeface="ＭＳ Ｐゴシック" panose="020B0600070205080204" pitchFamily="34" charset="-128"/>
              </a:rPr>
              <a:t>, process is an </a:t>
            </a:r>
            <a:r>
              <a:rPr lang="en-US" i="1" dirty="0">
                <a:ea typeface="ＭＳ Ｐゴシック" panose="020B0600070205080204" pitchFamily="34" charset="-128"/>
              </a:rPr>
              <a:t>active entity</a:t>
            </a:r>
            <a:r>
              <a:rPr lang="en-US" dirty="0">
                <a:ea typeface="ＭＳ Ｐゴシック" panose="020B0600070205080204" pitchFamily="34" charset="-128"/>
              </a:rPr>
              <a:t>.</a:t>
            </a:r>
          </a:p>
          <a:p>
            <a:pPr>
              <a:lnSpc>
                <a:spcPct val="90000"/>
              </a:lnSpc>
            </a:pPr>
            <a:r>
              <a:rPr lang="en-US" dirty="0">
                <a:ea typeface="ＭＳ Ｐゴシック" panose="020B0600070205080204" pitchFamily="34" charset="-128"/>
              </a:rPr>
              <a:t>Process needs resources to accomplish its task</a:t>
            </a:r>
          </a:p>
          <a:p>
            <a:pPr lvl="1">
              <a:lnSpc>
                <a:spcPct val="90000"/>
              </a:lnSpc>
            </a:pPr>
            <a:r>
              <a:rPr lang="en-US" sz="2000" dirty="0">
                <a:ea typeface="ＭＳ Ｐゴシック" panose="020B0600070205080204" pitchFamily="34" charset="-128"/>
              </a:rPr>
              <a:t>CPU, memory, I/O, files</a:t>
            </a:r>
          </a:p>
          <a:p>
            <a:pPr lvl="1">
              <a:lnSpc>
                <a:spcPct val="90000"/>
              </a:lnSpc>
            </a:pPr>
            <a:r>
              <a:rPr lang="en-US" sz="2000" dirty="0">
                <a:ea typeface="ＭＳ Ｐゴシック" panose="020B0600070205080204" pitchFamily="34" charset="-128"/>
              </a:rPr>
              <a:t>Initialization data</a:t>
            </a:r>
          </a:p>
          <a:p>
            <a:pPr>
              <a:lnSpc>
                <a:spcPct val="90000"/>
              </a:lnSpc>
            </a:pPr>
            <a:r>
              <a:rPr lang="en-US" dirty="0">
                <a:ea typeface="ＭＳ Ｐゴシック" panose="020B0600070205080204" pitchFamily="34" charset="-128"/>
              </a:rPr>
              <a:t>Process termination requires reclaim of any reusable resources</a:t>
            </a:r>
          </a:p>
          <a:p>
            <a:pPr>
              <a:lnSpc>
                <a:spcPct val="90000"/>
              </a:lnSpc>
            </a:pPr>
            <a:r>
              <a:rPr lang="en-US" dirty="0">
                <a:ea typeface="ＭＳ Ｐゴシック" panose="020B0600070205080204" pitchFamily="34" charset="-128"/>
              </a:rPr>
              <a:t>Single-threaded process has one </a:t>
            </a:r>
            <a:r>
              <a:rPr lang="en-US" b="1" dirty="0">
                <a:solidFill>
                  <a:schemeClr val="bg1"/>
                </a:solidFill>
                <a:ea typeface="ＭＳ Ｐゴシック" panose="020B0600070205080204" pitchFamily="34" charset="-128"/>
              </a:rPr>
              <a:t>program counter </a:t>
            </a:r>
            <a:r>
              <a:rPr lang="en-US" dirty="0">
                <a:ea typeface="ＭＳ Ｐゴシック" panose="020B0600070205080204" pitchFamily="34" charset="-128"/>
              </a:rPr>
              <a:t>specifying location of next instruction to execute</a:t>
            </a:r>
          </a:p>
          <a:p>
            <a:pPr lvl="1">
              <a:lnSpc>
                <a:spcPct val="90000"/>
              </a:lnSpc>
            </a:pPr>
            <a:r>
              <a:rPr lang="en-US" sz="2000" dirty="0">
                <a:ea typeface="ＭＳ Ｐゴシック" panose="020B0600070205080204" pitchFamily="34" charset="-128"/>
              </a:rPr>
              <a:t>Process executes instructions sequentially, one at a time, until completion</a:t>
            </a:r>
          </a:p>
          <a:p>
            <a:pPr>
              <a:lnSpc>
                <a:spcPct val="90000"/>
              </a:lnSpc>
            </a:pPr>
            <a:r>
              <a:rPr lang="en-US" dirty="0">
                <a:ea typeface="ＭＳ Ｐゴシック" panose="020B0600070205080204" pitchFamily="34" charset="-128"/>
              </a:rPr>
              <a:t>Multi-threaded process has one program counter per thread</a:t>
            </a:r>
          </a:p>
          <a:p>
            <a:pPr>
              <a:lnSpc>
                <a:spcPct val="90000"/>
              </a:lnSpc>
            </a:pPr>
            <a:r>
              <a:rPr lang="en-US" dirty="0">
                <a:ea typeface="ＭＳ Ｐゴシック" panose="020B0600070205080204" pitchFamily="34" charset="-128"/>
              </a:rPr>
              <a:t>Typically system has many processes, some user, some operating system running concurrently on one or more CPUs</a:t>
            </a:r>
          </a:p>
          <a:p>
            <a:pPr lvl="1">
              <a:lnSpc>
                <a:spcPct val="90000"/>
              </a:lnSpc>
            </a:pPr>
            <a:r>
              <a:rPr lang="en-US" sz="2000" dirty="0">
                <a:ea typeface="ＭＳ Ｐゴシック" panose="020B0600070205080204" pitchFamily="34" charset="-128"/>
              </a:rPr>
              <a:t>Concurrency by multiplexing the CPUs among the processes / threads</a:t>
            </a:r>
          </a:p>
          <a:p>
            <a:pPr>
              <a:lnSpc>
                <a:spcPct val="90000"/>
              </a:lnSpc>
              <a:buFont typeface="Monotype Sorts" pitchFamily="2" charset="2"/>
              <a:buNone/>
            </a:pPr>
            <a:endParaRPr lang="en-US" dirty="0">
              <a:ea typeface="ＭＳ Ｐゴシック" panose="020B0600070205080204" pitchFamily="34" charset="-128"/>
            </a:endParaRPr>
          </a:p>
          <a:p>
            <a:endParaRPr lang="en-US" dirty="0"/>
          </a:p>
        </p:txBody>
      </p:sp>
    </p:spTree>
    <p:extLst>
      <p:ext uri="{BB962C8B-B14F-4D97-AF65-F5344CB8AC3E}">
        <p14:creationId xmlns:p14="http://schemas.microsoft.com/office/powerpoint/2010/main" val="3178513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069" y="452718"/>
            <a:ext cx="11354937" cy="884763"/>
          </a:xfrm>
        </p:spPr>
        <p:txBody>
          <a:bodyPr/>
          <a:lstStyle/>
          <a:p>
            <a:r>
              <a:rPr lang="en-US" b="1" u="sng" dirty="0">
                <a:ea typeface="ＭＳ Ｐゴシック" panose="020B0600070205080204" pitchFamily="34" charset="-128"/>
              </a:rPr>
              <a:t>Process </a:t>
            </a:r>
            <a:r>
              <a:rPr lang="en-US" b="1" u="sng" dirty="0" smtClean="0">
                <a:ea typeface="ＭＳ Ｐゴシック" panose="020B0600070205080204" pitchFamily="34" charset="-128"/>
              </a:rPr>
              <a:t>Management</a:t>
            </a:r>
            <a:endParaRPr lang="en-US" b="1" u="sng" dirty="0"/>
          </a:p>
        </p:txBody>
      </p:sp>
      <p:sp>
        <p:nvSpPr>
          <p:cNvPr id="3" name="Content Placeholder 2"/>
          <p:cNvSpPr>
            <a:spLocks noGrp="1"/>
          </p:cNvSpPr>
          <p:nvPr>
            <p:ph idx="1"/>
          </p:nvPr>
        </p:nvSpPr>
        <p:spPr>
          <a:xfrm>
            <a:off x="191070" y="1337482"/>
            <a:ext cx="9858784" cy="4910918"/>
          </a:xfrm>
        </p:spPr>
        <p:txBody>
          <a:bodyPr/>
          <a:lstStyle/>
          <a:p>
            <a:pPr>
              <a:buFont typeface="Monotype Sorts" pitchFamily="2" charset="2"/>
              <a:buNone/>
            </a:pPr>
            <a:r>
              <a:rPr lang="en-US" sz="2800" b="1" dirty="0">
                <a:ea typeface="ＭＳ Ｐゴシック" panose="020B0600070205080204" pitchFamily="34" charset="-128"/>
              </a:rPr>
              <a:t>Activities</a:t>
            </a:r>
            <a:endParaRPr lang="en-US" sz="2800" b="1" dirty="0" smtClean="0">
              <a:ea typeface="ＭＳ Ｐゴシック" panose="020B0600070205080204" pitchFamily="34" charset="-128"/>
            </a:endParaRPr>
          </a:p>
          <a:p>
            <a:pPr>
              <a:buFont typeface="Monotype Sorts" pitchFamily="2" charset="2"/>
              <a:buNone/>
            </a:pPr>
            <a:r>
              <a:rPr lang="en-US" dirty="0" smtClean="0">
                <a:ea typeface="ＭＳ Ｐゴシック" panose="020B0600070205080204" pitchFamily="34" charset="-128"/>
              </a:rPr>
              <a:t>The </a:t>
            </a:r>
            <a:r>
              <a:rPr lang="en-US" dirty="0">
                <a:ea typeface="ＭＳ Ｐゴシック" panose="020B0600070205080204" pitchFamily="34" charset="-128"/>
              </a:rPr>
              <a:t>operating system is responsible for the following activities in  connection with process management:</a:t>
            </a:r>
          </a:p>
          <a:p>
            <a:r>
              <a:rPr lang="en-US" dirty="0">
                <a:ea typeface="ＭＳ Ｐゴシック" panose="020B0600070205080204" pitchFamily="34" charset="-128"/>
              </a:rPr>
              <a:t>Creating and deleting both user and system processes</a:t>
            </a:r>
          </a:p>
          <a:p>
            <a:r>
              <a:rPr lang="en-US" dirty="0">
                <a:ea typeface="ＭＳ Ｐゴシック" panose="020B0600070205080204" pitchFamily="34" charset="-128"/>
              </a:rPr>
              <a:t>Suspending and resuming processes</a:t>
            </a:r>
          </a:p>
          <a:p>
            <a:r>
              <a:rPr lang="en-US" dirty="0">
                <a:ea typeface="ＭＳ Ｐゴシック" panose="020B0600070205080204" pitchFamily="34" charset="-128"/>
              </a:rPr>
              <a:t>Providing mechanisms for process synchronization</a:t>
            </a:r>
          </a:p>
          <a:p>
            <a:r>
              <a:rPr lang="en-US" dirty="0">
                <a:ea typeface="ＭＳ Ｐゴシック" panose="020B0600070205080204" pitchFamily="34" charset="-128"/>
              </a:rPr>
              <a:t>Providing mechanisms for process communication</a:t>
            </a:r>
          </a:p>
          <a:p>
            <a:r>
              <a:rPr lang="en-US" dirty="0">
                <a:ea typeface="ＭＳ Ｐゴシック" panose="020B0600070205080204" pitchFamily="34" charset="-128"/>
              </a:rPr>
              <a:t>Providing mechanisms for deadlock handling</a:t>
            </a:r>
          </a:p>
          <a:p>
            <a:endParaRPr lang="en-US" dirty="0"/>
          </a:p>
        </p:txBody>
      </p:sp>
    </p:spTree>
    <p:extLst>
      <p:ext uri="{BB962C8B-B14F-4D97-AF65-F5344CB8AC3E}">
        <p14:creationId xmlns:p14="http://schemas.microsoft.com/office/powerpoint/2010/main" val="303783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10029" cy="832513"/>
          </a:xfrm>
        </p:spPr>
        <p:txBody>
          <a:bodyPr/>
          <a:lstStyle/>
          <a:p>
            <a:r>
              <a:rPr lang="en-US" b="1" u="sng" dirty="0">
                <a:ea typeface="ＭＳ Ｐゴシック" panose="020B0600070205080204" pitchFamily="34" charset="-128"/>
              </a:rPr>
              <a:t>Memory Management</a:t>
            </a:r>
            <a:endParaRPr lang="en-US" b="1" u="sng" dirty="0"/>
          </a:p>
        </p:txBody>
      </p:sp>
      <p:sp>
        <p:nvSpPr>
          <p:cNvPr id="3" name="Content Placeholder 2"/>
          <p:cNvSpPr>
            <a:spLocks noGrp="1"/>
          </p:cNvSpPr>
          <p:nvPr>
            <p:ph idx="1"/>
          </p:nvPr>
        </p:nvSpPr>
        <p:spPr>
          <a:xfrm>
            <a:off x="0" y="832514"/>
            <a:ext cx="10049853" cy="5415886"/>
          </a:xfrm>
        </p:spPr>
        <p:txBody>
          <a:bodyPr/>
          <a:lstStyle/>
          <a:p>
            <a:r>
              <a:rPr lang="en-US" dirty="0">
                <a:ea typeface="ＭＳ Ｐゴシック" panose="020B0600070205080204" pitchFamily="34" charset="-128"/>
              </a:rPr>
              <a:t>All data in memory before and after processing</a:t>
            </a:r>
          </a:p>
          <a:p>
            <a:r>
              <a:rPr lang="en-US" dirty="0">
                <a:ea typeface="ＭＳ Ｐゴシック" panose="020B0600070205080204" pitchFamily="34" charset="-128"/>
              </a:rPr>
              <a:t>All instructions in memory in order to execute</a:t>
            </a:r>
          </a:p>
          <a:p>
            <a:r>
              <a:rPr lang="en-US" dirty="0">
                <a:ea typeface="ＭＳ Ｐゴシック" panose="020B0600070205080204" pitchFamily="34" charset="-128"/>
              </a:rPr>
              <a:t>Memory management determines what is in memory when</a:t>
            </a:r>
          </a:p>
          <a:p>
            <a:pPr lvl="1"/>
            <a:r>
              <a:rPr lang="en-US" dirty="0">
                <a:ea typeface="ＭＳ Ｐゴシック" panose="020B0600070205080204" pitchFamily="34" charset="-128"/>
              </a:rPr>
              <a:t>Optimizing CPU utilization and computer response to users</a:t>
            </a:r>
          </a:p>
          <a:p>
            <a:r>
              <a:rPr lang="en-US" dirty="0">
                <a:ea typeface="ＭＳ Ｐゴシック" panose="020B0600070205080204" pitchFamily="34" charset="-128"/>
              </a:rPr>
              <a:t>Memory management activities</a:t>
            </a:r>
          </a:p>
          <a:p>
            <a:pPr lvl="1"/>
            <a:r>
              <a:rPr lang="en-US" dirty="0">
                <a:ea typeface="ＭＳ Ｐゴシック" panose="020B0600070205080204" pitchFamily="34" charset="-128"/>
              </a:rPr>
              <a:t>Keeping track of which parts of memory are currently being used and by whom</a:t>
            </a:r>
          </a:p>
          <a:p>
            <a:pPr lvl="1"/>
            <a:r>
              <a:rPr lang="en-US" dirty="0">
                <a:ea typeface="ＭＳ Ｐゴシック" panose="020B0600070205080204" pitchFamily="34" charset="-128"/>
              </a:rPr>
              <a:t>Deciding which processes (or parts thereof) and data to move into and out of memory</a:t>
            </a:r>
          </a:p>
          <a:p>
            <a:pPr lvl="1"/>
            <a:r>
              <a:rPr lang="en-US" dirty="0">
                <a:ea typeface="ＭＳ Ｐゴシック" panose="020B0600070205080204" pitchFamily="34" charset="-128"/>
              </a:rPr>
              <a:t>Allocating and </a:t>
            </a:r>
            <a:r>
              <a:rPr lang="en-US" dirty="0" smtClean="0">
                <a:ea typeface="ＭＳ Ｐゴシック" panose="020B0600070205080204" pitchFamily="34" charset="-128"/>
              </a:rPr>
              <a:t>de-allocating </a:t>
            </a:r>
            <a:r>
              <a:rPr lang="en-US" dirty="0">
                <a:ea typeface="ＭＳ Ｐゴシック" panose="020B0600070205080204" pitchFamily="34" charset="-128"/>
              </a:rPr>
              <a:t>memory space as needed</a:t>
            </a:r>
          </a:p>
          <a:p>
            <a:endParaRPr lang="en-US" dirty="0"/>
          </a:p>
        </p:txBody>
      </p:sp>
    </p:spTree>
    <p:extLst>
      <p:ext uri="{BB962C8B-B14F-4D97-AF65-F5344CB8AC3E}">
        <p14:creationId xmlns:p14="http://schemas.microsoft.com/office/powerpoint/2010/main" val="3588154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9228"/>
          </a:xfrm>
        </p:spPr>
        <p:txBody>
          <a:bodyPr/>
          <a:lstStyle/>
          <a:p>
            <a:r>
              <a:rPr lang="en-US" b="1" u="sng" dirty="0">
                <a:ea typeface="ＭＳ Ｐゴシック" panose="020B0600070205080204" pitchFamily="34" charset="-128"/>
              </a:rPr>
              <a:t>Storage Management</a:t>
            </a:r>
            <a:endParaRPr lang="en-US" b="1" u="sng" dirty="0"/>
          </a:p>
        </p:txBody>
      </p:sp>
      <p:sp>
        <p:nvSpPr>
          <p:cNvPr id="3" name="Content Placeholder 2"/>
          <p:cNvSpPr>
            <a:spLocks noGrp="1"/>
          </p:cNvSpPr>
          <p:nvPr>
            <p:ph idx="1"/>
          </p:nvPr>
        </p:nvSpPr>
        <p:spPr>
          <a:xfrm>
            <a:off x="518616" y="1241946"/>
            <a:ext cx="9531238" cy="5006453"/>
          </a:xfrm>
        </p:spPr>
        <p:txBody>
          <a:bodyPr/>
          <a:lstStyle/>
          <a:p>
            <a:pPr>
              <a:lnSpc>
                <a:spcPct val="90000"/>
              </a:lnSpc>
            </a:pPr>
            <a:r>
              <a:rPr lang="en-US" dirty="0">
                <a:ea typeface="ＭＳ Ｐゴシック" panose="020B0600070205080204" pitchFamily="34" charset="-128"/>
              </a:rPr>
              <a:t>OS provides uniform, logical view of information storage</a:t>
            </a:r>
          </a:p>
          <a:p>
            <a:pPr lvl="1">
              <a:lnSpc>
                <a:spcPct val="90000"/>
              </a:lnSpc>
            </a:pPr>
            <a:r>
              <a:rPr lang="en-US" dirty="0">
                <a:ea typeface="ＭＳ Ｐゴシック" panose="020B0600070205080204" pitchFamily="34" charset="-128"/>
              </a:rPr>
              <a:t>Abstracts physical properties to logical storage unit  - </a:t>
            </a:r>
            <a:r>
              <a:rPr lang="en-US" b="1" dirty="0">
                <a:solidFill>
                  <a:srgbClr val="3366FF"/>
                </a:solidFill>
                <a:ea typeface="ＭＳ Ｐゴシック" panose="020B0600070205080204" pitchFamily="34" charset="-128"/>
              </a:rPr>
              <a:t>file</a:t>
            </a:r>
          </a:p>
          <a:p>
            <a:pPr lvl="1">
              <a:lnSpc>
                <a:spcPct val="90000"/>
              </a:lnSpc>
            </a:pPr>
            <a:r>
              <a:rPr lang="en-US" dirty="0">
                <a:ea typeface="ＭＳ Ｐゴシック" panose="020B0600070205080204" pitchFamily="34" charset="-128"/>
              </a:rPr>
              <a:t>Each medium is controlled by device (i.e., disk drive, tape drive)</a:t>
            </a:r>
          </a:p>
          <a:p>
            <a:pPr lvl="2">
              <a:lnSpc>
                <a:spcPct val="90000"/>
              </a:lnSpc>
            </a:pPr>
            <a:r>
              <a:rPr lang="en-US" dirty="0">
                <a:ea typeface="ＭＳ Ｐゴシック" panose="020B0600070205080204" pitchFamily="34" charset="-128"/>
              </a:rPr>
              <a:t>Varying properties include access speed, capacity, data-transfer rate, access method (sequential or random)</a:t>
            </a:r>
          </a:p>
          <a:p>
            <a:pPr marL="0" indent="0">
              <a:lnSpc>
                <a:spcPct val="90000"/>
              </a:lnSpc>
              <a:buNone/>
            </a:pPr>
            <a:r>
              <a:rPr lang="en-US" sz="4000" b="1" dirty="0">
                <a:ea typeface="ＭＳ Ｐゴシック" panose="020B0600070205080204" pitchFamily="34" charset="-128"/>
              </a:rPr>
              <a:t>File-System management</a:t>
            </a:r>
          </a:p>
          <a:p>
            <a:pPr lvl="1">
              <a:lnSpc>
                <a:spcPct val="90000"/>
              </a:lnSpc>
            </a:pPr>
            <a:r>
              <a:rPr lang="en-US" dirty="0">
                <a:ea typeface="ＭＳ Ｐゴシック" panose="020B0600070205080204" pitchFamily="34" charset="-128"/>
              </a:rPr>
              <a:t>Files usually organized into directories</a:t>
            </a:r>
          </a:p>
          <a:p>
            <a:pPr lvl="1">
              <a:lnSpc>
                <a:spcPct val="90000"/>
              </a:lnSpc>
            </a:pPr>
            <a:r>
              <a:rPr lang="en-US" dirty="0">
                <a:ea typeface="ＭＳ Ｐゴシック" panose="020B0600070205080204" pitchFamily="34" charset="-128"/>
              </a:rPr>
              <a:t>Access control on most systems to determine who can access what</a:t>
            </a:r>
          </a:p>
          <a:p>
            <a:pPr lvl="1">
              <a:lnSpc>
                <a:spcPct val="90000"/>
              </a:lnSpc>
            </a:pPr>
            <a:r>
              <a:rPr lang="en-US" dirty="0">
                <a:ea typeface="ＭＳ Ｐゴシック" panose="020B0600070205080204" pitchFamily="34" charset="-128"/>
              </a:rPr>
              <a:t>OS activities include</a:t>
            </a:r>
          </a:p>
          <a:p>
            <a:pPr lvl="2">
              <a:lnSpc>
                <a:spcPct val="90000"/>
              </a:lnSpc>
            </a:pPr>
            <a:r>
              <a:rPr lang="en-US" dirty="0">
                <a:ea typeface="ＭＳ Ｐゴシック" panose="020B0600070205080204" pitchFamily="34" charset="-128"/>
              </a:rPr>
              <a:t>Creating and deleting files and directories</a:t>
            </a:r>
          </a:p>
          <a:p>
            <a:pPr lvl="2">
              <a:lnSpc>
                <a:spcPct val="90000"/>
              </a:lnSpc>
            </a:pPr>
            <a:r>
              <a:rPr lang="en-US" dirty="0">
                <a:ea typeface="ＭＳ Ｐゴシック" panose="020B0600070205080204" pitchFamily="34" charset="-128"/>
              </a:rPr>
              <a:t>Primitives to manipulate files and </a:t>
            </a:r>
            <a:r>
              <a:rPr lang="en-US" dirty="0" err="1">
                <a:ea typeface="ＭＳ Ｐゴシック" panose="020B0600070205080204" pitchFamily="34" charset="-128"/>
              </a:rPr>
              <a:t>dirs</a:t>
            </a:r>
            <a:endParaRPr lang="en-US" dirty="0">
              <a:ea typeface="ＭＳ Ｐゴシック" panose="020B0600070205080204" pitchFamily="34" charset="-128"/>
            </a:endParaRPr>
          </a:p>
          <a:p>
            <a:pPr lvl="2">
              <a:lnSpc>
                <a:spcPct val="90000"/>
              </a:lnSpc>
            </a:pPr>
            <a:r>
              <a:rPr lang="en-US" dirty="0">
                <a:ea typeface="ＭＳ Ｐゴシック" panose="020B0600070205080204" pitchFamily="34" charset="-128"/>
              </a:rPr>
              <a:t>Mapping files onto secondary storage</a:t>
            </a:r>
          </a:p>
          <a:p>
            <a:pPr lvl="2">
              <a:lnSpc>
                <a:spcPct val="90000"/>
              </a:lnSpc>
            </a:pPr>
            <a:r>
              <a:rPr lang="en-US" dirty="0">
                <a:ea typeface="ＭＳ Ｐゴシック" panose="020B0600070205080204" pitchFamily="34" charset="-128"/>
              </a:rPr>
              <a:t>Backup files onto stable (non-volatile) storage media</a:t>
            </a:r>
          </a:p>
          <a:p>
            <a:endParaRPr lang="en-US" dirty="0"/>
          </a:p>
        </p:txBody>
      </p:sp>
    </p:spTree>
    <p:extLst>
      <p:ext uri="{BB962C8B-B14F-4D97-AF65-F5344CB8AC3E}">
        <p14:creationId xmlns:p14="http://schemas.microsoft.com/office/powerpoint/2010/main" val="1220361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812810"/>
          </a:xfrm>
        </p:spPr>
        <p:txBody>
          <a:bodyPr/>
          <a:lstStyle/>
          <a:p>
            <a:r>
              <a:rPr lang="en-US" b="1" u="sng" dirty="0">
                <a:ea typeface="ＭＳ Ｐゴシック" panose="020B0600070205080204" pitchFamily="34" charset="-128"/>
              </a:rPr>
              <a:t>Storage Management</a:t>
            </a:r>
            <a:r>
              <a:rPr lang="en-US" b="1" u="sng" dirty="0" smtClean="0"/>
              <a:t/>
            </a:r>
            <a:br>
              <a:rPr lang="en-US" b="1" u="sng" dirty="0" smtClean="0"/>
            </a:br>
            <a:r>
              <a:rPr lang="en-US" sz="2800" b="1" dirty="0" smtClean="0"/>
              <a:t>File-System</a:t>
            </a:r>
            <a:r>
              <a:rPr lang="en-US" sz="2800" b="1" i="1" dirty="0" smtClean="0"/>
              <a:t> </a:t>
            </a:r>
            <a:r>
              <a:rPr lang="en-US" sz="2800" b="1" i="1" dirty="0"/>
              <a:t>Management</a:t>
            </a:r>
            <a:r>
              <a:rPr lang="en-US" b="1" u="sng" dirty="0"/>
              <a:t/>
            </a:r>
            <a:br>
              <a:rPr lang="en-US" b="1" u="sng" dirty="0"/>
            </a:br>
            <a:endParaRPr lang="en-US" b="1" u="sng" dirty="0"/>
          </a:p>
        </p:txBody>
      </p:sp>
      <p:sp>
        <p:nvSpPr>
          <p:cNvPr id="3" name="Content Placeholder 2"/>
          <p:cNvSpPr>
            <a:spLocks noGrp="1"/>
          </p:cNvSpPr>
          <p:nvPr>
            <p:ph idx="1"/>
          </p:nvPr>
        </p:nvSpPr>
        <p:spPr>
          <a:xfrm>
            <a:off x="646112" y="2265528"/>
            <a:ext cx="9403742" cy="3982872"/>
          </a:xfrm>
        </p:spPr>
        <p:txBody>
          <a:bodyPr/>
          <a:lstStyle/>
          <a:p>
            <a:r>
              <a:rPr lang="en-US" dirty="0"/>
              <a:t>The operating system is responsible for the following activities in connection with file management:</a:t>
            </a:r>
          </a:p>
          <a:p>
            <a:pPr lvl="2"/>
            <a:r>
              <a:rPr lang="en-US" dirty="0"/>
              <a:t>Creating and deleting files</a:t>
            </a:r>
            <a:endParaRPr lang="en-US" sz="1400" dirty="0"/>
          </a:p>
          <a:p>
            <a:pPr lvl="2"/>
            <a:r>
              <a:rPr lang="en-US" dirty="0"/>
              <a:t>Creating and deleting directories to organize files</a:t>
            </a:r>
            <a:endParaRPr lang="en-US" sz="1400" dirty="0"/>
          </a:p>
          <a:p>
            <a:pPr lvl="2"/>
            <a:r>
              <a:rPr lang="en-US" dirty="0"/>
              <a:t>Supporting primitives for manipulating files and directories</a:t>
            </a:r>
            <a:endParaRPr lang="en-US" sz="1400" dirty="0"/>
          </a:p>
          <a:p>
            <a:pPr lvl="2"/>
            <a:r>
              <a:rPr lang="en-US" dirty="0"/>
              <a:t>Mapping files onto secondary storage</a:t>
            </a:r>
            <a:endParaRPr lang="en-US" sz="1400" dirty="0"/>
          </a:p>
          <a:p>
            <a:pPr lvl="2"/>
            <a:r>
              <a:rPr lang="en-US" dirty="0"/>
              <a:t>Backing up files on stable (nonvolatile) storage media</a:t>
            </a:r>
            <a:endParaRPr lang="en-US" sz="1400" dirty="0"/>
          </a:p>
          <a:p>
            <a:r>
              <a:rPr lang="en-US" dirty="0"/>
              <a:t> </a:t>
            </a:r>
            <a:endParaRPr lang="en-US" sz="1600" dirty="0"/>
          </a:p>
          <a:p>
            <a:endParaRPr lang="en-US" dirty="0"/>
          </a:p>
        </p:txBody>
      </p:sp>
    </p:spTree>
    <p:extLst>
      <p:ext uri="{BB962C8B-B14F-4D97-AF65-F5344CB8AC3E}">
        <p14:creationId xmlns:p14="http://schemas.microsoft.com/office/powerpoint/2010/main" val="4110694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204716"/>
            <a:ext cx="9404723" cy="1323833"/>
          </a:xfrm>
        </p:spPr>
        <p:txBody>
          <a:bodyPr/>
          <a:lstStyle/>
          <a:p>
            <a:r>
              <a:rPr lang="en-US" b="1" u="sng" dirty="0">
                <a:ea typeface="ＭＳ Ｐゴシック" panose="020B0600070205080204" pitchFamily="34" charset="-128"/>
              </a:rPr>
              <a:t>Storage </a:t>
            </a:r>
            <a:r>
              <a:rPr lang="en-US" b="1" u="sng" dirty="0" smtClean="0">
                <a:ea typeface="ＭＳ Ｐゴシック" panose="020B0600070205080204" pitchFamily="34" charset="-128"/>
              </a:rPr>
              <a:t>Management</a:t>
            </a:r>
            <a:br>
              <a:rPr lang="en-US" b="1" u="sng" dirty="0" smtClean="0">
                <a:ea typeface="ＭＳ Ｐゴシック" panose="020B0600070205080204" pitchFamily="34" charset="-128"/>
              </a:rPr>
            </a:br>
            <a:r>
              <a:rPr lang="en-US" sz="2400" b="1" dirty="0" smtClean="0">
                <a:ea typeface="ＭＳ Ｐゴシック" panose="020B0600070205080204" pitchFamily="34" charset="-128"/>
              </a:rPr>
              <a:t>Mass-Storage </a:t>
            </a:r>
            <a:r>
              <a:rPr lang="en-US" sz="2400" b="1" dirty="0">
                <a:ea typeface="ＭＳ Ｐゴシック" panose="020B0600070205080204" pitchFamily="34" charset="-128"/>
              </a:rPr>
              <a:t>Management</a:t>
            </a:r>
            <a:endParaRPr lang="en-US" sz="2400" b="1" dirty="0"/>
          </a:p>
        </p:txBody>
      </p:sp>
      <p:sp>
        <p:nvSpPr>
          <p:cNvPr id="3" name="Content Placeholder 2"/>
          <p:cNvSpPr>
            <a:spLocks noGrp="1"/>
          </p:cNvSpPr>
          <p:nvPr>
            <p:ph idx="1"/>
          </p:nvPr>
        </p:nvSpPr>
        <p:spPr>
          <a:xfrm>
            <a:off x="646112" y="1528550"/>
            <a:ext cx="9403742" cy="4719850"/>
          </a:xfrm>
        </p:spPr>
        <p:txBody>
          <a:bodyPr/>
          <a:lstStyle/>
          <a:p>
            <a:r>
              <a:rPr lang="en-US" sz="1600" dirty="0">
                <a:ea typeface="ＭＳ Ｐゴシック" panose="020B0600070205080204" pitchFamily="34" charset="-128"/>
              </a:rPr>
              <a:t>Usually disks used to store data that does not fit in main memory or data that must be kept for a “long” period of time</a:t>
            </a:r>
          </a:p>
          <a:p>
            <a:r>
              <a:rPr lang="en-US" sz="1600" dirty="0">
                <a:ea typeface="ＭＳ Ｐゴシック" panose="020B0600070205080204" pitchFamily="34" charset="-128"/>
              </a:rPr>
              <a:t>Proper management is of central importance</a:t>
            </a:r>
          </a:p>
          <a:p>
            <a:r>
              <a:rPr lang="en-US" sz="1600" dirty="0">
                <a:ea typeface="ＭＳ Ｐゴシック" panose="020B0600070205080204" pitchFamily="34" charset="-128"/>
              </a:rPr>
              <a:t>Entire speed of computer operation hinges on disk subsystem and its algorithms</a:t>
            </a:r>
          </a:p>
          <a:p>
            <a:r>
              <a:rPr lang="en-US" sz="1600" dirty="0">
                <a:ea typeface="ＭＳ Ｐゴシック" panose="020B0600070205080204" pitchFamily="34" charset="-128"/>
              </a:rPr>
              <a:t>OS activities</a:t>
            </a:r>
          </a:p>
          <a:p>
            <a:pPr lvl="1"/>
            <a:r>
              <a:rPr lang="en-US" sz="1600" dirty="0">
                <a:ea typeface="ＭＳ Ｐゴシック" panose="020B0600070205080204" pitchFamily="34" charset="-128"/>
              </a:rPr>
              <a:t>Free-space management</a:t>
            </a:r>
          </a:p>
          <a:p>
            <a:pPr lvl="1"/>
            <a:r>
              <a:rPr lang="en-US" sz="1600" dirty="0">
                <a:ea typeface="ＭＳ Ｐゴシック" panose="020B0600070205080204" pitchFamily="34" charset="-128"/>
              </a:rPr>
              <a:t>Storage allocation</a:t>
            </a:r>
          </a:p>
          <a:p>
            <a:pPr lvl="1"/>
            <a:r>
              <a:rPr lang="en-US" sz="1600" dirty="0">
                <a:ea typeface="ＭＳ Ｐゴシック" panose="020B0600070205080204" pitchFamily="34" charset="-128"/>
              </a:rPr>
              <a:t>Disk scheduling</a:t>
            </a:r>
          </a:p>
          <a:p>
            <a:r>
              <a:rPr lang="en-US" sz="1600" dirty="0">
                <a:ea typeface="ＭＳ Ｐゴシック" panose="020B0600070205080204" pitchFamily="34" charset="-128"/>
              </a:rPr>
              <a:t>Some storage need not be fast</a:t>
            </a:r>
          </a:p>
          <a:p>
            <a:pPr lvl="1"/>
            <a:r>
              <a:rPr lang="en-US" sz="1600" dirty="0">
                <a:ea typeface="ＭＳ Ｐゴシック" panose="020B0600070205080204" pitchFamily="34" charset="-128"/>
              </a:rPr>
              <a:t>Tertiary storage includes optical storage, magnetic tape</a:t>
            </a:r>
          </a:p>
          <a:p>
            <a:pPr lvl="1"/>
            <a:r>
              <a:rPr lang="en-US" sz="1600" dirty="0">
                <a:ea typeface="ＭＳ Ｐゴシック" panose="020B0600070205080204" pitchFamily="34" charset="-128"/>
              </a:rPr>
              <a:t>Still must be managed</a:t>
            </a:r>
          </a:p>
          <a:p>
            <a:pPr lvl="1"/>
            <a:r>
              <a:rPr lang="en-US" sz="1600" dirty="0">
                <a:ea typeface="ＭＳ Ｐゴシック" panose="020B0600070205080204" pitchFamily="34" charset="-128"/>
              </a:rPr>
              <a:t>Varies between WORM (write-once, read-many-times) and RW (</a:t>
            </a:r>
            <a:r>
              <a:rPr lang="en-US" sz="1600" dirty="0" smtClean="0">
                <a:ea typeface="ＭＳ Ｐゴシック" panose="020B0600070205080204" pitchFamily="34" charset="-128"/>
              </a:rPr>
              <a:t>read-write</a:t>
            </a:r>
            <a:endParaRPr lang="en-US" sz="1600" dirty="0">
              <a:ea typeface="ＭＳ Ｐゴシック" panose="020B0600070205080204" pitchFamily="34" charset="-128"/>
            </a:endParaRPr>
          </a:p>
        </p:txBody>
      </p:sp>
    </p:spTree>
    <p:extLst>
      <p:ext uri="{BB962C8B-B14F-4D97-AF65-F5344CB8AC3E}">
        <p14:creationId xmlns:p14="http://schemas.microsoft.com/office/powerpoint/2010/main" val="2832379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171366"/>
          </a:xfrm>
        </p:spPr>
        <p:txBody>
          <a:bodyPr/>
          <a:lstStyle/>
          <a:p>
            <a:r>
              <a:rPr lang="en-US" b="1" u="sng" dirty="0">
                <a:ea typeface="ＭＳ Ｐゴシック" panose="020B0600070205080204" pitchFamily="34" charset="-128"/>
              </a:rPr>
              <a:t>Storage </a:t>
            </a:r>
            <a:r>
              <a:rPr lang="en-US" b="1" u="sng" dirty="0" smtClean="0">
                <a:ea typeface="ＭＳ Ｐゴシック" panose="020B0600070205080204" pitchFamily="34" charset="-128"/>
              </a:rPr>
              <a:t>Management</a:t>
            </a:r>
            <a:r>
              <a:rPr lang="en-US" b="1" u="sng" dirty="0" smtClean="0"/>
              <a:t/>
            </a:r>
            <a:br>
              <a:rPr lang="en-US" b="1" u="sng" dirty="0" smtClean="0"/>
            </a:br>
            <a:r>
              <a:rPr lang="en-US" sz="2400" b="1" dirty="0" smtClean="0"/>
              <a:t>Caching</a:t>
            </a:r>
            <a:r>
              <a:rPr lang="en-US" b="1" u="sng" dirty="0"/>
              <a:t/>
            </a:r>
            <a:br>
              <a:rPr lang="en-US" b="1" u="sng" dirty="0"/>
            </a:br>
            <a:endParaRPr lang="en-US" u="sng" dirty="0"/>
          </a:p>
        </p:txBody>
      </p:sp>
      <p:sp>
        <p:nvSpPr>
          <p:cNvPr id="3" name="Content Placeholder 2"/>
          <p:cNvSpPr>
            <a:spLocks noGrp="1"/>
          </p:cNvSpPr>
          <p:nvPr>
            <p:ph idx="1"/>
          </p:nvPr>
        </p:nvSpPr>
        <p:spPr>
          <a:xfrm>
            <a:off x="646112" y="1624084"/>
            <a:ext cx="11213792" cy="5131558"/>
          </a:xfrm>
        </p:spPr>
        <p:txBody>
          <a:bodyPr/>
          <a:lstStyle/>
          <a:p>
            <a:r>
              <a:rPr lang="en-US" b="1" dirty="0"/>
              <a:t>Caching </a:t>
            </a:r>
            <a:r>
              <a:rPr lang="en-US" dirty="0"/>
              <a:t>is an important principle of computer systems. Information is normally kept in some storage system (such as main memory). As it is used, it is copied into a faster </a:t>
            </a:r>
            <a:r>
              <a:rPr lang="en-US" dirty="0" smtClean="0"/>
              <a:t>storage </a:t>
            </a:r>
            <a:r>
              <a:rPr lang="en-US" dirty="0"/>
              <a:t>system— the cache—as temporary </a:t>
            </a:r>
            <a:r>
              <a:rPr lang="en-US" dirty="0" smtClean="0"/>
              <a:t>data</a:t>
            </a:r>
          </a:p>
          <a:p>
            <a:r>
              <a:rPr lang="en-US" dirty="0">
                <a:ea typeface="ＭＳ Ｐゴシック" panose="020B0600070205080204" pitchFamily="34" charset="-128"/>
              </a:rPr>
              <a:t>Multitasking environments must be careful to use most recent value, no matter where it is stored in the storage </a:t>
            </a:r>
            <a:r>
              <a:rPr lang="en-US" dirty="0" smtClean="0">
                <a:ea typeface="ＭＳ Ｐゴシック" panose="020B0600070205080204" pitchFamily="34" charset="-128"/>
              </a:rPr>
              <a:t>hierarchy.</a:t>
            </a:r>
          </a:p>
          <a:p>
            <a:endParaRPr lang="en-US" dirty="0">
              <a:ea typeface="ＭＳ Ｐゴシック" panose="020B0600070205080204" pitchFamily="34" charset="-128"/>
            </a:endParaRPr>
          </a:p>
          <a:p>
            <a:endParaRPr lang="en-US" dirty="0" smtClean="0">
              <a:ea typeface="ＭＳ Ｐゴシック" panose="020B0600070205080204" pitchFamily="34" charset="-128"/>
            </a:endParaRPr>
          </a:p>
          <a:p>
            <a:endParaRPr lang="en-US" dirty="0">
              <a:ea typeface="ＭＳ Ｐゴシック" panose="020B0600070205080204" pitchFamily="34" charset="-128"/>
            </a:endParaRPr>
          </a:p>
          <a:p>
            <a:r>
              <a:rPr lang="en-US" dirty="0">
                <a:ea typeface="ＭＳ Ｐゴシック" panose="020B0600070205080204" pitchFamily="34" charset="-128"/>
              </a:rPr>
              <a:t>Multiprocessor environment must provide cache coherency in hardware such that all CPUs have the most recent value in their cache</a:t>
            </a:r>
          </a:p>
          <a:p>
            <a:r>
              <a:rPr lang="en-US" dirty="0">
                <a:ea typeface="ＭＳ Ｐゴシック" panose="020B0600070205080204" pitchFamily="34" charset="-128"/>
              </a:rPr>
              <a:t>Distributed environment situation even more complex</a:t>
            </a:r>
          </a:p>
          <a:p>
            <a:pPr lvl="1"/>
            <a:r>
              <a:rPr lang="en-US" dirty="0">
                <a:ea typeface="ＭＳ Ｐゴシック" panose="020B0600070205080204" pitchFamily="34" charset="-128"/>
              </a:rPr>
              <a:t>Several copies of a datum can exist</a:t>
            </a:r>
          </a:p>
          <a:p>
            <a:pPr lvl="1"/>
            <a:r>
              <a:rPr lang="en-US" dirty="0">
                <a:ea typeface="ＭＳ Ｐゴシック" panose="020B0600070205080204" pitchFamily="34" charset="-128"/>
              </a:rPr>
              <a:t>Various solutions covered in Chapter 17</a:t>
            </a:r>
          </a:p>
          <a:p>
            <a:endParaRPr lang="en-US" dirty="0" smtClean="0">
              <a:ea typeface="ＭＳ Ｐゴシック" panose="020B0600070205080204" pitchFamily="34" charset="-128"/>
            </a:endParaRPr>
          </a:p>
          <a:p>
            <a:endParaRPr lang="en-US"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0241" y="3396516"/>
            <a:ext cx="7256462" cy="103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661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089479"/>
          </a:xfrm>
        </p:spPr>
        <p:txBody>
          <a:bodyPr/>
          <a:lstStyle/>
          <a:p>
            <a:r>
              <a:rPr lang="en-US" b="1" u="sng" dirty="0">
                <a:ea typeface="ＭＳ Ｐゴシック" panose="020B0600070205080204" pitchFamily="34" charset="-128"/>
              </a:rPr>
              <a:t>Storage </a:t>
            </a:r>
            <a:r>
              <a:rPr lang="en-US" b="1" u="sng" dirty="0" smtClean="0">
                <a:ea typeface="ＭＳ Ｐゴシック" panose="020B0600070205080204" pitchFamily="34" charset="-128"/>
              </a:rPr>
              <a:t>Management</a:t>
            </a:r>
            <a:br>
              <a:rPr lang="en-US" b="1" u="sng" dirty="0" smtClean="0">
                <a:ea typeface="ＭＳ Ｐゴシック" panose="020B0600070205080204" pitchFamily="34" charset="-128"/>
              </a:rPr>
            </a:br>
            <a:r>
              <a:rPr lang="en-US" sz="2400" dirty="0">
                <a:ea typeface="ＭＳ Ｐゴシック" panose="020B0600070205080204" pitchFamily="34" charset="-128"/>
              </a:rPr>
              <a:t>I/O Subsystem</a:t>
            </a:r>
            <a:endParaRPr lang="en-US" sz="2400" dirty="0"/>
          </a:p>
        </p:txBody>
      </p:sp>
      <p:sp>
        <p:nvSpPr>
          <p:cNvPr id="3" name="Content Placeholder 2"/>
          <p:cNvSpPr>
            <a:spLocks noGrp="1"/>
          </p:cNvSpPr>
          <p:nvPr>
            <p:ph idx="1"/>
          </p:nvPr>
        </p:nvSpPr>
        <p:spPr>
          <a:xfrm>
            <a:off x="646111" y="2183642"/>
            <a:ext cx="11295679" cy="4064758"/>
          </a:xfrm>
        </p:spPr>
        <p:txBody>
          <a:bodyPr/>
          <a:lstStyle/>
          <a:p>
            <a:r>
              <a:rPr lang="en-US" dirty="0">
                <a:ea typeface="ＭＳ Ｐゴシック" panose="020B0600070205080204" pitchFamily="34" charset="-128"/>
              </a:rPr>
              <a:t>One purpose of OS is to hide peculiarities of hardware devices from the user</a:t>
            </a:r>
          </a:p>
          <a:p>
            <a:r>
              <a:rPr lang="en-US" dirty="0">
                <a:ea typeface="ＭＳ Ｐゴシック" panose="020B0600070205080204" pitchFamily="34" charset="-128"/>
              </a:rPr>
              <a:t>I/O subsystem responsible for</a:t>
            </a:r>
          </a:p>
          <a:p>
            <a:pPr lvl="1"/>
            <a:r>
              <a:rPr lang="en-US" dirty="0">
                <a:ea typeface="ＭＳ Ｐゴシック" panose="020B0600070205080204" pitchFamily="34" charset="-128"/>
              </a:rPr>
              <a:t>Memory management of I/O including buffering (storing data temporarily while it is being transferred), caching (storing parts of data in faster storage for performance), spooling (the overlapping of output of one job with input of other jobs)</a:t>
            </a:r>
          </a:p>
          <a:p>
            <a:pPr lvl="1"/>
            <a:r>
              <a:rPr lang="en-US" dirty="0">
                <a:ea typeface="ＭＳ Ｐゴシック" panose="020B0600070205080204" pitchFamily="34" charset="-128"/>
              </a:rPr>
              <a:t>General device-driver interface</a:t>
            </a:r>
          </a:p>
          <a:p>
            <a:pPr lvl="1"/>
            <a:r>
              <a:rPr lang="en-US" dirty="0">
                <a:ea typeface="ＭＳ Ｐゴシック" panose="020B0600070205080204" pitchFamily="34" charset="-128"/>
              </a:rPr>
              <a:t>Drivers for specific hardware devices</a:t>
            </a:r>
          </a:p>
          <a:p>
            <a:endParaRPr lang="en-US" dirty="0"/>
          </a:p>
        </p:txBody>
      </p:sp>
    </p:spTree>
    <p:extLst>
      <p:ext uri="{BB962C8B-B14F-4D97-AF65-F5344CB8AC3E}">
        <p14:creationId xmlns:p14="http://schemas.microsoft.com/office/powerpoint/2010/main" val="4165339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7877"/>
            <a:ext cx="12091916" cy="775581"/>
          </a:xfrm>
        </p:spPr>
        <p:txBody>
          <a:bodyPr/>
          <a:lstStyle/>
          <a:p>
            <a:r>
              <a:rPr lang="en-US" b="1" dirty="0" smtClean="0"/>
              <a:t>Chapter 2 :Operating system services </a:t>
            </a:r>
            <a:br>
              <a:rPr lang="en-US" b="1" dirty="0" smtClean="0"/>
            </a:br>
            <a:endParaRPr lang="en-US" b="1" dirty="0"/>
          </a:p>
        </p:txBody>
      </p:sp>
      <p:sp>
        <p:nvSpPr>
          <p:cNvPr id="3" name="Content Placeholder 2"/>
          <p:cNvSpPr>
            <a:spLocks noGrp="1"/>
          </p:cNvSpPr>
          <p:nvPr>
            <p:ph idx="1"/>
          </p:nvPr>
        </p:nvSpPr>
        <p:spPr>
          <a:xfrm>
            <a:off x="0" y="873458"/>
            <a:ext cx="12192000" cy="5759354"/>
          </a:xfrm>
        </p:spPr>
        <p:txBody>
          <a:bodyPr>
            <a:normAutofit/>
          </a:bodyPr>
          <a:lstStyle/>
          <a:p>
            <a:r>
              <a:rPr lang="en-US" dirty="0"/>
              <a:t>One set of operating-system services provides functions that are helpful to the user:</a:t>
            </a:r>
          </a:p>
          <a:p>
            <a:pPr lvl="1"/>
            <a:r>
              <a:rPr lang="en-US" sz="2000" dirty="0">
                <a:ea typeface="ＭＳ Ｐゴシック" panose="020B0600070205080204" pitchFamily="34" charset="-128"/>
              </a:rPr>
              <a:t>User interface - Almost all operating systems have a user interface (UI)</a:t>
            </a:r>
          </a:p>
          <a:p>
            <a:pPr lvl="2"/>
            <a:r>
              <a:rPr lang="en-US" sz="2000" dirty="0">
                <a:ea typeface="ＭＳ Ｐゴシック" panose="020B0600070205080204" pitchFamily="34" charset="-128"/>
              </a:rPr>
              <a:t>Varies between Command-Line (CLI), Graphics User Interface (GUI), Batch</a:t>
            </a:r>
          </a:p>
          <a:p>
            <a:pPr lvl="1"/>
            <a:r>
              <a:rPr lang="en-US" sz="2000" dirty="0">
                <a:ea typeface="ＭＳ Ｐゴシック" panose="020B0600070205080204" pitchFamily="34" charset="-128"/>
              </a:rPr>
              <a:t>Program execution - The system must be able to load a program into memory and to run that program, end execution, either normally or abnormally (indicating error)</a:t>
            </a:r>
          </a:p>
          <a:p>
            <a:pPr lvl="1"/>
            <a:r>
              <a:rPr lang="en-US" sz="2000" dirty="0">
                <a:ea typeface="ＭＳ Ｐゴシック" panose="020B0600070205080204" pitchFamily="34" charset="-128"/>
              </a:rPr>
              <a:t>I/O operations -  A running program may require I/O, which may involve a file or an I/O device </a:t>
            </a:r>
          </a:p>
          <a:p>
            <a:pPr lvl="1"/>
            <a:r>
              <a:rPr lang="en-US" sz="2000" dirty="0">
                <a:ea typeface="ＭＳ Ｐゴシック" panose="020B0600070205080204" pitchFamily="34" charset="-128"/>
              </a:rPr>
              <a:t>File-system manipulation -  The file system is of particular interest. Obviously, programs need to read and write files and directories, create and delete them, search them, list file Information, permission management</a:t>
            </a:r>
            <a:r>
              <a:rPr lang="en-US" sz="2000" dirty="0" smtClean="0">
                <a:ea typeface="ＭＳ Ｐゴシック" panose="020B0600070205080204" pitchFamily="34" charset="-128"/>
              </a:rPr>
              <a:t>.</a:t>
            </a:r>
          </a:p>
          <a:p>
            <a:pPr lvl="1"/>
            <a:r>
              <a:rPr lang="en-US" sz="2000" dirty="0">
                <a:ea typeface="ＭＳ Ｐゴシック" panose="020B0600070205080204" pitchFamily="34" charset="-128"/>
              </a:rPr>
              <a:t>Communications – Processes may </a:t>
            </a:r>
            <a:r>
              <a:rPr lang="en-US" sz="2000" dirty="0" smtClean="0">
                <a:ea typeface="ＭＳ Ｐゴシック" panose="020B0600070205080204" pitchFamily="34" charset="-128"/>
              </a:rPr>
              <a:t>exchange </a:t>
            </a:r>
            <a:r>
              <a:rPr lang="en-US" sz="2000" dirty="0">
                <a:ea typeface="ＭＳ Ｐゴシック" panose="020B0600070205080204" pitchFamily="34" charset="-128"/>
              </a:rPr>
              <a:t>information, on the same </a:t>
            </a:r>
            <a:r>
              <a:rPr lang="en-US" sz="2000" dirty="0" smtClean="0">
                <a:ea typeface="ＭＳ Ｐゴシック" panose="020B0600070205080204" pitchFamily="34" charset="-128"/>
              </a:rPr>
              <a:t>computer </a:t>
            </a:r>
            <a:r>
              <a:rPr lang="en-US" sz="2000" dirty="0">
                <a:ea typeface="ＭＳ Ｐゴシック" panose="020B0600070205080204" pitchFamily="34" charset="-128"/>
              </a:rPr>
              <a:t>or between computers over a </a:t>
            </a:r>
            <a:r>
              <a:rPr lang="en-US" sz="2000" dirty="0" smtClean="0">
                <a:ea typeface="ＭＳ Ｐゴシック" panose="020B0600070205080204" pitchFamily="34" charset="-128"/>
              </a:rPr>
              <a:t>network</a:t>
            </a:r>
            <a:endParaRPr lang="en-US" sz="2000" dirty="0">
              <a:ea typeface="ＭＳ Ｐゴシック" panose="020B0600070205080204" pitchFamily="34" charset="-128"/>
            </a:endParaRPr>
          </a:p>
          <a:p>
            <a:pPr lvl="2"/>
            <a:r>
              <a:rPr lang="en-US" sz="2000" dirty="0">
                <a:ea typeface="ＭＳ Ｐゴシック" panose="020B0600070205080204" pitchFamily="34" charset="-128"/>
              </a:rPr>
              <a:t>Communications may be </a:t>
            </a:r>
            <a:r>
              <a:rPr lang="en-US" sz="2000" dirty="0" smtClean="0">
                <a:ea typeface="ＭＳ Ｐゴシック" panose="020B0600070205080204" pitchFamily="34" charset="-128"/>
              </a:rPr>
              <a:t>via </a:t>
            </a:r>
            <a:r>
              <a:rPr lang="en-US" sz="2000" dirty="0">
                <a:ea typeface="ＭＳ Ｐゴシック" panose="020B0600070205080204" pitchFamily="34" charset="-128"/>
              </a:rPr>
              <a:t>shared memory or through message </a:t>
            </a:r>
            <a:r>
              <a:rPr lang="en-US" sz="2000" dirty="0" smtClean="0">
                <a:ea typeface="ＭＳ Ｐゴシック" panose="020B0600070205080204" pitchFamily="34" charset="-128"/>
              </a:rPr>
              <a:t>passing </a:t>
            </a:r>
            <a:r>
              <a:rPr lang="en-US" sz="2000" dirty="0">
                <a:ea typeface="ＭＳ Ｐゴシック" panose="020B0600070205080204" pitchFamily="34" charset="-128"/>
              </a:rPr>
              <a:t>(packets moved by the OS)</a:t>
            </a:r>
          </a:p>
          <a:p>
            <a:pPr marL="457200" lvl="1" indent="0">
              <a:buNone/>
            </a:pPr>
            <a:endParaRPr lang="en-US" sz="2000" dirty="0" smtClean="0">
              <a:ea typeface="ＭＳ Ｐゴシック" panose="020B0600070205080204" pitchFamily="34" charset="-128"/>
            </a:endParaRPr>
          </a:p>
          <a:p>
            <a:pPr lvl="1"/>
            <a:endParaRPr lang="en-US" sz="2000" dirty="0">
              <a:ea typeface="ＭＳ Ｐゴシック" panose="020B0600070205080204" pitchFamily="34" charset="-128"/>
            </a:endParaRPr>
          </a:p>
          <a:p>
            <a:pPr marL="0" indent="0">
              <a:buNone/>
            </a:pPr>
            <a:endParaRPr lang="en-US" dirty="0"/>
          </a:p>
        </p:txBody>
      </p:sp>
    </p:spTree>
    <p:extLst>
      <p:ext uri="{BB962C8B-B14F-4D97-AF65-F5344CB8AC3E}">
        <p14:creationId xmlns:p14="http://schemas.microsoft.com/office/powerpoint/2010/main" val="14883650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050835" cy="1173707"/>
          </a:xfrm>
        </p:spPr>
        <p:txBody>
          <a:bodyPr/>
          <a:lstStyle/>
          <a:p>
            <a:r>
              <a:rPr lang="en-US" u="sng" dirty="0"/>
              <a:t>Operating system services </a:t>
            </a:r>
            <a:br>
              <a:rPr lang="en-US" u="sng" dirty="0"/>
            </a:br>
            <a:r>
              <a:rPr lang="en-US" sz="2400" dirty="0"/>
              <a:t>A View of Operating System Services</a:t>
            </a:r>
            <a:endParaRPr lang="en-US" sz="2400" u="sng" dirty="0"/>
          </a:p>
        </p:txBody>
      </p:sp>
      <p:sp>
        <p:nvSpPr>
          <p:cNvPr id="3" name="Content Placeholder 2"/>
          <p:cNvSpPr>
            <a:spLocks noGrp="1"/>
          </p:cNvSpPr>
          <p:nvPr>
            <p:ph idx="1"/>
          </p:nvPr>
        </p:nvSpPr>
        <p:spPr>
          <a:xfrm>
            <a:off x="122831" y="1173708"/>
            <a:ext cx="11928141" cy="5684292"/>
          </a:xfrm>
        </p:spPr>
        <p:txBody>
          <a:bodyPr>
            <a:normAutofit/>
          </a:bodyPr>
          <a:lstStyle/>
          <a:p>
            <a:pPr lvl="1"/>
            <a:r>
              <a:rPr lang="en-US" sz="2000" dirty="0" smtClean="0">
                <a:ea typeface="ＭＳ Ｐゴシック" panose="020B0600070205080204" pitchFamily="34" charset="-128"/>
              </a:rPr>
              <a:t>Error </a:t>
            </a:r>
            <a:r>
              <a:rPr lang="en-US" sz="2000" dirty="0">
                <a:ea typeface="ＭＳ Ｐゴシック" panose="020B0600070205080204" pitchFamily="34" charset="-128"/>
              </a:rPr>
              <a:t>detection – OS needs to be constantly aware of possible errors</a:t>
            </a:r>
          </a:p>
          <a:p>
            <a:pPr lvl="2"/>
            <a:r>
              <a:rPr lang="en-US" sz="2000" dirty="0">
                <a:ea typeface="ＭＳ Ｐゴシック" panose="020B0600070205080204" pitchFamily="34" charset="-128"/>
              </a:rPr>
              <a:t>May occur in the CPU and memory hardware, in I/O devices, in user program</a:t>
            </a:r>
          </a:p>
          <a:p>
            <a:pPr lvl="2"/>
            <a:r>
              <a:rPr lang="en-US" sz="2000" dirty="0">
                <a:ea typeface="ＭＳ Ｐゴシック" panose="020B0600070205080204" pitchFamily="34" charset="-128"/>
              </a:rPr>
              <a:t>For each type of error, OS should take the appropriate action to ensure correct and consistent computing</a:t>
            </a:r>
          </a:p>
          <a:p>
            <a:pPr lvl="2"/>
            <a:r>
              <a:rPr lang="en-US" sz="2000" dirty="0">
                <a:ea typeface="ＭＳ Ｐゴシック" panose="020B0600070205080204" pitchFamily="34" charset="-128"/>
              </a:rPr>
              <a:t>Debugging facilities can greatly enhance the user’s and programmer’s abilities to efficiently use the system</a:t>
            </a:r>
          </a:p>
          <a:p>
            <a:endParaRPr lang="en-US" dirty="0"/>
          </a:p>
        </p:txBody>
      </p:sp>
      <p:pic>
        <p:nvPicPr>
          <p:cNvPr id="4" name="Picture 4"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2197" y="3622865"/>
            <a:ext cx="8379725" cy="3235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5283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35" y="1"/>
            <a:ext cx="12282984" cy="818866"/>
          </a:xfrm>
        </p:spPr>
        <p:txBody>
          <a:bodyPr/>
          <a:lstStyle/>
          <a:p>
            <a:r>
              <a:rPr lang="en-US" b="1" u="sng" dirty="0"/>
              <a:t>Operating system </a:t>
            </a:r>
            <a:r>
              <a:rPr lang="en-US" b="1" u="sng" dirty="0" smtClean="0"/>
              <a:t>services</a:t>
            </a:r>
            <a:endParaRPr lang="en-US" sz="2400" b="1" dirty="0"/>
          </a:p>
        </p:txBody>
      </p:sp>
      <p:sp>
        <p:nvSpPr>
          <p:cNvPr id="3" name="Content Placeholder 2"/>
          <p:cNvSpPr>
            <a:spLocks noGrp="1"/>
          </p:cNvSpPr>
          <p:nvPr>
            <p:ph idx="1"/>
          </p:nvPr>
        </p:nvSpPr>
        <p:spPr>
          <a:xfrm>
            <a:off x="95535" y="723331"/>
            <a:ext cx="11969085" cy="6134669"/>
          </a:xfrm>
        </p:spPr>
        <p:txBody>
          <a:bodyPr>
            <a:normAutofit/>
          </a:bodyPr>
          <a:lstStyle/>
          <a:p>
            <a:pPr marL="342906" indent="-342906" defTabSz="457207">
              <a:lnSpc>
                <a:spcPct val="90000"/>
              </a:lnSpc>
              <a:defRPr/>
            </a:pPr>
            <a:r>
              <a:rPr lang="en-US" dirty="0"/>
              <a:t>Another set of OS functions exists for ensuring the efficient operation of the system itself via resource sharing</a:t>
            </a:r>
          </a:p>
          <a:p>
            <a:pPr marL="742962" lvl="1" indent="-285755" defTabSz="457207">
              <a:lnSpc>
                <a:spcPct val="90000"/>
              </a:lnSpc>
              <a:defRPr/>
            </a:pPr>
            <a:r>
              <a:rPr lang="en-US" sz="2000" b="1" dirty="0">
                <a:ea typeface="ＭＳ Ｐゴシック" panose="020B0600070205080204" pitchFamily="34" charset="-128"/>
              </a:rPr>
              <a:t>Resource allocation - </a:t>
            </a:r>
            <a:r>
              <a:rPr lang="en-US" sz="2000" dirty="0">
                <a:ea typeface="ＭＳ Ｐゴシック" panose="020B0600070205080204" pitchFamily="34" charset="-128"/>
              </a:rPr>
              <a:t>When  multiple users or multiple jobs running concurrently, resources must be allocated to each of them</a:t>
            </a:r>
          </a:p>
          <a:p>
            <a:pPr marL="1143020" lvl="2" indent="-228604" defTabSz="457207">
              <a:lnSpc>
                <a:spcPct val="90000"/>
              </a:lnSpc>
              <a:defRPr/>
            </a:pPr>
            <a:r>
              <a:rPr lang="en-US" sz="2000" dirty="0">
                <a:ea typeface="ＭＳ Ｐゴシック" panose="020B0600070205080204" pitchFamily="34" charset="-128"/>
              </a:rPr>
              <a:t>Many types of resources -  Some (such as CPU cycles, main memory, and file storage) may have special allocation code, others (such as I/O devices) may have general request and release code </a:t>
            </a:r>
          </a:p>
          <a:p>
            <a:pPr marL="742962" lvl="1" indent="-285755" defTabSz="457207">
              <a:lnSpc>
                <a:spcPct val="90000"/>
              </a:lnSpc>
              <a:defRPr/>
            </a:pPr>
            <a:r>
              <a:rPr lang="en-US" sz="2000" b="1" dirty="0">
                <a:ea typeface="ＭＳ Ｐゴシック" panose="020B0600070205080204" pitchFamily="34" charset="-128"/>
              </a:rPr>
              <a:t>Accounting -</a:t>
            </a:r>
            <a:r>
              <a:rPr lang="en-US" sz="2000" dirty="0">
                <a:ea typeface="ＭＳ Ｐゴシック" panose="020B0600070205080204" pitchFamily="34" charset="-128"/>
              </a:rPr>
              <a:t> To keep track of which users use how much and what kinds of computer resources</a:t>
            </a:r>
          </a:p>
          <a:p>
            <a:pPr marL="742962" lvl="1" indent="-285755" defTabSz="457207">
              <a:lnSpc>
                <a:spcPct val="90000"/>
              </a:lnSpc>
              <a:defRPr/>
            </a:pPr>
            <a:r>
              <a:rPr lang="en-US" sz="2000" b="1" dirty="0">
                <a:ea typeface="ＭＳ Ｐゴシック" panose="020B0600070205080204" pitchFamily="34" charset="-128"/>
              </a:rPr>
              <a:t>Protection and security - </a:t>
            </a:r>
            <a:r>
              <a:rPr lang="en-US" sz="2000" dirty="0">
                <a:ea typeface="ＭＳ Ｐゴシック" panose="020B0600070205080204" pitchFamily="34" charset="-128"/>
              </a:rPr>
              <a:t>The owners of information stored in a multiuser or networked computer system may want to control use of that information, concurrent processes should not interfere with each other</a:t>
            </a:r>
          </a:p>
          <a:p>
            <a:pPr marL="1143020" lvl="2" indent="-228604" defTabSz="457207">
              <a:lnSpc>
                <a:spcPct val="90000"/>
              </a:lnSpc>
              <a:defRPr/>
            </a:pPr>
            <a:r>
              <a:rPr lang="en-US" sz="2000" b="1" dirty="0">
                <a:ea typeface="ＭＳ Ｐゴシック" panose="020B0600070205080204" pitchFamily="34" charset="-128"/>
              </a:rPr>
              <a:t>Protection</a:t>
            </a:r>
            <a:r>
              <a:rPr lang="en-US" sz="2000" dirty="0">
                <a:ea typeface="ＭＳ Ｐゴシック" panose="020B0600070205080204" pitchFamily="34" charset="-128"/>
              </a:rPr>
              <a:t> involves ensuring that all access to system resources is controlled</a:t>
            </a:r>
          </a:p>
          <a:p>
            <a:pPr marL="1143020" lvl="2" indent="-228604" defTabSz="457207">
              <a:lnSpc>
                <a:spcPct val="90000"/>
              </a:lnSpc>
              <a:defRPr/>
            </a:pPr>
            <a:r>
              <a:rPr lang="en-US" sz="2000" b="1" dirty="0">
                <a:ea typeface="ＭＳ Ｐゴシック" panose="020B0600070205080204" pitchFamily="34" charset="-128"/>
              </a:rPr>
              <a:t>Security</a:t>
            </a:r>
            <a:r>
              <a:rPr lang="en-US" sz="2000" dirty="0">
                <a:ea typeface="ＭＳ Ｐゴシック" panose="020B0600070205080204" pitchFamily="34" charset="-128"/>
              </a:rPr>
              <a:t> of the system from outsiders requires user authentication, extends to defending external I/O devices from invalid access attempts</a:t>
            </a:r>
          </a:p>
          <a:p>
            <a:pPr marL="1143020" lvl="2" indent="-228604" defTabSz="457207">
              <a:lnSpc>
                <a:spcPct val="90000"/>
              </a:lnSpc>
              <a:defRPr/>
            </a:pPr>
            <a:r>
              <a:rPr lang="en-US" sz="2000" dirty="0">
                <a:ea typeface="ＭＳ Ｐゴシック" panose="020B0600070205080204" pitchFamily="34" charset="-128"/>
              </a:rPr>
              <a:t>If a system is to be protected and secure, precautions must be instituted throughout it. A chain is only as strong as its weakest link.</a:t>
            </a:r>
          </a:p>
          <a:p>
            <a:pPr marL="342906" indent="-342906" defTabSz="457207">
              <a:lnSpc>
                <a:spcPct val="90000"/>
              </a:lnSpc>
              <a:defRPr/>
            </a:pPr>
            <a:endParaRPr lang="en-US" dirty="0"/>
          </a:p>
          <a:p>
            <a:endParaRPr lang="en-US" dirty="0"/>
          </a:p>
        </p:txBody>
      </p:sp>
    </p:spTree>
    <p:extLst>
      <p:ext uri="{BB962C8B-B14F-4D97-AF65-F5344CB8AC3E}">
        <p14:creationId xmlns:p14="http://schemas.microsoft.com/office/powerpoint/2010/main" val="5998198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5534" y="0"/>
            <a:ext cx="10515316" cy="627797"/>
          </a:xfrm>
        </p:spPr>
        <p:txBody>
          <a:bodyPr rtlCol="0">
            <a:noAutofit/>
          </a:bodyPr>
          <a:lstStyle/>
          <a:p>
            <a:pPr defTabSz="457207">
              <a:defRPr/>
            </a:pPr>
            <a:r>
              <a:rPr lang="en-US" sz="4000" b="1" u="sng" dirty="0" smtClean="0"/>
              <a:t>User Operating System Interface - CLI</a:t>
            </a:r>
          </a:p>
        </p:txBody>
      </p:sp>
      <p:sp>
        <p:nvSpPr>
          <p:cNvPr id="15363" name="Rectangle 3"/>
          <p:cNvSpPr>
            <a:spLocks noGrp="1" noChangeArrowheads="1"/>
          </p:cNvSpPr>
          <p:nvPr>
            <p:ph idx="1"/>
          </p:nvPr>
        </p:nvSpPr>
        <p:spPr>
          <a:xfrm>
            <a:off x="0" y="627796"/>
            <a:ext cx="12192000" cy="6230203"/>
          </a:xfrm>
        </p:spPr>
        <p:txBody>
          <a:bodyPr>
            <a:normAutofit lnSpcReduction="10000"/>
          </a:bodyPr>
          <a:lstStyle/>
          <a:p>
            <a:pPr>
              <a:buFont typeface="Monotype Sorts" charset="2"/>
              <a:buNone/>
            </a:pPr>
            <a:r>
              <a:rPr lang="en-US" dirty="0" smtClean="0"/>
              <a:t>Command Line Interface (CLI) or command interpreter allows direct command entry</a:t>
            </a:r>
          </a:p>
          <a:p>
            <a:pPr lvl="2"/>
            <a:r>
              <a:rPr lang="en-US" sz="2000" dirty="0" smtClean="0">
                <a:ea typeface="ＭＳ Ｐゴシック" panose="020B0600070205080204" pitchFamily="34" charset="-128"/>
              </a:rPr>
              <a:t>Sometimes implemented in kernel, sometimes by systems program</a:t>
            </a:r>
          </a:p>
          <a:p>
            <a:pPr lvl="2"/>
            <a:r>
              <a:rPr lang="en-US" sz="2000" dirty="0" smtClean="0">
                <a:ea typeface="ＭＳ Ｐゴシック" panose="020B0600070205080204" pitchFamily="34" charset="-128"/>
              </a:rPr>
              <a:t>Sometimes multiple flavors implemented – shells</a:t>
            </a:r>
          </a:p>
          <a:p>
            <a:pPr lvl="2"/>
            <a:r>
              <a:rPr lang="en-US" sz="2000" dirty="0" smtClean="0">
                <a:ea typeface="ＭＳ Ｐゴシック" panose="020B0600070205080204" pitchFamily="34" charset="-128"/>
              </a:rPr>
              <a:t>Primarily fetches a command from user and executes it</a:t>
            </a:r>
          </a:p>
          <a:p>
            <a:pPr lvl="3"/>
            <a:r>
              <a:rPr lang="en-US" sz="2000" dirty="0" smtClean="0">
                <a:ea typeface="ＭＳ Ｐゴシック" panose="020B0600070205080204" pitchFamily="34" charset="-128"/>
              </a:rPr>
              <a:t>Sometimes commands built-in, sometimes just names of programs</a:t>
            </a:r>
          </a:p>
          <a:p>
            <a:pPr lvl="4"/>
            <a:r>
              <a:rPr lang="en-US" sz="2000" dirty="0" smtClean="0">
                <a:ea typeface="ＭＳ Ｐゴシック" panose="020B0600070205080204" pitchFamily="34" charset="-128"/>
              </a:rPr>
              <a:t>If the latter, adding new features doesn’t require shell modification</a:t>
            </a:r>
          </a:p>
          <a:p>
            <a:pPr marL="342906" indent="-342906" defTabSz="457207">
              <a:defRPr/>
            </a:pPr>
            <a:r>
              <a:rPr lang="en-US" dirty="0"/>
              <a:t>User-friendly desktop metaphor interface</a:t>
            </a:r>
          </a:p>
          <a:p>
            <a:pPr marL="742962" lvl="1" indent="-285755" defTabSz="457207">
              <a:defRPr/>
            </a:pPr>
            <a:r>
              <a:rPr lang="en-US" dirty="0">
                <a:ea typeface="ＭＳ Ｐゴシック" panose="020B0600070205080204" pitchFamily="34" charset="-128"/>
              </a:rPr>
              <a:t>Usually mouse, keyboard, and monitor</a:t>
            </a:r>
          </a:p>
          <a:p>
            <a:pPr marL="742962" lvl="1" indent="-285755" defTabSz="457207">
              <a:defRPr/>
            </a:pPr>
            <a:r>
              <a:rPr lang="en-US" dirty="0">
                <a:ea typeface="ＭＳ Ｐゴシック" panose="020B0600070205080204" pitchFamily="34" charset="-128"/>
              </a:rPr>
              <a:t>Icons represent files, programs, actions, </a:t>
            </a:r>
            <a:r>
              <a:rPr lang="en-US" dirty="0" err="1">
                <a:ea typeface="ＭＳ Ｐゴシック" panose="020B0600070205080204" pitchFamily="34" charset="-128"/>
              </a:rPr>
              <a:t>etc</a:t>
            </a:r>
            <a:endParaRPr lang="en-US" dirty="0">
              <a:ea typeface="ＭＳ Ｐゴシック" panose="020B0600070205080204" pitchFamily="34" charset="-128"/>
            </a:endParaRPr>
          </a:p>
          <a:p>
            <a:pPr marL="742962" lvl="1" indent="-285755" defTabSz="457207">
              <a:defRPr/>
            </a:pPr>
            <a:r>
              <a:rPr lang="en-US" dirty="0">
                <a:ea typeface="ＭＳ Ｐゴシック" panose="020B0600070205080204" pitchFamily="34" charset="-128"/>
              </a:rPr>
              <a:t>Various mouse buttons over objects in the interface cause various actions (provide information, options, execute function, open directory (known as a folde</a:t>
            </a:r>
            <a:r>
              <a:rPr lang="en-US" dirty="0">
                <a:solidFill>
                  <a:srgbClr val="3366FF"/>
                </a:solidFill>
                <a:ea typeface="ＭＳ Ｐゴシック" panose="020B0600070205080204" pitchFamily="34" charset="-128"/>
              </a:rPr>
              <a:t>r</a:t>
            </a:r>
            <a:r>
              <a:rPr lang="en-US" dirty="0">
                <a:ea typeface="ＭＳ Ｐゴシック" panose="020B0600070205080204" pitchFamily="34" charset="-128"/>
              </a:rPr>
              <a:t>)</a:t>
            </a:r>
          </a:p>
          <a:p>
            <a:pPr marL="742962" lvl="1" indent="-285755" defTabSz="457207">
              <a:defRPr/>
            </a:pPr>
            <a:r>
              <a:rPr lang="en-US" dirty="0">
                <a:ea typeface="ＭＳ Ｐゴシック" panose="020B0600070205080204" pitchFamily="34" charset="-128"/>
              </a:rPr>
              <a:t>Invented at Xerox </a:t>
            </a:r>
            <a:r>
              <a:rPr lang="en-US" dirty="0" smtClean="0">
                <a:ea typeface="ＭＳ Ｐゴシック" panose="020B0600070205080204" pitchFamily="34" charset="-128"/>
              </a:rPr>
              <a:t>PARC</a:t>
            </a:r>
          </a:p>
          <a:p>
            <a:pPr marL="342906" indent="-342906" defTabSz="457207">
              <a:defRPr/>
            </a:pPr>
            <a:r>
              <a:rPr lang="en-US" dirty="0"/>
              <a:t>Many systems now include both CLI and GUI interfaces</a:t>
            </a:r>
          </a:p>
          <a:p>
            <a:pPr marL="742962" lvl="1" indent="-285755" defTabSz="457207">
              <a:defRPr/>
            </a:pPr>
            <a:r>
              <a:rPr lang="en-US" dirty="0">
                <a:ea typeface="ＭＳ Ｐゴシック" panose="020B0600070205080204" pitchFamily="34" charset="-128"/>
              </a:rPr>
              <a:t>Microsoft Windows is GUI with CLI “command” shell</a:t>
            </a:r>
          </a:p>
          <a:p>
            <a:pPr marL="742962" lvl="1" indent="-285755" defTabSz="457207">
              <a:defRPr/>
            </a:pPr>
            <a:r>
              <a:rPr lang="en-US" dirty="0">
                <a:ea typeface="ＭＳ Ｐゴシック" panose="020B0600070205080204" pitchFamily="34" charset="-128"/>
              </a:rPr>
              <a:t>Apple Mac OS X as “Aqua” GUI interface with UNIX kernel underneath and shells available</a:t>
            </a:r>
          </a:p>
          <a:p>
            <a:pPr marL="742962" lvl="1" indent="-285755" defTabSz="457207">
              <a:defRPr/>
            </a:pPr>
            <a:r>
              <a:rPr lang="en-US" dirty="0">
                <a:ea typeface="ＭＳ Ｐゴシック" panose="020B0600070205080204" pitchFamily="34" charset="-128"/>
              </a:rPr>
              <a:t>Solaris is CLI with optional GUI interfaces (Java Desktop, KDE)</a:t>
            </a:r>
          </a:p>
          <a:p>
            <a:pPr marL="457207" lvl="1" indent="0" defTabSz="457207">
              <a:buNone/>
              <a:defRPr/>
            </a:pPr>
            <a:endParaRPr lang="en-US" dirty="0">
              <a:ea typeface="ＭＳ Ｐゴシック" panose="020B0600070205080204" pitchFamily="34" charset="-128"/>
            </a:endParaRPr>
          </a:p>
          <a:p>
            <a:pPr lvl="4"/>
            <a:endParaRPr lang="en-US" sz="2000" dirty="0" smtClean="0">
              <a:ea typeface="ＭＳ Ｐゴシック" panose="020B0600070205080204" pitchFamily="34" charset="-128"/>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46111" y="0"/>
            <a:ext cx="9404723" cy="45719"/>
          </a:xfrm>
        </p:spPr>
        <p:txBody>
          <a:bodyPr/>
          <a:lstStyle/>
          <a:p>
            <a:endParaRPr lang="en-US" sz="3200" dirty="0" smtClean="0"/>
          </a:p>
        </p:txBody>
      </p:sp>
      <p:sp>
        <p:nvSpPr>
          <p:cNvPr id="2" name="Text Placeholder 1"/>
          <p:cNvSpPr>
            <a:spLocks noGrp="1"/>
          </p:cNvSpPr>
          <p:nvPr>
            <p:ph type="body" idx="1"/>
          </p:nvPr>
        </p:nvSpPr>
        <p:spPr>
          <a:xfrm>
            <a:off x="122830" y="545910"/>
            <a:ext cx="5376821" cy="491320"/>
          </a:xfrm>
        </p:spPr>
        <p:txBody>
          <a:bodyPr/>
          <a:lstStyle/>
          <a:p>
            <a:r>
              <a:rPr lang="en-US" b="1" u="sng" dirty="0">
                <a:solidFill>
                  <a:schemeClr val="tx1"/>
                </a:solidFill>
              </a:rPr>
              <a:t>Bourne Shell Command Interpreter</a:t>
            </a:r>
          </a:p>
        </p:txBody>
      </p:sp>
      <p:sp>
        <p:nvSpPr>
          <p:cNvPr id="4" name="Text Placeholder 3"/>
          <p:cNvSpPr>
            <a:spLocks noGrp="1"/>
          </p:cNvSpPr>
          <p:nvPr>
            <p:ph type="body" sz="quarter" idx="3"/>
          </p:nvPr>
        </p:nvSpPr>
        <p:spPr>
          <a:xfrm>
            <a:off x="6564573" y="409433"/>
            <a:ext cx="5627427" cy="627797"/>
          </a:xfrm>
        </p:spPr>
        <p:txBody>
          <a:bodyPr/>
          <a:lstStyle/>
          <a:p>
            <a:r>
              <a:rPr lang="en-US" b="1" u="sng" dirty="0">
                <a:solidFill>
                  <a:schemeClr val="tx1"/>
                </a:solidFill>
              </a:rPr>
              <a:t>The Mac OS X GUI</a:t>
            </a:r>
          </a:p>
        </p:txBody>
      </p:sp>
      <p:pic>
        <p:nvPicPr>
          <p:cNvPr id="8" name="Picture 4" descr="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22831" y="1173707"/>
            <a:ext cx="5063318" cy="439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2"/>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387152" y="1173707"/>
            <a:ext cx="5691117" cy="4394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0"/>
            <a:ext cx="11914496" cy="777922"/>
          </a:xfrm>
        </p:spPr>
        <p:txBody>
          <a:bodyPr/>
          <a:lstStyle/>
          <a:p>
            <a:r>
              <a:rPr lang="en-US" sz="4000" b="1" u="sng" dirty="0" smtClean="0"/>
              <a:t>System Calls</a:t>
            </a:r>
          </a:p>
        </p:txBody>
      </p:sp>
      <p:sp>
        <p:nvSpPr>
          <p:cNvPr id="34819" name="Rectangle 3"/>
          <p:cNvSpPr>
            <a:spLocks noGrp="1" noChangeArrowheads="1"/>
          </p:cNvSpPr>
          <p:nvPr>
            <p:ph idx="1"/>
          </p:nvPr>
        </p:nvSpPr>
        <p:spPr>
          <a:xfrm>
            <a:off x="4784616" y="777922"/>
            <a:ext cx="7407384" cy="5868538"/>
          </a:xfrm>
        </p:spPr>
        <p:txBody>
          <a:bodyPr rtlCol="0">
            <a:normAutofit/>
          </a:bodyPr>
          <a:lstStyle/>
          <a:p>
            <a:pPr marL="342906" indent="-342906" defTabSz="457207">
              <a:defRPr/>
            </a:pPr>
            <a:r>
              <a:rPr lang="en-US" dirty="0" smtClean="0"/>
              <a:t>Programming interface to the services provided by the OS</a:t>
            </a:r>
          </a:p>
          <a:p>
            <a:pPr marL="342906" indent="-342906" defTabSz="457207">
              <a:defRPr/>
            </a:pPr>
            <a:r>
              <a:rPr lang="en-US" dirty="0" smtClean="0"/>
              <a:t>Typically written in a high-level language (C or C++)</a:t>
            </a:r>
          </a:p>
          <a:p>
            <a:pPr marL="342906" indent="-342906" defTabSz="457207">
              <a:defRPr/>
            </a:pPr>
            <a:r>
              <a:rPr lang="en-US" dirty="0" smtClean="0"/>
              <a:t>Mostly accessed by programs via a high-level Application Program Interface (API) rather than direct system call use</a:t>
            </a:r>
          </a:p>
          <a:p>
            <a:pPr marL="342906" indent="-342906" defTabSz="457207">
              <a:defRPr/>
            </a:pPr>
            <a:r>
              <a:rPr lang="en-US" dirty="0" smtClean="0"/>
              <a:t>Three most common APIs are Win32 API for Windows, POSIX API for POSIX-based systems (including virtually all versions of UNIX, Linux, and Mac OS X), and Java API for the Java virtual machine (JVM)</a:t>
            </a:r>
          </a:p>
          <a:p>
            <a:pPr marL="342906" indent="-342906" defTabSz="457207">
              <a:defRPr/>
            </a:pPr>
            <a:r>
              <a:rPr lang="en-US" dirty="0" smtClean="0"/>
              <a:t>Why use APIs rather than system calls?</a:t>
            </a:r>
          </a:p>
          <a:p>
            <a:pPr marL="0" indent="0" defTabSz="457207">
              <a:buNone/>
              <a:defRPr/>
            </a:pPr>
            <a:r>
              <a:rPr lang="en-US" dirty="0" smtClean="0"/>
              <a:t>(Note that the system-call names used throughout this text are generic)</a:t>
            </a:r>
          </a:p>
        </p:txBody>
      </p:sp>
      <p:sp>
        <p:nvSpPr>
          <p:cNvPr id="2" name="Text Placeholder 1"/>
          <p:cNvSpPr>
            <a:spLocks noGrp="1"/>
          </p:cNvSpPr>
          <p:nvPr>
            <p:ph type="body" sz="half" idx="2"/>
          </p:nvPr>
        </p:nvSpPr>
        <p:spPr>
          <a:xfrm>
            <a:off x="1" y="777922"/>
            <a:ext cx="4556016" cy="5246957"/>
          </a:xfrm>
        </p:spPr>
        <p:txBody>
          <a:bodyPr>
            <a:normAutofit/>
          </a:bodyPr>
          <a:lstStyle/>
          <a:p>
            <a:r>
              <a:rPr lang="en-US" sz="2000" dirty="0"/>
              <a:t>System call sequence to copy the contents of one file to another file</a:t>
            </a:r>
          </a:p>
          <a:p>
            <a:endParaRPr lang="en-US" sz="2000" dirty="0" smtClean="0"/>
          </a:p>
          <a:p>
            <a:endParaRPr lang="en-US" sz="2000" dirty="0"/>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98" y="1703209"/>
            <a:ext cx="4764618" cy="4711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 y="0"/>
            <a:ext cx="10050834" cy="859809"/>
          </a:xfrm>
        </p:spPr>
        <p:txBody>
          <a:bodyPr/>
          <a:lstStyle/>
          <a:p>
            <a:r>
              <a:rPr lang="en-US" b="1" u="sng" dirty="0" smtClean="0"/>
              <a:t>Example of Standard API</a:t>
            </a:r>
          </a:p>
        </p:txBody>
      </p:sp>
      <p:sp>
        <p:nvSpPr>
          <p:cNvPr id="38915" name="Rectangle 3"/>
          <p:cNvSpPr>
            <a:spLocks noGrp="1" noChangeArrowheads="1"/>
          </p:cNvSpPr>
          <p:nvPr>
            <p:ph idx="1"/>
          </p:nvPr>
        </p:nvSpPr>
        <p:spPr>
          <a:xfrm>
            <a:off x="218364" y="859809"/>
            <a:ext cx="10795379" cy="5827593"/>
          </a:xfrm>
        </p:spPr>
        <p:txBody>
          <a:bodyPr rtlCol="0">
            <a:normAutofit/>
          </a:bodyPr>
          <a:lstStyle/>
          <a:p>
            <a:pPr marL="342906" indent="-342906" defTabSz="457207">
              <a:lnSpc>
                <a:spcPct val="90000"/>
              </a:lnSpc>
              <a:defRPr/>
            </a:pPr>
            <a:r>
              <a:rPr lang="en-US" sz="1600" dirty="0"/>
              <a:t>Consider the </a:t>
            </a:r>
            <a:r>
              <a:rPr lang="en-US" sz="1600" dirty="0" err="1"/>
              <a:t>ReadFile</a:t>
            </a:r>
            <a:r>
              <a:rPr lang="en-US" sz="1600" dirty="0"/>
              <a:t>() function in the</a:t>
            </a:r>
          </a:p>
          <a:p>
            <a:pPr marL="342906" indent="-342906" defTabSz="457207">
              <a:lnSpc>
                <a:spcPct val="90000"/>
              </a:lnSpc>
              <a:defRPr/>
            </a:pPr>
            <a:r>
              <a:rPr lang="en-US" sz="1600" dirty="0"/>
              <a:t>Win32 API—a function for reading from a file</a:t>
            </a:r>
            <a:br>
              <a:rPr lang="en-US" sz="1600" dirty="0"/>
            </a:br>
            <a:r>
              <a:rPr lang="en-US" sz="1600" dirty="0"/>
              <a:t/>
            </a:r>
            <a:br>
              <a:rPr lang="en-US" sz="1600" dirty="0"/>
            </a:br>
            <a:r>
              <a:rPr lang="en-US" sz="1600" dirty="0"/>
              <a:t/>
            </a:r>
            <a:br>
              <a:rPr lang="en-US" sz="1600" dirty="0"/>
            </a:br>
            <a:r>
              <a:rPr lang="en-US" sz="1600" dirty="0"/>
              <a:t/>
            </a:r>
            <a:br>
              <a:rPr lang="en-US" sz="1600" dirty="0"/>
            </a:br>
            <a:endParaRPr lang="en-US" sz="1600" dirty="0"/>
          </a:p>
          <a:p>
            <a:pPr marL="342906" indent="-342906" defTabSz="457207">
              <a:lnSpc>
                <a:spcPct val="90000"/>
              </a:lnSpc>
              <a:buNone/>
              <a:defRPr/>
            </a:pPr>
            <a:r>
              <a:rPr lang="en-US" sz="1600" dirty="0"/>
              <a:t/>
            </a:r>
            <a:br>
              <a:rPr lang="en-US" sz="1600" dirty="0"/>
            </a:br>
            <a:r>
              <a:rPr lang="en-US" sz="1600" dirty="0"/>
              <a:t/>
            </a:r>
            <a:br>
              <a:rPr lang="en-US" sz="1600" dirty="0"/>
            </a:br>
            <a:r>
              <a:rPr lang="en-US" sz="1600" dirty="0"/>
              <a:t/>
            </a:r>
            <a:br>
              <a:rPr lang="en-US" sz="1600" dirty="0"/>
            </a:br>
            <a:r>
              <a:rPr lang="en-US" sz="1600" dirty="0"/>
              <a:t/>
            </a:r>
            <a:br>
              <a:rPr lang="en-US" sz="1600" dirty="0"/>
            </a:br>
            <a:endParaRPr lang="en-US" sz="1600" dirty="0"/>
          </a:p>
          <a:p>
            <a:pPr marL="342906" indent="-342906" defTabSz="457207">
              <a:lnSpc>
                <a:spcPct val="90000"/>
              </a:lnSpc>
              <a:defRPr/>
            </a:pPr>
            <a:endParaRPr lang="en-US" sz="1600" dirty="0"/>
          </a:p>
          <a:p>
            <a:pPr marL="342906" indent="-342906" defTabSz="457207">
              <a:lnSpc>
                <a:spcPct val="90000"/>
              </a:lnSpc>
              <a:defRPr/>
            </a:pPr>
            <a:r>
              <a:rPr lang="en-US" sz="1600" dirty="0"/>
              <a:t>A description of the parameters passed to </a:t>
            </a:r>
            <a:r>
              <a:rPr lang="en-US" sz="1600" dirty="0" err="1"/>
              <a:t>ReadFile</a:t>
            </a:r>
            <a:r>
              <a:rPr lang="en-US" sz="1600" dirty="0"/>
              <a:t>()</a:t>
            </a:r>
          </a:p>
          <a:p>
            <a:pPr marL="742962" lvl="1" indent="-285755" defTabSz="457207">
              <a:lnSpc>
                <a:spcPct val="90000"/>
              </a:lnSpc>
              <a:defRPr/>
            </a:pPr>
            <a:r>
              <a:rPr lang="en-US" sz="1600" dirty="0">
                <a:ea typeface="ＭＳ Ｐゴシック" panose="020B0600070205080204" pitchFamily="34" charset="-128"/>
              </a:rPr>
              <a:t>HANDLE file—the file to be read</a:t>
            </a:r>
          </a:p>
          <a:p>
            <a:pPr marL="742962" lvl="1" indent="-285755" defTabSz="457207">
              <a:lnSpc>
                <a:spcPct val="90000"/>
              </a:lnSpc>
              <a:defRPr/>
            </a:pPr>
            <a:r>
              <a:rPr lang="en-US" sz="1600" dirty="0">
                <a:ea typeface="ＭＳ Ｐゴシック" panose="020B0600070205080204" pitchFamily="34" charset="-128"/>
              </a:rPr>
              <a:t>LPVOID buffer—a buffer where the data will be read into and written from</a:t>
            </a:r>
          </a:p>
          <a:p>
            <a:pPr marL="742962" lvl="1" indent="-285755" defTabSz="457207">
              <a:lnSpc>
                <a:spcPct val="90000"/>
              </a:lnSpc>
              <a:defRPr/>
            </a:pPr>
            <a:r>
              <a:rPr lang="en-US" sz="1600" dirty="0">
                <a:ea typeface="ＭＳ Ｐゴシック" panose="020B0600070205080204" pitchFamily="34" charset="-128"/>
              </a:rPr>
              <a:t>DWORD </a:t>
            </a:r>
            <a:r>
              <a:rPr lang="en-US" sz="1600" dirty="0" err="1">
                <a:ea typeface="ＭＳ Ｐゴシック" panose="020B0600070205080204" pitchFamily="34" charset="-128"/>
              </a:rPr>
              <a:t>bytesToRead</a:t>
            </a:r>
            <a:r>
              <a:rPr lang="en-US" sz="1600" dirty="0">
                <a:ea typeface="ＭＳ Ｐゴシック" panose="020B0600070205080204" pitchFamily="34" charset="-128"/>
              </a:rPr>
              <a:t>—the number of bytes to be read into the buffer</a:t>
            </a:r>
          </a:p>
          <a:p>
            <a:pPr marL="742962" lvl="1" indent="-285755" defTabSz="457207">
              <a:lnSpc>
                <a:spcPct val="90000"/>
              </a:lnSpc>
              <a:defRPr/>
            </a:pPr>
            <a:r>
              <a:rPr lang="en-US" sz="1600" dirty="0">
                <a:ea typeface="ＭＳ Ｐゴシック" panose="020B0600070205080204" pitchFamily="34" charset="-128"/>
              </a:rPr>
              <a:t>LPDWORD </a:t>
            </a:r>
            <a:r>
              <a:rPr lang="en-US" sz="1600" dirty="0" err="1">
                <a:ea typeface="ＭＳ Ｐゴシック" panose="020B0600070205080204" pitchFamily="34" charset="-128"/>
              </a:rPr>
              <a:t>bytesRead</a:t>
            </a:r>
            <a:r>
              <a:rPr lang="en-US" sz="1600" dirty="0">
                <a:ea typeface="ＭＳ Ｐゴシック" panose="020B0600070205080204" pitchFamily="34" charset="-128"/>
              </a:rPr>
              <a:t>—the number of bytes read during the last read</a:t>
            </a:r>
          </a:p>
          <a:p>
            <a:pPr marL="742962" lvl="1" indent="-285755" defTabSz="457207">
              <a:lnSpc>
                <a:spcPct val="90000"/>
              </a:lnSpc>
              <a:defRPr/>
            </a:pPr>
            <a:r>
              <a:rPr lang="en-US" sz="1600" dirty="0">
                <a:ea typeface="ＭＳ Ｐゴシック" panose="020B0600070205080204" pitchFamily="34" charset="-128"/>
              </a:rPr>
              <a:t>LPOVERLAPPED </a:t>
            </a:r>
            <a:r>
              <a:rPr lang="en-US" sz="1600" dirty="0" err="1">
                <a:ea typeface="ＭＳ Ｐゴシック" panose="020B0600070205080204" pitchFamily="34" charset="-128"/>
              </a:rPr>
              <a:t>ovl</a:t>
            </a:r>
            <a:r>
              <a:rPr lang="en-US" sz="1600" dirty="0">
                <a:ea typeface="ＭＳ Ｐゴシック" panose="020B0600070205080204" pitchFamily="34" charset="-128"/>
              </a:rPr>
              <a:t>—indicates if overlapped I/O is being used</a:t>
            </a:r>
          </a:p>
          <a:p>
            <a:pPr marL="342906" indent="-342906" defTabSz="457207">
              <a:lnSpc>
                <a:spcPct val="90000"/>
              </a:lnSpc>
              <a:defRPr/>
            </a:pPr>
            <a:endParaRPr lang="en-US" sz="1600" dirty="0"/>
          </a:p>
        </p:txBody>
      </p:sp>
      <p:pic>
        <p:nvPicPr>
          <p:cNvPr id="27652" name="Picture 4"/>
          <p:cNvPicPr>
            <a:picLocks noChangeAspect="1" noChangeArrowheads="1"/>
          </p:cNvPicPr>
          <p:nvPr/>
        </p:nvPicPr>
        <p:blipFill>
          <a:blip r:embed="rId3">
            <a:extLst>
              <a:ext uri="{28A0092B-C50C-407E-A947-70E740481C1C}">
                <a14:useLocalDpi xmlns:a14="http://schemas.microsoft.com/office/drawing/2010/main" val="0"/>
              </a:ext>
            </a:extLst>
          </a:blip>
          <a:srcRect l="1031" t="29628" r="1031" b="29379"/>
          <a:stretch>
            <a:fillRect/>
          </a:stretch>
        </p:blipFill>
        <p:spPr bwMode="auto">
          <a:xfrm>
            <a:off x="666965" y="1660642"/>
            <a:ext cx="6732587" cy="2112963"/>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95534" y="-95534"/>
            <a:ext cx="12096465" cy="900752"/>
          </a:xfrm>
        </p:spPr>
        <p:txBody>
          <a:bodyPr/>
          <a:lstStyle/>
          <a:p>
            <a:r>
              <a:rPr lang="en-US" b="1" u="sng" dirty="0" smtClean="0"/>
              <a:t>System Call Implementation</a:t>
            </a:r>
          </a:p>
        </p:txBody>
      </p:sp>
      <p:sp>
        <p:nvSpPr>
          <p:cNvPr id="40963" name="Rectangle 3"/>
          <p:cNvSpPr>
            <a:spLocks noGrp="1" noChangeArrowheads="1"/>
          </p:cNvSpPr>
          <p:nvPr>
            <p:ph idx="1"/>
          </p:nvPr>
        </p:nvSpPr>
        <p:spPr>
          <a:xfrm>
            <a:off x="95534" y="805218"/>
            <a:ext cx="11873553" cy="5443181"/>
          </a:xfrm>
        </p:spPr>
        <p:txBody>
          <a:bodyPr rtlCol="0">
            <a:normAutofit/>
          </a:bodyPr>
          <a:lstStyle/>
          <a:p>
            <a:pPr marL="342906" indent="-342906" defTabSz="457207">
              <a:defRPr/>
            </a:pPr>
            <a:r>
              <a:rPr lang="en-US" dirty="0" smtClean="0"/>
              <a:t>Typically, a number associated with each system call</a:t>
            </a:r>
          </a:p>
          <a:p>
            <a:pPr marL="742962" lvl="1" indent="-285755" defTabSz="457207">
              <a:defRPr/>
            </a:pPr>
            <a:r>
              <a:rPr lang="en-US" dirty="0" smtClean="0">
                <a:ea typeface="ＭＳ Ｐゴシック" panose="020B0600070205080204" pitchFamily="34" charset="-128"/>
              </a:rPr>
              <a:t>System-call interface maintains a table indexed according to these numbers</a:t>
            </a:r>
          </a:p>
          <a:p>
            <a:pPr marL="342906" indent="-342906" defTabSz="457207">
              <a:defRPr/>
            </a:pPr>
            <a:r>
              <a:rPr lang="en-US" dirty="0" smtClean="0"/>
              <a:t>The system call interface invokes intended system call in OS kernel and returns status of the system call and any return values</a:t>
            </a:r>
          </a:p>
          <a:p>
            <a:pPr marL="342906" indent="-342906" defTabSz="457207">
              <a:defRPr/>
            </a:pPr>
            <a:r>
              <a:rPr lang="en-US" dirty="0" smtClean="0"/>
              <a:t>The caller need know nothing about how the system call is implemented</a:t>
            </a:r>
          </a:p>
          <a:p>
            <a:pPr marL="742962" lvl="1" indent="-285755" defTabSz="457207">
              <a:defRPr/>
            </a:pPr>
            <a:r>
              <a:rPr lang="en-US" dirty="0" smtClean="0">
                <a:ea typeface="ＭＳ Ｐゴシック" panose="020B0600070205080204" pitchFamily="34" charset="-128"/>
              </a:rPr>
              <a:t>Just needs to obey API and understand what OS will do as a result call</a:t>
            </a:r>
          </a:p>
          <a:p>
            <a:pPr marL="742962" lvl="1" indent="-285755" defTabSz="457207">
              <a:defRPr/>
            </a:pPr>
            <a:r>
              <a:rPr lang="en-US" dirty="0" smtClean="0">
                <a:ea typeface="ＭＳ Ｐゴシック" panose="020B0600070205080204" pitchFamily="34" charset="-128"/>
              </a:rPr>
              <a:t>Most details of  OS interface hidden from programmer by API  </a:t>
            </a:r>
          </a:p>
          <a:p>
            <a:pPr marL="1143020" lvl="2" indent="-228604" defTabSz="457207">
              <a:defRPr/>
            </a:pPr>
            <a:r>
              <a:rPr lang="en-US" dirty="0" smtClean="0">
                <a:ea typeface="ＭＳ Ｐゴシック" panose="020B0600070205080204" pitchFamily="34" charset="-128"/>
              </a:rPr>
              <a:t>Managed by run-time support library (set of functions built into libraries included with compiler)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 y="0"/>
            <a:ext cx="10050834" cy="136478"/>
          </a:xfrm>
        </p:spPr>
        <p:txBody>
          <a:bodyPr rtlCol="0">
            <a:normAutofit fontScale="90000"/>
          </a:bodyPr>
          <a:lstStyle/>
          <a:p>
            <a:pPr defTabSz="457207">
              <a:defRPr/>
            </a:pPr>
            <a:endParaRPr lang="en-US" dirty="0" smtClean="0"/>
          </a:p>
        </p:txBody>
      </p:sp>
      <p:sp>
        <p:nvSpPr>
          <p:cNvPr id="2" name="Text Placeholder 1"/>
          <p:cNvSpPr>
            <a:spLocks noGrp="1"/>
          </p:cNvSpPr>
          <p:nvPr>
            <p:ph type="body" idx="1"/>
          </p:nvPr>
        </p:nvSpPr>
        <p:spPr>
          <a:xfrm>
            <a:off x="1" y="245660"/>
            <a:ext cx="5499650" cy="723331"/>
          </a:xfrm>
        </p:spPr>
        <p:txBody>
          <a:bodyPr/>
          <a:lstStyle/>
          <a:p>
            <a:r>
              <a:rPr lang="en-US" b="1" u="sng" dirty="0">
                <a:solidFill>
                  <a:schemeClr val="tx1"/>
                </a:solidFill>
              </a:rPr>
              <a:t>API – System Call – OS Relationship</a:t>
            </a:r>
          </a:p>
        </p:txBody>
      </p:sp>
      <p:sp>
        <p:nvSpPr>
          <p:cNvPr id="4" name="Text Placeholder 3"/>
          <p:cNvSpPr>
            <a:spLocks noGrp="1"/>
          </p:cNvSpPr>
          <p:nvPr>
            <p:ph type="body" sz="quarter" idx="3"/>
          </p:nvPr>
        </p:nvSpPr>
        <p:spPr>
          <a:xfrm>
            <a:off x="5654495" y="245660"/>
            <a:ext cx="6328239" cy="723331"/>
          </a:xfrm>
        </p:spPr>
        <p:txBody>
          <a:bodyPr/>
          <a:lstStyle/>
          <a:p>
            <a:r>
              <a:rPr lang="en-US" b="1" u="sng" dirty="0">
                <a:solidFill>
                  <a:schemeClr val="tx1"/>
                </a:solidFill>
              </a:rPr>
              <a:t>Standard C Library Example</a:t>
            </a:r>
          </a:p>
        </p:txBody>
      </p:sp>
      <p:sp>
        <p:nvSpPr>
          <p:cNvPr id="5" name="Content Placeholder 4"/>
          <p:cNvSpPr>
            <a:spLocks noGrp="1"/>
          </p:cNvSpPr>
          <p:nvPr>
            <p:ph sz="quarter" idx="4"/>
          </p:nvPr>
        </p:nvSpPr>
        <p:spPr>
          <a:xfrm>
            <a:off x="5654495" y="1078173"/>
            <a:ext cx="6537505" cy="5178165"/>
          </a:xfrm>
        </p:spPr>
        <p:txBody>
          <a:bodyPr/>
          <a:lstStyle/>
          <a:p>
            <a:r>
              <a:rPr lang="en-US" dirty="0"/>
              <a:t>C program invoking </a:t>
            </a:r>
            <a:r>
              <a:rPr lang="en-US" dirty="0" err="1"/>
              <a:t>printf</a:t>
            </a:r>
            <a:r>
              <a:rPr lang="en-US" dirty="0"/>
              <a:t>() library call, which calls write() system call</a:t>
            </a:r>
          </a:p>
          <a:p>
            <a:endParaRPr lang="en-US" dirty="0"/>
          </a:p>
        </p:txBody>
      </p:sp>
      <p:pic>
        <p:nvPicPr>
          <p:cNvPr id="8"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l="751" t="9875" r="937" b="10126"/>
          <a:stretch>
            <a:fillRect/>
          </a:stretch>
        </p:blipFill>
        <p:spPr bwMode="auto">
          <a:xfrm>
            <a:off x="1" y="1078173"/>
            <a:ext cx="5499099" cy="4648657"/>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l="18286" t="2666" r="17346" b="1784"/>
          <a:stretch>
            <a:fillRect/>
          </a:stretch>
        </p:blipFill>
        <p:spPr bwMode="auto">
          <a:xfrm>
            <a:off x="6032309" y="1848870"/>
            <a:ext cx="5813947" cy="4661112"/>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1"/>
            <a:ext cx="12010030" cy="777922"/>
          </a:xfrm>
        </p:spPr>
        <p:txBody>
          <a:bodyPr/>
          <a:lstStyle/>
          <a:p>
            <a:r>
              <a:rPr lang="en-US" sz="4000" b="1" u="sng" dirty="0" smtClean="0"/>
              <a:t>System Call Parameter Passing</a:t>
            </a:r>
          </a:p>
        </p:txBody>
      </p:sp>
      <p:sp>
        <p:nvSpPr>
          <p:cNvPr id="47107" name="Rectangle 3"/>
          <p:cNvSpPr>
            <a:spLocks noGrp="1" noChangeArrowheads="1"/>
          </p:cNvSpPr>
          <p:nvPr>
            <p:ph idx="1"/>
          </p:nvPr>
        </p:nvSpPr>
        <p:spPr>
          <a:xfrm>
            <a:off x="4784616" y="777923"/>
            <a:ext cx="7225414" cy="5854889"/>
          </a:xfrm>
        </p:spPr>
        <p:txBody>
          <a:bodyPr rtlCol="0">
            <a:normAutofit/>
          </a:bodyPr>
          <a:lstStyle/>
          <a:p>
            <a:pPr marL="342906" indent="-342906" defTabSz="457207">
              <a:lnSpc>
                <a:spcPct val="90000"/>
              </a:lnSpc>
              <a:defRPr/>
            </a:pPr>
            <a:r>
              <a:rPr lang="en-US" dirty="0" smtClean="0"/>
              <a:t>Often, more information is required than simply identity of desired system call</a:t>
            </a:r>
          </a:p>
          <a:p>
            <a:pPr marL="742962" lvl="1" indent="-285755" defTabSz="457207">
              <a:lnSpc>
                <a:spcPct val="90000"/>
              </a:lnSpc>
              <a:defRPr/>
            </a:pPr>
            <a:r>
              <a:rPr lang="en-US" dirty="0" smtClean="0">
                <a:ea typeface="ＭＳ Ｐゴシック" panose="020B0600070205080204" pitchFamily="34" charset="-128"/>
              </a:rPr>
              <a:t>Exact type and amount of information vary according to OS and call</a:t>
            </a:r>
          </a:p>
          <a:p>
            <a:pPr marL="342906" indent="-342906" defTabSz="457207">
              <a:lnSpc>
                <a:spcPct val="90000"/>
              </a:lnSpc>
              <a:defRPr/>
            </a:pPr>
            <a:r>
              <a:rPr lang="en-US" dirty="0" smtClean="0"/>
              <a:t>Three general methods used to pass parameters to the OS</a:t>
            </a:r>
          </a:p>
          <a:p>
            <a:pPr marL="742962" lvl="1" indent="-285755" defTabSz="457207">
              <a:lnSpc>
                <a:spcPct val="90000"/>
              </a:lnSpc>
              <a:defRPr/>
            </a:pPr>
            <a:r>
              <a:rPr lang="en-US" dirty="0" smtClean="0">
                <a:ea typeface="ＭＳ Ｐゴシック" panose="020B0600070205080204" pitchFamily="34" charset="-128"/>
              </a:rPr>
              <a:t>Simplest:  pass the parameters in </a:t>
            </a:r>
            <a:r>
              <a:rPr lang="en-US" i="1" dirty="0" smtClean="0">
                <a:ea typeface="ＭＳ Ｐゴシック" panose="020B0600070205080204" pitchFamily="34" charset="-128"/>
              </a:rPr>
              <a:t>registers</a:t>
            </a:r>
          </a:p>
          <a:p>
            <a:pPr marL="1143020" lvl="2" indent="-228604" defTabSz="457207">
              <a:lnSpc>
                <a:spcPct val="90000"/>
              </a:lnSpc>
              <a:defRPr/>
            </a:pPr>
            <a:r>
              <a:rPr lang="en-US" dirty="0" smtClean="0">
                <a:ea typeface="ＭＳ Ｐゴシック" panose="020B0600070205080204" pitchFamily="34" charset="-128"/>
              </a:rPr>
              <a:t> In some cases, may be more parameters than registers</a:t>
            </a:r>
          </a:p>
          <a:p>
            <a:pPr marL="742962" lvl="1" indent="-285755" defTabSz="457207">
              <a:lnSpc>
                <a:spcPct val="90000"/>
              </a:lnSpc>
              <a:defRPr/>
            </a:pPr>
            <a:r>
              <a:rPr lang="en-US" dirty="0" smtClean="0">
                <a:ea typeface="ＭＳ Ｐゴシック" panose="020B0600070205080204" pitchFamily="34" charset="-128"/>
              </a:rPr>
              <a:t>Parameters stored in a </a:t>
            </a:r>
            <a:r>
              <a:rPr lang="en-US" i="1" dirty="0" smtClean="0">
                <a:ea typeface="ＭＳ Ｐゴシック" panose="020B0600070205080204" pitchFamily="34" charset="-128"/>
              </a:rPr>
              <a:t>block, </a:t>
            </a:r>
            <a:r>
              <a:rPr lang="en-US" dirty="0" smtClean="0">
                <a:ea typeface="ＭＳ Ｐゴシック" panose="020B0600070205080204" pitchFamily="34" charset="-128"/>
              </a:rPr>
              <a:t>or table, in memory, and address of block passed as a parameter in a register </a:t>
            </a:r>
          </a:p>
          <a:p>
            <a:pPr marL="1143020" lvl="2" indent="-228604" defTabSz="457207">
              <a:lnSpc>
                <a:spcPct val="90000"/>
              </a:lnSpc>
              <a:defRPr/>
            </a:pPr>
            <a:r>
              <a:rPr lang="en-US" dirty="0" smtClean="0">
                <a:ea typeface="ＭＳ Ｐゴシック" panose="020B0600070205080204" pitchFamily="34" charset="-128"/>
              </a:rPr>
              <a:t>This approach taken by Linux and Solaris</a:t>
            </a:r>
          </a:p>
          <a:p>
            <a:pPr marL="742962" lvl="1" indent="-285755" defTabSz="457207">
              <a:lnSpc>
                <a:spcPct val="90000"/>
              </a:lnSpc>
              <a:defRPr/>
            </a:pPr>
            <a:r>
              <a:rPr lang="en-US" dirty="0" smtClean="0">
                <a:ea typeface="ＭＳ Ｐゴシック" panose="020B0600070205080204" pitchFamily="34" charset="-128"/>
              </a:rPr>
              <a:t>Parameters placed, or </a:t>
            </a:r>
            <a:r>
              <a:rPr lang="en-US" i="1" dirty="0" smtClean="0">
                <a:ea typeface="ＭＳ Ｐゴシック" panose="020B0600070205080204" pitchFamily="34" charset="-128"/>
              </a:rPr>
              <a:t>pushed, </a:t>
            </a:r>
            <a:r>
              <a:rPr lang="en-US" dirty="0" smtClean="0">
                <a:ea typeface="ＭＳ Ｐゴシック" panose="020B0600070205080204" pitchFamily="34" charset="-128"/>
              </a:rPr>
              <a:t>onto the </a:t>
            </a:r>
            <a:r>
              <a:rPr lang="en-US" i="1" dirty="0" smtClean="0">
                <a:ea typeface="ＭＳ Ｐゴシック" panose="020B0600070205080204" pitchFamily="34" charset="-128"/>
              </a:rPr>
              <a:t>stack </a:t>
            </a:r>
            <a:r>
              <a:rPr lang="en-US" dirty="0" smtClean="0">
                <a:ea typeface="ＭＳ Ｐゴシック" panose="020B0600070205080204" pitchFamily="34" charset="-128"/>
              </a:rPr>
              <a:t>by the program and </a:t>
            </a:r>
            <a:r>
              <a:rPr lang="en-US" i="1" dirty="0" smtClean="0">
                <a:ea typeface="ＭＳ Ｐゴシック" panose="020B0600070205080204" pitchFamily="34" charset="-128"/>
              </a:rPr>
              <a:t>popped </a:t>
            </a:r>
            <a:r>
              <a:rPr lang="en-US" dirty="0" smtClean="0">
                <a:ea typeface="ＭＳ Ｐゴシック" panose="020B0600070205080204" pitchFamily="34" charset="-128"/>
              </a:rPr>
              <a:t>off the stack by the operating system</a:t>
            </a:r>
          </a:p>
          <a:p>
            <a:pPr marL="742962" lvl="1" indent="-285755" defTabSz="457207">
              <a:lnSpc>
                <a:spcPct val="90000"/>
              </a:lnSpc>
              <a:defRPr/>
            </a:pPr>
            <a:r>
              <a:rPr lang="en-US" dirty="0" smtClean="0">
                <a:ea typeface="ＭＳ Ｐゴシック" panose="020B0600070205080204" pitchFamily="34" charset="-128"/>
              </a:rPr>
              <a:t>Block and stack methods do not limit the number or length of parameters being passed</a:t>
            </a:r>
          </a:p>
          <a:p>
            <a:pPr marL="742962" lvl="1" indent="-285755" defTabSz="457207">
              <a:lnSpc>
                <a:spcPct val="90000"/>
              </a:lnSpc>
              <a:defRPr/>
            </a:pPr>
            <a:endParaRPr lang="en-US" dirty="0" smtClean="0">
              <a:ea typeface="ＭＳ Ｐゴシック" panose="020B0600070205080204" pitchFamily="34" charset="-128"/>
            </a:endParaRPr>
          </a:p>
        </p:txBody>
      </p:sp>
      <p:sp>
        <p:nvSpPr>
          <p:cNvPr id="2" name="Text Placeholder 1"/>
          <p:cNvSpPr>
            <a:spLocks noGrp="1"/>
          </p:cNvSpPr>
          <p:nvPr>
            <p:ph type="body" sz="half" idx="2"/>
          </p:nvPr>
        </p:nvSpPr>
        <p:spPr>
          <a:xfrm>
            <a:off x="518615" y="3129280"/>
            <a:ext cx="4037401" cy="2895599"/>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Parameter </a:t>
            </a:r>
            <a:r>
              <a:rPr lang="en-US" dirty="0"/>
              <a:t>Passing via Table</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l="1079" t="16791" r="1241" b="15501"/>
          <a:stretch>
            <a:fillRect/>
          </a:stretch>
        </p:blipFill>
        <p:spPr bwMode="auto">
          <a:xfrm>
            <a:off x="106860" y="1365566"/>
            <a:ext cx="4677756" cy="4052595"/>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smtClean="0"/>
              <a:t>Types of System Calls</a:t>
            </a:r>
          </a:p>
        </p:txBody>
      </p:sp>
      <p:sp>
        <p:nvSpPr>
          <p:cNvPr id="39939" name="Rectangle 4"/>
          <p:cNvSpPr>
            <a:spLocks noGrp="1" noChangeArrowheads="1"/>
          </p:cNvSpPr>
          <p:nvPr>
            <p:ph idx="1"/>
          </p:nvPr>
        </p:nvSpPr>
        <p:spPr/>
        <p:txBody>
          <a:bodyPr/>
          <a:lstStyle/>
          <a:p>
            <a:r>
              <a:rPr lang="en-US" smtClean="0"/>
              <a:t>Process control</a:t>
            </a:r>
          </a:p>
          <a:p>
            <a:r>
              <a:rPr lang="en-US" smtClean="0"/>
              <a:t>File management</a:t>
            </a:r>
          </a:p>
          <a:p>
            <a:r>
              <a:rPr lang="en-US" smtClean="0"/>
              <a:t>Device management</a:t>
            </a:r>
          </a:p>
          <a:p>
            <a:r>
              <a:rPr lang="en-US" smtClean="0"/>
              <a:t>Information maintenance</a:t>
            </a:r>
          </a:p>
          <a:p>
            <a:r>
              <a:rPr lang="en-US" smtClean="0"/>
              <a:t>Communications</a:t>
            </a:r>
          </a:p>
          <a:p>
            <a:r>
              <a:rPr lang="en-US" smtClean="0"/>
              <a:t>Protection</a:t>
            </a:r>
          </a:p>
          <a:p>
            <a:pPr>
              <a:buFont typeface="Monotype Sorts" charset="2"/>
              <a:buNone/>
            </a:pPr>
            <a:endParaRPr lang="en-US" smtClean="0"/>
          </a:p>
        </p:txBody>
      </p:sp>
      <p:pic>
        <p:nvPicPr>
          <p:cNvPr id="4" name="Picture 6" descr="OS8-p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1432" y="1339803"/>
            <a:ext cx="6782937" cy="5518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dirty="0" smtClean="0"/>
              <a:t>MS-DOS execution</a:t>
            </a:r>
          </a:p>
        </p:txBody>
      </p:sp>
      <p:sp>
        <p:nvSpPr>
          <p:cNvPr id="44035" name="Rectangle 4"/>
          <p:cNvSpPr>
            <a:spLocks noGrp="1" noChangeArrowheads="1"/>
          </p:cNvSpPr>
          <p:nvPr>
            <p:ph idx="1"/>
          </p:nvPr>
        </p:nvSpPr>
        <p:spPr/>
        <p:txBody>
          <a:bodyPr/>
          <a:lstStyle/>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a:p>
            <a:pPr>
              <a:buFont typeface="Monotype Sorts" charset="2"/>
              <a:buNone/>
            </a:pPr>
            <a:endParaRPr lang="en-US" smtClean="0"/>
          </a:p>
        </p:txBody>
      </p:sp>
      <p:pic>
        <p:nvPicPr>
          <p:cNvPr id="44036" name="Picture 3"/>
          <p:cNvPicPr>
            <a:picLocks noChangeAspect="1" noChangeArrowheads="1"/>
          </p:cNvPicPr>
          <p:nvPr/>
        </p:nvPicPr>
        <p:blipFill>
          <a:blip r:embed="rId3">
            <a:extLst>
              <a:ext uri="{28A0092B-C50C-407E-A947-70E740481C1C}">
                <a14:useLocalDpi xmlns:a14="http://schemas.microsoft.com/office/drawing/2010/main" val="0"/>
              </a:ext>
            </a:extLst>
          </a:blip>
          <a:srcRect l="7399" t="1900" r="6282" b="999"/>
          <a:stretch>
            <a:fillRect/>
          </a:stretch>
        </p:blipFill>
        <p:spPr bwMode="auto">
          <a:xfrm>
            <a:off x="3549650" y="1465441"/>
            <a:ext cx="4832350" cy="4075112"/>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4037" name="Rectangle 5"/>
          <p:cNvSpPr>
            <a:spLocks noChangeArrowheads="1"/>
          </p:cNvSpPr>
          <p:nvPr/>
        </p:nvSpPr>
        <p:spPr bwMode="auto">
          <a:xfrm>
            <a:off x="3810000" y="5640388"/>
            <a:ext cx="45720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ＭＳ Ｐゴシック" panose="020B0600070205080204" pitchFamily="34" charset="-128"/>
              </a:defRPr>
            </a:lvl1pPr>
            <a:lvl2pPr marL="37931725" indent="-37474525">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spcBef>
                <a:spcPct val="50000"/>
              </a:spcBef>
              <a:buClr>
                <a:srgbClr val="993300"/>
              </a:buClr>
              <a:buSzPct val="90000"/>
              <a:buFont typeface="Monotype Sorts" charset="2"/>
              <a:buNone/>
            </a:pPr>
            <a:r>
              <a:rPr kumimoji="1" lang="en-US" dirty="0">
                <a:latin typeface="Helvetica" panose="020B0604020202020204" pitchFamily="34" charset="0"/>
              </a:rPr>
              <a:t>(a) At system startup (b) running a program</a:t>
            </a:r>
          </a:p>
          <a:p>
            <a:pPr>
              <a:spcBef>
                <a:spcPct val="50000"/>
              </a:spcBef>
              <a:buClr>
                <a:srgbClr val="993300"/>
              </a:buClr>
              <a:buSzPct val="90000"/>
              <a:buFont typeface="Monotype Sorts" charset="2"/>
              <a:buNone/>
            </a:pPr>
            <a:endParaRPr kumimoji="1" lang="en-US" dirty="0">
              <a:latin typeface="Helvetica"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481263" y="277813"/>
            <a:ext cx="8229600" cy="576262"/>
          </a:xfrm>
        </p:spPr>
        <p:txBody>
          <a:bodyPr rtlCol="0">
            <a:normAutofit fontScale="90000"/>
          </a:bodyPr>
          <a:lstStyle/>
          <a:p>
            <a:pPr defTabSz="457207">
              <a:defRPr/>
            </a:pPr>
            <a:r>
              <a:rPr lang="en-US" dirty="0" smtClean="0"/>
              <a:t>FreeBSD Running Multiple Programs</a:t>
            </a:r>
          </a:p>
        </p:txBody>
      </p:sp>
      <p:pic>
        <p:nvPicPr>
          <p:cNvPr id="46083" name="Picture 3"/>
          <p:cNvPicPr>
            <a:picLocks noChangeAspect="1" noChangeArrowheads="1"/>
          </p:cNvPicPr>
          <p:nvPr/>
        </p:nvPicPr>
        <p:blipFill>
          <a:blip r:embed="rId3">
            <a:extLst>
              <a:ext uri="{28A0092B-C50C-407E-A947-70E740481C1C}">
                <a14:useLocalDpi xmlns:a14="http://schemas.microsoft.com/office/drawing/2010/main" val="0"/>
              </a:ext>
            </a:extLst>
          </a:blip>
          <a:srcRect l="31691" t="500" r="31691" b="500"/>
          <a:stretch>
            <a:fillRect/>
          </a:stretch>
        </p:blipFill>
        <p:spPr bwMode="auto">
          <a:xfrm>
            <a:off x="5057775" y="1468439"/>
            <a:ext cx="2305050" cy="4676775"/>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22831" y="1"/>
            <a:ext cx="9928004" cy="668740"/>
          </a:xfrm>
        </p:spPr>
        <p:txBody>
          <a:bodyPr/>
          <a:lstStyle/>
          <a:p>
            <a:r>
              <a:rPr lang="en-US" b="1" u="sng" dirty="0" smtClean="0"/>
              <a:t>System Programs</a:t>
            </a:r>
          </a:p>
        </p:txBody>
      </p:sp>
      <p:sp>
        <p:nvSpPr>
          <p:cNvPr id="48131" name="Rectangle 3"/>
          <p:cNvSpPr>
            <a:spLocks noGrp="1" noChangeArrowheads="1"/>
          </p:cNvSpPr>
          <p:nvPr>
            <p:ph idx="1"/>
          </p:nvPr>
        </p:nvSpPr>
        <p:spPr>
          <a:xfrm>
            <a:off x="122831" y="668741"/>
            <a:ext cx="11887199" cy="6189259"/>
          </a:xfrm>
        </p:spPr>
        <p:txBody>
          <a:bodyPr/>
          <a:lstStyle/>
          <a:p>
            <a:r>
              <a:rPr lang="en-US" dirty="0" smtClean="0"/>
              <a:t>System programs provide a convenient environment for program development and execution.  The can be divided into:</a:t>
            </a:r>
          </a:p>
          <a:p>
            <a:pPr lvl="1"/>
            <a:r>
              <a:rPr lang="en-US" dirty="0" smtClean="0">
                <a:ea typeface="ＭＳ Ｐゴシック" panose="020B0600070205080204" pitchFamily="34" charset="-128"/>
              </a:rPr>
              <a:t>File manipulation </a:t>
            </a:r>
          </a:p>
          <a:p>
            <a:pPr lvl="1"/>
            <a:r>
              <a:rPr lang="en-US" dirty="0" smtClean="0">
                <a:ea typeface="ＭＳ Ｐゴシック" panose="020B0600070205080204" pitchFamily="34" charset="-128"/>
              </a:rPr>
              <a:t>Status information</a:t>
            </a:r>
          </a:p>
          <a:p>
            <a:pPr lvl="1"/>
            <a:r>
              <a:rPr lang="en-US" dirty="0" smtClean="0">
                <a:ea typeface="ＭＳ Ｐゴシック" panose="020B0600070205080204" pitchFamily="34" charset="-128"/>
              </a:rPr>
              <a:t>File modification</a:t>
            </a:r>
          </a:p>
          <a:p>
            <a:pPr lvl="1"/>
            <a:r>
              <a:rPr lang="en-US" dirty="0" smtClean="0">
                <a:ea typeface="ＭＳ Ｐゴシック" panose="020B0600070205080204" pitchFamily="34" charset="-128"/>
              </a:rPr>
              <a:t>Programming language support</a:t>
            </a:r>
          </a:p>
          <a:p>
            <a:pPr lvl="1"/>
            <a:r>
              <a:rPr lang="en-US" dirty="0" smtClean="0">
                <a:ea typeface="ＭＳ Ｐゴシック" panose="020B0600070205080204" pitchFamily="34" charset="-128"/>
              </a:rPr>
              <a:t>Program loading and execution</a:t>
            </a:r>
          </a:p>
          <a:p>
            <a:pPr lvl="1"/>
            <a:r>
              <a:rPr lang="en-US" dirty="0" smtClean="0">
                <a:ea typeface="ＭＳ Ｐゴシック" panose="020B0600070205080204" pitchFamily="34" charset="-128"/>
              </a:rPr>
              <a:t>Communications</a:t>
            </a:r>
          </a:p>
          <a:p>
            <a:pPr lvl="1"/>
            <a:r>
              <a:rPr lang="en-US" dirty="0" smtClean="0">
                <a:ea typeface="ＭＳ Ｐゴシック" panose="020B0600070205080204" pitchFamily="34" charset="-128"/>
              </a:rPr>
              <a:t>Application programs</a:t>
            </a:r>
          </a:p>
          <a:p>
            <a:r>
              <a:rPr lang="en-US" dirty="0" smtClean="0"/>
              <a:t>Most users’ view of the operation system is defined by system programs, not the actual system calls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26"/>
          <p:cNvSpPr>
            <a:spLocks noGrp="1" noChangeArrowheads="1"/>
          </p:cNvSpPr>
          <p:nvPr>
            <p:ph type="title"/>
          </p:nvPr>
        </p:nvSpPr>
        <p:spPr>
          <a:xfrm>
            <a:off x="409432" y="277813"/>
            <a:ext cx="11782567" cy="576262"/>
          </a:xfrm>
        </p:spPr>
        <p:txBody>
          <a:bodyPr/>
          <a:lstStyle/>
          <a:p>
            <a:r>
              <a:rPr lang="en-US" sz="4000" b="1" u="sng" dirty="0"/>
              <a:t>Operating System Design and Implementation</a:t>
            </a:r>
          </a:p>
        </p:txBody>
      </p:sp>
      <p:sp>
        <p:nvSpPr>
          <p:cNvPr id="64515" name="Rectangle 1027"/>
          <p:cNvSpPr>
            <a:spLocks noGrp="1" noChangeArrowheads="1"/>
          </p:cNvSpPr>
          <p:nvPr>
            <p:ph idx="1"/>
          </p:nvPr>
        </p:nvSpPr>
        <p:spPr>
          <a:xfrm>
            <a:off x="109182" y="955342"/>
            <a:ext cx="12082817" cy="5902658"/>
          </a:xfrm>
        </p:spPr>
        <p:txBody>
          <a:bodyPr rtlCol="0">
            <a:normAutofit/>
          </a:bodyPr>
          <a:lstStyle/>
          <a:p>
            <a:pPr marL="342906" indent="-342906" defTabSz="457207">
              <a:defRPr/>
            </a:pPr>
            <a:r>
              <a:rPr lang="en-US" dirty="0" smtClean="0"/>
              <a:t>Design and Implementation of OS not “solvable”, but some approaches have proven successful</a:t>
            </a:r>
          </a:p>
          <a:p>
            <a:pPr marL="342906" indent="-342906" defTabSz="457207">
              <a:defRPr/>
            </a:pPr>
            <a:r>
              <a:rPr lang="en-US" dirty="0" smtClean="0"/>
              <a:t>Internal structure of different Operating Systems  can vary widely</a:t>
            </a:r>
          </a:p>
          <a:p>
            <a:pPr marL="342906" indent="-342906" defTabSz="457207">
              <a:defRPr/>
            </a:pPr>
            <a:r>
              <a:rPr lang="en-US" dirty="0" smtClean="0"/>
              <a:t>Start by defining goals and specifications </a:t>
            </a:r>
          </a:p>
          <a:p>
            <a:pPr marL="342906" indent="-342906" defTabSz="457207">
              <a:defRPr/>
            </a:pPr>
            <a:r>
              <a:rPr lang="en-US" dirty="0" smtClean="0"/>
              <a:t>Affected by choice of hardware, type of system</a:t>
            </a:r>
          </a:p>
          <a:p>
            <a:pPr marL="342906" indent="-342906" defTabSz="457207">
              <a:defRPr/>
            </a:pPr>
            <a:r>
              <a:rPr lang="en-US" i="1" dirty="0" smtClean="0"/>
              <a:t>User</a:t>
            </a:r>
            <a:r>
              <a:rPr lang="en-US" dirty="0" smtClean="0"/>
              <a:t> goals and </a:t>
            </a:r>
            <a:r>
              <a:rPr lang="en-US" i="1" dirty="0" smtClean="0"/>
              <a:t>System</a:t>
            </a:r>
            <a:r>
              <a:rPr lang="en-US" dirty="0" smtClean="0"/>
              <a:t> goals</a:t>
            </a:r>
          </a:p>
          <a:p>
            <a:pPr marL="742962" lvl="1" indent="-285755" defTabSz="457207">
              <a:defRPr/>
            </a:pPr>
            <a:r>
              <a:rPr lang="en-US" dirty="0" smtClean="0">
                <a:ea typeface="ＭＳ Ｐゴシック" panose="020B0600070205080204" pitchFamily="34" charset="-128"/>
              </a:rPr>
              <a:t>User goals – operating system should be convenient to use, easy to learn, reliable, safe, and fast</a:t>
            </a:r>
          </a:p>
          <a:p>
            <a:pPr marL="742962" lvl="1" indent="-285755" defTabSz="457207">
              <a:defRPr/>
            </a:pPr>
            <a:r>
              <a:rPr lang="en-US" dirty="0" smtClean="0">
                <a:ea typeface="ＭＳ Ｐゴシック" panose="020B0600070205080204" pitchFamily="34" charset="-128"/>
              </a:rPr>
              <a:t>System goals – operating system should be easy to design, implement, and maintain, as well as flexible, reliable, error-free, and efficient</a:t>
            </a:r>
          </a:p>
          <a:p>
            <a:r>
              <a:rPr lang="en-US" dirty="0"/>
              <a:t>Important principle to separate</a:t>
            </a:r>
          </a:p>
          <a:p>
            <a:pPr>
              <a:buFont typeface="Monotype Sorts" charset="2"/>
              <a:buNone/>
            </a:pPr>
            <a:r>
              <a:rPr lang="en-US" b="1" dirty="0"/>
              <a:t>	Policy:   </a:t>
            </a:r>
            <a:r>
              <a:rPr lang="en-US" dirty="0"/>
              <a:t>What will be done?</a:t>
            </a:r>
            <a:r>
              <a:rPr lang="en-US" b="1" dirty="0"/>
              <a:t> </a:t>
            </a:r>
            <a:br>
              <a:rPr lang="en-US" b="1" dirty="0"/>
            </a:br>
            <a:r>
              <a:rPr lang="en-US" b="1" dirty="0"/>
              <a:t>Mechanism:  </a:t>
            </a:r>
            <a:r>
              <a:rPr lang="en-US" dirty="0"/>
              <a:t>How to do it?</a:t>
            </a:r>
          </a:p>
          <a:p>
            <a:r>
              <a:rPr lang="en-US" dirty="0"/>
              <a:t>Mechanisms determine how to do something, policies decide what will be done</a:t>
            </a:r>
          </a:p>
          <a:p>
            <a:pPr lvl="1"/>
            <a:r>
              <a:rPr lang="en-US" dirty="0">
                <a:ea typeface="ＭＳ Ｐゴシック" panose="020B0600070205080204" pitchFamily="34" charset="-128"/>
              </a:rPr>
              <a:t>The separation of policy from mechanism is a very important principle, it allows maximum flexibility if policy decisions are to be changed later</a:t>
            </a:r>
          </a:p>
          <a:p>
            <a:pPr>
              <a:buFont typeface="Monotype Sorts" charset="2"/>
              <a:buNone/>
            </a:pPr>
            <a:endParaRPr lang="en-US" dirty="0"/>
          </a:p>
          <a:p>
            <a:pPr>
              <a:buFont typeface="Monotype Sorts" charset="2"/>
              <a:buNone/>
            </a:pPr>
            <a:endParaRPr lang="en-US" dirty="0"/>
          </a:p>
          <a:p>
            <a:pPr marL="742962" lvl="1" indent="-285755" defTabSz="457207">
              <a:defRPr/>
            </a:pPr>
            <a:endParaRPr lang="en-US" dirty="0">
              <a:ea typeface="ＭＳ Ｐゴシック" panose="020B0600070205080204" pitchFamily="34" charset="-128"/>
            </a:endParaRPr>
          </a:p>
          <a:p>
            <a:pPr marL="742962" lvl="1" indent="-285755" defTabSz="457207">
              <a:defRPr/>
            </a:pPr>
            <a:endParaRPr lang="en-US" dirty="0" smtClean="0">
              <a:ea typeface="ＭＳ Ｐゴシック" panose="020B0600070205080204" pitchFamily="34" charset="-128"/>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45660" y="0"/>
            <a:ext cx="11946339" cy="1050878"/>
          </a:xfrm>
        </p:spPr>
        <p:txBody>
          <a:bodyPr/>
          <a:lstStyle/>
          <a:p>
            <a:r>
              <a:rPr lang="en-US" b="1" u="sng" dirty="0" smtClean="0"/>
              <a:t>Simple Structure </a:t>
            </a:r>
            <a:endParaRPr lang="en-US" sz="2400" b="1" u="sng" dirty="0"/>
          </a:p>
        </p:txBody>
      </p:sp>
      <p:sp>
        <p:nvSpPr>
          <p:cNvPr id="58371" name="Rectangle 3"/>
          <p:cNvSpPr>
            <a:spLocks noGrp="1" noChangeArrowheads="1"/>
          </p:cNvSpPr>
          <p:nvPr>
            <p:ph idx="1"/>
          </p:nvPr>
        </p:nvSpPr>
        <p:spPr>
          <a:xfrm>
            <a:off x="245660" y="1050878"/>
            <a:ext cx="11946339" cy="5807122"/>
          </a:xfrm>
        </p:spPr>
        <p:txBody>
          <a:bodyPr>
            <a:normAutofit lnSpcReduction="10000"/>
          </a:bodyPr>
          <a:lstStyle/>
          <a:p>
            <a:r>
              <a:rPr lang="en-US" dirty="0" smtClean="0"/>
              <a:t>MS-DOS – written to provide the most functionality in the least space</a:t>
            </a:r>
          </a:p>
          <a:p>
            <a:pPr lvl="1"/>
            <a:r>
              <a:rPr lang="en-US" dirty="0" smtClean="0">
                <a:ea typeface="ＭＳ Ｐゴシック" panose="020B0600070205080204" pitchFamily="34" charset="-128"/>
              </a:rPr>
              <a:t>Not divided into modules</a:t>
            </a:r>
          </a:p>
          <a:p>
            <a:pPr lvl="1"/>
            <a:r>
              <a:rPr lang="en-US" dirty="0" smtClean="0">
                <a:ea typeface="ＭＳ Ｐゴシック" panose="020B0600070205080204" pitchFamily="34" charset="-128"/>
              </a:rPr>
              <a:t>Although MS-DOS has some structure, its interfaces and levels of functionality are not well separated</a:t>
            </a:r>
          </a:p>
          <a:p>
            <a:pPr marL="457200" lvl="1" indent="0">
              <a:buNone/>
            </a:pPr>
            <a:endParaRPr lang="en-US" dirty="0" smtClean="0">
              <a:ea typeface="ＭＳ Ｐゴシック" panose="020B0600070205080204" pitchFamily="34" charset="-128"/>
            </a:endParaRPr>
          </a:p>
          <a:p>
            <a:pPr marL="457200" lvl="1" indent="0">
              <a:buNone/>
            </a:pPr>
            <a:endParaRPr lang="en-US" dirty="0">
              <a:ea typeface="ＭＳ Ｐゴシック" panose="020B0600070205080204" pitchFamily="34" charset="-128"/>
            </a:endParaRPr>
          </a:p>
          <a:p>
            <a:pPr marL="457200" lvl="1" indent="0">
              <a:buNone/>
            </a:pPr>
            <a:endParaRPr lang="en-US" dirty="0" smtClean="0">
              <a:ea typeface="ＭＳ Ｐゴシック" panose="020B0600070205080204" pitchFamily="34" charset="-128"/>
            </a:endParaRPr>
          </a:p>
          <a:p>
            <a:pPr marL="457200" lvl="1" indent="0">
              <a:buNone/>
            </a:pPr>
            <a:endParaRPr lang="en-US" dirty="0">
              <a:ea typeface="ＭＳ Ｐゴシック" panose="020B0600070205080204" pitchFamily="34" charset="-128"/>
            </a:endParaRPr>
          </a:p>
          <a:p>
            <a:pPr marL="457200" lvl="1" indent="0">
              <a:buNone/>
            </a:pPr>
            <a:endParaRPr lang="en-US" dirty="0" smtClean="0">
              <a:ea typeface="ＭＳ Ｐゴシック" panose="020B0600070205080204" pitchFamily="34" charset="-128"/>
            </a:endParaRPr>
          </a:p>
          <a:p>
            <a:pPr marL="457200" lvl="1" indent="0">
              <a:buNone/>
            </a:pPr>
            <a:endParaRPr lang="en-US" dirty="0">
              <a:ea typeface="ＭＳ Ｐゴシック" panose="020B0600070205080204" pitchFamily="34" charset="-128"/>
            </a:endParaRPr>
          </a:p>
          <a:p>
            <a:pPr marL="457200" lvl="1" indent="0">
              <a:buNone/>
            </a:pPr>
            <a:endParaRPr lang="en-US" dirty="0" smtClean="0">
              <a:ea typeface="ＭＳ Ｐゴシック" panose="020B0600070205080204" pitchFamily="34" charset="-128"/>
            </a:endParaRPr>
          </a:p>
          <a:p>
            <a:pPr marL="457200" lvl="1" indent="0">
              <a:buNone/>
            </a:pPr>
            <a:endParaRPr lang="en-US" dirty="0">
              <a:ea typeface="ＭＳ Ｐゴシック" panose="020B0600070205080204" pitchFamily="34" charset="-128"/>
            </a:endParaRPr>
          </a:p>
          <a:p>
            <a:pPr marL="457200" lvl="1" indent="0">
              <a:buNone/>
            </a:pPr>
            <a:endParaRPr lang="en-US" dirty="0" smtClean="0">
              <a:ea typeface="ＭＳ Ｐゴシック" panose="020B0600070205080204" pitchFamily="34" charset="-128"/>
            </a:endParaRPr>
          </a:p>
          <a:p>
            <a:pPr marL="457200" lvl="1" indent="0">
              <a:buNone/>
            </a:pPr>
            <a:endParaRPr lang="en-US" dirty="0" smtClean="0"/>
          </a:p>
          <a:p>
            <a:pPr marL="457200" lvl="1" indent="0">
              <a:buNone/>
            </a:pPr>
            <a:r>
              <a:rPr lang="en-US" dirty="0"/>
              <a:t> </a:t>
            </a:r>
            <a:r>
              <a:rPr lang="en-US" dirty="0" smtClean="0"/>
              <a:t>                                           MS-DOS </a:t>
            </a:r>
            <a:r>
              <a:rPr lang="en-US" dirty="0"/>
              <a:t>Layer Structure</a:t>
            </a:r>
            <a:endParaRPr lang="en-US" dirty="0" smtClean="0">
              <a:ea typeface="ＭＳ Ｐゴシック" panose="020B0600070205080204" pitchFamily="34" charset="-128"/>
            </a:endParaRP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l="12146" t="1884" r="12619" b="1917"/>
          <a:stretch>
            <a:fillRect/>
          </a:stretch>
        </p:blipFill>
        <p:spPr bwMode="auto">
          <a:xfrm>
            <a:off x="3046625" y="2517560"/>
            <a:ext cx="5054600" cy="3582989"/>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2324100" y="292101"/>
            <a:ext cx="8229600" cy="576263"/>
          </a:xfrm>
        </p:spPr>
        <p:txBody>
          <a:bodyPr rtlCol="0">
            <a:normAutofit fontScale="90000"/>
          </a:bodyPr>
          <a:lstStyle/>
          <a:p>
            <a:pPr defTabSz="457207">
              <a:defRPr/>
            </a:pPr>
            <a:r>
              <a:rPr lang="en-US" smtClean="0"/>
              <a:t>Traditional UNIX System Structure</a:t>
            </a:r>
          </a:p>
        </p:txBody>
      </p:sp>
      <p:pic>
        <p:nvPicPr>
          <p:cNvPr id="645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1889" y="1558926"/>
            <a:ext cx="6923087" cy="420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 y="0"/>
            <a:ext cx="11081982" cy="1214651"/>
          </a:xfrm>
        </p:spPr>
        <p:txBody>
          <a:bodyPr/>
          <a:lstStyle/>
          <a:p>
            <a:r>
              <a:rPr lang="en-US" b="1" u="sng" dirty="0"/>
              <a:t>Simple Structure </a:t>
            </a:r>
            <a:r>
              <a:rPr lang="en-US" dirty="0" smtClean="0"/>
              <a:t/>
            </a:r>
            <a:br>
              <a:rPr lang="en-US" dirty="0" smtClean="0"/>
            </a:br>
            <a:r>
              <a:rPr lang="en-US" sz="3200" dirty="0" smtClean="0"/>
              <a:t>Layered Approach</a:t>
            </a:r>
          </a:p>
        </p:txBody>
      </p:sp>
      <p:sp>
        <p:nvSpPr>
          <p:cNvPr id="62467" name="Rectangle 3"/>
          <p:cNvSpPr>
            <a:spLocks noGrp="1" noChangeArrowheads="1"/>
          </p:cNvSpPr>
          <p:nvPr>
            <p:ph idx="1"/>
          </p:nvPr>
        </p:nvSpPr>
        <p:spPr>
          <a:xfrm>
            <a:off x="204716" y="1214652"/>
            <a:ext cx="11987284" cy="5033748"/>
          </a:xfrm>
        </p:spPr>
        <p:txBody>
          <a:bodyPr/>
          <a:lstStyle/>
          <a:p>
            <a:r>
              <a:rPr lang="en-US" dirty="0" smtClean="0"/>
              <a:t>The operating system is divided into a number of layers (levels), each built on top of lower layers.  The bottom layer (layer 0), is the hardware; the highest (layer N) is the user interface.</a:t>
            </a:r>
          </a:p>
          <a:p>
            <a:r>
              <a:rPr lang="en-US" dirty="0" smtClean="0"/>
              <a:t>With modularity, layers are selected such that each uses functions (operations) and services of only lower-level layers</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0645" y="2743200"/>
            <a:ext cx="51339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2590801" y="377825"/>
            <a:ext cx="7756525" cy="457200"/>
          </a:xfrm>
        </p:spPr>
        <p:txBody>
          <a:bodyPr rtlCol="0">
            <a:normAutofit fontScale="90000"/>
          </a:bodyPr>
          <a:lstStyle/>
          <a:p>
            <a:pPr defTabSz="457207">
              <a:defRPr/>
            </a:pPr>
            <a:r>
              <a:rPr lang="en-US" smtClean="0"/>
              <a:t>UNIX</a:t>
            </a:r>
            <a:endParaRPr lang="en-US" sz="2400"/>
          </a:p>
        </p:txBody>
      </p:sp>
      <p:sp>
        <p:nvSpPr>
          <p:cNvPr id="66563" name="Rectangle 3"/>
          <p:cNvSpPr>
            <a:spLocks noGrp="1" noChangeArrowheads="1"/>
          </p:cNvSpPr>
          <p:nvPr>
            <p:ph idx="1"/>
          </p:nvPr>
        </p:nvSpPr>
        <p:spPr>
          <a:xfrm>
            <a:off x="2222501" y="1423989"/>
            <a:ext cx="7713663" cy="4073525"/>
          </a:xfrm>
        </p:spPr>
        <p:txBody>
          <a:bodyPr/>
          <a:lstStyle/>
          <a:p>
            <a:r>
              <a:rPr lang="en-US" smtClean="0"/>
              <a:t>UNIX – limited by hardware functionality, the original UNIX operating system had limited structuring.  The UNIX OS consists of two separable parts</a:t>
            </a:r>
          </a:p>
          <a:p>
            <a:pPr lvl="1"/>
            <a:r>
              <a:rPr lang="en-US" smtClean="0">
                <a:ea typeface="ＭＳ Ｐゴシック" panose="020B0600070205080204" pitchFamily="34" charset="-128"/>
              </a:rPr>
              <a:t>Systems programs</a:t>
            </a:r>
          </a:p>
          <a:p>
            <a:pPr lvl="1"/>
            <a:r>
              <a:rPr lang="en-US" smtClean="0">
                <a:ea typeface="ＭＳ Ｐゴシック" panose="020B0600070205080204" pitchFamily="34" charset="-128"/>
              </a:rPr>
              <a:t>The kernel</a:t>
            </a:r>
          </a:p>
          <a:p>
            <a:pPr lvl="2"/>
            <a:r>
              <a:rPr lang="en-US" smtClean="0">
                <a:ea typeface="ＭＳ Ｐゴシック" panose="020B0600070205080204" pitchFamily="34" charset="-128"/>
              </a:rPr>
              <a:t>Consists of everything below the system-call interface and above the physical hardware</a:t>
            </a:r>
          </a:p>
          <a:p>
            <a:pPr lvl="2"/>
            <a:r>
              <a:rPr lang="en-US" smtClean="0">
                <a:ea typeface="ＭＳ Ｐゴシック" panose="020B0600070205080204" pitchFamily="34" charset="-128"/>
              </a:rPr>
              <a:t>Provides the file system, CPU scheduling, memory management, and other operating-system functions; a large number of functions for one level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smtClean="0"/>
              <a:t>Microkernel System Structure </a:t>
            </a:r>
            <a:endParaRPr lang="en-US" sz="2400"/>
          </a:p>
        </p:txBody>
      </p:sp>
      <p:sp>
        <p:nvSpPr>
          <p:cNvPr id="80899" name="Rectangle 3"/>
          <p:cNvSpPr>
            <a:spLocks noGrp="1" noChangeArrowheads="1"/>
          </p:cNvSpPr>
          <p:nvPr>
            <p:ph idx="1"/>
          </p:nvPr>
        </p:nvSpPr>
        <p:spPr/>
        <p:txBody>
          <a:bodyPr rtlCol="0">
            <a:normAutofit/>
          </a:bodyPr>
          <a:lstStyle/>
          <a:p>
            <a:pPr marL="342906" indent="-342906" defTabSz="457207">
              <a:defRPr/>
            </a:pPr>
            <a:r>
              <a:rPr lang="en-US" smtClean="0"/>
              <a:t>Moves as much from the kernel into “</a:t>
            </a:r>
            <a:r>
              <a:rPr lang="en-US" i="1" smtClean="0"/>
              <a:t>user</a:t>
            </a:r>
            <a:r>
              <a:rPr lang="en-US" smtClean="0"/>
              <a:t>” space</a:t>
            </a:r>
          </a:p>
          <a:p>
            <a:pPr marL="342906" indent="-342906" defTabSz="457207">
              <a:defRPr/>
            </a:pPr>
            <a:r>
              <a:rPr lang="en-US" smtClean="0"/>
              <a:t>Communication takes place between user modules using message passing</a:t>
            </a:r>
          </a:p>
          <a:p>
            <a:pPr marL="342906" indent="-342906" defTabSz="457207">
              <a:defRPr/>
            </a:pPr>
            <a:r>
              <a:rPr lang="en-US" smtClean="0"/>
              <a:t>Benefits:</a:t>
            </a:r>
          </a:p>
          <a:p>
            <a:pPr marL="742962" lvl="1" indent="-285755" defTabSz="457207">
              <a:defRPr/>
            </a:pPr>
            <a:r>
              <a:rPr lang="en-US" smtClean="0">
                <a:ea typeface="ＭＳ Ｐゴシック" panose="020B0600070205080204" pitchFamily="34" charset="-128"/>
              </a:rPr>
              <a:t>Easier to extend a microkernel</a:t>
            </a:r>
          </a:p>
          <a:p>
            <a:pPr marL="742962" lvl="1" indent="-285755" defTabSz="457207">
              <a:defRPr/>
            </a:pPr>
            <a:r>
              <a:rPr lang="en-US" smtClean="0">
                <a:ea typeface="ＭＳ Ｐゴシック" panose="020B0600070205080204" pitchFamily="34" charset="-128"/>
              </a:rPr>
              <a:t>Easier to port the operating system to new architectures</a:t>
            </a:r>
          </a:p>
          <a:p>
            <a:pPr marL="742962" lvl="1" indent="-285755" defTabSz="457207">
              <a:defRPr/>
            </a:pPr>
            <a:r>
              <a:rPr lang="en-US" smtClean="0">
                <a:ea typeface="ＭＳ Ｐゴシック" panose="020B0600070205080204" pitchFamily="34" charset="-128"/>
              </a:rPr>
              <a:t>More reliable (less code is running in kernel mode)</a:t>
            </a:r>
          </a:p>
          <a:p>
            <a:pPr marL="742962" lvl="1" indent="-285755" defTabSz="457207">
              <a:defRPr/>
            </a:pPr>
            <a:r>
              <a:rPr lang="en-US" smtClean="0">
                <a:ea typeface="ＭＳ Ｐゴシック" panose="020B0600070205080204" pitchFamily="34" charset="-128"/>
              </a:rPr>
              <a:t>More secure</a:t>
            </a:r>
          </a:p>
          <a:p>
            <a:pPr marL="342906" indent="-342906" defTabSz="457207">
              <a:defRPr/>
            </a:pPr>
            <a:r>
              <a:rPr lang="en-US" smtClean="0"/>
              <a:t>Detriments:</a:t>
            </a:r>
          </a:p>
          <a:p>
            <a:pPr marL="742962" lvl="1" indent="-285755" defTabSz="457207">
              <a:defRPr/>
            </a:pPr>
            <a:r>
              <a:rPr lang="en-US" smtClean="0">
                <a:ea typeface="ＭＳ Ｐゴシック" panose="020B0600070205080204" pitchFamily="34" charset="-128"/>
              </a:rPr>
              <a:t>Performance overhead of user space to kernel space communication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smtClean="0"/>
              <a:t>Mac OS X Structure</a:t>
            </a:r>
          </a:p>
        </p:txBody>
      </p:sp>
      <p:pic>
        <p:nvPicPr>
          <p:cNvPr id="7270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0" y="1592264"/>
            <a:ext cx="5708650"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36479" y="95534"/>
            <a:ext cx="9914356" cy="1064526"/>
          </a:xfrm>
        </p:spPr>
        <p:txBody>
          <a:bodyPr/>
          <a:lstStyle/>
          <a:p>
            <a:r>
              <a:rPr lang="en-US" b="1" u="sng" dirty="0"/>
              <a:t>Simple Structure </a:t>
            </a:r>
            <a:r>
              <a:rPr lang="en-US" dirty="0" smtClean="0"/>
              <a:t/>
            </a:r>
            <a:br>
              <a:rPr lang="en-US" dirty="0" smtClean="0"/>
            </a:br>
            <a:r>
              <a:rPr lang="en-US" sz="3200" dirty="0" smtClean="0"/>
              <a:t>Modules</a:t>
            </a:r>
          </a:p>
        </p:txBody>
      </p:sp>
      <p:sp>
        <p:nvSpPr>
          <p:cNvPr id="74755" name="Rectangle 3"/>
          <p:cNvSpPr>
            <a:spLocks noGrp="1" noChangeArrowheads="1"/>
          </p:cNvSpPr>
          <p:nvPr>
            <p:ph idx="1"/>
          </p:nvPr>
        </p:nvSpPr>
        <p:spPr>
          <a:xfrm>
            <a:off x="136480" y="1255594"/>
            <a:ext cx="11518708" cy="5602406"/>
          </a:xfrm>
        </p:spPr>
        <p:txBody>
          <a:bodyPr>
            <a:normAutofit/>
          </a:bodyPr>
          <a:lstStyle/>
          <a:p>
            <a:r>
              <a:rPr lang="en-US" dirty="0" smtClean="0"/>
              <a:t>Most modern operating systems implement kernel modules</a:t>
            </a:r>
          </a:p>
          <a:p>
            <a:pPr lvl="1"/>
            <a:r>
              <a:rPr lang="en-US" dirty="0" smtClean="0">
                <a:ea typeface="ＭＳ Ｐゴシック" panose="020B0600070205080204" pitchFamily="34" charset="-128"/>
              </a:rPr>
              <a:t>Uses object-oriented approach</a:t>
            </a:r>
          </a:p>
          <a:p>
            <a:pPr lvl="1"/>
            <a:r>
              <a:rPr lang="en-US" dirty="0" smtClean="0">
                <a:ea typeface="ＭＳ Ｐゴシック" panose="020B0600070205080204" pitchFamily="34" charset="-128"/>
              </a:rPr>
              <a:t>Each core component is separate</a:t>
            </a:r>
          </a:p>
          <a:p>
            <a:pPr lvl="1"/>
            <a:r>
              <a:rPr lang="en-US" dirty="0" smtClean="0">
                <a:ea typeface="ＭＳ Ｐゴシック" panose="020B0600070205080204" pitchFamily="34" charset="-128"/>
              </a:rPr>
              <a:t>Each talks to the others over known interfaces</a:t>
            </a:r>
          </a:p>
          <a:p>
            <a:pPr lvl="1"/>
            <a:r>
              <a:rPr lang="en-US" dirty="0" smtClean="0">
                <a:ea typeface="ＭＳ Ｐゴシック" panose="020B0600070205080204" pitchFamily="34" charset="-128"/>
              </a:rPr>
              <a:t>Each is loadable as needed within the kernel</a:t>
            </a:r>
          </a:p>
          <a:p>
            <a:r>
              <a:rPr lang="en-US" dirty="0" smtClean="0"/>
              <a:t>Overall, similar to layers but with more flexible</a:t>
            </a:r>
          </a:p>
          <a:p>
            <a:endParaRPr lang="en-US" dirty="0"/>
          </a:p>
          <a:p>
            <a:endParaRPr lang="en-US" dirty="0" smtClean="0"/>
          </a:p>
          <a:p>
            <a:endParaRPr lang="en-US" dirty="0"/>
          </a:p>
          <a:p>
            <a:endParaRPr lang="en-US" dirty="0" smtClean="0"/>
          </a:p>
          <a:p>
            <a:endParaRPr lang="en-US" dirty="0"/>
          </a:p>
          <a:p>
            <a:endParaRPr lang="en-US" dirty="0" smtClean="0"/>
          </a:p>
          <a:p>
            <a:pPr marL="0" indent="0">
              <a:buNone/>
            </a:pPr>
            <a:r>
              <a:rPr lang="en-US" dirty="0" smtClean="0"/>
              <a:t>                                     Solaris </a:t>
            </a:r>
            <a:r>
              <a:rPr lang="en-US" dirty="0"/>
              <a:t>Modular Approach</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354" y="3635990"/>
            <a:ext cx="7192371" cy="269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smtClean="0"/>
              <a:t>Virtual Machines</a:t>
            </a:r>
          </a:p>
        </p:txBody>
      </p:sp>
      <p:sp>
        <p:nvSpPr>
          <p:cNvPr id="78851" name="Rectangle 3"/>
          <p:cNvSpPr>
            <a:spLocks noGrp="1" noChangeArrowheads="1"/>
          </p:cNvSpPr>
          <p:nvPr>
            <p:ph idx="1"/>
          </p:nvPr>
        </p:nvSpPr>
        <p:spPr>
          <a:xfrm>
            <a:off x="2351089" y="1368426"/>
            <a:ext cx="6872287" cy="4570413"/>
          </a:xfrm>
        </p:spPr>
        <p:txBody>
          <a:bodyPr/>
          <a:lstStyle/>
          <a:p>
            <a:r>
              <a:rPr lang="en-US" smtClean="0"/>
              <a:t>A </a:t>
            </a:r>
            <a:r>
              <a:rPr lang="en-US" smtClean="0">
                <a:solidFill>
                  <a:srgbClr val="3366FF"/>
                </a:solidFill>
              </a:rPr>
              <a:t>virtual machine </a:t>
            </a:r>
            <a:r>
              <a:rPr lang="en-US" smtClean="0"/>
              <a:t>takes the layered approach to its logical conclusion.  It treats hardware and the operating system kernel as though they were all hardware</a:t>
            </a:r>
          </a:p>
          <a:p>
            <a:r>
              <a:rPr lang="en-US" smtClean="0"/>
              <a:t>A virtual machine provides an interface </a:t>
            </a:r>
            <a:r>
              <a:rPr lang="en-US" i="1" smtClean="0"/>
              <a:t>identical</a:t>
            </a:r>
            <a:r>
              <a:rPr lang="en-US" smtClean="0"/>
              <a:t> to the underlying bare hardware</a:t>
            </a:r>
          </a:p>
          <a:p>
            <a:r>
              <a:rPr lang="en-US" smtClean="0"/>
              <a:t>The operating system </a:t>
            </a:r>
            <a:r>
              <a:rPr lang="en-US" smtClean="0">
                <a:solidFill>
                  <a:srgbClr val="3366FF"/>
                </a:solidFill>
              </a:rPr>
              <a:t>host </a:t>
            </a:r>
            <a:r>
              <a:rPr lang="en-US" smtClean="0"/>
              <a:t>creates the illusion that a process has its own processor and (virtual memory)</a:t>
            </a:r>
          </a:p>
          <a:p>
            <a:r>
              <a:rPr lang="en-US" smtClean="0"/>
              <a:t>Each </a:t>
            </a:r>
            <a:r>
              <a:rPr lang="en-US" smtClean="0">
                <a:solidFill>
                  <a:srgbClr val="3366FF"/>
                </a:solidFill>
              </a:rPr>
              <a:t>guest </a:t>
            </a:r>
            <a:r>
              <a:rPr lang="en-US" smtClean="0"/>
              <a:t>provided with a (virtual) copy of underlying computer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2466975" y="306388"/>
            <a:ext cx="8229600" cy="576262"/>
          </a:xfrm>
        </p:spPr>
        <p:txBody>
          <a:bodyPr rtlCol="0">
            <a:normAutofit fontScale="90000"/>
          </a:bodyPr>
          <a:lstStyle/>
          <a:p>
            <a:pPr defTabSz="457207">
              <a:defRPr/>
            </a:pPr>
            <a:r>
              <a:rPr lang="en-US" smtClean="0"/>
              <a:t>Virtual Machines History and Benefits</a:t>
            </a:r>
          </a:p>
        </p:txBody>
      </p:sp>
      <p:sp>
        <p:nvSpPr>
          <p:cNvPr id="91139" name="Rectangle 3"/>
          <p:cNvSpPr>
            <a:spLocks noGrp="1" noChangeArrowheads="1"/>
          </p:cNvSpPr>
          <p:nvPr>
            <p:ph idx="1"/>
          </p:nvPr>
        </p:nvSpPr>
        <p:spPr/>
        <p:txBody>
          <a:bodyPr rtlCol="0">
            <a:normAutofit fontScale="92500" lnSpcReduction="10000"/>
          </a:bodyPr>
          <a:lstStyle/>
          <a:p>
            <a:pPr marL="342906" indent="-342906" defTabSz="457207">
              <a:defRPr/>
            </a:pPr>
            <a:r>
              <a:rPr lang="en-US" smtClean="0"/>
              <a:t>First appeared commercially in IBM mainframes in 1972</a:t>
            </a:r>
          </a:p>
          <a:p>
            <a:pPr marL="342906" indent="-342906" defTabSz="457207">
              <a:defRPr/>
            </a:pPr>
            <a:r>
              <a:rPr lang="en-US" smtClean="0"/>
              <a:t>Fundamentally, multiple execution environments (different operating systems) can share the same hardware</a:t>
            </a:r>
          </a:p>
          <a:p>
            <a:pPr marL="342906" indent="-342906" defTabSz="457207">
              <a:defRPr/>
            </a:pPr>
            <a:r>
              <a:rPr lang="en-US" smtClean="0"/>
              <a:t>Protect from each other</a:t>
            </a:r>
          </a:p>
          <a:p>
            <a:pPr marL="342906" indent="-342906" defTabSz="457207">
              <a:defRPr/>
            </a:pPr>
            <a:r>
              <a:rPr lang="en-US" smtClean="0"/>
              <a:t>Some sharing of file can be permitted, controlled</a:t>
            </a:r>
          </a:p>
          <a:p>
            <a:pPr marL="342906" indent="-342906" defTabSz="457207">
              <a:defRPr/>
            </a:pPr>
            <a:r>
              <a:rPr lang="en-US" smtClean="0"/>
              <a:t>Commutate with each other, other physical systems via networking</a:t>
            </a:r>
          </a:p>
          <a:p>
            <a:pPr marL="342906" indent="-342906" defTabSz="457207">
              <a:defRPr/>
            </a:pPr>
            <a:r>
              <a:rPr lang="en-US" smtClean="0"/>
              <a:t>Useful for development, testing</a:t>
            </a:r>
          </a:p>
          <a:p>
            <a:pPr marL="342906" indent="-342906" defTabSz="457207">
              <a:defRPr/>
            </a:pPr>
            <a:r>
              <a:rPr lang="en-US" smtClean="0">
                <a:solidFill>
                  <a:srgbClr val="3366FF"/>
                </a:solidFill>
              </a:rPr>
              <a:t>Consolidation </a:t>
            </a:r>
            <a:r>
              <a:rPr lang="en-US" smtClean="0"/>
              <a:t>of many low-resource use systems onto fewer busier systems</a:t>
            </a:r>
          </a:p>
          <a:p>
            <a:pPr marL="342906" indent="-342906" defTabSz="457207">
              <a:defRPr/>
            </a:pPr>
            <a:r>
              <a:rPr lang="en-US" smtClean="0"/>
              <a:t>“Open Virtual Machine Format”, standard format of virtual machines, allows a VM to run within many different virtual machine (host) platforms</a:t>
            </a:r>
          </a:p>
          <a:p>
            <a:pPr marL="342906" indent="-342906" defTabSz="457207">
              <a:buNone/>
              <a:defRPr/>
            </a:pPr>
            <a:endParaRPr lang="en-US" smtClean="0"/>
          </a:p>
          <a:p>
            <a:pPr marL="342906" indent="-342906" defTabSz="457207">
              <a:defRPr/>
            </a:pPr>
            <a:endParaRPr lang="en-US" smtClean="0"/>
          </a:p>
          <a:p>
            <a:pPr marL="342906" indent="-342906" defTabSz="457207">
              <a:defRPr/>
            </a:pPr>
            <a:endParaRPr lang="en-US"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smtClean="0"/>
              <a:t>Virtual Machines (Cont)</a:t>
            </a:r>
          </a:p>
        </p:txBody>
      </p:sp>
      <p:sp>
        <p:nvSpPr>
          <p:cNvPr id="93187" name="Rectangle 7"/>
          <p:cNvSpPr>
            <a:spLocks noGrp="1" noChangeArrowheads="1"/>
          </p:cNvSpPr>
          <p:nvPr>
            <p:ph idx="1"/>
          </p:nvPr>
        </p:nvSpPr>
        <p:spPr>
          <a:xfrm>
            <a:off x="2351088" y="1277938"/>
            <a:ext cx="7351712" cy="4830762"/>
          </a:xfrm>
        </p:spPr>
        <p:txBody>
          <a:bodyPr rtlCol="0">
            <a:normAutofit fontScale="92500" lnSpcReduction="10000"/>
          </a:bodyPr>
          <a:lstStyle/>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endParaRPr lang="en-US" smtClean="0"/>
          </a:p>
          <a:p>
            <a:pPr marL="342906" indent="-342906" defTabSz="457207">
              <a:buNone/>
              <a:defRPr/>
            </a:pPr>
            <a:r>
              <a:rPr lang="en-US" smtClean="0"/>
              <a:t>                             (a) Nonvirtual machine (b) virtual machine</a:t>
            </a:r>
          </a:p>
        </p:txBody>
      </p:sp>
      <p:sp>
        <p:nvSpPr>
          <p:cNvPr id="82948" name="Text Box 3"/>
          <p:cNvSpPr txBox="1">
            <a:spLocks noChangeArrowheads="1"/>
          </p:cNvSpPr>
          <p:nvPr/>
        </p:nvSpPr>
        <p:spPr bwMode="auto">
          <a:xfrm>
            <a:off x="3475038" y="4573588"/>
            <a:ext cx="2216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37931725" indent="-37474525">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atin typeface="Helvetica" panose="020B0604020202020204" pitchFamily="34" charset="0"/>
              </a:rPr>
              <a:t>Non-virtual Machine</a:t>
            </a:r>
          </a:p>
        </p:txBody>
      </p:sp>
      <p:sp>
        <p:nvSpPr>
          <p:cNvPr id="82949" name="Text Box 4"/>
          <p:cNvSpPr txBox="1">
            <a:spLocks noChangeArrowheads="1"/>
          </p:cNvSpPr>
          <p:nvPr/>
        </p:nvSpPr>
        <p:spPr bwMode="auto">
          <a:xfrm>
            <a:off x="6867525" y="4600576"/>
            <a:ext cx="1758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37931725" indent="-37474525">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atin typeface="Helvetica" panose="020B0604020202020204" pitchFamily="34" charset="0"/>
              </a:rPr>
              <a:t>Virtual Machine</a:t>
            </a:r>
          </a:p>
        </p:txBody>
      </p:sp>
      <p:pic>
        <p:nvPicPr>
          <p:cNvPr id="82950" name="Picture 6"/>
          <p:cNvPicPr>
            <a:picLocks noChangeAspect="1" noChangeArrowheads="1"/>
          </p:cNvPicPr>
          <p:nvPr/>
        </p:nvPicPr>
        <p:blipFill>
          <a:blip r:embed="rId3">
            <a:extLst>
              <a:ext uri="{28A0092B-C50C-407E-A947-70E740481C1C}">
                <a14:useLocalDpi xmlns:a14="http://schemas.microsoft.com/office/drawing/2010/main" val="0"/>
              </a:ext>
            </a:extLst>
          </a:blip>
          <a:srcRect l="2005" t="5991" r="1344" b="6357"/>
          <a:stretch>
            <a:fillRect/>
          </a:stretch>
        </p:blipFill>
        <p:spPr bwMode="auto">
          <a:xfrm>
            <a:off x="3030538" y="1362075"/>
            <a:ext cx="6026150" cy="4070350"/>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2951" name="Line 8"/>
          <p:cNvSpPr>
            <a:spLocks noChangeShapeType="1"/>
          </p:cNvSpPr>
          <p:nvPr/>
        </p:nvSpPr>
        <p:spPr bwMode="auto">
          <a:xfrm flipH="1">
            <a:off x="3019425" y="1365250"/>
            <a:ext cx="14938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2952" name="Line 9"/>
          <p:cNvSpPr>
            <a:spLocks noChangeShapeType="1"/>
          </p:cNvSpPr>
          <p:nvPr/>
        </p:nvSpPr>
        <p:spPr bwMode="auto">
          <a:xfrm flipV="1">
            <a:off x="3019425" y="1392239"/>
            <a:ext cx="0" cy="3716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2953" name="Line 12"/>
          <p:cNvSpPr>
            <a:spLocks noChangeShapeType="1"/>
          </p:cNvSpPr>
          <p:nvPr/>
        </p:nvSpPr>
        <p:spPr bwMode="auto">
          <a:xfrm flipH="1">
            <a:off x="6300788" y="1374775"/>
            <a:ext cx="27416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2954" name="Line 13"/>
          <p:cNvSpPr>
            <a:spLocks noChangeShapeType="1"/>
          </p:cNvSpPr>
          <p:nvPr/>
        </p:nvSpPr>
        <p:spPr bwMode="auto">
          <a:xfrm flipV="1">
            <a:off x="9070975" y="1377951"/>
            <a:ext cx="0" cy="37449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smtClean="0"/>
              <a:t>Para-virtualization</a:t>
            </a:r>
          </a:p>
        </p:txBody>
      </p:sp>
      <p:sp>
        <p:nvSpPr>
          <p:cNvPr id="84995" name="Content Placeholder 2"/>
          <p:cNvSpPr>
            <a:spLocks noGrp="1"/>
          </p:cNvSpPr>
          <p:nvPr>
            <p:ph idx="1"/>
          </p:nvPr>
        </p:nvSpPr>
        <p:spPr/>
        <p:txBody>
          <a:bodyPr/>
          <a:lstStyle/>
          <a:p>
            <a:r>
              <a:rPr lang="en-US" smtClean="0"/>
              <a:t>Presents guest with system similar but not identical to hardware</a:t>
            </a:r>
          </a:p>
          <a:p>
            <a:r>
              <a:rPr lang="en-US" smtClean="0"/>
              <a:t>Guest must be modified to run on paravirtualized hardwareF</a:t>
            </a:r>
          </a:p>
          <a:p>
            <a:r>
              <a:rPr lang="en-US" smtClean="0"/>
              <a:t>Guest can be an OS, or in the case of Solaris 10 applications running in </a:t>
            </a:r>
            <a:r>
              <a:rPr lang="en-US" smtClean="0">
                <a:solidFill>
                  <a:srgbClr val="3366FF"/>
                </a:solidFill>
              </a:rPr>
              <a:t>containers</a:t>
            </a:r>
          </a:p>
          <a:p>
            <a:endParaRPr lang="en-US"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smtClean="0"/>
              <a:t>Solaris 10 with Two Containers</a:t>
            </a:r>
          </a:p>
        </p:txBody>
      </p:sp>
      <p:pic>
        <p:nvPicPr>
          <p:cNvPr id="87043" name="Picture 4"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926" y="1263651"/>
            <a:ext cx="5326063" cy="517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smtClean="0"/>
              <a:t>VMware Architecture</a:t>
            </a:r>
          </a:p>
        </p:txBody>
      </p:sp>
      <p:pic>
        <p:nvPicPr>
          <p:cNvPr id="8909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950" y="1128714"/>
            <a:ext cx="6954838"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smtClean="0"/>
              <a:t>The Java Virtual Machine</a:t>
            </a:r>
          </a:p>
        </p:txBody>
      </p:sp>
      <p:pic>
        <p:nvPicPr>
          <p:cNvPr id="9113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9539" y="1931988"/>
            <a:ext cx="7221537"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smtClean="0"/>
              <a:t>Operating-System Debugging</a:t>
            </a:r>
          </a:p>
        </p:txBody>
      </p:sp>
      <p:sp>
        <p:nvSpPr>
          <p:cNvPr id="101379" name="Content Placeholder 2"/>
          <p:cNvSpPr>
            <a:spLocks noGrp="1"/>
          </p:cNvSpPr>
          <p:nvPr>
            <p:ph idx="1"/>
          </p:nvPr>
        </p:nvSpPr>
        <p:spPr/>
        <p:txBody>
          <a:bodyPr rtlCol="0">
            <a:normAutofit fontScale="85000" lnSpcReduction="20000"/>
          </a:bodyPr>
          <a:lstStyle/>
          <a:p>
            <a:pPr marL="342906" indent="-342906" defTabSz="457207">
              <a:defRPr/>
            </a:pPr>
            <a:r>
              <a:rPr lang="en-US" smtClean="0">
                <a:solidFill>
                  <a:srgbClr val="3366FF"/>
                </a:solidFill>
              </a:rPr>
              <a:t>Debugging </a:t>
            </a:r>
            <a:r>
              <a:rPr lang="en-US" smtClean="0"/>
              <a:t>is finding and fixing errors, or </a:t>
            </a:r>
            <a:r>
              <a:rPr lang="en-US" smtClean="0">
                <a:solidFill>
                  <a:srgbClr val="3366FF"/>
                </a:solidFill>
              </a:rPr>
              <a:t>bugs</a:t>
            </a:r>
          </a:p>
          <a:p>
            <a:pPr marL="342906" indent="-342906" defTabSz="457207">
              <a:defRPr/>
            </a:pPr>
            <a:r>
              <a:rPr lang="en-US" smtClean="0"/>
              <a:t>OSes generate </a:t>
            </a:r>
            <a:r>
              <a:rPr lang="en-US" smtClean="0">
                <a:solidFill>
                  <a:srgbClr val="3366FF"/>
                </a:solidFill>
              </a:rPr>
              <a:t>log files </a:t>
            </a:r>
            <a:r>
              <a:rPr lang="en-US" smtClean="0">
                <a:solidFill>
                  <a:srgbClr val="000000"/>
                </a:solidFill>
              </a:rPr>
              <a:t>containing error information</a:t>
            </a:r>
          </a:p>
          <a:p>
            <a:pPr marL="342906" indent="-342906" defTabSz="457207">
              <a:defRPr/>
            </a:pPr>
            <a:r>
              <a:rPr lang="en-US" smtClean="0">
                <a:solidFill>
                  <a:srgbClr val="000000"/>
                </a:solidFill>
              </a:rPr>
              <a:t>Failure of an application can generate </a:t>
            </a:r>
            <a:r>
              <a:rPr lang="en-US" smtClean="0">
                <a:solidFill>
                  <a:srgbClr val="3366FF"/>
                </a:solidFill>
              </a:rPr>
              <a:t>core dump </a:t>
            </a:r>
            <a:r>
              <a:rPr lang="en-US" smtClean="0">
                <a:solidFill>
                  <a:srgbClr val="000000"/>
                </a:solidFill>
              </a:rPr>
              <a:t>file capturing memory of the process</a:t>
            </a:r>
          </a:p>
          <a:p>
            <a:pPr marL="342906" indent="-342906" defTabSz="457207">
              <a:defRPr/>
            </a:pPr>
            <a:r>
              <a:rPr lang="en-US" smtClean="0">
                <a:solidFill>
                  <a:srgbClr val="000000"/>
                </a:solidFill>
              </a:rPr>
              <a:t>Operating system failure can generate </a:t>
            </a:r>
            <a:r>
              <a:rPr lang="en-US" smtClean="0">
                <a:solidFill>
                  <a:srgbClr val="3366FF"/>
                </a:solidFill>
              </a:rPr>
              <a:t>crash dump </a:t>
            </a:r>
            <a:r>
              <a:rPr lang="en-US" smtClean="0">
                <a:solidFill>
                  <a:srgbClr val="000000"/>
                </a:solidFill>
              </a:rPr>
              <a:t>file containing kernel memory</a:t>
            </a:r>
          </a:p>
          <a:p>
            <a:pPr marL="342906" indent="-342906" defTabSz="457207">
              <a:defRPr/>
            </a:pPr>
            <a:r>
              <a:rPr lang="en-US" smtClean="0">
                <a:solidFill>
                  <a:srgbClr val="000000"/>
                </a:solidFill>
              </a:rPr>
              <a:t>Beyond crashes, performance tuning can optimize system performance</a:t>
            </a:r>
          </a:p>
          <a:p>
            <a:pPr marL="342906" indent="-342906" defTabSz="457207">
              <a:defRPr/>
            </a:pPr>
            <a:r>
              <a:rPr lang="en-US" smtClean="0">
                <a:solidFill>
                  <a:srgbClr val="000000"/>
                </a:solidFill>
              </a:rPr>
              <a:t>Kernighan’s Law: </a:t>
            </a:r>
            <a:r>
              <a:rPr lang="en-US" smtClean="0"/>
              <a:t>“Debugging is twice as hard as writing the code in the ﬁrst place. Therefore, if you write the code as cleverly as possible, you are, by  deﬁnition, not smart enough to debug it.”</a:t>
            </a:r>
          </a:p>
          <a:p>
            <a:pPr marL="342906" indent="-342906" defTabSz="457207">
              <a:defRPr/>
            </a:pPr>
            <a:r>
              <a:rPr lang="en-US" smtClean="0">
                <a:solidFill>
                  <a:srgbClr val="000000"/>
                </a:solidFill>
              </a:rPr>
              <a:t>DTrace tool in Solaris, FreeBSD, Mac OS X allows live instrumentation on production systems</a:t>
            </a:r>
          </a:p>
          <a:p>
            <a:pPr marL="742962" lvl="1" indent="-285755" defTabSz="457207">
              <a:defRPr/>
            </a:pPr>
            <a:r>
              <a:rPr lang="en-US" smtClean="0">
                <a:solidFill>
                  <a:srgbClr val="3366FF"/>
                </a:solidFill>
                <a:ea typeface="ＭＳ Ｐゴシック" panose="020B0600070205080204" pitchFamily="34" charset="-128"/>
              </a:rPr>
              <a:t>Probes </a:t>
            </a:r>
            <a:r>
              <a:rPr lang="en-US" smtClean="0">
                <a:solidFill>
                  <a:srgbClr val="000000"/>
                </a:solidFill>
                <a:ea typeface="ＭＳ Ｐゴシック" panose="020B0600070205080204" pitchFamily="34" charset="-128"/>
              </a:rPr>
              <a:t>fire when code is executed, capturing state data and sending it to consumers of those probes </a:t>
            </a:r>
            <a:br>
              <a:rPr lang="en-US" smtClean="0">
                <a:solidFill>
                  <a:srgbClr val="000000"/>
                </a:solidFill>
                <a:ea typeface="ＭＳ Ｐゴシック" panose="020B0600070205080204" pitchFamily="34" charset="-128"/>
              </a:rPr>
            </a:br>
            <a:endParaRPr lang="en-US" smtClean="0">
              <a:solidFill>
                <a:srgbClr val="000000"/>
              </a:solidFill>
              <a:ea typeface="ＭＳ Ｐゴシック" panose="020B0600070205080204" pitchFamily="34" charset="-128"/>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smtClean="0"/>
              <a:t>Operating System Generation</a:t>
            </a:r>
          </a:p>
        </p:txBody>
      </p:sp>
      <p:sp>
        <p:nvSpPr>
          <p:cNvPr id="97283" name="Rectangle 3"/>
          <p:cNvSpPr>
            <a:spLocks noGrp="1" noChangeArrowheads="1"/>
          </p:cNvSpPr>
          <p:nvPr>
            <p:ph idx="1"/>
          </p:nvPr>
        </p:nvSpPr>
        <p:spPr/>
        <p:txBody>
          <a:bodyPr/>
          <a:lstStyle/>
          <a:p>
            <a:r>
              <a:rPr lang="en-US" smtClean="0"/>
              <a:t>Operating systems are designed to run on any of a class of machines; the system must be configured for each specific computer site</a:t>
            </a:r>
          </a:p>
          <a:p>
            <a:r>
              <a:rPr lang="en-US" smtClean="0"/>
              <a:t>SYSGEN program obtains information concerning the specific configuration of the hardware system</a:t>
            </a:r>
          </a:p>
          <a:p>
            <a:r>
              <a:rPr lang="en-US" i="1" smtClean="0"/>
              <a:t>Booting</a:t>
            </a:r>
            <a:r>
              <a:rPr lang="en-US" smtClean="0"/>
              <a:t> – starting a computer by loading the kernel</a:t>
            </a:r>
          </a:p>
          <a:p>
            <a:r>
              <a:rPr lang="en-US" i="1" smtClean="0"/>
              <a:t>Bootstrap program</a:t>
            </a:r>
            <a:r>
              <a:rPr lang="en-US" smtClean="0"/>
              <a:t> – code stored in ROM that is able to locate the kernel, load it into memory, and start its execution</a:t>
            </a:r>
          </a:p>
          <a:p>
            <a:pPr>
              <a:buFont typeface="Monotype Sorts" charset="2"/>
              <a:buNone/>
            </a:pPr>
            <a:endParaRPr lang="en-US" smtClean="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2324100" y="277813"/>
            <a:ext cx="8229600" cy="576262"/>
          </a:xfrm>
        </p:spPr>
        <p:txBody>
          <a:bodyPr/>
          <a:lstStyle/>
          <a:p>
            <a:r>
              <a:rPr lang="en-US" sz="2800"/>
              <a:t>Solaris 10 dtrace Following System Call</a:t>
            </a:r>
          </a:p>
        </p:txBody>
      </p:sp>
      <p:pic>
        <p:nvPicPr>
          <p:cNvPr id="95235" name="Picture 3"/>
          <p:cNvPicPr>
            <a:picLocks noChangeAspect="1" noChangeArrowheads="1"/>
          </p:cNvPicPr>
          <p:nvPr/>
        </p:nvPicPr>
        <p:blipFill>
          <a:blip r:embed="rId3">
            <a:extLst>
              <a:ext uri="{28A0092B-C50C-407E-A947-70E740481C1C}">
                <a14:useLocalDpi xmlns:a14="http://schemas.microsoft.com/office/drawing/2010/main" val="0"/>
              </a:ext>
            </a:extLst>
          </a:blip>
          <a:srcRect l="19221" t="1375" r="19221" b="2376"/>
          <a:stretch>
            <a:fillRect/>
          </a:stretch>
        </p:blipFill>
        <p:spPr bwMode="auto">
          <a:xfrm>
            <a:off x="4129089" y="1290638"/>
            <a:ext cx="4294187" cy="5033962"/>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smtClean="0"/>
              <a:t>System Boot</a:t>
            </a:r>
          </a:p>
        </p:txBody>
      </p:sp>
      <p:sp>
        <p:nvSpPr>
          <p:cNvPr id="99331" name="Rectangle 3"/>
          <p:cNvSpPr>
            <a:spLocks noGrp="1" noChangeArrowheads="1"/>
          </p:cNvSpPr>
          <p:nvPr>
            <p:ph idx="1"/>
          </p:nvPr>
        </p:nvSpPr>
        <p:spPr/>
        <p:txBody>
          <a:bodyPr/>
          <a:lstStyle/>
          <a:p>
            <a:r>
              <a:rPr lang="en-US" smtClean="0"/>
              <a:t>Operating system must be made available to hardware so hardware can start it</a:t>
            </a:r>
          </a:p>
          <a:p>
            <a:pPr lvl="1"/>
            <a:r>
              <a:rPr lang="en-US" smtClean="0">
                <a:ea typeface="ＭＳ Ｐゴシック" panose="020B0600070205080204" pitchFamily="34" charset="-128"/>
              </a:rPr>
              <a:t>Small piece of code – </a:t>
            </a:r>
            <a:r>
              <a:rPr lang="en-US" b="1" smtClean="0">
                <a:ea typeface="ＭＳ Ｐゴシック" panose="020B0600070205080204" pitchFamily="34" charset="-128"/>
              </a:rPr>
              <a:t>bootstrap loader</a:t>
            </a:r>
            <a:r>
              <a:rPr lang="en-US" smtClean="0">
                <a:ea typeface="ＭＳ Ｐゴシック" panose="020B0600070205080204" pitchFamily="34" charset="-128"/>
              </a:rPr>
              <a:t>, locates the kernel, loads it into memory, and starts it</a:t>
            </a:r>
          </a:p>
          <a:p>
            <a:pPr lvl="1"/>
            <a:r>
              <a:rPr lang="en-US" smtClean="0">
                <a:ea typeface="ＭＳ Ｐゴシック" panose="020B0600070205080204" pitchFamily="34" charset="-128"/>
              </a:rPr>
              <a:t>Sometimes two-step process where </a:t>
            </a:r>
            <a:r>
              <a:rPr lang="en-US" b="1" smtClean="0">
                <a:ea typeface="ＭＳ Ｐゴシック" panose="020B0600070205080204" pitchFamily="34" charset="-128"/>
              </a:rPr>
              <a:t>boot block</a:t>
            </a:r>
            <a:r>
              <a:rPr lang="en-US" smtClean="0">
                <a:ea typeface="ＭＳ Ｐゴシック" panose="020B0600070205080204" pitchFamily="34" charset="-128"/>
              </a:rPr>
              <a:t> at fixed location loads bootstrap loader</a:t>
            </a:r>
          </a:p>
          <a:p>
            <a:pPr lvl="1"/>
            <a:r>
              <a:rPr lang="en-US" smtClean="0">
                <a:ea typeface="ＭＳ Ｐゴシック" panose="020B0600070205080204" pitchFamily="34" charset="-128"/>
              </a:rPr>
              <a:t>When power initialized on system, execution starts at a fixed memory location</a:t>
            </a:r>
          </a:p>
          <a:p>
            <a:pPr lvl="2"/>
            <a:r>
              <a:rPr lang="en-US" smtClean="0">
                <a:ea typeface="ＭＳ Ｐゴシック" panose="020B0600070205080204" pitchFamily="34" charset="-128"/>
              </a:rPr>
              <a:t>Firmware used to hold initial boot code</a:t>
            </a:r>
          </a:p>
          <a:p>
            <a:endParaRPr lang="en-US" smtClean="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917</TotalTime>
  <Words>3431</Words>
  <Application>Microsoft Office PowerPoint</Application>
  <PresentationFormat>Widescreen</PresentationFormat>
  <Paragraphs>451</Paragraphs>
  <Slides>53</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ＭＳ Ｐゴシック</vt:lpstr>
      <vt:lpstr>Arial</vt:lpstr>
      <vt:lpstr>Calibri</vt:lpstr>
      <vt:lpstr>Century Gothic</vt:lpstr>
      <vt:lpstr>Helvetica</vt:lpstr>
      <vt:lpstr>Monotype Sorts</vt:lpstr>
      <vt:lpstr>Times New Roman</vt:lpstr>
      <vt:lpstr>Wingdings 3</vt:lpstr>
      <vt:lpstr>Ion</vt:lpstr>
      <vt:lpstr>Operating system  module 1</vt:lpstr>
      <vt:lpstr>Where is your operating system ln computer ?</vt:lpstr>
      <vt:lpstr>PowerPoint Presentation</vt:lpstr>
      <vt:lpstr>PowerPoint Presentation</vt:lpstr>
      <vt:lpstr>Computer System Organization </vt:lpstr>
      <vt:lpstr>Computer System Organization </vt:lpstr>
      <vt:lpstr>Computer System Architecture </vt:lpstr>
      <vt:lpstr>Computer System Architecture </vt:lpstr>
      <vt:lpstr>Computer System Architecture </vt:lpstr>
      <vt:lpstr>Computer System Structure  </vt:lpstr>
      <vt:lpstr>Computer System Structure  </vt:lpstr>
      <vt:lpstr>Computer System operations  </vt:lpstr>
      <vt:lpstr>Process Management</vt:lpstr>
      <vt:lpstr>Process Management</vt:lpstr>
      <vt:lpstr>Memory Management</vt:lpstr>
      <vt:lpstr>Storage Management</vt:lpstr>
      <vt:lpstr>Storage Management File-System Management </vt:lpstr>
      <vt:lpstr>Storage Management Mass-Storage Management</vt:lpstr>
      <vt:lpstr>Storage Management Caching </vt:lpstr>
      <vt:lpstr>Storage Management I/O Subsystem</vt:lpstr>
      <vt:lpstr>Chapter 2 :Operating system services  </vt:lpstr>
      <vt:lpstr>Operating system services  A View of Operating System Services</vt:lpstr>
      <vt:lpstr>Operating system services</vt:lpstr>
      <vt:lpstr>User Operating System Interface - CLI</vt:lpstr>
      <vt:lpstr>PowerPoint Presentation</vt:lpstr>
      <vt:lpstr>System Calls</vt:lpstr>
      <vt:lpstr>Example of Standard API</vt:lpstr>
      <vt:lpstr>System Call Implementation</vt:lpstr>
      <vt:lpstr>PowerPoint Presentation</vt:lpstr>
      <vt:lpstr>System Call Parameter Passing</vt:lpstr>
      <vt:lpstr>Types of System Calls</vt:lpstr>
      <vt:lpstr>MS-DOS execution</vt:lpstr>
      <vt:lpstr>FreeBSD Running Multiple Programs</vt:lpstr>
      <vt:lpstr>System Programs</vt:lpstr>
      <vt:lpstr>Operating System Design and Implementation</vt:lpstr>
      <vt:lpstr>Simple Structure </vt:lpstr>
      <vt:lpstr>Traditional UNIX System Structure</vt:lpstr>
      <vt:lpstr>Simple Structure  Layered Approach</vt:lpstr>
      <vt:lpstr>UNIX</vt:lpstr>
      <vt:lpstr>Microkernel System Structure </vt:lpstr>
      <vt:lpstr>Mac OS X Structure</vt:lpstr>
      <vt:lpstr>Simple Structure  Modules</vt:lpstr>
      <vt:lpstr>Virtual Machines</vt:lpstr>
      <vt:lpstr>Virtual Machines History and Benefits</vt:lpstr>
      <vt:lpstr>Virtual Machines (Cont)</vt:lpstr>
      <vt:lpstr>Para-virtualization</vt:lpstr>
      <vt:lpstr>Solaris 10 with Two Containers</vt:lpstr>
      <vt:lpstr>VMware Architecture</vt:lpstr>
      <vt:lpstr>The Java Virtual Machine</vt:lpstr>
      <vt:lpstr>Operating-System Debugging</vt:lpstr>
      <vt:lpstr>Operating System Generation</vt:lpstr>
      <vt:lpstr>Solaris 10 dtrace Following System Call</vt:lpstr>
      <vt:lpstr>System Boot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Arbeena</dc:creator>
  <cp:lastModifiedBy>Arbeena</cp:lastModifiedBy>
  <cp:revision>65</cp:revision>
  <dcterms:created xsi:type="dcterms:W3CDTF">2023-10-01T11:41:36Z</dcterms:created>
  <dcterms:modified xsi:type="dcterms:W3CDTF">2026-08-10T08:00:15Z</dcterms:modified>
</cp:coreProperties>
</file>