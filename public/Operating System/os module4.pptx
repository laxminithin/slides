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79"/>
  </p:notesMasterIdLst>
  <p:sldIdLst>
    <p:sldId id="256" r:id="rId2"/>
    <p:sldId id="415" r:id="rId3"/>
    <p:sldId id="260" r:id="rId4"/>
    <p:sldId id="261" r:id="rId5"/>
    <p:sldId id="263" r:id="rId6"/>
    <p:sldId id="264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7" r:id="rId27"/>
    <p:sldId id="289" r:id="rId28"/>
    <p:sldId id="290" r:id="rId29"/>
    <p:sldId id="292" r:id="rId30"/>
    <p:sldId id="293" r:id="rId31"/>
    <p:sldId id="295" r:id="rId32"/>
    <p:sldId id="297" r:id="rId33"/>
    <p:sldId id="299" r:id="rId34"/>
    <p:sldId id="301" r:id="rId35"/>
    <p:sldId id="302" r:id="rId36"/>
    <p:sldId id="304" r:id="rId37"/>
    <p:sldId id="305" r:id="rId38"/>
    <p:sldId id="345" r:id="rId39"/>
    <p:sldId id="347" r:id="rId40"/>
    <p:sldId id="348" r:id="rId41"/>
    <p:sldId id="350" r:id="rId42"/>
    <p:sldId id="351" r:id="rId43"/>
    <p:sldId id="352" r:id="rId44"/>
    <p:sldId id="353" r:id="rId45"/>
    <p:sldId id="354" r:id="rId46"/>
    <p:sldId id="355" r:id="rId47"/>
    <p:sldId id="357" r:id="rId48"/>
    <p:sldId id="358" r:id="rId49"/>
    <p:sldId id="359" r:id="rId50"/>
    <p:sldId id="360" r:id="rId51"/>
    <p:sldId id="361" r:id="rId52"/>
    <p:sldId id="416" r:id="rId53"/>
    <p:sldId id="364" r:id="rId54"/>
    <p:sldId id="365" r:id="rId55"/>
    <p:sldId id="366" r:id="rId56"/>
    <p:sldId id="367" r:id="rId57"/>
    <p:sldId id="369" r:id="rId58"/>
    <p:sldId id="370" r:id="rId59"/>
    <p:sldId id="371" r:id="rId60"/>
    <p:sldId id="372" r:id="rId61"/>
    <p:sldId id="373" r:id="rId62"/>
    <p:sldId id="374" r:id="rId63"/>
    <p:sldId id="375" r:id="rId64"/>
    <p:sldId id="376" r:id="rId65"/>
    <p:sldId id="377" r:id="rId66"/>
    <p:sldId id="379" r:id="rId67"/>
    <p:sldId id="380" r:id="rId68"/>
    <p:sldId id="382" r:id="rId69"/>
    <p:sldId id="383" r:id="rId70"/>
    <p:sldId id="384" r:id="rId71"/>
    <p:sldId id="385" r:id="rId72"/>
    <p:sldId id="387" r:id="rId73"/>
    <p:sldId id="389" r:id="rId74"/>
    <p:sldId id="391" r:id="rId75"/>
    <p:sldId id="393" r:id="rId76"/>
    <p:sldId id="394" r:id="rId77"/>
    <p:sldId id="395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9E353-29EC-4613-982E-196EBD393E83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2016A-4489-4699-9346-A67F2FD43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5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0B62D73-B5CA-46DB-995A-D6F239B1D4A5}" type="slidenum">
              <a:rPr lang="en-US" sz="1300">
                <a:latin typeface="Helvetica" panose="020B0604020202020204" pitchFamily="34" charset="0"/>
              </a:rPr>
              <a:pPr/>
              <a:t>3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307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F58137A-FB66-4341-A95E-5B608C071BC6}" type="slidenum">
              <a:rPr lang="en-US" sz="1300">
                <a:latin typeface="Helvetica" panose="020B0604020202020204" pitchFamily="34" charset="0"/>
              </a:rPr>
              <a:pPr/>
              <a:t>4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198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921DC81-CC7B-45A6-995E-FAF9A6061C1A}" type="slidenum">
              <a:rPr lang="en-US" sz="1300">
                <a:latin typeface="Helvetica" panose="020B0604020202020204" pitchFamily="34" charset="0"/>
              </a:rPr>
              <a:pPr/>
              <a:t>5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225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E8A2450-AE36-4008-BC22-3C7CA9566FC2}" type="slidenum">
              <a:rPr lang="en-US" sz="1300">
                <a:latin typeface="Helvetica" panose="020B0604020202020204" pitchFamily="34" charset="0"/>
              </a:rPr>
              <a:pPr/>
              <a:t>6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750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CDFDB01-A8A0-41DF-8B35-42E860CB6F7F}" type="slidenum">
              <a:rPr lang="en-US" sz="1300">
                <a:latin typeface="Helvetica" panose="020B0604020202020204" pitchFamily="34" charset="0"/>
              </a:rPr>
              <a:pPr/>
              <a:t>7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758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D4EDBD-8139-4F43-AE2D-28A8C5C62A7E}" type="slidenum">
              <a:rPr lang="en-US" sz="1300">
                <a:latin typeface="Helvetica" panose="020B0604020202020204" pitchFamily="34" charset="0"/>
              </a:rPr>
              <a:pPr/>
              <a:t>8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05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7239B1A-1C24-49BD-B986-F2F6C4824BAF}" type="slidenum">
              <a:rPr lang="en-US" sz="1300">
                <a:latin typeface="Helvetica" panose="020B0604020202020204" pitchFamily="34" charset="0"/>
              </a:rPr>
              <a:pPr/>
              <a:t>9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567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C471469-7BEE-41E6-A1C5-A5083CFF050B}" type="slidenum">
              <a:rPr lang="en-US" sz="1300">
                <a:latin typeface="Helvetica" panose="020B0604020202020204" pitchFamily="34" charset="0"/>
              </a:rPr>
              <a:pPr/>
              <a:t>10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32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23D75F3-974F-4C05-B17A-3B86F5E9600C}" type="slidenum">
              <a:rPr lang="en-US" sz="1300">
                <a:latin typeface="Helvetica" panose="020B0604020202020204" pitchFamily="34" charset="0"/>
              </a:rPr>
              <a:pPr/>
              <a:t>11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819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957AEAC-02DB-414E-AEA1-DE7B2C9C61BF}" type="slidenum">
              <a:rPr lang="en-US" sz="1300">
                <a:latin typeface="Helvetica" panose="020B0604020202020204" pitchFamily="34" charset="0"/>
              </a:rPr>
              <a:pPr/>
              <a:t>12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786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E2A37ED-8619-4833-9144-BF93A7893A85}" type="slidenum">
              <a:rPr lang="en-US" sz="1300">
                <a:latin typeface="Helvetica" panose="020B0604020202020204" pitchFamily="34" charset="0"/>
              </a:rPr>
              <a:pPr/>
              <a:t>13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837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C1C17A0-2FAA-4743-BB37-4E9F75B43589}" type="slidenum">
              <a:rPr lang="en-US" sz="1300">
                <a:latin typeface="Helvetica" panose="020B0604020202020204" pitchFamily="34" charset="0"/>
              </a:rPr>
              <a:pPr/>
              <a:t>14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162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F56A7AA-5728-47E9-8BB5-ACFF3E2A6575}" type="slidenum">
              <a:rPr lang="en-US" sz="1300">
                <a:latin typeface="Helvetica" panose="020B0604020202020204" pitchFamily="34" charset="0"/>
              </a:rPr>
              <a:pPr/>
              <a:t>15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808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BBDE15C-A4E4-4DC7-AE4B-B9F37C5FFA55}" type="slidenum">
              <a:rPr lang="en-US" sz="1300">
                <a:latin typeface="Helvetica" panose="020B0604020202020204" pitchFamily="34" charset="0"/>
              </a:rPr>
              <a:pPr/>
              <a:t>16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497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1887A09-FDA0-42C7-B4FA-C7DECDBA1389}" type="slidenum">
              <a:rPr lang="en-US" sz="1300">
                <a:latin typeface="Helvetica" panose="020B0604020202020204" pitchFamily="34" charset="0"/>
              </a:rPr>
              <a:pPr/>
              <a:t>17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425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DF806E7-FA0C-4AF6-A20B-493BA28F71B5}" type="slidenum">
              <a:rPr lang="en-US" sz="1300">
                <a:latin typeface="Helvetica" panose="020B0604020202020204" pitchFamily="34" charset="0"/>
              </a:rPr>
              <a:pPr/>
              <a:t>18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10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269223E-17FC-4272-998A-C67A57BF4882}" type="slidenum">
              <a:rPr lang="en-US" sz="1300">
                <a:latin typeface="Helvetica" panose="020B0604020202020204" pitchFamily="34" charset="0"/>
              </a:rPr>
              <a:pPr/>
              <a:t>19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633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6D9E7F5-7DEF-41B6-B802-B1F97261A2C6}" type="slidenum">
              <a:rPr lang="en-US" sz="1300">
                <a:latin typeface="Helvetica" panose="020B0604020202020204" pitchFamily="34" charset="0"/>
              </a:rPr>
              <a:pPr/>
              <a:t>20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7539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44CB2D9-C11F-4713-B4FE-DFA2F3112A59}" type="slidenum">
              <a:rPr lang="en-US" sz="1300">
                <a:latin typeface="Helvetica" panose="020B0604020202020204" pitchFamily="34" charset="0"/>
              </a:rPr>
              <a:pPr/>
              <a:t>21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2580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C4D7130-FF7A-446E-AB27-CFBF4363199E}" type="slidenum">
              <a:rPr lang="en-US" sz="1300">
                <a:latin typeface="Helvetica" panose="020B0604020202020204" pitchFamily="34" charset="0"/>
              </a:rPr>
              <a:pPr/>
              <a:t>22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6405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1C89CD2-C9B1-48C8-A4DC-780EA42AA821}" type="slidenum">
              <a:rPr lang="en-US" sz="1300">
                <a:latin typeface="Helvetica" panose="020B0604020202020204" pitchFamily="34" charset="0"/>
              </a:rPr>
              <a:pPr/>
              <a:t>23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1218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6EE407B-0818-4860-A7B0-8C98A857DC00}" type="slidenum">
              <a:rPr lang="en-US" sz="1300">
                <a:latin typeface="Helvetica" panose="020B0604020202020204" pitchFamily="34" charset="0"/>
              </a:rPr>
              <a:pPr/>
              <a:t>24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7764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FFB3F81-FA97-48FD-8B0A-3647B21B9A54}" type="slidenum">
              <a:rPr lang="en-US" sz="1300">
                <a:latin typeface="Helvetica" panose="020B0604020202020204" pitchFamily="34" charset="0"/>
              </a:rPr>
              <a:pPr/>
              <a:t>25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6553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D083255-28F3-447E-AA50-FD9C436E50B1}" type="slidenum">
              <a:rPr lang="en-US" sz="1300">
                <a:latin typeface="Helvetica" panose="020B0604020202020204" pitchFamily="34" charset="0"/>
              </a:rPr>
              <a:pPr/>
              <a:t>26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361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F403A62-8879-4FA9-BBEE-701A352229EB}" type="slidenum">
              <a:rPr lang="en-US" sz="1300">
                <a:latin typeface="Helvetica" panose="020B0604020202020204" pitchFamily="34" charset="0"/>
              </a:rPr>
              <a:pPr/>
              <a:t>27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4016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C92BA9C-7831-4F38-9788-ACF1444FC57C}" type="slidenum">
              <a:rPr lang="en-US" sz="1300">
                <a:latin typeface="Helvetica" panose="020B0604020202020204" pitchFamily="34" charset="0"/>
              </a:rPr>
              <a:pPr/>
              <a:t>28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612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A933E40-0B0F-477E-9DE9-EFA282B40B17}" type="slidenum">
              <a:rPr lang="en-US" sz="1300">
                <a:latin typeface="Helvetica" panose="020B0604020202020204" pitchFamily="34" charset="0"/>
              </a:rPr>
              <a:pPr/>
              <a:t>29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2055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387A07A-1B2F-4BAE-A7A4-BA514DDBBA6B}" type="slidenum">
              <a:rPr lang="en-US" sz="1300">
                <a:latin typeface="Helvetica" panose="020B0604020202020204" pitchFamily="34" charset="0"/>
              </a:rPr>
              <a:pPr/>
              <a:t>30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8468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06C8093-4BA6-40D0-AABE-503D02EE3B75}" type="slidenum">
              <a:rPr lang="en-US" sz="1300">
                <a:latin typeface="Helvetica" panose="020B0604020202020204" pitchFamily="34" charset="0"/>
              </a:rPr>
              <a:pPr/>
              <a:t>31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2492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30FAAEB-F551-4EBF-AD43-78B6D385A631}" type="slidenum">
              <a:rPr lang="en-US" sz="1300">
                <a:latin typeface="Helvetica" panose="020B0604020202020204" pitchFamily="34" charset="0"/>
              </a:rPr>
              <a:pPr/>
              <a:t>32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832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7B10324-B31D-493E-90AC-3EED24E80F03}" type="slidenum">
              <a:rPr lang="en-US" sz="1300">
                <a:latin typeface="Helvetica" panose="020B0604020202020204" pitchFamily="34" charset="0"/>
              </a:rPr>
              <a:pPr/>
              <a:t>33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8948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756D9F0-FA0F-4E90-A069-A726F69BD114}" type="slidenum">
              <a:rPr lang="en-US" sz="1300">
                <a:latin typeface="Helvetica" panose="020B0604020202020204" pitchFamily="34" charset="0"/>
              </a:rPr>
              <a:pPr/>
              <a:t>34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084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F03CA15-3FF0-47D6-8481-DA3F0E1D666D}" type="slidenum">
              <a:rPr lang="en-US" sz="1300">
                <a:latin typeface="Helvetica" panose="020B0604020202020204" pitchFamily="34" charset="0"/>
              </a:rPr>
              <a:pPr/>
              <a:t>35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2195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192B79F-3E37-4690-8244-443C81D9EECA}" type="slidenum">
              <a:rPr lang="en-US" sz="1300">
                <a:latin typeface="Helvetica" panose="020B0604020202020204" pitchFamily="34" charset="0"/>
              </a:rPr>
              <a:pPr/>
              <a:t>36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4811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5F852D1-1B2D-4820-A404-76C9C3DFBAA2}" type="slidenum">
              <a:rPr lang="en-US" sz="1300">
                <a:latin typeface="Helvetica" panose="020B0604020202020204" pitchFamily="34" charset="0"/>
              </a:rPr>
              <a:pPr/>
              <a:t>37</a:t>
            </a:fld>
            <a:endParaRPr lang="en-US" sz="1300">
              <a:latin typeface="Helvetica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2248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59D1E55-27E2-4111-A776-92396605FBAD}" type="slidenum">
              <a:rPr lang="en-US" sz="1300">
                <a:latin typeface="Times New Roman" panose="02020603050405020304" pitchFamily="18" charset="0"/>
              </a:rPr>
              <a:pPr/>
              <a:t>38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454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C813B6F-6F11-43BB-8F23-A55A70E0C8DE}" type="slidenum">
              <a:rPr lang="en-US" sz="1300">
                <a:latin typeface="Times New Roman" panose="02020603050405020304" pitchFamily="18" charset="0"/>
              </a:rPr>
              <a:pPr/>
              <a:t>39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9246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7597D0F-D128-4D32-814B-68857E4147D6}" type="slidenum">
              <a:rPr lang="en-US" sz="1300">
                <a:latin typeface="Times New Roman" panose="02020603050405020304" pitchFamily="18" charset="0"/>
              </a:rPr>
              <a:pPr/>
              <a:t>40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969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5EF89CE-6EAB-4C11-8395-CDCB1B344EEF}" type="slidenum">
              <a:rPr lang="en-US" sz="1300">
                <a:latin typeface="Times New Roman" panose="02020603050405020304" pitchFamily="18" charset="0"/>
              </a:rPr>
              <a:pPr/>
              <a:t>41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2957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4108192-3CDC-4656-A72E-381E3ED029AC}" type="slidenum">
              <a:rPr lang="en-US" sz="1300">
                <a:latin typeface="Times New Roman" panose="02020603050405020304" pitchFamily="18" charset="0"/>
              </a:rPr>
              <a:pPr/>
              <a:t>42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5927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76686BD-1F79-4C9D-9914-7273850E68EF}" type="slidenum">
              <a:rPr lang="en-US" sz="1300">
                <a:latin typeface="Times New Roman" panose="02020603050405020304" pitchFamily="18" charset="0"/>
              </a:rPr>
              <a:pPr/>
              <a:t>43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851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F38C7F8-7CD7-4860-9EB6-D467F214AD1E}" type="slidenum">
              <a:rPr lang="en-US" sz="1300">
                <a:latin typeface="Times New Roman" panose="02020603050405020304" pitchFamily="18" charset="0"/>
              </a:rPr>
              <a:pPr/>
              <a:t>44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2371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50B4681-2BE1-4DBC-89E7-91542C577CF2}" type="slidenum">
              <a:rPr lang="en-US" sz="1300">
                <a:latin typeface="Times New Roman" panose="02020603050405020304" pitchFamily="18" charset="0"/>
              </a:rPr>
              <a:pPr/>
              <a:t>45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3813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C821DA5-04EB-419A-99DD-8524C43E1AD8}" type="slidenum">
              <a:rPr lang="en-US" sz="1300">
                <a:latin typeface="Times New Roman" panose="02020603050405020304" pitchFamily="18" charset="0"/>
              </a:rPr>
              <a:pPr/>
              <a:t>46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7690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A5AF7F6-6B22-44F2-8ABC-D6F6BE135CE8}" type="slidenum">
              <a:rPr lang="en-US" sz="1300">
                <a:latin typeface="Times New Roman" panose="02020603050405020304" pitchFamily="18" charset="0"/>
              </a:rPr>
              <a:pPr/>
              <a:t>47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3557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14D6452-E5D5-4C83-B50E-B90734E70861}" type="slidenum">
              <a:rPr lang="en-US" sz="1300">
                <a:latin typeface="Times New Roman" panose="02020603050405020304" pitchFamily="18" charset="0"/>
              </a:rPr>
              <a:pPr/>
              <a:t>48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5230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9D1C928-A169-4954-89C5-463D432EF9D5}" type="slidenum">
              <a:rPr lang="en-US" sz="1300">
                <a:latin typeface="Times New Roman" panose="02020603050405020304" pitchFamily="18" charset="0"/>
              </a:rPr>
              <a:pPr/>
              <a:t>49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1941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C439E82-7CDB-4E39-8AB1-334AAD695710}" type="slidenum">
              <a:rPr lang="en-US" sz="1300">
                <a:latin typeface="Times New Roman" panose="02020603050405020304" pitchFamily="18" charset="0"/>
              </a:rPr>
              <a:pPr/>
              <a:t>50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8404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40150E2-6742-45F2-B6C7-F56AFC15DEBF}" type="slidenum">
              <a:rPr lang="en-US" sz="1300">
                <a:latin typeface="Times New Roman" panose="02020603050405020304" pitchFamily="18" charset="0"/>
              </a:rPr>
              <a:pPr/>
              <a:t>51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3993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AEF442D-9511-4F96-9C74-3AD64C2A556B}" type="slidenum">
              <a:rPr lang="en-US" sz="1300">
                <a:latin typeface="Times New Roman" panose="02020603050405020304" pitchFamily="18" charset="0"/>
              </a:rPr>
              <a:pPr/>
              <a:t>53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9346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6FC310B-3E4C-44E7-A84B-ADC5729D986B}" type="slidenum">
              <a:rPr lang="en-US" sz="1300">
                <a:latin typeface="Times New Roman" panose="02020603050405020304" pitchFamily="18" charset="0"/>
              </a:rPr>
              <a:pPr/>
              <a:t>54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4371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5F43D44-BDCA-41E4-BF4B-B20E185AA32E}" type="slidenum">
              <a:rPr lang="en-US" sz="1300">
                <a:latin typeface="Times New Roman" panose="02020603050405020304" pitchFamily="18" charset="0"/>
              </a:rPr>
              <a:pPr/>
              <a:t>55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31802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74C48FB-B876-4FED-A711-E5B6511F9C11}" type="slidenum">
              <a:rPr lang="en-US" sz="1300">
                <a:latin typeface="Times New Roman" panose="02020603050405020304" pitchFamily="18" charset="0"/>
              </a:rPr>
              <a:pPr/>
              <a:t>56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2730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396A4C4-94D1-4CC4-9ECF-160951E98516}" type="slidenum">
              <a:rPr lang="en-US" sz="1300">
                <a:latin typeface="Times New Roman" panose="02020603050405020304" pitchFamily="18" charset="0"/>
              </a:rPr>
              <a:pPr/>
              <a:t>57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285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96DA924-20D5-4B6D-B0F7-52014056204B}" type="slidenum">
              <a:rPr lang="en-US" sz="1300">
                <a:latin typeface="Times New Roman" panose="02020603050405020304" pitchFamily="18" charset="0"/>
              </a:rPr>
              <a:pPr/>
              <a:t>58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6253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2A4C9D3-E831-400B-A8CC-5554B4B28632}" type="slidenum">
              <a:rPr lang="en-US" sz="1300">
                <a:latin typeface="Times New Roman" panose="02020603050405020304" pitchFamily="18" charset="0"/>
              </a:rPr>
              <a:pPr/>
              <a:t>59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5076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A0AF693-108B-490F-8C7D-0713F5838524}" type="slidenum">
              <a:rPr lang="en-US" sz="1300">
                <a:latin typeface="Times New Roman" panose="02020603050405020304" pitchFamily="18" charset="0"/>
              </a:rPr>
              <a:pPr/>
              <a:t>60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3840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8DE0E4B-D84A-41E2-B65F-31D60122956D}" type="slidenum">
              <a:rPr lang="en-US" sz="1300">
                <a:latin typeface="Times New Roman" panose="02020603050405020304" pitchFamily="18" charset="0"/>
              </a:rPr>
              <a:pPr/>
              <a:t>61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6365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0B9369B-0A7E-4CC8-9B76-CF0C79ED8EFD}" type="slidenum">
              <a:rPr lang="en-US" sz="1300">
                <a:latin typeface="Times New Roman" panose="02020603050405020304" pitchFamily="18" charset="0"/>
              </a:rPr>
              <a:pPr/>
              <a:t>62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1805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5339774-833C-43E2-9786-9D3A48EC47FA}" type="slidenum">
              <a:rPr lang="en-US" sz="1300">
                <a:latin typeface="Times New Roman" panose="02020603050405020304" pitchFamily="18" charset="0"/>
              </a:rPr>
              <a:pPr/>
              <a:t>63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270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64CF4C9-766A-4192-9AF8-F6C66C234B04}" type="slidenum">
              <a:rPr lang="en-US" sz="1300">
                <a:latin typeface="Times New Roman" panose="02020603050405020304" pitchFamily="18" charset="0"/>
              </a:rPr>
              <a:pPr/>
              <a:t>64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7346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DBF827F-FFEE-4BFD-927E-EDAE00C27C0C}" type="slidenum">
              <a:rPr lang="en-US" sz="1300">
                <a:latin typeface="Times New Roman" panose="02020603050405020304" pitchFamily="18" charset="0"/>
              </a:rPr>
              <a:pPr/>
              <a:t>65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8186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1508A25-F79A-4933-8E77-67153EA4A93A}" type="slidenum">
              <a:rPr lang="en-US" sz="1300">
                <a:latin typeface="Times New Roman" panose="02020603050405020304" pitchFamily="18" charset="0"/>
              </a:rPr>
              <a:pPr/>
              <a:t>66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354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1ED8885-0BA9-45B2-95DC-E459282422DE}" type="slidenum">
              <a:rPr lang="en-US" sz="1300">
                <a:latin typeface="Times New Roman" panose="02020603050405020304" pitchFamily="18" charset="0"/>
              </a:rPr>
              <a:pPr/>
              <a:t>67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8706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23AD146-A3E7-4563-BA46-E9D3F69E3CA1}" type="slidenum">
              <a:rPr lang="en-US" sz="1300">
                <a:latin typeface="Times New Roman" panose="02020603050405020304" pitchFamily="18" charset="0"/>
              </a:rPr>
              <a:pPr/>
              <a:t>68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4360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C532F77-085B-46BF-99F0-218B116A11C2}" type="slidenum">
              <a:rPr lang="en-US" sz="1300">
                <a:latin typeface="Times New Roman" panose="02020603050405020304" pitchFamily="18" charset="0"/>
              </a:rPr>
              <a:pPr/>
              <a:t>69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6226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E9D6E61-FC14-466A-8643-C5FAC7147BA2}" type="slidenum">
              <a:rPr lang="en-US" sz="1300">
                <a:latin typeface="Times New Roman" panose="02020603050405020304" pitchFamily="18" charset="0"/>
              </a:rPr>
              <a:pPr/>
              <a:t>70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7218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478F543-4B29-42D5-AFDA-45D0793987E3}" type="slidenum">
              <a:rPr lang="en-US" sz="1300">
                <a:latin typeface="Times New Roman" panose="02020603050405020304" pitchFamily="18" charset="0"/>
              </a:rPr>
              <a:pPr/>
              <a:t>71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5557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6AB3A8C-6257-4315-8636-8F67DDB53187}" type="slidenum">
              <a:rPr lang="en-US" sz="1300">
                <a:latin typeface="Times New Roman" panose="02020603050405020304" pitchFamily="18" charset="0"/>
              </a:rPr>
              <a:pPr/>
              <a:t>72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54121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A50F7B-FB39-4D34-B2EA-2CD151B448FB}" type="slidenum">
              <a:rPr lang="en-US" sz="1300">
                <a:latin typeface="Times New Roman" panose="02020603050405020304" pitchFamily="18" charset="0"/>
              </a:rPr>
              <a:pPr/>
              <a:t>73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10565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4047B7E-283C-403E-B562-B2DA6045EB2C}" type="slidenum">
              <a:rPr lang="en-US" sz="1300">
                <a:latin typeface="Times New Roman" panose="02020603050405020304" pitchFamily="18" charset="0"/>
              </a:rPr>
              <a:pPr/>
              <a:t>74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73408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0741460-3500-4DE5-AE5E-8E418A97A466}" type="slidenum">
              <a:rPr lang="en-US" sz="1300">
                <a:latin typeface="Times New Roman" panose="02020603050405020304" pitchFamily="18" charset="0"/>
              </a:rPr>
              <a:pPr/>
              <a:t>75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45782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0243D96-DF5C-4B58-A5C7-2ED06224E935}" type="slidenum">
              <a:rPr lang="en-US" sz="1300">
                <a:latin typeface="Times New Roman" panose="02020603050405020304" pitchFamily="18" charset="0"/>
              </a:rPr>
              <a:pPr/>
              <a:t>76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52464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469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5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3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72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3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8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07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29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74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3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15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0637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87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88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66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3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5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CB53C0A-0EC3-430E-A901-113F83DD93C5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B87F-0BFA-4F00-971A-04F7A5DA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31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1.bin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09182"/>
            <a:ext cx="8825658" cy="1119117"/>
          </a:xfrm>
        </p:spPr>
        <p:txBody>
          <a:bodyPr/>
          <a:lstStyle/>
          <a:p>
            <a:pPr algn="ctr"/>
            <a:r>
              <a:rPr lang="en-US" dirty="0" smtClean="0"/>
              <a:t>Module 4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48" y="1651380"/>
            <a:ext cx="9799093" cy="446281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6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81" y="1160060"/>
            <a:ext cx="11423175" cy="5088339"/>
          </a:xfrm>
        </p:spPr>
        <p:txBody>
          <a:bodyPr/>
          <a:lstStyle/>
          <a:p>
            <a:r>
              <a:rPr lang="en-US" dirty="0"/>
              <a:t>Program must be brought (from disk)  into memory and placed within a process for it to be run</a:t>
            </a:r>
          </a:p>
          <a:p>
            <a:r>
              <a:rPr lang="en-US" dirty="0"/>
              <a:t>Main memory and registers are only storage CPU can access directly</a:t>
            </a:r>
          </a:p>
          <a:p>
            <a:r>
              <a:rPr lang="en-US" dirty="0"/>
              <a:t>Register access in one CPU clock (or less)</a:t>
            </a:r>
          </a:p>
          <a:p>
            <a:r>
              <a:rPr lang="en-US" dirty="0"/>
              <a:t>Main memory can take many cycles</a:t>
            </a:r>
          </a:p>
          <a:p>
            <a:r>
              <a:rPr lang="en-US" b="1" dirty="0"/>
              <a:t>Cache</a:t>
            </a:r>
            <a:r>
              <a:rPr lang="en-US" dirty="0"/>
              <a:t> sits between main memory and CPU registers</a:t>
            </a:r>
          </a:p>
          <a:p>
            <a:r>
              <a:rPr lang="en-US" dirty="0"/>
              <a:t>Protection of memory required to ensure correct operation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33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0376" y="277813"/>
            <a:ext cx="8898412" cy="576262"/>
          </a:xfrm>
        </p:spPr>
        <p:txBody>
          <a:bodyPr/>
          <a:lstStyle/>
          <a:p>
            <a:pPr eaLnBrk="1" hangingPunct="1"/>
            <a:r>
              <a:rPr lang="en-US" b="1" dirty="0" smtClean="0"/>
              <a:t>Base and Limit Registers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50377" y="1239838"/>
            <a:ext cx="9187338" cy="5051780"/>
          </a:xfrm>
        </p:spPr>
        <p:txBody>
          <a:bodyPr/>
          <a:lstStyle/>
          <a:p>
            <a:r>
              <a:rPr lang="en-US" dirty="0" smtClean="0"/>
              <a:t>A pair of </a:t>
            </a:r>
            <a:r>
              <a:rPr lang="en-US" b="1" dirty="0" smtClean="0"/>
              <a:t>base</a:t>
            </a:r>
            <a:r>
              <a:rPr lang="en-US" dirty="0" smtClean="0"/>
              <a:t> and</a:t>
            </a:r>
            <a:r>
              <a:rPr lang="en-US" b="1" dirty="0" smtClean="0"/>
              <a:t> limit</a:t>
            </a:r>
            <a:r>
              <a:rPr lang="en-US" dirty="0" smtClean="0"/>
              <a:t> registers define the logical address space</a:t>
            </a:r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797" y="1782147"/>
            <a:ext cx="3600450" cy="396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23081" y="307975"/>
            <a:ext cx="10244919" cy="457200"/>
          </a:xfrm>
        </p:spPr>
        <p:txBody>
          <a:bodyPr/>
          <a:lstStyle/>
          <a:p>
            <a:pPr eaLnBrk="1" hangingPunct="1"/>
            <a:r>
              <a:rPr lang="en-US" sz="2800" b="1" dirty="0"/>
              <a:t>Binding of Instructions and Data to Memory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545911" y="1098880"/>
            <a:ext cx="6837528" cy="5759119"/>
          </a:xfrm>
        </p:spPr>
        <p:txBody>
          <a:bodyPr>
            <a:normAutofit/>
          </a:bodyPr>
          <a:lstStyle/>
          <a:p>
            <a:pPr>
              <a:buFont typeface="Monotype Sorts" charset="2"/>
              <a:buNone/>
            </a:pPr>
            <a:endParaRPr lang="en-US" dirty="0" smtClean="0"/>
          </a:p>
          <a:p>
            <a:r>
              <a:rPr kumimoji="0" lang="en-US" dirty="0" smtClean="0"/>
              <a:t>Address binding of instructions and data to memory addresses can happen at three different stages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Compile time</a:t>
            </a:r>
            <a:r>
              <a:rPr lang="en-US" dirty="0" smtClean="0">
                <a:ea typeface="ＭＳ Ｐゴシック" panose="020B0600070205080204" pitchFamily="34" charset="-128"/>
              </a:rPr>
              <a:t>:  If memory location known a priori, </a:t>
            </a:r>
            <a:r>
              <a:rPr lang="en-US" b="1" dirty="0" smtClean="0">
                <a:ea typeface="ＭＳ Ｐゴシック" panose="020B0600070205080204" pitchFamily="34" charset="-128"/>
              </a:rPr>
              <a:t>absolute code</a:t>
            </a:r>
            <a:r>
              <a:rPr lang="en-US" dirty="0" smtClean="0">
                <a:ea typeface="ＭＳ Ｐゴシック" panose="020B0600070205080204" pitchFamily="34" charset="-128"/>
              </a:rPr>
              <a:t> can be generated; must recompile code if starting location changes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Load time</a:t>
            </a:r>
            <a:r>
              <a:rPr lang="en-US" dirty="0" smtClean="0">
                <a:ea typeface="ＭＳ Ｐゴシック" panose="020B0600070205080204" pitchFamily="34" charset="-128"/>
              </a:rPr>
              <a:t>:  Must generate </a:t>
            </a:r>
            <a:r>
              <a:rPr lang="en-US" b="1" dirty="0" err="1" smtClean="0">
                <a:ea typeface="ＭＳ Ｐゴシック" panose="020B0600070205080204" pitchFamily="34" charset="-128"/>
              </a:rPr>
              <a:t>relocatable</a:t>
            </a:r>
            <a:r>
              <a:rPr lang="en-US" b="1" dirty="0" smtClean="0">
                <a:ea typeface="ＭＳ Ｐゴシック" panose="020B0600070205080204" pitchFamily="34" charset="-128"/>
              </a:rPr>
              <a:t> code</a:t>
            </a:r>
            <a:r>
              <a:rPr lang="en-US" dirty="0" smtClean="0">
                <a:ea typeface="ＭＳ Ｐゴシック" panose="020B0600070205080204" pitchFamily="34" charset="-128"/>
              </a:rPr>
              <a:t> if memory location is not known at compile time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Execution time</a:t>
            </a:r>
            <a:r>
              <a:rPr lang="en-US" dirty="0" smtClean="0">
                <a:ea typeface="ＭＳ Ｐゴシック" panose="020B0600070205080204" pitchFamily="34" charset="-128"/>
              </a:rPr>
              <a:t>:  Binding delayed until run time if the process can be moved during its execution from one memory segment to another.  Need hardware support for address maps (e.g., base and limit</a:t>
            </a:r>
            <a:r>
              <a:rPr lang="en-US" i="1" dirty="0" smtClean="0">
                <a:ea typeface="ＭＳ Ｐゴシック" panose="020B0600070205080204" pitchFamily="34" charset="-128"/>
              </a:rPr>
              <a:t> </a:t>
            </a:r>
            <a:r>
              <a:rPr lang="en-US" dirty="0" smtClean="0">
                <a:ea typeface="ＭＳ Ｐゴシック" panose="020B0600070205080204" pitchFamily="34" charset="-128"/>
              </a:rPr>
              <a:t>registers)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281" y="1098881"/>
            <a:ext cx="3138985" cy="4951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224280" y="6269658"/>
            <a:ext cx="4540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Multistep Processing of a User Program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720989"/>
          </a:xfrm>
        </p:spPr>
        <p:txBody>
          <a:bodyPr/>
          <a:lstStyle/>
          <a:p>
            <a:pPr eaLnBrk="1" hangingPunct="1"/>
            <a:r>
              <a:rPr lang="en-US" b="1" dirty="0" smtClean="0"/>
              <a:t>Logical vs. Physical Address Space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1350655"/>
            <a:ext cx="11295680" cy="4468813"/>
          </a:xfrm>
        </p:spPr>
        <p:txBody>
          <a:bodyPr/>
          <a:lstStyle/>
          <a:p>
            <a:r>
              <a:rPr lang="en-US" dirty="0" smtClean="0"/>
              <a:t>The concept of a logical address space that is bound to a separate </a:t>
            </a:r>
            <a:r>
              <a:rPr lang="en-US" b="1" dirty="0" smtClean="0"/>
              <a:t>physical address space</a:t>
            </a:r>
            <a:r>
              <a:rPr lang="en-US" dirty="0" smtClean="0"/>
              <a:t> is central to proper memory management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Logical address</a:t>
            </a:r>
            <a:r>
              <a:rPr lang="en-US" dirty="0" smtClean="0">
                <a:ea typeface="ＭＳ Ｐゴシック" panose="020B0600070205080204" pitchFamily="34" charset="-128"/>
              </a:rPr>
              <a:t> – generated by the CPU; also referred to as </a:t>
            </a:r>
            <a:r>
              <a:rPr lang="en-US" b="1" dirty="0" smtClean="0">
                <a:ea typeface="ＭＳ Ｐゴシック" panose="020B0600070205080204" pitchFamily="34" charset="-128"/>
              </a:rPr>
              <a:t>virtual address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Physical address</a:t>
            </a:r>
            <a:r>
              <a:rPr lang="en-US" dirty="0" smtClean="0">
                <a:ea typeface="ＭＳ Ｐゴシック" panose="020B0600070205080204" pitchFamily="34" charset="-128"/>
              </a:rPr>
              <a:t> – address seen by the memory unit</a:t>
            </a:r>
          </a:p>
          <a:p>
            <a:r>
              <a:rPr lang="en-US" dirty="0" smtClean="0"/>
              <a:t>Logical and physical addresses are the same in compile-time and load-time address-binding schemes; logical (virtual) and physical addresses differ in execution-time address-binding scheme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761933"/>
          </a:xfrm>
        </p:spPr>
        <p:txBody>
          <a:bodyPr/>
          <a:lstStyle/>
          <a:p>
            <a:pPr eaLnBrk="1" hangingPunct="1"/>
            <a:r>
              <a:rPr lang="en-US" b="1" dirty="0" smtClean="0"/>
              <a:t>Memory-Management Unit (</a:t>
            </a:r>
            <a:r>
              <a:rPr lang="en-US" sz="2400" b="1" dirty="0"/>
              <a:t>MMU</a:t>
            </a:r>
            <a:r>
              <a:rPr lang="en-US" b="1" dirty="0" smtClean="0"/>
              <a:t>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1377950"/>
            <a:ext cx="11227441" cy="4483100"/>
          </a:xfrm>
        </p:spPr>
        <p:txBody>
          <a:bodyPr/>
          <a:lstStyle/>
          <a:p>
            <a:r>
              <a:rPr lang="en-US" dirty="0" smtClean="0"/>
              <a:t>Hardware device that maps virtual to physical address</a:t>
            </a:r>
          </a:p>
          <a:p>
            <a:r>
              <a:rPr lang="en-US" dirty="0" smtClean="0"/>
              <a:t>In MMU scheme, the value in the relocation register is added to every address generated by a user process at the time it is sent to memory</a:t>
            </a:r>
          </a:p>
          <a:p>
            <a:r>
              <a:rPr lang="en-US" dirty="0" smtClean="0"/>
              <a:t>The user program deals with </a:t>
            </a:r>
            <a:r>
              <a:rPr lang="en-US" i="1" dirty="0" smtClean="0"/>
              <a:t>logical</a:t>
            </a:r>
            <a:r>
              <a:rPr lang="en-US" dirty="0" smtClean="0"/>
              <a:t> addresses; it never sees the </a:t>
            </a:r>
            <a:r>
              <a:rPr lang="en-US" i="1" dirty="0" smtClean="0"/>
              <a:t>real</a:t>
            </a:r>
            <a:r>
              <a:rPr lang="en-US" dirty="0" smtClean="0"/>
              <a:t> physical addresses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337" y="2961564"/>
            <a:ext cx="4767359" cy="3255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43863" y="6356024"/>
            <a:ext cx="5330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Dynamic relocation using a relocation register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707342"/>
          </a:xfrm>
        </p:spPr>
        <p:txBody>
          <a:bodyPr/>
          <a:lstStyle/>
          <a:p>
            <a:pPr eaLnBrk="1" hangingPunct="1"/>
            <a:r>
              <a:rPr lang="en-US" b="1" dirty="0" smtClean="0"/>
              <a:t>Dynamic Loading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1377950"/>
            <a:ext cx="11545889" cy="4483100"/>
          </a:xfrm>
        </p:spPr>
        <p:txBody>
          <a:bodyPr/>
          <a:lstStyle/>
          <a:p>
            <a:r>
              <a:rPr lang="en-US" dirty="0" smtClean="0"/>
              <a:t>Routine is not loaded until it is called</a:t>
            </a:r>
          </a:p>
          <a:p>
            <a:r>
              <a:rPr lang="en-US" dirty="0" smtClean="0"/>
              <a:t>Better memory-space utilization; unused routine is never loaded</a:t>
            </a:r>
          </a:p>
          <a:p>
            <a:r>
              <a:rPr lang="en-US" dirty="0" smtClean="0"/>
              <a:t>Useful when large amounts of code are needed to handle infrequently occurring cases</a:t>
            </a:r>
          </a:p>
          <a:p>
            <a:r>
              <a:rPr lang="en-US" dirty="0" smtClean="0"/>
              <a:t>No special support from the operating system is required implemented through program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41195" y="452718"/>
            <a:ext cx="9709640" cy="816524"/>
          </a:xfrm>
        </p:spPr>
        <p:txBody>
          <a:bodyPr/>
          <a:lstStyle/>
          <a:p>
            <a:pPr eaLnBrk="1" hangingPunct="1"/>
            <a:r>
              <a:rPr lang="en-US" b="1" dirty="0" smtClean="0"/>
              <a:t>Dynamic Linking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41194" y="1377951"/>
            <a:ext cx="11505063" cy="4341813"/>
          </a:xfrm>
        </p:spPr>
        <p:txBody>
          <a:bodyPr/>
          <a:lstStyle/>
          <a:p>
            <a:r>
              <a:rPr lang="en-US" dirty="0" smtClean="0"/>
              <a:t>Linking postponed until execution time</a:t>
            </a:r>
          </a:p>
          <a:p>
            <a:r>
              <a:rPr lang="en-US" dirty="0" smtClean="0"/>
              <a:t>Small piece of code, </a:t>
            </a:r>
            <a:r>
              <a:rPr lang="en-US" i="1" dirty="0" smtClean="0"/>
              <a:t>stub</a:t>
            </a:r>
            <a:r>
              <a:rPr lang="en-US" dirty="0" smtClean="0"/>
              <a:t>, used to locate the appropriate memory-resident library routine</a:t>
            </a:r>
          </a:p>
          <a:p>
            <a:r>
              <a:rPr lang="en-US" dirty="0" smtClean="0"/>
              <a:t>Stub replaces itself with the address of the routine, and executes the routine</a:t>
            </a:r>
          </a:p>
          <a:p>
            <a:r>
              <a:rPr lang="en-US" dirty="0" smtClean="0"/>
              <a:t>Operating system needed to check if routine is in processes’ memory address</a:t>
            </a:r>
          </a:p>
          <a:p>
            <a:r>
              <a:rPr lang="en-US" dirty="0" smtClean="0"/>
              <a:t>Dynamic linking is particularly useful for libraries</a:t>
            </a:r>
          </a:p>
          <a:p>
            <a:r>
              <a:rPr lang="en-US" dirty="0" smtClean="0"/>
              <a:t>System also known as </a:t>
            </a:r>
            <a:r>
              <a:rPr lang="en-US" b="1" dirty="0" smtClean="0"/>
              <a:t>shared libraries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63772" y="0"/>
            <a:ext cx="9777879" cy="846161"/>
          </a:xfrm>
        </p:spPr>
        <p:txBody>
          <a:bodyPr/>
          <a:lstStyle/>
          <a:p>
            <a:pPr eaLnBrk="1" hangingPunct="1"/>
            <a:r>
              <a:rPr lang="en-US" b="1" dirty="0" smtClean="0"/>
              <a:t>Swapping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63772" y="846161"/>
            <a:ext cx="7656395" cy="614149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A process can be swapped temporarily out of memory to a backing store, and then brought back into memory for continued execution</a:t>
            </a:r>
            <a:br>
              <a:rPr lang="en-US" dirty="0"/>
            </a:br>
            <a:endParaRPr lang="en-US" dirty="0"/>
          </a:p>
          <a:p>
            <a:pPr>
              <a:lnSpc>
                <a:spcPct val="80000"/>
              </a:lnSpc>
            </a:pPr>
            <a:r>
              <a:rPr lang="en-US" b="1" dirty="0"/>
              <a:t>Backing store</a:t>
            </a:r>
            <a:r>
              <a:rPr lang="en-US" dirty="0"/>
              <a:t> – fast disk large enough to accommodate copies of all memory images for all users; must provide direct access to these memory images</a:t>
            </a:r>
            <a:br>
              <a:rPr lang="en-US" dirty="0"/>
            </a:br>
            <a:endParaRPr lang="en-US" dirty="0"/>
          </a:p>
          <a:p>
            <a:pPr>
              <a:lnSpc>
                <a:spcPct val="80000"/>
              </a:lnSpc>
            </a:pPr>
            <a:r>
              <a:rPr lang="en-US" b="1" dirty="0"/>
              <a:t>Roll out, roll in</a:t>
            </a:r>
            <a:r>
              <a:rPr lang="en-US" dirty="0"/>
              <a:t> – swapping variant used for priority-based scheduling algorithms; lower-priority process is swapped out so higher-priority process can be loaded and executed</a:t>
            </a:r>
            <a:br>
              <a:rPr lang="en-US" dirty="0"/>
            </a:b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Major part of swap time is transfer time; total transfer time is directly proportional to the amount of memory swapped</a:t>
            </a:r>
            <a:br>
              <a:rPr lang="en-US" dirty="0"/>
            </a:b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Modified versions of swapping are found on many systems (i.e., UNIX, Linux, and Windows)</a:t>
            </a:r>
          </a:p>
          <a:p>
            <a:pPr>
              <a:lnSpc>
                <a:spcPct val="80000"/>
              </a:lnSpc>
            </a:pPr>
            <a:r>
              <a:rPr lang="en-US" dirty="0"/>
              <a:t>System maintains a </a:t>
            </a:r>
            <a:r>
              <a:rPr lang="en-US" b="1" dirty="0"/>
              <a:t>ready queue</a:t>
            </a:r>
            <a:r>
              <a:rPr lang="en-US" dirty="0"/>
              <a:t> of ready-to-run processes which have memory images on disk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248" y="1201453"/>
            <a:ext cx="4100805" cy="453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8203033" y="5910741"/>
            <a:ext cx="3477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Schematic View of Swapping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36979"/>
          </a:xfrm>
        </p:spPr>
        <p:txBody>
          <a:bodyPr/>
          <a:lstStyle/>
          <a:p>
            <a:pPr eaLnBrk="1" hangingPunct="1"/>
            <a:r>
              <a:rPr lang="en-US" b="1" dirty="0" smtClean="0"/>
              <a:t>Contiguous Allocation</a:t>
            </a:r>
          </a:p>
        </p:txBody>
      </p:sp>
      <p:sp>
        <p:nvSpPr>
          <p:cNvPr id="44035" name="Rectangle 1027"/>
          <p:cNvSpPr>
            <a:spLocks noGrp="1" noChangeArrowheads="1"/>
          </p:cNvSpPr>
          <p:nvPr>
            <p:ph idx="1"/>
          </p:nvPr>
        </p:nvSpPr>
        <p:spPr>
          <a:xfrm>
            <a:off x="95534" y="736979"/>
            <a:ext cx="11941791" cy="5152647"/>
          </a:xfrm>
        </p:spPr>
        <p:txBody>
          <a:bodyPr>
            <a:normAutofit/>
          </a:bodyPr>
          <a:lstStyle/>
          <a:p>
            <a:r>
              <a:rPr lang="en-US" dirty="0" smtClean="0"/>
              <a:t>Main memory usually into two partitions: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Resident operating system, usually held in low memory with interrupt vector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User processes then held in high memory</a:t>
            </a:r>
            <a:br>
              <a:rPr lang="en-US" dirty="0" smtClean="0">
                <a:ea typeface="ＭＳ Ｐゴシック" panose="020B0600070205080204" pitchFamily="34" charset="-128"/>
              </a:rPr>
            </a:br>
            <a:endParaRPr lang="en-US" dirty="0" smtClean="0">
              <a:ea typeface="ＭＳ Ｐゴシック" panose="020B0600070205080204" pitchFamily="34" charset="-128"/>
            </a:endParaRPr>
          </a:p>
          <a:p>
            <a:r>
              <a:rPr lang="en-US" dirty="0" smtClean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Base register contains value of smallest physical address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Limit register contains range of logical addresses – each logical address must be less than the limit register 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MMU maps logical address </a:t>
            </a:r>
            <a:r>
              <a:rPr lang="en-US" i="1" dirty="0" smtClean="0">
                <a:ea typeface="ＭＳ Ｐゴシック" panose="020B0600070205080204" pitchFamily="34" charset="-128"/>
              </a:rPr>
              <a:t>dynamically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424113" y="277813"/>
            <a:ext cx="8229600" cy="576262"/>
          </a:xfrm>
        </p:spPr>
        <p:txBody>
          <a:bodyPr/>
          <a:lstStyle/>
          <a:p>
            <a:pPr eaLnBrk="1" hangingPunct="1"/>
            <a:r>
              <a:rPr lang="en-US" sz="2400"/>
              <a:t>Hardware Support for Relocation and Limit Registers</a:t>
            </a:r>
          </a:p>
        </p:txBody>
      </p:sp>
      <p:pic>
        <p:nvPicPr>
          <p:cNvPr id="46084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451" y="1858963"/>
            <a:ext cx="6437313" cy="319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755372"/>
          </a:xfrm>
        </p:spPr>
        <p:txBody>
          <a:bodyPr/>
          <a:lstStyle/>
          <a:p>
            <a:pPr eaLnBrk="1" hangingPunct="1"/>
            <a:r>
              <a:rPr lang="en-US" b="1" dirty="0" smtClean="0"/>
              <a:t>Contiguous Allocation (</a:t>
            </a:r>
            <a:r>
              <a:rPr lang="en-US" b="1" dirty="0" err="1" smtClean="0"/>
              <a:t>Cont</a:t>
            </a:r>
            <a:r>
              <a:rPr lang="en-US" b="1" dirty="0" smtClean="0"/>
              <a:t>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1335089"/>
            <a:ext cx="11309328" cy="2605087"/>
          </a:xfrm>
        </p:spPr>
        <p:txBody>
          <a:bodyPr/>
          <a:lstStyle/>
          <a:p>
            <a:r>
              <a:rPr lang="en-US" dirty="0" smtClean="0"/>
              <a:t>Multiple-partition allocation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Hole – block of available memory; holes of various size are scattered throughout memory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When a process arrives, it is allocated memory from a hole large enough to accommodate it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Operating system maintains information about:</a:t>
            </a:r>
            <a:br>
              <a:rPr lang="en-US" dirty="0" smtClean="0">
                <a:ea typeface="ＭＳ Ｐゴシック" panose="020B0600070205080204" pitchFamily="34" charset="-128"/>
              </a:rPr>
            </a:br>
            <a:r>
              <a:rPr lang="en-US" dirty="0" smtClean="0">
                <a:ea typeface="ＭＳ Ｐゴシック" panose="020B0600070205080204" pitchFamily="34" charset="-128"/>
              </a:rPr>
              <a:t>a) allocated partitions    b) free partitions (hole)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26289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33" name="Line 5"/>
          <p:cNvSpPr>
            <a:spLocks noChangeShapeType="1"/>
          </p:cNvSpPr>
          <p:nvPr/>
        </p:nvSpPr>
        <p:spPr bwMode="auto">
          <a:xfrm>
            <a:off x="26289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4" name="Line 6"/>
          <p:cNvSpPr>
            <a:spLocks noChangeShapeType="1"/>
          </p:cNvSpPr>
          <p:nvPr/>
        </p:nvSpPr>
        <p:spPr bwMode="auto">
          <a:xfrm>
            <a:off x="26289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5" name="Line 7"/>
          <p:cNvSpPr>
            <a:spLocks noChangeShapeType="1"/>
          </p:cNvSpPr>
          <p:nvPr/>
        </p:nvSpPr>
        <p:spPr bwMode="auto">
          <a:xfrm>
            <a:off x="26289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2933701" y="4067175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OS</a:t>
            </a: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2628900" y="45116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5</a:t>
            </a:r>
          </a:p>
        </p:txBody>
      </p:sp>
      <p:sp>
        <p:nvSpPr>
          <p:cNvPr id="48138" name="Text Box 10"/>
          <p:cNvSpPr txBox="1">
            <a:spLocks noChangeArrowheads="1"/>
          </p:cNvSpPr>
          <p:nvPr/>
        </p:nvSpPr>
        <p:spPr bwMode="auto">
          <a:xfrm>
            <a:off x="2628900" y="51943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8</a:t>
            </a:r>
          </a:p>
        </p:txBody>
      </p:sp>
      <p:sp>
        <p:nvSpPr>
          <p:cNvPr id="48139" name="Text Box 11"/>
          <p:cNvSpPr txBox="1">
            <a:spLocks noChangeArrowheads="1"/>
          </p:cNvSpPr>
          <p:nvPr/>
        </p:nvSpPr>
        <p:spPr bwMode="auto">
          <a:xfrm>
            <a:off x="2628900" y="5791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2</a:t>
            </a:r>
          </a:p>
        </p:txBody>
      </p:sp>
      <p:sp>
        <p:nvSpPr>
          <p:cNvPr id="48140" name="Rectangle 14"/>
          <p:cNvSpPr>
            <a:spLocks noChangeArrowheads="1"/>
          </p:cNvSpPr>
          <p:nvPr/>
        </p:nvSpPr>
        <p:spPr bwMode="auto">
          <a:xfrm>
            <a:off x="44577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41" name="Line 15"/>
          <p:cNvSpPr>
            <a:spLocks noChangeShapeType="1"/>
          </p:cNvSpPr>
          <p:nvPr/>
        </p:nvSpPr>
        <p:spPr bwMode="auto">
          <a:xfrm>
            <a:off x="44577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2" name="Line 16"/>
          <p:cNvSpPr>
            <a:spLocks noChangeShapeType="1"/>
          </p:cNvSpPr>
          <p:nvPr/>
        </p:nvSpPr>
        <p:spPr bwMode="auto">
          <a:xfrm>
            <a:off x="44577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3" name="Line 17"/>
          <p:cNvSpPr>
            <a:spLocks noChangeShapeType="1"/>
          </p:cNvSpPr>
          <p:nvPr/>
        </p:nvSpPr>
        <p:spPr bwMode="auto">
          <a:xfrm>
            <a:off x="44577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4" name="Text Box 18"/>
          <p:cNvSpPr txBox="1">
            <a:spLocks noChangeArrowheads="1"/>
          </p:cNvSpPr>
          <p:nvPr/>
        </p:nvSpPr>
        <p:spPr bwMode="auto">
          <a:xfrm>
            <a:off x="4762501" y="4067175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OS</a:t>
            </a:r>
          </a:p>
        </p:txBody>
      </p:sp>
      <p:sp>
        <p:nvSpPr>
          <p:cNvPr id="48145" name="Text Box 19"/>
          <p:cNvSpPr txBox="1">
            <a:spLocks noChangeArrowheads="1"/>
          </p:cNvSpPr>
          <p:nvPr/>
        </p:nvSpPr>
        <p:spPr bwMode="auto">
          <a:xfrm>
            <a:off x="4457700" y="45116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5</a:t>
            </a:r>
          </a:p>
        </p:txBody>
      </p:sp>
      <p:sp>
        <p:nvSpPr>
          <p:cNvPr id="48146" name="Text Box 21"/>
          <p:cNvSpPr txBox="1">
            <a:spLocks noChangeArrowheads="1"/>
          </p:cNvSpPr>
          <p:nvPr/>
        </p:nvSpPr>
        <p:spPr bwMode="auto">
          <a:xfrm>
            <a:off x="4457700" y="5791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2</a:t>
            </a:r>
          </a:p>
        </p:txBody>
      </p:sp>
      <p:sp>
        <p:nvSpPr>
          <p:cNvPr id="48147" name="Rectangle 23"/>
          <p:cNvSpPr>
            <a:spLocks noChangeArrowheads="1"/>
          </p:cNvSpPr>
          <p:nvPr/>
        </p:nvSpPr>
        <p:spPr bwMode="auto">
          <a:xfrm>
            <a:off x="62865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48" name="Line 24"/>
          <p:cNvSpPr>
            <a:spLocks noChangeShapeType="1"/>
          </p:cNvSpPr>
          <p:nvPr/>
        </p:nvSpPr>
        <p:spPr bwMode="auto">
          <a:xfrm>
            <a:off x="62865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9" name="Line 25"/>
          <p:cNvSpPr>
            <a:spLocks noChangeShapeType="1"/>
          </p:cNvSpPr>
          <p:nvPr/>
        </p:nvSpPr>
        <p:spPr bwMode="auto">
          <a:xfrm>
            <a:off x="62865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0" name="Line 26"/>
          <p:cNvSpPr>
            <a:spLocks noChangeShapeType="1"/>
          </p:cNvSpPr>
          <p:nvPr/>
        </p:nvSpPr>
        <p:spPr bwMode="auto">
          <a:xfrm>
            <a:off x="62865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1" name="Text Box 27"/>
          <p:cNvSpPr txBox="1">
            <a:spLocks noChangeArrowheads="1"/>
          </p:cNvSpPr>
          <p:nvPr/>
        </p:nvSpPr>
        <p:spPr bwMode="auto">
          <a:xfrm>
            <a:off x="6591301" y="4067175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OS</a:t>
            </a:r>
          </a:p>
        </p:txBody>
      </p:sp>
      <p:sp>
        <p:nvSpPr>
          <p:cNvPr id="48152" name="Text Box 28"/>
          <p:cNvSpPr txBox="1">
            <a:spLocks noChangeArrowheads="1"/>
          </p:cNvSpPr>
          <p:nvPr/>
        </p:nvSpPr>
        <p:spPr bwMode="auto">
          <a:xfrm>
            <a:off x="6286500" y="45116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5</a:t>
            </a:r>
          </a:p>
        </p:txBody>
      </p:sp>
      <p:sp>
        <p:nvSpPr>
          <p:cNvPr id="48153" name="Text Box 30"/>
          <p:cNvSpPr txBox="1">
            <a:spLocks noChangeArrowheads="1"/>
          </p:cNvSpPr>
          <p:nvPr/>
        </p:nvSpPr>
        <p:spPr bwMode="auto">
          <a:xfrm>
            <a:off x="6286500" y="5791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2</a:t>
            </a:r>
          </a:p>
        </p:txBody>
      </p:sp>
      <p:sp>
        <p:nvSpPr>
          <p:cNvPr id="48154" name="Rectangle 32"/>
          <p:cNvSpPr>
            <a:spLocks noChangeArrowheads="1"/>
          </p:cNvSpPr>
          <p:nvPr/>
        </p:nvSpPr>
        <p:spPr bwMode="auto">
          <a:xfrm>
            <a:off x="81153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55" name="Line 33"/>
          <p:cNvSpPr>
            <a:spLocks noChangeShapeType="1"/>
          </p:cNvSpPr>
          <p:nvPr/>
        </p:nvSpPr>
        <p:spPr bwMode="auto">
          <a:xfrm>
            <a:off x="81153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6" name="Line 34"/>
          <p:cNvSpPr>
            <a:spLocks noChangeShapeType="1"/>
          </p:cNvSpPr>
          <p:nvPr/>
        </p:nvSpPr>
        <p:spPr bwMode="auto">
          <a:xfrm>
            <a:off x="81153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7" name="Line 35"/>
          <p:cNvSpPr>
            <a:spLocks noChangeShapeType="1"/>
          </p:cNvSpPr>
          <p:nvPr/>
        </p:nvSpPr>
        <p:spPr bwMode="auto">
          <a:xfrm>
            <a:off x="81153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8" name="Text Box 36"/>
          <p:cNvSpPr txBox="1">
            <a:spLocks noChangeArrowheads="1"/>
          </p:cNvSpPr>
          <p:nvPr/>
        </p:nvSpPr>
        <p:spPr bwMode="auto">
          <a:xfrm>
            <a:off x="8420101" y="4067175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OS</a:t>
            </a:r>
          </a:p>
        </p:txBody>
      </p:sp>
      <p:sp>
        <p:nvSpPr>
          <p:cNvPr id="48159" name="Text Box 37"/>
          <p:cNvSpPr txBox="1">
            <a:spLocks noChangeArrowheads="1"/>
          </p:cNvSpPr>
          <p:nvPr/>
        </p:nvSpPr>
        <p:spPr bwMode="auto">
          <a:xfrm>
            <a:off x="8115300" y="45116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5</a:t>
            </a:r>
          </a:p>
        </p:txBody>
      </p:sp>
      <p:sp>
        <p:nvSpPr>
          <p:cNvPr id="48160" name="Text Box 38"/>
          <p:cNvSpPr txBox="1">
            <a:spLocks noChangeArrowheads="1"/>
          </p:cNvSpPr>
          <p:nvPr/>
        </p:nvSpPr>
        <p:spPr bwMode="auto">
          <a:xfrm>
            <a:off x="8115300" y="48291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9</a:t>
            </a:r>
          </a:p>
        </p:txBody>
      </p:sp>
      <p:sp>
        <p:nvSpPr>
          <p:cNvPr id="48161" name="Text Box 39"/>
          <p:cNvSpPr txBox="1">
            <a:spLocks noChangeArrowheads="1"/>
          </p:cNvSpPr>
          <p:nvPr/>
        </p:nvSpPr>
        <p:spPr bwMode="auto">
          <a:xfrm>
            <a:off x="8115300" y="5791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2</a:t>
            </a:r>
          </a:p>
        </p:txBody>
      </p:sp>
      <p:sp>
        <p:nvSpPr>
          <p:cNvPr id="48162" name="Rectangle 41"/>
          <p:cNvSpPr>
            <a:spLocks noChangeArrowheads="1"/>
          </p:cNvSpPr>
          <p:nvPr/>
        </p:nvSpPr>
        <p:spPr bwMode="auto">
          <a:xfrm>
            <a:off x="4457700" y="4829175"/>
            <a:ext cx="1143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63" name="Rectangle 42"/>
          <p:cNvSpPr>
            <a:spLocks noChangeArrowheads="1"/>
          </p:cNvSpPr>
          <p:nvPr/>
        </p:nvSpPr>
        <p:spPr bwMode="auto">
          <a:xfrm>
            <a:off x="6286500" y="5210175"/>
            <a:ext cx="1143000" cy="609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64" name="Text Box 43"/>
          <p:cNvSpPr txBox="1">
            <a:spLocks noChangeArrowheads="1"/>
          </p:cNvSpPr>
          <p:nvPr/>
        </p:nvSpPr>
        <p:spPr bwMode="auto">
          <a:xfrm>
            <a:off x="6286500" y="48291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9</a:t>
            </a:r>
          </a:p>
        </p:txBody>
      </p:sp>
      <p:sp>
        <p:nvSpPr>
          <p:cNvPr id="48165" name="Rectangle 44"/>
          <p:cNvSpPr>
            <a:spLocks noChangeArrowheads="1"/>
          </p:cNvSpPr>
          <p:nvPr/>
        </p:nvSpPr>
        <p:spPr bwMode="auto">
          <a:xfrm>
            <a:off x="8115300" y="5514975"/>
            <a:ext cx="11430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66" name="Line 45"/>
          <p:cNvSpPr>
            <a:spLocks noChangeShapeType="1"/>
          </p:cNvSpPr>
          <p:nvPr/>
        </p:nvSpPr>
        <p:spPr bwMode="auto">
          <a:xfrm>
            <a:off x="8115300" y="51657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67" name="Text Box 46"/>
          <p:cNvSpPr txBox="1">
            <a:spLocks noChangeArrowheads="1"/>
          </p:cNvSpPr>
          <p:nvPr/>
        </p:nvSpPr>
        <p:spPr bwMode="auto">
          <a:xfrm>
            <a:off x="8115300" y="52101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process 10</a:t>
            </a:r>
          </a:p>
        </p:txBody>
      </p:sp>
      <p:sp>
        <p:nvSpPr>
          <p:cNvPr id="48168" name="AutoShape 47"/>
          <p:cNvSpPr>
            <a:spLocks noChangeArrowheads="1"/>
          </p:cNvSpPr>
          <p:nvPr/>
        </p:nvSpPr>
        <p:spPr bwMode="auto">
          <a:xfrm>
            <a:off x="38481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69" name="AutoShape 48"/>
          <p:cNvSpPr>
            <a:spLocks noChangeArrowheads="1"/>
          </p:cNvSpPr>
          <p:nvPr/>
        </p:nvSpPr>
        <p:spPr bwMode="auto">
          <a:xfrm>
            <a:off x="56769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48170" name="AutoShape 49"/>
          <p:cNvSpPr>
            <a:spLocks noChangeArrowheads="1"/>
          </p:cNvSpPr>
          <p:nvPr/>
        </p:nvSpPr>
        <p:spPr bwMode="auto">
          <a:xfrm>
            <a:off x="75057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63773" y="452718"/>
            <a:ext cx="11409528" cy="753752"/>
          </a:xfrm>
        </p:spPr>
        <p:txBody>
          <a:bodyPr/>
          <a:lstStyle/>
          <a:p>
            <a:pPr eaLnBrk="1" hangingPunct="1"/>
            <a:r>
              <a:rPr lang="en-US" b="1" dirty="0" smtClean="0"/>
              <a:t>Dynamic Storage-Allocation Problem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63773" y="1871663"/>
            <a:ext cx="11859905" cy="22923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 smtClean="0"/>
              <a:t>First-fit</a:t>
            </a:r>
            <a:r>
              <a:rPr lang="en-US" dirty="0" smtClean="0"/>
              <a:t>:  Allocate the </a:t>
            </a:r>
            <a:r>
              <a:rPr lang="en-US" i="1" dirty="0" smtClean="0"/>
              <a:t>first</a:t>
            </a:r>
            <a:r>
              <a:rPr lang="en-US" dirty="0" smtClean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b="1" dirty="0" smtClean="0"/>
              <a:t>Best-fit</a:t>
            </a:r>
            <a:r>
              <a:rPr lang="en-US" dirty="0" smtClean="0"/>
              <a:t>:  Allocate the </a:t>
            </a:r>
            <a:r>
              <a:rPr lang="en-US" i="1" dirty="0" smtClean="0"/>
              <a:t>smallest</a:t>
            </a:r>
            <a:r>
              <a:rPr lang="en-US" dirty="0" smtClean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b="1" dirty="0" smtClean="0"/>
              <a:t>Worst-fit</a:t>
            </a:r>
            <a:r>
              <a:rPr lang="en-US" dirty="0" smtClean="0"/>
              <a:t>:  Allocate the </a:t>
            </a:r>
            <a:r>
              <a:rPr lang="en-US" i="1" dirty="0" smtClean="0"/>
              <a:t>largest</a:t>
            </a:r>
            <a:r>
              <a:rPr lang="en-US" dirty="0" smtClean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Produces the largest leftover hole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163773" y="1376333"/>
            <a:ext cx="87237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Helvetica" panose="020B0604020202020204" pitchFamily="34" charset="0"/>
              </a:rPr>
              <a:t>How to satisfy a request of size </a:t>
            </a:r>
            <a:r>
              <a:rPr lang="en-US" sz="2000" i="1" dirty="0">
                <a:latin typeface="Helvetica" panose="020B0604020202020204" pitchFamily="34" charset="0"/>
              </a:rPr>
              <a:t>n</a:t>
            </a:r>
            <a:r>
              <a:rPr lang="en-US" sz="2000" dirty="0">
                <a:latin typeface="Helvetica" panose="020B0604020202020204" pitchFamily="34" charset="0"/>
              </a:rPr>
              <a:t> from a list of free holes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2286001" y="4333876"/>
            <a:ext cx="6530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707342"/>
          </a:xfrm>
        </p:spPr>
        <p:txBody>
          <a:bodyPr/>
          <a:lstStyle/>
          <a:p>
            <a:pPr eaLnBrk="1" hangingPunct="1"/>
            <a:r>
              <a:rPr lang="en-US" b="1" dirty="0" smtClean="0"/>
              <a:t>Fragmentation</a:t>
            </a:r>
          </a:p>
        </p:txBody>
      </p:sp>
      <p:sp>
        <p:nvSpPr>
          <p:cNvPr id="52227" name="Rectangle 1027"/>
          <p:cNvSpPr>
            <a:spLocks noGrp="1" noChangeArrowheads="1"/>
          </p:cNvSpPr>
          <p:nvPr>
            <p:ph idx="1"/>
          </p:nvPr>
        </p:nvSpPr>
        <p:spPr>
          <a:xfrm>
            <a:off x="646111" y="1377950"/>
            <a:ext cx="11309328" cy="5036498"/>
          </a:xfrm>
        </p:spPr>
        <p:txBody>
          <a:bodyPr>
            <a:normAutofit/>
          </a:bodyPr>
          <a:lstStyle/>
          <a:p>
            <a:r>
              <a:rPr lang="en-US" b="1" dirty="0" smtClean="0"/>
              <a:t>External Fragmentation</a:t>
            </a:r>
            <a:r>
              <a:rPr lang="en-US" dirty="0" smtClean="0"/>
              <a:t> – total memory space exists to satisfy a request, but it is not contiguous</a:t>
            </a:r>
          </a:p>
          <a:p>
            <a:r>
              <a:rPr lang="en-US" b="1" dirty="0" smtClean="0"/>
              <a:t>Internal Fragmentation</a:t>
            </a:r>
            <a:r>
              <a:rPr lang="en-US" dirty="0" smtClean="0"/>
              <a:t> – allocated memory may be slightly larger than requested memory; this size difference is memory internal to a partition, but not being used</a:t>
            </a:r>
          </a:p>
          <a:p>
            <a:r>
              <a:rPr lang="en-US" dirty="0" smtClean="0"/>
              <a:t>Reduce external fragmentation by </a:t>
            </a:r>
            <a:r>
              <a:rPr lang="en-US" b="1" dirty="0" smtClean="0"/>
              <a:t>compaction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Shuffle memory contents to place all free memory together in one large block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Compaction is possible </a:t>
            </a:r>
            <a:r>
              <a:rPr lang="en-US" i="1" dirty="0" smtClean="0">
                <a:ea typeface="ＭＳ Ｐゴシック" panose="020B0600070205080204" pitchFamily="34" charset="-128"/>
              </a:rPr>
              <a:t>only</a:t>
            </a:r>
            <a:r>
              <a:rPr lang="en-US" dirty="0" smtClean="0">
                <a:ea typeface="ＭＳ Ｐゴシック" panose="020B0600070205080204" pitchFamily="34" charset="-128"/>
              </a:rPr>
              <a:t> if relocation is dynamic, and is done at execution time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I/O problem</a:t>
            </a:r>
          </a:p>
          <a:p>
            <a:pPr lvl="2"/>
            <a:r>
              <a:rPr lang="en-US" dirty="0" smtClean="0">
                <a:ea typeface="ＭＳ Ｐゴシック" panose="020B0600070205080204" pitchFamily="34" charset="-128"/>
              </a:rPr>
              <a:t>Latch job in memory while it is involved in I/O</a:t>
            </a:r>
          </a:p>
          <a:p>
            <a:pPr lvl="2"/>
            <a:r>
              <a:rPr lang="en-US" dirty="0" smtClean="0">
                <a:ea typeface="ＭＳ Ｐゴシック" panose="020B0600070205080204" pitchFamily="34" charset="-128"/>
              </a:rPr>
              <a:t>Do I/O only into OS buffers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46111" y="1"/>
            <a:ext cx="9404723" cy="777922"/>
          </a:xfrm>
        </p:spPr>
        <p:txBody>
          <a:bodyPr/>
          <a:lstStyle/>
          <a:p>
            <a:pPr eaLnBrk="1" hangingPunct="1"/>
            <a:r>
              <a:rPr lang="en-US" b="1" dirty="0" smtClean="0"/>
              <a:t>Paging</a:t>
            </a:r>
          </a:p>
        </p:txBody>
      </p:sp>
      <p:sp>
        <p:nvSpPr>
          <p:cNvPr id="54275" name="Rectangle 1027"/>
          <p:cNvSpPr>
            <a:spLocks noGrp="1" noChangeArrowheads="1"/>
          </p:cNvSpPr>
          <p:nvPr>
            <p:ph idx="1"/>
          </p:nvPr>
        </p:nvSpPr>
        <p:spPr>
          <a:xfrm>
            <a:off x="646111" y="777923"/>
            <a:ext cx="11282032" cy="5195841"/>
          </a:xfrm>
        </p:spPr>
        <p:txBody>
          <a:bodyPr>
            <a:normAutofit/>
          </a:bodyPr>
          <a:lstStyle/>
          <a:p>
            <a:r>
              <a:rPr lang="en-US" dirty="0" smtClean="0"/>
              <a:t>Logical address space of a process can be noncontiguous; process is allocated physical memory whenever the latter is available</a:t>
            </a:r>
          </a:p>
          <a:p>
            <a:r>
              <a:rPr lang="en-US" dirty="0" smtClean="0"/>
              <a:t>Divide physical memory into fixed-sized blocks called </a:t>
            </a:r>
            <a:r>
              <a:rPr lang="en-US" b="1" dirty="0" smtClean="0"/>
              <a:t>frames</a:t>
            </a:r>
            <a:r>
              <a:rPr lang="en-US" dirty="0" smtClean="0"/>
              <a:t> (size is power of 2, between 512 bytes and 8,192 bytes)</a:t>
            </a:r>
          </a:p>
          <a:p>
            <a:r>
              <a:rPr lang="en-US" dirty="0" smtClean="0"/>
              <a:t>Divide logical memory into blocks of same size called </a:t>
            </a:r>
            <a:r>
              <a:rPr lang="en-US" b="1" dirty="0" smtClean="0"/>
              <a:t>pages</a:t>
            </a:r>
            <a:endParaRPr lang="en-US" dirty="0" smtClean="0"/>
          </a:p>
          <a:p>
            <a:r>
              <a:rPr lang="en-US" dirty="0" smtClean="0"/>
              <a:t>Keep track of all free frames</a:t>
            </a:r>
          </a:p>
          <a:p>
            <a:r>
              <a:rPr lang="en-US" dirty="0" smtClean="0"/>
              <a:t>To run a program of size </a:t>
            </a:r>
            <a:r>
              <a:rPr lang="en-US" b="1" i="1" dirty="0" smtClean="0"/>
              <a:t>n</a:t>
            </a:r>
            <a:r>
              <a:rPr lang="en-US" dirty="0" smtClean="0"/>
              <a:t> pages, need to find </a:t>
            </a:r>
            <a:r>
              <a:rPr lang="en-US" i="1" dirty="0" smtClean="0"/>
              <a:t>n</a:t>
            </a:r>
            <a:r>
              <a:rPr lang="en-US" dirty="0" smtClean="0"/>
              <a:t> free frames and load program</a:t>
            </a:r>
          </a:p>
          <a:p>
            <a:r>
              <a:rPr lang="en-US" dirty="0" smtClean="0"/>
              <a:t>Set up a page table to translate logical to physical addresses</a:t>
            </a:r>
          </a:p>
          <a:p>
            <a:r>
              <a:rPr lang="en-US" dirty="0" smtClean="0"/>
              <a:t>Internal fragmentation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666398"/>
          </a:xfrm>
        </p:spPr>
        <p:txBody>
          <a:bodyPr/>
          <a:lstStyle/>
          <a:p>
            <a:pPr eaLnBrk="1" hangingPunct="1"/>
            <a:r>
              <a:rPr lang="en-US" b="1" dirty="0" smtClean="0"/>
              <a:t>Address Translation Scheme</a:t>
            </a:r>
          </a:p>
        </p:txBody>
      </p:sp>
      <p:sp>
        <p:nvSpPr>
          <p:cNvPr id="56323" name="Rectangle 1027"/>
          <p:cNvSpPr>
            <a:spLocks noGrp="1" noChangeArrowheads="1"/>
          </p:cNvSpPr>
          <p:nvPr>
            <p:ph idx="1"/>
          </p:nvPr>
        </p:nvSpPr>
        <p:spPr>
          <a:xfrm>
            <a:off x="646111" y="1377949"/>
            <a:ext cx="11118259" cy="4859077"/>
          </a:xfrm>
        </p:spPr>
        <p:txBody>
          <a:bodyPr>
            <a:normAutofit/>
          </a:bodyPr>
          <a:lstStyle/>
          <a:p>
            <a:r>
              <a:rPr lang="en-US" sz="1600" dirty="0"/>
              <a:t>Address generated by CPU is divided into:</a:t>
            </a:r>
            <a:br>
              <a:rPr lang="en-US" sz="1600" dirty="0"/>
            </a:br>
            <a:endParaRPr lang="en-US" sz="1600" dirty="0"/>
          </a:p>
          <a:p>
            <a:pPr lvl="1"/>
            <a:r>
              <a:rPr lang="en-US" b="1" dirty="0">
                <a:ea typeface="ＭＳ Ｐゴシック" panose="020B0600070205080204" pitchFamily="34" charset="-128"/>
              </a:rPr>
              <a:t>Page number (</a:t>
            </a:r>
            <a:r>
              <a:rPr lang="en-US" b="1" i="1" dirty="0">
                <a:ea typeface="ＭＳ Ｐゴシック" panose="020B0600070205080204" pitchFamily="34" charset="-128"/>
              </a:rPr>
              <a:t>p</a:t>
            </a:r>
            <a:r>
              <a:rPr lang="en-US" b="1" dirty="0">
                <a:ea typeface="ＭＳ Ｐゴシック" panose="020B0600070205080204" pitchFamily="34" charset="-128"/>
              </a:rPr>
              <a:t>)</a:t>
            </a:r>
            <a:r>
              <a:rPr lang="en-US" dirty="0">
                <a:ea typeface="ＭＳ Ｐゴシック" panose="020B0600070205080204" pitchFamily="34" charset="-128"/>
              </a:rPr>
              <a:t> – used as an index into a </a:t>
            </a:r>
            <a:r>
              <a:rPr lang="en-US" i="1" dirty="0">
                <a:ea typeface="ＭＳ Ｐゴシック" panose="020B0600070205080204" pitchFamily="34" charset="-128"/>
              </a:rPr>
              <a:t>page</a:t>
            </a:r>
            <a:r>
              <a:rPr lang="en-US" dirty="0">
                <a:ea typeface="ＭＳ Ｐゴシック" panose="020B0600070205080204" pitchFamily="34" charset="-128"/>
              </a:rPr>
              <a:t> </a:t>
            </a:r>
            <a:r>
              <a:rPr lang="en-US" i="1" dirty="0">
                <a:ea typeface="ＭＳ Ｐゴシック" panose="020B0600070205080204" pitchFamily="34" charset="-128"/>
              </a:rPr>
              <a:t>table</a:t>
            </a:r>
            <a:r>
              <a:rPr lang="en-US" dirty="0">
                <a:ea typeface="ＭＳ Ｐゴシック" panose="020B0600070205080204" pitchFamily="34" charset="-128"/>
              </a:rPr>
              <a:t> which contains base address of each page in physical memory</a:t>
            </a:r>
            <a:br>
              <a:rPr lang="en-US" dirty="0">
                <a:ea typeface="ＭＳ Ｐゴシック" panose="020B0600070205080204" pitchFamily="34" charset="-128"/>
              </a:rPr>
            </a:br>
            <a:endParaRPr 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b="1" dirty="0">
                <a:ea typeface="ＭＳ Ｐゴシック" panose="020B0600070205080204" pitchFamily="34" charset="-128"/>
              </a:rPr>
              <a:t>Page offset (d)</a:t>
            </a:r>
            <a:r>
              <a:rPr lang="en-US" dirty="0">
                <a:ea typeface="ＭＳ Ｐゴシック" panose="020B0600070205080204" pitchFamily="34" charset="-128"/>
              </a:rPr>
              <a:t> – combined with base address to define the physical memory address that is sent to the memory unit</a:t>
            </a:r>
          </a:p>
          <a:p>
            <a:pPr lvl="1"/>
            <a:endParaRPr lang="en-US" dirty="0">
              <a:ea typeface="ＭＳ Ｐゴシック" panose="020B0600070205080204" pitchFamily="34" charset="-128"/>
            </a:endParaRPr>
          </a:p>
          <a:p>
            <a:pPr lvl="1"/>
            <a:endParaRPr lang="en-US" dirty="0">
              <a:ea typeface="ＭＳ Ｐゴシック" panose="020B0600070205080204" pitchFamily="34" charset="-128"/>
            </a:endParaRPr>
          </a:p>
          <a:p>
            <a:pPr lvl="1"/>
            <a:endParaRPr lang="en-US" dirty="0">
              <a:ea typeface="ＭＳ Ｐゴシック" panose="020B0600070205080204" pitchFamily="34" charset="-128"/>
            </a:endParaRPr>
          </a:p>
          <a:p>
            <a:pPr lvl="1"/>
            <a:endParaRPr lang="en-US" dirty="0">
              <a:ea typeface="ＭＳ Ｐゴシック" panose="020B0600070205080204" pitchFamily="34" charset="-128"/>
            </a:endParaRPr>
          </a:p>
          <a:p>
            <a:pPr lvl="1"/>
            <a:endParaRPr 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For given logical address space 2</a:t>
            </a:r>
            <a:r>
              <a:rPr lang="en-US" i="1" baseline="30000" dirty="0">
                <a:ea typeface="ＭＳ Ｐゴシック" panose="020B0600070205080204" pitchFamily="34" charset="-128"/>
              </a:rPr>
              <a:t>m </a:t>
            </a:r>
            <a:r>
              <a:rPr lang="en-US" i="1" dirty="0">
                <a:ea typeface="ＭＳ Ｐゴシック" panose="020B0600070205080204" pitchFamily="34" charset="-128"/>
              </a:rPr>
              <a:t>and page size</a:t>
            </a:r>
            <a:r>
              <a:rPr lang="en-US" i="1" baseline="30000" dirty="0">
                <a:ea typeface="ＭＳ Ｐゴシック" panose="020B0600070205080204" pitchFamily="34" charset="-128"/>
              </a:rPr>
              <a:t> </a:t>
            </a:r>
            <a:r>
              <a:rPr lang="en-US" i="1" dirty="0">
                <a:ea typeface="ＭＳ Ｐゴシック" panose="020B0600070205080204" pitchFamily="34" charset="-128"/>
              </a:rPr>
              <a:t>2</a:t>
            </a:r>
            <a:r>
              <a:rPr lang="en-US" baseline="30000" dirty="0">
                <a:ea typeface="ＭＳ Ｐゴシック" panose="020B0600070205080204" pitchFamily="34" charset="-128"/>
              </a:rPr>
              <a:t>n</a:t>
            </a:r>
          </a:p>
        </p:txBody>
      </p:sp>
      <p:sp>
        <p:nvSpPr>
          <p:cNvPr id="56324" name="Rectangle 1028"/>
          <p:cNvSpPr>
            <a:spLocks noChangeArrowheads="1"/>
          </p:cNvSpPr>
          <p:nvPr/>
        </p:nvSpPr>
        <p:spPr bwMode="auto">
          <a:xfrm>
            <a:off x="4116388" y="3913188"/>
            <a:ext cx="3105150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56325" name="Line 1030"/>
          <p:cNvSpPr>
            <a:spLocks noChangeShapeType="1"/>
          </p:cNvSpPr>
          <p:nvPr/>
        </p:nvSpPr>
        <p:spPr bwMode="auto">
          <a:xfrm>
            <a:off x="5749925" y="35702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6" name="Text Box 1031"/>
          <p:cNvSpPr txBox="1">
            <a:spLocks noChangeArrowheads="1"/>
          </p:cNvSpPr>
          <p:nvPr/>
        </p:nvSpPr>
        <p:spPr bwMode="auto">
          <a:xfrm>
            <a:off x="3957638" y="3481388"/>
            <a:ext cx="153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page number</a:t>
            </a:r>
          </a:p>
        </p:txBody>
      </p:sp>
      <p:sp>
        <p:nvSpPr>
          <p:cNvPr id="56327" name="Text Box 1032"/>
          <p:cNvSpPr txBox="1">
            <a:spLocks noChangeArrowheads="1"/>
          </p:cNvSpPr>
          <p:nvPr/>
        </p:nvSpPr>
        <p:spPr bwMode="auto">
          <a:xfrm>
            <a:off x="5821363" y="3494088"/>
            <a:ext cx="131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page offset</a:t>
            </a:r>
          </a:p>
        </p:txBody>
      </p:sp>
      <p:sp>
        <p:nvSpPr>
          <p:cNvPr id="56328" name="Text Box 1033"/>
          <p:cNvSpPr txBox="1">
            <a:spLocks noChangeArrowheads="1"/>
          </p:cNvSpPr>
          <p:nvPr/>
        </p:nvSpPr>
        <p:spPr bwMode="auto">
          <a:xfrm>
            <a:off x="4670425" y="39401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panose="020B0604020202020204" pitchFamily="34" charset="0"/>
              </a:rPr>
              <a:t>p</a:t>
            </a:r>
            <a:endParaRPr lang="en-US" sz="1800">
              <a:latin typeface="Helvetica" panose="020B0604020202020204" pitchFamily="34" charset="0"/>
            </a:endParaRPr>
          </a:p>
        </p:txBody>
      </p:sp>
      <p:sp>
        <p:nvSpPr>
          <p:cNvPr id="56329" name="Text Box 1035"/>
          <p:cNvSpPr txBox="1">
            <a:spLocks noChangeArrowheads="1"/>
          </p:cNvSpPr>
          <p:nvPr/>
        </p:nvSpPr>
        <p:spPr bwMode="auto">
          <a:xfrm>
            <a:off x="6119813" y="3970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panose="020B0604020202020204" pitchFamily="34" charset="0"/>
              </a:rPr>
              <a:t>d</a:t>
            </a:r>
            <a:endParaRPr lang="en-US" sz="1800">
              <a:latin typeface="Helvetica" panose="020B0604020202020204" pitchFamily="34" charset="0"/>
            </a:endParaRPr>
          </a:p>
        </p:txBody>
      </p:sp>
      <p:sp>
        <p:nvSpPr>
          <p:cNvPr id="56330" name="Text Box 1036"/>
          <p:cNvSpPr txBox="1">
            <a:spLocks noChangeArrowheads="1"/>
          </p:cNvSpPr>
          <p:nvPr/>
        </p:nvSpPr>
        <p:spPr bwMode="auto">
          <a:xfrm>
            <a:off x="4476750" y="4387851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panose="020B0604020202020204" pitchFamily="34" charset="0"/>
              </a:rPr>
              <a:t>m - n</a:t>
            </a:r>
          </a:p>
        </p:txBody>
      </p:sp>
      <p:sp>
        <p:nvSpPr>
          <p:cNvPr id="56331" name="Text Box 1038"/>
          <p:cNvSpPr txBox="1">
            <a:spLocks noChangeArrowheads="1"/>
          </p:cNvSpPr>
          <p:nvPr/>
        </p:nvSpPr>
        <p:spPr bwMode="auto">
          <a:xfrm>
            <a:off x="6073775" y="4397376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panose="020B0604020202020204" pitchFamily="34" charset="0"/>
              </a:rPr>
              <a:t>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720989"/>
          </a:xfrm>
        </p:spPr>
        <p:txBody>
          <a:bodyPr/>
          <a:lstStyle/>
          <a:p>
            <a:pPr eaLnBrk="1" hangingPunct="1"/>
            <a:r>
              <a:rPr lang="en-US" dirty="0" smtClean="0"/>
              <a:t>Paging Hardware</a:t>
            </a:r>
          </a:p>
        </p:txBody>
      </p:sp>
      <p:pic>
        <p:nvPicPr>
          <p:cNvPr id="5837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164" y="1343025"/>
            <a:ext cx="66309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/>
              <a:t>Paging Model of Logical and Physical Memory</a:t>
            </a:r>
            <a:endParaRPr lang="en-US" sz="2000"/>
          </a:p>
        </p:txBody>
      </p:sp>
      <p:pic>
        <p:nvPicPr>
          <p:cNvPr id="60419" name="Picture 10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120332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009775" y="228600"/>
            <a:ext cx="8077200" cy="609600"/>
          </a:xfrm>
        </p:spPr>
        <p:txBody>
          <a:bodyPr/>
          <a:lstStyle/>
          <a:p>
            <a:pPr eaLnBrk="1" hangingPunct="1"/>
            <a:r>
              <a:rPr lang="en-US" smtClean="0"/>
              <a:t>Paging Example</a:t>
            </a:r>
          </a:p>
        </p:txBody>
      </p:sp>
      <p:sp>
        <p:nvSpPr>
          <p:cNvPr id="62467" name="Text Box 5"/>
          <p:cNvSpPr txBox="1">
            <a:spLocks noChangeArrowheads="1"/>
          </p:cNvSpPr>
          <p:nvPr/>
        </p:nvSpPr>
        <p:spPr bwMode="auto">
          <a:xfrm>
            <a:off x="4030664" y="6107113"/>
            <a:ext cx="40782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32-byte memory and 4-byte pages</a:t>
            </a:r>
          </a:p>
        </p:txBody>
      </p:sp>
      <p:pic>
        <p:nvPicPr>
          <p:cNvPr id="6246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64" y="1270000"/>
            <a:ext cx="3760787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Free Frames</a:t>
            </a:r>
          </a:p>
        </p:txBody>
      </p:sp>
      <p:sp>
        <p:nvSpPr>
          <p:cNvPr id="64515" name="Text Box 4"/>
          <p:cNvSpPr txBox="1">
            <a:spLocks noChangeArrowheads="1"/>
          </p:cNvSpPr>
          <p:nvPr/>
        </p:nvSpPr>
        <p:spPr bwMode="auto">
          <a:xfrm>
            <a:off x="3460750" y="6002338"/>
            <a:ext cx="188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64516" name="Text Box 5"/>
          <p:cNvSpPr txBox="1">
            <a:spLocks noChangeArrowheads="1"/>
          </p:cNvSpPr>
          <p:nvPr/>
        </p:nvSpPr>
        <p:spPr bwMode="auto">
          <a:xfrm>
            <a:off x="6875463" y="5964238"/>
            <a:ext cx="1695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6451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6" y="1360488"/>
            <a:ext cx="6202363" cy="444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775581"/>
          </a:xfrm>
        </p:spPr>
        <p:txBody>
          <a:bodyPr/>
          <a:lstStyle/>
          <a:p>
            <a:pPr eaLnBrk="1" hangingPunct="1"/>
            <a:r>
              <a:rPr lang="en-US" b="1" dirty="0" smtClean="0"/>
              <a:t>Implementation of Page Table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46110" y="1377951"/>
            <a:ext cx="11545889" cy="4454525"/>
          </a:xfrm>
        </p:spPr>
        <p:txBody>
          <a:bodyPr>
            <a:normAutofit/>
          </a:bodyPr>
          <a:lstStyle/>
          <a:p>
            <a:r>
              <a:rPr lang="en-US" dirty="0" smtClean="0"/>
              <a:t>Page table is kept in main memory</a:t>
            </a:r>
          </a:p>
          <a:p>
            <a:r>
              <a:rPr lang="en-US" b="1" dirty="0" smtClean="0"/>
              <a:t>Page-table base register (PTBR)</a:t>
            </a:r>
            <a:r>
              <a:rPr lang="en-US" dirty="0" smtClean="0"/>
              <a:t> points to the page table</a:t>
            </a:r>
          </a:p>
          <a:p>
            <a:r>
              <a:rPr lang="en-US" b="1" dirty="0" smtClean="0"/>
              <a:t>Page-table length register (PRLR)</a:t>
            </a:r>
            <a:r>
              <a:rPr lang="en-US" dirty="0" smtClean="0"/>
              <a:t> indicates size of the page table</a:t>
            </a:r>
          </a:p>
          <a:p>
            <a:r>
              <a:rPr lang="en-US" dirty="0" smtClean="0"/>
              <a:t>In this scheme every data/instruction access requires two memory accesses.  One for the page table and one for the data/instruction.</a:t>
            </a:r>
          </a:p>
          <a:p>
            <a:r>
              <a:rPr lang="en-US" dirty="0" smtClean="0"/>
              <a:t>The two memory access problem can be solved by the use of a special fast-lookup hardware cache called </a:t>
            </a:r>
            <a:r>
              <a:rPr lang="en-US" b="1" dirty="0" smtClean="0"/>
              <a:t>associative memory </a:t>
            </a:r>
            <a:r>
              <a:rPr lang="en-US" dirty="0" smtClean="0"/>
              <a:t>or </a:t>
            </a:r>
            <a:r>
              <a:rPr lang="en-US" b="1" dirty="0" smtClean="0"/>
              <a:t>translation look-aside buffers (TLBs)</a:t>
            </a:r>
          </a:p>
          <a:p>
            <a:r>
              <a:rPr lang="en-US" dirty="0" smtClean="0"/>
              <a:t>Some TLBs store</a:t>
            </a:r>
            <a:r>
              <a:rPr lang="en-US" b="1" dirty="0" smtClean="0"/>
              <a:t> address-space identifiers (ASIDs) </a:t>
            </a:r>
            <a:r>
              <a:rPr lang="en-US" dirty="0" smtClean="0"/>
              <a:t>in each TLB entry – uniquely identifies each process to provide address-space protection for that process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814107"/>
          </a:xfrm>
        </p:spPr>
        <p:txBody>
          <a:bodyPr/>
          <a:lstStyle/>
          <a:p>
            <a:pPr eaLnBrk="1" hangingPunct="1"/>
            <a:r>
              <a:rPr lang="en-US" b="1" dirty="0" smtClean="0"/>
              <a:t>Associative Memory</a:t>
            </a:r>
          </a:p>
        </p:txBody>
      </p:sp>
      <p:sp>
        <p:nvSpPr>
          <p:cNvPr id="68611" name="Rectangle 2051"/>
          <p:cNvSpPr>
            <a:spLocks noGrp="1" noChangeArrowheads="1"/>
          </p:cNvSpPr>
          <p:nvPr>
            <p:ph idx="1"/>
          </p:nvPr>
        </p:nvSpPr>
        <p:spPr>
          <a:xfrm>
            <a:off x="450376" y="1306513"/>
            <a:ext cx="10413241" cy="4483100"/>
          </a:xfrm>
        </p:spPr>
        <p:txBody>
          <a:bodyPr/>
          <a:lstStyle/>
          <a:p>
            <a:r>
              <a:rPr lang="en-US" dirty="0" smtClean="0"/>
              <a:t>Associative memory – parallel search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Font typeface="Monotype Sorts" charset="2"/>
              <a:buNone/>
            </a:pPr>
            <a:r>
              <a:rPr lang="en-US" dirty="0" smtClean="0"/>
              <a:t>	Address translation (p, d)</a:t>
            </a:r>
          </a:p>
          <a:p>
            <a:pPr marL="628650" lvl="1"/>
            <a:r>
              <a:rPr lang="en-US" dirty="0" smtClean="0">
                <a:ea typeface="ＭＳ Ｐゴシック" panose="020B0600070205080204" pitchFamily="34" charset="-128"/>
              </a:rPr>
              <a:t>If p is in associative register, get frame # out</a:t>
            </a:r>
          </a:p>
          <a:p>
            <a:pPr marL="628650" lvl="1"/>
            <a:r>
              <a:rPr lang="en-US" dirty="0" smtClean="0">
                <a:ea typeface="ＭＳ Ｐゴシック" panose="020B0600070205080204" pitchFamily="34" charset="-128"/>
              </a:rPr>
              <a:t>Otherwise get frame # from page table in memory</a:t>
            </a:r>
          </a:p>
          <a:p>
            <a:pPr marL="628650" lvl="1"/>
            <a:endParaRPr 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8612" name="Rectangle 2052"/>
          <p:cNvSpPr>
            <a:spLocks noChangeArrowheads="1"/>
          </p:cNvSpPr>
          <p:nvPr/>
        </p:nvSpPr>
        <p:spPr bwMode="auto">
          <a:xfrm>
            <a:off x="4583113" y="2105025"/>
            <a:ext cx="28956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68613" name="Line 2053"/>
          <p:cNvSpPr>
            <a:spLocks noChangeShapeType="1"/>
          </p:cNvSpPr>
          <p:nvPr/>
        </p:nvSpPr>
        <p:spPr bwMode="auto">
          <a:xfrm>
            <a:off x="6030913" y="1647825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4" name="Line 2054"/>
          <p:cNvSpPr>
            <a:spLocks noChangeShapeType="1"/>
          </p:cNvSpPr>
          <p:nvPr/>
        </p:nvSpPr>
        <p:spPr bwMode="auto">
          <a:xfrm>
            <a:off x="4583113" y="24098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5" name="Line 2055"/>
          <p:cNvSpPr>
            <a:spLocks noChangeShapeType="1"/>
          </p:cNvSpPr>
          <p:nvPr/>
        </p:nvSpPr>
        <p:spPr bwMode="auto">
          <a:xfrm>
            <a:off x="4583113" y="27146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6" name="Line 2056"/>
          <p:cNvSpPr>
            <a:spLocks noChangeShapeType="1"/>
          </p:cNvSpPr>
          <p:nvPr/>
        </p:nvSpPr>
        <p:spPr bwMode="auto">
          <a:xfrm>
            <a:off x="4583113" y="30956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7" name="Rectangle 2057"/>
          <p:cNvSpPr>
            <a:spLocks noChangeArrowheads="1"/>
          </p:cNvSpPr>
          <p:nvPr/>
        </p:nvSpPr>
        <p:spPr bwMode="auto">
          <a:xfrm>
            <a:off x="4887913" y="172402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>
                <a:latin typeface="Helvetica" panose="020B0604020202020204" pitchFamily="34" charset="0"/>
              </a:rPr>
              <a:t>Page #</a:t>
            </a:r>
          </a:p>
        </p:txBody>
      </p:sp>
      <p:sp>
        <p:nvSpPr>
          <p:cNvPr id="68618" name="Rectangle 2058"/>
          <p:cNvSpPr>
            <a:spLocks noChangeArrowheads="1"/>
          </p:cNvSpPr>
          <p:nvPr/>
        </p:nvSpPr>
        <p:spPr bwMode="auto">
          <a:xfrm>
            <a:off x="6259513" y="172402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>
                <a:latin typeface="Helvetica" panose="020B0604020202020204" pitchFamily="34" charset="0"/>
              </a:rPr>
              <a:t>Frame #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Paging Hardware With TLB</a:t>
            </a:r>
            <a:endParaRPr lang="en-US" sz="2400"/>
          </a:p>
        </p:txBody>
      </p:sp>
      <p:pic>
        <p:nvPicPr>
          <p:cNvPr id="7065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1" y="1362075"/>
            <a:ext cx="6100763" cy="46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852207"/>
          </a:xfrm>
        </p:spPr>
        <p:txBody>
          <a:bodyPr/>
          <a:lstStyle/>
          <a:p>
            <a:pPr eaLnBrk="1" hangingPunct="1"/>
            <a:r>
              <a:rPr lang="en-US" b="1" dirty="0" smtClean="0"/>
              <a:t>Effective Access Time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1304925"/>
            <a:ext cx="11227441" cy="4432300"/>
          </a:xfrm>
        </p:spPr>
        <p:txBody>
          <a:bodyPr/>
          <a:lstStyle/>
          <a:p>
            <a:pPr>
              <a:tabLst>
                <a:tab pos="2063750" algn="l"/>
                <a:tab pos="2568575" algn="l"/>
              </a:tabLst>
            </a:pPr>
            <a:r>
              <a:rPr lang="en-US" dirty="0" smtClean="0"/>
              <a:t>Associative Lookup = </a:t>
            </a:r>
            <a:r>
              <a:rPr lang="en-US" dirty="0" smtClean="0">
                <a:sym typeface="Symbol" panose="05050102010706020507" pitchFamily="18" charset="2"/>
              </a:rPr>
              <a:t> time unit</a:t>
            </a:r>
          </a:p>
          <a:p>
            <a:pPr>
              <a:tabLst>
                <a:tab pos="2063750" algn="l"/>
                <a:tab pos="2568575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Assume memory cycle time is 1 microsecond</a:t>
            </a:r>
          </a:p>
          <a:p>
            <a:pPr>
              <a:tabLst>
                <a:tab pos="2063750" algn="l"/>
                <a:tab pos="2568575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Hit ratio – percentage of times that a page number is found in the associative registers; ratio related to number of associative registers</a:t>
            </a:r>
          </a:p>
          <a:p>
            <a:pPr>
              <a:tabLst>
                <a:tab pos="2063750" algn="l"/>
                <a:tab pos="2568575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Hit ratio = </a:t>
            </a:r>
          </a:p>
          <a:p>
            <a:pPr>
              <a:tabLst>
                <a:tab pos="2063750" algn="l"/>
                <a:tab pos="2568575" algn="l"/>
              </a:tabLst>
            </a:pPr>
            <a:r>
              <a:rPr lang="en-US" b="1" dirty="0" smtClean="0">
                <a:sym typeface="Symbol" panose="05050102010706020507" pitchFamily="18" charset="2"/>
              </a:rPr>
              <a:t>Effective Access Time</a:t>
            </a:r>
            <a:r>
              <a:rPr lang="en-US" dirty="0" smtClean="0">
                <a:sym typeface="Symbol" panose="05050102010706020507" pitchFamily="18" charset="2"/>
              </a:rPr>
              <a:t> (EAT)</a:t>
            </a:r>
          </a:p>
          <a:p>
            <a:pPr>
              <a:buNone/>
              <a:tabLst>
                <a:tab pos="2063750" algn="l"/>
                <a:tab pos="2568575" algn="l"/>
              </a:tabLst>
            </a:pPr>
            <a:r>
              <a:rPr lang="en-US" dirty="0" smtClean="0"/>
              <a:t>		EAT = (1 + </a:t>
            </a:r>
            <a:r>
              <a:rPr lang="en-US" dirty="0" smtClean="0">
                <a:sym typeface="Symbol" panose="05050102010706020507" pitchFamily="18" charset="2"/>
              </a:rPr>
              <a:t>)  + (2 + )(1 – )</a:t>
            </a:r>
          </a:p>
          <a:p>
            <a:pPr>
              <a:buNone/>
              <a:tabLst>
                <a:tab pos="2063750" algn="l"/>
                <a:tab pos="2568575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			= 2 +  – </a:t>
            </a:r>
          </a:p>
          <a:p>
            <a:pPr>
              <a:buNone/>
              <a:tabLst>
                <a:tab pos="2063750" algn="l"/>
                <a:tab pos="2568575" algn="l"/>
              </a:tabLst>
            </a:pPr>
            <a:r>
              <a:rPr 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816524"/>
          </a:xfrm>
        </p:spPr>
        <p:txBody>
          <a:bodyPr/>
          <a:lstStyle/>
          <a:p>
            <a:pPr eaLnBrk="1" hangingPunct="1"/>
            <a:r>
              <a:rPr lang="en-US" b="1" dirty="0" smtClean="0"/>
              <a:t>Memory Protection</a:t>
            </a:r>
          </a:p>
        </p:txBody>
      </p:sp>
      <p:sp>
        <p:nvSpPr>
          <p:cNvPr id="74755" name="Rectangle 2051"/>
          <p:cNvSpPr>
            <a:spLocks noGrp="1" noChangeArrowheads="1"/>
          </p:cNvSpPr>
          <p:nvPr>
            <p:ph idx="1"/>
          </p:nvPr>
        </p:nvSpPr>
        <p:spPr>
          <a:xfrm>
            <a:off x="646111" y="1377951"/>
            <a:ext cx="11227441" cy="4468813"/>
          </a:xfrm>
        </p:spPr>
        <p:txBody>
          <a:bodyPr/>
          <a:lstStyle/>
          <a:p>
            <a:r>
              <a:rPr lang="en-US" dirty="0" smtClean="0"/>
              <a:t>Memory protection implemented by associating protection bit with each frame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Valid-invalid</a:t>
            </a:r>
            <a:r>
              <a:rPr lang="en-US" dirty="0" smtClean="0"/>
              <a:t> bit attached to each entry in the page table: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“valid” indicates that the associated page is in the process’ logical address space, and is thus a legal page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“invalid” indicates that the page is not in the process’ logical address space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657" y="3612357"/>
            <a:ext cx="3657599" cy="274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35192" y="6359857"/>
            <a:ext cx="4629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Valid (v) or Invalid (</a:t>
            </a:r>
            <a:r>
              <a:rPr lang="en-US" dirty="0" err="1"/>
              <a:t>i</a:t>
            </a:r>
            <a:r>
              <a:rPr lang="en-US" dirty="0"/>
              <a:t>) Bit In A Page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668740"/>
          </a:xfrm>
        </p:spPr>
        <p:txBody>
          <a:bodyPr/>
          <a:lstStyle/>
          <a:p>
            <a:pPr eaLnBrk="1" hangingPunct="1"/>
            <a:r>
              <a:rPr lang="en-US" b="1" dirty="0" smtClean="0"/>
              <a:t>Shared Pages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646110" y="668740"/>
            <a:ext cx="11545889" cy="6189260"/>
          </a:xfrm>
        </p:spPr>
        <p:txBody>
          <a:bodyPr/>
          <a:lstStyle/>
          <a:p>
            <a:r>
              <a:rPr lang="en-US" b="1" dirty="0" smtClean="0"/>
              <a:t>Shared code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One copy of read-only (reentrant) code shared among processes (i.e., text editors, compilers, window systems).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Shared code must appear in same location in the logical address space of all processes</a:t>
            </a:r>
            <a:br>
              <a:rPr lang="en-US" dirty="0" smtClean="0">
                <a:ea typeface="ＭＳ Ｐゴシック" panose="020B0600070205080204" pitchFamily="34" charset="-128"/>
              </a:rPr>
            </a:br>
            <a:endParaRPr lang="en-US" dirty="0" smtClean="0">
              <a:ea typeface="ＭＳ Ｐゴシック" panose="020B0600070205080204" pitchFamily="34" charset="-128"/>
            </a:endParaRPr>
          </a:p>
          <a:p>
            <a:r>
              <a:rPr lang="en-US" b="1" dirty="0" smtClean="0"/>
              <a:t>Private code and data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Each process keeps a separate copy of the code and data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The pages for the private code and data can appear anywhere in the logical address space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003" y="3712191"/>
            <a:ext cx="3311003" cy="2541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70530" y="6371376"/>
            <a:ext cx="2755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Shared Pages Example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36979"/>
          </a:xfrm>
        </p:spPr>
        <p:txBody>
          <a:bodyPr/>
          <a:lstStyle/>
          <a:p>
            <a:pPr eaLnBrk="1" hangingPunct="1"/>
            <a:r>
              <a:rPr lang="en-US" b="1" dirty="0" smtClean="0"/>
              <a:t>Structure of the Page Table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736979"/>
            <a:ext cx="11186498" cy="5124071"/>
          </a:xfrm>
        </p:spPr>
        <p:txBody>
          <a:bodyPr/>
          <a:lstStyle/>
          <a:p>
            <a:r>
              <a:rPr lang="en-US" dirty="0" smtClean="0"/>
              <a:t>Hierarchical Paging</a:t>
            </a:r>
          </a:p>
          <a:p>
            <a:r>
              <a:rPr lang="en-US" dirty="0" smtClean="0"/>
              <a:t>Hashed Page Tables</a:t>
            </a:r>
          </a:p>
          <a:p>
            <a:r>
              <a:rPr lang="en-US" dirty="0" smtClean="0"/>
              <a:t>Inverted Page Tables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36979"/>
          </a:xfrm>
        </p:spPr>
        <p:txBody>
          <a:bodyPr/>
          <a:lstStyle/>
          <a:p>
            <a:pPr eaLnBrk="1" hangingPunct="1"/>
            <a:r>
              <a:rPr lang="en-US" b="1" dirty="0" smtClean="0"/>
              <a:t>Hierarchical Page Tables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736979"/>
            <a:ext cx="11213793" cy="5124071"/>
          </a:xfrm>
        </p:spPr>
        <p:txBody>
          <a:bodyPr/>
          <a:lstStyle/>
          <a:p>
            <a:r>
              <a:rPr lang="en-US" dirty="0" smtClean="0"/>
              <a:t>Break up the logical address space into multiple page tables</a:t>
            </a:r>
          </a:p>
          <a:p>
            <a:r>
              <a:rPr lang="en-US" dirty="0" smtClean="0"/>
              <a:t>A simple technique is a two-level page table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8" y="1665026"/>
            <a:ext cx="4906962" cy="4500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202559" y="6228697"/>
            <a:ext cx="3623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Two-Level Page-Table Scheme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25488"/>
          </a:xfrm>
        </p:spPr>
        <p:txBody>
          <a:bodyPr/>
          <a:lstStyle/>
          <a:p>
            <a:pPr eaLnBrk="1" hangingPunct="1"/>
            <a:r>
              <a:rPr lang="en-US" b="1" dirty="0" smtClean="0"/>
              <a:t>Two-Level Paging Example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832513"/>
            <a:ext cx="11050020" cy="480311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A logical address (on 32-bit machine with 1K page size) is divided into:</a:t>
            </a:r>
          </a:p>
          <a:p>
            <a:pPr marL="628650" lvl="1">
              <a:lnSpc>
                <a:spcPct val="90000"/>
              </a:lnSpc>
            </a:pPr>
            <a:r>
              <a:rPr lang="en-US" dirty="0">
                <a:ea typeface="ＭＳ Ｐゴシック" panose="020B0600070205080204" pitchFamily="34" charset="-128"/>
              </a:rPr>
              <a:t>a page number consisting of 22 bits</a:t>
            </a:r>
          </a:p>
          <a:p>
            <a:pPr marL="628650" lvl="1">
              <a:lnSpc>
                <a:spcPct val="90000"/>
              </a:lnSpc>
            </a:pPr>
            <a:r>
              <a:rPr lang="en-US" dirty="0">
                <a:ea typeface="ＭＳ Ｐゴシック" panose="020B0600070205080204" pitchFamily="34" charset="-128"/>
              </a:rPr>
              <a:t>a page offset consisting of 10 bits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Since the page table is paged, the page number is further divided into:</a:t>
            </a:r>
          </a:p>
          <a:p>
            <a:pPr marL="628650" lvl="1">
              <a:lnSpc>
                <a:spcPct val="90000"/>
              </a:lnSpc>
            </a:pPr>
            <a:r>
              <a:rPr lang="en-US" dirty="0">
                <a:ea typeface="ＭＳ Ｐゴシック" panose="020B0600070205080204" pitchFamily="34" charset="-128"/>
              </a:rPr>
              <a:t>a 12-bit page number </a:t>
            </a:r>
          </a:p>
          <a:p>
            <a:pPr marL="628650" lvl="1">
              <a:lnSpc>
                <a:spcPct val="90000"/>
              </a:lnSpc>
            </a:pPr>
            <a:r>
              <a:rPr lang="en-US" dirty="0">
                <a:ea typeface="ＭＳ Ｐゴシック" panose="020B0600070205080204" pitchFamily="34" charset="-128"/>
              </a:rPr>
              <a:t>a 10-bit page offset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Thus, a logical address is as follows:</a:t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where</a:t>
            </a:r>
            <a:r>
              <a:rPr lang="en-US" sz="1600" i="1" dirty="0"/>
              <a:t> p</a:t>
            </a:r>
            <a:r>
              <a:rPr lang="en-US" sz="1600" i="1" baseline="-25000" dirty="0"/>
              <a:t>i</a:t>
            </a:r>
            <a:r>
              <a:rPr lang="en-US" sz="1600" dirty="0"/>
              <a:t> is an index into the outer page table, and </a:t>
            </a:r>
            <a:r>
              <a:rPr lang="en-US" sz="1600" i="1" dirty="0"/>
              <a:t>p</a:t>
            </a:r>
            <a:r>
              <a:rPr lang="en-US" sz="1600" i="1" baseline="-25000" dirty="0"/>
              <a:t>2</a:t>
            </a:r>
            <a:r>
              <a:rPr lang="en-US" sz="1600" dirty="0"/>
              <a:t> is the displacement within the page of the outer page table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4297090" y="3692786"/>
            <a:ext cx="3105150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89093" name="Line 5"/>
          <p:cNvSpPr>
            <a:spLocks noChangeShapeType="1"/>
          </p:cNvSpPr>
          <p:nvPr/>
        </p:nvSpPr>
        <p:spPr bwMode="auto">
          <a:xfrm>
            <a:off x="5334000" y="363394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4" name="Line 6"/>
          <p:cNvSpPr>
            <a:spLocks noChangeShapeType="1"/>
          </p:cNvSpPr>
          <p:nvPr/>
        </p:nvSpPr>
        <p:spPr bwMode="auto">
          <a:xfrm>
            <a:off x="6145034" y="332914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5" name="Text Box 7"/>
          <p:cNvSpPr txBox="1">
            <a:spLocks noChangeArrowheads="1"/>
          </p:cNvSpPr>
          <p:nvPr/>
        </p:nvSpPr>
        <p:spPr bwMode="auto">
          <a:xfrm>
            <a:off x="3461544" y="3145785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panose="020B0604020202020204" pitchFamily="34" charset="0"/>
              </a:rPr>
              <a:t>page number</a:t>
            </a:r>
          </a:p>
        </p:txBody>
      </p:sp>
      <p:sp>
        <p:nvSpPr>
          <p:cNvPr id="89096" name="Text Box 8"/>
          <p:cNvSpPr txBox="1">
            <a:spLocks noChangeArrowheads="1"/>
          </p:cNvSpPr>
          <p:nvPr/>
        </p:nvSpPr>
        <p:spPr bwMode="auto">
          <a:xfrm>
            <a:off x="6492877" y="3145784"/>
            <a:ext cx="1314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panose="020B0604020202020204" pitchFamily="34" charset="0"/>
              </a:rPr>
              <a:t>page offset</a:t>
            </a:r>
          </a:p>
        </p:txBody>
      </p:sp>
      <p:sp>
        <p:nvSpPr>
          <p:cNvPr id="89097" name="Text Box 9"/>
          <p:cNvSpPr txBox="1">
            <a:spLocks noChangeArrowheads="1"/>
          </p:cNvSpPr>
          <p:nvPr/>
        </p:nvSpPr>
        <p:spPr bwMode="auto">
          <a:xfrm>
            <a:off x="4694907" y="3747675"/>
            <a:ext cx="344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 dirty="0">
                <a:latin typeface="Helvetica" panose="020B0604020202020204" pitchFamily="34" charset="0"/>
              </a:rPr>
              <a:t>p</a:t>
            </a:r>
            <a:r>
              <a:rPr lang="en-US" sz="1800" baseline="-25000" dirty="0">
                <a:latin typeface="Helvetica" panose="020B0604020202020204" pitchFamily="34" charset="0"/>
              </a:rPr>
              <a:t>i</a:t>
            </a:r>
            <a:endParaRPr lang="en-US" sz="1800" dirty="0">
              <a:latin typeface="Helvetica" panose="020B0604020202020204" pitchFamily="34" charset="0"/>
            </a:endParaRPr>
          </a:p>
        </p:txBody>
      </p:sp>
      <p:sp>
        <p:nvSpPr>
          <p:cNvPr id="89098" name="Text Box 10"/>
          <p:cNvSpPr txBox="1">
            <a:spLocks noChangeArrowheads="1"/>
          </p:cNvSpPr>
          <p:nvPr/>
        </p:nvSpPr>
        <p:spPr bwMode="auto">
          <a:xfrm>
            <a:off x="5562600" y="3737899"/>
            <a:ext cx="3952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 dirty="0">
                <a:latin typeface="Helvetica" panose="020B0604020202020204" pitchFamily="34" charset="0"/>
              </a:rPr>
              <a:t>p</a:t>
            </a:r>
            <a:r>
              <a:rPr lang="en-US" sz="1800" baseline="-25000" dirty="0">
                <a:latin typeface="Helvetica" panose="020B0604020202020204" pitchFamily="34" charset="0"/>
              </a:rPr>
              <a:t>2</a:t>
            </a:r>
            <a:endParaRPr lang="en-US" sz="1800" dirty="0">
              <a:latin typeface="Helvetica" panose="020B0604020202020204" pitchFamily="34" charset="0"/>
            </a:endParaRPr>
          </a:p>
        </p:txBody>
      </p:sp>
      <p:sp>
        <p:nvSpPr>
          <p:cNvPr id="89099" name="Text Box 11"/>
          <p:cNvSpPr txBox="1">
            <a:spLocks noChangeArrowheads="1"/>
          </p:cNvSpPr>
          <p:nvPr/>
        </p:nvSpPr>
        <p:spPr bwMode="auto">
          <a:xfrm>
            <a:off x="6550604" y="376422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panose="020B0604020202020204" pitchFamily="34" charset="0"/>
              </a:rPr>
              <a:t>d</a:t>
            </a:r>
            <a:endParaRPr lang="en-US" sz="1800">
              <a:latin typeface="Helvetica" panose="020B0604020202020204" pitchFamily="34" charset="0"/>
            </a:endParaRPr>
          </a:p>
        </p:txBody>
      </p:sp>
      <p:sp>
        <p:nvSpPr>
          <p:cNvPr id="89100" name="Text Box 12"/>
          <p:cNvSpPr txBox="1">
            <a:spLocks noChangeArrowheads="1"/>
          </p:cNvSpPr>
          <p:nvPr/>
        </p:nvSpPr>
        <p:spPr bwMode="auto">
          <a:xfrm>
            <a:off x="4694907" y="4283456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panose="020B0604020202020204" pitchFamily="34" charset="0"/>
              </a:rPr>
              <a:t>12</a:t>
            </a:r>
          </a:p>
        </p:txBody>
      </p:sp>
      <p:sp>
        <p:nvSpPr>
          <p:cNvPr id="89101" name="Text Box 13"/>
          <p:cNvSpPr txBox="1">
            <a:spLocks noChangeArrowheads="1"/>
          </p:cNvSpPr>
          <p:nvPr/>
        </p:nvSpPr>
        <p:spPr bwMode="auto">
          <a:xfrm>
            <a:off x="5519738" y="4252107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panose="020B0604020202020204" pitchFamily="34" charset="0"/>
              </a:rPr>
              <a:t>10</a:t>
            </a:r>
          </a:p>
        </p:txBody>
      </p:sp>
      <p:sp>
        <p:nvSpPr>
          <p:cNvPr id="89102" name="Text Box 14"/>
          <p:cNvSpPr txBox="1">
            <a:spLocks noChangeArrowheads="1"/>
          </p:cNvSpPr>
          <p:nvPr/>
        </p:nvSpPr>
        <p:spPr bwMode="auto">
          <a:xfrm>
            <a:off x="6550604" y="4311224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panose="020B0604020202020204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Address-Translation Scheme</a:t>
            </a:r>
            <a:endParaRPr lang="en-US" sz="2400"/>
          </a:p>
        </p:txBody>
      </p:sp>
      <p:pic>
        <p:nvPicPr>
          <p:cNvPr id="91139" name="Picture 10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6" y="1747839"/>
            <a:ext cx="70977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64275"/>
          </a:xfrm>
        </p:spPr>
        <p:txBody>
          <a:bodyPr/>
          <a:lstStyle/>
          <a:p>
            <a:pPr eaLnBrk="1" hangingPunct="1"/>
            <a:r>
              <a:rPr lang="en-US" b="1" dirty="0" smtClean="0"/>
              <a:t>2. Hashed Page Tables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646110" y="764275"/>
            <a:ext cx="11377567" cy="5936776"/>
          </a:xfrm>
        </p:spPr>
        <p:txBody>
          <a:bodyPr/>
          <a:lstStyle/>
          <a:p>
            <a:r>
              <a:rPr lang="en-US" dirty="0" smtClean="0"/>
              <a:t>Common in address spaces &gt; 32 bits</a:t>
            </a:r>
          </a:p>
          <a:p>
            <a:r>
              <a:rPr lang="en-US" dirty="0" smtClean="0"/>
              <a:t>The virtual page number is hashed into a page table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This page table contains a chain of elements hashing to the same location</a:t>
            </a:r>
            <a:endParaRPr lang="en-US" dirty="0" smtClean="0"/>
          </a:p>
          <a:p>
            <a:r>
              <a:rPr lang="en-US" dirty="0" smtClean="0"/>
              <a:t>Virtual page numbers are compared in this chain searching for a match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If a match is found, the corresponding physical frame is extracted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322" y="2838735"/>
            <a:ext cx="5800299" cy="3548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58922" y="6387153"/>
            <a:ext cx="2375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Hashed Page Table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9508" y="0"/>
            <a:ext cx="9404723" cy="696036"/>
          </a:xfrm>
        </p:spPr>
        <p:txBody>
          <a:bodyPr/>
          <a:lstStyle/>
          <a:p>
            <a:pPr eaLnBrk="1" hangingPunct="1"/>
            <a:r>
              <a:rPr lang="en-US" b="1" dirty="0" smtClean="0"/>
              <a:t>3. Inverted Page Table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359508" y="696036"/>
            <a:ext cx="11541340" cy="5517439"/>
          </a:xfrm>
        </p:spPr>
        <p:txBody>
          <a:bodyPr/>
          <a:lstStyle/>
          <a:p>
            <a:r>
              <a:rPr lang="en-US" dirty="0" smtClean="0"/>
              <a:t>One entry for each real page of memory</a:t>
            </a:r>
          </a:p>
          <a:p>
            <a:r>
              <a:rPr lang="en-US" dirty="0" smtClean="0"/>
              <a:t>Entry consists of the virtual address of the page stored in that real memory location, with information about the process that owns that page</a:t>
            </a:r>
          </a:p>
          <a:p>
            <a:r>
              <a:rPr lang="en-US" dirty="0" smtClean="0"/>
              <a:t>Decreases memory needed to store each page table, but increases time needed to search the table when a page reference occurs</a:t>
            </a:r>
          </a:p>
          <a:p>
            <a:r>
              <a:rPr lang="en-US" dirty="0" smtClean="0"/>
              <a:t>Use hash table to limit the search to one — or at most a few — page-table entries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924" y="3002508"/>
            <a:ext cx="5705380" cy="3343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394591" y="6346210"/>
            <a:ext cx="3910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Inverted Page Table Architecture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11350271" cy="791570"/>
          </a:xfrm>
        </p:spPr>
        <p:txBody>
          <a:bodyPr/>
          <a:lstStyle/>
          <a:p>
            <a:pPr eaLnBrk="1" hangingPunct="1"/>
            <a:r>
              <a:rPr lang="en-US" dirty="0" smtClean="0"/>
              <a:t>Segmentation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646111" y="791570"/>
            <a:ext cx="11118259" cy="506948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tabLst>
                <a:tab pos="1833563" algn="l"/>
              </a:tabLst>
            </a:pPr>
            <a:r>
              <a:rPr lang="en-US" dirty="0" smtClean="0"/>
              <a:t>Memory-management scheme that supports user view of memory </a:t>
            </a:r>
          </a:p>
          <a:p>
            <a:pPr>
              <a:lnSpc>
                <a:spcPct val="90000"/>
              </a:lnSpc>
              <a:tabLst>
                <a:tab pos="1833563" algn="l"/>
              </a:tabLst>
            </a:pPr>
            <a:r>
              <a:rPr lang="en-US" dirty="0" smtClean="0"/>
              <a:t>A program is a collection of segments</a:t>
            </a:r>
          </a:p>
          <a:p>
            <a:pPr lvl="1">
              <a:lnSpc>
                <a:spcPct val="90000"/>
              </a:lnSpc>
              <a:tabLst>
                <a:tab pos="1833563" algn="l"/>
              </a:tabLst>
            </a:pPr>
            <a:r>
              <a:rPr lang="en-US" dirty="0" smtClean="0">
                <a:ea typeface="ＭＳ Ｐゴシック" panose="020B0600070205080204" pitchFamily="34" charset="-128"/>
              </a:rPr>
              <a:t>A segment is a logical unit such as: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main program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procedure 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function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method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object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local variables, global variables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common block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stack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symbol table</a:t>
            </a:r>
          </a:p>
          <a:p>
            <a:pPr>
              <a:lnSpc>
                <a:spcPct val="90000"/>
              </a:lnSpc>
              <a:buNone/>
              <a:tabLst>
                <a:tab pos="1833563" algn="l"/>
              </a:tabLst>
            </a:pPr>
            <a:r>
              <a:rPr lang="en-US" dirty="0" smtClean="0"/>
              <a:t>		arrays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644" y="1274432"/>
            <a:ext cx="3695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8208563" y="6283288"/>
            <a:ext cx="2957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User’s View of a Program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Logical View of Segmentation</a:t>
            </a:r>
          </a:p>
        </p:txBody>
      </p:sp>
      <p:sp>
        <p:nvSpPr>
          <p:cNvPr id="107523" name="Oval 3"/>
          <p:cNvSpPr>
            <a:spLocks noChangeArrowheads="1"/>
          </p:cNvSpPr>
          <p:nvPr/>
        </p:nvSpPr>
        <p:spPr bwMode="auto">
          <a:xfrm>
            <a:off x="2895600" y="1171575"/>
            <a:ext cx="2895600" cy="396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3429000" y="1857375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3276600" y="3000375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107526" name="Rectangle 6"/>
          <p:cNvSpPr>
            <a:spLocks noChangeArrowheads="1"/>
          </p:cNvSpPr>
          <p:nvPr/>
        </p:nvSpPr>
        <p:spPr bwMode="auto">
          <a:xfrm>
            <a:off x="4724400" y="2466975"/>
            <a:ext cx="914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4648200" y="3457575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grpSp>
        <p:nvGrpSpPr>
          <p:cNvPr id="107528" name="Group 24"/>
          <p:cNvGrpSpPr>
            <a:grpSpLocks/>
          </p:cNvGrpSpPr>
          <p:nvPr/>
        </p:nvGrpSpPr>
        <p:grpSpPr bwMode="auto">
          <a:xfrm>
            <a:off x="7162800" y="1171575"/>
            <a:ext cx="1143000" cy="3962400"/>
            <a:chOff x="3888" y="1056"/>
            <a:chExt cx="720" cy="2496"/>
          </a:xfrm>
        </p:grpSpPr>
        <p:grpSp>
          <p:nvGrpSpPr>
            <p:cNvPr id="107531" name="Group 11"/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107542" name="Rectangle 8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sz="1800"/>
              </a:p>
            </p:txBody>
          </p:sp>
          <p:sp>
            <p:nvSpPr>
              <p:cNvPr id="107543" name="Line 9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7532" name="Group 12"/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107540" name="Rectangle 13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sz="1800"/>
              </a:p>
            </p:txBody>
          </p:sp>
          <p:sp>
            <p:nvSpPr>
              <p:cNvPr id="107541" name="Line 14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7533" name="Text Box 15"/>
            <p:cNvSpPr txBox="1">
              <a:spLocks noChangeArrowheads="1"/>
            </p:cNvSpPr>
            <p:nvPr/>
          </p:nvSpPr>
          <p:spPr bwMode="auto">
            <a:xfrm>
              <a:off x="4126" y="113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107534" name="Text Box 16"/>
            <p:cNvSpPr txBox="1">
              <a:spLocks noChangeArrowheads="1"/>
            </p:cNvSpPr>
            <p:nvPr/>
          </p:nvSpPr>
          <p:spPr bwMode="auto">
            <a:xfrm>
              <a:off x="4128" y="1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107535" name="Rectangle 17"/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sz="1800"/>
            </a:p>
          </p:txBody>
        </p:sp>
        <p:sp>
          <p:nvSpPr>
            <p:cNvPr id="107536" name="Rectangle 18"/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sz="1800"/>
            </a:p>
          </p:txBody>
        </p:sp>
        <p:sp>
          <p:nvSpPr>
            <p:cNvPr id="107537" name="Line 19"/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8" name="Text Box 20"/>
            <p:cNvSpPr txBox="1">
              <a:spLocks noChangeArrowheads="1"/>
            </p:cNvSpPr>
            <p:nvPr/>
          </p:nvSpPr>
          <p:spPr bwMode="auto">
            <a:xfrm>
              <a:off x="4128" y="24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107539" name="Text Box 21"/>
            <p:cNvSpPr txBox="1">
              <a:spLocks noChangeArrowheads="1"/>
            </p:cNvSpPr>
            <p:nvPr/>
          </p:nvSpPr>
          <p:spPr bwMode="auto">
            <a:xfrm>
              <a:off x="4128" y="288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107529" name="Text Box 22"/>
          <p:cNvSpPr txBox="1">
            <a:spLocks noChangeArrowheads="1"/>
          </p:cNvSpPr>
          <p:nvPr/>
        </p:nvSpPr>
        <p:spPr bwMode="auto">
          <a:xfrm>
            <a:off x="3546475" y="5256213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user space </a:t>
            </a:r>
          </a:p>
        </p:txBody>
      </p:sp>
      <p:sp>
        <p:nvSpPr>
          <p:cNvPr id="107530" name="Text Box 23"/>
          <p:cNvSpPr txBox="1">
            <a:spLocks noChangeArrowheads="1"/>
          </p:cNvSpPr>
          <p:nvPr/>
        </p:nvSpPr>
        <p:spPr bwMode="auto">
          <a:xfrm>
            <a:off x="6407150" y="5256213"/>
            <a:ext cx="257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physical memory space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136478"/>
            <a:ext cx="10886247" cy="709683"/>
          </a:xfrm>
        </p:spPr>
        <p:txBody>
          <a:bodyPr/>
          <a:lstStyle/>
          <a:p>
            <a:pPr eaLnBrk="1" hangingPunct="1"/>
            <a:r>
              <a:rPr lang="en-US" b="1" dirty="0" smtClean="0"/>
              <a:t>Segmentation Architecture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xfrm>
            <a:off x="150125" y="846160"/>
            <a:ext cx="12041875" cy="6114197"/>
          </a:xfrm>
        </p:spPr>
        <p:txBody>
          <a:bodyPr>
            <a:normAutofit lnSpcReduction="10000"/>
          </a:bodyPr>
          <a:lstStyle/>
          <a:p>
            <a:pPr>
              <a:tabLst>
                <a:tab pos="1830388" algn="l"/>
                <a:tab pos="2857500" algn="ctr"/>
              </a:tabLst>
            </a:pPr>
            <a:r>
              <a:rPr lang="en-US" dirty="0" smtClean="0"/>
              <a:t>Logical address consists of a two tuple:</a:t>
            </a:r>
          </a:p>
          <a:p>
            <a:pPr>
              <a:buNone/>
              <a:tabLst>
                <a:tab pos="1830388" algn="l"/>
                <a:tab pos="2857500" algn="ctr"/>
              </a:tabLst>
            </a:pPr>
            <a:r>
              <a:rPr lang="en-US" dirty="0" smtClean="0"/>
              <a:t>		&lt;segment-number, offset&gt;,</a:t>
            </a:r>
          </a:p>
          <a:p>
            <a:pPr>
              <a:tabLst>
                <a:tab pos="1830388" algn="l"/>
                <a:tab pos="2857500" algn="ctr"/>
              </a:tabLst>
            </a:pPr>
            <a:r>
              <a:rPr lang="en-US" b="1" dirty="0" smtClean="0"/>
              <a:t>Segment table</a:t>
            </a:r>
            <a:r>
              <a:rPr lang="en-US" dirty="0" smtClean="0"/>
              <a:t> – maps two-dimensional physical addresses; each table entry has:</a:t>
            </a:r>
          </a:p>
          <a:p>
            <a:pPr lvl="1">
              <a:tabLst>
                <a:tab pos="1830388" algn="l"/>
                <a:tab pos="2857500" algn="ctr"/>
              </a:tabLst>
            </a:pPr>
            <a:r>
              <a:rPr lang="en-US" b="1" dirty="0" smtClean="0">
                <a:ea typeface="ＭＳ Ｐゴシック" panose="020B0600070205080204" pitchFamily="34" charset="-128"/>
              </a:rPr>
              <a:t>base</a:t>
            </a:r>
            <a:r>
              <a:rPr lang="en-US" dirty="0" smtClean="0">
                <a:ea typeface="ＭＳ Ｐゴシック" panose="020B0600070205080204" pitchFamily="34" charset="-128"/>
              </a:rPr>
              <a:t> – contains the starting physical address where the segments reside in memory</a:t>
            </a:r>
          </a:p>
          <a:p>
            <a:pPr lvl="1">
              <a:tabLst>
                <a:tab pos="1830388" algn="l"/>
                <a:tab pos="2857500" algn="ctr"/>
              </a:tabLst>
            </a:pPr>
            <a:r>
              <a:rPr lang="en-US" b="1" dirty="0" smtClean="0">
                <a:ea typeface="ＭＳ Ｐゴシック" panose="020B0600070205080204" pitchFamily="34" charset="-128"/>
              </a:rPr>
              <a:t>limit</a:t>
            </a:r>
            <a:r>
              <a:rPr lang="en-US" dirty="0" smtClean="0">
                <a:ea typeface="ＭＳ Ｐゴシック" panose="020B0600070205080204" pitchFamily="34" charset="-128"/>
              </a:rPr>
              <a:t> – specifies the length of the segment</a:t>
            </a:r>
          </a:p>
          <a:p>
            <a:pPr>
              <a:tabLst>
                <a:tab pos="1830388" algn="l"/>
                <a:tab pos="2857500" algn="ctr"/>
              </a:tabLst>
            </a:pPr>
            <a:r>
              <a:rPr lang="en-US" b="1" dirty="0" smtClean="0"/>
              <a:t>Segment-table base register (STBR)</a:t>
            </a:r>
            <a:r>
              <a:rPr lang="en-US" dirty="0" smtClean="0"/>
              <a:t> points to the segment table’s location in memory</a:t>
            </a:r>
          </a:p>
          <a:p>
            <a:pPr>
              <a:tabLst>
                <a:tab pos="1830388" algn="l"/>
                <a:tab pos="2857500" algn="ctr"/>
              </a:tabLst>
            </a:pPr>
            <a:r>
              <a:rPr lang="en-US" b="1" dirty="0" smtClean="0"/>
              <a:t>Segment-table length register (STLR)</a:t>
            </a:r>
            <a:r>
              <a:rPr lang="en-US" dirty="0" smtClean="0"/>
              <a:t> indicates number of segments used by a program;</a:t>
            </a:r>
          </a:p>
          <a:p>
            <a:pPr>
              <a:buNone/>
              <a:tabLst>
                <a:tab pos="1830388" algn="l"/>
                <a:tab pos="2857500" algn="ctr"/>
              </a:tabLst>
            </a:pPr>
            <a:r>
              <a:rPr lang="en-US" dirty="0" smtClean="0"/>
              <a:t>	                  segment number </a:t>
            </a:r>
            <a:r>
              <a:rPr lang="en-US" b="1" i="1" dirty="0" smtClean="0"/>
              <a:t>s</a:t>
            </a:r>
            <a:r>
              <a:rPr lang="en-US" dirty="0" smtClean="0"/>
              <a:t> is legal if </a:t>
            </a:r>
            <a:r>
              <a:rPr lang="en-US" b="1" i="1" dirty="0" smtClean="0"/>
              <a:t>s</a:t>
            </a:r>
            <a:r>
              <a:rPr lang="en-US" dirty="0" smtClean="0"/>
              <a:t> &lt; </a:t>
            </a:r>
            <a:r>
              <a:rPr lang="en-US" b="1" dirty="0" smtClean="0"/>
              <a:t>STLR</a:t>
            </a:r>
          </a:p>
          <a:p>
            <a:r>
              <a:rPr lang="en-US" b="1" dirty="0"/>
              <a:t>Protection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With each entry in segment table associate:</a:t>
            </a:r>
          </a:p>
          <a:p>
            <a:pPr lvl="2"/>
            <a:r>
              <a:rPr lang="en-US" dirty="0">
                <a:ea typeface="ＭＳ Ｐゴシック" panose="020B0600070205080204" pitchFamily="34" charset="-128"/>
              </a:rPr>
              <a:t>validation bit = 0 </a:t>
            </a:r>
            <a:r>
              <a:rPr 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 illegal segment</a:t>
            </a:r>
          </a:p>
          <a:p>
            <a:pPr lvl="2"/>
            <a:r>
              <a:rPr 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read/write/execute privileges</a:t>
            </a:r>
          </a:p>
          <a:p>
            <a:r>
              <a:rPr lang="en-US" dirty="0"/>
              <a:t>Protection bits associated with segments; code sharing occurs at segment level</a:t>
            </a:r>
          </a:p>
          <a:p>
            <a:r>
              <a:rPr lang="en-US" dirty="0"/>
              <a:t>Since segments vary in length, memory allocation is a dynamic storage-allocation problem</a:t>
            </a:r>
          </a:p>
          <a:p>
            <a:r>
              <a:rPr lang="en-US" dirty="0"/>
              <a:t>A segmentation example is shown in the following diagram</a:t>
            </a:r>
          </a:p>
          <a:p>
            <a:pPr>
              <a:buNone/>
              <a:tabLst>
                <a:tab pos="1830388" algn="l"/>
                <a:tab pos="2857500" algn="ctr"/>
              </a:tabLst>
            </a:pPr>
            <a:endParaRPr lang="en-US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Segmentation Hardware</a:t>
            </a:r>
            <a:endParaRPr lang="en-US" sz="2400"/>
          </a:p>
        </p:txBody>
      </p:sp>
      <p:pic>
        <p:nvPicPr>
          <p:cNvPr id="11366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1419225"/>
            <a:ext cx="6357938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of Segmentation</a:t>
            </a:r>
            <a:endParaRPr lang="en-US" sz="2400"/>
          </a:p>
        </p:txBody>
      </p:sp>
      <p:pic>
        <p:nvPicPr>
          <p:cNvPr id="1157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0" y="1214439"/>
            <a:ext cx="554990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122830"/>
            <a:ext cx="10831656" cy="846161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Virtual Memory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968991"/>
            <a:ext cx="9918702" cy="4795223"/>
          </a:xfrm>
        </p:spPr>
        <p:txBody>
          <a:bodyPr/>
          <a:lstStyle/>
          <a:p>
            <a:r>
              <a:rPr lang="en-US" dirty="0" smtClean="0"/>
              <a:t>Background</a:t>
            </a:r>
          </a:p>
          <a:p>
            <a:r>
              <a:rPr lang="en-US" dirty="0" smtClean="0"/>
              <a:t>Demand Paging</a:t>
            </a:r>
          </a:p>
          <a:p>
            <a:r>
              <a:rPr lang="en-US" dirty="0" smtClean="0"/>
              <a:t>Copy-on-Write</a:t>
            </a:r>
          </a:p>
          <a:p>
            <a:r>
              <a:rPr lang="en-US" dirty="0" smtClean="0"/>
              <a:t>Page Replacement</a:t>
            </a:r>
          </a:p>
          <a:p>
            <a:r>
              <a:rPr lang="en-US" dirty="0" smtClean="0"/>
              <a:t>Allocation of Frames </a:t>
            </a:r>
          </a:p>
          <a:p>
            <a:r>
              <a:rPr lang="en-US" smtClean="0"/>
              <a:t>Thrashing</a:t>
            </a:r>
            <a:endParaRPr lang="en-US" dirty="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64275"/>
          </a:xfrm>
        </p:spPr>
        <p:txBody>
          <a:bodyPr/>
          <a:lstStyle/>
          <a:p>
            <a:pPr eaLnBrk="1" hangingPunct="1"/>
            <a:r>
              <a:rPr lang="en-US" b="1" dirty="0" smtClean="0"/>
              <a:t>Background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64275"/>
            <a:ext cx="11322976" cy="4999939"/>
          </a:xfrm>
        </p:spPr>
        <p:txBody>
          <a:bodyPr/>
          <a:lstStyle/>
          <a:p>
            <a:r>
              <a:rPr lang="en-US" b="1" dirty="0" smtClean="0"/>
              <a:t>Virtual memory</a:t>
            </a:r>
            <a:r>
              <a:rPr lang="en-US" dirty="0" smtClean="0"/>
              <a:t> – separation of user logical memory from physical memory.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Only part of the program needs to be in memory for execution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Logical address space can therefore be much larger than physical address space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Allows address spaces to be shared by several processes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Allows for more efficient process creation</a:t>
            </a:r>
            <a:br>
              <a:rPr lang="en-US" dirty="0" smtClean="0">
                <a:ea typeface="ＭＳ Ｐゴシック" panose="020B0600070205080204" pitchFamily="34" charset="-128"/>
              </a:rPr>
            </a:br>
            <a:endParaRPr lang="en-US" dirty="0" smtClean="0">
              <a:ea typeface="ＭＳ Ｐゴシック" panose="020B0600070205080204" pitchFamily="34" charset="-128"/>
            </a:endParaRPr>
          </a:p>
          <a:p>
            <a:r>
              <a:rPr lang="en-US" dirty="0" smtClean="0"/>
              <a:t>Virtual memory can be implemented via: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Demand paging 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Demand segmentation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76164"/>
            <a:ext cx="9404723" cy="527086"/>
          </a:xfrm>
        </p:spPr>
        <p:txBody>
          <a:bodyPr/>
          <a:lstStyle/>
          <a:p>
            <a:pPr eaLnBrk="1" hangingPunct="1"/>
            <a:endParaRPr lang="en-US" sz="2400" b="1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0" y="1078173"/>
            <a:ext cx="5704764" cy="5178165"/>
          </a:xfrm>
        </p:spPr>
        <p:txBody>
          <a:bodyPr/>
          <a:lstStyle/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pPr marL="0" indent="0" algn="ctr">
              <a:buNone/>
            </a:pPr>
            <a:r>
              <a:rPr lang="en-US" b="1" dirty="0" smtClean="0"/>
              <a:t>Virtual Memory That is Larger Than Physical Memory</a:t>
            </a:r>
            <a:endParaRPr lang="en-US" dirty="0"/>
          </a:p>
        </p:txBody>
      </p:sp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379"/>
            <a:ext cx="5704761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103" y="1077913"/>
            <a:ext cx="2339731" cy="462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7566345" y="5887006"/>
            <a:ext cx="2629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Virtual-address Space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Shared Library Using Virtual Memory</a:t>
            </a:r>
          </a:p>
        </p:txBody>
      </p:sp>
      <p:pic>
        <p:nvPicPr>
          <p:cNvPr id="2765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539" y="1273175"/>
            <a:ext cx="6770687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0251" y="0"/>
            <a:ext cx="9750583" cy="900752"/>
          </a:xfrm>
        </p:spPr>
        <p:txBody>
          <a:bodyPr/>
          <a:lstStyle/>
          <a:p>
            <a:pPr eaLnBrk="1" hangingPunct="1"/>
            <a:r>
              <a:rPr lang="en-US" b="1" dirty="0" smtClean="0"/>
              <a:t>Demand Paging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0251" y="900752"/>
            <a:ext cx="11327641" cy="5347647"/>
          </a:xfrm>
        </p:spPr>
        <p:txBody>
          <a:bodyPr>
            <a:normAutofit/>
          </a:bodyPr>
          <a:lstStyle/>
          <a:p>
            <a:r>
              <a:rPr lang="en-US" dirty="0" smtClean="0"/>
              <a:t>Bring a page into memory only when it is needed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Less I/O needed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Less memory needed 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Faster response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More users</a:t>
            </a:r>
            <a:br>
              <a:rPr lang="en-US" dirty="0" smtClean="0">
                <a:ea typeface="ＭＳ Ｐゴシック" panose="020B0600070205080204" pitchFamily="34" charset="-128"/>
              </a:rPr>
            </a:br>
            <a:endParaRPr lang="en-US" dirty="0" smtClean="0">
              <a:ea typeface="ＭＳ Ｐゴシック" panose="020B0600070205080204" pitchFamily="34" charset="-128"/>
            </a:endParaRPr>
          </a:p>
          <a:p>
            <a:r>
              <a:rPr lang="en-US" dirty="0" smtClean="0"/>
              <a:t>Page is needed </a:t>
            </a:r>
            <a:r>
              <a:rPr lang="en-US" dirty="0" smtClean="0">
                <a:sym typeface="Symbol" panose="05050102010706020507" pitchFamily="18" charset="2"/>
              </a:rPr>
              <a:t> reference to it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invalid reference 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 abort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not-in-memory  bring to memory</a:t>
            </a:r>
          </a:p>
          <a:p>
            <a:r>
              <a:rPr lang="en-US" b="1" dirty="0" smtClean="0">
                <a:sym typeface="Symbol" panose="05050102010706020507" pitchFamily="18" charset="2"/>
              </a:rPr>
              <a:t>Lazy swapper</a:t>
            </a:r>
            <a:r>
              <a:rPr lang="en-US" dirty="0" smtClean="0">
                <a:sym typeface="Symbol" panose="05050102010706020507" pitchFamily="18" charset="2"/>
              </a:rPr>
              <a:t> – never swaps a page into memory unless page will be needed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Swapper that deals with pages is a </a:t>
            </a:r>
            <a:r>
              <a:rPr lang="en-US" b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pager</a:t>
            </a:r>
          </a:p>
          <a:p>
            <a:pPr lvl="1">
              <a:buFont typeface="Monotype Sorts" charset="2"/>
              <a:buNone/>
            </a:pPr>
            <a:endParaRPr lang="en-US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17738" y="0"/>
            <a:ext cx="8350250" cy="844550"/>
          </a:xfrm>
        </p:spPr>
        <p:txBody>
          <a:bodyPr/>
          <a:lstStyle/>
          <a:p>
            <a:pPr eaLnBrk="1" hangingPunct="1"/>
            <a:r>
              <a:rPr lang="en-US" sz="2400"/>
              <a:t>Transfer of a Paged Memory to Contiguous Disk Space</a:t>
            </a: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1265238"/>
            <a:ext cx="5227638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Valid-Invalid Bit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5850" y="1282700"/>
            <a:ext cx="7245350" cy="571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/>
              <a:t>With each page table entry a valid–invalid bit is associated</a:t>
            </a:r>
            <a:br>
              <a:rPr lang="en-US" sz="1600"/>
            </a:br>
            <a:r>
              <a:rPr lang="en-US" sz="1600"/>
              <a:t>(</a:t>
            </a:r>
            <a:r>
              <a:rPr lang="en-US" sz="1600" b="1">
                <a:solidFill>
                  <a:srgbClr val="FF0000"/>
                </a:solidFill>
              </a:rPr>
              <a:t>v</a:t>
            </a:r>
            <a:r>
              <a:rPr lang="en-US" sz="1600"/>
              <a:t> </a:t>
            </a:r>
            <a:r>
              <a:rPr lang="en-US" sz="1600">
                <a:sym typeface="Symbol" panose="05050102010706020507" pitchFamily="18" charset="2"/>
              </a:rPr>
              <a:t> in-memory,</a:t>
            </a:r>
            <a:r>
              <a:rPr lang="en-US" sz="160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1600" b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sz="1600">
                <a:sym typeface="Symbol" panose="05050102010706020507" pitchFamily="18" charset="2"/>
              </a:rPr>
              <a:t>  not-in-memory)</a:t>
            </a:r>
          </a:p>
          <a:p>
            <a:pPr>
              <a:lnSpc>
                <a:spcPct val="90000"/>
              </a:lnSpc>
            </a:pPr>
            <a:r>
              <a:rPr lang="en-US" sz="1600">
                <a:sym typeface="Symbol" panose="05050102010706020507" pitchFamily="18" charset="2"/>
              </a:rPr>
              <a:t>Initially valid–invalid bit is set to</a:t>
            </a:r>
            <a:r>
              <a:rPr lang="en-US" sz="1600" b="1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sz="1600">
                <a:sym typeface="Symbol" panose="05050102010706020507" pitchFamily="18" charset="2"/>
              </a:rPr>
              <a:t>on all entries</a:t>
            </a:r>
          </a:p>
          <a:p>
            <a:pPr>
              <a:lnSpc>
                <a:spcPct val="90000"/>
              </a:lnSpc>
            </a:pPr>
            <a:r>
              <a:rPr lang="en-US" sz="1600">
                <a:sym typeface="Symbol" panose="05050102010706020507" pitchFamily="18" charset="2"/>
              </a:rPr>
              <a:t>Example of a page table snapshot:</a:t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r>
              <a:rPr lang="en-US" sz="1600">
                <a:sym typeface="Symbol" panose="05050102010706020507" pitchFamily="18" charset="2"/>
              </a:rPr>
              <a:t/>
            </a:r>
            <a:br>
              <a:rPr lang="en-US" sz="1600">
                <a:sym typeface="Symbol" panose="05050102010706020507" pitchFamily="18" charset="2"/>
              </a:rPr>
            </a:br>
            <a:endParaRPr lang="en-US" sz="16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1600">
                <a:sym typeface="Symbol" panose="05050102010706020507" pitchFamily="18" charset="2"/>
              </a:rPr>
              <a:t>During address translation, if valid–invalid bit in page table entry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sz="1600">
                <a:sym typeface="Symbol" panose="05050102010706020507" pitchFamily="18" charset="2"/>
              </a:rPr>
              <a:t>      is</a:t>
            </a:r>
            <a:r>
              <a:rPr lang="en-US" sz="1600" b="1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sz="1600">
                <a:sym typeface="Symbol" panose="05050102010706020507" pitchFamily="18" charset="2"/>
              </a:rPr>
              <a:t>  page fault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475163" y="2867025"/>
            <a:ext cx="1878012" cy="2667000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4425950" y="31511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4425950" y="34559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>
            <a:off x="4425950" y="37607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4425950" y="40655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Line 10"/>
          <p:cNvSpPr>
            <a:spLocks noChangeShapeType="1"/>
          </p:cNvSpPr>
          <p:nvPr/>
        </p:nvSpPr>
        <p:spPr bwMode="auto">
          <a:xfrm>
            <a:off x="4425950" y="43703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Line 11"/>
          <p:cNvSpPr>
            <a:spLocks noChangeShapeType="1"/>
          </p:cNvSpPr>
          <p:nvPr/>
        </p:nvSpPr>
        <p:spPr bwMode="auto">
          <a:xfrm>
            <a:off x="4425950" y="49276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Line 12"/>
          <p:cNvSpPr>
            <a:spLocks noChangeShapeType="1"/>
          </p:cNvSpPr>
          <p:nvPr/>
        </p:nvSpPr>
        <p:spPr bwMode="auto">
          <a:xfrm>
            <a:off x="4425950" y="52085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4" name="Line 13"/>
          <p:cNvSpPr>
            <a:spLocks noChangeShapeType="1"/>
          </p:cNvSpPr>
          <p:nvPr/>
        </p:nvSpPr>
        <p:spPr bwMode="auto">
          <a:xfrm>
            <a:off x="5873750" y="2541588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5" name="Text Box 14"/>
          <p:cNvSpPr txBox="1">
            <a:spLocks noChangeArrowheads="1"/>
          </p:cNvSpPr>
          <p:nvPr/>
        </p:nvSpPr>
        <p:spPr bwMode="auto">
          <a:xfrm>
            <a:off x="5949073" y="2816503"/>
            <a:ext cx="3129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panose="020B0604020202020204" pitchFamily="34" charset="0"/>
              </a:rPr>
              <a:t>v</a:t>
            </a:r>
          </a:p>
        </p:txBody>
      </p:sp>
      <p:sp>
        <p:nvSpPr>
          <p:cNvPr id="33806" name="Text Box 15"/>
          <p:cNvSpPr txBox="1">
            <a:spLocks noChangeArrowheads="1"/>
          </p:cNvSpPr>
          <p:nvPr/>
        </p:nvSpPr>
        <p:spPr bwMode="auto">
          <a:xfrm>
            <a:off x="5950660" y="3116541"/>
            <a:ext cx="3129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panose="020B0604020202020204" pitchFamily="34" charset="0"/>
              </a:rPr>
              <a:t>v</a:t>
            </a:r>
          </a:p>
        </p:txBody>
      </p:sp>
      <p:sp>
        <p:nvSpPr>
          <p:cNvPr id="33807" name="Text Box 16"/>
          <p:cNvSpPr txBox="1">
            <a:spLocks noChangeArrowheads="1"/>
          </p:cNvSpPr>
          <p:nvPr/>
        </p:nvSpPr>
        <p:spPr bwMode="auto">
          <a:xfrm>
            <a:off x="5949073" y="3416578"/>
            <a:ext cx="3129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panose="020B0604020202020204" pitchFamily="34" charset="0"/>
              </a:rPr>
              <a:t>v</a:t>
            </a:r>
          </a:p>
        </p:txBody>
      </p:sp>
      <p:sp>
        <p:nvSpPr>
          <p:cNvPr id="33808" name="Text Box 17"/>
          <p:cNvSpPr txBox="1">
            <a:spLocks noChangeArrowheads="1"/>
          </p:cNvSpPr>
          <p:nvPr/>
        </p:nvSpPr>
        <p:spPr bwMode="auto">
          <a:xfrm>
            <a:off x="5950660" y="3745191"/>
            <a:ext cx="3129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panose="020B0604020202020204" pitchFamily="34" charset="0"/>
              </a:rPr>
              <a:t>v</a:t>
            </a:r>
          </a:p>
        </p:txBody>
      </p:sp>
      <p:sp>
        <p:nvSpPr>
          <p:cNvPr id="33809" name="Text Box 18"/>
          <p:cNvSpPr txBox="1">
            <a:spLocks noChangeArrowheads="1"/>
          </p:cNvSpPr>
          <p:nvPr/>
        </p:nvSpPr>
        <p:spPr bwMode="auto">
          <a:xfrm>
            <a:off x="5981700" y="4065588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panose="020B0604020202020204" pitchFamily="34" charset="0"/>
              </a:rPr>
              <a:t>i</a:t>
            </a:r>
          </a:p>
        </p:txBody>
      </p:sp>
      <p:sp>
        <p:nvSpPr>
          <p:cNvPr id="33810" name="Text Box 19"/>
          <p:cNvSpPr txBox="1">
            <a:spLocks noChangeArrowheads="1"/>
          </p:cNvSpPr>
          <p:nvPr/>
        </p:nvSpPr>
        <p:spPr bwMode="auto">
          <a:xfrm>
            <a:off x="5981700" y="4903788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panose="020B0604020202020204" pitchFamily="34" charset="0"/>
              </a:rPr>
              <a:t>i</a:t>
            </a:r>
          </a:p>
        </p:txBody>
      </p:sp>
      <p:sp>
        <p:nvSpPr>
          <p:cNvPr id="33811" name="Text Box 20"/>
          <p:cNvSpPr txBox="1">
            <a:spLocks noChangeArrowheads="1"/>
          </p:cNvSpPr>
          <p:nvPr/>
        </p:nvSpPr>
        <p:spPr bwMode="auto">
          <a:xfrm>
            <a:off x="5981700" y="5208588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panose="020B0604020202020204" pitchFamily="34" charset="0"/>
              </a:rPr>
              <a:t>i</a:t>
            </a:r>
          </a:p>
        </p:txBody>
      </p:sp>
      <p:sp>
        <p:nvSpPr>
          <p:cNvPr id="33812" name="Text Box 21"/>
          <p:cNvSpPr txBox="1">
            <a:spLocks noChangeArrowheads="1"/>
          </p:cNvSpPr>
          <p:nvPr/>
        </p:nvSpPr>
        <p:spPr bwMode="auto">
          <a:xfrm>
            <a:off x="4927600" y="44465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….</a:t>
            </a:r>
          </a:p>
        </p:txBody>
      </p:sp>
      <p:sp>
        <p:nvSpPr>
          <p:cNvPr id="33813" name="Text Box 22"/>
          <p:cNvSpPr txBox="1">
            <a:spLocks noChangeArrowheads="1"/>
          </p:cNvSpPr>
          <p:nvPr/>
        </p:nvSpPr>
        <p:spPr bwMode="auto">
          <a:xfrm>
            <a:off x="4781551" y="2541588"/>
            <a:ext cx="842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Frame #</a:t>
            </a:r>
          </a:p>
        </p:txBody>
      </p:sp>
      <p:sp>
        <p:nvSpPr>
          <p:cNvPr id="33814" name="Text Box 23"/>
          <p:cNvSpPr txBox="1">
            <a:spLocks noChangeArrowheads="1"/>
          </p:cNvSpPr>
          <p:nvPr/>
        </p:nvSpPr>
        <p:spPr bwMode="auto">
          <a:xfrm>
            <a:off x="5897564" y="2541588"/>
            <a:ext cx="13477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valid-invalid bit</a:t>
            </a:r>
          </a:p>
        </p:txBody>
      </p:sp>
      <p:sp>
        <p:nvSpPr>
          <p:cNvPr id="33815" name="Text Box 24"/>
          <p:cNvSpPr txBox="1">
            <a:spLocks noChangeArrowheads="1"/>
          </p:cNvSpPr>
          <p:nvPr/>
        </p:nvSpPr>
        <p:spPr bwMode="auto">
          <a:xfrm>
            <a:off x="4976814" y="5513388"/>
            <a:ext cx="1011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panose="020B0604020202020204" pitchFamily="34" charset="0"/>
              </a:rPr>
              <a:t>page table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70113" y="0"/>
            <a:ext cx="8361362" cy="844550"/>
          </a:xfrm>
        </p:spPr>
        <p:txBody>
          <a:bodyPr/>
          <a:lstStyle/>
          <a:p>
            <a:pPr eaLnBrk="1" hangingPunct="1"/>
            <a:r>
              <a:rPr lang="en-US" sz="2400"/>
              <a:t>Page Table When Some Pages Are Not in Main Memory</a:t>
            </a:r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5" y="1243014"/>
            <a:ext cx="474345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36979"/>
          </a:xfrm>
        </p:spPr>
        <p:txBody>
          <a:bodyPr/>
          <a:lstStyle/>
          <a:p>
            <a:pPr eaLnBrk="1" hangingPunct="1"/>
            <a:r>
              <a:rPr lang="en-US" b="1" dirty="0" smtClean="0"/>
              <a:t>Page Fault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36979"/>
            <a:ext cx="11186498" cy="554099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If there is a reference to a page, first reference to that page will trap to operating system: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dirty="0" smtClean="0">
                <a:sym typeface="Symbol" panose="05050102010706020507" pitchFamily="18" charset="2"/>
              </a:rPr>
              <a:t>              </a:t>
            </a:r>
            <a:r>
              <a:rPr lang="en-US" b="1" dirty="0" smtClean="0">
                <a:sym typeface="Symbol" panose="05050102010706020507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dirty="0" smtClean="0">
                <a:sym typeface="Symbol" panose="05050102010706020507" pitchFamily="18" charset="2"/>
              </a:rPr>
              <a:t>Operating system looks at another table to decide: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Invalid reference 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 abort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dirty="0" smtClean="0">
                <a:sym typeface="Symbol" panose="05050102010706020507" pitchFamily="18" charset="2"/>
              </a:rPr>
              <a:t>Get empty frame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dirty="0" smtClean="0">
                <a:sym typeface="Symbol" panose="05050102010706020507" pitchFamily="18" charset="2"/>
              </a:rPr>
              <a:t>Swap page into frame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dirty="0" smtClean="0">
                <a:sym typeface="Symbol" panose="05050102010706020507" pitchFamily="18" charset="2"/>
              </a:rPr>
              <a:t>Reset tables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dirty="0" smtClean="0">
                <a:sym typeface="Symbol" panose="05050102010706020507" pitchFamily="18" charset="2"/>
              </a:rPr>
              <a:t>Set validation bit = </a:t>
            </a:r>
            <a:r>
              <a:rPr lang="en-US" b="1" dirty="0" smtClean="0">
                <a:sym typeface="Symbol" panose="05050102010706020507" pitchFamily="18" charset="2"/>
              </a:rPr>
              <a:t>v</a:t>
            </a:r>
            <a:endParaRPr lang="en-US" dirty="0" smtClean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 dirty="0" smtClean="0">
                <a:sym typeface="Symbol" panose="05050102010706020507" pitchFamily="18" charset="2"/>
              </a:rPr>
              <a:t>Restart the instruction that caused the page </a:t>
            </a:r>
            <a:r>
              <a:rPr lang="en-US" dirty="0" smtClean="0">
                <a:sym typeface="Symbol" panose="05050102010706020507" pitchFamily="18" charset="2"/>
              </a:rPr>
              <a:t>fault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ym typeface="Symbol" panose="05050102010706020507" pitchFamily="18" charset="2"/>
              </a:rPr>
              <a:t>Restart instruction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block </a:t>
            </a:r>
            <a:r>
              <a:rPr lang="en-US" sz="160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move</a:t>
            </a:r>
          </a:p>
          <a:p>
            <a:pPr lvl="1">
              <a:lnSpc>
                <a:spcPct val="90000"/>
              </a:lnSpc>
            </a:pPr>
            <a:endParaRPr lang="en-US" sz="16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sz="1600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160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auto </a:t>
            </a:r>
            <a:r>
              <a:rPr lang="en-US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increment/decrement location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/>
            </a:r>
            <a:br>
              <a:rPr lang="en-US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/>
            </a:r>
            <a:br>
              <a:rPr lang="en-US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endParaRPr lang="en-US" dirty="0" smtClean="0">
              <a:sym typeface="Symbol" panose="05050102010706020507" pitchFamily="18" charset="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820833" y="4311838"/>
            <a:ext cx="799389" cy="5868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3620222" y="4194647"/>
            <a:ext cx="382659" cy="410618"/>
          </a:xfrm>
          <a:custGeom>
            <a:avLst/>
            <a:gdLst>
              <a:gd name="T0" fmla="*/ 336 w 344"/>
              <a:gd name="T1" fmla="*/ 376 h 376"/>
              <a:gd name="T2" fmla="*/ 288 w 344"/>
              <a:gd name="T3" fmla="*/ 40 h 376"/>
              <a:gd name="T4" fmla="*/ 0 w 344"/>
              <a:gd name="T5" fmla="*/ 136 h 376"/>
              <a:gd name="T6" fmla="*/ 0 60000 65536"/>
              <a:gd name="T7" fmla="*/ 0 60000 65536"/>
              <a:gd name="T8" fmla="*/ 0 60000 65536"/>
              <a:gd name="T9" fmla="*/ 0 w 344"/>
              <a:gd name="T10" fmla="*/ 0 h 376"/>
              <a:gd name="T11" fmla="*/ 344 w 344"/>
              <a:gd name="T12" fmla="*/ 376 h 3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376">
                <a:moveTo>
                  <a:pt x="336" y="376"/>
                </a:moveTo>
                <a:cubicBezTo>
                  <a:pt x="340" y="228"/>
                  <a:pt x="344" y="80"/>
                  <a:pt x="288" y="40"/>
                </a:cubicBezTo>
                <a:cubicBezTo>
                  <a:pt x="232" y="0"/>
                  <a:pt x="116" y="68"/>
                  <a:pt x="0" y="1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411857" y="4558588"/>
            <a:ext cx="799389" cy="5930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Steps in Handling a Page Fault</a:t>
            </a:r>
          </a:p>
        </p:txBody>
      </p:sp>
      <p:pic>
        <p:nvPicPr>
          <p:cNvPr id="4198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4" y="1303338"/>
            <a:ext cx="6156325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77922"/>
          </a:xfrm>
        </p:spPr>
        <p:txBody>
          <a:bodyPr/>
          <a:lstStyle/>
          <a:p>
            <a:pPr eaLnBrk="1" hangingPunct="1"/>
            <a:r>
              <a:rPr lang="en-US" b="1" dirty="0" smtClean="0"/>
              <a:t>Performance of Demand Paging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77922"/>
            <a:ext cx="10749769" cy="5470477"/>
          </a:xfrm>
        </p:spPr>
        <p:txBody>
          <a:bodyPr>
            <a:normAutofit/>
          </a:bodyPr>
          <a:lstStyle/>
          <a:p>
            <a:pPr>
              <a:tabLst>
                <a:tab pos="2165350" algn="l"/>
                <a:tab pos="2857500" algn="l"/>
              </a:tabLst>
            </a:pPr>
            <a:r>
              <a:rPr lang="en-US" dirty="0" smtClean="0"/>
              <a:t>Page Fault Rate 0 </a:t>
            </a:r>
            <a:r>
              <a:rPr lang="en-US" dirty="0" smtClean="0">
                <a:sym typeface="Symbol" panose="05050102010706020507" pitchFamily="18" charset="2"/>
              </a:rPr>
              <a:t> </a:t>
            </a:r>
            <a:r>
              <a:rPr lang="en-US" i="1" dirty="0" smtClean="0">
                <a:sym typeface="Symbol" panose="05050102010706020507" pitchFamily="18" charset="2"/>
              </a:rPr>
              <a:t>p</a:t>
            </a:r>
            <a:r>
              <a:rPr lang="en-US" dirty="0" smtClean="0">
                <a:sym typeface="Symbol" panose="05050102010706020507" pitchFamily="18" charset="2"/>
              </a:rPr>
              <a:t>  1.0</a:t>
            </a:r>
          </a:p>
          <a:p>
            <a:pPr lvl="1">
              <a:tabLst>
                <a:tab pos="2165350" algn="l"/>
                <a:tab pos="2857500" algn="l"/>
              </a:tabLst>
            </a:pP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5350" algn="l"/>
                <a:tab pos="2857500" algn="l"/>
              </a:tabLst>
            </a:pP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= 1, every reference is a fault</a:t>
            </a:r>
            <a:b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endParaRPr lang="en-US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tabLst>
                <a:tab pos="2165350" algn="l"/>
                <a:tab pos="2857500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Effective Access Time (EAT)</a:t>
            </a:r>
          </a:p>
          <a:p>
            <a:pPr>
              <a:buNone/>
              <a:tabLst>
                <a:tab pos="2165350" algn="l"/>
                <a:tab pos="2857500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		EAT = (1 – </a:t>
            </a:r>
            <a:r>
              <a:rPr lang="en-US" i="1" dirty="0" smtClean="0">
                <a:sym typeface="Symbol" panose="05050102010706020507" pitchFamily="18" charset="2"/>
              </a:rPr>
              <a:t>p</a:t>
            </a:r>
            <a:r>
              <a:rPr lang="en-US" dirty="0" smtClean="0">
                <a:sym typeface="Symbol" panose="05050102010706020507" pitchFamily="18" charset="2"/>
              </a:rPr>
              <a:t>) x memory access</a:t>
            </a:r>
          </a:p>
          <a:p>
            <a:pPr>
              <a:buNone/>
              <a:tabLst>
                <a:tab pos="2165350" algn="l"/>
                <a:tab pos="2857500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			+ </a:t>
            </a:r>
            <a:r>
              <a:rPr lang="en-US" i="1" dirty="0" smtClean="0">
                <a:sym typeface="Symbol" panose="05050102010706020507" pitchFamily="18" charset="2"/>
              </a:rPr>
              <a:t>p</a:t>
            </a:r>
            <a:r>
              <a:rPr lang="en-US" dirty="0" smtClean="0">
                <a:sym typeface="Symbol" panose="05050102010706020507" pitchFamily="18" charset="2"/>
              </a:rPr>
              <a:t> (page fault overhead</a:t>
            </a:r>
          </a:p>
          <a:p>
            <a:pPr>
              <a:buNone/>
              <a:tabLst>
                <a:tab pos="2165350" algn="l"/>
                <a:tab pos="2857500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			           + swap page out</a:t>
            </a:r>
          </a:p>
          <a:p>
            <a:pPr>
              <a:buNone/>
              <a:tabLst>
                <a:tab pos="2165350" algn="l"/>
                <a:tab pos="2857500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			           + swap page in</a:t>
            </a:r>
          </a:p>
          <a:p>
            <a:pPr>
              <a:buNone/>
              <a:tabLst>
                <a:tab pos="2165350" algn="l"/>
                <a:tab pos="2857500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			           + restart overhead</a:t>
            </a:r>
          </a:p>
          <a:p>
            <a:pPr>
              <a:buNone/>
              <a:tabLst>
                <a:tab pos="2165350" algn="l"/>
                <a:tab pos="2857500" algn="l"/>
              </a:tabLst>
            </a:pPr>
            <a:r>
              <a:rPr lang="en-US" dirty="0" smtClean="0">
                <a:sym typeface="Symbol" panose="05050102010706020507" pitchFamily="18" charset="2"/>
              </a:rPr>
              <a:t>                                                     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805218"/>
          </a:xfrm>
        </p:spPr>
        <p:txBody>
          <a:bodyPr/>
          <a:lstStyle/>
          <a:p>
            <a:pPr eaLnBrk="1" hangingPunct="1"/>
            <a:r>
              <a:rPr lang="en-US" b="1" dirty="0" smtClean="0"/>
              <a:t>Demand Paging Example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805218"/>
            <a:ext cx="10845303" cy="5443181"/>
          </a:xfrm>
        </p:spPr>
        <p:txBody>
          <a:bodyPr>
            <a:normAutofit/>
          </a:bodyPr>
          <a:lstStyle/>
          <a:p>
            <a:pPr>
              <a:tabLst>
                <a:tab pos="1774825" algn="l"/>
                <a:tab pos="2279650" algn="l"/>
              </a:tabLst>
            </a:pPr>
            <a:r>
              <a:rPr lang="en-US" dirty="0" smtClean="0"/>
              <a:t>Memory access time = 200 nanoseconds</a:t>
            </a:r>
          </a:p>
          <a:p>
            <a:pPr>
              <a:buNone/>
              <a:tabLst>
                <a:tab pos="1774825" algn="l"/>
                <a:tab pos="2279650" algn="l"/>
              </a:tabLst>
            </a:pPr>
            <a:endParaRPr lang="en-US" dirty="0" smtClean="0"/>
          </a:p>
          <a:p>
            <a:pPr>
              <a:tabLst>
                <a:tab pos="1774825" algn="l"/>
                <a:tab pos="2279650" algn="l"/>
              </a:tabLst>
            </a:pPr>
            <a:r>
              <a:rPr lang="en-US" dirty="0" smtClean="0"/>
              <a:t>Average page-fault service time = 8 milliseconds</a:t>
            </a:r>
            <a:br>
              <a:rPr lang="en-US" dirty="0" smtClean="0"/>
            </a:br>
            <a:endParaRPr lang="en-US" dirty="0" smtClean="0"/>
          </a:p>
          <a:p>
            <a:pPr>
              <a:tabLst>
                <a:tab pos="1774825" algn="l"/>
                <a:tab pos="2279650" algn="l"/>
              </a:tabLst>
            </a:pPr>
            <a:r>
              <a:rPr lang="en-US" dirty="0" smtClean="0"/>
              <a:t>EAT = (1 – p) x 200 + p (8 milliseconds) </a:t>
            </a:r>
          </a:p>
          <a:p>
            <a:pPr>
              <a:buNone/>
              <a:tabLst>
                <a:tab pos="1774825" algn="l"/>
                <a:tab pos="2279650" algn="l"/>
              </a:tabLst>
            </a:pPr>
            <a:r>
              <a:rPr lang="en-US" dirty="0" smtClean="0"/>
              <a:t>	        = (1 – p  x 200 + p x 8,000,000 </a:t>
            </a:r>
          </a:p>
          <a:p>
            <a:pPr>
              <a:buNone/>
              <a:tabLst>
                <a:tab pos="1774825" algn="l"/>
                <a:tab pos="2279650" algn="l"/>
              </a:tabLst>
            </a:pPr>
            <a:r>
              <a:rPr lang="en-US" dirty="0" smtClean="0"/>
              <a:t>              = 200 + p x 7,999,800</a:t>
            </a:r>
          </a:p>
          <a:p>
            <a:pPr>
              <a:buNone/>
              <a:tabLst>
                <a:tab pos="1774825" algn="l"/>
                <a:tab pos="2279650" algn="l"/>
              </a:tabLst>
            </a:pPr>
            <a:endParaRPr lang="en-US" dirty="0" smtClean="0"/>
          </a:p>
          <a:p>
            <a:pPr>
              <a:tabLst>
                <a:tab pos="1774825" algn="l"/>
                <a:tab pos="2279650" algn="l"/>
              </a:tabLst>
            </a:pPr>
            <a:r>
              <a:rPr lang="en-US" dirty="0" smtClean="0"/>
              <a:t>If one access out of 1,000 causes a page fault, then</a:t>
            </a:r>
          </a:p>
          <a:p>
            <a:pPr>
              <a:buNone/>
              <a:tabLst>
                <a:tab pos="1774825" algn="l"/>
                <a:tab pos="2279650" algn="l"/>
              </a:tabLst>
            </a:pPr>
            <a:r>
              <a:rPr lang="en-US" dirty="0" smtClean="0"/>
              <a:t>         EAT = 8.2 microseconds. </a:t>
            </a:r>
          </a:p>
          <a:p>
            <a:pPr>
              <a:buNone/>
              <a:tabLst>
                <a:tab pos="1774825" algn="l"/>
                <a:tab pos="2279650" algn="l"/>
              </a:tabLst>
            </a:pPr>
            <a:r>
              <a:rPr lang="en-US" dirty="0" smtClean="0"/>
              <a:t>      This is a slowdown by a factor of 40!!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122830"/>
            <a:ext cx="9404723" cy="832513"/>
          </a:xfrm>
        </p:spPr>
        <p:txBody>
          <a:bodyPr/>
          <a:lstStyle/>
          <a:p>
            <a:pPr eaLnBrk="1" hangingPunct="1"/>
            <a:r>
              <a:rPr lang="en-US" b="1" dirty="0" smtClean="0"/>
              <a:t>Process Creation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955344"/>
            <a:ext cx="9403743" cy="5293056"/>
          </a:xfrm>
        </p:spPr>
        <p:txBody>
          <a:bodyPr/>
          <a:lstStyle/>
          <a:p>
            <a:pPr marL="381000" indent="-381000"/>
            <a:r>
              <a:rPr lang="en-US" dirty="0" smtClean="0"/>
              <a:t>Virtual memory allows other benefits during process creation:</a:t>
            </a:r>
            <a:br>
              <a:rPr lang="en-US" dirty="0" smtClean="0"/>
            </a:br>
            <a:endParaRPr lang="en-US" dirty="0" smtClean="0"/>
          </a:p>
          <a:p>
            <a:pPr marL="381000" indent="-381000">
              <a:buNone/>
            </a:pPr>
            <a:r>
              <a:rPr lang="en-US" dirty="0" smtClean="0"/>
              <a:t>	- Copy-on-Write</a:t>
            </a:r>
            <a:br>
              <a:rPr lang="en-US" dirty="0" smtClean="0"/>
            </a:br>
            <a:endParaRPr lang="en-US" dirty="0" smtClean="0"/>
          </a:p>
          <a:p>
            <a:pPr marL="381000" indent="-381000">
              <a:buNone/>
            </a:pPr>
            <a:r>
              <a:rPr lang="en-US" dirty="0" smtClean="0"/>
              <a:t>	- Memory-Mapped Files (later)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873457"/>
          </a:xfrm>
        </p:spPr>
        <p:txBody>
          <a:bodyPr/>
          <a:lstStyle/>
          <a:p>
            <a:pPr eaLnBrk="1" hangingPunct="1"/>
            <a:r>
              <a:rPr lang="en-US" b="1" dirty="0" smtClean="0"/>
              <a:t>Copy-on-Write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2" y="873458"/>
            <a:ext cx="11009076" cy="5374942"/>
          </a:xfrm>
        </p:spPr>
        <p:txBody>
          <a:bodyPr/>
          <a:lstStyle/>
          <a:p>
            <a:r>
              <a:rPr lang="en-US" dirty="0" smtClean="0"/>
              <a:t>Copy-on-Write (COW) allows both parent and child processes to initially </a:t>
            </a:r>
            <a:r>
              <a:rPr lang="en-US" i="1" dirty="0" smtClean="0"/>
              <a:t>share</a:t>
            </a:r>
            <a:r>
              <a:rPr lang="en-US" dirty="0" smtClean="0"/>
              <a:t> the same pages in memory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either process modifies a shared page, only then is the page copied</a:t>
            </a:r>
          </a:p>
          <a:p>
            <a:endParaRPr lang="en-US" dirty="0" smtClean="0"/>
          </a:p>
          <a:p>
            <a:r>
              <a:rPr lang="en-US" dirty="0" smtClean="0"/>
              <a:t>COW allows more efficient process creation as only modified pages are copied</a:t>
            </a:r>
          </a:p>
          <a:p>
            <a:endParaRPr lang="en-US" dirty="0" smtClean="0"/>
          </a:p>
          <a:p>
            <a:r>
              <a:rPr lang="en-US" dirty="0" smtClean="0"/>
              <a:t>Free pages are allocated from a </a:t>
            </a:r>
            <a:r>
              <a:rPr lang="en-US" b="1" dirty="0" smtClean="0"/>
              <a:t>pool</a:t>
            </a:r>
            <a:r>
              <a:rPr lang="en-US" dirty="0" smtClean="0"/>
              <a:t> of zeroed-out pages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34119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8012"/>
            <a:ext cx="5786438" cy="325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71033" y="4445337"/>
            <a:ext cx="39084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Before Process 1 Modifies Page C</a:t>
            </a:r>
          </a:p>
        </p:txBody>
      </p:sp>
      <p:pic>
        <p:nvPicPr>
          <p:cNvPr id="7" name="Picture 4" descr="9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366" y="1038012"/>
            <a:ext cx="6100549" cy="325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690549" y="4445337"/>
            <a:ext cx="3724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After Process 1 Modifies Page C</a:t>
            </a:r>
          </a:p>
        </p:txBody>
      </p:sp>
    </p:spTree>
    <p:extLst>
      <p:ext uri="{BB962C8B-B14F-4D97-AF65-F5344CB8AC3E}">
        <p14:creationId xmlns:p14="http://schemas.microsoft.com/office/powerpoint/2010/main" val="30248924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64275"/>
          </a:xfrm>
        </p:spPr>
        <p:txBody>
          <a:bodyPr/>
          <a:lstStyle/>
          <a:p>
            <a:pPr eaLnBrk="1" hangingPunct="1"/>
            <a:r>
              <a:rPr lang="en-US" sz="2800" b="1" dirty="0"/>
              <a:t>What happens if there is no free frame?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64276"/>
            <a:ext cx="11254737" cy="5172976"/>
          </a:xfrm>
        </p:spPr>
        <p:txBody>
          <a:bodyPr/>
          <a:lstStyle/>
          <a:p>
            <a:r>
              <a:rPr lang="en-US" dirty="0" smtClean="0"/>
              <a:t>Page replacement – find some page in memory, but not really in use, swap it out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algorithm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performance – want an algorithm which will result in minimum number of page faults</a:t>
            </a:r>
          </a:p>
          <a:p>
            <a:r>
              <a:rPr lang="en-US" dirty="0" smtClean="0"/>
              <a:t>Same page may be brought into memory several times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518615" y="1"/>
            <a:ext cx="11423176" cy="777922"/>
          </a:xfrm>
        </p:spPr>
        <p:txBody>
          <a:bodyPr/>
          <a:lstStyle/>
          <a:p>
            <a:pPr eaLnBrk="1" hangingPunct="1"/>
            <a:r>
              <a:rPr lang="en-US" b="1" dirty="0" smtClean="0"/>
              <a:t>Page Replacement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8615" y="777924"/>
            <a:ext cx="11423175" cy="5470476"/>
          </a:xfrm>
        </p:spPr>
        <p:txBody>
          <a:bodyPr/>
          <a:lstStyle/>
          <a:p>
            <a:r>
              <a:rPr lang="en-US" dirty="0" smtClean="0"/>
              <a:t>Prevent over-allocation of memory by modifying page-fault service routine to include page </a:t>
            </a:r>
            <a:r>
              <a:rPr lang="en-US" dirty="0" smtClean="0"/>
              <a:t>replacement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b="1" dirty="0" smtClean="0"/>
              <a:t>modify (dirty) bit </a:t>
            </a:r>
            <a:r>
              <a:rPr lang="en-US" dirty="0" smtClean="0"/>
              <a:t>to reduce overhead of page transfers – only modified pages are written to </a:t>
            </a:r>
            <a:r>
              <a:rPr lang="en-US" dirty="0" smtClean="0"/>
              <a:t>disk</a:t>
            </a:r>
            <a:endParaRPr lang="en-US" dirty="0" smtClean="0"/>
          </a:p>
          <a:p>
            <a:r>
              <a:rPr lang="en-US" dirty="0" smtClean="0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Need For Page Replacement</a:t>
            </a:r>
          </a:p>
        </p:txBody>
      </p:sp>
      <p:pic>
        <p:nvPicPr>
          <p:cNvPr id="6041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1187450"/>
            <a:ext cx="6818312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64275"/>
          </a:xfrm>
        </p:spPr>
        <p:txBody>
          <a:bodyPr/>
          <a:lstStyle/>
          <a:p>
            <a:pPr eaLnBrk="1" hangingPunct="1"/>
            <a:r>
              <a:rPr lang="en-US" b="1" dirty="0" smtClean="0"/>
              <a:t>Basic Page Replacement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64274"/>
            <a:ext cx="11545889" cy="6093725"/>
          </a:xfrm>
        </p:spPr>
        <p:txBody>
          <a:bodyPr/>
          <a:lstStyle/>
          <a:p>
            <a:pPr marL="381000" indent="-381000">
              <a:buFont typeface="Monotype Sorts" charset="2"/>
              <a:buAutoNum type="arabicPeriod"/>
            </a:pPr>
            <a:r>
              <a:rPr lang="en-US" dirty="0" smtClean="0"/>
              <a:t>Find the location of the desired page on </a:t>
            </a:r>
            <a:r>
              <a:rPr lang="en-US" dirty="0" smtClean="0"/>
              <a:t>disk</a:t>
            </a:r>
            <a:endParaRPr lang="en-US" dirty="0" smtClean="0"/>
          </a:p>
          <a:p>
            <a:pPr marL="381000" indent="-381000">
              <a:buFont typeface="Monotype Sorts" charset="2"/>
              <a:buAutoNum type="arabicPeriod"/>
            </a:pPr>
            <a:r>
              <a:rPr lang="en-US" dirty="0" smtClean="0"/>
              <a:t>Find a free frame:</a:t>
            </a:r>
            <a:br>
              <a:rPr lang="en-US" dirty="0" smtClean="0"/>
            </a:br>
            <a:r>
              <a:rPr lang="en-US" dirty="0" smtClean="0"/>
              <a:t>   -  If there is a free frame, use it</a:t>
            </a:r>
            <a:br>
              <a:rPr lang="en-US" dirty="0" smtClean="0"/>
            </a:br>
            <a:r>
              <a:rPr lang="en-US" dirty="0" smtClean="0"/>
              <a:t>   -  If there is no free frame, use a page replacement 	algorithm to select a </a:t>
            </a:r>
            <a:r>
              <a:rPr lang="en-US" b="1" dirty="0" smtClean="0"/>
              <a:t>victim</a:t>
            </a:r>
            <a:r>
              <a:rPr lang="en-US" dirty="0" smtClean="0"/>
              <a:t> </a:t>
            </a:r>
            <a:r>
              <a:rPr lang="en-US" dirty="0" smtClean="0"/>
              <a:t>frame</a:t>
            </a:r>
            <a:endParaRPr lang="en-US" dirty="0" smtClean="0"/>
          </a:p>
          <a:p>
            <a:pPr marL="381000" indent="-381000">
              <a:buFont typeface="Monotype Sorts" charset="2"/>
              <a:buAutoNum type="arabicPeriod"/>
            </a:pPr>
            <a:r>
              <a:rPr lang="en-US" dirty="0" smtClean="0"/>
              <a:t>Bring  the desired page into the (newly) free frame; update the page and frame </a:t>
            </a:r>
            <a:r>
              <a:rPr lang="en-US" dirty="0" smtClean="0"/>
              <a:t>tables</a:t>
            </a:r>
            <a:endParaRPr lang="en-US" dirty="0" smtClean="0"/>
          </a:p>
          <a:p>
            <a:pPr marL="381000" indent="-381000">
              <a:buFont typeface="Monotype Sorts" charset="2"/>
              <a:buAutoNum type="arabicPeriod"/>
            </a:pPr>
            <a:r>
              <a:rPr lang="en-US" dirty="0" smtClean="0"/>
              <a:t>Restart the process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128" y="3330053"/>
            <a:ext cx="4935039" cy="2808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033466" y="6220748"/>
            <a:ext cx="2385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Page Replacement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818866"/>
          </a:xfrm>
        </p:spPr>
        <p:txBody>
          <a:bodyPr/>
          <a:lstStyle/>
          <a:p>
            <a:pPr eaLnBrk="1" hangingPunct="1"/>
            <a:r>
              <a:rPr lang="en-US" b="1" dirty="0" smtClean="0"/>
              <a:t>Page Replacement Algorithms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818866"/>
            <a:ext cx="11545889" cy="5923128"/>
          </a:xfrm>
        </p:spPr>
        <p:txBody>
          <a:bodyPr/>
          <a:lstStyle/>
          <a:p>
            <a:pPr>
              <a:tabLst>
                <a:tab pos="3146425" algn="ctr"/>
              </a:tabLst>
            </a:pPr>
            <a:r>
              <a:rPr lang="en-US" dirty="0" smtClean="0"/>
              <a:t>Want lowest page-fault </a:t>
            </a:r>
            <a:r>
              <a:rPr lang="en-US" dirty="0" smtClean="0"/>
              <a:t>rate</a:t>
            </a:r>
            <a:endParaRPr lang="en-US" dirty="0" smtClean="0"/>
          </a:p>
          <a:p>
            <a:pPr>
              <a:tabLst>
                <a:tab pos="3146425" algn="ctr"/>
              </a:tabLst>
            </a:pPr>
            <a:r>
              <a:rPr lang="en-US" dirty="0" smtClean="0"/>
              <a:t>Evaluate algorithm by running it on a particular string of memory references (reference string) and computing the number of page faults on that </a:t>
            </a:r>
            <a:r>
              <a:rPr lang="en-US" dirty="0" smtClean="0"/>
              <a:t>string</a:t>
            </a:r>
            <a:endParaRPr lang="en-US" dirty="0" smtClean="0"/>
          </a:p>
          <a:p>
            <a:pPr>
              <a:tabLst>
                <a:tab pos="3146425" algn="ctr"/>
              </a:tabLst>
            </a:pPr>
            <a:r>
              <a:rPr lang="en-US" dirty="0" smtClean="0"/>
              <a:t>In all our examples, the reference string is </a:t>
            </a:r>
          </a:p>
          <a:p>
            <a:pPr>
              <a:buNone/>
              <a:tabLst>
                <a:tab pos="3146425" algn="ctr"/>
              </a:tabLst>
            </a:pPr>
            <a:r>
              <a:rPr lang="en-US" dirty="0" smtClean="0"/>
              <a:t>               </a:t>
            </a:r>
            <a:r>
              <a:rPr lang="en-US" b="1" dirty="0" smtClean="0">
                <a:solidFill>
                  <a:srgbClr val="FF0000"/>
                </a:solidFill>
              </a:rPr>
              <a:t>1, 2, 3, 4, 1, 2, 5, 1, 2, 3, 4, 5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/>
              <a:t>Graph of Page Faults Versus The Number of Frames</a:t>
            </a:r>
          </a:p>
        </p:txBody>
      </p:sp>
      <p:pic>
        <p:nvPicPr>
          <p:cNvPr id="686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1709738"/>
            <a:ext cx="621506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801689"/>
          </a:xfrm>
        </p:spPr>
        <p:txBody>
          <a:bodyPr/>
          <a:lstStyle/>
          <a:p>
            <a:pPr eaLnBrk="1" hangingPunct="1"/>
            <a:r>
              <a:rPr lang="en-US" b="1" dirty="0" smtClean="0"/>
              <a:t>First-In-First-Out (FIFO) Algorithm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801690"/>
            <a:ext cx="8739189" cy="6115050"/>
          </a:xfrm>
        </p:spPr>
        <p:txBody>
          <a:bodyPr/>
          <a:lstStyle/>
          <a:p>
            <a:r>
              <a:rPr lang="en-US" sz="1600" dirty="0"/>
              <a:t>Reference string: 1, 2, 3, 4, 1, 2, 5, 1, 2, 3, 4, 5</a:t>
            </a:r>
          </a:p>
          <a:p>
            <a:r>
              <a:rPr lang="en-US" sz="1600" dirty="0"/>
              <a:t>3 frames (3 pages can be in memory at a time per process)</a:t>
            </a:r>
          </a:p>
          <a:p>
            <a:pPr>
              <a:buFont typeface="Monotype Sorts" charset="2"/>
              <a:buNone/>
            </a:pPr>
            <a:endParaRPr lang="en-US" sz="1600" dirty="0"/>
          </a:p>
          <a:p>
            <a:pPr>
              <a:buFont typeface="Monotype Sorts" charset="2"/>
              <a:buNone/>
            </a:pPr>
            <a:endParaRPr lang="en-US" dirty="0" smtClean="0"/>
          </a:p>
          <a:p>
            <a:pPr>
              <a:buFont typeface="Monotype Sorts" charset="2"/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buFont typeface="Monotype Sorts" charset="2"/>
              <a:buNone/>
            </a:pPr>
            <a:endParaRPr lang="en-US" dirty="0" smtClean="0"/>
          </a:p>
          <a:p>
            <a:r>
              <a:rPr lang="en-US" sz="1600" dirty="0"/>
              <a:t>4 frames</a:t>
            </a:r>
            <a:br>
              <a:rPr lang="en-US" sz="1600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buFont typeface="Monotype Sorts" charset="2"/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sz="1600" dirty="0" err="1"/>
              <a:t>Belady’s</a:t>
            </a:r>
            <a:r>
              <a:rPr lang="en-US" sz="1600" dirty="0"/>
              <a:t> Anomaly: more frames </a:t>
            </a:r>
            <a:r>
              <a:rPr lang="en-US" sz="1600" dirty="0">
                <a:sym typeface="Symbol" panose="05050102010706020507" pitchFamily="18" charset="2"/>
              </a:rPr>
              <a:t> more page faults</a:t>
            </a:r>
            <a:endParaRPr lang="en-US" sz="1600" dirty="0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4965700" y="22256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4965700" y="26828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4965700" y="31400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4578350" y="22590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4578350" y="27019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4578350" y="31781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5422900" y="2297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5422900" y="27400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5422900" y="32162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5803900" y="2297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5803900" y="27400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70671" name="Text Box 15"/>
          <p:cNvSpPr txBox="1">
            <a:spLocks noChangeArrowheads="1"/>
          </p:cNvSpPr>
          <p:nvPr/>
        </p:nvSpPr>
        <p:spPr bwMode="auto">
          <a:xfrm>
            <a:off x="5803900" y="32162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70672" name="Text Box 16"/>
          <p:cNvSpPr txBox="1">
            <a:spLocks noChangeArrowheads="1"/>
          </p:cNvSpPr>
          <p:nvPr/>
        </p:nvSpPr>
        <p:spPr bwMode="auto">
          <a:xfrm>
            <a:off x="6261100" y="2740026"/>
            <a:ext cx="1492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9 page faults</a:t>
            </a:r>
          </a:p>
        </p:txBody>
      </p:sp>
      <p:sp>
        <p:nvSpPr>
          <p:cNvPr id="70673" name="Rectangle 17"/>
          <p:cNvSpPr>
            <a:spLocks noChangeArrowheads="1"/>
          </p:cNvSpPr>
          <p:nvPr/>
        </p:nvSpPr>
        <p:spPr bwMode="auto">
          <a:xfrm>
            <a:off x="4933950" y="39497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70674" name="Rectangle 18"/>
          <p:cNvSpPr>
            <a:spLocks noChangeArrowheads="1"/>
          </p:cNvSpPr>
          <p:nvPr/>
        </p:nvSpPr>
        <p:spPr bwMode="auto">
          <a:xfrm>
            <a:off x="4933950" y="44069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70675" name="Rectangle 19"/>
          <p:cNvSpPr>
            <a:spLocks noChangeArrowheads="1"/>
          </p:cNvSpPr>
          <p:nvPr/>
        </p:nvSpPr>
        <p:spPr bwMode="auto">
          <a:xfrm>
            <a:off x="4933950" y="48641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70676" name="Text Box 20"/>
          <p:cNvSpPr txBox="1">
            <a:spLocks noChangeArrowheads="1"/>
          </p:cNvSpPr>
          <p:nvPr/>
        </p:nvSpPr>
        <p:spPr bwMode="auto">
          <a:xfrm>
            <a:off x="4546600" y="39830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70677" name="Text Box 21"/>
          <p:cNvSpPr txBox="1">
            <a:spLocks noChangeArrowheads="1"/>
          </p:cNvSpPr>
          <p:nvPr/>
        </p:nvSpPr>
        <p:spPr bwMode="auto">
          <a:xfrm>
            <a:off x="4546600" y="44259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70678" name="Text Box 22"/>
          <p:cNvSpPr txBox="1">
            <a:spLocks noChangeArrowheads="1"/>
          </p:cNvSpPr>
          <p:nvPr/>
        </p:nvSpPr>
        <p:spPr bwMode="auto">
          <a:xfrm>
            <a:off x="4546600" y="49022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70679" name="Text Box 23"/>
          <p:cNvSpPr txBox="1">
            <a:spLocks noChangeArrowheads="1"/>
          </p:cNvSpPr>
          <p:nvPr/>
        </p:nvSpPr>
        <p:spPr bwMode="auto">
          <a:xfrm>
            <a:off x="5391150" y="40211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70680" name="Text Box 24"/>
          <p:cNvSpPr txBox="1">
            <a:spLocks noChangeArrowheads="1"/>
          </p:cNvSpPr>
          <p:nvPr/>
        </p:nvSpPr>
        <p:spPr bwMode="auto">
          <a:xfrm>
            <a:off x="5391150" y="44640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70681" name="Text Box 25"/>
          <p:cNvSpPr txBox="1">
            <a:spLocks noChangeArrowheads="1"/>
          </p:cNvSpPr>
          <p:nvPr/>
        </p:nvSpPr>
        <p:spPr bwMode="auto">
          <a:xfrm>
            <a:off x="5391150" y="49403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70682" name="Text Box 26"/>
          <p:cNvSpPr txBox="1">
            <a:spLocks noChangeArrowheads="1"/>
          </p:cNvSpPr>
          <p:nvPr/>
        </p:nvSpPr>
        <p:spPr bwMode="auto">
          <a:xfrm>
            <a:off x="5772150" y="40211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70683" name="Text Box 28"/>
          <p:cNvSpPr txBox="1">
            <a:spLocks noChangeArrowheads="1"/>
          </p:cNvSpPr>
          <p:nvPr/>
        </p:nvSpPr>
        <p:spPr bwMode="auto">
          <a:xfrm>
            <a:off x="5772150" y="44831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70684" name="Text Box 29"/>
          <p:cNvSpPr txBox="1">
            <a:spLocks noChangeArrowheads="1"/>
          </p:cNvSpPr>
          <p:nvPr/>
        </p:nvSpPr>
        <p:spPr bwMode="auto">
          <a:xfrm>
            <a:off x="6165850" y="4464051"/>
            <a:ext cx="161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10 page faults</a:t>
            </a:r>
          </a:p>
        </p:txBody>
      </p:sp>
      <p:sp>
        <p:nvSpPr>
          <p:cNvPr id="70685" name="Rectangle 30"/>
          <p:cNvSpPr>
            <a:spLocks noChangeArrowheads="1"/>
          </p:cNvSpPr>
          <p:nvPr/>
        </p:nvSpPr>
        <p:spPr bwMode="auto">
          <a:xfrm>
            <a:off x="4933950" y="53213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70686" name="Text Box 31"/>
          <p:cNvSpPr txBox="1">
            <a:spLocks noChangeArrowheads="1"/>
          </p:cNvSpPr>
          <p:nvPr/>
        </p:nvSpPr>
        <p:spPr bwMode="auto">
          <a:xfrm>
            <a:off x="4552950" y="53975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70687" name="Text Box 32"/>
          <p:cNvSpPr txBox="1">
            <a:spLocks noChangeArrowheads="1"/>
          </p:cNvSpPr>
          <p:nvPr/>
        </p:nvSpPr>
        <p:spPr bwMode="auto">
          <a:xfrm>
            <a:off x="5391150" y="53975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FIFO Page Replacement</a:t>
            </a:r>
          </a:p>
        </p:txBody>
      </p:sp>
      <p:pic>
        <p:nvPicPr>
          <p:cNvPr id="7270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88" y="2043114"/>
            <a:ext cx="6915150" cy="218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FIFO Illustrating Belady’s Anomaly</a:t>
            </a:r>
          </a:p>
        </p:txBody>
      </p:sp>
      <p:pic>
        <p:nvPicPr>
          <p:cNvPr id="7475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1" y="1393825"/>
            <a:ext cx="6810375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88989"/>
          </a:xfrm>
        </p:spPr>
        <p:txBody>
          <a:bodyPr/>
          <a:lstStyle/>
          <a:p>
            <a:pPr eaLnBrk="1" hangingPunct="1"/>
            <a:r>
              <a:rPr lang="en-US" b="1" dirty="0" smtClean="0"/>
              <a:t>Optimal Algorithm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88990"/>
            <a:ext cx="10831655" cy="5459410"/>
          </a:xfrm>
        </p:spPr>
        <p:txBody>
          <a:bodyPr>
            <a:normAutofit/>
          </a:bodyPr>
          <a:lstStyle/>
          <a:p>
            <a:pPr>
              <a:tabLst>
                <a:tab pos="1890713" algn="l"/>
              </a:tabLst>
            </a:pPr>
            <a:r>
              <a:rPr lang="en-US" dirty="0" smtClean="0"/>
              <a:t>Replace page that will not be used for longest period of time</a:t>
            </a:r>
          </a:p>
          <a:p>
            <a:pPr>
              <a:tabLst>
                <a:tab pos="1890713" algn="l"/>
              </a:tabLst>
            </a:pPr>
            <a:r>
              <a:rPr lang="en-US" dirty="0" smtClean="0"/>
              <a:t>4 frames example</a:t>
            </a:r>
          </a:p>
          <a:p>
            <a:pPr>
              <a:buNone/>
              <a:tabLst>
                <a:tab pos="1890713" algn="l"/>
              </a:tabLst>
            </a:pPr>
            <a:r>
              <a:rPr lang="en-US" dirty="0" smtClean="0"/>
              <a:t>		 1, 2, 3, 4, 1, 2, 5, 1, 2, 3, 4, </a:t>
            </a:r>
            <a:r>
              <a:rPr lang="en-US" dirty="0" smtClean="0"/>
              <a:t>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tabLst>
                <a:tab pos="1890713" algn="l"/>
              </a:tabLst>
            </a:pPr>
            <a:r>
              <a:rPr lang="en-US" dirty="0" smtClean="0"/>
              <a:t>How do you know this?</a:t>
            </a:r>
          </a:p>
          <a:p>
            <a:pPr>
              <a:tabLst>
                <a:tab pos="1890713" algn="l"/>
              </a:tabLst>
            </a:pPr>
            <a:r>
              <a:rPr lang="en-US" dirty="0" smtClean="0"/>
              <a:t>Used for measuring how well your algorithm performs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5084763" y="21542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 dirty="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5084763" y="2637632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5084763" y="3080544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5750788" y="233186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6634163" y="3125788"/>
            <a:ext cx="1492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panose="020B0604020202020204" pitchFamily="34" charset="0"/>
              </a:rPr>
              <a:t>6 page faults</a:t>
            </a:r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5084763" y="351869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5641237" y="360918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panose="020B0604020202020204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Optimal Page Replacement</a:t>
            </a:r>
          </a:p>
        </p:txBody>
      </p:sp>
      <p:pic>
        <p:nvPicPr>
          <p:cNvPr id="7885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13" y="1819275"/>
            <a:ext cx="7034212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34926"/>
            <a:ext cx="10831656" cy="914400"/>
          </a:xfrm>
        </p:spPr>
        <p:txBody>
          <a:bodyPr/>
          <a:lstStyle/>
          <a:p>
            <a:pPr eaLnBrk="1" hangingPunct="1"/>
            <a:r>
              <a:rPr lang="en-US" b="1" dirty="0" smtClean="0"/>
              <a:t>Least Recently Used (LRU) Algorithm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949326"/>
            <a:ext cx="11445805" cy="4730749"/>
          </a:xfrm>
        </p:spPr>
        <p:txBody>
          <a:bodyPr>
            <a:normAutofit/>
          </a:bodyPr>
          <a:lstStyle/>
          <a:p>
            <a:r>
              <a:rPr lang="en-US" dirty="0" smtClean="0"/>
              <a:t>Reference string:  1, 2, 3, 4, 1, 2, </a:t>
            </a:r>
            <a:r>
              <a:rPr lang="en-US" b="1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, 1, 2, </a:t>
            </a:r>
            <a:r>
              <a:rPr lang="en-US" b="1" dirty="0" smtClean="0">
                <a:solidFill>
                  <a:srgbClr val="0000CC"/>
                </a:solidFill>
              </a:rPr>
              <a:t>3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663300"/>
                </a:solidFill>
              </a:rPr>
              <a:t>4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9900"/>
                </a:solidFill>
              </a:rPr>
              <a:t>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buFont typeface="Monotype Sorts" charset="2"/>
              <a:buNone/>
            </a:pPr>
            <a:endParaRPr lang="en-US" dirty="0" smtClean="0"/>
          </a:p>
          <a:p>
            <a:r>
              <a:rPr lang="en-US" dirty="0" smtClean="0"/>
              <a:t>Counter implementation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Every page entry has a counter; every time page is referenced through this entry, copy the clock into the counter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When a page needs to be changed, look at the counters to determine which are to change</a:t>
            </a:r>
          </a:p>
          <a:p>
            <a:pPr>
              <a:buFont typeface="Monotype Sorts" charset="2"/>
              <a:buNone/>
            </a:pPr>
            <a:endParaRPr lang="en-US" dirty="0" smtClean="0"/>
          </a:p>
        </p:txBody>
      </p:sp>
      <p:sp>
        <p:nvSpPr>
          <p:cNvPr id="80900" name="Rectangle 50"/>
          <p:cNvSpPr>
            <a:spLocks noChangeArrowheads="1"/>
          </p:cNvSpPr>
          <p:nvPr/>
        </p:nvSpPr>
        <p:spPr bwMode="auto">
          <a:xfrm>
            <a:off x="6162675" y="172878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 b="1">
                <a:solidFill>
                  <a:srgbClr val="009900"/>
                </a:solidFill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80901" name="Rectangle 51"/>
          <p:cNvSpPr>
            <a:spLocks noChangeArrowheads="1"/>
          </p:cNvSpPr>
          <p:nvPr/>
        </p:nvSpPr>
        <p:spPr bwMode="auto">
          <a:xfrm>
            <a:off x="6162675" y="218598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0902" name="Rectangle 52"/>
          <p:cNvSpPr>
            <a:spLocks noChangeArrowheads="1"/>
          </p:cNvSpPr>
          <p:nvPr/>
        </p:nvSpPr>
        <p:spPr bwMode="auto">
          <a:xfrm>
            <a:off x="6162675" y="264318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80903" name="Rectangle 53"/>
          <p:cNvSpPr>
            <a:spLocks noChangeArrowheads="1"/>
          </p:cNvSpPr>
          <p:nvPr/>
        </p:nvSpPr>
        <p:spPr bwMode="auto">
          <a:xfrm>
            <a:off x="6162675" y="310038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80904" name="Rectangle 54"/>
          <p:cNvSpPr>
            <a:spLocks noChangeArrowheads="1"/>
          </p:cNvSpPr>
          <p:nvPr/>
        </p:nvSpPr>
        <p:spPr bwMode="auto">
          <a:xfrm>
            <a:off x="4144963" y="17272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80905" name="Rectangle 55"/>
          <p:cNvSpPr>
            <a:spLocks noChangeArrowheads="1"/>
          </p:cNvSpPr>
          <p:nvPr/>
        </p:nvSpPr>
        <p:spPr bwMode="auto">
          <a:xfrm>
            <a:off x="4144963" y="21844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0906" name="Rectangle 56"/>
          <p:cNvSpPr>
            <a:spLocks noChangeArrowheads="1"/>
          </p:cNvSpPr>
          <p:nvPr/>
        </p:nvSpPr>
        <p:spPr bwMode="auto">
          <a:xfrm>
            <a:off x="4144963" y="26416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80907" name="Rectangle 57"/>
          <p:cNvSpPr>
            <a:spLocks noChangeArrowheads="1"/>
          </p:cNvSpPr>
          <p:nvPr/>
        </p:nvSpPr>
        <p:spPr bwMode="auto">
          <a:xfrm>
            <a:off x="4144963" y="30988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80908" name="Rectangle 58"/>
          <p:cNvSpPr>
            <a:spLocks noChangeArrowheads="1"/>
          </p:cNvSpPr>
          <p:nvPr/>
        </p:nvSpPr>
        <p:spPr bwMode="auto">
          <a:xfrm>
            <a:off x="4648200" y="17351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80909" name="Rectangle 59"/>
          <p:cNvSpPr>
            <a:spLocks noChangeArrowheads="1"/>
          </p:cNvSpPr>
          <p:nvPr/>
        </p:nvSpPr>
        <p:spPr bwMode="auto">
          <a:xfrm>
            <a:off x="4648200" y="21923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0910" name="Rectangle 60"/>
          <p:cNvSpPr>
            <a:spLocks noChangeArrowheads="1"/>
          </p:cNvSpPr>
          <p:nvPr/>
        </p:nvSpPr>
        <p:spPr bwMode="auto">
          <a:xfrm>
            <a:off x="4648200" y="26495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 b="1">
                <a:solidFill>
                  <a:schemeClr val="tx2"/>
                </a:solidFill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80911" name="Rectangle 61"/>
          <p:cNvSpPr>
            <a:spLocks noChangeArrowheads="1"/>
          </p:cNvSpPr>
          <p:nvPr/>
        </p:nvSpPr>
        <p:spPr bwMode="auto">
          <a:xfrm>
            <a:off x="4648200" y="31067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80912" name="Rectangle 62"/>
          <p:cNvSpPr>
            <a:spLocks noChangeArrowheads="1"/>
          </p:cNvSpPr>
          <p:nvPr/>
        </p:nvSpPr>
        <p:spPr bwMode="auto">
          <a:xfrm>
            <a:off x="5167313" y="17145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80913" name="Rectangle 63"/>
          <p:cNvSpPr>
            <a:spLocks noChangeArrowheads="1"/>
          </p:cNvSpPr>
          <p:nvPr/>
        </p:nvSpPr>
        <p:spPr bwMode="auto">
          <a:xfrm>
            <a:off x="5167313" y="21717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0914" name="Rectangle 64"/>
          <p:cNvSpPr>
            <a:spLocks noChangeArrowheads="1"/>
          </p:cNvSpPr>
          <p:nvPr/>
        </p:nvSpPr>
        <p:spPr bwMode="auto">
          <a:xfrm>
            <a:off x="5167313" y="26289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80915" name="Rectangle 65"/>
          <p:cNvSpPr>
            <a:spLocks noChangeArrowheads="1"/>
          </p:cNvSpPr>
          <p:nvPr/>
        </p:nvSpPr>
        <p:spPr bwMode="auto">
          <a:xfrm>
            <a:off x="5167313" y="30861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 b="1">
                <a:solidFill>
                  <a:srgbClr val="0000CC"/>
                </a:solidFill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80916" name="Rectangle 66"/>
          <p:cNvSpPr>
            <a:spLocks noChangeArrowheads="1"/>
          </p:cNvSpPr>
          <p:nvPr/>
        </p:nvSpPr>
        <p:spPr bwMode="auto">
          <a:xfrm>
            <a:off x="5670550" y="17224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80917" name="Rectangle 67"/>
          <p:cNvSpPr>
            <a:spLocks noChangeArrowheads="1"/>
          </p:cNvSpPr>
          <p:nvPr/>
        </p:nvSpPr>
        <p:spPr bwMode="auto">
          <a:xfrm>
            <a:off x="5670550" y="21796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80918" name="Rectangle 68"/>
          <p:cNvSpPr>
            <a:spLocks noChangeArrowheads="1"/>
          </p:cNvSpPr>
          <p:nvPr/>
        </p:nvSpPr>
        <p:spPr bwMode="auto">
          <a:xfrm>
            <a:off x="5670550" y="26368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 b="1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80919" name="Rectangle 69"/>
          <p:cNvSpPr>
            <a:spLocks noChangeArrowheads="1"/>
          </p:cNvSpPr>
          <p:nvPr/>
        </p:nvSpPr>
        <p:spPr bwMode="auto">
          <a:xfrm>
            <a:off x="5670550" y="30940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sz="1800">
                <a:latin typeface="Helvetica" panose="020B06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150126"/>
            <a:ext cx="9404723" cy="1078174"/>
          </a:xfrm>
        </p:spPr>
        <p:txBody>
          <a:bodyPr/>
          <a:lstStyle/>
          <a:p>
            <a:pPr eaLnBrk="1" hangingPunct="1"/>
            <a:r>
              <a:rPr lang="en-US" b="1" dirty="0" smtClean="0"/>
              <a:t>LRU Page Replacement</a:t>
            </a:r>
          </a:p>
        </p:txBody>
      </p:sp>
      <p:pic>
        <p:nvPicPr>
          <p:cNvPr id="8294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" t="32875" r="789" b="32362"/>
          <a:stretch>
            <a:fillRect/>
          </a:stretch>
        </p:blipFill>
        <p:spPr bwMode="auto">
          <a:xfrm>
            <a:off x="2339692" y="1127978"/>
            <a:ext cx="728662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905301" y="3575419"/>
            <a:ext cx="104905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Stack implementation – keep a stack of page numbers in a double link form: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ea typeface="ＭＳ Ｐゴシック" panose="020B0600070205080204" pitchFamily="34" charset="-128"/>
              </a:rPr>
              <a:t>Page referenced: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>
                <a:ea typeface="ＭＳ Ｐゴシック" panose="020B0600070205080204" pitchFamily="34" charset="-128"/>
              </a:rPr>
              <a:t>move it to the top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dirty="0">
                <a:ea typeface="ＭＳ Ｐゴシック" panose="020B0600070205080204" pitchFamily="34" charset="-128"/>
              </a:rPr>
              <a:t>requires 6 pointers to be changed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ea typeface="ＭＳ Ｐゴシック" panose="020B0600070205080204" pitchFamily="34" charset="-128"/>
              </a:rPr>
              <a:t>No search for replacement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dirty="0"/>
              <a:t>Use Of A Stack to Record The Most Recent Page References</a:t>
            </a:r>
          </a:p>
        </p:txBody>
      </p:sp>
      <p:pic>
        <p:nvPicPr>
          <p:cNvPr id="8704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" t="4620" r="830" b="4620"/>
          <a:stretch>
            <a:fillRect/>
          </a:stretch>
        </p:blipFill>
        <p:spPr bwMode="auto">
          <a:xfrm>
            <a:off x="3105151" y="1914526"/>
            <a:ext cx="5845175" cy="403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50627"/>
          </a:xfrm>
        </p:spPr>
        <p:txBody>
          <a:bodyPr/>
          <a:lstStyle/>
          <a:p>
            <a:pPr eaLnBrk="1" hangingPunct="1"/>
            <a:r>
              <a:rPr lang="en-US" b="1" dirty="0" smtClean="0"/>
              <a:t>LRU Approximation Algorithms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50627"/>
            <a:ext cx="11377567" cy="569111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Reference bit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ea typeface="ＭＳ Ｐゴシック" panose="020B0600070205080204" pitchFamily="34" charset="-128"/>
              </a:rPr>
              <a:t>With each page associate a bit, initially = 0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ea typeface="ＭＳ Ｐゴシック" panose="020B0600070205080204" pitchFamily="34" charset="-128"/>
              </a:rPr>
              <a:t>When page is referenced bit set to 1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ea typeface="ＭＳ Ｐゴシック" panose="020B0600070205080204" pitchFamily="34" charset="-128"/>
              </a:rPr>
              <a:t>Replace the one which is 0 (if one exists)</a:t>
            </a:r>
          </a:p>
          <a:p>
            <a:pPr lvl="2">
              <a:lnSpc>
                <a:spcPct val="90000"/>
              </a:lnSpc>
            </a:pPr>
            <a:r>
              <a:rPr lang="en-US" dirty="0">
                <a:ea typeface="ＭＳ Ｐゴシック" panose="020B0600070205080204" pitchFamily="34" charset="-128"/>
              </a:rPr>
              <a:t>We do not know the order, however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Second chance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ea typeface="ＭＳ Ｐゴシック" panose="020B0600070205080204" pitchFamily="34" charset="-128"/>
              </a:rPr>
              <a:t>Need reference bit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ea typeface="ＭＳ Ｐゴシック" panose="020B0600070205080204" pitchFamily="34" charset="-128"/>
              </a:rPr>
              <a:t>Clock replacement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ea typeface="ＭＳ Ｐゴシック" panose="020B0600070205080204" pitchFamily="34" charset="-128"/>
              </a:rPr>
              <a:t>If page to be replaced (in clock order) has reference bit = 1 </a:t>
            </a:r>
            <a:endParaRPr lang="en-US" sz="1600" dirty="0" smtClean="0">
              <a:ea typeface="ＭＳ Ｐゴシック" panose="020B0600070205080204" pitchFamily="34" charset="-128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600" dirty="0" smtClean="0">
                <a:ea typeface="ＭＳ Ｐゴシック" panose="020B0600070205080204" pitchFamily="34" charset="-128"/>
              </a:rPr>
              <a:t>then</a:t>
            </a:r>
            <a:r>
              <a:rPr lang="en-US" sz="1600" dirty="0">
                <a:ea typeface="ＭＳ Ｐゴシック" panose="020B0600070205080204" pitchFamily="34" charset="-128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dirty="0">
                <a:ea typeface="ＭＳ Ｐゴシック" panose="020B0600070205080204" pitchFamily="34" charset="-128"/>
              </a:rPr>
              <a:t>set reference bit 0</a:t>
            </a:r>
          </a:p>
          <a:p>
            <a:pPr lvl="2">
              <a:lnSpc>
                <a:spcPct val="90000"/>
              </a:lnSpc>
            </a:pPr>
            <a:r>
              <a:rPr lang="en-US" dirty="0">
                <a:ea typeface="ＭＳ Ｐゴシック" panose="020B0600070205080204" pitchFamily="34" charset="-128"/>
              </a:rPr>
              <a:t>leave page in memory</a:t>
            </a:r>
          </a:p>
          <a:p>
            <a:pPr lvl="2">
              <a:lnSpc>
                <a:spcPct val="90000"/>
              </a:lnSpc>
            </a:pPr>
            <a:r>
              <a:rPr lang="en-US" dirty="0">
                <a:ea typeface="ＭＳ Ｐゴシック" panose="020B0600070205080204" pitchFamily="34" charset="-128"/>
              </a:rPr>
              <a:t>replace next page (in clock order), subject to same rules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917" y="750627"/>
            <a:ext cx="4672083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07958" y="5639982"/>
            <a:ext cx="5215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Second-Chance (clock) Page-Replacement Algorithm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873457"/>
          </a:xfrm>
        </p:spPr>
        <p:txBody>
          <a:bodyPr/>
          <a:lstStyle/>
          <a:p>
            <a:pPr eaLnBrk="1" hangingPunct="1"/>
            <a:r>
              <a:rPr lang="en-US" b="1" dirty="0" smtClean="0"/>
              <a:t>Counting Algorithms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873457"/>
            <a:ext cx="11545889" cy="4960607"/>
          </a:xfrm>
        </p:spPr>
        <p:txBody>
          <a:bodyPr/>
          <a:lstStyle/>
          <a:p>
            <a:r>
              <a:rPr lang="en-US" dirty="0" smtClean="0"/>
              <a:t>Keep a counter of the number of references that have been made to each </a:t>
            </a:r>
            <a:r>
              <a:rPr lang="en-US" dirty="0" smtClean="0"/>
              <a:t>page</a:t>
            </a:r>
            <a:endParaRPr lang="en-US" dirty="0" smtClean="0"/>
          </a:p>
          <a:p>
            <a:r>
              <a:rPr lang="en-US" b="1" dirty="0" smtClean="0"/>
              <a:t>LFU Algorithm</a:t>
            </a:r>
            <a:r>
              <a:rPr lang="en-US" dirty="0" smtClean="0"/>
              <a:t>:  replaces page with smallest </a:t>
            </a:r>
            <a:r>
              <a:rPr lang="en-US" dirty="0" smtClean="0"/>
              <a:t>count</a:t>
            </a:r>
            <a:endParaRPr lang="en-US" dirty="0" smtClean="0"/>
          </a:p>
          <a:p>
            <a:r>
              <a:rPr lang="en-US" b="1" dirty="0" smtClean="0"/>
              <a:t>MFU Algorithm</a:t>
            </a:r>
            <a:r>
              <a:rPr lang="en-US" dirty="0" smtClean="0"/>
              <a:t>: 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900752"/>
          </a:xfrm>
        </p:spPr>
        <p:txBody>
          <a:bodyPr/>
          <a:lstStyle/>
          <a:p>
            <a:pPr eaLnBrk="1" hangingPunct="1"/>
            <a:r>
              <a:rPr lang="en-US" b="1" dirty="0" smtClean="0"/>
              <a:t>Allocation of Frames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900752"/>
            <a:ext cx="11254737" cy="5007923"/>
          </a:xfrm>
        </p:spPr>
        <p:txBody>
          <a:bodyPr/>
          <a:lstStyle/>
          <a:p>
            <a:r>
              <a:rPr lang="en-US" dirty="0" smtClean="0"/>
              <a:t>Each process needs </a:t>
            </a:r>
            <a:r>
              <a:rPr lang="en-US" i="1" dirty="0" smtClean="0"/>
              <a:t>minimum</a:t>
            </a:r>
            <a:r>
              <a:rPr lang="en-US" dirty="0" smtClean="0"/>
              <a:t> number of pages</a:t>
            </a:r>
          </a:p>
          <a:p>
            <a:r>
              <a:rPr lang="en-US" dirty="0" smtClean="0"/>
              <a:t>Example:  IBM 370 – 6 pages to handle SS MOVE instruction: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instruction is 6 bytes, might span 2 pages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2 pages to handle </a:t>
            </a:r>
            <a:r>
              <a:rPr lang="en-US" i="1" dirty="0" smtClean="0">
                <a:ea typeface="ＭＳ Ｐゴシック" panose="020B0600070205080204" pitchFamily="34" charset="-128"/>
              </a:rPr>
              <a:t>from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2 pages to handle </a:t>
            </a:r>
            <a:r>
              <a:rPr lang="en-US" i="1" dirty="0" smtClean="0">
                <a:ea typeface="ＭＳ Ｐゴシック" panose="020B0600070205080204" pitchFamily="34" charset="-128"/>
              </a:rPr>
              <a:t>to</a:t>
            </a:r>
          </a:p>
          <a:p>
            <a:r>
              <a:rPr lang="en-US" dirty="0" smtClean="0"/>
              <a:t>Two major allocation schemes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fixed allocation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priority allocation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98514"/>
          </a:xfrm>
        </p:spPr>
        <p:txBody>
          <a:bodyPr/>
          <a:lstStyle/>
          <a:p>
            <a:pPr eaLnBrk="1" hangingPunct="1"/>
            <a:r>
              <a:rPr lang="en-US" b="1" dirty="0" smtClean="0"/>
              <a:t>Fixed Allocation</a:t>
            </a:r>
          </a:p>
        </p:txBody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98514"/>
            <a:ext cx="10299393" cy="4341811"/>
          </a:xfrm>
        </p:spPr>
        <p:txBody>
          <a:bodyPr/>
          <a:lstStyle/>
          <a:p>
            <a:r>
              <a:rPr lang="en-US" dirty="0" smtClean="0"/>
              <a:t>Equal allocation – For example, if there are 100 frames and 5 processes, give each process 20 frames.</a:t>
            </a:r>
          </a:p>
          <a:p>
            <a:r>
              <a:rPr lang="en-US" dirty="0" smtClean="0"/>
              <a:t>Proportional allocation – Allocate according to the size of process</a:t>
            </a:r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3149600" y="2312988"/>
          <a:ext cx="28575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4" imgW="2857320" imgH="1612800" progId="Equation.3">
                  <p:embed/>
                </p:oleObj>
              </mc:Choice>
              <mc:Fallback>
                <p:oleObj name="Equation" r:id="rId4" imgW="2857320" imgH="16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2312988"/>
                        <a:ext cx="28575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Line 5"/>
          <p:cNvSpPr>
            <a:spLocks noChangeShapeType="1"/>
          </p:cNvSpPr>
          <p:nvPr/>
        </p:nvSpPr>
        <p:spPr bwMode="auto">
          <a:xfrm>
            <a:off x="2971800" y="24812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Line 6"/>
          <p:cNvSpPr>
            <a:spLocks noChangeShapeType="1"/>
          </p:cNvSpPr>
          <p:nvPr/>
        </p:nvSpPr>
        <p:spPr bwMode="auto">
          <a:xfrm>
            <a:off x="2971800" y="27908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8" name="Line 7"/>
          <p:cNvSpPr>
            <a:spLocks noChangeShapeType="1"/>
          </p:cNvSpPr>
          <p:nvPr/>
        </p:nvSpPr>
        <p:spPr bwMode="auto">
          <a:xfrm>
            <a:off x="2971800" y="3157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Line 8"/>
          <p:cNvSpPr>
            <a:spLocks noChangeShapeType="1"/>
          </p:cNvSpPr>
          <p:nvPr/>
        </p:nvSpPr>
        <p:spPr bwMode="auto">
          <a:xfrm>
            <a:off x="2971800" y="3657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3848100" y="4000500"/>
          <a:ext cx="18415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Equation" r:id="rId6" imgW="1841400" imgH="2209680" progId="Equation.3">
                  <p:embed/>
                </p:oleObj>
              </mc:Choice>
              <mc:Fallback>
                <p:oleObj name="Equation" r:id="rId6" imgW="1841400" imgH="220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4000500"/>
                        <a:ext cx="18415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09684"/>
          </a:xfrm>
        </p:spPr>
        <p:txBody>
          <a:bodyPr/>
          <a:lstStyle/>
          <a:p>
            <a:pPr eaLnBrk="1" hangingPunct="1"/>
            <a:r>
              <a:rPr lang="en-US" b="1" dirty="0" smtClean="0"/>
              <a:t>Priority Allocation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8890" y="832514"/>
            <a:ext cx="11195480" cy="4975793"/>
          </a:xfrm>
        </p:spPr>
        <p:txBody>
          <a:bodyPr/>
          <a:lstStyle/>
          <a:p>
            <a:r>
              <a:rPr lang="en-US" dirty="0" smtClean="0"/>
              <a:t>Use a proportional allocation scheme using priorities rather than size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If process </a:t>
            </a:r>
            <a:r>
              <a:rPr lang="en-US" i="1" dirty="0" smtClean="0"/>
              <a:t>P</a:t>
            </a:r>
            <a:r>
              <a:rPr lang="en-US" i="1" baseline="-25000" dirty="0" smtClean="0"/>
              <a:t>i</a:t>
            </a:r>
            <a:r>
              <a:rPr lang="en-US" dirty="0" smtClean="0"/>
              <a:t> generates a page fault,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select for replacement one of its frames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select for replacement a frame from a process with lower priority number</a:t>
            </a:r>
          </a:p>
        </p:txBody>
      </p:sp>
      <p:sp>
        <p:nvSpPr>
          <p:cNvPr id="2" name="Rectangle 1"/>
          <p:cNvSpPr/>
          <p:nvPr/>
        </p:nvSpPr>
        <p:spPr>
          <a:xfrm>
            <a:off x="646110" y="2828248"/>
            <a:ext cx="82931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/>
              <a:t>Global vs. Local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8890" y="3658964"/>
            <a:ext cx="114138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Global replacement</a:t>
            </a:r>
            <a:r>
              <a:rPr lang="en-US" dirty="0"/>
              <a:t> – process selects a replacement frame from the set of all frames; one process can take a frame from another</a:t>
            </a:r>
          </a:p>
          <a:p>
            <a:r>
              <a:rPr lang="en-US" b="1" dirty="0"/>
              <a:t>Local replacement</a:t>
            </a:r>
            <a:r>
              <a:rPr lang="en-US" dirty="0"/>
              <a:t> – each process selects from only its own set of allocated frames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27547" y="95534"/>
            <a:ext cx="9723287" cy="723332"/>
          </a:xfrm>
        </p:spPr>
        <p:txBody>
          <a:bodyPr/>
          <a:lstStyle/>
          <a:p>
            <a:pPr eaLnBrk="1" hangingPunct="1"/>
            <a:r>
              <a:rPr lang="en-US" b="1" dirty="0" smtClean="0"/>
              <a:t>Thrashing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547" y="818866"/>
            <a:ext cx="11864454" cy="5075522"/>
          </a:xfrm>
        </p:spPr>
        <p:txBody>
          <a:bodyPr/>
          <a:lstStyle/>
          <a:p>
            <a:r>
              <a:rPr lang="en-US" dirty="0" smtClean="0"/>
              <a:t>If a process does not have “enough” pages, the page-fault rate is very high.  This leads to: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low CPU utilization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operating system thinks that it needs to increase the degree of multiprogramming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another process added to the </a:t>
            </a:r>
            <a:r>
              <a:rPr lang="en-US" dirty="0" smtClean="0">
                <a:ea typeface="ＭＳ Ｐゴシック" panose="020B0600070205080204" pitchFamily="34" charset="-128"/>
              </a:rPr>
              <a:t>system</a:t>
            </a:r>
            <a:endParaRPr lang="en-US" dirty="0" smtClean="0">
              <a:ea typeface="ＭＳ Ｐゴシック" panose="020B0600070205080204" pitchFamily="34" charset="-128"/>
            </a:endParaRPr>
          </a:p>
          <a:p>
            <a:r>
              <a:rPr lang="en-US" b="1" dirty="0" smtClean="0"/>
              <a:t>Thrashing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 a process is busy swapping pages in and out</a:t>
            </a:r>
            <a:endParaRPr lang="en-US" dirty="0" smtClean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411" y="2928300"/>
            <a:ext cx="6474440" cy="35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36728" y="109182"/>
            <a:ext cx="11081982" cy="744893"/>
          </a:xfrm>
        </p:spPr>
        <p:txBody>
          <a:bodyPr/>
          <a:lstStyle/>
          <a:p>
            <a:pPr eaLnBrk="1" hangingPunct="1"/>
            <a:r>
              <a:rPr lang="en-US" b="1" dirty="0" smtClean="0"/>
              <a:t>Demand Paging and Thrashing </a:t>
            </a:r>
            <a:endParaRPr lang="en-US" sz="2400" b="1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728" y="854075"/>
            <a:ext cx="11081982" cy="2827338"/>
          </a:xfrm>
        </p:spPr>
        <p:txBody>
          <a:bodyPr>
            <a:normAutofit/>
          </a:bodyPr>
          <a:lstStyle/>
          <a:p>
            <a:r>
              <a:rPr lang="en-US" sz="1600" dirty="0"/>
              <a:t>Why does demand paging work?</a:t>
            </a:r>
            <a:br>
              <a:rPr lang="en-US" sz="1600" dirty="0"/>
            </a:br>
            <a:r>
              <a:rPr lang="en-US" sz="1600" dirty="0"/>
              <a:t>Locality model</a:t>
            </a:r>
          </a:p>
          <a:p>
            <a:pPr lvl="1"/>
            <a:r>
              <a:rPr lang="en-US" sz="1600" dirty="0">
                <a:ea typeface="ＭＳ Ｐゴシック" panose="020B0600070205080204" pitchFamily="34" charset="-128"/>
              </a:rPr>
              <a:t>Process migrates from one locality to another</a:t>
            </a:r>
          </a:p>
          <a:p>
            <a:pPr lvl="1"/>
            <a:r>
              <a:rPr lang="en-US" sz="1600" dirty="0">
                <a:ea typeface="ＭＳ Ｐゴシック" panose="020B0600070205080204" pitchFamily="34" charset="-128"/>
              </a:rPr>
              <a:t>Localities may </a:t>
            </a:r>
            <a:r>
              <a:rPr lang="en-US" sz="1600" dirty="0" smtClean="0">
                <a:ea typeface="ＭＳ Ｐゴシック" panose="020B0600070205080204" pitchFamily="34" charset="-128"/>
              </a:rPr>
              <a:t>overlap</a:t>
            </a:r>
            <a:endParaRPr lang="en-US" sz="1600" dirty="0">
              <a:ea typeface="ＭＳ Ｐゴシック" panose="020B0600070205080204" pitchFamily="34" charset="-128"/>
            </a:endParaRPr>
          </a:p>
          <a:p>
            <a:r>
              <a:rPr lang="en-US" sz="1600" dirty="0"/>
              <a:t>Why does thrashing occur?</a:t>
            </a:r>
            <a:br>
              <a:rPr lang="en-US" sz="1600" dirty="0"/>
            </a:br>
            <a:r>
              <a:rPr lang="en-US" sz="1600" dirty="0">
                <a:sym typeface="Symbol" panose="05050102010706020507" pitchFamily="18" charset="2"/>
              </a:rPr>
              <a:t> size of locality &gt; total memory size</a:t>
            </a:r>
            <a:endParaRPr lang="en-US" sz="16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749" y="854075"/>
            <a:ext cx="4179888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108178" y="5782818"/>
            <a:ext cx="4649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Locality In A Memory-Reference Pattern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764275"/>
          </a:xfrm>
        </p:spPr>
        <p:txBody>
          <a:bodyPr/>
          <a:lstStyle/>
          <a:p>
            <a:pPr eaLnBrk="1" hangingPunct="1"/>
            <a:r>
              <a:rPr lang="en-US" b="1" dirty="0" smtClean="0"/>
              <a:t>Working-Set Model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764275"/>
            <a:ext cx="11241089" cy="6093725"/>
          </a:xfrm>
        </p:spPr>
        <p:txBody>
          <a:bodyPr>
            <a:normAutofit/>
          </a:bodyPr>
          <a:lstStyle/>
          <a:p>
            <a:r>
              <a:rPr lang="en-US" dirty="0" smtClean="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dirty="0" smtClean="0">
                <a:sym typeface="Symbol" panose="05050102010706020507" pitchFamily="18" charset="2"/>
              </a:rPr>
            </a:br>
            <a:r>
              <a:rPr lang="en-US" dirty="0" smtClean="0">
                <a:sym typeface="Symbol" panose="05050102010706020507" pitchFamily="18" charset="2"/>
              </a:rPr>
              <a:t>Example:  10,000 instruction</a:t>
            </a:r>
          </a:p>
          <a:p>
            <a:r>
              <a:rPr lang="en-US" i="1" dirty="0" err="1" smtClean="0">
                <a:sym typeface="Symbol" panose="05050102010706020507" pitchFamily="18" charset="2"/>
              </a:rPr>
              <a:t>WSS</a:t>
            </a:r>
            <a:r>
              <a:rPr 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dirty="0" smtClean="0">
                <a:sym typeface="Symbol" panose="05050102010706020507" pitchFamily="18" charset="2"/>
              </a:rPr>
              <a:t> (working set of Process </a:t>
            </a:r>
            <a:r>
              <a:rPr lang="en-US" i="1" dirty="0" smtClean="0">
                <a:sym typeface="Symbol" panose="05050102010706020507" pitchFamily="18" charset="2"/>
              </a:rPr>
              <a:t>P</a:t>
            </a:r>
            <a:r>
              <a:rPr lang="en-US" i="1" baseline="-25000" dirty="0" smtClean="0">
                <a:sym typeface="Symbol" panose="05050102010706020507" pitchFamily="18" charset="2"/>
              </a:rPr>
              <a:t>i</a:t>
            </a:r>
            <a:r>
              <a:rPr lang="en-US" dirty="0" smtClean="0">
                <a:sym typeface="Symbol" panose="05050102010706020507" pitchFamily="18" charset="2"/>
              </a:rPr>
              <a:t>) =</a:t>
            </a:r>
            <a:br>
              <a:rPr lang="en-US" dirty="0" smtClean="0">
                <a:sym typeface="Symbol" panose="05050102010706020507" pitchFamily="18" charset="2"/>
              </a:rPr>
            </a:br>
            <a:r>
              <a:rPr lang="en-US" dirty="0" smtClean="0">
                <a:sym typeface="Symbol" panose="05050102010706020507" pitchFamily="18" charset="2"/>
              </a:rPr>
              <a:t>total number of pages referenced in the most recent  (varies in time)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if  too small will not encompass entire locality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if  =   will encompass entire program</a:t>
            </a:r>
          </a:p>
          <a:p>
            <a:r>
              <a:rPr lang="en-US" i="1" dirty="0" smtClean="0">
                <a:sym typeface="Symbol" panose="05050102010706020507" pitchFamily="18" charset="2"/>
              </a:rPr>
              <a:t>D</a:t>
            </a:r>
            <a:r>
              <a:rPr lang="en-US" dirty="0" smtClean="0">
                <a:sym typeface="Symbol" panose="05050102010706020507" pitchFamily="18" charset="2"/>
              </a:rPr>
              <a:t> =  </a:t>
            </a:r>
            <a:r>
              <a:rPr lang="en-US" i="1" dirty="0" err="1" smtClean="0">
                <a:sym typeface="Symbol" panose="05050102010706020507" pitchFamily="18" charset="2"/>
              </a:rPr>
              <a:t>WSS</a:t>
            </a:r>
            <a:r>
              <a:rPr 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dirty="0" smtClean="0">
                <a:sym typeface="Symbol" panose="05050102010706020507" pitchFamily="18" charset="2"/>
              </a:rPr>
              <a:t>  total demand frames </a:t>
            </a:r>
          </a:p>
          <a:p>
            <a:r>
              <a:rPr lang="en-US" dirty="0" smtClean="0">
                <a:sym typeface="Symbol" panose="05050102010706020507" pitchFamily="18" charset="2"/>
              </a:rPr>
              <a:t>if </a:t>
            </a:r>
            <a:r>
              <a:rPr lang="en-US" i="1" dirty="0" smtClean="0">
                <a:sym typeface="Symbol" panose="05050102010706020507" pitchFamily="18" charset="2"/>
              </a:rPr>
              <a:t>D</a:t>
            </a:r>
            <a:r>
              <a:rPr lang="en-US" dirty="0" smtClean="0">
                <a:sym typeface="Symbol" panose="05050102010706020507" pitchFamily="18" charset="2"/>
              </a:rPr>
              <a:t> &gt; </a:t>
            </a:r>
            <a:r>
              <a:rPr lang="en-US" i="1" dirty="0" smtClean="0">
                <a:sym typeface="Symbol" panose="05050102010706020507" pitchFamily="18" charset="2"/>
              </a:rPr>
              <a:t>m</a:t>
            </a:r>
            <a:r>
              <a:rPr lang="en-US" dirty="0" smtClean="0">
                <a:sym typeface="Symbol" panose="05050102010706020507" pitchFamily="18" charset="2"/>
              </a:rPr>
              <a:t>  Thrashing</a:t>
            </a:r>
          </a:p>
          <a:p>
            <a:r>
              <a:rPr lang="en-US" dirty="0" smtClean="0">
                <a:sym typeface="Symbol" panose="05050102010706020507" pitchFamily="18" charset="2"/>
              </a:rPr>
              <a:t>Policy if </a:t>
            </a:r>
            <a:r>
              <a:rPr lang="en-US" i="1" dirty="0" smtClean="0">
                <a:sym typeface="Symbol" panose="05050102010706020507" pitchFamily="18" charset="2"/>
              </a:rPr>
              <a:t>D</a:t>
            </a:r>
            <a:r>
              <a:rPr lang="en-US" dirty="0" smtClean="0">
                <a:sym typeface="Symbol" panose="05050102010706020507" pitchFamily="18" charset="2"/>
              </a:rPr>
              <a:t> &gt; m, then suspend one of the processes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334" y="4811713"/>
            <a:ext cx="677227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0"/>
            <a:ext cx="9404723" cy="696036"/>
          </a:xfrm>
        </p:spPr>
        <p:txBody>
          <a:bodyPr/>
          <a:lstStyle/>
          <a:p>
            <a:pPr eaLnBrk="1" hangingPunct="1"/>
            <a:r>
              <a:rPr lang="en-US" b="1" dirty="0" smtClean="0"/>
              <a:t>Keeping Track of the Working Set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696036"/>
            <a:ext cx="10927189" cy="5552363"/>
          </a:xfrm>
        </p:spPr>
        <p:txBody>
          <a:bodyPr/>
          <a:lstStyle/>
          <a:p>
            <a:r>
              <a:rPr lang="en-US" dirty="0" smtClean="0"/>
              <a:t>Approximate with interval timer + a reference bit</a:t>
            </a:r>
          </a:p>
          <a:p>
            <a:r>
              <a:rPr lang="en-US" dirty="0" smtClean="0"/>
              <a:t>Example: </a:t>
            </a:r>
            <a:r>
              <a:rPr lang="en-US" dirty="0" smtClean="0">
                <a:sym typeface="Symbol" panose="05050102010706020507" pitchFamily="18" charset="2"/>
              </a:rPr>
              <a:t> = 10,000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Timer interrupts after every 5000 time units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Keep in memory 2 bits for each page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Whenever a timer interrupts copy and sets the values of all reference bits to 0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If one of the bits in memory = 1  page in working set</a:t>
            </a:r>
          </a:p>
          <a:p>
            <a:r>
              <a:rPr lang="en-US" dirty="0" smtClean="0">
                <a:sym typeface="Symbol" panose="05050102010706020507" pitchFamily="18" charset="2"/>
              </a:rPr>
              <a:t>Why is this not completely accurate?</a:t>
            </a:r>
          </a:p>
          <a:p>
            <a:r>
              <a:rPr lang="en-US" dirty="0" smtClean="0">
                <a:sym typeface="Symbol" panose="05050102010706020507" pitchFamily="18" charset="2"/>
              </a:rPr>
              <a:t>Improvement = 10 bits and interrupt every 1000 time units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95534"/>
            <a:ext cx="9404723" cy="846162"/>
          </a:xfrm>
        </p:spPr>
        <p:txBody>
          <a:bodyPr/>
          <a:lstStyle/>
          <a:p>
            <a:pPr eaLnBrk="1" hangingPunct="1"/>
            <a:r>
              <a:rPr lang="en-US" b="1" dirty="0" smtClean="0"/>
              <a:t>Page-Fault Frequency Scheme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941696"/>
            <a:ext cx="11268385" cy="1351128"/>
          </a:xfrm>
        </p:spPr>
        <p:txBody>
          <a:bodyPr/>
          <a:lstStyle/>
          <a:p>
            <a:r>
              <a:rPr lang="en-US" dirty="0" smtClean="0"/>
              <a:t>Establish “acceptable” page-fault rate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If actual rate too low, process loses frame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If actual rate too high, process gains frame</a:t>
            </a:r>
          </a:p>
        </p:txBody>
      </p:sp>
      <p:pic>
        <p:nvPicPr>
          <p:cNvPr id="11776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" t="16351" r="1137" b="16667"/>
          <a:stretch>
            <a:fillRect/>
          </a:stretch>
        </p:blipFill>
        <p:spPr bwMode="auto">
          <a:xfrm>
            <a:off x="3054350" y="2933700"/>
            <a:ext cx="5886450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>
          <a:xfrm>
            <a:off x="887104" y="277813"/>
            <a:ext cx="9638021" cy="576262"/>
          </a:xfrm>
        </p:spPr>
        <p:txBody>
          <a:bodyPr/>
          <a:lstStyle/>
          <a:p>
            <a:pPr eaLnBrk="1" hangingPunct="1"/>
            <a:r>
              <a:rPr lang="en-US" dirty="0" smtClean="0"/>
              <a:t>Working Sets and Page Fault Rates</a:t>
            </a:r>
          </a:p>
        </p:txBody>
      </p:sp>
      <p:pic>
        <p:nvPicPr>
          <p:cNvPr id="119812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038" y="2082800"/>
            <a:ext cx="6869112" cy="313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623</TotalTime>
  <Words>2720</Words>
  <Application>Microsoft Office PowerPoint</Application>
  <PresentationFormat>Widescreen</PresentationFormat>
  <Paragraphs>618</Paragraphs>
  <Slides>77</Slides>
  <Notes>74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0" baseType="lpstr">
      <vt:lpstr>ＭＳ Ｐゴシック</vt:lpstr>
      <vt:lpstr>Arial</vt:lpstr>
      <vt:lpstr>Calibri</vt:lpstr>
      <vt:lpstr>Century Gothic</vt:lpstr>
      <vt:lpstr>Helvetica</vt:lpstr>
      <vt:lpstr>Monotype Sorts</vt:lpstr>
      <vt:lpstr>Symbol</vt:lpstr>
      <vt:lpstr>Times New Roman</vt:lpstr>
      <vt:lpstr>Verdana</vt:lpstr>
      <vt:lpstr>Wingdings</vt:lpstr>
      <vt:lpstr>Wingdings 3</vt:lpstr>
      <vt:lpstr>Ion</vt:lpstr>
      <vt:lpstr>Equation</vt:lpstr>
      <vt:lpstr>Module 4 </vt:lpstr>
      <vt:lpstr>Background</vt:lpstr>
      <vt:lpstr>Base and Limit Registers</vt:lpstr>
      <vt:lpstr>Binding of Instructions and Data to Memory</vt:lpstr>
      <vt:lpstr>Logical vs. Physical Address Space</vt:lpstr>
      <vt:lpstr>Memory-Management Unit (MMU)</vt:lpstr>
      <vt:lpstr>Dynamic Loading</vt:lpstr>
      <vt:lpstr>Dynamic Linking</vt:lpstr>
      <vt:lpstr>Swapping</vt:lpstr>
      <vt:lpstr>Contiguous Allocation</vt:lpstr>
      <vt:lpstr>Hardware Support for Relocation and Limit Registers</vt:lpstr>
      <vt:lpstr>Contiguous Allocation (Cont)</vt:lpstr>
      <vt:lpstr>Dynamic Storage-Allocation Problem</vt:lpstr>
      <vt:lpstr>Fragmentation</vt:lpstr>
      <vt:lpstr>Paging</vt:lpstr>
      <vt:lpstr>Address Translation Scheme</vt:lpstr>
      <vt:lpstr>Paging Hardware</vt:lpstr>
      <vt:lpstr>Paging Model of Logical and Physical Memory</vt:lpstr>
      <vt:lpstr>Paging Example</vt:lpstr>
      <vt:lpstr>Free Frames</vt:lpstr>
      <vt:lpstr>Implementation of Page Table</vt:lpstr>
      <vt:lpstr>Associative Memory</vt:lpstr>
      <vt:lpstr>Paging Hardware With TLB</vt:lpstr>
      <vt:lpstr>Effective Access Time</vt:lpstr>
      <vt:lpstr>Memory Protection</vt:lpstr>
      <vt:lpstr>Shared Pages</vt:lpstr>
      <vt:lpstr>Structure of the Page Table</vt:lpstr>
      <vt:lpstr>Hierarchical Page Tables</vt:lpstr>
      <vt:lpstr>Two-Level Paging Example</vt:lpstr>
      <vt:lpstr>Address-Translation Scheme</vt:lpstr>
      <vt:lpstr>2. Hashed Page Tables</vt:lpstr>
      <vt:lpstr>3. Inverted Page Table</vt:lpstr>
      <vt:lpstr>Segmentation</vt:lpstr>
      <vt:lpstr>Logical View of Segmentation</vt:lpstr>
      <vt:lpstr>Segmentation Architecture </vt:lpstr>
      <vt:lpstr>Segmentation Hardware</vt:lpstr>
      <vt:lpstr>Example of Segmentation</vt:lpstr>
      <vt:lpstr>Virtual Memory</vt:lpstr>
      <vt:lpstr>Background</vt:lpstr>
      <vt:lpstr>PowerPoint Presentation</vt:lpstr>
      <vt:lpstr>Shared Library Using Virtual Memory</vt:lpstr>
      <vt:lpstr>Demand Paging</vt:lpstr>
      <vt:lpstr>Transfer of a Paged Memory to Contiguous Disk Space</vt:lpstr>
      <vt:lpstr>Valid-Invalid Bit</vt:lpstr>
      <vt:lpstr>Page Table When Some Pages Are Not in Main Memory</vt:lpstr>
      <vt:lpstr>Page Fault</vt:lpstr>
      <vt:lpstr>Steps in Handling a Page Fault</vt:lpstr>
      <vt:lpstr>Performance of Demand Paging</vt:lpstr>
      <vt:lpstr>Demand Paging Example</vt:lpstr>
      <vt:lpstr>Process Creation</vt:lpstr>
      <vt:lpstr>Copy-on-Write</vt:lpstr>
      <vt:lpstr>PowerPoint Presentation</vt:lpstr>
      <vt:lpstr>What happens if there is no free frame?</vt:lpstr>
      <vt:lpstr>Page Replacement</vt:lpstr>
      <vt:lpstr>Need For Page Replacement</vt:lpstr>
      <vt:lpstr>Basic Page Replacement</vt:lpstr>
      <vt:lpstr>Page Replacement Algorithms</vt:lpstr>
      <vt:lpstr>Graph of Page Faults Versus The Number of Frames</vt:lpstr>
      <vt:lpstr>First-In-First-Out (FIFO) Algorithm</vt:lpstr>
      <vt:lpstr>FIFO Page Replacement</vt:lpstr>
      <vt:lpstr>FIFO Illustrating Belady’s Anomaly</vt:lpstr>
      <vt:lpstr>Optimal Algorithm</vt:lpstr>
      <vt:lpstr>Optimal Page Replacement</vt:lpstr>
      <vt:lpstr>Least Recently Used (LRU) Algorithm</vt:lpstr>
      <vt:lpstr>LRU Page Replacement</vt:lpstr>
      <vt:lpstr>Use Of A Stack to Record The Most Recent Page References</vt:lpstr>
      <vt:lpstr>LRU Approximation Algorithms</vt:lpstr>
      <vt:lpstr>Counting Algorithms</vt:lpstr>
      <vt:lpstr>Allocation of Frames</vt:lpstr>
      <vt:lpstr>Fixed Allocation</vt:lpstr>
      <vt:lpstr>Priority Allocation</vt:lpstr>
      <vt:lpstr>Thrashing</vt:lpstr>
      <vt:lpstr>Demand Paging and Thrashing </vt:lpstr>
      <vt:lpstr>Working-Set Model</vt:lpstr>
      <vt:lpstr>Keeping Track of the Working Set</vt:lpstr>
      <vt:lpstr>Page-Fault Frequency Scheme</vt:lpstr>
      <vt:lpstr>Working Sets and Page Fault Rates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Arbeena</dc:creator>
  <cp:lastModifiedBy>Arbeena</cp:lastModifiedBy>
  <cp:revision>33</cp:revision>
  <dcterms:created xsi:type="dcterms:W3CDTF">2023-11-10T05:30:06Z</dcterms:created>
  <dcterms:modified xsi:type="dcterms:W3CDTF">2023-11-19T15:29:28Z</dcterms:modified>
</cp:coreProperties>
</file>