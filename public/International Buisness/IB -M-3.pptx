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Lst>
  <p:notesMasterIdLst>
    <p:notesMasterId r:id="rId19"/>
  </p:notesMasterIdLst>
  <p:sldIdLst>
    <p:sldId id="283" r:id="rId2"/>
    <p:sldId id="285" r:id="rId3"/>
    <p:sldId id="286" r:id="rId4"/>
    <p:sldId id="287" r:id="rId5"/>
    <p:sldId id="288" r:id="rId6"/>
    <p:sldId id="289" r:id="rId7"/>
    <p:sldId id="290" r:id="rId8"/>
    <p:sldId id="300" r:id="rId9"/>
    <p:sldId id="291" r:id="rId10"/>
    <p:sldId id="292" r:id="rId11"/>
    <p:sldId id="293" r:id="rId12"/>
    <p:sldId id="301" r:id="rId13"/>
    <p:sldId id="294" r:id="rId14"/>
    <p:sldId id="295" r:id="rId15"/>
    <p:sldId id="296" r:id="rId16"/>
    <p:sldId id="297" r:id="rId17"/>
    <p:sldId id="299" r:id="rId18"/>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0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92" autoAdjust="0"/>
    <p:restoredTop sz="94660"/>
  </p:normalViewPr>
  <p:slideViewPr>
    <p:cSldViewPr snapToGrid="0">
      <p:cViewPr varScale="1">
        <p:scale>
          <a:sx n="71" d="100"/>
          <a:sy n="71" d="100"/>
        </p:scale>
        <p:origin x="1397" y="53"/>
      </p:cViewPr>
      <p:guideLst>
        <p:guide orient="horz" pos="2381"/>
        <p:guide pos="31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V Reena Williams" userId="bee68a21f81384c9" providerId="LiveId" clId="{5A7C177A-5150-4342-8510-C0E7CC4F9630}"/>
    <pc:docChg chg="undo custSel addSld delSld modSld">
      <pc:chgData name="Dr. V Reena Williams" userId="bee68a21f81384c9" providerId="LiveId" clId="{5A7C177A-5150-4342-8510-C0E7CC4F9630}" dt="2021-09-06T08:56:15.979" v="117" actId="1076"/>
      <pc:docMkLst>
        <pc:docMk/>
      </pc:docMkLst>
      <pc:sldChg chg="modSp mod">
        <pc:chgData name="Dr. V Reena Williams" userId="bee68a21f81384c9" providerId="LiveId" clId="{5A7C177A-5150-4342-8510-C0E7CC4F9630}" dt="2021-09-06T08:50:06.960" v="2" actId="120"/>
        <pc:sldMkLst>
          <pc:docMk/>
          <pc:sldMk cId="789510717" sldId="285"/>
        </pc:sldMkLst>
        <pc:spChg chg="mod">
          <ac:chgData name="Dr. V Reena Williams" userId="bee68a21f81384c9" providerId="LiveId" clId="{5A7C177A-5150-4342-8510-C0E7CC4F9630}" dt="2021-09-06T08:50:06.960" v="2" actId="120"/>
          <ac:spMkLst>
            <pc:docMk/>
            <pc:sldMk cId="789510717" sldId="285"/>
            <ac:spMk id="2" creationId="{00000000-0000-0000-0000-000000000000}"/>
          </ac:spMkLst>
        </pc:spChg>
      </pc:sldChg>
      <pc:sldChg chg="modSp mod">
        <pc:chgData name="Dr. V Reena Williams" userId="bee68a21f81384c9" providerId="LiveId" clId="{5A7C177A-5150-4342-8510-C0E7CC4F9630}" dt="2021-09-06T08:50:17.060" v="4" actId="120"/>
        <pc:sldMkLst>
          <pc:docMk/>
          <pc:sldMk cId="3519521770" sldId="326"/>
        </pc:sldMkLst>
        <pc:spChg chg="mod">
          <ac:chgData name="Dr. V Reena Williams" userId="bee68a21f81384c9" providerId="LiveId" clId="{5A7C177A-5150-4342-8510-C0E7CC4F9630}" dt="2021-09-06T08:50:17.060" v="4" actId="120"/>
          <ac:spMkLst>
            <pc:docMk/>
            <pc:sldMk cId="3519521770" sldId="326"/>
            <ac:spMk id="2" creationId="{00000000-0000-0000-0000-000000000000}"/>
          </ac:spMkLst>
        </pc:spChg>
      </pc:sldChg>
      <pc:sldChg chg="modSp mod">
        <pc:chgData name="Dr. V Reena Williams" userId="bee68a21f81384c9" providerId="LiveId" clId="{5A7C177A-5150-4342-8510-C0E7CC4F9630}" dt="2021-09-06T08:50:27.517" v="7" actId="20577"/>
        <pc:sldMkLst>
          <pc:docMk/>
          <pc:sldMk cId="1470130169" sldId="327"/>
        </pc:sldMkLst>
        <pc:spChg chg="mod">
          <ac:chgData name="Dr. V Reena Williams" userId="bee68a21f81384c9" providerId="LiveId" clId="{5A7C177A-5150-4342-8510-C0E7CC4F9630}" dt="2021-09-06T08:50:27.517" v="7" actId="20577"/>
          <ac:spMkLst>
            <pc:docMk/>
            <pc:sldMk cId="1470130169" sldId="327"/>
            <ac:spMk id="2" creationId="{00000000-0000-0000-0000-000000000000}"/>
          </ac:spMkLst>
        </pc:spChg>
      </pc:sldChg>
      <pc:sldChg chg="modSp mod">
        <pc:chgData name="Dr. V Reena Williams" userId="bee68a21f81384c9" providerId="LiveId" clId="{5A7C177A-5150-4342-8510-C0E7CC4F9630}" dt="2021-09-06T08:50:39.872" v="12" actId="20577"/>
        <pc:sldMkLst>
          <pc:docMk/>
          <pc:sldMk cId="2501665032" sldId="328"/>
        </pc:sldMkLst>
        <pc:spChg chg="mod">
          <ac:chgData name="Dr. V Reena Williams" userId="bee68a21f81384c9" providerId="LiveId" clId="{5A7C177A-5150-4342-8510-C0E7CC4F9630}" dt="2021-09-06T08:50:39.872" v="12" actId="20577"/>
          <ac:spMkLst>
            <pc:docMk/>
            <pc:sldMk cId="2501665032" sldId="328"/>
            <ac:spMk id="2" creationId="{00000000-0000-0000-0000-000000000000}"/>
          </ac:spMkLst>
        </pc:spChg>
      </pc:sldChg>
      <pc:sldChg chg="modSp mod">
        <pc:chgData name="Dr. V Reena Williams" userId="bee68a21f81384c9" providerId="LiveId" clId="{5A7C177A-5150-4342-8510-C0E7CC4F9630}" dt="2021-09-06T08:50:51.224" v="15" actId="20577"/>
        <pc:sldMkLst>
          <pc:docMk/>
          <pc:sldMk cId="490069653" sldId="329"/>
        </pc:sldMkLst>
        <pc:spChg chg="mod">
          <ac:chgData name="Dr. V Reena Williams" userId="bee68a21f81384c9" providerId="LiveId" clId="{5A7C177A-5150-4342-8510-C0E7CC4F9630}" dt="2021-09-06T08:50:51.224" v="15" actId="20577"/>
          <ac:spMkLst>
            <pc:docMk/>
            <pc:sldMk cId="490069653" sldId="329"/>
            <ac:spMk id="2" creationId="{00000000-0000-0000-0000-000000000000}"/>
          </ac:spMkLst>
        </pc:spChg>
      </pc:sldChg>
      <pc:sldChg chg="modSp mod">
        <pc:chgData name="Dr. V Reena Williams" userId="bee68a21f81384c9" providerId="LiveId" clId="{5A7C177A-5150-4342-8510-C0E7CC4F9630}" dt="2021-09-06T08:51:00.726" v="18" actId="20577"/>
        <pc:sldMkLst>
          <pc:docMk/>
          <pc:sldMk cId="1122302786" sldId="330"/>
        </pc:sldMkLst>
        <pc:spChg chg="mod">
          <ac:chgData name="Dr. V Reena Williams" userId="bee68a21f81384c9" providerId="LiveId" clId="{5A7C177A-5150-4342-8510-C0E7CC4F9630}" dt="2021-09-06T08:51:00.726" v="18" actId="20577"/>
          <ac:spMkLst>
            <pc:docMk/>
            <pc:sldMk cId="1122302786" sldId="330"/>
            <ac:spMk id="2" creationId="{00000000-0000-0000-0000-000000000000}"/>
          </ac:spMkLst>
        </pc:spChg>
      </pc:sldChg>
      <pc:sldChg chg="addSp modSp new mod chgLayout">
        <pc:chgData name="Dr. V Reena Williams" userId="bee68a21f81384c9" providerId="LiveId" clId="{5A7C177A-5150-4342-8510-C0E7CC4F9630}" dt="2021-09-06T08:56:15.979" v="117" actId="1076"/>
        <pc:sldMkLst>
          <pc:docMk/>
          <pc:sldMk cId="3729964599" sldId="331"/>
        </pc:sldMkLst>
        <pc:spChg chg="mod ord">
          <ac:chgData name="Dr. V Reena Williams" userId="bee68a21f81384c9" providerId="LiveId" clId="{5A7C177A-5150-4342-8510-C0E7CC4F9630}" dt="2021-09-06T08:56:15.979" v="117" actId="1076"/>
          <ac:spMkLst>
            <pc:docMk/>
            <pc:sldMk cId="3729964599" sldId="331"/>
            <ac:spMk id="2" creationId="{021B484D-DF85-4A81-AC62-2227D1C91310}"/>
          </ac:spMkLst>
        </pc:spChg>
        <pc:spChg chg="mod ord">
          <ac:chgData name="Dr. V Reena Williams" userId="bee68a21f81384c9" providerId="LiveId" clId="{5A7C177A-5150-4342-8510-C0E7CC4F9630}" dt="2021-09-06T08:52:05.623" v="35" actId="700"/>
          <ac:spMkLst>
            <pc:docMk/>
            <pc:sldMk cId="3729964599" sldId="331"/>
            <ac:spMk id="3" creationId="{93FE3E18-4DB2-4A88-A31B-084338076549}"/>
          </ac:spMkLst>
        </pc:spChg>
        <pc:spChg chg="mod ord">
          <ac:chgData name="Dr. V Reena Williams" userId="bee68a21f81384c9" providerId="LiveId" clId="{5A7C177A-5150-4342-8510-C0E7CC4F9630}" dt="2021-09-06T08:52:05.623" v="35" actId="700"/>
          <ac:spMkLst>
            <pc:docMk/>
            <pc:sldMk cId="3729964599" sldId="331"/>
            <ac:spMk id="4" creationId="{56330826-16A6-404A-AB4F-BA73D0D91BC6}"/>
          </ac:spMkLst>
        </pc:spChg>
        <pc:spChg chg="mod ord">
          <ac:chgData name="Dr. V Reena Williams" userId="bee68a21f81384c9" providerId="LiveId" clId="{5A7C177A-5150-4342-8510-C0E7CC4F9630}" dt="2021-09-06T08:52:05.623" v="35" actId="700"/>
          <ac:spMkLst>
            <pc:docMk/>
            <pc:sldMk cId="3729964599" sldId="331"/>
            <ac:spMk id="5" creationId="{38C0206A-9FB2-4677-8B17-F163FD15D65E}"/>
          </ac:spMkLst>
        </pc:spChg>
        <pc:spChg chg="add mod">
          <ac:chgData name="Dr. V Reena Williams" userId="bee68a21f81384c9" providerId="LiveId" clId="{5A7C177A-5150-4342-8510-C0E7CC4F9630}" dt="2021-09-06T08:55:55.716" v="101" actId="113"/>
          <ac:spMkLst>
            <pc:docMk/>
            <pc:sldMk cId="3729964599" sldId="331"/>
            <ac:spMk id="6" creationId="{C9DAD70E-71E0-45F2-8997-5F9577497395}"/>
          </ac:spMkLst>
        </pc:spChg>
      </pc:sldChg>
      <pc:sldChg chg="new del">
        <pc:chgData name="Dr. V Reena Williams" userId="bee68a21f81384c9" providerId="LiveId" clId="{5A7C177A-5150-4342-8510-C0E7CC4F9630}" dt="2021-09-06T08:55:13.118" v="86" actId="680"/>
        <pc:sldMkLst>
          <pc:docMk/>
          <pc:sldMk cId="313788060" sldId="33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F9A3035-2B5C-4D33-89FD-1EEE4C5C3F52}" type="datetimeFigureOut">
              <a:rPr lang="en-IN" smtClean="0"/>
              <a:pPr/>
              <a:t>11-08-2025</a:t>
            </a:fld>
            <a:endParaRPr lang="en-IN"/>
          </a:p>
        </p:txBody>
      </p:sp>
      <p:sp>
        <p:nvSpPr>
          <p:cNvPr id="4" name="Slide Image Placeholder 3"/>
          <p:cNvSpPr>
            <a:spLocks noGrp="1" noRot="1" noChangeAspect="1"/>
          </p:cNvSpPr>
          <p:nvPr>
            <p:ph type="sldImg" idx="2"/>
          </p:nvPr>
        </p:nvSpPr>
        <p:spPr>
          <a:xfrm>
            <a:off x="1106488" y="801688"/>
            <a:ext cx="5346700" cy="40100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ECBC7D61-77AE-402C-8842-740617525158}" type="slidenum">
              <a:rPr lang="en-IN" smtClean="0"/>
              <a:pPr/>
              <a:t>‹#›</a:t>
            </a:fld>
            <a:endParaRPr lang="en-IN"/>
          </a:p>
        </p:txBody>
      </p:sp>
    </p:spTree>
    <p:extLst>
      <p:ext uri="{BB962C8B-B14F-4D97-AF65-F5344CB8AC3E}">
        <p14:creationId xmlns:p14="http://schemas.microsoft.com/office/powerpoint/2010/main" val="3656460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6244" y="2348401"/>
            <a:ext cx="8568137" cy="162043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488" y="4283816"/>
            <a:ext cx="7055650" cy="1931917"/>
          </a:xfrm>
          <a:prstGeom prst="rect">
            <a:avLst/>
          </a:prstGeom>
        </p:spPr>
        <p:txBody>
          <a:bodyPr/>
          <a:lstStyle>
            <a:lvl1pPr marL="0" indent="0" algn="ctr">
              <a:buNone/>
              <a:defRPr>
                <a:solidFill>
                  <a:schemeClr val="tx1">
                    <a:tint val="75000"/>
                  </a:schemeClr>
                </a:solidFill>
              </a:defRPr>
            </a:lvl1pPr>
            <a:lvl2pPr marL="378104" indent="0" algn="ctr">
              <a:buNone/>
              <a:defRPr>
                <a:solidFill>
                  <a:schemeClr val="tx1">
                    <a:tint val="75000"/>
                  </a:schemeClr>
                </a:solidFill>
              </a:defRPr>
            </a:lvl2pPr>
            <a:lvl3pPr marL="756209" indent="0" algn="ctr">
              <a:buNone/>
              <a:defRPr>
                <a:solidFill>
                  <a:schemeClr val="tx1">
                    <a:tint val="75000"/>
                  </a:schemeClr>
                </a:solidFill>
              </a:defRPr>
            </a:lvl3pPr>
            <a:lvl4pPr marL="1134313" indent="0" algn="ctr">
              <a:buNone/>
              <a:defRPr>
                <a:solidFill>
                  <a:schemeClr val="tx1">
                    <a:tint val="75000"/>
                  </a:schemeClr>
                </a:solidFill>
              </a:defRPr>
            </a:lvl4pPr>
            <a:lvl5pPr marL="1512418" indent="0" algn="ctr">
              <a:buNone/>
              <a:defRPr>
                <a:solidFill>
                  <a:schemeClr val="tx1">
                    <a:tint val="75000"/>
                  </a:schemeClr>
                </a:solidFill>
              </a:defRPr>
            </a:lvl5pPr>
            <a:lvl6pPr marL="1890522" indent="0" algn="ctr">
              <a:buNone/>
              <a:defRPr>
                <a:solidFill>
                  <a:schemeClr val="tx1">
                    <a:tint val="75000"/>
                  </a:schemeClr>
                </a:solidFill>
              </a:defRPr>
            </a:lvl6pPr>
            <a:lvl7pPr marL="2268626" indent="0" algn="ctr">
              <a:buNone/>
              <a:defRPr>
                <a:solidFill>
                  <a:schemeClr val="tx1">
                    <a:tint val="75000"/>
                  </a:schemeClr>
                </a:solidFill>
              </a:defRPr>
            </a:lvl7pPr>
            <a:lvl8pPr marL="2646731" indent="0" algn="ctr">
              <a:buNone/>
              <a:defRPr>
                <a:solidFill>
                  <a:schemeClr val="tx1">
                    <a:tint val="75000"/>
                  </a:schemeClr>
                </a:solidFill>
              </a:defRPr>
            </a:lvl8pPr>
            <a:lvl9pPr marL="302483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756209"/>
            <a:fld id="{585B8C8C-3877-4992-85E3-14BF5F90157E}" type="datetime3">
              <a:rPr lang="en-US" smtClean="0"/>
              <a:t>11 August 2025</a:t>
            </a:fld>
            <a:endParaRPr lang="en-US"/>
          </a:p>
        </p:txBody>
      </p:sp>
      <p:sp>
        <p:nvSpPr>
          <p:cNvPr id="5" name="Footer Placeholder 4"/>
          <p:cNvSpPr>
            <a:spLocks noGrp="1"/>
          </p:cNvSpPr>
          <p:nvPr>
            <p:ph type="ftr" sz="quarter" idx="11"/>
          </p:nvPr>
        </p:nvSpPr>
        <p:spPr/>
        <p:txBody>
          <a:bodyPr/>
          <a:lstStyle/>
          <a:p>
            <a:pPr defTabSz="756209"/>
            <a:r>
              <a:rPr lang="en-US"/>
              <a:t>Dr. Vasanthi  Reena Williams  Prof. Department of MBA, VVIET, Mysuru</a:t>
            </a:r>
          </a:p>
        </p:txBody>
      </p:sp>
      <p:sp>
        <p:nvSpPr>
          <p:cNvPr id="6" name="Slide Number Placeholder 5"/>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Tree>
    <p:extLst>
      <p:ext uri="{BB962C8B-B14F-4D97-AF65-F5344CB8AC3E}">
        <p14:creationId xmlns:p14="http://schemas.microsoft.com/office/powerpoint/2010/main" val="2732775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Title 9"/>
          <p:cNvSpPr>
            <a:spLocks noGrp="1"/>
          </p:cNvSpPr>
          <p:nvPr>
            <p:ph type="title"/>
          </p:nvPr>
        </p:nvSpPr>
        <p:spPr>
          <a:xfrm>
            <a:off x="504163" y="302737"/>
            <a:ext cx="9072300" cy="1259946"/>
          </a:xfrm>
          <a:prstGeom prst="rect">
            <a:avLst/>
          </a:prstGeom>
        </p:spPr>
        <p:txBody>
          <a:bodyPr/>
          <a:lstStyle/>
          <a:p>
            <a:r>
              <a:rPr lang="en-US"/>
              <a:t>Click to edit Master title style</a:t>
            </a:r>
          </a:p>
        </p:txBody>
      </p:sp>
      <p:sp>
        <p:nvSpPr>
          <p:cNvPr id="11" name="Date Placeholder 10"/>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12" name="Slide Number Placeholder 11"/>
          <p:cNvSpPr>
            <a:spLocks noGrp="1"/>
          </p:cNvSpPr>
          <p:nvPr>
            <p:ph type="sldNum" sz="quarter" idx="11"/>
          </p:nvPr>
        </p:nvSpPr>
        <p:spPr/>
        <p:txBody>
          <a:bodyPr/>
          <a:lstStyle/>
          <a:p>
            <a:pPr defTabSz="756209"/>
            <a:fld id="{B6F15528-21DE-4FAA-801E-634DDDAF4B2B}" type="slidenum">
              <a:rPr lang="en-US" smtClean="0"/>
              <a:pPr defTabSz="756209"/>
              <a:t>‹#›</a:t>
            </a:fld>
            <a:endParaRPr lang="en-US"/>
          </a:p>
        </p:txBody>
      </p:sp>
      <p:sp>
        <p:nvSpPr>
          <p:cNvPr id="13" name="Footer Placeholder 12"/>
          <p:cNvSpPr>
            <a:spLocks noGrp="1"/>
          </p:cNvSpPr>
          <p:nvPr>
            <p:ph type="ftr" sz="quarter" idx="12"/>
          </p:nvPr>
        </p:nvSpPr>
        <p:spPr/>
        <p:txBody>
          <a:bodyPr/>
          <a:lstStyle/>
          <a:p>
            <a:pPr defTabSz="756209"/>
            <a:r>
              <a:rPr lang="en-US"/>
              <a:t>Dr. Vasanthi  Reena Williams  Prof. Department of MBA, VVIET, Mysuru</a:t>
            </a:r>
          </a:p>
        </p:txBody>
      </p:sp>
    </p:spTree>
    <p:extLst>
      <p:ext uri="{BB962C8B-B14F-4D97-AF65-F5344CB8AC3E}">
        <p14:creationId xmlns:p14="http://schemas.microsoft.com/office/powerpoint/2010/main" val="3995219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65870" y="1427939"/>
            <a:ext cx="9072300" cy="125994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756209"/>
            <a:fld id="{0420B8FD-D4AD-4A41-95EA-81787BFACB69}" type="datetime3">
              <a:rPr lang="en-US" smtClean="0"/>
              <a:t>11 August 2025</a:t>
            </a:fld>
            <a:endParaRPr lang="en-US"/>
          </a:p>
        </p:txBody>
      </p:sp>
      <p:sp>
        <p:nvSpPr>
          <p:cNvPr id="4" name="Footer Placeholder 3"/>
          <p:cNvSpPr>
            <a:spLocks noGrp="1"/>
          </p:cNvSpPr>
          <p:nvPr>
            <p:ph type="ftr" sz="quarter" idx="11"/>
          </p:nvPr>
        </p:nvSpPr>
        <p:spPr/>
        <p:txBody>
          <a:bodyPr/>
          <a:lstStyle/>
          <a:p>
            <a:pPr defTabSz="756209"/>
            <a:r>
              <a:rPr lang="en-US"/>
              <a:t>Dr. Vasanthi  Reena Williams  Prof. Department of MBA, VVIET, Mysuru</a:t>
            </a:r>
          </a:p>
        </p:txBody>
      </p:sp>
      <p:sp>
        <p:nvSpPr>
          <p:cNvPr id="5" name="Slide Number Placeholder 4"/>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
        <p:nvSpPr>
          <p:cNvPr id="7" name="Text Placeholder 6"/>
          <p:cNvSpPr>
            <a:spLocks noGrp="1"/>
          </p:cNvSpPr>
          <p:nvPr>
            <p:ph type="body" sz="quarter" idx="13"/>
          </p:nvPr>
        </p:nvSpPr>
        <p:spPr>
          <a:xfrm>
            <a:off x="9073613" y="1091953"/>
            <a:ext cx="756244" cy="100795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34251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504031" y="7006701"/>
            <a:ext cx="2352146" cy="402483"/>
          </a:xfrm>
          <a:prstGeom prst="rect">
            <a:avLst/>
          </a:prstGeom>
        </p:spPr>
        <p:txBody>
          <a:bodyPr vert="horz" lIns="91440" tIns="45720" rIns="91440" bIns="45720" rtlCol="0" anchor="ctr"/>
          <a:lstStyle>
            <a:lvl1pPr algn="l">
              <a:defRPr sz="992">
                <a:solidFill>
                  <a:srgbClr val="002060"/>
                </a:solidFill>
                <a:latin typeface="Cambria" pitchFamily="18" charset="0"/>
              </a:defRPr>
            </a:lvl1pPr>
          </a:lstStyle>
          <a:p>
            <a:pPr defTabSz="756209"/>
            <a:fld id="{6D9E5F16-11D2-4834-8A13-8E53B6D35C7D}" type="datetime3">
              <a:rPr lang="en-US" smtClean="0"/>
              <a:t>11 August 2025</a:t>
            </a:fld>
            <a:endParaRPr lang="en-US"/>
          </a:p>
        </p:txBody>
      </p:sp>
      <p:sp>
        <p:nvSpPr>
          <p:cNvPr id="5" name="Footer Placeholder 4"/>
          <p:cNvSpPr>
            <a:spLocks noGrp="1"/>
          </p:cNvSpPr>
          <p:nvPr>
            <p:ph type="ftr" sz="quarter" idx="3"/>
          </p:nvPr>
        </p:nvSpPr>
        <p:spPr>
          <a:xfrm>
            <a:off x="3444214" y="7006701"/>
            <a:ext cx="3192198" cy="402483"/>
          </a:xfrm>
          <a:prstGeom prst="rect">
            <a:avLst/>
          </a:prstGeom>
        </p:spPr>
        <p:txBody>
          <a:bodyPr vert="horz" lIns="91440" tIns="45720" rIns="91440" bIns="45720" rtlCol="0" anchor="ctr"/>
          <a:lstStyle>
            <a:lvl1pPr algn="ctr">
              <a:defRPr sz="992">
                <a:solidFill>
                  <a:srgbClr val="002060"/>
                </a:solidFill>
                <a:latin typeface="Cambria" pitchFamily="18" charset="0"/>
              </a:defRPr>
            </a:lvl1pPr>
          </a:lstStyle>
          <a:p>
            <a:pPr defTabSz="756209"/>
            <a:r>
              <a:rPr lang="en-US"/>
              <a:t>Dr. Vasanthi  Reena Williams  Prof. Department of MBA, VVIET, Mysuru</a:t>
            </a:r>
          </a:p>
        </p:txBody>
      </p:sp>
      <p:sp>
        <p:nvSpPr>
          <p:cNvPr id="6" name="Slide Number Placeholder 5"/>
          <p:cNvSpPr>
            <a:spLocks noGrp="1"/>
          </p:cNvSpPr>
          <p:nvPr>
            <p:ph type="sldNum" sz="quarter" idx="4"/>
          </p:nvPr>
        </p:nvSpPr>
        <p:spPr>
          <a:xfrm>
            <a:off x="7224449" y="7006701"/>
            <a:ext cx="2352146" cy="402483"/>
          </a:xfrm>
          <a:prstGeom prst="rect">
            <a:avLst/>
          </a:prstGeom>
        </p:spPr>
        <p:txBody>
          <a:bodyPr vert="horz" lIns="91440" tIns="45720" rIns="91440" bIns="45720" rtlCol="0" anchor="ctr"/>
          <a:lstStyle>
            <a:lvl1pPr algn="r">
              <a:defRPr sz="992">
                <a:solidFill>
                  <a:srgbClr val="002060"/>
                </a:solidFill>
                <a:latin typeface="Cambria" pitchFamily="18" charset="0"/>
              </a:defRPr>
            </a:lvl1pPr>
          </a:lstStyle>
          <a:p>
            <a:pPr defTabSz="756209"/>
            <a:fld id="{B6F15528-21DE-4FAA-801E-634DDDAF4B2B}" type="slidenum">
              <a:rPr lang="en-US" smtClean="0"/>
              <a:pPr defTabSz="756209"/>
              <a:t>‹#›</a:t>
            </a:fld>
            <a:endParaRPr lang="en-US"/>
          </a:p>
        </p:txBody>
      </p:sp>
      <p:sp>
        <p:nvSpPr>
          <p:cNvPr id="7" name="Rectangle 6"/>
          <p:cNvSpPr/>
          <p:nvPr/>
        </p:nvSpPr>
        <p:spPr>
          <a:xfrm>
            <a:off x="1070033" y="0"/>
            <a:ext cx="6942318" cy="102811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US" sz="1489" b="0" i="0" u="none" strike="noStrike" kern="1200" cap="none" spc="0" normalizeH="0" baseline="0" noProof="0">
              <a:ln>
                <a:noFill/>
              </a:ln>
              <a:solidFill>
                <a:prstClr val="white"/>
              </a:solidFill>
              <a:effectLst/>
              <a:uLnTx/>
              <a:uFillTx/>
              <a:latin typeface="Book Antiqua"/>
              <a:ea typeface="+mn-ea"/>
              <a:cs typeface="+mn-cs"/>
            </a:endParaRPr>
          </a:p>
        </p:txBody>
      </p:sp>
      <p:pic>
        <p:nvPicPr>
          <p:cNvPr id="8"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022" y="2"/>
            <a:ext cx="943991" cy="98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5450" y="1095752"/>
            <a:ext cx="10083250" cy="5039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white"/>
              </a:solidFill>
              <a:effectLst/>
              <a:uLnTx/>
              <a:uFillTx/>
              <a:latin typeface="Book Antiqua"/>
              <a:ea typeface="+mn-ea"/>
              <a:cs typeface="+mn-cs"/>
            </a:endParaRPr>
          </a:p>
        </p:txBody>
      </p:sp>
      <p:sp>
        <p:nvSpPr>
          <p:cNvPr id="10" name="TextBox 9"/>
          <p:cNvSpPr txBox="1"/>
          <p:nvPr/>
        </p:nvSpPr>
        <p:spPr>
          <a:xfrm>
            <a:off x="7995552" y="1"/>
            <a:ext cx="2085073" cy="703078"/>
          </a:xfrm>
          <a:prstGeom prst="rect">
            <a:avLst/>
          </a:prstGeom>
          <a:noFill/>
        </p:spPr>
        <p:txBody>
          <a:bodyPr wrap="square" rtlCol="0">
            <a:spAutoFit/>
          </a:bodyPr>
          <a:lstStyle/>
          <a:p>
            <a:pPr marL="0" marR="0" lvl="0" indent="0" algn="l" defTabSz="756209" rtl="0" eaLnBrk="1" fontAlgn="auto" latinLnBrk="0" hangingPunct="1">
              <a:lnSpc>
                <a:spcPct val="100000"/>
              </a:lnSpc>
              <a:spcBef>
                <a:spcPts val="0"/>
              </a:spcBef>
              <a:spcAft>
                <a:spcPts val="0"/>
              </a:spcAft>
              <a:buClrTx/>
              <a:buSzTx/>
              <a:buFontTx/>
              <a:buNone/>
              <a:tabLst/>
              <a:defRPr/>
            </a:pPr>
            <a:r>
              <a:rPr kumimoji="0" lang="en-IN" sz="1323" b="0" i="0" u="none" strike="noStrike" kern="1200" cap="none" spc="0" normalizeH="0" baseline="0" noProof="0" dirty="0">
                <a:ln>
                  <a:noFill/>
                </a:ln>
                <a:solidFill>
                  <a:srgbClr val="002060"/>
                </a:solidFill>
                <a:effectLst/>
                <a:uLnTx/>
                <a:uFillTx/>
                <a:latin typeface="Cambria" pitchFamily="18" charset="0"/>
                <a:ea typeface="Cambria" pitchFamily="18" charset="0"/>
                <a:cs typeface="Arial" panose="020B0604020202020204" pitchFamily="34" charset="0"/>
              </a:rPr>
              <a:t>VIDYA VIKAS INSTITUTE OF ENGINEERING &amp; TECHNOLOGY</a:t>
            </a:r>
          </a:p>
        </p:txBody>
      </p:sp>
      <p:sp>
        <p:nvSpPr>
          <p:cNvPr id="11" name="Rectangle 10"/>
          <p:cNvSpPr/>
          <p:nvPr/>
        </p:nvSpPr>
        <p:spPr>
          <a:xfrm>
            <a:off x="-3114" y="1199330"/>
            <a:ext cx="10083250" cy="131415"/>
          </a:xfrm>
          <a:prstGeom prst="rect">
            <a:avLst/>
          </a:prstGeom>
          <a:solidFill>
            <a:srgbClr val="D60093"/>
          </a:solidFill>
        </p:spPr>
        <p:txBody>
          <a:bodyPr wrap="square" lIns="0" tIns="0" rIns="0" bIns="0" rtlCol="0"/>
          <a:lstStyle/>
          <a:p>
            <a:pPr marL="0" marR="0" lvl="0" indent="0" algn="l"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black"/>
              </a:solidFill>
              <a:effectLst/>
              <a:uLnTx/>
              <a:uFillTx/>
              <a:latin typeface="Book Antiqua"/>
              <a:ea typeface="+mn-ea"/>
              <a:cs typeface="+mn-cs"/>
            </a:endParaRPr>
          </a:p>
        </p:txBody>
      </p:sp>
    </p:spTree>
    <p:extLst>
      <p:ext uri="{BB962C8B-B14F-4D97-AF65-F5344CB8AC3E}">
        <p14:creationId xmlns:p14="http://schemas.microsoft.com/office/powerpoint/2010/main" val="659781482"/>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Lst>
  <p:hf hdr="0"/>
  <p:txStyles>
    <p:titleStyle>
      <a:lvl1pPr algn="ctr" defTabSz="756209" rtl="0" eaLnBrk="1" latinLnBrk="0" hangingPunct="1">
        <a:spcBef>
          <a:spcPct val="0"/>
        </a:spcBef>
        <a:buNone/>
        <a:defRPr sz="3639" kern="1200">
          <a:solidFill>
            <a:schemeClr val="tx1"/>
          </a:solidFill>
          <a:latin typeface="+mj-lt"/>
          <a:ea typeface="+mj-ea"/>
          <a:cs typeface="+mj-cs"/>
        </a:defRPr>
      </a:lvl1pPr>
    </p:titleStyle>
    <p:bodyStyle>
      <a:lvl1pPr marL="283578" indent="-283578" algn="l" defTabSz="756209" rtl="0" eaLnBrk="1" latinLnBrk="0" hangingPunct="1">
        <a:spcBef>
          <a:spcPct val="20000"/>
        </a:spcBef>
        <a:buFont typeface="Arial" pitchFamily="34" charset="0"/>
        <a:buChar char="•"/>
        <a:defRPr sz="2646" kern="1200">
          <a:solidFill>
            <a:schemeClr val="tx1"/>
          </a:solidFill>
          <a:latin typeface="+mn-lt"/>
          <a:ea typeface="+mn-ea"/>
          <a:cs typeface="+mn-cs"/>
        </a:defRPr>
      </a:lvl1pPr>
      <a:lvl2pPr marL="614420" indent="-236315" algn="l" defTabSz="756209" rtl="0" eaLnBrk="1" latinLnBrk="0" hangingPunct="1">
        <a:spcBef>
          <a:spcPct val="20000"/>
        </a:spcBef>
        <a:buFont typeface="Arial" pitchFamily="34" charset="0"/>
        <a:buChar char="–"/>
        <a:defRPr sz="2316" kern="1200">
          <a:solidFill>
            <a:schemeClr val="tx1"/>
          </a:solidFill>
          <a:latin typeface="+mn-lt"/>
          <a:ea typeface="+mn-ea"/>
          <a:cs typeface="+mn-cs"/>
        </a:defRPr>
      </a:lvl2pPr>
      <a:lvl3pPr marL="945261" indent="-189052" algn="l" defTabSz="756209" rtl="0" eaLnBrk="1" latinLnBrk="0" hangingPunct="1">
        <a:spcBef>
          <a:spcPct val="20000"/>
        </a:spcBef>
        <a:buFont typeface="Arial" pitchFamily="34" charset="0"/>
        <a:buChar char="•"/>
        <a:defRPr sz="1985" kern="1200">
          <a:solidFill>
            <a:schemeClr val="tx1"/>
          </a:solidFill>
          <a:latin typeface="+mn-lt"/>
          <a:ea typeface="+mn-ea"/>
          <a:cs typeface="+mn-cs"/>
        </a:defRPr>
      </a:lvl3pPr>
      <a:lvl4pPr marL="1323365"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4pPr>
      <a:lvl5pPr marL="1701470"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5pPr>
      <a:lvl6pPr marL="2079574"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6pPr>
      <a:lvl7pPr marL="2457679"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7pPr>
      <a:lvl8pPr marL="2835783"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8pPr>
      <a:lvl9pPr marL="3213887"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9pPr>
    </p:bodyStyle>
    <p:otherStyle>
      <a:defPPr>
        <a:defRPr lang="en-US"/>
      </a:defPPr>
      <a:lvl1pPr marL="0" algn="l" defTabSz="756209" rtl="0" eaLnBrk="1" latinLnBrk="0" hangingPunct="1">
        <a:defRPr sz="1489" kern="1200">
          <a:solidFill>
            <a:schemeClr val="tx1"/>
          </a:solidFill>
          <a:latin typeface="+mn-lt"/>
          <a:ea typeface="+mn-ea"/>
          <a:cs typeface="+mn-cs"/>
        </a:defRPr>
      </a:lvl1pPr>
      <a:lvl2pPr marL="378104" algn="l" defTabSz="756209" rtl="0" eaLnBrk="1" latinLnBrk="0" hangingPunct="1">
        <a:defRPr sz="1489" kern="1200">
          <a:solidFill>
            <a:schemeClr val="tx1"/>
          </a:solidFill>
          <a:latin typeface="+mn-lt"/>
          <a:ea typeface="+mn-ea"/>
          <a:cs typeface="+mn-cs"/>
        </a:defRPr>
      </a:lvl2pPr>
      <a:lvl3pPr marL="756209" algn="l" defTabSz="756209" rtl="0" eaLnBrk="1" latinLnBrk="0" hangingPunct="1">
        <a:defRPr sz="1489" kern="1200">
          <a:solidFill>
            <a:schemeClr val="tx1"/>
          </a:solidFill>
          <a:latin typeface="+mn-lt"/>
          <a:ea typeface="+mn-ea"/>
          <a:cs typeface="+mn-cs"/>
        </a:defRPr>
      </a:lvl3pPr>
      <a:lvl4pPr marL="1134313" algn="l" defTabSz="756209" rtl="0" eaLnBrk="1" latinLnBrk="0" hangingPunct="1">
        <a:defRPr sz="1489" kern="1200">
          <a:solidFill>
            <a:schemeClr val="tx1"/>
          </a:solidFill>
          <a:latin typeface="+mn-lt"/>
          <a:ea typeface="+mn-ea"/>
          <a:cs typeface="+mn-cs"/>
        </a:defRPr>
      </a:lvl4pPr>
      <a:lvl5pPr marL="1512418" algn="l" defTabSz="756209" rtl="0" eaLnBrk="1" latinLnBrk="0" hangingPunct="1">
        <a:defRPr sz="1489" kern="1200">
          <a:solidFill>
            <a:schemeClr val="tx1"/>
          </a:solidFill>
          <a:latin typeface="+mn-lt"/>
          <a:ea typeface="+mn-ea"/>
          <a:cs typeface="+mn-cs"/>
        </a:defRPr>
      </a:lvl5pPr>
      <a:lvl6pPr marL="1890522" algn="l" defTabSz="756209" rtl="0" eaLnBrk="1" latinLnBrk="0" hangingPunct="1">
        <a:defRPr sz="1489" kern="1200">
          <a:solidFill>
            <a:schemeClr val="tx1"/>
          </a:solidFill>
          <a:latin typeface="+mn-lt"/>
          <a:ea typeface="+mn-ea"/>
          <a:cs typeface="+mn-cs"/>
        </a:defRPr>
      </a:lvl6pPr>
      <a:lvl7pPr marL="2268626" algn="l" defTabSz="756209" rtl="0" eaLnBrk="1" latinLnBrk="0" hangingPunct="1">
        <a:defRPr sz="1489" kern="1200">
          <a:solidFill>
            <a:schemeClr val="tx1"/>
          </a:solidFill>
          <a:latin typeface="+mn-lt"/>
          <a:ea typeface="+mn-ea"/>
          <a:cs typeface="+mn-cs"/>
        </a:defRPr>
      </a:lvl7pPr>
      <a:lvl8pPr marL="2646731" algn="l" defTabSz="756209" rtl="0" eaLnBrk="1" latinLnBrk="0" hangingPunct="1">
        <a:defRPr sz="1489" kern="1200">
          <a:solidFill>
            <a:schemeClr val="tx1"/>
          </a:solidFill>
          <a:latin typeface="+mn-lt"/>
          <a:ea typeface="+mn-ea"/>
          <a:cs typeface="+mn-cs"/>
        </a:defRPr>
      </a:lvl8pPr>
      <a:lvl9pPr marL="3024835" algn="l" defTabSz="756209"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4031" y="2708491"/>
            <a:ext cx="9072299" cy="1285993"/>
          </a:xfrm>
          <a:prstGeom prst="rect">
            <a:avLst/>
          </a:prstGeom>
        </p:spPr>
        <p:txBody>
          <a:bodyPr/>
          <a:lstStyle/>
          <a:p>
            <a:r>
              <a:rPr lang="en-IN" sz="4000" b="1" dirty="0">
                <a:latin typeface="Times new roman"/>
              </a:rPr>
              <a:t>International Business</a:t>
            </a:r>
            <a:br>
              <a:rPr lang="en-IN" dirty="0"/>
            </a:br>
            <a:r>
              <a:rPr lang="en-GB" b="1" dirty="0">
                <a:solidFill>
                  <a:srgbClr val="002060"/>
                </a:solidFill>
                <a:latin typeface="Cambria" pitchFamily="18" charset="0"/>
              </a:rPr>
              <a:t>22MBA401</a:t>
            </a:r>
            <a:endParaRPr lang="en-US" dirty="0"/>
          </a:p>
        </p:txBody>
      </p:sp>
      <p:sp>
        <p:nvSpPr>
          <p:cNvPr id="3" name="Date Placeholder 2"/>
          <p:cNvSpPr>
            <a:spLocks noGrp="1"/>
          </p:cNvSpPr>
          <p:nvPr>
            <p:ph type="dt" sz="half" idx="10"/>
          </p:nvPr>
        </p:nvSpPr>
        <p:spPr/>
        <p:txBody>
          <a:bodyPr/>
          <a:lstStyle/>
          <a:p>
            <a:pPr defTabSz="756209"/>
            <a:fld id="{2B21D306-1AEB-47FB-8750-303610154917}" type="datetime3">
              <a:rPr lang="en-US" smtClean="0"/>
              <a:t>11 August 2025</a:t>
            </a:fld>
            <a:endParaRPr lang="en-US" dirty="0"/>
          </a:p>
        </p:txBody>
      </p:sp>
      <p:sp>
        <p:nvSpPr>
          <p:cNvPr id="4" name="Slide Number Placeholder 3"/>
          <p:cNvSpPr>
            <a:spLocks noGrp="1"/>
          </p:cNvSpPr>
          <p:nvPr>
            <p:ph type="sldNum" sz="quarter" idx="11"/>
          </p:nvPr>
        </p:nvSpPr>
        <p:spPr/>
        <p:txBody>
          <a:bodyPr/>
          <a:lstStyle/>
          <a:p>
            <a:pPr defTabSz="756209"/>
            <a:fld id="{B6F15528-21DE-4FAA-801E-634DDDAF4B2B}" type="slidenum">
              <a:rPr lang="en-US"/>
              <a:pPr defTabSz="756209"/>
              <a:t>1</a:t>
            </a:fld>
            <a:endParaRPr lang="en-US"/>
          </a:p>
        </p:txBody>
      </p:sp>
      <p:sp>
        <p:nvSpPr>
          <p:cNvPr id="5" name="Footer Placeholder 4"/>
          <p:cNvSpPr>
            <a:spLocks noGrp="1"/>
          </p:cNvSpPr>
          <p:nvPr>
            <p:ph type="ftr" sz="quarter" idx="12"/>
          </p:nvPr>
        </p:nvSpPr>
        <p:spPr>
          <a:xfrm>
            <a:off x="1484555" y="7006701"/>
            <a:ext cx="6970955" cy="402483"/>
          </a:xfrm>
        </p:spPr>
        <p:txBody>
          <a:bodyPr/>
          <a:lstStyle/>
          <a:p>
            <a:pPr defTabSz="756209"/>
            <a:r>
              <a:rPr lang="en-US" dirty="0"/>
              <a:t>Mr. </a:t>
            </a:r>
            <a:r>
              <a:rPr lang="en-US" dirty="0" err="1"/>
              <a:t>Madhunayaka</a:t>
            </a:r>
            <a:r>
              <a:rPr lang="en-US" dirty="0"/>
              <a:t>, Assistant Professor. Department of MBA, VVIET, Mysuru</a:t>
            </a:r>
          </a:p>
        </p:txBody>
      </p:sp>
      <p:sp>
        <p:nvSpPr>
          <p:cNvPr id="7" name="Rectangle 6"/>
          <p:cNvSpPr/>
          <p:nvPr/>
        </p:nvSpPr>
        <p:spPr>
          <a:xfrm>
            <a:off x="1141581" y="4369737"/>
            <a:ext cx="6639340" cy="1868204"/>
          </a:xfrm>
          <a:prstGeom prst="rect">
            <a:avLst/>
          </a:prstGeom>
        </p:spPr>
        <p:txBody>
          <a:bodyPr wrap="square">
            <a:spAutoFit/>
          </a:bodyPr>
          <a:lstStyle/>
          <a:p>
            <a:pPr marL="951826" lvl="8" algn="ctr" defTabSz="756209">
              <a:lnSpc>
                <a:spcPct val="150000"/>
              </a:lnSpc>
            </a:pPr>
            <a:r>
              <a:rPr lang="en-US" sz="1985" b="1" dirty="0">
                <a:solidFill>
                  <a:srgbClr val="002060"/>
                </a:solidFill>
                <a:latin typeface="Cambria" pitchFamily="18" charset="0"/>
              </a:rPr>
              <a:t>Course Coordinator:</a:t>
            </a:r>
          </a:p>
          <a:p>
            <a:pPr marL="951826" lvl="8" algn="ctr" defTabSz="756209">
              <a:lnSpc>
                <a:spcPct val="150000"/>
              </a:lnSpc>
            </a:pPr>
            <a:r>
              <a:rPr lang="en-US" sz="1985" b="1" dirty="0">
                <a:solidFill>
                  <a:srgbClr val="002060"/>
                </a:solidFill>
                <a:latin typeface="Cambria" pitchFamily="18" charset="0"/>
              </a:rPr>
              <a:t>Prof. </a:t>
            </a:r>
            <a:r>
              <a:rPr lang="en-US" sz="1985" b="1" dirty="0" err="1">
                <a:solidFill>
                  <a:srgbClr val="002060"/>
                </a:solidFill>
                <a:latin typeface="Cambria" pitchFamily="18" charset="0"/>
              </a:rPr>
              <a:t>Madhunayaka</a:t>
            </a:r>
            <a:endParaRPr lang="en-US" sz="1985" b="1" dirty="0">
              <a:solidFill>
                <a:srgbClr val="002060"/>
              </a:solidFill>
              <a:latin typeface="Cambria" pitchFamily="18" charset="0"/>
            </a:endParaRPr>
          </a:p>
          <a:p>
            <a:pPr marL="951826" lvl="8" algn="ctr" defTabSz="756209"/>
            <a:r>
              <a:rPr lang="en-US" b="1" dirty="0">
                <a:solidFill>
                  <a:srgbClr val="D60093"/>
                </a:solidFill>
                <a:latin typeface="Cambria" pitchFamily="18" charset="0"/>
              </a:rPr>
              <a:t>Assistant Professor,</a:t>
            </a:r>
          </a:p>
          <a:p>
            <a:pPr marL="951826" lvl="8" algn="ctr" defTabSz="756209"/>
            <a:r>
              <a:rPr lang="en-US" dirty="0">
                <a:solidFill>
                  <a:srgbClr val="D60093"/>
                </a:solidFill>
                <a:latin typeface="Cambria" pitchFamily="18" charset="0"/>
              </a:rPr>
              <a:t>Department of MBA,</a:t>
            </a:r>
          </a:p>
          <a:p>
            <a:pPr marL="951826" lvl="8" algn="ctr" defTabSz="756209"/>
            <a:r>
              <a:rPr lang="en-US" dirty="0">
                <a:solidFill>
                  <a:srgbClr val="D60093"/>
                </a:solidFill>
                <a:latin typeface="Cambria" pitchFamily="18" charset="0"/>
              </a:rPr>
              <a:t>VVIET , </a:t>
            </a:r>
            <a:r>
              <a:rPr lang="en-US" dirty="0" err="1">
                <a:solidFill>
                  <a:srgbClr val="D60093"/>
                </a:solidFill>
                <a:latin typeface="Cambria" pitchFamily="18" charset="0"/>
              </a:rPr>
              <a:t>Mysuru</a:t>
            </a:r>
            <a:r>
              <a:rPr lang="en-US" dirty="0">
                <a:solidFill>
                  <a:srgbClr val="D60093"/>
                </a:solidFill>
                <a:latin typeface="Cambria" pitchFamily="18" charset="0"/>
              </a:rPr>
              <a:t>  </a:t>
            </a:r>
            <a:r>
              <a:rPr lang="en-US" sz="1737" dirty="0">
                <a:solidFill>
                  <a:srgbClr val="D60093"/>
                </a:solidFill>
                <a:latin typeface="Cambria" pitchFamily="18" charset="0"/>
              </a:rPr>
              <a:t>                   </a:t>
            </a:r>
            <a:endParaRPr lang="en-US" sz="1737" b="1" dirty="0">
              <a:solidFill>
                <a:srgbClr val="D60093"/>
              </a:solidFill>
              <a:latin typeface="Book Antiqua"/>
            </a:endParaRPr>
          </a:p>
        </p:txBody>
      </p:sp>
      <p:sp>
        <p:nvSpPr>
          <p:cNvPr id="8" name="CustomShape 1"/>
          <p:cNvSpPr/>
          <p:nvPr/>
        </p:nvSpPr>
        <p:spPr>
          <a:xfrm>
            <a:off x="584667" y="318253"/>
            <a:ext cx="8560440" cy="590362"/>
          </a:xfrm>
          <a:prstGeom prst="rect">
            <a:avLst/>
          </a:prstGeom>
          <a:noFill/>
          <a:ln>
            <a:noFill/>
          </a:ln>
        </p:spPr>
        <p:txBody>
          <a:bodyPr lIns="0" tIns="0" rIns="0" bIns="0" anchor="ctr"/>
          <a:lstStyle/>
          <a:p>
            <a:pPr algn="ctr">
              <a:lnSpc>
                <a:spcPct val="100000"/>
              </a:lnSpc>
            </a:pPr>
            <a:r>
              <a:rPr lang="en-US" sz="3600" b="1" dirty="0">
                <a:solidFill>
                  <a:schemeClr val="bg1"/>
                </a:solidFill>
                <a:latin typeface="Arial"/>
              </a:rPr>
              <a:t>CORE SUBJECT</a:t>
            </a:r>
            <a:endParaRPr sz="1400" b="1" dirty="0">
              <a:solidFill>
                <a:schemeClr val="bg1"/>
              </a:solidFill>
            </a:endParaRPr>
          </a:p>
        </p:txBody>
      </p:sp>
    </p:spTree>
    <p:extLst>
      <p:ext uri="{BB962C8B-B14F-4D97-AF65-F5344CB8AC3E}">
        <p14:creationId xmlns:p14="http://schemas.microsoft.com/office/powerpoint/2010/main" val="15309560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970" y="1459747"/>
            <a:ext cx="9250624" cy="4640179"/>
          </a:xfrm>
          <a:prstGeom prst="rect">
            <a:avLst/>
          </a:prstGeom>
        </p:spPr>
        <p:style>
          <a:lnRef idx="2">
            <a:schemeClr val="dk1"/>
          </a:lnRef>
          <a:fillRef idx="1">
            <a:schemeClr val="lt1"/>
          </a:fillRef>
          <a:effectRef idx="0">
            <a:schemeClr val="dk1"/>
          </a:effectRef>
          <a:fontRef idx="minor">
            <a:schemeClr val="dk1"/>
          </a:fontRef>
        </p:style>
        <p:txBody>
          <a:bodyPr/>
          <a:lstStyle/>
          <a:p>
            <a:pPr algn="just">
              <a:lnSpc>
                <a:spcPct val="107000"/>
              </a:lnSpc>
              <a:spcAft>
                <a:spcPts val="800"/>
              </a:spcAft>
            </a:pPr>
            <a:r>
              <a:rPr lang="en-IN" sz="2400" dirty="0">
                <a:effectLst/>
              </a:rPr>
              <a:t>Module-3 (7Hours)</a:t>
            </a:r>
            <a:br>
              <a:rPr lang="en-IN" sz="2400" dirty="0">
                <a:effectLst/>
              </a:rPr>
            </a:b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rPr>
              <a:t> Theories of International Business: Introduction, Mercantilism, Theory of absolute cost advantage,</a:t>
            </a:r>
            <a:br>
              <a:rPr lang="en-US" sz="2400" dirty="0">
                <a:effectLst/>
              </a:rPr>
            </a:br>
            <a:r>
              <a:rPr lang="en-US" sz="2400" dirty="0">
                <a:effectLst/>
              </a:rPr>
              <a:t>Comparative cost advantage theory, Comparative cost advantage with money, Relative factor endowment</a:t>
            </a:r>
            <a:br>
              <a:rPr lang="en-US" sz="2400" dirty="0">
                <a:effectLst/>
              </a:rPr>
            </a:br>
            <a:r>
              <a:rPr lang="en-US" sz="2400" dirty="0">
                <a:effectLst/>
              </a:rPr>
              <a:t>theory, Product life cycle theory, Global strategic rivalry theory, Porter’s National Competitive Advantage</a:t>
            </a:r>
            <a:br>
              <a:rPr lang="en-US" sz="2400" dirty="0">
                <a:effectLst/>
              </a:rPr>
            </a:br>
            <a:r>
              <a:rPr lang="en-US" sz="2400" dirty="0">
                <a:effectLst/>
              </a:rPr>
              <a:t>Theory.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Date Placeholder 2"/>
          <p:cNvSpPr>
            <a:spLocks noGrp="1"/>
          </p:cNvSpPr>
          <p:nvPr>
            <p:ph type="dt" sz="half" idx="10"/>
          </p:nvPr>
        </p:nvSpPr>
        <p:spPr>
          <a:xfrm>
            <a:off x="504031" y="6200870"/>
            <a:ext cx="2352146" cy="301972"/>
          </a:xfrm>
        </p:spPr>
        <p:txBody>
          <a:bodyPr/>
          <a:lstStyle/>
          <a:p>
            <a:fld id="{09B8F1D0-15F3-4E99-BB47-BEF58934FAA1}" type="datetime3">
              <a:rPr lang="en-US" smtClean="0"/>
              <a:t>11 August 2025</a:t>
            </a:fld>
            <a:endParaRPr lang="en-US"/>
          </a:p>
        </p:txBody>
      </p:sp>
      <p:sp>
        <p:nvSpPr>
          <p:cNvPr id="4" name="Footer Placeholder 3"/>
          <p:cNvSpPr>
            <a:spLocks noGrp="1"/>
          </p:cNvSpPr>
          <p:nvPr>
            <p:ph type="ftr" sz="quarter" idx="12"/>
          </p:nvPr>
        </p:nvSpPr>
        <p:spPr>
          <a:xfrm>
            <a:off x="3444214" y="6200870"/>
            <a:ext cx="3192198" cy="301972"/>
          </a:xfrm>
        </p:spPr>
        <p:txBody>
          <a:bodyPr/>
          <a:lstStyle/>
          <a:p>
            <a:r>
              <a:rPr lang="en-US" dirty="0"/>
              <a:t>Prof. </a:t>
            </a:r>
            <a:r>
              <a:rPr lang="en-US" dirty="0" err="1"/>
              <a:t>Madhynayaka</a:t>
            </a:r>
            <a:r>
              <a:rPr lang="en-US" dirty="0"/>
              <a:t>,  Department of MBA, VVIET, Mysuru</a:t>
            </a:r>
          </a:p>
        </p:txBody>
      </p:sp>
      <p:sp>
        <p:nvSpPr>
          <p:cNvPr id="5" name="Slide Number Placeholder 4"/>
          <p:cNvSpPr>
            <a:spLocks noGrp="1"/>
          </p:cNvSpPr>
          <p:nvPr>
            <p:ph type="sldNum" sz="quarter" idx="11"/>
          </p:nvPr>
        </p:nvSpPr>
        <p:spPr>
          <a:xfrm>
            <a:off x="7224448" y="6200870"/>
            <a:ext cx="2352146" cy="301972"/>
          </a:xfrm>
        </p:spPr>
        <p:txBody>
          <a:bodyPr anchor="t"/>
          <a:lstStyle/>
          <a:p>
            <a:fld id="{B6F15528-21DE-4FAA-801E-634DDDAF4B2B}" type="slidenum">
              <a:rPr lang="en-US" smtClean="0"/>
              <a:pPr/>
              <a:t>2</a:t>
            </a:fld>
            <a:endParaRPr lang="en-US"/>
          </a:p>
        </p:txBody>
      </p:sp>
      <p:sp>
        <p:nvSpPr>
          <p:cNvPr id="7" name="Rectangle 6"/>
          <p:cNvSpPr/>
          <p:nvPr/>
        </p:nvSpPr>
        <p:spPr>
          <a:xfrm>
            <a:off x="1259638" y="360571"/>
            <a:ext cx="5419747" cy="461665"/>
          </a:xfrm>
          <a:prstGeom prst="rect">
            <a:avLst/>
          </a:prstGeom>
        </p:spPr>
        <p:txBody>
          <a:bodyPr wrap="square">
            <a:spAutoFit/>
          </a:bodyPr>
          <a:lstStyle/>
          <a:p>
            <a:r>
              <a:rPr lang="en-IN" sz="2400" b="1" dirty="0">
                <a:solidFill>
                  <a:schemeClr val="bg1"/>
                </a:solidFill>
                <a:latin typeface="Arial"/>
              </a:rPr>
              <a:t>Contents of  MODULE - 3</a:t>
            </a:r>
            <a:endParaRPr lang="en-IN" sz="2400" b="1" dirty="0">
              <a:solidFill>
                <a:schemeClr val="bg1"/>
              </a:solidFill>
            </a:endParaRPr>
          </a:p>
        </p:txBody>
      </p:sp>
    </p:spTree>
    <p:extLst>
      <p:ext uri="{BB962C8B-B14F-4D97-AF65-F5344CB8AC3E}">
        <p14:creationId xmlns:p14="http://schemas.microsoft.com/office/powerpoint/2010/main" val="7895107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3DAC7C-1C1A-4E5C-B881-3C58E7B212A1}"/>
              </a:ext>
            </a:extLst>
          </p:cNvPr>
          <p:cNvSpPr>
            <a:spLocks noGrp="1"/>
          </p:cNvSpPr>
          <p:nvPr>
            <p:ph type="title"/>
          </p:nvPr>
        </p:nvSpPr>
        <p:spPr>
          <a:xfrm>
            <a:off x="1278308" y="150491"/>
            <a:ext cx="6654730" cy="820991"/>
          </a:xfrm>
        </p:spPr>
        <p:txBody>
          <a:bodyPr/>
          <a:lstStyle/>
          <a:p>
            <a:r>
              <a:rPr lang="en-US" sz="2800" b="1" dirty="0">
                <a:solidFill>
                  <a:schemeClr val="bg1"/>
                </a:solidFill>
              </a:rPr>
              <a:t>Theories of International Business: Introduction,</a:t>
            </a:r>
            <a:endParaRPr lang="en-IN" sz="2800" b="1" dirty="0">
              <a:solidFill>
                <a:schemeClr val="bg1"/>
              </a:solidFill>
            </a:endParaRPr>
          </a:p>
        </p:txBody>
      </p:sp>
      <p:sp>
        <p:nvSpPr>
          <p:cNvPr id="3" name="Date Placeholder 2">
            <a:extLst>
              <a:ext uri="{FF2B5EF4-FFF2-40B4-BE49-F238E27FC236}">
                <a16:creationId xmlns:a16="http://schemas.microsoft.com/office/drawing/2014/main" id="{DCC72FF9-BEE2-439B-93E0-F557A9315952}"/>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81EAE869-30C0-4857-9671-B8C1BAD98D3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D5FDF5C-900B-42E3-AD77-8A3CD29328C3}"/>
              </a:ext>
            </a:extLst>
          </p:cNvPr>
          <p:cNvSpPr>
            <a:spLocks noGrp="1"/>
          </p:cNvSpPr>
          <p:nvPr>
            <p:ph type="sldNum" sz="quarter" idx="12"/>
          </p:nvPr>
        </p:nvSpPr>
        <p:spPr/>
        <p:txBody>
          <a:bodyPr/>
          <a:lstStyle/>
          <a:p>
            <a:pPr defTabSz="756209"/>
            <a:fld id="{B6F15528-21DE-4FAA-801E-634DDDAF4B2B}" type="slidenum">
              <a:rPr lang="en-US" smtClean="0"/>
              <a:pPr defTabSz="756209"/>
              <a:t>3</a:t>
            </a:fld>
            <a:endParaRPr lang="en-US"/>
          </a:p>
        </p:txBody>
      </p:sp>
      <p:sp>
        <p:nvSpPr>
          <p:cNvPr id="7" name="TextBox 6">
            <a:extLst>
              <a:ext uri="{FF2B5EF4-FFF2-40B4-BE49-F238E27FC236}">
                <a16:creationId xmlns:a16="http://schemas.microsoft.com/office/drawing/2014/main" id="{7A89A8D4-801A-27EC-39E8-C33A878BDE62}"/>
              </a:ext>
            </a:extLst>
          </p:cNvPr>
          <p:cNvSpPr txBox="1"/>
          <p:nvPr/>
        </p:nvSpPr>
        <p:spPr>
          <a:xfrm>
            <a:off x="188613" y="1439781"/>
            <a:ext cx="9703398"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Theories of international business explore the reasons and mechanisms behind trade and investment between countries. These theories help explain patterns of trade, the benefits derived, and the strategies nations and firms employ in the global marketplace. They range from early "country-based" theories focused on national wealth to modern "firm-based" theories examining company strategies. </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149E8AF-8B34-497C-EFF8-92C653AD15FD}"/>
              </a:ext>
            </a:extLst>
          </p:cNvPr>
          <p:cNvSpPr txBox="1"/>
          <p:nvPr/>
        </p:nvSpPr>
        <p:spPr>
          <a:xfrm>
            <a:off x="188613" y="3200043"/>
            <a:ext cx="8855122" cy="2031325"/>
          </a:xfrm>
          <a:prstGeom prst="rect">
            <a:avLst/>
          </a:prstGeom>
          <a:noFill/>
        </p:spPr>
        <p:txBody>
          <a:bodyPr wrap="square" rtlCol="0">
            <a:spAutoFit/>
          </a:bodyPr>
          <a:lstStyle/>
          <a:p>
            <a:r>
              <a:rPr lang="en-US" b="1" u="sng" dirty="0"/>
              <a:t>Role of International Trade Theories in the Evolution of International Business</a:t>
            </a:r>
          </a:p>
          <a:p>
            <a:pPr marL="342900" indent="-342900">
              <a:buAutoNum type="arabicPeriod"/>
            </a:pPr>
            <a:r>
              <a:rPr lang="en-IN" dirty="0"/>
              <a:t>Understanding Trade Dynamics</a:t>
            </a:r>
          </a:p>
          <a:p>
            <a:pPr marL="342900" indent="-342900">
              <a:buAutoNum type="arabicPeriod"/>
            </a:pPr>
            <a:r>
              <a:rPr lang="en-IN" dirty="0"/>
              <a:t>Guiding Business Strategies</a:t>
            </a:r>
          </a:p>
          <a:p>
            <a:pPr marL="342900" indent="-342900">
              <a:buAutoNum type="arabicPeriod"/>
            </a:pPr>
            <a:r>
              <a:rPr lang="en-IN" dirty="0"/>
              <a:t>Informing Policy Decisions</a:t>
            </a:r>
          </a:p>
          <a:p>
            <a:pPr marL="342900" indent="-342900">
              <a:buAutoNum type="arabicPeriod"/>
            </a:pPr>
            <a:r>
              <a:rPr lang="en-IN" dirty="0"/>
              <a:t>Evolution of International Business</a:t>
            </a:r>
          </a:p>
          <a:p>
            <a:pPr marL="342900" indent="-342900">
              <a:buAutoNum type="arabicPeriod"/>
            </a:pPr>
            <a:r>
              <a:rPr lang="en-IN" dirty="0"/>
              <a:t>Addressing Global Challenges</a:t>
            </a:r>
          </a:p>
          <a:p>
            <a:pPr marL="342900" indent="-342900">
              <a:buAutoNum type="arabicPeriod"/>
            </a:pPr>
            <a:r>
              <a:rPr lang="en-IN" dirty="0"/>
              <a:t>Navigating Complexity</a:t>
            </a:r>
          </a:p>
        </p:txBody>
      </p:sp>
    </p:spTree>
    <p:extLst>
      <p:ext uri="{BB962C8B-B14F-4D97-AF65-F5344CB8AC3E}">
        <p14:creationId xmlns:p14="http://schemas.microsoft.com/office/powerpoint/2010/main" val="1290032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D7CF1-64A6-CE6B-9B2E-31219FE35A0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B5FE4B2-1813-A42B-E6DE-4CACE1FECF14}"/>
              </a:ext>
            </a:extLst>
          </p:cNvPr>
          <p:cNvSpPr>
            <a:spLocks noGrp="1"/>
          </p:cNvSpPr>
          <p:nvPr>
            <p:ph type="title"/>
          </p:nvPr>
        </p:nvSpPr>
        <p:spPr>
          <a:xfrm>
            <a:off x="1278308" y="150491"/>
            <a:ext cx="6654730" cy="820991"/>
          </a:xfrm>
        </p:spPr>
        <p:txBody>
          <a:bodyPr/>
          <a:lstStyle/>
          <a:p>
            <a:r>
              <a:rPr lang="en-US" sz="2800" b="1" dirty="0">
                <a:solidFill>
                  <a:schemeClr val="bg1"/>
                </a:solidFill>
              </a:rPr>
              <a:t>Types of International Trade Theories</a:t>
            </a:r>
            <a:endParaRPr lang="en-IN" sz="2800" b="1" dirty="0">
              <a:solidFill>
                <a:schemeClr val="bg1"/>
              </a:solidFill>
            </a:endParaRPr>
          </a:p>
        </p:txBody>
      </p:sp>
      <p:sp>
        <p:nvSpPr>
          <p:cNvPr id="3" name="Date Placeholder 2">
            <a:extLst>
              <a:ext uri="{FF2B5EF4-FFF2-40B4-BE49-F238E27FC236}">
                <a16:creationId xmlns:a16="http://schemas.microsoft.com/office/drawing/2014/main" id="{D1C56868-0D43-2A85-425F-7BAB6FB4EAF2}"/>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8960344F-E978-6495-84E7-53D7AAB38DB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CC79071E-DA05-B1B4-C678-3C2E7DD83710}"/>
              </a:ext>
            </a:extLst>
          </p:cNvPr>
          <p:cNvSpPr>
            <a:spLocks noGrp="1"/>
          </p:cNvSpPr>
          <p:nvPr>
            <p:ph type="sldNum" sz="quarter" idx="12"/>
          </p:nvPr>
        </p:nvSpPr>
        <p:spPr/>
        <p:txBody>
          <a:bodyPr/>
          <a:lstStyle/>
          <a:p>
            <a:pPr defTabSz="756209"/>
            <a:fld id="{B6F15528-21DE-4FAA-801E-634DDDAF4B2B}" type="slidenum">
              <a:rPr lang="en-US" smtClean="0"/>
              <a:pPr defTabSz="756209"/>
              <a:t>4</a:t>
            </a:fld>
            <a:endParaRPr lang="en-US"/>
          </a:p>
        </p:txBody>
      </p:sp>
      <p:sp>
        <p:nvSpPr>
          <p:cNvPr id="2" name="TextBox 1">
            <a:extLst>
              <a:ext uri="{FF2B5EF4-FFF2-40B4-BE49-F238E27FC236}">
                <a16:creationId xmlns:a16="http://schemas.microsoft.com/office/drawing/2014/main" id="{18F7F822-3127-1C14-A774-93DDE3EA3863}"/>
              </a:ext>
            </a:extLst>
          </p:cNvPr>
          <p:cNvSpPr txBox="1"/>
          <p:nvPr/>
        </p:nvSpPr>
        <p:spPr>
          <a:xfrm>
            <a:off x="344245" y="1742739"/>
            <a:ext cx="8616875" cy="3554819"/>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Mercantilism Theory</a:t>
            </a:r>
          </a:p>
          <a:p>
            <a:pPr marL="342900" indent="-342900">
              <a:buAutoNum type="arabicPeriod"/>
            </a:pPr>
            <a:r>
              <a:rPr lang="en-US" sz="2500" dirty="0">
                <a:latin typeface="Times New Roman" panose="02020603050405020304" pitchFamily="18" charset="0"/>
                <a:cs typeface="Times New Roman" panose="02020603050405020304" pitchFamily="18" charset="0"/>
              </a:rPr>
              <a:t>Classical Trade Theory</a:t>
            </a:r>
          </a:p>
          <a:p>
            <a:r>
              <a:rPr lang="en-US" sz="2500" dirty="0">
                <a:latin typeface="Times New Roman" panose="02020603050405020304" pitchFamily="18" charset="0"/>
                <a:cs typeface="Times New Roman" panose="02020603050405020304" pitchFamily="18" charset="0"/>
              </a:rPr>
              <a:t>	a. Adam Smith’s Absolute Cost Advantage Theory</a:t>
            </a:r>
          </a:p>
          <a:p>
            <a:r>
              <a:rPr lang="en-US" sz="2500" dirty="0">
                <a:latin typeface="Times New Roman" panose="02020603050405020304" pitchFamily="18" charset="0"/>
                <a:cs typeface="Times New Roman" panose="02020603050405020304" pitchFamily="18" charset="0"/>
              </a:rPr>
              <a:t>	b. Ricardo’s Comparative Cost Advantage Theory</a:t>
            </a:r>
          </a:p>
          <a:p>
            <a:pPr marL="342900" indent="-342900">
              <a:buAutoNum type="arabicPeriod" startAt="3"/>
            </a:pPr>
            <a:r>
              <a:rPr lang="en-US" sz="2500" dirty="0">
                <a:latin typeface="Times New Roman" panose="02020603050405020304" pitchFamily="18" charset="0"/>
                <a:cs typeface="Times New Roman" panose="02020603050405020304" pitchFamily="18" charset="0"/>
              </a:rPr>
              <a:t>Hecksher Ohlin’s Factor Endowment Theory</a:t>
            </a:r>
          </a:p>
          <a:p>
            <a:pPr marL="342900" indent="-342900">
              <a:buAutoNum type="arabicPeriod" startAt="3"/>
            </a:pPr>
            <a:r>
              <a:rPr lang="en-US" sz="2500" dirty="0">
                <a:latin typeface="Times New Roman" panose="02020603050405020304" pitchFamily="18" charset="0"/>
                <a:cs typeface="Times New Roman" panose="02020603050405020304" pitchFamily="18" charset="0"/>
              </a:rPr>
              <a:t>Haberler’s Opportunity Cost Theory</a:t>
            </a:r>
          </a:p>
          <a:p>
            <a:pPr marL="342900" indent="-342900">
              <a:buAutoNum type="arabicPeriod" startAt="3"/>
            </a:pPr>
            <a:r>
              <a:rPr lang="en-US" sz="2500" dirty="0">
                <a:latin typeface="Times New Roman" panose="02020603050405020304" pitchFamily="18" charset="0"/>
                <a:cs typeface="Times New Roman" panose="02020603050405020304" pitchFamily="18" charset="0"/>
              </a:rPr>
              <a:t>Krugman’s New Trade Theory</a:t>
            </a:r>
          </a:p>
          <a:p>
            <a:pPr marL="342900" indent="-342900">
              <a:buAutoNum type="arabicPeriod" startAt="3"/>
            </a:pPr>
            <a:r>
              <a:rPr lang="en-US" sz="2500" dirty="0">
                <a:latin typeface="Times New Roman" panose="02020603050405020304" pitchFamily="18" charset="0"/>
                <a:cs typeface="Times New Roman" panose="02020603050405020304" pitchFamily="18" charset="0"/>
              </a:rPr>
              <a:t>Vernon’s International Product Life Cycle Theory</a:t>
            </a:r>
          </a:p>
          <a:p>
            <a:pPr marL="342900" indent="-342900">
              <a:buAutoNum type="arabicPeriod" startAt="3"/>
            </a:pPr>
            <a:r>
              <a:rPr lang="en-US" sz="2500" dirty="0">
                <a:latin typeface="Times New Roman" panose="02020603050405020304" pitchFamily="18" charset="0"/>
                <a:cs typeface="Times New Roman" panose="02020603050405020304" pitchFamily="18" charset="0"/>
              </a:rPr>
              <a:t>Porter’s National Competitive Advantage Theory</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3404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BE7D4-B59A-138A-85F4-32EE2706070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AA05C0A-D983-5FB2-A26C-34B4F3768E71}"/>
              </a:ext>
            </a:extLst>
          </p:cNvPr>
          <p:cNvSpPr>
            <a:spLocks noGrp="1"/>
          </p:cNvSpPr>
          <p:nvPr>
            <p:ph type="title"/>
          </p:nvPr>
        </p:nvSpPr>
        <p:spPr>
          <a:xfrm>
            <a:off x="1278308" y="150491"/>
            <a:ext cx="6654730" cy="820991"/>
          </a:xfrm>
        </p:spPr>
        <p:txBody>
          <a:bodyPr/>
          <a:lstStyle/>
          <a:p>
            <a:r>
              <a:rPr lang="en-US" sz="2800" b="1" dirty="0">
                <a:solidFill>
                  <a:schemeClr val="bg1"/>
                </a:solidFill>
              </a:rPr>
              <a:t>Mercantilism</a:t>
            </a:r>
            <a:endParaRPr lang="en-IN" sz="2800" b="1" dirty="0">
              <a:solidFill>
                <a:schemeClr val="bg1"/>
              </a:solidFill>
            </a:endParaRPr>
          </a:p>
        </p:txBody>
      </p:sp>
      <p:sp>
        <p:nvSpPr>
          <p:cNvPr id="3" name="Date Placeholder 2">
            <a:extLst>
              <a:ext uri="{FF2B5EF4-FFF2-40B4-BE49-F238E27FC236}">
                <a16:creationId xmlns:a16="http://schemas.microsoft.com/office/drawing/2014/main" id="{8D6D3E79-751D-F628-9495-0555322539D5}"/>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F3CF8434-0B4B-B473-C623-3D8824E6E7D2}"/>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B17CE017-6FC6-FF7F-AA9C-8D7FE8469650}"/>
              </a:ext>
            </a:extLst>
          </p:cNvPr>
          <p:cNvSpPr>
            <a:spLocks noGrp="1"/>
          </p:cNvSpPr>
          <p:nvPr>
            <p:ph type="sldNum" sz="quarter" idx="12"/>
          </p:nvPr>
        </p:nvSpPr>
        <p:spPr/>
        <p:txBody>
          <a:bodyPr/>
          <a:lstStyle/>
          <a:p>
            <a:pPr defTabSz="756209"/>
            <a:fld id="{B6F15528-21DE-4FAA-801E-634DDDAF4B2B}" type="slidenum">
              <a:rPr lang="en-US" smtClean="0"/>
              <a:pPr defTabSz="756209"/>
              <a:t>5</a:t>
            </a:fld>
            <a:endParaRPr lang="en-US"/>
          </a:p>
        </p:txBody>
      </p:sp>
      <p:pic>
        <p:nvPicPr>
          <p:cNvPr id="2" name="Picture 1">
            <a:extLst>
              <a:ext uri="{FF2B5EF4-FFF2-40B4-BE49-F238E27FC236}">
                <a16:creationId xmlns:a16="http://schemas.microsoft.com/office/drawing/2014/main" id="{82649DD1-347E-64EA-6FB4-F03C03FEA890}"/>
              </a:ext>
            </a:extLst>
          </p:cNvPr>
          <p:cNvPicPr>
            <a:picLocks noChangeAspect="1"/>
          </p:cNvPicPr>
          <p:nvPr/>
        </p:nvPicPr>
        <p:blipFill>
          <a:blip r:embed="rId2"/>
          <a:stretch>
            <a:fillRect/>
          </a:stretch>
        </p:blipFill>
        <p:spPr>
          <a:xfrm>
            <a:off x="0" y="1933447"/>
            <a:ext cx="5583219" cy="3722146"/>
          </a:xfrm>
          <a:prstGeom prst="rect">
            <a:avLst/>
          </a:prstGeom>
        </p:spPr>
      </p:pic>
      <p:sp>
        <p:nvSpPr>
          <p:cNvPr id="9" name="TextBox 8">
            <a:extLst>
              <a:ext uri="{FF2B5EF4-FFF2-40B4-BE49-F238E27FC236}">
                <a16:creationId xmlns:a16="http://schemas.microsoft.com/office/drawing/2014/main" id="{0B8518E6-3C7B-5B80-511E-3EA657F0799E}"/>
              </a:ext>
            </a:extLst>
          </p:cNvPr>
          <p:cNvSpPr txBox="1"/>
          <p:nvPr/>
        </p:nvSpPr>
        <p:spPr>
          <a:xfrm>
            <a:off x="5647786" y="1409252"/>
            <a:ext cx="4368272" cy="4770537"/>
          </a:xfrm>
          <a:prstGeom prst="rect">
            <a:avLst/>
          </a:prstGeom>
          <a:noFill/>
        </p:spPr>
        <p:txBody>
          <a:bodyPr wrap="square">
            <a:spAutoFit/>
          </a:bodyPr>
          <a:lstStyle/>
          <a:p>
            <a:pPr algn="ctr"/>
            <a:r>
              <a:rPr lang="en-US" sz="1900" b="1" u="sng" dirty="0">
                <a:latin typeface="Times New Roman" panose="02020603050405020304" pitchFamily="18" charset="0"/>
                <a:cs typeface="Times New Roman" panose="02020603050405020304" pitchFamily="18" charset="0"/>
              </a:rPr>
              <a:t>Core Ideas:</a:t>
            </a:r>
          </a:p>
          <a:p>
            <a:pPr algn="just"/>
            <a:r>
              <a:rPr lang="en-US" sz="1900" b="1" dirty="0">
                <a:latin typeface="Times New Roman" panose="02020603050405020304" pitchFamily="18" charset="0"/>
                <a:cs typeface="Times New Roman" panose="02020603050405020304" pitchFamily="18" charset="0"/>
              </a:rPr>
              <a:t>Wealth as Bullion: </a:t>
            </a:r>
            <a:r>
              <a:rPr lang="en-US" sz="1900" dirty="0">
                <a:latin typeface="Times New Roman" panose="02020603050405020304" pitchFamily="18" charset="0"/>
                <a:cs typeface="Times New Roman" panose="02020603050405020304" pitchFamily="18" charset="0"/>
              </a:rPr>
              <a:t>Mercantilists believed a nation's wealth was measured by its gold and silver reserves.</a:t>
            </a:r>
          </a:p>
          <a:p>
            <a:pPr algn="just"/>
            <a:r>
              <a:rPr lang="en-US" sz="1900" b="1" dirty="0">
                <a:latin typeface="Times New Roman" panose="02020603050405020304" pitchFamily="18" charset="0"/>
                <a:cs typeface="Times New Roman" panose="02020603050405020304" pitchFamily="18" charset="0"/>
              </a:rPr>
              <a:t>Trade Surplus: </a:t>
            </a:r>
            <a:r>
              <a:rPr lang="en-US" sz="1900" dirty="0">
                <a:latin typeface="Times New Roman" panose="02020603050405020304" pitchFamily="18" charset="0"/>
                <a:cs typeface="Times New Roman" panose="02020603050405020304" pitchFamily="18" charset="0"/>
              </a:rPr>
              <a:t>They aimed for exports to exceed imports, believing this would bring in more precious metals.</a:t>
            </a:r>
          </a:p>
          <a:p>
            <a:pPr algn="just"/>
            <a:r>
              <a:rPr lang="en-US" sz="1900" b="1" dirty="0">
                <a:latin typeface="Times New Roman" panose="02020603050405020304" pitchFamily="18" charset="0"/>
                <a:cs typeface="Times New Roman" panose="02020603050405020304" pitchFamily="18" charset="0"/>
              </a:rPr>
              <a:t>Government Intervention: </a:t>
            </a:r>
            <a:r>
              <a:rPr lang="en-US" sz="1900" dirty="0">
                <a:latin typeface="Times New Roman" panose="02020603050405020304" pitchFamily="18" charset="0"/>
                <a:cs typeface="Times New Roman" panose="02020603050405020304" pitchFamily="18" charset="0"/>
              </a:rPr>
              <a:t>Mercantilism supported active government involvement in the economy through tariffs, subsidies, and other regulations to promote exports and restrict imports.</a:t>
            </a:r>
          </a:p>
          <a:p>
            <a:pPr algn="just"/>
            <a:r>
              <a:rPr lang="en-US" sz="1900" b="1" dirty="0">
                <a:latin typeface="Times New Roman" panose="02020603050405020304" pitchFamily="18" charset="0"/>
                <a:cs typeface="Times New Roman" panose="02020603050405020304" pitchFamily="18" charset="0"/>
              </a:rPr>
              <a:t>Colonialism: </a:t>
            </a:r>
            <a:r>
              <a:rPr lang="en-US" sz="1900" dirty="0">
                <a:latin typeface="Times New Roman" panose="02020603050405020304" pitchFamily="18" charset="0"/>
                <a:cs typeface="Times New Roman" panose="02020603050405020304" pitchFamily="18" charset="0"/>
              </a:rPr>
              <a:t>Mercantilist policies often involved establishing colonies to provide raw materials and serve as markets for the mother country's finished goods. </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9671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77740-1D26-912A-8B8F-D1BF97DB67E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DBD1CA1-5C01-FDE8-2636-764E6961FF7D}"/>
              </a:ext>
            </a:extLst>
          </p:cNvPr>
          <p:cNvSpPr>
            <a:spLocks noGrp="1"/>
          </p:cNvSpPr>
          <p:nvPr>
            <p:ph type="title"/>
          </p:nvPr>
        </p:nvSpPr>
        <p:spPr>
          <a:xfrm>
            <a:off x="1278308" y="150491"/>
            <a:ext cx="6654730" cy="820991"/>
          </a:xfrm>
        </p:spPr>
        <p:txBody>
          <a:bodyPr/>
          <a:lstStyle/>
          <a:p>
            <a:r>
              <a:rPr lang="en-US" sz="2800" b="1" dirty="0">
                <a:solidFill>
                  <a:schemeClr val="bg1"/>
                </a:solidFill>
              </a:rPr>
              <a:t>Mercantilism</a:t>
            </a:r>
            <a:endParaRPr lang="en-IN" sz="2800" b="1" dirty="0">
              <a:solidFill>
                <a:schemeClr val="bg1"/>
              </a:solidFill>
            </a:endParaRPr>
          </a:p>
        </p:txBody>
      </p:sp>
      <p:sp>
        <p:nvSpPr>
          <p:cNvPr id="3" name="Date Placeholder 2">
            <a:extLst>
              <a:ext uri="{FF2B5EF4-FFF2-40B4-BE49-F238E27FC236}">
                <a16:creationId xmlns:a16="http://schemas.microsoft.com/office/drawing/2014/main" id="{3301DBFC-147A-A2B7-01D3-2B7DAFBEBE49}"/>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9C35C862-62D1-DCEE-ED23-54617D959B9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445163CF-F8BD-3081-BF2C-83C3299A7BCD}"/>
              </a:ext>
            </a:extLst>
          </p:cNvPr>
          <p:cNvSpPr>
            <a:spLocks noGrp="1"/>
          </p:cNvSpPr>
          <p:nvPr>
            <p:ph type="sldNum" sz="quarter" idx="12"/>
          </p:nvPr>
        </p:nvSpPr>
        <p:spPr/>
        <p:txBody>
          <a:bodyPr/>
          <a:lstStyle/>
          <a:p>
            <a:pPr defTabSz="756209"/>
            <a:fld id="{B6F15528-21DE-4FAA-801E-634DDDAF4B2B}" type="slidenum">
              <a:rPr lang="en-US" smtClean="0"/>
              <a:pPr defTabSz="756209"/>
              <a:t>6</a:t>
            </a:fld>
            <a:endParaRPr lang="en-US"/>
          </a:p>
        </p:txBody>
      </p:sp>
      <p:pic>
        <p:nvPicPr>
          <p:cNvPr id="1026" name="Picture 2" descr="Mercantilism - Definition, Theory, History, Examples">
            <a:extLst>
              <a:ext uri="{FF2B5EF4-FFF2-40B4-BE49-F238E27FC236}">
                <a16:creationId xmlns:a16="http://schemas.microsoft.com/office/drawing/2014/main" id="{3610F0CF-1ADA-9AB6-E870-0634293AEF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395" y="1698624"/>
            <a:ext cx="6696075" cy="416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5302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C93FF-1B4F-DE05-84C9-0353B70152C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2AED1F4-935C-F539-56DF-576B79ECBB63}"/>
              </a:ext>
            </a:extLst>
          </p:cNvPr>
          <p:cNvSpPr>
            <a:spLocks noGrp="1"/>
          </p:cNvSpPr>
          <p:nvPr>
            <p:ph type="title"/>
          </p:nvPr>
        </p:nvSpPr>
        <p:spPr>
          <a:xfrm>
            <a:off x="1278308" y="150491"/>
            <a:ext cx="6654730" cy="820991"/>
          </a:xfrm>
        </p:spPr>
        <p:txBody>
          <a:bodyPr/>
          <a:lstStyle/>
          <a:p>
            <a:r>
              <a:rPr lang="en-US" sz="2800" b="1" dirty="0">
                <a:solidFill>
                  <a:schemeClr val="bg1"/>
                </a:solidFill>
              </a:rPr>
              <a:t>Theory of absolute cost advantage</a:t>
            </a:r>
            <a:endParaRPr lang="en-IN" sz="2800" b="1" dirty="0">
              <a:solidFill>
                <a:schemeClr val="bg1"/>
              </a:solidFill>
            </a:endParaRPr>
          </a:p>
        </p:txBody>
      </p:sp>
      <p:sp>
        <p:nvSpPr>
          <p:cNvPr id="3" name="Date Placeholder 2">
            <a:extLst>
              <a:ext uri="{FF2B5EF4-FFF2-40B4-BE49-F238E27FC236}">
                <a16:creationId xmlns:a16="http://schemas.microsoft.com/office/drawing/2014/main" id="{76A893BB-766F-EE52-79EC-D7A39EFB87B4}"/>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3AA5DD15-C948-234A-8FB5-15AEEAC955C1}"/>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B46119C1-5F09-F6F3-D0C6-0DA5C36964C4}"/>
              </a:ext>
            </a:extLst>
          </p:cNvPr>
          <p:cNvSpPr>
            <a:spLocks noGrp="1"/>
          </p:cNvSpPr>
          <p:nvPr>
            <p:ph type="sldNum" sz="quarter" idx="12"/>
          </p:nvPr>
        </p:nvSpPr>
        <p:spPr/>
        <p:txBody>
          <a:bodyPr/>
          <a:lstStyle/>
          <a:p>
            <a:pPr defTabSz="756209"/>
            <a:fld id="{B6F15528-21DE-4FAA-801E-634DDDAF4B2B}" type="slidenum">
              <a:rPr lang="en-US" smtClean="0"/>
              <a:pPr defTabSz="756209"/>
              <a:t>7</a:t>
            </a:fld>
            <a:endParaRPr lang="en-US"/>
          </a:p>
        </p:txBody>
      </p:sp>
      <p:sp>
        <p:nvSpPr>
          <p:cNvPr id="7" name="TextBox 6">
            <a:extLst>
              <a:ext uri="{FF2B5EF4-FFF2-40B4-BE49-F238E27FC236}">
                <a16:creationId xmlns:a16="http://schemas.microsoft.com/office/drawing/2014/main" id="{E53CF391-2CAF-6B13-DB58-A96287554AE7}"/>
              </a:ext>
            </a:extLst>
          </p:cNvPr>
          <p:cNvSpPr txBox="1"/>
          <p:nvPr/>
        </p:nvSpPr>
        <p:spPr>
          <a:xfrm>
            <a:off x="233978" y="1471513"/>
            <a:ext cx="9630783" cy="132343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theory of absolute cost advantage, primarily associated with </a:t>
            </a:r>
            <a:r>
              <a:rPr lang="en-US" sz="2000" b="1" dirty="0">
                <a:latin typeface="Times New Roman" panose="02020603050405020304" pitchFamily="18" charset="0"/>
                <a:cs typeface="Times New Roman" panose="02020603050405020304" pitchFamily="18" charset="0"/>
              </a:rPr>
              <a:t>Adam Smith(1776)</a:t>
            </a:r>
            <a:r>
              <a:rPr lang="en-US" sz="2000" dirty="0">
                <a:latin typeface="Times New Roman" panose="02020603050405020304" pitchFamily="18" charset="0"/>
                <a:cs typeface="Times New Roman" panose="02020603050405020304" pitchFamily="18" charset="0"/>
              </a:rPr>
              <a:t>, states that countries should specialize in producing and exporting goods where they have a lower production cost than other countries. This theory suggests that free trade based on these cost advantages leads to mutual benefit through increased efficiency and lower prices. </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7021161-1935-4244-770A-334A787ADEF9}"/>
              </a:ext>
            </a:extLst>
          </p:cNvPr>
          <p:cNvPicPr>
            <a:picLocks noChangeAspect="1"/>
          </p:cNvPicPr>
          <p:nvPr/>
        </p:nvPicPr>
        <p:blipFill>
          <a:blip r:embed="rId2"/>
          <a:stretch>
            <a:fillRect/>
          </a:stretch>
        </p:blipFill>
        <p:spPr>
          <a:xfrm>
            <a:off x="4427254" y="3291101"/>
            <a:ext cx="5310115" cy="2991365"/>
          </a:xfrm>
          <a:prstGeom prst="rect">
            <a:avLst/>
          </a:prstGeom>
        </p:spPr>
      </p:pic>
      <p:sp>
        <p:nvSpPr>
          <p:cNvPr id="9" name="TextBox 8">
            <a:extLst>
              <a:ext uri="{FF2B5EF4-FFF2-40B4-BE49-F238E27FC236}">
                <a16:creationId xmlns:a16="http://schemas.microsoft.com/office/drawing/2014/main" id="{6164F7AE-F30C-01AC-E480-CB4894FB1268}"/>
              </a:ext>
            </a:extLst>
          </p:cNvPr>
          <p:cNvSpPr txBox="1"/>
          <p:nvPr/>
        </p:nvSpPr>
        <p:spPr>
          <a:xfrm>
            <a:off x="344245" y="3291101"/>
            <a:ext cx="3991087" cy="2031325"/>
          </a:xfrm>
          <a:prstGeom prst="rect">
            <a:avLst/>
          </a:prstGeom>
          <a:noFill/>
        </p:spPr>
        <p:txBody>
          <a:bodyPr wrap="square" rtlCol="0">
            <a:spAutoFit/>
          </a:bodyPr>
          <a:lstStyle/>
          <a:p>
            <a:pPr algn="ctr"/>
            <a:r>
              <a:rPr lang="en-US" b="1" u="sng" dirty="0">
                <a:latin typeface="Times New Roman" panose="02020603050405020304" pitchFamily="18" charset="0"/>
                <a:cs typeface="Times New Roman" panose="02020603050405020304" pitchFamily="18" charset="0"/>
              </a:rPr>
              <a:t>Assumption of Absolute Cost Advantage Theory</a:t>
            </a:r>
          </a:p>
          <a:p>
            <a:pPr marL="342900" indent="-342900" algn="just">
              <a:buAutoNum type="arabicPeriod"/>
            </a:pPr>
            <a:r>
              <a:rPr lang="en-US" dirty="0">
                <a:latin typeface="Times New Roman" panose="02020603050405020304" pitchFamily="18" charset="0"/>
                <a:cs typeface="Times New Roman" panose="02020603050405020304" pitchFamily="18" charset="0"/>
              </a:rPr>
              <a:t>Two Countries, Two Commodities</a:t>
            </a:r>
          </a:p>
          <a:p>
            <a:pPr marL="342900" indent="-342900" algn="just">
              <a:buAutoNum type="arabicPeriod"/>
            </a:pPr>
            <a:r>
              <a:rPr lang="en-US" dirty="0">
                <a:latin typeface="Times New Roman" panose="02020603050405020304" pitchFamily="18" charset="0"/>
                <a:cs typeface="Times New Roman" panose="02020603050405020304" pitchFamily="18" charset="0"/>
              </a:rPr>
              <a:t>Efficiency Objective</a:t>
            </a:r>
          </a:p>
          <a:p>
            <a:pPr marL="342900" indent="-342900" algn="just">
              <a:buAutoNum type="arabicPeriod"/>
            </a:pPr>
            <a:r>
              <a:rPr lang="en-US" dirty="0">
                <a:latin typeface="Times New Roman" panose="02020603050405020304" pitchFamily="18" charset="0"/>
                <a:cs typeface="Times New Roman" panose="02020603050405020304" pitchFamily="18" charset="0"/>
              </a:rPr>
              <a:t>Zero Transportation Costs</a:t>
            </a:r>
          </a:p>
          <a:p>
            <a:pPr marL="342900" indent="-342900" algn="just">
              <a:buAutoNum type="arabicPeriod"/>
            </a:pPr>
            <a:r>
              <a:rPr lang="en-US" dirty="0">
                <a:latin typeface="Times New Roman" panose="02020603050405020304" pitchFamily="18" charset="0"/>
                <a:cs typeface="Times New Roman" panose="02020603050405020304" pitchFamily="18" charset="0"/>
              </a:rPr>
              <a:t>Factor Mobility/Immobility</a:t>
            </a:r>
          </a:p>
          <a:p>
            <a:pPr marL="342900" indent="-342900" algn="just">
              <a:buAutoNum type="arabicPeriod"/>
            </a:pPr>
            <a:r>
              <a:rPr lang="en-US" dirty="0">
                <a:latin typeface="Times New Roman" panose="02020603050405020304" pitchFamily="18" charset="0"/>
                <a:cs typeface="Times New Roman" panose="02020603050405020304" pitchFamily="18" charset="0"/>
              </a:rPr>
              <a:t>Full Employment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4008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ABFA-2B57-6BB6-5D4E-B292841FA17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9A0D61D-5C30-01BC-7EA2-B79123B8A8CE}"/>
              </a:ext>
            </a:extLst>
          </p:cNvPr>
          <p:cNvSpPr>
            <a:spLocks noGrp="1"/>
          </p:cNvSpPr>
          <p:nvPr>
            <p:ph type="title"/>
          </p:nvPr>
        </p:nvSpPr>
        <p:spPr>
          <a:xfrm>
            <a:off x="1278308" y="150491"/>
            <a:ext cx="6654730" cy="820991"/>
          </a:xfrm>
        </p:spPr>
        <p:txBody>
          <a:bodyPr/>
          <a:lstStyle/>
          <a:p>
            <a:r>
              <a:rPr lang="en-US" sz="2800" b="1" dirty="0">
                <a:solidFill>
                  <a:schemeClr val="bg1"/>
                </a:solidFill>
              </a:rPr>
              <a:t>Comparative cost advantage theory</a:t>
            </a:r>
            <a:endParaRPr lang="en-IN" sz="2800" b="1" dirty="0">
              <a:solidFill>
                <a:schemeClr val="bg1"/>
              </a:solidFill>
            </a:endParaRPr>
          </a:p>
        </p:txBody>
      </p:sp>
      <p:sp>
        <p:nvSpPr>
          <p:cNvPr id="3" name="Date Placeholder 2">
            <a:extLst>
              <a:ext uri="{FF2B5EF4-FFF2-40B4-BE49-F238E27FC236}">
                <a16:creationId xmlns:a16="http://schemas.microsoft.com/office/drawing/2014/main" id="{C8044714-7521-3345-07D1-AE9D76AD297E}"/>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F83C5E9E-794C-E1A2-EB9D-1B40D54082CB}"/>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4B8CDC69-1492-3F74-70EE-AA7EDFA9A635}"/>
              </a:ext>
            </a:extLst>
          </p:cNvPr>
          <p:cNvSpPr>
            <a:spLocks noGrp="1"/>
          </p:cNvSpPr>
          <p:nvPr>
            <p:ph type="sldNum" sz="quarter" idx="12"/>
          </p:nvPr>
        </p:nvSpPr>
        <p:spPr/>
        <p:txBody>
          <a:bodyPr/>
          <a:lstStyle/>
          <a:p>
            <a:pPr defTabSz="756209"/>
            <a:fld id="{B6F15528-21DE-4FAA-801E-634DDDAF4B2B}" type="slidenum">
              <a:rPr lang="en-US" smtClean="0"/>
              <a:pPr defTabSz="756209"/>
              <a:t>8</a:t>
            </a:fld>
            <a:endParaRPr lang="en-US"/>
          </a:p>
        </p:txBody>
      </p:sp>
      <p:sp>
        <p:nvSpPr>
          <p:cNvPr id="7" name="TextBox 6">
            <a:extLst>
              <a:ext uri="{FF2B5EF4-FFF2-40B4-BE49-F238E27FC236}">
                <a16:creationId xmlns:a16="http://schemas.microsoft.com/office/drawing/2014/main" id="{CDDA6C64-730B-9C85-A927-4DE78D74DC0B}"/>
              </a:ext>
            </a:extLst>
          </p:cNvPr>
          <p:cNvSpPr txBox="1"/>
          <p:nvPr/>
        </p:nvSpPr>
        <p:spPr>
          <a:xfrm>
            <a:off x="94130" y="1376585"/>
            <a:ext cx="9727602"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theory of comparative cost advantage, developed by </a:t>
            </a:r>
            <a:r>
              <a:rPr lang="en-US" sz="2000" b="1" dirty="0">
                <a:latin typeface="Times New Roman" panose="02020603050405020304" pitchFamily="18" charset="0"/>
                <a:cs typeface="Times New Roman" panose="02020603050405020304" pitchFamily="18" charset="0"/>
              </a:rPr>
              <a:t>David Ricardo</a:t>
            </a:r>
            <a:r>
              <a:rPr lang="en-US" sz="2000" dirty="0">
                <a:latin typeface="Times New Roman" panose="02020603050405020304" pitchFamily="18" charset="0"/>
                <a:cs typeface="Times New Roman" panose="02020603050405020304" pitchFamily="18" charset="0"/>
              </a:rPr>
              <a:t>, explains how countries can benefit from specializing in the production and export of goods they can produce at a lower relative opportunity cost, even if they don't have an absolute advantage in producing all goods. This specialization, coupled with international trade, allows countries to consume more than they could in the absence of trade. </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7EA12CF-CEAC-A9D2-571D-263062CFA851}"/>
              </a:ext>
            </a:extLst>
          </p:cNvPr>
          <p:cNvSpPr txBox="1"/>
          <p:nvPr/>
        </p:nvSpPr>
        <p:spPr>
          <a:xfrm>
            <a:off x="504031" y="3248809"/>
            <a:ext cx="8209663" cy="2308324"/>
          </a:xfrm>
          <a:prstGeom prst="rect">
            <a:avLst/>
          </a:prstGeom>
          <a:noFill/>
        </p:spPr>
        <p:txBody>
          <a:bodyPr wrap="square" rtlCol="0">
            <a:spAutoFit/>
          </a:bodyPr>
          <a:lstStyle/>
          <a:p>
            <a:r>
              <a:rPr lang="en-US" b="1" u="sng" dirty="0"/>
              <a:t>Features of Comparative Cost Advantage Theory</a:t>
            </a:r>
          </a:p>
          <a:p>
            <a:pPr marL="342900" indent="-342900">
              <a:buAutoNum type="arabicPeriod"/>
            </a:pPr>
            <a:r>
              <a:rPr lang="en-US" dirty="0"/>
              <a:t>Multiplicity of Organizations and Activities</a:t>
            </a:r>
          </a:p>
          <a:p>
            <a:pPr marL="342900" indent="-342900">
              <a:buAutoNum type="arabicPeriod"/>
            </a:pPr>
            <a:r>
              <a:rPr lang="en-US" dirty="0"/>
              <a:t>Two-Edged Sword</a:t>
            </a:r>
          </a:p>
          <a:p>
            <a:pPr marL="342900" indent="-342900">
              <a:buAutoNum type="arabicPeriod"/>
            </a:pPr>
            <a:r>
              <a:rPr lang="en-US" dirty="0"/>
              <a:t>Sign of Mixed Partial</a:t>
            </a:r>
          </a:p>
          <a:p>
            <a:pPr marL="342900" indent="-342900">
              <a:buAutoNum type="arabicPeriod"/>
            </a:pPr>
            <a:r>
              <a:rPr lang="en-US" dirty="0"/>
              <a:t>Dependence of Comparative Advantage on Relative Value</a:t>
            </a:r>
          </a:p>
          <a:p>
            <a:pPr marL="342900" indent="-342900">
              <a:buAutoNum type="arabicPeriod"/>
            </a:pPr>
            <a:r>
              <a:rPr lang="en-US" dirty="0"/>
              <a:t>Not to Create Reasons to Exist</a:t>
            </a:r>
          </a:p>
          <a:p>
            <a:pPr marL="342900" indent="-342900">
              <a:buAutoNum type="arabicPeriod"/>
            </a:pPr>
            <a:r>
              <a:rPr lang="en-US" dirty="0"/>
              <a:t>Express in Terms of Money and Labour</a:t>
            </a:r>
          </a:p>
          <a:p>
            <a:pPr marL="342900" indent="-342900">
              <a:buAutoNum type="arabicPeriod"/>
            </a:pPr>
            <a:r>
              <a:rPr lang="en-US" dirty="0"/>
              <a:t>No Transport Cost is Unrealistic</a:t>
            </a:r>
            <a:endParaRPr lang="en-IN" dirty="0"/>
          </a:p>
        </p:txBody>
      </p:sp>
    </p:spTree>
    <p:extLst>
      <p:ext uri="{BB962C8B-B14F-4D97-AF65-F5344CB8AC3E}">
        <p14:creationId xmlns:p14="http://schemas.microsoft.com/office/powerpoint/2010/main" val="3264726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8B69-28CB-ECB5-D428-888559703B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F333432-B4C5-E05C-EC5B-A058B84E83AF}"/>
              </a:ext>
            </a:extLst>
          </p:cNvPr>
          <p:cNvSpPr>
            <a:spLocks noGrp="1"/>
          </p:cNvSpPr>
          <p:nvPr>
            <p:ph type="title"/>
          </p:nvPr>
        </p:nvSpPr>
        <p:spPr>
          <a:xfrm>
            <a:off x="1278308" y="150491"/>
            <a:ext cx="6654730" cy="820991"/>
          </a:xfrm>
        </p:spPr>
        <p:txBody>
          <a:bodyPr/>
          <a:lstStyle/>
          <a:p>
            <a:r>
              <a:rPr lang="en-US" sz="2800" b="1" dirty="0">
                <a:solidFill>
                  <a:schemeClr val="bg1"/>
                </a:solidFill>
              </a:rPr>
              <a:t>Comparative cost advantage with money</a:t>
            </a:r>
            <a:endParaRPr lang="en-IN" sz="2800" b="1" dirty="0">
              <a:solidFill>
                <a:schemeClr val="bg1"/>
              </a:solidFill>
            </a:endParaRPr>
          </a:p>
        </p:txBody>
      </p:sp>
      <p:sp>
        <p:nvSpPr>
          <p:cNvPr id="3" name="Date Placeholder 2">
            <a:extLst>
              <a:ext uri="{FF2B5EF4-FFF2-40B4-BE49-F238E27FC236}">
                <a16:creationId xmlns:a16="http://schemas.microsoft.com/office/drawing/2014/main" id="{39276BFB-1DC0-151B-FF4B-870A18B0C94E}"/>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2802AEFA-6538-2BBF-2112-61B51C855681}"/>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1FE46251-38C6-8917-C512-7D117A465C86}"/>
              </a:ext>
            </a:extLst>
          </p:cNvPr>
          <p:cNvSpPr>
            <a:spLocks noGrp="1"/>
          </p:cNvSpPr>
          <p:nvPr>
            <p:ph type="sldNum" sz="quarter" idx="12"/>
          </p:nvPr>
        </p:nvSpPr>
        <p:spPr/>
        <p:txBody>
          <a:bodyPr/>
          <a:lstStyle/>
          <a:p>
            <a:pPr defTabSz="756209"/>
            <a:fld id="{B6F15528-21DE-4FAA-801E-634DDDAF4B2B}" type="slidenum">
              <a:rPr lang="en-US" smtClean="0"/>
              <a:pPr defTabSz="756209"/>
              <a:t>9</a:t>
            </a:fld>
            <a:endParaRPr lang="en-US"/>
          </a:p>
        </p:txBody>
      </p:sp>
      <p:sp>
        <p:nvSpPr>
          <p:cNvPr id="7" name="TextBox 6">
            <a:extLst>
              <a:ext uri="{FF2B5EF4-FFF2-40B4-BE49-F238E27FC236}">
                <a16:creationId xmlns:a16="http://schemas.microsoft.com/office/drawing/2014/main" id="{B0D4B0C3-4C74-ACBA-BCF6-617A3E8BDF69}"/>
              </a:ext>
            </a:extLst>
          </p:cNvPr>
          <p:cNvSpPr txBox="1"/>
          <p:nvPr/>
        </p:nvSpPr>
        <p:spPr>
          <a:xfrm>
            <a:off x="356965" y="1496269"/>
            <a:ext cx="9540069" cy="193899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Comparative cost advantage, in the context of international trade, refers to a country's ability to produce a good or service at a lower opportunity cost than another country. This means a country can produce something by sacrificing less of other goods or services compared to its trading partners. Even if one country can produce everything more efficiently (absolute advantage), both countries can still benefit from trade by specializing in what they produce best and exchanging goods.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1869AA9-AC89-096D-C467-8E7CCA1682DA}"/>
              </a:ext>
            </a:extLst>
          </p:cNvPr>
          <p:cNvSpPr txBox="1"/>
          <p:nvPr/>
        </p:nvSpPr>
        <p:spPr>
          <a:xfrm>
            <a:off x="356964" y="3466655"/>
            <a:ext cx="9540069" cy="1938992"/>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Example:</a:t>
            </a:r>
          </a:p>
          <a:p>
            <a:pPr algn="just"/>
            <a:r>
              <a:rPr lang="en-US" sz="2000" dirty="0">
                <a:latin typeface="Times New Roman" panose="02020603050405020304" pitchFamily="18" charset="0"/>
                <a:cs typeface="Times New Roman" panose="02020603050405020304" pitchFamily="18" charset="0"/>
              </a:rPr>
              <a:t>Imagine two countries, A and B, producing wheat and cloth. </a:t>
            </a:r>
          </a:p>
          <a:p>
            <a:pPr algn="just"/>
            <a:r>
              <a:rPr lang="en-US" sz="2000" dirty="0">
                <a:latin typeface="Times New Roman" panose="02020603050405020304" pitchFamily="18" charset="0"/>
                <a:cs typeface="Times New Roman" panose="02020603050405020304" pitchFamily="18" charset="0"/>
              </a:rPr>
              <a:t>Country A can produce 10 units of wheat or 5 units of cloth with the same resources.</a:t>
            </a:r>
          </a:p>
          <a:p>
            <a:pPr algn="just"/>
            <a:r>
              <a:rPr lang="en-US" sz="2000" dirty="0">
                <a:latin typeface="Times New Roman" panose="02020603050405020304" pitchFamily="18" charset="0"/>
                <a:cs typeface="Times New Roman" panose="02020603050405020304" pitchFamily="18" charset="0"/>
              </a:rPr>
              <a:t>Country B can produce 5 units of wheat or 4 units of cloth with the same resources.</a:t>
            </a:r>
          </a:p>
          <a:p>
            <a:pPr algn="just"/>
            <a:r>
              <a:rPr lang="en-US" sz="2000" dirty="0">
                <a:latin typeface="Times New Roman" panose="02020603050405020304" pitchFamily="18" charset="0"/>
                <a:cs typeface="Times New Roman" panose="02020603050405020304" pitchFamily="18" charset="0"/>
              </a:rPr>
              <a:t>In this case, Country A has an absolute advantage in both goods, as it can produce more of both with the same resources.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783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43DD2-D666-6FAC-78ED-3CD3FB5395D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5B25F98-2258-3C23-27AA-4A39226147D9}"/>
              </a:ext>
            </a:extLst>
          </p:cNvPr>
          <p:cNvSpPr>
            <a:spLocks noGrp="1"/>
          </p:cNvSpPr>
          <p:nvPr>
            <p:ph type="title"/>
          </p:nvPr>
        </p:nvSpPr>
        <p:spPr>
          <a:xfrm>
            <a:off x="1278308" y="150491"/>
            <a:ext cx="6654730" cy="820991"/>
          </a:xfrm>
        </p:spPr>
        <p:txBody>
          <a:bodyPr/>
          <a:lstStyle/>
          <a:p>
            <a:r>
              <a:rPr lang="en-US" sz="2800" b="1" dirty="0">
                <a:solidFill>
                  <a:schemeClr val="bg1"/>
                </a:solidFill>
              </a:rPr>
              <a:t>Relative factor endowment</a:t>
            </a:r>
            <a:br>
              <a:rPr lang="en-US" sz="2800" b="1" dirty="0">
                <a:solidFill>
                  <a:schemeClr val="bg1"/>
                </a:solidFill>
              </a:rPr>
            </a:br>
            <a:r>
              <a:rPr lang="en-US" sz="2800" b="1" dirty="0">
                <a:solidFill>
                  <a:schemeClr val="bg1"/>
                </a:solidFill>
              </a:rPr>
              <a:t>theory</a:t>
            </a:r>
            <a:endParaRPr lang="en-IN" sz="2800" b="1" dirty="0">
              <a:solidFill>
                <a:schemeClr val="bg1"/>
              </a:solidFill>
            </a:endParaRPr>
          </a:p>
        </p:txBody>
      </p:sp>
      <p:sp>
        <p:nvSpPr>
          <p:cNvPr id="3" name="Date Placeholder 2">
            <a:extLst>
              <a:ext uri="{FF2B5EF4-FFF2-40B4-BE49-F238E27FC236}">
                <a16:creationId xmlns:a16="http://schemas.microsoft.com/office/drawing/2014/main" id="{4492CEC3-7BDC-D8D5-2D6E-BBF84D81C622}"/>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D494D874-4949-D4F1-B153-306D0CAE44E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A531FA01-0E50-7859-219C-B7C8B823E88B}"/>
              </a:ext>
            </a:extLst>
          </p:cNvPr>
          <p:cNvSpPr>
            <a:spLocks noGrp="1"/>
          </p:cNvSpPr>
          <p:nvPr>
            <p:ph type="sldNum" sz="quarter" idx="12"/>
          </p:nvPr>
        </p:nvSpPr>
        <p:spPr/>
        <p:txBody>
          <a:bodyPr/>
          <a:lstStyle/>
          <a:p>
            <a:pPr defTabSz="756209"/>
            <a:fld id="{B6F15528-21DE-4FAA-801E-634DDDAF4B2B}" type="slidenum">
              <a:rPr lang="en-US" smtClean="0"/>
              <a:pPr defTabSz="756209"/>
              <a:t>10</a:t>
            </a:fld>
            <a:endParaRPr lang="en-US"/>
          </a:p>
        </p:txBody>
      </p:sp>
      <p:pic>
        <p:nvPicPr>
          <p:cNvPr id="7" name="Picture 6">
            <a:extLst>
              <a:ext uri="{FF2B5EF4-FFF2-40B4-BE49-F238E27FC236}">
                <a16:creationId xmlns:a16="http://schemas.microsoft.com/office/drawing/2014/main" id="{62CF2964-AC43-AEE2-61A7-AB1B8EDE7403}"/>
              </a:ext>
            </a:extLst>
          </p:cNvPr>
          <p:cNvPicPr>
            <a:picLocks noChangeAspect="1"/>
          </p:cNvPicPr>
          <p:nvPr/>
        </p:nvPicPr>
        <p:blipFill>
          <a:blip r:embed="rId2"/>
          <a:stretch>
            <a:fillRect/>
          </a:stretch>
        </p:blipFill>
        <p:spPr>
          <a:xfrm>
            <a:off x="5389581" y="1430808"/>
            <a:ext cx="4513684" cy="3009123"/>
          </a:xfrm>
          <a:prstGeom prst="rect">
            <a:avLst/>
          </a:prstGeom>
        </p:spPr>
      </p:pic>
      <p:sp>
        <p:nvSpPr>
          <p:cNvPr id="9" name="TextBox 8">
            <a:extLst>
              <a:ext uri="{FF2B5EF4-FFF2-40B4-BE49-F238E27FC236}">
                <a16:creationId xmlns:a16="http://schemas.microsoft.com/office/drawing/2014/main" id="{45F1FDC8-8930-03C9-A2BA-E54C3A624AE9}"/>
              </a:ext>
            </a:extLst>
          </p:cNvPr>
          <p:cNvSpPr txBox="1"/>
          <p:nvPr/>
        </p:nvSpPr>
        <p:spPr>
          <a:xfrm>
            <a:off x="121013" y="1430808"/>
            <a:ext cx="5050714" cy="286232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relative factor endowment theory, also known as the Heckscher-Ohlin model, explains that countries will specialize in and export goods that use their relatively abundant factors of production, and import goods that require factors they have less of. This theory suggests that differences in factor endowments (like labor, capital, and land) among countries drive international trade patterns. </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30491C8-2E04-B6F7-E6F0-A145868DBF36}"/>
              </a:ext>
            </a:extLst>
          </p:cNvPr>
          <p:cNvSpPr txBox="1"/>
          <p:nvPr/>
        </p:nvSpPr>
        <p:spPr>
          <a:xfrm>
            <a:off x="121013" y="4172587"/>
            <a:ext cx="8581923" cy="923330"/>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Example:</a:t>
            </a:r>
          </a:p>
          <a:p>
            <a:pPr algn="just"/>
            <a:r>
              <a:rPr lang="en-US" dirty="0">
                <a:latin typeface="Times New Roman" panose="02020603050405020304" pitchFamily="18" charset="0"/>
                <a:cs typeface="Times New Roman" panose="02020603050405020304" pitchFamily="18" charset="0"/>
              </a:rPr>
              <a:t>Country A (e.g., China): Abundant in labor, relatively scarce in capital.</a:t>
            </a:r>
          </a:p>
          <a:p>
            <a:pPr algn="just"/>
            <a:r>
              <a:rPr lang="en-US" dirty="0">
                <a:latin typeface="Times New Roman" panose="02020603050405020304" pitchFamily="18" charset="0"/>
                <a:cs typeface="Times New Roman" panose="02020603050405020304" pitchFamily="18" charset="0"/>
              </a:rPr>
              <a:t>Country B (e.g., United States): Abundant in capital, relatively scarce in labor. </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BA85837-7DBB-0548-7D9D-BE0D95C4B87B}"/>
              </a:ext>
            </a:extLst>
          </p:cNvPr>
          <p:cNvSpPr txBox="1"/>
          <p:nvPr/>
        </p:nvSpPr>
        <p:spPr>
          <a:xfrm>
            <a:off x="237279" y="5312645"/>
            <a:ext cx="8736788" cy="1477328"/>
          </a:xfrm>
          <a:prstGeom prst="rect">
            <a:avLst/>
          </a:prstGeom>
          <a:noFill/>
        </p:spPr>
        <p:txBody>
          <a:bodyPr wrap="square" rtlCol="0">
            <a:spAutoFit/>
          </a:bodyPr>
          <a:lstStyle/>
          <a:p>
            <a:r>
              <a:rPr lang="en-US" b="1" u="sng" dirty="0"/>
              <a:t>Assumptions of Hecksher-Ohlin Theory</a:t>
            </a:r>
          </a:p>
          <a:p>
            <a:pPr marL="342900" indent="-342900">
              <a:buAutoNum type="arabicPeriod"/>
            </a:pPr>
            <a:r>
              <a:rPr lang="en-US" dirty="0"/>
              <a:t>Two Countries, Two Products, and Two Factors</a:t>
            </a:r>
          </a:p>
          <a:p>
            <a:pPr marL="342900" indent="-342900">
              <a:buAutoNum type="arabicPeriod"/>
            </a:pPr>
            <a:r>
              <a:rPr lang="en-US" dirty="0"/>
              <a:t>Inputs and the Outputs are Perfectly Competitive</a:t>
            </a:r>
          </a:p>
          <a:p>
            <a:pPr marL="342900" indent="-342900">
              <a:buAutoNum type="arabicPeriod"/>
            </a:pPr>
            <a:r>
              <a:rPr lang="en-US" dirty="0"/>
              <a:t>Increasing Production of Product Experience Diminishing Returns</a:t>
            </a:r>
          </a:p>
          <a:p>
            <a:pPr marL="342900" indent="-342900">
              <a:buAutoNum type="arabicPeriod"/>
            </a:pPr>
            <a:r>
              <a:rPr lang="en-US" dirty="0"/>
              <a:t>Identical Technologies</a:t>
            </a:r>
            <a:endParaRPr lang="en-IN" dirty="0"/>
          </a:p>
        </p:txBody>
      </p:sp>
    </p:spTree>
    <p:extLst>
      <p:ext uri="{BB962C8B-B14F-4D97-AF65-F5344CB8AC3E}">
        <p14:creationId xmlns:p14="http://schemas.microsoft.com/office/powerpoint/2010/main" val="2898579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C466D-3B50-C69E-ACF8-F15BDA6D562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66A379D-09D6-CE2B-1F92-1175502B50C2}"/>
              </a:ext>
            </a:extLst>
          </p:cNvPr>
          <p:cNvSpPr>
            <a:spLocks noGrp="1"/>
          </p:cNvSpPr>
          <p:nvPr>
            <p:ph type="title"/>
          </p:nvPr>
        </p:nvSpPr>
        <p:spPr>
          <a:xfrm>
            <a:off x="1278308" y="150491"/>
            <a:ext cx="6654730" cy="820991"/>
          </a:xfrm>
        </p:spPr>
        <p:txBody>
          <a:bodyPr/>
          <a:lstStyle/>
          <a:p>
            <a:r>
              <a:rPr lang="en-US" sz="2800" b="1" dirty="0">
                <a:solidFill>
                  <a:schemeClr val="bg1"/>
                </a:solidFill>
              </a:rPr>
              <a:t>Product life cycle theory</a:t>
            </a:r>
            <a:endParaRPr lang="en-IN" sz="2800" b="1" dirty="0">
              <a:solidFill>
                <a:schemeClr val="bg1"/>
              </a:solidFill>
            </a:endParaRPr>
          </a:p>
        </p:txBody>
      </p:sp>
      <p:sp>
        <p:nvSpPr>
          <p:cNvPr id="3" name="Date Placeholder 2">
            <a:extLst>
              <a:ext uri="{FF2B5EF4-FFF2-40B4-BE49-F238E27FC236}">
                <a16:creationId xmlns:a16="http://schemas.microsoft.com/office/drawing/2014/main" id="{24925758-9A7D-9311-DCA5-17517A27AA33}"/>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9F18E17C-C400-E958-C21C-D9CEB24E998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0DA13D36-1C4C-8A29-5820-FFD25BBB2FA8}"/>
              </a:ext>
            </a:extLst>
          </p:cNvPr>
          <p:cNvSpPr>
            <a:spLocks noGrp="1"/>
          </p:cNvSpPr>
          <p:nvPr>
            <p:ph type="sldNum" sz="quarter" idx="12"/>
          </p:nvPr>
        </p:nvSpPr>
        <p:spPr/>
        <p:txBody>
          <a:bodyPr/>
          <a:lstStyle/>
          <a:p>
            <a:pPr defTabSz="756209"/>
            <a:fld id="{B6F15528-21DE-4FAA-801E-634DDDAF4B2B}" type="slidenum">
              <a:rPr lang="en-US" smtClean="0"/>
              <a:pPr defTabSz="756209"/>
              <a:t>11</a:t>
            </a:fld>
            <a:endParaRPr lang="en-US"/>
          </a:p>
        </p:txBody>
      </p:sp>
      <p:pic>
        <p:nvPicPr>
          <p:cNvPr id="2" name="Picture 1">
            <a:extLst>
              <a:ext uri="{FF2B5EF4-FFF2-40B4-BE49-F238E27FC236}">
                <a16:creationId xmlns:a16="http://schemas.microsoft.com/office/drawing/2014/main" id="{0C31D510-00B7-5D20-76A9-08CC53B8BB68}"/>
              </a:ext>
            </a:extLst>
          </p:cNvPr>
          <p:cNvPicPr>
            <a:picLocks noChangeAspect="1"/>
          </p:cNvPicPr>
          <p:nvPr/>
        </p:nvPicPr>
        <p:blipFill>
          <a:blip r:embed="rId2"/>
          <a:stretch>
            <a:fillRect/>
          </a:stretch>
        </p:blipFill>
        <p:spPr>
          <a:xfrm>
            <a:off x="4733364" y="1398574"/>
            <a:ext cx="5255801" cy="3503867"/>
          </a:xfrm>
          <a:prstGeom prst="rect">
            <a:avLst/>
          </a:prstGeom>
        </p:spPr>
      </p:pic>
      <p:sp>
        <p:nvSpPr>
          <p:cNvPr id="8" name="TextBox 7">
            <a:extLst>
              <a:ext uri="{FF2B5EF4-FFF2-40B4-BE49-F238E27FC236}">
                <a16:creationId xmlns:a16="http://schemas.microsoft.com/office/drawing/2014/main" id="{D929492C-D39E-6DDA-6319-0649234F5F13}"/>
              </a:ext>
            </a:extLst>
          </p:cNvPr>
          <p:cNvSpPr txBox="1"/>
          <p:nvPr/>
        </p:nvSpPr>
        <p:spPr>
          <a:xfrm>
            <a:off x="91460" y="1471513"/>
            <a:ext cx="4534328" cy="317009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Product Life Cycle (PLC) theory describes the stages a product goes through from its introduction to the market until it is eventually removed, typically involving introduction, growth, maturity, and decline. This theory helps businesses understand market dynamics, adapt their strategies, and manage resources effectively throughout the product's lifespan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532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2C563-F7CD-E880-BE7F-B4760D649B4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3044CF3-1571-B1D5-2A4A-6F89405DE5AD}"/>
              </a:ext>
            </a:extLst>
          </p:cNvPr>
          <p:cNvSpPr>
            <a:spLocks noGrp="1"/>
          </p:cNvSpPr>
          <p:nvPr>
            <p:ph type="title"/>
          </p:nvPr>
        </p:nvSpPr>
        <p:spPr>
          <a:xfrm>
            <a:off x="1278308" y="150491"/>
            <a:ext cx="6654730" cy="820991"/>
          </a:xfrm>
        </p:spPr>
        <p:txBody>
          <a:bodyPr/>
          <a:lstStyle/>
          <a:p>
            <a:r>
              <a:rPr lang="en-US" sz="2800" b="1" dirty="0">
                <a:solidFill>
                  <a:schemeClr val="bg1"/>
                </a:solidFill>
              </a:rPr>
              <a:t>Product life cycle theory</a:t>
            </a:r>
            <a:endParaRPr lang="en-IN" sz="2800" b="1" dirty="0">
              <a:solidFill>
                <a:schemeClr val="bg1"/>
              </a:solidFill>
            </a:endParaRPr>
          </a:p>
        </p:txBody>
      </p:sp>
      <p:sp>
        <p:nvSpPr>
          <p:cNvPr id="3" name="Date Placeholder 2">
            <a:extLst>
              <a:ext uri="{FF2B5EF4-FFF2-40B4-BE49-F238E27FC236}">
                <a16:creationId xmlns:a16="http://schemas.microsoft.com/office/drawing/2014/main" id="{80B8A82E-4585-881C-020B-C0272FA16163}"/>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24BBCBA0-E29F-2969-49C8-9A74E112D343}"/>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27CFF9A8-C83E-8009-8F4A-024D5CA96BE6}"/>
              </a:ext>
            </a:extLst>
          </p:cNvPr>
          <p:cNvSpPr>
            <a:spLocks noGrp="1"/>
          </p:cNvSpPr>
          <p:nvPr>
            <p:ph type="sldNum" sz="quarter" idx="12"/>
          </p:nvPr>
        </p:nvSpPr>
        <p:spPr/>
        <p:txBody>
          <a:bodyPr/>
          <a:lstStyle/>
          <a:p>
            <a:pPr defTabSz="756209"/>
            <a:fld id="{B6F15528-21DE-4FAA-801E-634DDDAF4B2B}" type="slidenum">
              <a:rPr lang="en-US" smtClean="0"/>
              <a:pPr defTabSz="756209"/>
              <a:t>12</a:t>
            </a:fld>
            <a:endParaRPr lang="en-US"/>
          </a:p>
        </p:txBody>
      </p:sp>
      <p:sp>
        <p:nvSpPr>
          <p:cNvPr id="7" name="TextBox 6">
            <a:extLst>
              <a:ext uri="{FF2B5EF4-FFF2-40B4-BE49-F238E27FC236}">
                <a16:creationId xmlns:a16="http://schemas.microsoft.com/office/drawing/2014/main" id="{AE1D7F2F-6D07-F467-3F8F-11192C753186}"/>
              </a:ext>
            </a:extLst>
          </p:cNvPr>
          <p:cNvSpPr txBox="1"/>
          <p:nvPr/>
        </p:nvSpPr>
        <p:spPr>
          <a:xfrm>
            <a:off x="504031" y="1710466"/>
            <a:ext cx="9382247" cy="2862322"/>
          </a:xfrm>
          <a:prstGeom prst="rect">
            <a:avLst/>
          </a:prstGeom>
          <a:noFill/>
        </p:spPr>
        <p:txBody>
          <a:bodyPr wrap="square" rtlCol="0">
            <a:spAutoFit/>
          </a:bodyPr>
          <a:lstStyle/>
          <a:p>
            <a:pPr marL="342900" indent="-342900" algn="just">
              <a:buAutoNum type="arabicPeriod"/>
            </a:pPr>
            <a:r>
              <a:rPr lang="en-US" sz="2000" b="1" dirty="0">
                <a:latin typeface="Times New Roman" panose="02020603050405020304" pitchFamily="18" charset="0"/>
                <a:cs typeface="Times New Roman" panose="02020603050405020304" pitchFamily="18" charset="0"/>
              </a:rPr>
              <a:t>Introduction Stage</a:t>
            </a:r>
            <a:r>
              <a:rPr lang="en-US" sz="2000" dirty="0">
                <a:latin typeface="Times New Roman" panose="02020603050405020304" pitchFamily="18" charset="0"/>
                <a:cs typeface="Times New Roman" panose="02020603050405020304" pitchFamily="18" charset="0"/>
              </a:rPr>
              <a:t>: As soon as a new product is created , an organization can carry out its production at any place in the world. </a:t>
            </a:r>
          </a:p>
          <a:p>
            <a:pPr marL="342900" indent="-342900" algn="just">
              <a:buAutoNum type="arabicPeriod"/>
            </a:pPr>
            <a:r>
              <a:rPr lang="en-US" sz="2000" b="1" dirty="0">
                <a:latin typeface="Times New Roman" panose="02020603050405020304" pitchFamily="18" charset="0"/>
                <a:cs typeface="Times New Roman" panose="02020603050405020304" pitchFamily="18" charset="0"/>
              </a:rPr>
              <a:t>Growth Stage: </a:t>
            </a:r>
            <a:r>
              <a:rPr lang="en-US" sz="2000" dirty="0">
                <a:latin typeface="Times New Roman" panose="02020603050405020304" pitchFamily="18" charset="0"/>
                <a:cs typeface="Times New Roman" panose="02020603050405020304" pitchFamily="18" charset="0"/>
              </a:rPr>
              <a:t>This stage the entrance of competitors and considerably high demands in overseas markets of developed countries.</a:t>
            </a:r>
          </a:p>
          <a:p>
            <a:pPr marL="342900" indent="-342900" algn="just">
              <a:buAutoNum type="arabicPeriod"/>
            </a:pPr>
            <a:r>
              <a:rPr lang="en-US" sz="2000" b="1" dirty="0">
                <a:latin typeface="Times New Roman" panose="02020603050405020304" pitchFamily="18" charset="0"/>
                <a:cs typeface="Times New Roman" panose="02020603050405020304" pitchFamily="18" charset="0"/>
              </a:rPr>
              <a:t>Maturity Stage: </a:t>
            </a:r>
            <a:r>
              <a:rPr lang="en-US" sz="2000" dirty="0">
                <a:latin typeface="Times New Roman" panose="02020603050405020304" pitchFamily="18" charset="0"/>
                <a:cs typeface="Times New Roman" panose="02020603050405020304" pitchFamily="18" charset="0"/>
              </a:rPr>
              <a:t>The Global demand tends to stabilize at this stage irrespective of the ups and down of demand in various countries.</a:t>
            </a:r>
          </a:p>
          <a:p>
            <a:pPr marL="342900" indent="-342900" algn="just">
              <a:buAutoNum type="arabicPeriod"/>
            </a:pPr>
            <a:r>
              <a:rPr lang="en-US" sz="2000" b="1" dirty="0">
                <a:latin typeface="Times New Roman" panose="02020603050405020304" pitchFamily="18" charset="0"/>
                <a:cs typeface="Times New Roman" panose="02020603050405020304" pitchFamily="18" charset="0"/>
              </a:rPr>
              <a:t>Decline Stage</a:t>
            </a:r>
            <a:r>
              <a:rPr lang="en-US" sz="2000" dirty="0">
                <a:latin typeface="Times New Roman" panose="02020603050405020304" pitchFamily="18" charset="0"/>
                <a:cs typeface="Times New Roman" panose="02020603050405020304" pitchFamily="18" charset="0"/>
              </a:rPr>
              <a:t>: In the last stage, decline the product loses its demand more rapidly in the developed countries as compared to developing countries due to the increased demand of wealthy consumers for new and improved products.</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5EC2A2F-FCCA-A3C7-E142-EA94702469A2}"/>
              </a:ext>
            </a:extLst>
          </p:cNvPr>
          <p:cNvPicPr>
            <a:picLocks noChangeAspect="1"/>
          </p:cNvPicPr>
          <p:nvPr/>
        </p:nvPicPr>
        <p:blipFill>
          <a:blip r:embed="rId2"/>
          <a:srcRect l="29917"/>
          <a:stretch>
            <a:fillRect/>
          </a:stretch>
        </p:blipFill>
        <p:spPr>
          <a:xfrm>
            <a:off x="2764716" y="4809359"/>
            <a:ext cx="4108364" cy="2079699"/>
          </a:xfrm>
          <a:prstGeom prst="rect">
            <a:avLst/>
          </a:prstGeom>
        </p:spPr>
      </p:pic>
    </p:spTree>
    <p:extLst>
      <p:ext uri="{BB962C8B-B14F-4D97-AF65-F5344CB8AC3E}">
        <p14:creationId xmlns:p14="http://schemas.microsoft.com/office/powerpoint/2010/main" val="3343575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B7965-DD40-CA2A-EBE8-5BAAA9135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DC0F5A8-309D-0E6B-FA20-8218469AB8E2}"/>
              </a:ext>
            </a:extLst>
          </p:cNvPr>
          <p:cNvSpPr>
            <a:spLocks noGrp="1"/>
          </p:cNvSpPr>
          <p:nvPr>
            <p:ph type="title"/>
          </p:nvPr>
        </p:nvSpPr>
        <p:spPr>
          <a:xfrm>
            <a:off x="1278308" y="150491"/>
            <a:ext cx="6654730" cy="820991"/>
          </a:xfrm>
        </p:spPr>
        <p:txBody>
          <a:bodyPr/>
          <a:lstStyle/>
          <a:p>
            <a:r>
              <a:rPr lang="en-US" sz="2800" b="1" dirty="0">
                <a:solidFill>
                  <a:schemeClr val="bg1"/>
                </a:solidFill>
              </a:rPr>
              <a:t>Product life cycle theory</a:t>
            </a:r>
            <a:endParaRPr lang="en-IN" sz="2800" b="1" dirty="0">
              <a:solidFill>
                <a:schemeClr val="bg1"/>
              </a:solidFill>
            </a:endParaRPr>
          </a:p>
        </p:txBody>
      </p:sp>
      <p:sp>
        <p:nvSpPr>
          <p:cNvPr id="3" name="Date Placeholder 2">
            <a:extLst>
              <a:ext uri="{FF2B5EF4-FFF2-40B4-BE49-F238E27FC236}">
                <a16:creationId xmlns:a16="http://schemas.microsoft.com/office/drawing/2014/main" id="{A43CFB64-209D-75AF-54EC-5A5D516BF2C0}"/>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DCC22C77-D789-2197-6336-6BA81D1225F3}"/>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505136E-FDEB-DFC9-0693-01B3D7393DB3}"/>
              </a:ext>
            </a:extLst>
          </p:cNvPr>
          <p:cNvSpPr>
            <a:spLocks noGrp="1"/>
          </p:cNvSpPr>
          <p:nvPr>
            <p:ph type="sldNum" sz="quarter" idx="12"/>
          </p:nvPr>
        </p:nvSpPr>
        <p:spPr/>
        <p:txBody>
          <a:bodyPr/>
          <a:lstStyle/>
          <a:p>
            <a:pPr defTabSz="756209"/>
            <a:fld id="{B6F15528-21DE-4FAA-801E-634DDDAF4B2B}" type="slidenum">
              <a:rPr lang="en-US" smtClean="0"/>
              <a:pPr defTabSz="756209"/>
              <a:t>13</a:t>
            </a:fld>
            <a:endParaRPr lang="en-US"/>
          </a:p>
        </p:txBody>
      </p:sp>
      <p:sp>
        <p:nvSpPr>
          <p:cNvPr id="2" name="TextBox 1">
            <a:extLst>
              <a:ext uri="{FF2B5EF4-FFF2-40B4-BE49-F238E27FC236}">
                <a16:creationId xmlns:a16="http://schemas.microsoft.com/office/drawing/2014/main" id="{E2F425C8-70AC-0196-9104-52D10BC28EA5}"/>
              </a:ext>
            </a:extLst>
          </p:cNvPr>
          <p:cNvSpPr txBox="1"/>
          <p:nvPr/>
        </p:nvSpPr>
        <p:spPr>
          <a:xfrm>
            <a:off x="645459" y="1925619"/>
            <a:ext cx="7939143" cy="1631216"/>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Advantages for Innovative Countries</a:t>
            </a:r>
          </a:p>
          <a:p>
            <a:pPr marL="342900" indent="-342900">
              <a:buAutoNum type="arabicPeriod"/>
            </a:pPr>
            <a:r>
              <a:rPr lang="en-US" sz="2500" dirty="0">
                <a:latin typeface="Times New Roman" panose="02020603050405020304" pitchFamily="18" charset="0"/>
                <a:cs typeface="Times New Roman" panose="02020603050405020304" pitchFamily="18" charset="0"/>
              </a:rPr>
              <a:t>Sustains Competitive Drive</a:t>
            </a:r>
          </a:p>
          <a:p>
            <a:pPr marL="342900" indent="-342900">
              <a:buAutoNum type="arabicPeriod"/>
            </a:pPr>
            <a:r>
              <a:rPr lang="en-US" sz="2500" dirty="0">
                <a:latin typeface="Times New Roman" panose="02020603050405020304" pitchFamily="18" charset="0"/>
                <a:cs typeface="Times New Roman" panose="02020603050405020304" pitchFamily="18" charset="0"/>
              </a:rPr>
              <a:t>Stimulate Trade</a:t>
            </a:r>
          </a:p>
          <a:p>
            <a:pPr marL="342900" indent="-342900">
              <a:buAutoNum type="arabicPeriod"/>
            </a:pPr>
            <a:r>
              <a:rPr lang="en-US" sz="2500" dirty="0">
                <a:latin typeface="Times New Roman" panose="02020603050405020304" pitchFamily="18" charset="0"/>
                <a:cs typeface="Times New Roman" panose="02020603050405020304" pitchFamily="18" charset="0"/>
              </a:rPr>
              <a:t>Enhance a Country’s Comparative Advantages</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742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CAE70-8536-0B74-A1EB-482C7DCC58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607B467-B63F-8BD4-A0DF-BC3C275EEF94}"/>
              </a:ext>
            </a:extLst>
          </p:cNvPr>
          <p:cNvSpPr>
            <a:spLocks noGrp="1"/>
          </p:cNvSpPr>
          <p:nvPr>
            <p:ph type="title"/>
          </p:nvPr>
        </p:nvSpPr>
        <p:spPr>
          <a:xfrm>
            <a:off x="1278308" y="150491"/>
            <a:ext cx="6654730" cy="820991"/>
          </a:xfrm>
        </p:spPr>
        <p:txBody>
          <a:bodyPr/>
          <a:lstStyle/>
          <a:p>
            <a:r>
              <a:rPr lang="en-US" sz="2800" b="1" dirty="0">
                <a:solidFill>
                  <a:schemeClr val="bg1"/>
                </a:solidFill>
              </a:rPr>
              <a:t>Global strategic rivalry theory,</a:t>
            </a:r>
            <a:endParaRPr lang="en-IN" sz="2800" b="1" dirty="0">
              <a:solidFill>
                <a:schemeClr val="bg1"/>
              </a:solidFill>
            </a:endParaRPr>
          </a:p>
        </p:txBody>
      </p:sp>
      <p:sp>
        <p:nvSpPr>
          <p:cNvPr id="3" name="Date Placeholder 2">
            <a:extLst>
              <a:ext uri="{FF2B5EF4-FFF2-40B4-BE49-F238E27FC236}">
                <a16:creationId xmlns:a16="http://schemas.microsoft.com/office/drawing/2014/main" id="{E28968EF-54A8-6550-7257-346AB27BEF96}"/>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A3C76370-84DE-2F4C-471D-97B064A1418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15DB3DE-1D43-33CD-8C53-000D22FEA735}"/>
              </a:ext>
            </a:extLst>
          </p:cNvPr>
          <p:cNvSpPr>
            <a:spLocks noGrp="1"/>
          </p:cNvSpPr>
          <p:nvPr>
            <p:ph type="sldNum" sz="quarter" idx="12"/>
          </p:nvPr>
        </p:nvSpPr>
        <p:spPr/>
        <p:txBody>
          <a:bodyPr/>
          <a:lstStyle/>
          <a:p>
            <a:pPr defTabSz="756209"/>
            <a:fld id="{B6F15528-21DE-4FAA-801E-634DDDAF4B2B}" type="slidenum">
              <a:rPr lang="en-US" smtClean="0"/>
              <a:pPr defTabSz="756209"/>
              <a:t>14</a:t>
            </a:fld>
            <a:endParaRPr lang="en-US"/>
          </a:p>
        </p:txBody>
      </p:sp>
      <p:sp>
        <p:nvSpPr>
          <p:cNvPr id="7" name="TextBox 6">
            <a:extLst>
              <a:ext uri="{FF2B5EF4-FFF2-40B4-BE49-F238E27FC236}">
                <a16:creationId xmlns:a16="http://schemas.microsoft.com/office/drawing/2014/main" id="{23DD9E97-37D7-EE4B-FF25-B87CF65E2163}"/>
              </a:ext>
            </a:extLst>
          </p:cNvPr>
          <p:cNvSpPr txBox="1"/>
          <p:nvPr/>
        </p:nvSpPr>
        <p:spPr>
          <a:xfrm>
            <a:off x="258893" y="1462646"/>
            <a:ext cx="9584354"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Global strategic rivalry theory, developed by Paul Krugman and Kelvin Lancaster, focuses on how multinational corporations (MNCs) compete internationally by using strategies to gain competitive advantages. This theory, emerging in the 1980s, emphasizes firm-level competition and the role of factors like R&amp;D, intellectual property, economies of scale, and market access in driving success in global markets.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97030E7-84BE-35B8-1F8F-D85DF5088806}"/>
              </a:ext>
            </a:extLst>
          </p:cNvPr>
          <p:cNvSpPr txBox="1"/>
          <p:nvPr/>
        </p:nvSpPr>
        <p:spPr>
          <a:xfrm>
            <a:off x="97173" y="3145383"/>
            <a:ext cx="9886278" cy="3477875"/>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Competitive Advantages:</a:t>
            </a:r>
          </a:p>
          <a:p>
            <a:pPr algn="just"/>
            <a:r>
              <a:rPr lang="en-US" sz="2000" b="1" dirty="0">
                <a:latin typeface="Times New Roman" panose="02020603050405020304" pitchFamily="18" charset="0"/>
                <a:cs typeface="Times New Roman" panose="02020603050405020304" pitchFamily="18" charset="0"/>
              </a:rPr>
              <a:t>R&amp;D: </a:t>
            </a:r>
            <a:r>
              <a:rPr lang="en-US" sz="2000" dirty="0">
                <a:latin typeface="Times New Roman" panose="02020603050405020304" pitchFamily="18" charset="0"/>
                <a:cs typeface="Times New Roman" panose="02020603050405020304" pitchFamily="18" charset="0"/>
              </a:rPr>
              <a:t>Investing heavily in research and development to innovate and create superior products or processes. </a:t>
            </a:r>
          </a:p>
          <a:p>
            <a:pPr algn="just"/>
            <a:r>
              <a:rPr lang="en-US" sz="2000" b="1" dirty="0">
                <a:latin typeface="Times New Roman" panose="02020603050405020304" pitchFamily="18" charset="0"/>
                <a:cs typeface="Times New Roman" panose="02020603050405020304" pitchFamily="18" charset="0"/>
              </a:rPr>
              <a:t>Intellectual Property (IP): </a:t>
            </a:r>
            <a:r>
              <a:rPr lang="en-US" sz="2000" dirty="0">
                <a:latin typeface="Times New Roman" panose="02020603050405020304" pitchFamily="18" charset="0"/>
                <a:cs typeface="Times New Roman" panose="02020603050405020304" pitchFamily="18" charset="0"/>
              </a:rPr>
              <a:t>Protecting intellectual property rights (patents, trademarks, etc.) to prevent imitation and maintain a competitive edge. </a:t>
            </a:r>
          </a:p>
          <a:p>
            <a:pPr algn="just"/>
            <a:r>
              <a:rPr lang="en-US" sz="2000" b="1" dirty="0">
                <a:latin typeface="Times New Roman" panose="02020603050405020304" pitchFamily="18" charset="0"/>
                <a:cs typeface="Times New Roman" panose="02020603050405020304" pitchFamily="18" charset="0"/>
              </a:rPr>
              <a:t>Economies of Scale</a:t>
            </a:r>
            <a:r>
              <a:rPr lang="en-US" sz="2000" dirty="0">
                <a:latin typeface="Times New Roman" panose="02020603050405020304" pitchFamily="18" charset="0"/>
                <a:cs typeface="Times New Roman" panose="02020603050405020304" pitchFamily="18" charset="0"/>
              </a:rPr>
              <a:t>: Achieving lower per-unit costs through large-scale production and distribution. </a:t>
            </a:r>
          </a:p>
          <a:p>
            <a:pPr algn="just"/>
            <a:r>
              <a:rPr lang="en-US" sz="2000" b="1" dirty="0">
                <a:latin typeface="Times New Roman" panose="02020603050405020304" pitchFamily="18" charset="0"/>
                <a:cs typeface="Times New Roman" panose="02020603050405020304" pitchFamily="18" charset="0"/>
              </a:rPr>
              <a:t>Experience Curve: </a:t>
            </a:r>
            <a:r>
              <a:rPr lang="en-US" sz="2000" dirty="0">
                <a:latin typeface="Times New Roman" panose="02020603050405020304" pitchFamily="18" charset="0"/>
                <a:cs typeface="Times New Roman" panose="02020603050405020304" pitchFamily="18" charset="0"/>
              </a:rPr>
              <a:t>Leveraging accumulated experience in production and operations to improve efficiency and reduce costs over time. </a:t>
            </a:r>
          </a:p>
          <a:p>
            <a:pPr algn="just"/>
            <a:r>
              <a:rPr lang="en-US" sz="2000" b="1" dirty="0">
                <a:latin typeface="Times New Roman" panose="02020603050405020304" pitchFamily="18" charset="0"/>
                <a:cs typeface="Times New Roman" panose="02020603050405020304" pitchFamily="18" charset="0"/>
              </a:rPr>
              <a:t>Market Access: </a:t>
            </a:r>
            <a:r>
              <a:rPr lang="en-US" sz="2000" dirty="0">
                <a:latin typeface="Times New Roman" panose="02020603050405020304" pitchFamily="18" charset="0"/>
                <a:cs typeface="Times New Roman" panose="02020603050405020304" pitchFamily="18" charset="0"/>
              </a:rPr>
              <a:t>Gaining favorable access to key markets through strategic alliances, distribution networks, or other means.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4172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88227-8290-F25F-AFD3-1D2E3B2B3CC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C56E08F-2C7A-FA8F-D364-8842F7BAA905}"/>
              </a:ext>
            </a:extLst>
          </p:cNvPr>
          <p:cNvSpPr>
            <a:spLocks noGrp="1"/>
          </p:cNvSpPr>
          <p:nvPr>
            <p:ph type="title"/>
          </p:nvPr>
        </p:nvSpPr>
        <p:spPr>
          <a:xfrm>
            <a:off x="1278308" y="150491"/>
            <a:ext cx="6654730" cy="820991"/>
          </a:xfrm>
        </p:spPr>
        <p:txBody>
          <a:bodyPr/>
          <a:lstStyle/>
          <a:p>
            <a:r>
              <a:rPr lang="en-US" sz="2800" b="1" dirty="0">
                <a:solidFill>
                  <a:schemeClr val="bg1"/>
                </a:solidFill>
              </a:rPr>
              <a:t>Porter’s National Competitive Advantage Theory.</a:t>
            </a:r>
            <a:endParaRPr lang="en-IN" sz="2800" b="1" dirty="0">
              <a:solidFill>
                <a:schemeClr val="bg1"/>
              </a:solidFill>
            </a:endParaRPr>
          </a:p>
        </p:txBody>
      </p:sp>
      <p:sp>
        <p:nvSpPr>
          <p:cNvPr id="3" name="Date Placeholder 2">
            <a:extLst>
              <a:ext uri="{FF2B5EF4-FFF2-40B4-BE49-F238E27FC236}">
                <a16:creationId xmlns:a16="http://schemas.microsoft.com/office/drawing/2014/main" id="{8AE85AE4-A555-EE10-F13D-16FA9F69EEB3}"/>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AF5E062B-C6CD-F07B-27B1-0179C1537056}"/>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5BFB1433-697B-E110-3950-95255D3A300D}"/>
              </a:ext>
            </a:extLst>
          </p:cNvPr>
          <p:cNvSpPr>
            <a:spLocks noGrp="1"/>
          </p:cNvSpPr>
          <p:nvPr>
            <p:ph type="sldNum" sz="quarter" idx="12"/>
          </p:nvPr>
        </p:nvSpPr>
        <p:spPr/>
        <p:txBody>
          <a:bodyPr/>
          <a:lstStyle/>
          <a:p>
            <a:pPr defTabSz="756209"/>
            <a:fld id="{B6F15528-21DE-4FAA-801E-634DDDAF4B2B}" type="slidenum">
              <a:rPr lang="en-US" smtClean="0"/>
              <a:pPr defTabSz="756209"/>
              <a:t>15</a:t>
            </a:fld>
            <a:endParaRPr lang="en-US"/>
          </a:p>
        </p:txBody>
      </p:sp>
      <p:pic>
        <p:nvPicPr>
          <p:cNvPr id="2" name="Picture 1">
            <a:extLst>
              <a:ext uri="{FF2B5EF4-FFF2-40B4-BE49-F238E27FC236}">
                <a16:creationId xmlns:a16="http://schemas.microsoft.com/office/drawing/2014/main" id="{901FE4E0-A68C-71B9-2D34-827D5E8F618F}"/>
              </a:ext>
            </a:extLst>
          </p:cNvPr>
          <p:cNvPicPr>
            <a:picLocks noChangeAspect="1"/>
          </p:cNvPicPr>
          <p:nvPr/>
        </p:nvPicPr>
        <p:blipFill>
          <a:blip r:embed="rId2"/>
          <a:stretch>
            <a:fillRect/>
          </a:stretch>
        </p:blipFill>
        <p:spPr>
          <a:xfrm>
            <a:off x="4515334" y="1625508"/>
            <a:ext cx="5418229" cy="3700364"/>
          </a:xfrm>
          <a:prstGeom prst="rect">
            <a:avLst/>
          </a:prstGeom>
        </p:spPr>
      </p:pic>
      <p:sp>
        <p:nvSpPr>
          <p:cNvPr id="8" name="TextBox 7">
            <a:extLst>
              <a:ext uri="{FF2B5EF4-FFF2-40B4-BE49-F238E27FC236}">
                <a16:creationId xmlns:a16="http://schemas.microsoft.com/office/drawing/2014/main" id="{ABAF1FB0-42BA-6992-58DE-480BC0B5D10C}"/>
              </a:ext>
            </a:extLst>
          </p:cNvPr>
          <p:cNvSpPr txBox="1"/>
          <p:nvPr/>
        </p:nvSpPr>
        <p:spPr>
          <a:xfrm>
            <a:off x="0" y="1540650"/>
            <a:ext cx="4216998" cy="440120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Porter's National Competitive Advantage theory, also known as the Diamond Model, explains why some nations are more competitive than others in specific industries. It proposes that a nation's competitive advantage stems from four interrelated factors: Factor Conditions, Demand Conditions, Related and Supporting Industries, and Firm Strategy, Structure, and Rivalry. These factors, interacting as a "diamond," create a unique environment that fosters innovation and competitiveness.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607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B6B94-AE9F-C931-055D-2404990C10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30A70A-0737-0FD8-A548-67B382B9D3DB}"/>
              </a:ext>
            </a:extLst>
          </p:cNvPr>
          <p:cNvSpPr>
            <a:spLocks noGrp="1"/>
          </p:cNvSpPr>
          <p:nvPr>
            <p:ph type="title"/>
          </p:nvPr>
        </p:nvSpPr>
        <p:spPr>
          <a:xfrm>
            <a:off x="1278308" y="150491"/>
            <a:ext cx="6654730" cy="820991"/>
          </a:xfrm>
        </p:spPr>
        <p:txBody>
          <a:bodyPr/>
          <a:lstStyle/>
          <a:p>
            <a:r>
              <a:rPr lang="en-US" sz="2800" b="1" dirty="0">
                <a:solidFill>
                  <a:schemeClr val="bg1"/>
                </a:solidFill>
              </a:rPr>
              <a:t>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B9EE05A9-1233-0A33-E600-4F31D173C711}"/>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C9E0F2F0-8FBB-CF6B-8065-F0BAA3F4423A}"/>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2F81ACC7-D761-0AC5-B389-49B51A87340C}"/>
              </a:ext>
            </a:extLst>
          </p:cNvPr>
          <p:cNvSpPr>
            <a:spLocks noGrp="1"/>
          </p:cNvSpPr>
          <p:nvPr>
            <p:ph type="sldNum" sz="quarter" idx="12"/>
          </p:nvPr>
        </p:nvSpPr>
        <p:spPr/>
        <p:txBody>
          <a:bodyPr/>
          <a:lstStyle/>
          <a:p>
            <a:pPr defTabSz="756209"/>
            <a:fld id="{B6F15528-21DE-4FAA-801E-634DDDAF4B2B}" type="slidenum">
              <a:rPr lang="en-US" smtClean="0"/>
              <a:pPr defTabSz="756209"/>
              <a:t>16</a:t>
            </a:fld>
            <a:endParaRPr lang="en-US"/>
          </a:p>
        </p:txBody>
      </p:sp>
      <p:sp>
        <p:nvSpPr>
          <p:cNvPr id="7" name="TextBox 6">
            <a:extLst>
              <a:ext uri="{FF2B5EF4-FFF2-40B4-BE49-F238E27FC236}">
                <a16:creationId xmlns:a16="http://schemas.microsoft.com/office/drawing/2014/main" id="{EE811641-14D1-C0E1-79CB-20F9C5F10724}"/>
              </a:ext>
            </a:extLst>
          </p:cNvPr>
          <p:cNvSpPr txBox="1"/>
          <p:nvPr/>
        </p:nvSpPr>
        <p:spPr>
          <a:xfrm>
            <a:off x="167097" y="1374390"/>
            <a:ext cx="9746429" cy="5016758"/>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Here's a breakdown of the four factors:</a:t>
            </a:r>
          </a:p>
          <a:p>
            <a:pPr algn="just"/>
            <a:r>
              <a:rPr lang="en-US" sz="2000" b="1" dirty="0">
                <a:latin typeface="Times New Roman" panose="02020603050405020304" pitchFamily="18" charset="0"/>
                <a:cs typeface="Times New Roman" panose="02020603050405020304" pitchFamily="18" charset="0"/>
              </a:rPr>
              <a:t>1. Factor Conditions: </a:t>
            </a:r>
            <a:r>
              <a:rPr lang="en-US" sz="2000" dirty="0">
                <a:latin typeface="Times New Roman" panose="02020603050405020304" pitchFamily="18" charset="0"/>
                <a:cs typeface="Times New Roman" panose="02020603050405020304" pitchFamily="18" charset="0"/>
              </a:rPr>
              <a:t>This refers to a nation's resources, including both basic (e.g., natural resources, climate, location) and advanced factors (e.g., skilled labor, infrastructure, technology). Porter emphasizes that a nation doesn't just inherit these factors; it actively creates them through investment in education, research, and infrastructure. </a:t>
            </a:r>
          </a:p>
          <a:p>
            <a:pPr algn="just"/>
            <a:r>
              <a:rPr lang="en-US" sz="2000" b="1" dirty="0">
                <a:latin typeface="Times New Roman" panose="02020603050405020304" pitchFamily="18" charset="0"/>
                <a:cs typeface="Times New Roman" panose="02020603050405020304" pitchFamily="18" charset="0"/>
              </a:rPr>
              <a:t>2. Demand Conditions: </a:t>
            </a:r>
            <a:r>
              <a:rPr lang="en-US" sz="2000" dirty="0">
                <a:latin typeface="Times New Roman" panose="02020603050405020304" pitchFamily="18" charset="0"/>
                <a:cs typeface="Times New Roman" panose="02020603050405020304" pitchFamily="18" charset="0"/>
              </a:rPr>
              <a:t>This factor focuses on the nature and sophistication of domestic demand. A nation's competitive advantage can be enhanced when domestic customers demand high-quality, innovative products and services, pushing companies to improve and innovate to meet those needs. </a:t>
            </a:r>
          </a:p>
          <a:p>
            <a:pPr algn="just"/>
            <a:r>
              <a:rPr lang="en-US" sz="2000" b="1" dirty="0">
                <a:latin typeface="Times New Roman" panose="02020603050405020304" pitchFamily="18" charset="0"/>
                <a:cs typeface="Times New Roman" panose="02020603050405020304" pitchFamily="18" charset="0"/>
              </a:rPr>
              <a:t>3. Related and Supporting Industries: </a:t>
            </a:r>
            <a:r>
              <a:rPr lang="en-US" sz="2000" dirty="0">
                <a:latin typeface="Times New Roman" panose="02020603050405020304" pitchFamily="18" charset="0"/>
                <a:cs typeface="Times New Roman" panose="02020603050405020304" pitchFamily="18" charset="0"/>
              </a:rPr>
              <a:t>The presence of strong, internationally competitive related and supporting industries within a nation provides crucial inputs, information, and a competitive environment that fosters innovation and efficiency. </a:t>
            </a:r>
          </a:p>
          <a:p>
            <a:pPr algn="just"/>
            <a:r>
              <a:rPr lang="en-US" sz="2000" b="1" dirty="0">
                <a:latin typeface="Times New Roman" panose="02020603050405020304" pitchFamily="18" charset="0"/>
                <a:cs typeface="Times New Roman" panose="02020603050405020304" pitchFamily="18" charset="0"/>
              </a:rPr>
              <a:t>4. Firm Strategy, Structure, and Rivalry: </a:t>
            </a:r>
            <a:r>
              <a:rPr lang="en-US" sz="2000" dirty="0">
                <a:latin typeface="Times New Roman" panose="02020603050405020304" pitchFamily="18" charset="0"/>
                <a:cs typeface="Times New Roman" panose="02020603050405020304" pitchFamily="18" charset="0"/>
              </a:rPr>
              <a:t>The way companies are created, organized, and managed, as well as the intensity of domestic rivalry, significantly impacts a nation's competitiveness. Intense competition among domestic firms pushes them to innovate and improve, leading to a stronger competitive position globally.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941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CE7D-E5C1-3180-912A-1143FA96A65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9C10D25-34A0-B69B-10C3-6605F1C18507}"/>
              </a:ext>
            </a:extLst>
          </p:cNvPr>
          <p:cNvSpPr>
            <a:spLocks noGrp="1"/>
          </p:cNvSpPr>
          <p:nvPr>
            <p:ph type="title"/>
          </p:nvPr>
        </p:nvSpPr>
        <p:spPr>
          <a:xfrm>
            <a:off x="1278308" y="150491"/>
            <a:ext cx="6654730" cy="820991"/>
          </a:xfrm>
        </p:spPr>
        <p:txBody>
          <a:bodyPr/>
          <a:lstStyle/>
          <a:p>
            <a:endParaRPr lang="en-IN" sz="2800" b="1" dirty="0">
              <a:solidFill>
                <a:schemeClr val="bg1"/>
              </a:solidFill>
            </a:endParaRPr>
          </a:p>
        </p:txBody>
      </p:sp>
      <p:sp>
        <p:nvSpPr>
          <p:cNvPr id="3" name="Date Placeholder 2">
            <a:extLst>
              <a:ext uri="{FF2B5EF4-FFF2-40B4-BE49-F238E27FC236}">
                <a16:creationId xmlns:a16="http://schemas.microsoft.com/office/drawing/2014/main" id="{6CA00F89-9986-BDA4-91ED-F76EBA7AEAB1}"/>
              </a:ext>
            </a:extLst>
          </p:cNvPr>
          <p:cNvSpPr>
            <a:spLocks noGrp="1"/>
          </p:cNvSpPr>
          <p:nvPr>
            <p:ph type="dt" sz="half" idx="10"/>
          </p:nvPr>
        </p:nvSpPr>
        <p:spPr/>
        <p:txBody>
          <a:bodyPr/>
          <a:lstStyle/>
          <a:p>
            <a:pPr defTabSz="756209"/>
            <a:fld id="{59C3BFA6-9BB1-4BCB-AB07-9D84C6CDAA70}" type="datetime3">
              <a:rPr lang="en-US" smtClean="0"/>
              <a:t>11 August 2025</a:t>
            </a:fld>
            <a:endParaRPr lang="en-US"/>
          </a:p>
        </p:txBody>
      </p:sp>
      <p:sp>
        <p:nvSpPr>
          <p:cNvPr id="5" name="Footer Placeholder 4">
            <a:extLst>
              <a:ext uri="{FF2B5EF4-FFF2-40B4-BE49-F238E27FC236}">
                <a16:creationId xmlns:a16="http://schemas.microsoft.com/office/drawing/2014/main" id="{D01B1F22-402C-206E-7100-2EE5B5EB0249}"/>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CC5E32D2-0365-5BFF-B430-D4CB80C981B4}"/>
              </a:ext>
            </a:extLst>
          </p:cNvPr>
          <p:cNvSpPr>
            <a:spLocks noGrp="1"/>
          </p:cNvSpPr>
          <p:nvPr>
            <p:ph type="sldNum" sz="quarter" idx="12"/>
          </p:nvPr>
        </p:nvSpPr>
        <p:spPr/>
        <p:txBody>
          <a:bodyPr/>
          <a:lstStyle/>
          <a:p>
            <a:pPr defTabSz="756209"/>
            <a:fld id="{B6F15528-21DE-4FAA-801E-634DDDAF4B2B}" type="slidenum">
              <a:rPr lang="en-US" smtClean="0"/>
              <a:pPr defTabSz="756209"/>
              <a:t>17</a:t>
            </a:fld>
            <a:endParaRPr lang="en-US"/>
          </a:p>
        </p:txBody>
      </p:sp>
      <p:sp>
        <p:nvSpPr>
          <p:cNvPr id="2" name="TextBox 1">
            <a:extLst>
              <a:ext uri="{FF2B5EF4-FFF2-40B4-BE49-F238E27FC236}">
                <a16:creationId xmlns:a16="http://schemas.microsoft.com/office/drawing/2014/main" id="{5A541964-E8A2-CBFB-691B-F1E37CCC44F0}"/>
              </a:ext>
            </a:extLst>
          </p:cNvPr>
          <p:cNvSpPr txBox="1"/>
          <p:nvPr/>
        </p:nvSpPr>
        <p:spPr>
          <a:xfrm>
            <a:off x="1979407" y="1990165"/>
            <a:ext cx="4991548" cy="369332"/>
          </a:xfrm>
          <a:prstGeom prst="rect">
            <a:avLst/>
          </a:prstGeom>
          <a:noFill/>
        </p:spPr>
        <p:txBody>
          <a:bodyPr wrap="square" rtlCol="0">
            <a:spAutoFit/>
          </a:bodyPr>
          <a:lstStyle/>
          <a:p>
            <a:pPr algn="ctr"/>
            <a:r>
              <a:rPr lang="en-US" b="1" u="sng" dirty="0"/>
              <a:t>Thank You</a:t>
            </a:r>
            <a:endParaRPr lang="en-IN" b="1" u="sng" dirty="0"/>
          </a:p>
        </p:txBody>
      </p:sp>
    </p:spTree>
    <p:extLst>
      <p:ext uri="{BB962C8B-B14F-4D97-AF65-F5344CB8AC3E}">
        <p14:creationId xmlns:p14="http://schemas.microsoft.com/office/powerpoint/2010/main" val="299729196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2694</TotalTime>
  <Words>1724</Words>
  <Application>Microsoft Office PowerPoint</Application>
  <PresentationFormat>Custom</PresentationFormat>
  <Paragraphs>150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Book Antiqua</vt:lpstr>
      <vt:lpstr>Calibri</vt:lpstr>
      <vt:lpstr>Cambria</vt:lpstr>
      <vt:lpstr>Times New Roman</vt:lpstr>
      <vt:lpstr>Times New Roman</vt:lpstr>
      <vt:lpstr>1_Office Theme</vt:lpstr>
      <vt:lpstr>International Business 22MBA401</vt:lpstr>
      <vt:lpstr>Module-3 (7Hours)   Theories of International Business: Introduction, Mercantilism, Theory of absolute cost advantage, Comparative cost advantage theory, Comparative cost advantage with money, Relative factor endowment theory, Product life cycle theory, Global strategic rivalry theory, Porter’s National Competitive Advantage Theory.</vt:lpstr>
      <vt:lpstr>Theories of International Business: Introduction,</vt:lpstr>
      <vt:lpstr>Types of International Trade Theories</vt:lpstr>
      <vt:lpstr>Mercantilism</vt:lpstr>
      <vt:lpstr>Mercantilism</vt:lpstr>
      <vt:lpstr>Theory of absolute cost advantage</vt:lpstr>
      <vt:lpstr>Comparative cost advantage theory</vt:lpstr>
      <vt:lpstr>Comparative cost advantage with money</vt:lpstr>
      <vt:lpstr>Relative factor endowment theory</vt:lpstr>
      <vt:lpstr>Product life cycle theory</vt:lpstr>
      <vt:lpstr>Product life cycle theory</vt:lpstr>
      <vt:lpstr>Product life cycle theory</vt:lpstr>
      <vt:lpstr>Global strategic rivalry theory,</vt:lpstr>
      <vt:lpstr>Porter’s National Competitive Advantage Theory.</vt:lpstr>
      <vt:lpstr>International Business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&amp; Benefits  18MBAHR303</dc:title>
  <dc:creator>Reena</dc:creator>
  <cp:lastModifiedBy>Dell</cp:lastModifiedBy>
  <cp:revision>274</cp:revision>
  <dcterms:modified xsi:type="dcterms:W3CDTF">2025-08-11T09:26:57Z</dcterms:modified>
</cp:coreProperties>
</file>