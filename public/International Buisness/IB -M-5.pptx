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Lst>
  <p:notesMasterIdLst>
    <p:notesMasterId r:id="rId18"/>
  </p:notesMasterIdLst>
  <p:sldIdLst>
    <p:sldId id="283" r:id="rId2"/>
    <p:sldId id="285" r:id="rId3"/>
    <p:sldId id="286" r:id="rId4"/>
    <p:sldId id="324" r:id="rId5"/>
    <p:sldId id="325" r:id="rId6"/>
    <p:sldId id="326" r:id="rId7"/>
    <p:sldId id="327" r:id="rId8"/>
    <p:sldId id="328" r:id="rId9"/>
    <p:sldId id="329" r:id="rId10"/>
    <p:sldId id="339" r:id="rId11"/>
    <p:sldId id="340" r:id="rId12"/>
    <p:sldId id="330" r:id="rId13"/>
    <p:sldId id="331" r:id="rId14"/>
    <p:sldId id="341" r:id="rId15"/>
    <p:sldId id="332" r:id="rId16"/>
    <p:sldId id="323" r:id="rId17"/>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0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92" autoAdjust="0"/>
    <p:restoredTop sz="94660"/>
  </p:normalViewPr>
  <p:slideViewPr>
    <p:cSldViewPr snapToGrid="0">
      <p:cViewPr varScale="1">
        <p:scale>
          <a:sx n="71" d="100"/>
          <a:sy n="71" d="100"/>
        </p:scale>
        <p:origin x="1397" y="53"/>
      </p:cViewPr>
      <p:guideLst>
        <p:guide orient="horz" pos="2381"/>
        <p:guide pos="317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V Reena Williams" userId="bee68a21f81384c9" providerId="LiveId" clId="{5A7C177A-5150-4342-8510-C0E7CC4F9630}"/>
    <pc:docChg chg="undo custSel addSld delSld modSld">
      <pc:chgData name="Dr. V Reena Williams" userId="bee68a21f81384c9" providerId="LiveId" clId="{5A7C177A-5150-4342-8510-C0E7CC4F9630}" dt="2021-09-06T08:56:15.979" v="117" actId="1076"/>
      <pc:docMkLst>
        <pc:docMk/>
      </pc:docMkLst>
      <pc:sldChg chg="modSp mod">
        <pc:chgData name="Dr. V Reena Williams" userId="bee68a21f81384c9" providerId="LiveId" clId="{5A7C177A-5150-4342-8510-C0E7CC4F9630}" dt="2021-09-06T08:50:06.960" v="2" actId="120"/>
        <pc:sldMkLst>
          <pc:docMk/>
          <pc:sldMk cId="789510717" sldId="285"/>
        </pc:sldMkLst>
        <pc:spChg chg="mod">
          <ac:chgData name="Dr. V Reena Williams" userId="bee68a21f81384c9" providerId="LiveId" clId="{5A7C177A-5150-4342-8510-C0E7CC4F9630}" dt="2021-09-06T08:50:06.960" v="2" actId="120"/>
          <ac:spMkLst>
            <pc:docMk/>
            <pc:sldMk cId="789510717" sldId="285"/>
            <ac:spMk id="2" creationId="{00000000-0000-0000-0000-000000000000}"/>
          </ac:spMkLst>
        </pc:spChg>
      </pc:sldChg>
      <pc:sldChg chg="modSp mod">
        <pc:chgData name="Dr. V Reena Williams" userId="bee68a21f81384c9" providerId="LiveId" clId="{5A7C177A-5150-4342-8510-C0E7CC4F9630}" dt="2021-09-06T08:50:17.060" v="4" actId="120"/>
        <pc:sldMkLst>
          <pc:docMk/>
          <pc:sldMk cId="3519521770" sldId="326"/>
        </pc:sldMkLst>
        <pc:spChg chg="mod">
          <ac:chgData name="Dr. V Reena Williams" userId="bee68a21f81384c9" providerId="LiveId" clId="{5A7C177A-5150-4342-8510-C0E7CC4F9630}" dt="2021-09-06T08:50:17.060" v="4" actId="120"/>
          <ac:spMkLst>
            <pc:docMk/>
            <pc:sldMk cId="3519521770" sldId="326"/>
            <ac:spMk id="2" creationId="{00000000-0000-0000-0000-000000000000}"/>
          </ac:spMkLst>
        </pc:spChg>
      </pc:sldChg>
      <pc:sldChg chg="modSp mod">
        <pc:chgData name="Dr. V Reena Williams" userId="bee68a21f81384c9" providerId="LiveId" clId="{5A7C177A-5150-4342-8510-C0E7CC4F9630}" dt="2021-09-06T08:50:27.517" v="7" actId="20577"/>
        <pc:sldMkLst>
          <pc:docMk/>
          <pc:sldMk cId="1470130169" sldId="327"/>
        </pc:sldMkLst>
        <pc:spChg chg="mod">
          <ac:chgData name="Dr. V Reena Williams" userId="bee68a21f81384c9" providerId="LiveId" clId="{5A7C177A-5150-4342-8510-C0E7CC4F9630}" dt="2021-09-06T08:50:27.517" v="7" actId="20577"/>
          <ac:spMkLst>
            <pc:docMk/>
            <pc:sldMk cId="1470130169" sldId="327"/>
            <ac:spMk id="2" creationId="{00000000-0000-0000-0000-000000000000}"/>
          </ac:spMkLst>
        </pc:spChg>
      </pc:sldChg>
      <pc:sldChg chg="modSp mod">
        <pc:chgData name="Dr. V Reena Williams" userId="bee68a21f81384c9" providerId="LiveId" clId="{5A7C177A-5150-4342-8510-C0E7CC4F9630}" dt="2021-09-06T08:50:39.872" v="12" actId="20577"/>
        <pc:sldMkLst>
          <pc:docMk/>
          <pc:sldMk cId="2501665032" sldId="328"/>
        </pc:sldMkLst>
        <pc:spChg chg="mod">
          <ac:chgData name="Dr. V Reena Williams" userId="bee68a21f81384c9" providerId="LiveId" clId="{5A7C177A-5150-4342-8510-C0E7CC4F9630}" dt="2021-09-06T08:50:39.872" v="12" actId="20577"/>
          <ac:spMkLst>
            <pc:docMk/>
            <pc:sldMk cId="2501665032" sldId="328"/>
            <ac:spMk id="2" creationId="{00000000-0000-0000-0000-000000000000}"/>
          </ac:spMkLst>
        </pc:spChg>
      </pc:sldChg>
      <pc:sldChg chg="modSp mod">
        <pc:chgData name="Dr. V Reena Williams" userId="bee68a21f81384c9" providerId="LiveId" clId="{5A7C177A-5150-4342-8510-C0E7CC4F9630}" dt="2021-09-06T08:50:51.224" v="15" actId="20577"/>
        <pc:sldMkLst>
          <pc:docMk/>
          <pc:sldMk cId="490069653" sldId="329"/>
        </pc:sldMkLst>
        <pc:spChg chg="mod">
          <ac:chgData name="Dr. V Reena Williams" userId="bee68a21f81384c9" providerId="LiveId" clId="{5A7C177A-5150-4342-8510-C0E7CC4F9630}" dt="2021-09-06T08:50:51.224" v="15" actId="20577"/>
          <ac:spMkLst>
            <pc:docMk/>
            <pc:sldMk cId="490069653" sldId="329"/>
            <ac:spMk id="2" creationId="{00000000-0000-0000-0000-000000000000}"/>
          </ac:spMkLst>
        </pc:spChg>
      </pc:sldChg>
      <pc:sldChg chg="modSp mod">
        <pc:chgData name="Dr. V Reena Williams" userId="bee68a21f81384c9" providerId="LiveId" clId="{5A7C177A-5150-4342-8510-C0E7CC4F9630}" dt="2021-09-06T08:51:00.726" v="18" actId="20577"/>
        <pc:sldMkLst>
          <pc:docMk/>
          <pc:sldMk cId="1122302786" sldId="330"/>
        </pc:sldMkLst>
        <pc:spChg chg="mod">
          <ac:chgData name="Dr. V Reena Williams" userId="bee68a21f81384c9" providerId="LiveId" clId="{5A7C177A-5150-4342-8510-C0E7CC4F9630}" dt="2021-09-06T08:51:00.726" v="18" actId="20577"/>
          <ac:spMkLst>
            <pc:docMk/>
            <pc:sldMk cId="1122302786" sldId="330"/>
            <ac:spMk id="2" creationId="{00000000-0000-0000-0000-000000000000}"/>
          </ac:spMkLst>
        </pc:spChg>
      </pc:sldChg>
      <pc:sldChg chg="addSp modSp new mod chgLayout">
        <pc:chgData name="Dr. V Reena Williams" userId="bee68a21f81384c9" providerId="LiveId" clId="{5A7C177A-5150-4342-8510-C0E7CC4F9630}" dt="2021-09-06T08:56:15.979" v="117" actId="1076"/>
        <pc:sldMkLst>
          <pc:docMk/>
          <pc:sldMk cId="3729964599" sldId="331"/>
        </pc:sldMkLst>
        <pc:spChg chg="mod ord">
          <ac:chgData name="Dr. V Reena Williams" userId="bee68a21f81384c9" providerId="LiveId" clId="{5A7C177A-5150-4342-8510-C0E7CC4F9630}" dt="2021-09-06T08:56:15.979" v="117" actId="1076"/>
          <ac:spMkLst>
            <pc:docMk/>
            <pc:sldMk cId="3729964599" sldId="331"/>
            <ac:spMk id="2" creationId="{021B484D-DF85-4A81-AC62-2227D1C91310}"/>
          </ac:spMkLst>
        </pc:spChg>
        <pc:spChg chg="mod ord">
          <ac:chgData name="Dr. V Reena Williams" userId="bee68a21f81384c9" providerId="LiveId" clId="{5A7C177A-5150-4342-8510-C0E7CC4F9630}" dt="2021-09-06T08:52:05.623" v="35" actId="700"/>
          <ac:spMkLst>
            <pc:docMk/>
            <pc:sldMk cId="3729964599" sldId="331"/>
            <ac:spMk id="3" creationId="{93FE3E18-4DB2-4A88-A31B-084338076549}"/>
          </ac:spMkLst>
        </pc:spChg>
        <pc:spChg chg="mod ord">
          <ac:chgData name="Dr. V Reena Williams" userId="bee68a21f81384c9" providerId="LiveId" clId="{5A7C177A-5150-4342-8510-C0E7CC4F9630}" dt="2021-09-06T08:52:05.623" v="35" actId="700"/>
          <ac:spMkLst>
            <pc:docMk/>
            <pc:sldMk cId="3729964599" sldId="331"/>
            <ac:spMk id="4" creationId="{56330826-16A6-404A-AB4F-BA73D0D91BC6}"/>
          </ac:spMkLst>
        </pc:spChg>
        <pc:spChg chg="mod ord">
          <ac:chgData name="Dr. V Reena Williams" userId="bee68a21f81384c9" providerId="LiveId" clId="{5A7C177A-5150-4342-8510-C0E7CC4F9630}" dt="2021-09-06T08:52:05.623" v="35" actId="700"/>
          <ac:spMkLst>
            <pc:docMk/>
            <pc:sldMk cId="3729964599" sldId="331"/>
            <ac:spMk id="5" creationId="{38C0206A-9FB2-4677-8B17-F163FD15D65E}"/>
          </ac:spMkLst>
        </pc:spChg>
        <pc:spChg chg="add mod">
          <ac:chgData name="Dr. V Reena Williams" userId="bee68a21f81384c9" providerId="LiveId" clId="{5A7C177A-5150-4342-8510-C0E7CC4F9630}" dt="2021-09-06T08:55:55.716" v="101" actId="113"/>
          <ac:spMkLst>
            <pc:docMk/>
            <pc:sldMk cId="3729964599" sldId="331"/>
            <ac:spMk id="6" creationId="{C9DAD70E-71E0-45F2-8997-5F9577497395}"/>
          </ac:spMkLst>
        </pc:spChg>
      </pc:sldChg>
      <pc:sldChg chg="new del">
        <pc:chgData name="Dr. V Reena Williams" userId="bee68a21f81384c9" providerId="LiveId" clId="{5A7C177A-5150-4342-8510-C0E7CC4F9630}" dt="2021-09-06T08:55:13.118" v="86" actId="680"/>
        <pc:sldMkLst>
          <pc:docMk/>
          <pc:sldMk cId="313788060" sldId="33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D38F4C-9785-4FA4-B30E-B4C28F0A21EF}" type="doc">
      <dgm:prSet loTypeId="urn:microsoft.com/office/officeart/2005/8/layout/radial3" loCatId="relationship" qsTypeId="urn:microsoft.com/office/officeart/2005/8/quickstyle/simple1" qsCatId="simple" csTypeId="urn:microsoft.com/office/officeart/2005/8/colors/accent1_2" csCatId="accent1"/>
      <dgm:spPr/>
      <dgm:t>
        <a:bodyPr/>
        <a:lstStyle/>
        <a:p>
          <a:endParaRPr lang="en-IN"/>
        </a:p>
      </dgm:t>
    </dgm:pt>
    <dgm:pt modelId="{59FD92C7-CCF9-41E1-BDE0-9BA4B98CF05D}">
      <dgm:prSet/>
      <dgm:spPr/>
      <dgm:t>
        <a:bodyPr/>
        <a:lstStyle/>
        <a:p>
          <a:r>
            <a:rPr lang="en-US" b="1" u="sng" dirty="0"/>
            <a:t>Organization Structures</a:t>
          </a:r>
          <a:endParaRPr lang="en-IN" dirty="0"/>
        </a:p>
      </dgm:t>
    </dgm:pt>
    <dgm:pt modelId="{F8A71FCA-5AA8-4538-955A-0E79C4BF25C9}" type="parTrans" cxnId="{92C32B2B-8A75-42C1-802A-78ACCFD1E782}">
      <dgm:prSet/>
      <dgm:spPr/>
      <dgm:t>
        <a:bodyPr/>
        <a:lstStyle/>
        <a:p>
          <a:endParaRPr lang="en-IN"/>
        </a:p>
      </dgm:t>
    </dgm:pt>
    <dgm:pt modelId="{DF0F665D-6563-4A38-B326-D53CFD505EA5}" type="sibTrans" cxnId="{92C32B2B-8A75-42C1-802A-78ACCFD1E782}">
      <dgm:prSet/>
      <dgm:spPr/>
      <dgm:t>
        <a:bodyPr/>
        <a:lstStyle/>
        <a:p>
          <a:endParaRPr lang="en-IN"/>
        </a:p>
      </dgm:t>
    </dgm:pt>
    <dgm:pt modelId="{64C178EC-A458-4D8D-B968-1D570A702E63}">
      <dgm:prSet/>
      <dgm:spPr/>
      <dgm:t>
        <a:bodyPr/>
        <a:lstStyle/>
        <a:p>
          <a:r>
            <a:rPr lang="en-US"/>
            <a:t>International Divisions Structure</a:t>
          </a:r>
          <a:endParaRPr lang="en-IN"/>
        </a:p>
      </dgm:t>
    </dgm:pt>
    <dgm:pt modelId="{6B8C0F3D-CD53-4027-9EA5-80D79A27E179}" type="parTrans" cxnId="{30EDDB9E-0F01-4934-87F5-E4D6F6B1D515}">
      <dgm:prSet/>
      <dgm:spPr/>
      <dgm:t>
        <a:bodyPr/>
        <a:lstStyle/>
        <a:p>
          <a:endParaRPr lang="en-IN"/>
        </a:p>
      </dgm:t>
    </dgm:pt>
    <dgm:pt modelId="{A88C0F59-0244-452F-B07A-376D18543E29}" type="sibTrans" cxnId="{30EDDB9E-0F01-4934-87F5-E4D6F6B1D515}">
      <dgm:prSet/>
      <dgm:spPr/>
      <dgm:t>
        <a:bodyPr/>
        <a:lstStyle/>
        <a:p>
          <a:endParaRPr lang="en-IN"/>
        </a:p>
      </dgm:t>
    </dgm:pt>
    <dgm:pt modelId="{7BA4385B-503D-4882-B949-96CA5E6F3136}">
      <dgm:prSet/>
      <dgm:spPr/>
      <dgm:t>
        <a:bodyPr/>
        <a:lstStyle/>
        <a:p>
          <a:r>
            <a:rPr lang="en-US"/>
            <a:t>Functional Divisions Structure</a:t>
          </a:r>
          <a:endParaRPr lang="en-IN"/>
        </a:p>
      </dgm:t>
    </dgm:pt>
    <dgm:pt modelId="{C1C6B7D5-B560-4BA2-9B72-4B161966731E}" type="parTrans" cxnId="{0B2A8896-FECF-4AFA-99CC-1954329EA08B}">
      <dgm:prSet/>
      <dgm:spPr/>
      <dgm:t>
        <a:bodyPr/>
        <a:lstStyle/>
        <a:p>
          <a:endParaRPr lang="en-IN"/>
        </a:p>
      </dgm:t>
    </dgm:pt>
    <dgm:pt modelId="{87E9C52A-643B-45CE-80E3-E4AA2B7EA5DF}" type="sibTrans" cxnId="{0B2A8896-FECF-4AFA-99CC-1954329EA08B}">
      <dgm:prSet/>
      <dgm:spPr/>
      <dgm:t>
        <a:bodyPr/>
        <a:lstStyle/>
        <a:p>
          <a:endParaRPr lang="en-IN"/>
        </a:p>
      </dgm:t>
    </dgm:pt>
    <dgm:pt modelId="{6AB493F2-EF68-4753-9047-8BCACA3853CB}">
      <dgm:prSet/>
      <dgm:spPr/>
      <dgm:t>
        <a:bodyPr/>
        <a:lstStyle/>
        <a:p>
          <a:r>
            <a:rPr lang="en-US"/>
            <a:t>Product Division Structure</a:t>
          </a:r>
          <a:endParaRPr lang="en-IN"/>
        </a:p>
      </dgm:t>
    </dgm:pt>
    <dgm:pt modelId="{D65238CF-109B-4CB8-8180-6D9E9ACA3951}" type="parTrans" cxnId="{3AB12DB1-5AD2-4610-8624-670EA8548A12}">
      <dgm:prSet/>
      <dgm:spPr/>
      <dgm:t>
        <a:bodyPr/>
        <a:lstStyle/>
        <a:p>
          <a:endParaRPr lang="en-IN"/>
        </a:p>
      </dgm:t>
    </dgm:pt>
    <dgm:pt modelId="{5B44407D-77EE-4527-8611-CE18345311E2}" type="sibTrans" cxnId="{3AB12DB1-5AD2-4610-8624-670EA8548A12}">
      <dgm:prSet/>
      <dgm:spPr/>
      <dgm:t>
        <a:bodyPr/>
        <a:lstStyle/>
        <a:p>
          <a:endParaRPr lang="en-IN"/>
        </a:p>
      </dgm:t>
    </dgm:pt>
    <dgm:pt modelId="{44388059-ABEA-4235-BFC6-DCEBCA22FC05}">
      <dgm:prSet/>
      <dgm:spPr/>
      <dgm:t>
        <a:bodyPr/>
        <a:lstStyle/>
        <a:p>
          <a:r>
            <a:rPr lang="en-US"/>
            <a:t>Geographic (Area) Division Structure</a:t>
          </a:r>
          <a:endParaRPr lang="en-IN"/>
        </a:p>
      </dgm:t>
    </dgm:pt>
    <dgm:pt modelId="{34410C77-EFDE-4D84-9B08-D8F389449173}" type="parTrans" cxnId="{663B95A7-A708-400E-A7ED-468DC63A2A78}">
      <dgm:prSet/>
      <dgm:spPr/>
      <dgm:t>
        <a:bodyPr/>
        <a:lstStyle/>
        <a:p>
          <a:endParaRPr lang="en-IN"/>
        </a:p>
      </dgm:t>
    </dgm:pt>
    <dgm:pt modelId="{A6FE825C-4BF4-450C-BDC9-CD3B0780D865}" type="sibTrans" cxnId="{663B95A7-A708-400E-A7ED-468DC63A2A78}">
      <dgm:prSet/>
      <dgm:spPr/>
      <dgm:t>
        <a:bodyPr/>
        <a:lstStyle/>
        <a:p>
          <a:endParaRPr lang="en-IN"/>
        </a:p>
      </dgm:t>
    </dgm:pt>
    <dgm:pt modelId="{558E026C-0B47-489E-A95D-B6F0FC9ED0FD}">
      <dgm:prSet/>
      <dgm:spPr/>
      <dgm:t>
        <a:bodyPr/>
        <a:lstStyle/>
        <a:p>
          <a:r>
            <a:rPr lang="en-US"/>
            <a:t>Matrix Division Structure</a:t>
          </a:r>
          <a:endParaRPr lang="en-IN"/>
        </a:p>
      </dgm:t>
    </dgm:pt>
    <dgm:pt modelId="{5BE58D96-5421-42C3-A405-4020C9472255}" type="parTrans" cxnId="{C33BD116-E2E5-4CF5-83A4-EF4B11E6A8AF}">
      <dgm:prSet/>
      <dgm:spPr/>
      <dgm:t>
        <a:bodyPr/>
        <a:lstStyle/>
        <a:p>
          <a:endParaRPr lang="en-IN"/>
        </a:p>
      </dgm:t>
    </dgm:pt>
    <dgm:pt modelId="{DA6A6373-4057-461A-9F6D-8DEC0E8BB0DE}" type="sibTrans" cxnId="{C33BD116-E2E5-4CF5-83A4-EF4B11E6A8AF}">
      <dgm:prSet/>
      <dgm:spPr/>
      <dgm:t>
        <a:bodyPr/>
        <a:lstStyle/>
        <a:p>
          <a:endParaRPr lang="en-IN"/>
        </a:p>
      </dgm:t>
    </dgm:pt>
    <dgm:pt modelId="{EED80A2F-389E-41ED-90AD-4B7D0D0FCFA9}">
      <dgm:prSet/>
      <dgm:spPr/>
      <dgm:t>
        <a:bodyPr/>
        <a:lstStyle/>
        <a:p>
          <a:r>
            <a:rPr lang="en-US"/>
            <a:t>Mixed Structure</a:t>
          </a:r>
          <a:endParaRPr lang="en-IN"/>
        </a:p>
      </dgm:t>
    </dgm:pt>
    <dgm:pt modelId="{BE7195C2-AB11-47AB-9B0B-5EEDEFEFDA4E}" type="parTrans" cxnId="{CD4473E9-D69D-401A-B0BB-D9764C850793}">
      <dgm:prSet/>
      <dgm:spPr/>
      <dgm:t>
        <a:bodyPr/>
        <a:lstStyle/>
        <a:p>
          <a:endParaRPr lang="en-IN"/>
        </a:p>
      </dgm:t>
    </dgm:pt>
    <dgm:pt modelId="{CF6DD22A-F7B5-41AE-8ADD-4A364033E005}" type="sibTrans" cxnId="{CD4473E9-D69D-401A-B0BB-D9764C850793}">
      <dgm:prSet/>
      <dgm:spPr/>
      <dgm:t>
        <a:bodyPr/>
        <a:lstStyle/>
        <a:p>
          <a:endParaRPr lang="en-IN"/>
        </a:p>
      </dgm:t>
    </dgm:pt>
    <dgm:pt modelId="{1F972D8C-E30B-4094-934C-FF5319A8EB7C}" type="pres">
      <dgm:prSet presAssocID="{83D38F4C-9785-4FA4-B30E-B4C28F0A21EF}" presName="composite" presStyleCnt="0">
        <dgm:presLayoutVars>
          <dgm:chMax val="1"/>
          <dgm:dir/>
          <dgm:resizeHandles val="exact"/>
        </dgm:presLayoutVars>
      </dgm:prSet>
      <dgm:spPr/>
    </dgm:pt>
    <dgm:pt modelId="{D4A2CD22-2C15-405E-ABF3-AA9E5A8344BC}" type="pres">
      <dgm:prSet presAssocID="{83D38F4C-9785-4FA4-B30E-B4C28F0A21EF}" presName="radial" presStyleCnt="0">
        <dgm:presLayoutVars>
          <dgm:animLvl val="ctr"/>
        </dgm:presLayoutVars>
      </dgm:prSet>
      <dgm:spPr/>
    </dgm:pt>
    <dgm:pt modelId="{760E2738-E3B6-4810-BC09-12D7568CE26D}" type="pres">
      <dgm:prSet presAssocID="{59FD92C7-CCF9-41E1-BDE0-9BA4B98CF05D}" presName="centerShape" presStyleLbl="vennNode1" presStyleIdx="0" presStyleCnt="7"/>
      <dgm:spPr/>
    </dgm:pt>
    <dgm:pt modelId="{482903D8-8862-4C81-B132-38D6C24F00AC}" type="pres">
      <dgm:prSet presAssocID="{64C178EC-A458-4D8D-B968-1D570A702E63}" presName="node" presStyleLbl="vennNode1" presStyleIdx="1" presStyleCnt="7">
        <dgm:presLayoutVars>
          <dgm:bulletEnabled val="1"/>
        </dgm:presLayoutVars>
      </dgm:prSet>
      <dgm:spPr/>
    </dgm:pt>
    <dgm:pt modelId="{84A7675F-9EB3-466C-AC3D-3622D93A0425}" type="pres">
      <dgm:prSet presAssocID="{7BA4385B-503D-4882-B949-96CA5E6F3136}" presName="node" presStyleLbl="vennNode1" presStyleIdx="2" presStyleCnt="7">
        <dgm:presLayoutVars>
          <dgm:bulletEnabled val="1"/>
        </dgm:presLayoutVars>
      </dgm:prSet>
      <dgm:spPr/>
    </dgm:pt>
    <dgm:pt modelId="{DB9EE610-D67F-4521-BB37-7118ABF58458}" type="pres">
      <dgm:prSet presAssocID="{6AB493F2-EF68-4753-9047-8BCACA3853CB}" presName="node" presStyleLbl="vennNode1" presStyleIdx="3" presStyleCnt="7">
        <dgm:presLayoutVars>
          <dgm:bulletEnabled val="1"/>
        </dgm:presLayoutVars>
      </dgm:prSet>
      <dgm:spPr/>
    </dgm:pt>
    <dgm:pt modelId="{B0AFDF19-E566-4868-93F3-0853F72435A8}" type="pres">
      <dgm:prSet presAssocID="{44388059-ABEA-4235-BFC6-DCEBCA22FC05}" presName="node" presStyleLbl="vennNode1" presStyleIdx="4" presStyleCnt="7">
        <dgm:presLayoutVars>
          <dgm:bulletEnabled val="1"/>
        </dgm:presLayoutVars>
      </dgm:prSet>
      <dgm:spPr/>
    </dgm:pt>
    <dgm:pt modelId="{2C89AE3C-D040-4899-9E7D-F2ACD23871EC}" type="pres">
      <dgm:prSet presAssocID="{558E026C-0B47-489E-A95D-B6F0FC9ED0FD}" presName="node" presStyleLbl="vennNode1" presStyleIdx="5" presStyleCnt="7">
        <dgm:presLayoutVars>
          <dgm:bulletEnabled val="1"/>
        </dgm:presLayoutVars>
      </dgm:prSet>
      <dgm:spPr/>
    </dgm:pt>
    <dgm:pt modelId="{8F91444F-498E-4C14-BB2B-7BA3339CF447}" type="pres">
      <dgm:prSet presAssocID="{EED80A2F-389E-41ED-90AD-4B7D0D0FCFA9}" presName="node" presStyleLbl="vennNode1" presStyleIdx="6" presStyleCnt="7">
        <dgm:presLayoutVars>
          <dgm:bulletEnabled val="1"/>
        </dgm:presLayoutVars>
      </dgm:prSet>
      <dgm:spPr/>
    </dgm:pt>
  </dgm:ptLst>
  <dgm:cxnLst>
    <dgm:cxn modelId="{27C75D16-EE3C-44ED-9A5C-4AA79377D93D}" type="presOf" srcId="{6AB493F2-EF68-4753-9047-8BCACA3853CB}" destId="{DB9EE610-D67F-4521-BB37-7118ABF58458}" srcOrd="0" destOrd="0" presId="urn:microsoft.com/office/officeart/2005/8/layout/radial3"/>
    <dgm:cxn modelId="{C33BD116-E2E5-4CF5-83A4-EF4B11E6A8AF}" srcId="{59FD92C7-CCF9-41E1-BDE0-9BA4B98CF05D}" destId="{558E026C-0B47-489E-A95D-B6F0FC9ED0FD}" srcOrd="4" destOrd="0" parTransId="{5BE58D96-5421-42C3-A405-4020C9472255}" sibTransId="{DA6A6373-4057-461A-9F6D-8DEC0E8BB0DE}"/>
    <dgm:cxn modelId="{D1C8BA25-51C8-4752-AA75-E01510C86FDF}" type="presOf" srcId="{7BA4385B-503D-4882-B949-96CA5E6F3136}" destId="{84A7675F-9EB3-466C-AC3D-3622D93A0425}" srcOrd="0" destOrd="0" presId="urn:microsoft.com/office/officeart/2005/8/layout/radial3"/>
    <dgm:cxn modelId="{92C32B2B-8A75-42C1-802A-78ACCFD1E782}" srcId="{83D38F4C-9785-4FA4-B30E-B4C28F0A21EF}" destId="{59FD92C7-CCF9-41E1-BDE0-9BA4B98CF05D}" srcOrd="0" destOrd="0" parTransId="{F8A71FCA-5AA8-4538-955A-0E79C4BF25C9}" sibTransId="{DF0F665D-6563-4A38-B326-D53CFD505EA5}"/>
    <dgm:cxn modelId="{8CE5CC40-0A3C-4800-89DD-4682C127605A}" type="presOf" srcId="{44388059-ABEA-4235-BFC6-DCEBCA22FC05}" destId="{B0AFDF19-E566-4868-93F3-0853F72435A8}" srcOrd="0" destOrd="0" presId="urn:microsoft.com/office/officeart/2005/8/layout/radial3"/>
    <dgm:cxn modelId="{54C9A849-BE01-463B-A535-7F998A30F140}" type="presOf" srcId="{EED80A2F-389E-41ED-90AD-4B7D0D0FCFA9}" destId="{8F91444F-498E-4C14-BB2B-7BA3339CF447}" srcOrd="0" destOrd="0" presId="urn:microsoft.com/office/officeart/2005/8/layout/radial3"/>
    <dgm:cxn modelId="{DE9CF17F-AF78-4F7C-9A6B-9F9BAD99E21D}" type="presOf" srcId="{558E026C-0B47-489E-A95D-B6F0FC9ED0FD}" destId="{2C89AE3C-D040-4899-9E7D-F2ACD23871EC}" srcOrd="0" destOrd="0" presId="urn:microsoft.com/office/officeart/2005/8/layout/radial3"/>
    <dgm:cxn modelId="{EB6D5784-B4C3-42EC-9B7D-BA64136192C1}" type="presOf" srcId="{64C178EC-A458-4D8D-B968-1D570A702E63}" destId="{482903D8-8862-4C81-B132-38D6C24F00AC}" srcOrd="0" destOrd="0" presId="urn:microsoft.com/office/officeart/2005/8/layout/radial3"/>
    <dgm:cxn modelId="{462E008C-58AB-4FAD-9AD9-653B5732C499}" type="presOf" srcId="{83D38F4C-9785-4FA4-B30E-B4C28F0A21EF}" destId="{1F972D8C-E30B-4094-934C-FF5319A8EB7C}" srcOrd="0" destOrd="0" presId="urn:microsoft.com/office/officeart/2005/8/layout/radial3"/>
    <dgm:cxn modelId="{0B2A8896-FECF-4AFA-99CC-1954329EA08B}" srcId="{59FD92C7-CCF9-41E1-BDE0-9BA4B98CF05D}" destId="{7BA4385B-503D-4882-B949-96CA5E6F3136}" srcOrd="1" destOrd="0" parTransId="{C1C6B7D5-B560-4BA2-9B72-4B161966731E}" sibTransId="{87E9C52A-643B-45CE-80E3-E4AA2B7EA5DF}"/>
    <dgm:cxn modelId="{30EDDB9E-0F01-4934-87F5-E4D6F6B1D515}" srcId="{59FD92C7-CCF9-41E1-BDE0-9BA4B98CF05D}" destId="{64C178EC-A458-4D8D-B968-1D570A702E63}" srcOrd="0" destOrd="0" parTransId="{6B8C0F3D-CD53-4027-9EA5-80D79A27E179}" sibTransId="{A88C0F59-0244-452F-B07A-376D18543E29}"/>
    <dgm:cxn modelId="{663B95A7-A708-400E-A7ED-468DC63A2A78}" srcId="{59FD92C7-CCF9-41E1-BDE0-9BA4B98CF05D}" destId="{44388059-ABEA-4235-BFC6-DCEBCA22FC05}" srcOrd="3" destOrd="0" parTransId="{34410C77-EFDE-4D84-9B08-D8F389449173}" sibTransId="{A6FE825C-4BF4-450C-BDC9-CD3B0780D865}"/>
    <dgm:cxn modelId="{2BFDD3B0-C669-406B-BC7F-E256A3BEF51B}" type="presOf" srcId="{59FD92C7-CCF9-41E1-BDE0-9BA4B98CF05D}" destId="{760E2738-E3B6-4810-BC09-12D7568CE26D}" srcOrd="0" destOrd="0" presId="urn:microsoft.com/office/officeart/2005/8/layout/radial3"/>
    <dgm:cxn modelId="{3AB12DB1-5AD2-4610-8624-670EA8548A12}" srcId="{59FD92C7-CCF9-41E1-BDE0-9BA4B98CF05D}" destId="{6AB493F2-EF68-4753-9047-8BCACA3853CB}" srcOrd="2" destOrd="0" parTransId="{D65238CF-109B-4CB8-8180-6D9E9ACA3951}" sibTransId="{5B44407D-77EE-4527-8611-CE18345311E2}"/>
    <dgm:cxn modelId="{CD4473E9-D69D-401A-B0BB-D9764C850793}" srcId="{59FD92C7-CCF9-41E1-BDE0-9BA4B98CF05D}" destId="{EED80A2F-389E-41ED-90AD-4B7D0D0FCFA9}" srcOrd="5" destOrd="0" parTransId="{BE7195C2-AB11-47AB-9B0B-5EEDEFEFDA4E}" sibTransId="{CF6DD22A-F7B5-41AE-8ADD-4A364033E005}"/>
    <dgm:cxn modelId="{9E131AAD-1948-435E-85EA-45CC3538ACD0}" type="presParOf" srcId="{1F972D8C-E30B-4094-934C-FF5319A8EB7C}" destId="{D4A2CD22-2C15-405E-ABF3-AA9E5A8344BC}" srcOrd="0" destOrd="0" presId="urn:microsoft.com/office/officeart/2005/8/layout/radial3"/>
    <dgm:cxn modelId="{E04FA895-E868-4A1A-A576-4490B2960409}" type="presParOf" srcId="{D4A2CD22-2C15-405E-ABF3-AA9E5A8344BC}" destId="{760E2738-E3B6-4810-BC09-12D7568CE26D}" srcOrd="0" destOrd="0" presId="urn:microsoft.com/office/officeart/2005/8/layout/radial3"/>
    <dgm:cxn modelId="{EA7B597E-82ED-4FAF-91F1-965DB8C4DFC7}" type="presParOf" srcId="{D4A2CD22-2C15-405E-ABF3-AA9E5A8344BC}" destId="{482903D8-8862-4C81-B132-38D6C24F00AC}" srcOrd="1" destOrd="0" presId="urn:microsoft.com/office/officeart/2005/8/layout/radial3"/>
    <dgm:cxn modelId="{AC641C95-12AD-4666-A997-BA4BB18B02C3}" type="presParOf" srcId="{D4A2CD22-2C15-405E-ABF3-AA9E5A8344BC}" destId="{84A7675F-9EB3-466C-AC3D-3622D93A0425}" srcOrd="2" destOrd="0" presId="urn:microsoft.com/office/officeart/2005/8/layout/radial3"/>
    <dgm:cxn modelId="{5D1D680A-7D24-4EAE-87FD-64025914DFD0}" type="presParOf" srcId="{D4A2CD22-2C15-405E-ABF3-AA9E5A8344BC}" destId="{DB9EE610-D67F-4521-BB37-7118ABF58458}" srcOrd="3" destOrd="0" presId="urn:microsoft.com/office/officeart/2005/8/layout/radial3"/>
    <dgm:cxn modelId="{2EFFD34E-D7BE-40A6-B53A-1F4609528EC2}" type="presParOf" srcId="{D4A2CD22-2C15-405E-ABF3-AA9E5A8344BC}" destId="{B0AFDF19-E566-4868-93F3-0853F72435A8}" srcOrd="4" destOrd="0" presId="urn:microsoft.com/office/officeart/2005/8/layout/radial3"/>
    <dgm:cxn modelId="{0F6FCD92-438B-4076-9E18-6760FD68E6E8}" type="presParOf" srcId="{D4A2CD22-2C15-405E-ABF3-AA9E5A8344BC}" destId="{2C89AE3C-D040-4899-9E7D-F2ACD23871EC}" srcOrd="5" destOrd="0" presId="urn:microsoft.com/office/officeart/2005/8/layout/radial3"/>
    <dgm:cxn modelId="{4D626C6C-D38D-474D-94F0-352FE81262C5}" type="presParOf" srcId="{D4A2CD22-2C15-405E-ABF3-AA9E5A8344BC}" destId="{8F91444F-498E-4C14-BB2B-7BA3339CF447}" srcOrd="6"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0E2738-E3B6-4810-BC09-12D7568CE26D}">
      <dsp:nvSpPr>
        <dsp:cNvPr id="0" name=""/>
        <dsp:cNvSpPr/>
      </dsp:nvSpPr>
      <dsp:spPr>
        <a:xfrm>
          <a:off x="3130550" y="1166490"/>
          <a:ext cx="2905993" cy="2905993"/>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u="sng" kern="1200" dirty="0"/>
            <a:t>Organization Structures</a:t>
          </a:r>
          <a:endParaRPr lang="en-IN" sz="2500" kern="1200" dirty="0"/>
        </a:p>
      </dsp:txBody>
      <dsp:txXfrm>
        <a:off x="3556123" y="1592063"/>
        <a:ext cx="2054847" cy="2054847"/>
      </dsp:txXfrm>
    </dsp:sp>
    <dsp:sp modelId="{482903D8-8862-4C81-B132-38D6C24F00AC}">
      <dsp:nvSpPr>
        <dsp:cNvPr id="0" name=""/>
        <dsp:cNvSpPr/>
      </dsp:nvSpPr>
      <dsp:spPr>
        <a:xfrm>
          <a:off x="3857048" y="518"/>
          <a:ext cx="1452996" cy="1452996"/>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International Divisions Structure</a:t>
          </a:r>
          <a:endParaRPr lang="en-IN" sz="1300" kern="1200"/>
        </a:p>
      </dsp:txBody>
      <dsp:txXfrm>
        <a:off x="4069834" y="213304"/>
        <a:ext cx="1027424" cy="1027424"/>
      </dsp:txXfrm>
    </dsp:sp>
    <dsp:sp modelId="{84A7675F-9EB3-466C-AC3D-3622D93A0425}">
      <dsp:nvSpPr>
        <dsp:cNvPr id="0" name=""/>
        <dsp:cNvSpPr/>
      </dsp:nvSpPr>
      <dsp:spPr>
        <a:xfrm>
          <a:off x="5495975" y="946753"/>
          <a:ext cx="1452996" cy="1452996"/>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Functional Divisions Structure</a:t>
          </a:r>
          <a:endParaRPr lang="en-IN" sz="1300" kern="1200"/>
        </a:p>
      </dsp:txBody>
      <dsp:txXfrm>
        <a:off x="5708761" y="1159539"/>
        <a:ext cx="1027424" cy="1027424"/>
      </dsp:txXfrm>
    </dsp:sp>
    <dsp:sp modelId="{DB9EE610-D67F-4521-BB37-7118ABF58458}">
      <dsp:nvSpPr>
        <dsp:cNvPr id="0" name=""/>
        <dsp:cNvSpPr/>
      </dsp:nvSpPr>
      <dsp:spPr>
        <a:xfrm>
          <a:off x="5495975" y="2839223"/>
          <a:ext cx="1452996" cy="1452996"/>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Product Division Structure</a:t>
          </a:r>
          <a:endParaRPr lang="en-IN" sz="1300" kern="1200"/>
        </a:p>
      </dsp:txBody>
      <dsp:txXfrm>
        <a:off x="5708761" y="3052009"/>
        <a:ext cx="1027424" cy="1027424"/>
      </dsp:txXfrm>
    </dsp:sp>
    <dsp:sp modelId="{B0AFDF19-E566-4868-93F3-0853F72435A8}">
      <dsp:nvSpPr>
        <dsp:cNvPr id="0" name=""/>
        <dsp:cNvSpPr/>
      </dsp:nvSpPr>
      <dsp:spPr>
        <a:xfrm>
          <a:off x="3857048" y="3785458"/>
          <a:ext cx="1452996" cy="1452996"/>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Geographic (Area) Division Structure</a:t>
          </a:r>
          <a:endParaRPr lang="en-IN" sz="1300" kern="1200"/>
        </a:p>
      </dsp:txBody>
      <dsp:txXfrm>
        <a:off x="4069834" y="3998244"/>
        <a:ext cx="1027424" cy="1027424"/>
      </dsp:txXfrm>
    </dsp:sp>
    <dsp:sp modelId="{2C89AE3C-D040-4899-9E7D-F2ACD23871EC}">
      <dsp:nvSpPr>
        <dsp:cNvPr id="0" name=""/>
        <dsp:cNvSpPr/>
      </dsp:nvSpPr>
      <dsp:spPr>
        <a:xfrm>
          <a:off x="2218121" y="2839223"/>
          <a:ext cx="1452996" cy="1452996"/>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Matrix Division Structure</a:t>
          </a:r>
          <a:endParaRPr lang="en-IN" sz="1300" kern="1200"/>
        </a:p>
      </dsp:txBody>
      <dsp:txXfrm>
        <a:off x="2430907" y="3052009"/>
        <a:ext cx="1027424" cy="1027424"/>
      </dsp:txXfrm>
    </dsp:sp>
    <dsp:sp modelId="{8F91444F-498E-4C14-BB2B-7BA3339CF447}">
      <dsp:nvSpPr>
        <dsp:cNvPr id="0" name=""/>
        <dsp:cNvSpPr/>
      </dsp:nvSpPr>
      <dsp:spPr>
        <a:xfrm>
          <a:off x="2218121" y="946753"/>
          <a:ext cx="1452996" cy="1452996"/>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Mixed Structure</a:t>
          </a:r>
          <a:endParaRPr lang="en-IN" sz="1300" kern="1200"/>
        </a:p>
      </dsp:txBody>
      <dsp:txXfrm>
        <a:off x="2430907" y="1159539"/>
        <a:ext cx="1027424" cy="1027424"/>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CF9A3035-2B5C-4D33-89FD-1EEE4C5C3F52}" type="datetimeFigureOut">
              <a:rPr lang="en-IN" smtClean="0"/>
              <a:pPr/>
              <a:t>08-09-2025</a:t>
            </a:fld>
            <a:endParaRPr lang="en-IN"/>
          </a:p>
        </p:txBody>
      </p:sp>
      <p:sp>
        <p:nvSpPr>
          <p:cNvPr id="4" name="Slide Image Placeholder 3"/>
          <p:cNvSpPr>
            <a:spLocks noGrp="1" noRot="1" noChangeAspect="1"/>
          </p:cNvSpPr>
          <p:nvPr>
            <p:ph type="sldImg" idx="2"/>
          </p:nvPr>
        </p:nvSpPr>
        <p:spPr>
          <a:xfrm>
            <a:off x="1106488" y="801688"/>
            <a:ext cx="5346700" cy="40100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ECBC7D61-77AE-402C-8842-740617525158}" type="slidenum">
              <a:rPr lang="en-IN" smtClean="0"/>
              <a:pPr/>
              <a:t>‹#›</a:t>
            </a:fld>
            <a:endParaRPr lang="en-IN"/>
          </a:p>
        </p:txBody>
      </p:sp>
    </p:spTree>
    <p:extLst>
      <p:ext uri="{BB962C8B-B14F-4D97-AF65-F5344CB8AC3E}">
        <p14:creationId xmlns:p14="http://schemas.microsoft.com/office/powerpoint/2010/main" val="3656460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6244" y="2348401"/>
            <a:ext cx="8568137" cy="162043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512488" y="4283816"/>
            <a:ext cx="7055650" cy="1931917"/>
          </a:xfrm>
          <a:prstGeom prst="rect">
            <a:avLst/>
          </a:prstGeom>
        </p:spPr>
        <p:txBody>
          <a:bodyPr/>
          <a:lstStyle>
            <a:lvl1pPr marL="0" indent="0" algn="ctr">
              <a:buNone/>
              <a:defRPr>
                <a:solidFill>
                  <a:schemeClr val="tx1">
                    <a:tint val="75000"/>
                  </a:schemeClr>
                </a:solidFill>
              </a:defRPr>
            </a:lvl1pPr>
            <a:lvl2pPr marL="378104" indent="0" algn="ctr">
              <a:buNone/>
              <a:defRPr>
                <a:solidFill>
                  <a:schemeClr val="tx1">
                    <a:tint val="75000"/>
                  </a:schemeClr>
                </a:solidFill>
              </a:defRPr>
            </a:lvl2pPr>
            <a:lvl3pPr marL="756209" indent="0" algn="ctr">
              <a:buNone/>
              <a:defRPr>
                <a:solidFill>
                  <a:schemeClr val="tx1">
                    <a:tint val="75000"/>
                  </a:schemeClr>
                </a:solidFill>
              </a:defRPr>
            </a:lvl3pPr>
            <a:lvl4pPr marL="1134313" indent="0" algn="ctr">
              <a:buNone/>
              <a:defRPr>
                <a:solidFill>
                  <a:schemeClr val="tx1">
                    <a:tint val="75000"/>
                  </a:schemeClr>
                </a:solidFill>
              </a:defRPr>
            </a:lvl4pPr>
            <a:lvl5pPr marL="1512418" indent="0" algn="ctr">
              <a:buNone/>
              <a:defRPr>
                <a:solidFill>
                  <a:schemeClr val="tx1">
                    <a:tint val="75000"/>
                  </a:schemeClr>
                </a:solidFill>
              </a:defRPr>
            </a:lvl5pPr>
            <a:lvl6pPr marL="1890522" indent="0" algn="ctr">
              <a:buNone/>
              <a:defRPr>
                <a:solidFill>
                  <a:schemeClr val="tx1">
                    <a:tint val="75000"/>
                  </a:schemeClr>
                </a:solidFill>
              </a:defRPr>
            </a:lvl6pPr>
            <a:lvl7pPr marL="2268626" indent="0" algn="ctr">
              <a:buNone/>
              <a:defRPr>
                <a:solidFill>
                  <a:schemeClr val="tx1">
                    <a:tint val="75000"/>
                  </a:schemeClr>
                </a:solidFill>
              </a:defRPr>
            </a:lvl7pPr>
            <a:lvl8pPr marL="2646731" indent="0" algn="ctr">
              <a:buNone/>
              <a:defRPr>
                <a:solidFill>
                  <a:schemeClr val="tx1">
                    <a:tint val="75000"/>
                  </a:schemeClr>
                </a:solidFill>
              </a:defRPr>
            </a:lvl8pPr>
            <a:lvl9pPr marL="302483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756209"/>
            <a:fld id="{585B8C8C-3877-4992-85E3-14BF5F90157E}" type="datetime3">
              <a:rPr lang="en-US" smtClean="0"/>
              <a:t>8 September 2025</a:t>
            </a:fld>
            <a:endParaRPr lang="en-US"/>
          </a:p>
        </p:txBody>
      </p:sp>
      <p:sp>
        <p:nvSpPr>
          <p:cNvPr id="5" name="Footer Placeholder 4"/>
          <p:cNvSpPr>
            <a:spLocks noGrp="1"/>
          </p:cNvSpPr>
          <p:nvPr>
            <p:ph type="ftr" sz="quarter" idx="11"/>
          </p:nvPr>
        </p:nvSpPr>
        <p:spPr/>
        <p:txBody>
          <a:bodyPr/>
          <a:lstStyle/>
          <a:p>
            <a:pPr defTabSz="756209"/>
            <a:r>
              <a:rPr lang="en-US"/>
              <a:t>Dr. Vasanthi  Reena Williams  Prof. Department of MBA, VVIET, Mysuru</a:t>
            </a:r>
          </a:p>
        </p:txBody>
      </p:sp>
      <p:sp>
        <p:nvSpPr>
          <p:cNvPr id="6" name="Slide Number Placeholder 5"/>
          <p:cNvSpPr>
            <a:spLocks noGrp="1"/>
          </p:cNvSpPr>
          <p:nvPr>
            <p:ph type="sldNum" sz="quarter" idx="12"/>
          </p:nvPr>
        </p:nvSpPr>
        <p:spPr/>
        <p:txBody>
          <a:bodyPr/>
          <a:lstStyle/>
          <a:p>
            <a:pPr defTabSz="756209"/>
            <a:fld id="{B6F15528-21DE-4FAA-801E-634DDDAF4B2B}" type="slidenum">
              <a:rPr lang="en-US" smtClean="0"/>
              <a:pPr defTabSz="756209"/>
              <a:t>‹#›</a:t>
            </a:fld>
            <a:endParaRPr lang="en-US"/>
          </a:p>
        </p:txBody>
      </p:sp>
    </p:spTree>
    <p:extLst>
      <p:ext uri="{BB962C8B-B14F-4D97-AF65-F5344CB8AC3E}">
        <p14:creationId xmlns:p14="http://schemas.microsoft.com/office/powerpoint/2010/main" val="2732775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0" name="Title 9"/>
          <p:cNvSpPr>
            <a:spLocks noGrp="1"/>
          </p:cNvSpPr>
          <p:nvPr>
            <p:ph type="title"/>
          </p:nvPr>
        </p:nvSpPr>
        <p:spPr>
          <a:xfrm>
            <a:off x="504163" y="302737"/>
            <a:ext cx="9072300" cy="1259946"/>
          </a:xfrm>
          <a:prstGeom prst="rect">
            <a:avLst/>
          </a:prstGeom>
        </p:spPr>
        <p:txBody>
          <a:bodyPr/>
          <a:lstStyle/>
          <a:p>
            <a:r>
              <a:rPr lang="en-US"/>
              <a:t>Click to edit Master title style</a:t>
            </a:r>
          </a:p>
        </p:txBody>
      </p:sp>
      <p:sp>
        <p:nvSpPr>
          <p:cNvPr id="11" name="Date Placeholder 10"/>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12" name="Slide Number Placeholder 11"/>
          <p:cNvSpPr>
            <a:spLocks noGrp="1"/>
          </p:cNvSpPr>
          <p:nvPr>
            <p:ph type="sldNum" sz="quarter" idx="11"/>
          </p:nvPr>
        </p:nvSpPr>
        <p:spPr/>
        <p:txBody>
          <a:bodyPr/>
          <a:lstStyle/>
          <a:p>
            <a:pPr defTabSz="756209"/>
            <a:fld id="{B6F15528-21DE-4FAA-801E-634DDDAF4B2B}" type="slidenum">
              <a:rPr lang="en-US" smtClean="0"/>
              <a:pPr defTabSz="756209"/>
              <a:t>‹#›</a:t>
            </a:fld>
            <a:endParaRPr lang="en-US"/>
          </a:p>
        </p:txBody>
      </p:sp>
      <p:sp>
        <p:nvSpPr>
          <p:cNvPr id="13" name="Footer Placeholder 12"/>
          <p:cNvSpPr>
            <a:spLocks noGrp="1"/>
          </p:cNvSpPr>
          <p:nvPr>
            <p:ph type="ftr" sz="quarter" idx="12"/>
          </p:nvPr>
        </p:nvSpPr>
        <p:spPr/>
        <p:txBody>
          <a:bodyPr/>
          <a:lstStyle/>
          <a:p>
            <a:pPr defTabSz="756209"/>
            <a:r>
              <a:rPr lang="en-US"/>
              <a:t>Dr. Vasanthi  Reena Williams  Prof. Department of MBA, VVIET, Mysuru</a:t>
            </a:r>
          </a:p>
        </p:txBody>
      </p:sp>
    </p:spTree>
    <p:extLst>
      <p:ext uri="{BB962C8B-B14F-4D97-AF65-F5344CB8AC3E}">
        <p14:creationId xmlns:p14="http://schemas.microsoft.com/office/powerpoint/2010/main" val="3995219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65870" y="1427939"/>
            <a:ext cx="9072300" cy="125994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756209"/>
            <a:fld id="{0420B8FD-D4AD-4A41-95EA-81787BFACB69}" type="datetime3">
              <a:rPr lang="en-US" smtClean="0"/>
              <a:t>8 September 2025</a:t>
            </a:fld>
            <a:endParaRPr lang="en-US"/>
          </a:p>
        </p:txBody>
      </p:sp>
      <p:sp>
        <p:nvSpPr>
          <p:cNvPr id="4" name="Footer Placeholder 3"/>
          <p:cNvSpPr>
            <a:spLocks noGrp="1"/>
          </p:cNvSpPr>
          <p:nvPr>
            <p:ph type="ftr" sz="quarter" idx="11"/>
          </p:nvPr>
        </p:nvSpPr>
        <p:spPr/>
        <p:txBody>
          <a:bodyPr/>
          <a:lstStyle/>
          <a:p>
            <a:pPr defTabSz="756209"/>
            <a:r>
              <a:rPr lang="en-US"/>
              <a:t>Dr. Vasanthi  Reena Williams  Prof. Department of MBA, VVIET, Mysuru</a:t>
            </a:r>
          </a:p>
        </p:txBody>
      </p:sp>
      <p:sp>
        <p:nvSpPr>
          <p:cNvPr id="5" name="Slide Number Placeholder 4"/>
          <p:cNvSpPr>
            <a:spLocks noGrp="1"/>
          </p:cNvSpPr>
          <p:nvPr>
            <p:ph type="sldNum" sz="quarter" idx="12"/>
          </p:nvPr>
        </p:nvSpPr>
        <p:spPr/>
        <p:txBody>
          <a:bodyPr/>
          <a:lstStyle/>
          <a:p>
            <a:pPr defTabSz="756209"/>
            <a:fld id="{B6F15528-21DE-4FAA-801E-634DDDAF4B2B}" type="slidenum">
              <a:rPr lang="en-US" smtClean="0"/>
              <a:pPr defTabSz="756209"/>
              <a:t>‹#›</a:t>
            </a:fld>
            <a:endParaRPr lang="en-US"/>
          </a:p>
        </p:txBody>
      </p:sp>
      <p:sp>
        <p:nvSpPr>
          <p:cNvPr id="7" name="Text Placeholder 6"/>
          <p:cNvSpPr>
            <a:spLocks noGrp="1"/>
          </p:cNvSpPr>
          <p:nvPr>
            <p:ph type="body" sz="quarter" idx="13"/>
          </p:nvPr>
        </p:nvSpPr>
        <p:spPr>
          <a:xfrm>
            <a:off x="9073613" y="1091953"/>
            <a:ext cx="756244" cy="100795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34251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504031" y="7006701"/>
            <a:ext cx="2352146" cy="402483"/>
          </a:xfrm>
          <a:prstGeom prst="rect">
            <a:avLst/>
          </a:prstGeom>
        </p:spPr>
        <p:txBody>
          <a:bodyPr vert="horz" lIns="91440" tIns="45720" rIns="91440" bIns="45720" rtlCol="0" anchor="ctr"/>
          <a:lstStyle>
            <a:lvl1pPr algn="l">
              <a:defRPr sz="992">
                <a:solidFill>
                  <a:srgbClr val="002060"/>
                </a:solidFill>
                <a:latin typeface="Cambria" pitchFamily="18" charset="0"/>
              </a:defRPr>
            </a:lvl1pPr>
          </a:lstStyle>
          <a:p>
            <a:pPr defTabSz="756209"/>
            <a:fld id="{6D9E5F16-11D2-4834-8A13-8E53B6D35C7D}" type="datetime3">
              <a:rPr lang="en-US" smtClean="0"/>
              <a:t>8 September 2025</a:t>
            </a:fld>
            <a:endParaRPr lang="en-US"/>
          </a:p>
        </p:txBody>
      </p:sp>
      <p:sp>
        <p:nvSpPr>
          <p:cNvPr id="5" name="Footer Placeholder 4"/>
          <p:cNvSpPr>
            <a:spLocks noGrp="1"/>
          </p:cNvSpPr>
          <p:nvPr>
            <p:ph type="ftr" sz="quarter" idx="3"/>
          </p:nvPr>
        </p:nvSpPr>
        <p:spPr>
          <a:xfrm>
            <a:off x="3444214" y="7006701"/>
            <a:ext cx="3192198" cy="402483"/>
          </a:xfrm>
          <a:prstGeom prst="rect">
            <a:avLst/>
          </a:prstGeom>
        </p:spPr>
        <p:txBody>
          <a:bodyPr vert="horz" lIns="91440" tIns="45720" rIns="91440" bIns="45720" rtlCol="0" anchor="ctr"/>
          <a:lstStyle>
            <a:lvl1pPr algn="ctr">
              <a:defRPr sz="992">
                <a:solidFill>
                  <a:srgbClr val="002060"/>
                </a:solidFill>
                <a:latin typeface="Cambria" pitchFamily="18" charset="0"/>
              </a:defRPr>
            </a:lvl1pPr>
          </a:lstStyle>
          <a:p>
            <a:pPr defTabSz="756209"/>
            <a:r>
              <a:rPr lang="en-US"/>
              <a:t>Dr. Vasanthi  Reena Williams  Prof. Department of MBA, VVIET, Mysuru</a:t>
            </a:r>
          </a:p>
        </p:txBody>
      </p:sp>
      <p:sp>
        <p:nvSpPr>
          <p:cNvPr id="6" name="Slide Number Placeholder 5"/>
          <p:cNvSpPr>
            <a:spLocks noGrp="1"/>
          </p:cNvSpPr>
          <p:nvPr>
            <p:ph type="sldNum" sz="quarter" idx="4"/>
          </p:nvPr>
        </p:nvSpPr>
        <p:spPr>
          <a:xfrm>
            <a:off x="7224449" y="7006701"/>
            <a:ext cx="2352146" cy="402483"/>
          </a:xfrm>
          <a:prstGeom prst="rect">
            <a:avLst/>
          </a:prstGeom>
        </p:spPr>
        <p:txBody>
          <a:bodyPr vert="horz" lIns="91440" tIns="45720" rIns="91440" bIns="45720" rtlCol="0" anchor="ctr"/>
          <a:lstStyle>
            <a:lvl1pPr algn="r">
              <a:defRPr sz="992">
                <a:solidFill>
                  <a:srgbClr val="002060"/>
                </a:solidFill>
                <a:latin typeface="Cambria" pitchFamily="18" charset="0"/>
              </a:defRPr>
            </a:lvl1pPr>
          </a:lstStyle>
          <a:p>
            <a:pPr defTabSz="756209"/>
            <a:fld id="{B6F15528-21DE-4FAA-801E-634DDDAF4B2B}" type="slidenum">
              <a:rPr lang="en-US" smtClean="0"/>
              <a:pPr defTabSz="756209"/>
              <a:t>‹#›</a:t>
            </a:fld>
            <a:endParaRPr lang="en-US"/>
          </a:p>
        </p:txBody>
      </p:sp>
      <p:sp>
        <p:nvSpPr>
          <p:cNvPr id="7" name="Rectangle 6"/>
          <p:cNvSpPr/>
          <p:nvPr/>
        </p:nvSpPr>
        <p:spPr>
          <a:xfrm>
            <a:off x="1070033" y="0"/>
            <a:ext cx="6942318" cy="102811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209" rtl="0" eaLnBrk="1" fontAlgn="auto" latinLnBrk="0" hangingPunct="1">
              <a:lnSpc>
                <a:spcPct val="100000"/>
              </a:lnSpc>
              <a:spcBef>
                <a:spcPts val="0"/>
              </a:spcBef>
              <a:spcAft>
                <a:spcPts val="0"/>
              </a:spcAft>
              <a:buClrTx/>
              <a:buSzTx/>
              <a:buFontTx/>
              <a:buNone/>
              <a:tabLst/>
              <a:defRPr/>
            </a:pPr>
            <a:endParaRPr kumimoji="0" lang="en-US" sz="1489" b="0" i="0" u="none" strike="noStrike" kern="1200" cap="none" spc="0" normalizeH="0" baseline="0" noProof="0">
              <a:ln>
                <a:noFill/>
              </a:ln>
              <a:solidFill>
                <a:prstClr val="white"/>
              </a:solidFill>
              <a:effectLst/>
              <a:uLnTx/>
              <a:uFillTx/>
              <a:latin typeface="Book Antiqua"/>
              <a:ea typeface="+mn-ea"/>
              <a:cs typeface="+mn-cs"/>
            </a:endParaRPr>
          </a:p>
        </p:txBody>
      </p:sp>
      <p:pic>
        <p:nvPicPr>
          <p:cNvPr id="8"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022" y="2"/>
            <a:ext cx="943991" cy="98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5450" y="1095752"/>
            <a:ext cx="10083250" cy="5039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209" rtl="0" eaLnBrk="1" fontAlgn="auto" latinLnBrk="0" hangingPunct="1">
              <a:lnSpc>
                <a:spcPct val="100000"/>
              </a:lnSpc>
              <a:spcBef>
                <a:spcPts val="0"/>
              </a:spcBef>
              <a:spcAft>
                <a:spcPts val="0"/>
              </a:spcAft>
              <a:buClrTx/>
              <a:buSzTx/>
              <a:buFontTx/>
              <a:buNone/>
              <a:tabLst/>
              <a:defRPr/>
            </a:pPr>
            <a:endParaRPr kumimoji="0" lang="en-IN" sz="1489" b="0" i="0" u="none" strike="noStrike" kern="1200" cap="none" spc="0" normalizeH="0" baseline="0" noProof="0">
              <a:ln>
                <a:noFill/>
              </a:ln>
              <a:solidFill>
                <a:prstClr val="white"/>
              </a:solidFill>
              <a:effectLst/>
              <a:uLnTx/>
              <a:uFillTx/>
              <a:latin typeface="Book Antiqua"/>
              <a:ea typeface="+mn-ea"/>
              <a:cs typeface="+mn-cs"/>
            </a:endParaRPr>
          </a:p>
        </p:txBody>
      </p:sp>
      <p:sp>
        <p:nvSpPr>
          <p:cNvPr id="10" name="TextBox 9"/>
          <p:cNvSpPr txBox="1"/>
          <p:nvPr/>
        </p:nvSpPr>
        <p:spPr>
          <a:xfrm>
            <a:off x="7995552" y="1"/>
            <a:ext cx="2085073" cy="703078"/>
          </a:xfrm>
          <a:prstGeom prst="rect">
            <a:avLst/>
          </a:prstGeom>
          <a:noFill/>
        </p:spPr>
        <p:txBody>
          <a:bodyPr wrap="square" rtlCol="0">
            <a:spAutoFit/>
          </a:bodyPr>
          <a:lstStyle/>
          <a:p>
            <a:pPr marL="0" marR="0" lvl="0" indent="0" algn="l" defTabSz="756209" rtl="0" eaLnBrk="1" fontAlgn="auto" latinLnBrk="0" hangingPunct="1">
              <a:lnSpc>
                <a:spcPct val="100000"/>
              </a:lnSpc>
              <a:spcBef>
                <a:spcPts val="0"/>
              </a:spcBef>
              <a:spcAft>
                <a:spcPts val="0"/>
              </a:spcAft>
              <a:buClrTx/>
              <a:buSzTx/>
              <a:buFontTx/>
              <a:buNone/>
              <a:tabLst/>
              <a:defRPr/>
            </a:pPr>
            <a:r>
              <a:rPr kumimoji="0" lang="en-IN" sz="1323" b="0" i="0" u="none" strike="noStrike" kern="1200" cap="none" spc="0" normalizeH="0" baseline="0" noProof="0" dirty="0">
                <a:ln>
                  <a:noFill/>
                </a:ln>
                <a:solidFill>
                  <a:srgbClr val="002060"/>
                </a:solidFill>
                <a:effectLst/>
                <a:uLnTx/>
                <a:uFillTx/>
                <a:latin typeface="Cambria" pitchFamily="18" charset="0"/>
                <a:ea typeface="Cambria" pitchFamily="18" charset="0"/>
                <a:cs typeface="Arial" panose="020B0604020202020204" pitchFamily="34" charset="0"/>
              </a:rPr>
              <a:t>VIDYA VIKAS INSTITUTE OF ENGINEERING &amp; TECHNOLOGY</a:t>
            </a:r>
          </a:p>
        </p:txBody>
      </p:sp>
      <p:sp>
        <p:nvSpPr>
          <p:cNvPr id="11" name="Rectangle 10"/>
          <p:cNvSpPr/>
          <p:nvPr/>
        </p:nvSpPr>
        <p:spPr>
          <a:xfrm>
            <a:off x="-3114" y="1199330"/>
            <a:ext cx="10083250" cy="131415"/>
          </a:xfrm>
          <a:prstGeom prst="rect">
            <a:avLst/>
          </a:prstGeom>
          <a:solidFill>
            <a:srgbClr val="D60093"/>
          </a:solidFill>
        </p:spPr>
        <p:txBody>
          <a:bodyPr wrap="square" lIns="0" tIns="0" rIns="0" bIns="0" rtlCol="0"/>
          <a:lstStyle/>
          <a:p>
            <a:pPr marL="0" marR="0" lvl="0" indent="0" algn="l" defTabSz="756209" rtl="0" eaLnBrk="1" fontAlgn="auto" latinLnBrk="0" hangingPunct="1">
              <a:lnSpc>
                <a:spcPct val="100000"/>
              </a:lnSpc>
              <a:spcBef>
                <a:spcPts val="0"/>
              </a:spcBef>
              <a:spcAft>
                <a:spcPts val="0"/>
              </a:spcAft>
              <a:buClrTx/>
              <a:buSzTx/>
              <a:buFontTx/>
              <a:buNone/>
              <a:tabLst/>
              <a:defRPr/>
            </a:pPr>
            <a:endParaRPr kumimoji="0" lang="en-IN" sz="1489" b="0" i="0" u="none" strike="noStrike" kern="1200" cap="none" spc="0" normalizeH="0" baseline="0" noProof="0">
              <a:ln>
                <a:noFill/>
              </a:ln>
              <a:solidFill>
                <a:prstClr val="black"/>
              </a:solidFill>
              <a:effectLst/>
              <a:uLnTx/>
              <a:uFillTx/>
              <a:latin typeface="Book Antiqua"/>
              <a:ea typeface="+mn-ea"/>
              <a:cs typeface="+mn-cs"/>
            </a:endParaRPr>
          </a:p>
        </p:txBody>
      </p:sp>
    </p:spTree>
    <p:extLst>
      <p:ext uri="{BB962C8B-B14F-4D97-AF65-F5344CB8AC3E}">
        <p14:creationId xmlns:p14="http://schemas.microsoft.com/office/powerpoint/2010/main" val="659781482"/>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Lst>
  <p:hf hdr="0"/>
  <p:txStyles>
    <p:titleStyle>
      <a:lvl1pPr algn="ctr" defTabSz="756209" rtl="0" eaLnBrk="1" latinLnBrk="0" hangingPunct="1">
        <a:spcBef>
          <a:spcPct val="0"/>
        </a:spcBef>
        <a:buNone/>
        <a:defRPr sz="3639" kern="1200">
          <a:solidFill>
            <a:schemeClr val="tx1"/>
          </a:solidFill>
          <a:latin typeface="+mj-lt"/>
          <a:ea typeface="+mj-ea"/>
          <a:cs typeface="+mj-cs"/>
        </a:defRPr>
      </a:lvl1pPr>
    </p:titleStyle>
    <p:bodyStyle>
      <a:lvl1pPr marL="283578" indent="-283578" algn="l" defTabSz="756209" rtl="0" eaLnBrk="1" latinLnBrk="0" hangingPunct="1">
        <a:spcBef>
          <a:spcPct val="20000"/>
        </a:spcBef>
        <a:buFont typeface="Arial" pitchFamily="34" charset="0"/>
        <a:buChar char="•"/>
        <a:defRPr sz="2646" kern="1200">
          <a:solidFill>
            <a:schemeClr val="tx1"/>
          </a:solidFill>
          <a:latin typeface="+mn-lt"/>
          <a:ea typeface="+mn-ea"/>
          <a:cs typeface="+mn-cs"/>
        </a:defRPr>
      </a:lvl1pPr>
      <a:lvl2pPr marL="614420" indent="-236315" algn="l" defTabSz="756209" rtl="0" eaLnBrk="1" latinLnBrk="0" hangingPunct="1">
        <a:spcBef>
          <a:spcPct val="20000"/>
        </a:spcBef>
        <a:buFont typeface="Arial" pitchFamily="34" charset="0"/>
        <a:buChar char="–"/>
        <a:defRPr sz="2316" kern="1200">
          <a:solidFill>
            <a:schemeClr val="tx1"/>
          </a:solidFill>
          <a:latin typeface="+mn-lt"/>
          <a:ea typeface="+mn-ea"/>
          <a:cs typeface="+mn-cs"/>
        </a:defRPr>
      </a:lvl2pPr>
      <a:lvl3pPr marL="945261" indent="-189052" algn="l" defTabSz="756209" rtl="0" eaLnBrk="1" latinLnBrk="0" hangingPunct="1">
        <a:spcBef>
          <a:spcPct val="20000"/>
        </a:spcBef>
        <a:buFont typeface="Arial" pitchFamily="34" charset="0"/>
        <a:buChar char="•"/>
        <a:defRPr sz="1985" kern="1200">
          <a:solidFill>
            <a:schemeClr val="tx1"/>
          </a:solidFill>
          <a:latin typeface="+mn-lt"/>
          <a:ea typeface="+mn-ea"/>
          <a:cs typeface="+mn-cs"/>
        </a:defRPr>
      </a:lvl3pPr>
      <a:lvl4pPr marL="1323365"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4pPr>
      <a:lvl5pPr marL="1701470"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5pPr>
      <a:lvl6pPr marL="2079574"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6pPr>
      <a:lvl7pPr marL="2457679"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7pPr>
      <a:lvl8pPr marL="2835783"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8pPr>
      <a:lvl9pPr marL="3213887"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9pPr>
    </p:bodyStyle>
    <p:otherStyle>
      <a:defPPr>
        <a:defRPr lang="en-US"/>
      </a:defPPr>
      <a:lvl1pPr marL="0" algn="l" defTabSz="756209" rtl="0" eaLnBrk="1" latinLnBrk="0" hangingPunct="1">
        <a:defRPr sz="1489" kern="1200">
          <a:solidFill>
            <a:schemeClr val="tx1"/>
          </a:solidFill>
          <a:latin typeface="+mn-lt"/>
          <a:ea typeface="+mn-ea"/>
          <a:cs typeface="+mn-cs"/>
        </a:defRPr>
      </a:lvl1pPr>
      <a:lvl2pPr marL="378104" algn="l" defTabSz="756209" rtl="0" eaLnBrk="1" latinLnBrk="0" hangingPunct="1">
        <a:defRPr sz="1489" kern="1200">
          <a:solidFill>
            <a:schemeClr val="tx1"/>
          </a:solidFill>
          <a:latin typeface="+mn-lt"/>
          <a:ea typeface="+mn-ea"/>
          <a:cs typeface="+mn-cs"/>
        </a:defRPr>
      </a:lvl2pPr>
      <a:lvl3pPr marL="756209" algn="l" defTabSz="756209" rtl="0" eaLnBrk="1" latinLnBrk="0" hangingPunct="1">
        <a:defRPr sz="1489" kern="1200">
          <a:solidFill>
            <a:schemeClr val="tx1"/>
          </a:solidFill>
          <a:latin typeface="+mn-lt"/>
          <a:ea typeface="+mn-ea"/>
          <a:cs typeface="+mn-cs"/>
        </a:defRPr>
      </a:lvl3pPr>
      <a:lvl4pPr marL="1134313" algn="l" defTabSz="756209" rtl="0" eaLnBrk="1" latinLnBrk="0" hangingPunct="1">
        <a:defRPr sz="1489" kern="1200">
          <a:solidFill>
            <a:schemeClr val="tx1"/>
          </a:solidFill>
          <a:latin typeface="+mn-lt"/>
          <a:ea typeface="+mn-ea"/>
          <a:cs typeface="+mn-cs"/>
        </a:defRPr>
      </a:lvl4pPr>
      <a:lvl5pPr marL="1512418" algn="l" defTabSz="756209" rtl="0" eaLnBrk="1" latinLnBrk="0" hangingPunct="1">
        <a:defRPr sz="1489" kern="1200">
          <a:solidFill>
            <a:schemeClr val="tx1"/>
          </a:solidFill>
          <a:latin typeface="+mn-lt"/>
          <a:ea typeface="+mn-ea"/>
          <a:cs typeface="+mn-cs"/>
        </a:defRPr>
      </a:lvl5pPr>
      <a:lvl6pPr marL="1890522" algn="l" defTabSz="756209" rtl="0" eaLnBrk="1" latinLnBrk="0" hangingPunct="1">
        <a:defRPr sz="1489" kern="1200">
          <a:solidFill>
            <a:schemeClr val="tx1"/>
          </a:solidFill>
          <a:latin typeface="+mn-lt"/>
          <a:ea typeface="+mn-ea"/>
          <a:cs typeface="+mn-cs"/>
        </a:defRPr>
      </a:lvl6pPr>
      <a:lvl7pPr marL="2268626" algn="l" defTabSz="756209" rtl="0" eaLnBrk="1" latinLnBrk="0" hangingPunct="1">
        <a:defRPr sz="1489" kern="1200">
          <a:solidFill>
            <a:schemeClr val="tx1"/>
          </a:solidFill>
          <a:latin typeface="+mn-lt"/>
          <a:ea typeface="+mn-ea"/>
          <a:cs typeface="+mn-cs"/>
        </a:defRPr>
      </a:lvl7pPr>
      <a:lvl8pPr marL="2646731" algn="l" defTabSz="756209" rtl="0" eaLnBrk="1" latinLnBrk="0" hangingPunct="1">
        <a:defRPr sz="1489" kern="1200">
          <a:solidFill>
            <a:schemeClr val="tx1"/>
          </a:solidFill>
          <a:latin typeface="+mn-lt"/>
          <a:ea typeface="+mn-ea"/>
          <a:cs typeface="+mn-cs"/>
        </a:defRPr>
      </a:lvl8pPr>
      <a:lvl9pPr marL="3024835" algn="l" defTabSz="756209" rtl="0" eaLnBrk="1" latinLnBrk="0" hangingPunct="1">
        <a:defRPr sz="14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4031" y="2708491"/>
            <a:ext cx="9072299" cy="1285993"/>
          </a:xfrm>
          <a:prstGeom prst="rect">
            <a:avLst/>
          </a:prstGeom>
        </p:spPr>
        <p:txBody>
          <a:bodyPr/>
          <a:lstStyle/>
          <a:p>
            <a:r>
              <a:rPr lang="en-IN" sz="4000" b="1" dirty="0">
                <a:latin typeface="Times new roman"/>
              </a:rPr>
              <a:t>International Business</a:t>
            </a:r>
            <a:br>
              <a:rPr lang="en-IN" dirty="0"/>
            </a:br>
            <a:r>
              <a:rPr lang="en-GB" b="1" dirty="0">
                <a:solidFill>
                  <a:srgbClr val="002060"/>
                </a:solidFill>
                <a:latin typeface="Cambria" pitchFamily="18" charset="0"/>
              </a:rPr>
              <a:t>22MBA401</a:t>
            </a:r>
            <a:endParaRPr lang="en-US" dirty="0"/>
          </a:p>
        </p:txBody>
      </p:sp>
      <p:sp>
        <p:nvSpPr>
          <p:cNvPr id="3" name="Date Placeholder 2"/>
          <p:cNvSpPr>
            <a:spLocks noGrp="1"/>
          </p:cNvSpPr>
          <p:nvPr>
            <p:ph type="dt" sz="half" idx="10"/>
          </p:nvPr>
        </p:nvSpPr>
        <p:spPr/>
        <p:txBody>
          <a:bodyPr/>
          <a:lstStyle/>
          <a:p>
            <a:pPr defTabSz="756209"/>
            <a:fld id="{2B21D306-1AEB-47FB-8750-303610154917}" type="datetime3">
              <a:rPr lang="en-US" smtClean="0"/>
              <a:t>8 September 2025</a:t>
            </a:fld>
            <a:endParaRPr lang="en-US" dirty="0"/>
          </a:p>
        </p:txBody>
      </p:sp>
      <p:sp>
        <p:nvSpPr>
          <p:cNvPr id="4" name="Slide Number Placeholder 3"/>
          <p:cNvSpPr>
            <a:spLocks noGrp="1"/>
          </p:cNvSpPr>
          <p:nvPr>
            <p:ph type="sldNum" sz="quarter" idx="11"/>
          </p:nvPr>
        </p:nvSpPr>
        <p:spPr/>
        <p:txBody>
          <a:bodyPr/>
          <a:lstStyle/>
          <a:p>
            <a:pPr defTabSz="756209"/>
            <a:fld id="{B6F15528-21DE-4FAA-801E-634DDDAF4B2B}" type="slidenum">
              <a:rPr lang="en-US"/>
              <a:pPr defTabSz="756209"/>
              <a:t>1</a:t>
            </a:fld>
            <a:endParaRPr lang="en-US"/>
          </a:p>
        </p:txBody>
      </p:sp>
      <p:sp>
        <p:nvSpPr>
          <p:cNvPr id="5" name="Footer Placeholder 4"/>
          <p:cNvSpPr>
            <a:spLocks noGrp="1"/>
          </p:cNvSpPr>
          <p:nvPr>
            <p:ph type="ftr" sz="quarter" idx="12"/>
          </p:nvPr>
        </p:nvSpPr>
        <p:spPr>
          <a:xfrm>
            <a:off x="1484555" y="7006701"/>
            <a:ext cx="6970955" cy="402483"/>
          </a:xfrm>
        </p:spPr>
        <p:txBody>
          <a:bodyPr/>
          <a:lstStyle/>
          <a:p>
            <a:pPr defTabSz="756209"/>
            <a:r>
              <a:rPr lang="en-US" dirty="0"/>
              <a:t>Mr. </a:t>
            </a:r>
            <a:r>
              <a:rPr lang="en-US" dirty="0" err="1"/>
              <a:t>Madhunayaka</a:t>
            </a:r>
            <a:r>
              <a:rPr lang="en-US" dirty="0"/>
              <a:t>, Assistant Professor. Department of MBA, VVIET, Mysuru</a:t>
            </a:r>
          </a:p>
        </p:txBody>
      </p:sp>
      <p:sp>
        <p:nvSpPr>
          <p:cNvPr id="7" name="Rectangle 6"/>
          <p:cNvSpPr/>
          <p:nvPr/>
        </p:nvSpPr>
        <p:spPr>
          <a:xfrm>
            <a:off x="1141581" y="4369737"/>
            <a:ext cx="6639340" cy="1868204"/>
          </a:xfrm>
          <a:prstGeom prst="rect">
            <a:avLst/>
          </a:prstGeom>
        </p:spPr>
        <p:txBody>
          <a:bodyPr wrap="square">
            <a:spAutoFit/>
          </a:bodyPr>
          <a:lstStyle/>
          <a:p>
            <a:pPr marL="951826" lvl="8" algn="ctr" defTabSz="756209">
              <a:lnSpc>
                <a:spcPct val="150000"/>
              </a:lnSpc>
            </a:pPr>
            <a:r>
              <a:rPr lang="en-US" sz="1985" b="1" dirty="0">
                <a:solidFill>
                  <a:srgbClr val="002060"/>
                </a:solidFill>
                <a:latin typeface="Cambria" pitchFamily="18" charset="0"/>
              </a:rPr>
              <a:t>Course Coordinator:</a:t>
            </a:r>
          </a:p>
          <a:p>
            <a:pPr marL="951826" lvl="8" algn="ctr" defTabSz="756209">
              <a:lnSpc>
                <a:spcPct val="150000"/>
              </a:lnSpc>
            </a:pPr>
            <a:r>
              <a:rPr lang="en-US" sz="1985" b="1" dirty="0">
                <a:solidFill>
                  <a:srgbClr val="002060"/>
                </a:solidFill>
                <a:latin typeface="Cambria" pitchFamily="18" charset="0"/>
              </a:rPr>
              <a:t>Prof. </a:t>
            </a:r>
            <a:r>
              <a:rPr lang="en-US" sz="1985" b="1" dirty="0" err="1">
                <a:solidFill>
                  <a:srgbClr val="002060"/>
                </a:solidFill>
                <a:latin typeface="Cambria" pitchFamily="18" charset="0"/>
              </a:rPr>
              <a:t>Madhunayaka</a:t>
            </a:r>
            <a:endParaRPr lang="en-US" sz="1985" b="1" dirty="0">
              <a:solidFill>
                <a:srgbClr val="002060"/>
              </a:solidFill>
              <a:latin typeface="Cambria" pitchFamily="18" charset="0"/>
            </a:endParaRPr>
          </a:p>
          <a:p>
            <a:pPr marL="951826" lvl="8" algn="ctr" defTabSz="756209"/>
            <a:r>
              <a:rPr lang="en-US" b="1" dirty="0">
                <a:solidFill>
                  <a:srgbClr val="D60093"/>
                </a:solidFill>
                <a:latin typeface="Cambria" pitchFamily="18" charset="0"/>
              </a:rPr>
              <a:t>Assistant Professor,</a:t>
            </a:r>
          </a:p>
          <a:p>
            <a:pPr marL="951826" lvl="8" algn="ctr" defTabSz="756209"/>
            <a:r>
              <a:rPr lang="en-US" dirty="0">
                <a:solidFill>
                  <a:srgbClr val="D60093"/>
                </a:solidFill>
                <a:latin typeface="Cambria" pitchFamily="18" charset="0"/>
              </a:rPr>
              <a:t>Department of MBA,</a:t>
            </a:r>
          </a:p>
          <a:p>
            <a:pPr marL="951826" lvl="8" algn="ctr" defTabSz="756209"/>
            <a:r>
              <a:rPr lang="en-US" dirty="0">
                <a:solidFill>
                  <a:srgbClr val="D60093"/>
                </a:solidFill>
                <a:latin typeface="Cambria" pitchFamily="18" charset="0"/>
              </a:rPr>
              <a:t>VVIET , </a:t>
            </a:r>
            <a:r>
              <a:rPr lang="en-US" dirty="0" err="1">
                <a:solidFill>
                  <a:srgbClr val="D60093"/>
                </a:solidFill>
                <a:latin typeface="Cambria" pitchFamily="18" charset="0"/>
              </a:rPr>
              <a:t>Mysuru</a:t>
            </a:r>
            <a:r>
              <a:rPr lang="en-US" dirty="0">
                <a:solidFill>
                  <a:srgbClr val="D60093"/>
                </a:solidFill>
                <a:latin typeface="Cambria" pitchFamily="18" charset="0"/>
              </a:rPr>
              <a:t>  </a:t>
            </a:r>
            <a:r>
              <a:rPr lang="en-US" sz="1737" dirty="0">
                <a:solidFill>
                  <a:srgbClr val="D60093"/>
                </a:solidFill>
                <a:latin typeface="Cambria" pitchFamily="18" charset="0"/>
              </a:rPr>
              <a:t>                   </a:t>
            </a:r>
            <a:endParaRPr lang="en-US" sz="1737" b="1" dirty="0">
              <a:solidFill>
                <a:srgbClr val="D60093"/>
              </a:solidFill>
              <a:latin typeface="Book Antiqua"/>
            </a:endParaRPr>
          </a:p>
        </p:txBody>
      </p:sp>
      <p:sp>
        <p:nvSpPr>
          <p:cNvPr id="8" name="CustomShape 1"/>
          <p:cNvSpPr/>
          <p:nvPr/>
        </p:nvSpPr>
        <p:spPr>
          <a:xfrm>
            <a:off x="584667" y="318253"/>
            <a:ext cx="8560440" cy="590362"/>
          </a:xfrm>
          <a:prstGeom prst="rect">
            <a:avLst/>
          </a:prstGeom>
          <a:noFill/>
          <a:ln>
            <a:noFill/>
          </a:ln>
        </p:spPr>
        <p:txBody>
          <a:bodyPr lIns="0" tIns="0" rIns="0" bIns="0" anchor="ctr"/>
          <a:lstStyle/>
          <a:p>
            <a:pPr algn="ctr">
              <a:lnSpc>
                <a:spcPct val="100000"/>
              </a:lnSpc>
            </a:pPr>
            <a:r>
              <a:rPr lang="en-US" sz="3600" b="1" dirty="0">
                <a:solidFill>
                  <a:schemeClr val="bg1"/>
                </a:solidFill>
                <a:latin typeface="Arial"/>
              </a:rPr>
              <a:t>CORE SUBJECT</a:t>
            </a:r>
            <a:endParaRPr sz="1400" b="1" dirty="0">
              <a:solidFill>
                <a:schemeClr val="bg1"/>
              </a:solidFill>
            </a:endParaRPr>
          </a:p>
        </p:txBody>
      </p:sp>
    </p:spTree>
    <p:extLst>
      <p:ext uri="{BB962C8B-B14F-4D97-AF65-F5344CB8AC3E}">
        <p14:creationId xmlns:p14="http://schemas.microsoft.com/office/powerpoint/2010/main" val="15309560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970" y="1459747"/>
            <a:ext cx="9250624" cy="4640179"/>
          </a:xfrm>
          <a:prstGeom prst="rect">
            <a:avLst/>
          </a:prstGeom>
        </p:spPr>
        <p:style>
          <a:lnRef idx="2">
            <a:schemeClr val="dk1"/>
          </a:lnRef>
          <a:fillRef idx="1">
            <a:schemeClr val="lt1"/>
          </a:fillRef>
          <a:effectRef idx="0">
            <a:schemeClr val="dk1"/>
          </a:effectRef>
          <a:fontRef idx="minor">
            <a:schemeClr val="dk1"/>
          </a:fontRef>
        </p:style>
        <p:txBody>
          <a:bodyPr/>
          <a:lstStyle/>
          <a:p>
            <a:pPr algn="just">
              <a:lnSpc>
                <a:spcPct val="107000"/>
              </a:lnSpc>
              <a:spcAft>
                <a:spcPts val="800"/>
              </a:spcAft>
            </a:pPr>
            <a:r>
              <a:rPr lang="en-IN" sz="2400" dirty="0">
                <a:effectLst/>
              </a:rPr>
              <a:t>Module-5 (6Hours)</a:t>
            </a:r>
            <a:br>
              <a:rPr lang="en-IN" sz="2400" dirty="0">
                <a:effectLst/>
              </a:rPr>
            </a:br>
            <a:br>
              <a:rPr lang="en-IN" sz="20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rPr>
              <a:t> Multi-National Corporations: Definition and Meaning, factors that contributed to positive growth of MNCs,</a:t>
            </a:r>
            <a:br>
              <a:rPr lang="en-US" sz="2400" dirty="0">
                <a:effectLst/>
              </a:rPr>
            </a:br>
            <a:r>
              <a:rPr lang="en-US" sz="2400" dirty="0">
                <a:effectLst/>
              </a:rPr>
              <a:t>Importance of MNCs, Advantages and disadvantages of MNCs, MNCs in India, Organizational structure of</a:t>
            </a:r>
            <a:br>
              <a:rPr lang="en-US" sz="2400" dirty="0">
                <a:effectLst/>
              </a:rPr>
            </a:br>
            <a:r>
              <a:rPr lang="en-US" sz="2400" dirty="0">
                <a:effectLst/>
              </a:rPr>
              <a:t>MNCs, Transfer of Technology, Global Competitiveness, Indicators of competitiveness, Technology of Global</a:t>
            </a:r>
            <a:br>
              <a:rPr lang="en-US" sz="2400" dirty="0">
                <a:effectLst/>
              </a:rPr>
            </a:br>
            <a:r>
              <a:rPr lang="en-US" sz="2400" dirty="0">
                <a:effectLst/>
              </a:rPr>
              <a:t>competitiveness.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Date Placeholder 2"/>
          <p:cNvSpPr>
            <a:spLocks noGrp="1"/>
          </p:cNvSpPr>
          <p:nvPr>
            <p:ph type="dt" sz="half" idx="10"/>
          </p:nvPr>
        </p:nvSpPr>
        <p:spPr>
          <a:xfrm>
            <a:off x="504031" y="6200870"/>
            <a:ext cx="2352146" cy="301972"/>
          </a:xfrm>
        </p:spPr>
        <p:txBody>
          <a:bodyPr/>
          <a:lstStyle/>
          <a:p>
            <a:fld id="{09B8F1D0-15F3-4E99-BB47-BEF58934FAA1}" type="datetime3">
              <a:rPr lang="en-US" smtClean="0"/>
              <a:t>8 September 2025</a:t>
            </a:fld>
            <a:endParaRPr lang="en-US"/>
          </a:p>
        </p:txBody>
      </p:sp>
      <p:sp>
        <p:nvSpPr>
          <p:cNvPr id="4" name="Footer Placeholder 3"/>
          <p:cNvSpPr>
            <a:spLocks noGrp="1"/>
          </p:cNvSpPr>
          <p:nvPr>
            <p:ph type="ftr" sz="quarter" idx="12"/>
          </p:nvPr>
        </p:nvSpPr>
        <p:spPr>
          <a:xfrm>
            <a:off x="3444214" y="6200870"/>
            <a:ext cx="3192198" cy="301972"/>
          </a:xfrm>
        </p:spPr>
        <p:txBody>
          <a:bodyPr/>
          <a:lstStyle/>
          <a:p>
            <a:r>
              <a:rPr lang="en-US" dirty="0"/>
              <a:t>Prof. </a:t>
            </a:r>
            <a:r>
              <a:rPr lang="en-US" dirty="0" err="1"/>
              <a:t>Madhynayaka</a:t>
            </a:r>
            <a:r>
              <a:rPr lang="en-US" dirty="0"/>
              <a:t>,  Department of MBA, VVIET, Mysuru</a:t>
            </a:r>
          </a:p>
        </p:txBody>
      </p:sp>
      <p:sp>
        <p:nvSpPr>
          <p:cNvPr id="5" name="Slide Number Placeholder 4"/>
          <p:cNvSpPr>
            <a:spLocks noGrp="1"/>
          </p:cNvSpPr>
          <p:nvPr>
            <p:ph type="sldNum" sz="quarter" idx="11"/>
          </p:nvPr>
        </p:nvSpPr>
        <p:spPr>
          <a:xfrm>
            <a:off x="7224448" y="6200870"/>
            <a:ext cx="2352146" cy="301972"/>
          </a:xfrm>
        </p:spPr>
        <p:txBody>
          <a:bodyPr anchor="t"/>
          <a:lstStyle/>
          <a:p>
            <a:fld id="{B6F15528-21DE-4FAA-801E-634DDDAF4B2B}" type="slidenum">
              <a:rPr lang="en-US" smtClean="0"/>
              <a:pPr/>
              <a:t>2</a:t>
            </a:fld>
            <a:endParaRPr lang="en-US"/>
          </a:p>
        </p:txBody>
      </p:sp>
      <p:sp>
        <p:nvSpPr>
          <p:cNvPr id="7" name="Rectangle 6"/>
          <p:cNvSpPr/>
          <p:nvPr/>
        </p:nvSpPr>
        <p:spPr>
          <a:xfrm>
            <a:off x="1259638" y="360571"/>
            <a:ext cx="5419747" cy="461665"/>
          </a:xfrm>
          <a:prstGeom prst="rect">
            <a:avLst/>
          </a:prstGeom>
        </p:spPr>
        <p:txBody>
          <a:bodyPr wrap="square">
            <a:spAutoFit/>
          </a:bodyPr>
          <a:lstStyle/>
          <a:p>
            <a:r>
              <a:rPr lang="en-IN" sz="2400" b="1" dirty="0">
                <a:solidFill>
                  <a:schemeClr val="bg1"/>
                </a:solidFill>
                <a:latin typeface="Arial"/>
              </a:rPr>
              <a:t>Contents of  MODULE - 5</a:t>
            </a:r>
            <a:endParaRPr lang="en-IN" sz="2400" b="1" dirty="0">
              <a:solidFill>
                <a:schemeClr val="bg1"/>
              </a:solidFill>
            </a:endParaRPr>
          </a:p>
        </p:txBody>
      </p:sp>
    </p:spTree>
    <p:extLst>
      <p:ext uri="{BB962C8B-B14F-4D97-AF65-F5344CB8AC3E}">
        <p14:creationId xmlns:p14="http://schemas.microsoft.com/office/powerpoint/2010/main" val="7895107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3DAC7C-1C1A-4E5C-B881-3C58E7B212A1}"/>
              </a:ext>
            </a:extLst>
          </p:cNvPr>
          <p:cNvSpPr>
            <a:spLocks noGrp="1"/>
          </p:cNvSpPr>
          <p:nvPr>
            <p:ph type="title"/>
          </p:nvPr>
        </p:nvSpPr>
        <p:spPr>
          <a:xfrm>
            <a:off x="1278308" y="150491"/>
            <a:ext cx="6654730" cy="820991"/>
          </a:xfrm>
        </p:spPr>
        <p:txBody>
          <a:bodyPr/>
          <a:lstStyle/>
          <a:p>
            <a:r>
              <a:rPr lang="en-US" sz="2800" b="1" dirty="0">
                <a:solidFill>
                  <a:schemeClr val="bg1"/>
                </a:solidFill>
              </a:rPr>
              <a:t>Multi-National Corporations: Definition and Meaning</a:t>
            </a:r>
            <a:endParaRPr lang="en-IN" sz="2800" b="1" dirty="0">
              <a:solidFill>
                <a:schemeClr val="bg1"/>
              </a:solidFill>
            </a:endParaRPr>
          </a:p>
        </p:txBody>
      </p:sp>
      <p:sp>
        <p:nvSpPr>
          <p:cNvPr id="3" name="Date Placeholder 2">
            <a:extLst>
              <a:ext uri="{FF2B5EF4-FFF2-40B4-BE49-F238E27FC236}">
                <a16:creationId xmlns:a16="http://schemas.microsoft.com/office/drawing/2014/main" id="{DCC72FF9-BEE2-439B-93E0-F557A9315952}"/>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81EAE869-30C0-4857-9671-B8C1BAD98D3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D5FDF5C-900B-42E3-AD77-8A3CD29328C3}"/>
              </a:ext>
            </a:extLst>
          </p:cNvPr>
          <p:cNvSpPr>
            <a:spLocks noGrp="1"/>
          </p:cNvSpPr>
          <p:nvPr>
            <p:ph type="sldNum" sz="quarter" idx="12"/>
          </p:nvPr>
        </p:nvSpPr>
        <p:spPr/>
        <p:txBody>
          <a:bodyPr/>
          <a:lstStyle/>
          <a:p>
            <a:pPr defTabSz="756209"/>
            <a:fld id="{B6F15528-21DE-4FAA-801E-634DDDAF4B2B}" type="slidenum">
              <a:rPr lang="en-US" smtClean="0"/>
              <a:pPr defTabSz="756209"/>
              <a:t>3</a:t>
            </a:fld>
            <a:endParaRPr lang="en-US"/>
          </a:p>
        </p:txBody>
      </p:sp>
      <p:pic>
        <p:nvPicPr>
          <p:cNvPr id="7" name="Picture 6">
            <a:extLst>
              <a:ext uri="{FF2B5EF4-FFF2-40B4-BE49-F238E27FC236}">
                <a16:creationId xmlns:a16="http://schemas.microsoft.com/office/drawing/2014/main" id="{96E9E336-736C-F789-C68B-3161B8669788}"/>
              </a:ext>
            </a:extLst>
          </p:cNvPr>
          <p:cNvPicPr>
            <a:picLocks noChangeAspect="1"/>
          </p:cNvPicPr>
          <p:nvPr/>
        </p:nvPicPr>
        <p:blipFill>
          <a:blip r:embed="rId2"/>
          <a:stretch>
            <a:fillRect/>
          </a:stretch>
        </p:blipFill>
        <p:spPr>
          <a:xfrm>
            <a:off x="5217347" y="1389674"/>
            <a:ext cx="4697300" cy="3296863"/>
          </a:xfrm>
          <a:prstGeom prst="rect">
            <a:avLst/>
          </a:prstGeom>
          <a:ln>
            <a:noFill/>
          </a:ln>
          <a:effectLst>
            <a:softEdge rad="112500"/>
          </a:effectLst>
        </p:spPr>
      </p:pic>
      <p:sp>
        <p:nvSpPr>
          <p:cNvPr id="8" name="TextBox 7">
            <a:extLst>
              <a:ext uri="{FF2B5EF4-FFF2-40B4-BE49-F238E27FC236}">
                <a16:creationId xmlns:a16="http://schemas.microsoft.com/office/drawing/2014/main" id="{C4C0D4BA-7379-320B-DB12-CB58D2BF6E46}"/>
              </a:ext>
            </a:extLst>
          </p:cNvPr>
          <p:cNvSpPr txBox="1"/>
          <p:nvPr/>
        </p:nvSpPr>
        <p:spPr>
          <a:xfrm>
            <a:off x="150607" y="1538344"/>
            <a:ext cx="5066740" cy="3139321"/>
          </a:xfrm>
          <a:prstGeom prst="rect">
            <a:avLst/>
          </a:prstGeom>
          <a:noFill/>
        </p:spPr>
        <p:txBody>
          <a:bodyPr wrap="square" rtlCol="0">
            <a:spAutoFit/>
          </a:bodyPr>
          <a:lstStyle/>
          <a:p>
            <a:r>
              <a:rPr lang="en-US" b="1" u="sng" dirty="0"/>
              <a:t>Nature of MNCs</a:t>
            </a:r>
          </a:p>
          <a:p>
            <a:pPr marL="342900" indent="-342900">
              <a:buAutoNum type="arabicPeriod"/>
            </a:pPr>
            <a:r>
              <a:rPr lang="en-US" dirty="0"/>
              <a:t>Huge Size</a:t>
            </a:r>
          </a:p>
          <a:p>
            <a:pPr marL="342900" indent="-342900">
              <a:buAutoNum type="arabicPeriod"/>
            </a:pPr>
            <a:r>
              <a:rPr lang="en-US" dirty="0"/>
              <a:t>International Operations</a:t>
            </a:r>
          </a:p>
          <a:p>
            <a:pPr marL="342900" indent="-342900">
              <a:buAutoNum type="arabicPeriod"/>
            </a:pPr>
            <a:r>
              <a:rPr lang="en-US" dirty="0"/>
              <a:t>Oligopolistic Power</a:t>
            </a:r>
          </a:p>
          <a:p>
            <a:pPr marL="342900" indent="-342900">
              <a:buAutoNum type="arabicPeriod"/>
            </a:pPr>
            <a:r>
              <a:rPr lang="en-US" dirty="0"/>
              <a:t>Transfer of Resources</a:t>
            </a:r>
          </a:p>
          <a:p>
            <a:pPr marL="342900" indent="-342900">
              <a:buAutoNum type="arabicPeriod"/>
            </a:pPr>
            <a:r>
              <a:rPr lang="en-US" dirty="0"/>
              <a:t>International Market</a:t>
            </a:r>
          </a:p>
          <a:p>
            <a:pPr marL="342900" indent="-342900">
              <a:buAutoNum type="arabicPeriod"/>
            </a:pPr>
            <a:r>
              <a:rPr lang="en-US" dirty="0"/>
              <a:t>Refined Technology</a:t>
            </a:r>
          </a:p>
          <a:p>
            <a:pPr marL="342900" indent="-342900">
              <a:buAutoNum type="arabicPeriod"/>
            </a:pPr>
            <a:r>
              <a:rPr lang="en-US" dirty="0"/>
              <a:t>Professional Management</a:t>
            </a:r>
          </a:p>
          <a:p>
            <a:pPr marL="342900" indent="-342900">
              <a:buAutoNum type="arabicPeriod"/>
            </a:pPr>
            <a:r>
              <a:rPr lang="en-US" dirty="0"/>
              <a:t>Single Managerial Control</a:t>
            </a:r>
          </a:p>
          <a:p>
            <a:pPr marL="342900" indent="-342900">
              <a:buAutoNum type="arabicPeriod"/>
            </a:pPr>
            <a:r>
              <a:rPr lang="en-US" dirty="0"/>
              <a:t>Offers Economies of Scale</a:t>
            </a:r>
          </a:p>
          <a:p>
            <a:pPr marL="342900" indent="-342900">
              <a:buAutoNum type="arabicPeriod"/>
            </a:pPr>
            <a:r>
              <a:rPr lang="en-US" dirty="0"/>
              <a:t>Integrated Worldwide Business System</a:t>
            </a:r>
            <a:endParaRPr lang="en-IN" dirty="0"/>
          </a:p>
        </p:txBody>
      </p:sp>
    </p:spTree>
    <p:extLst>
      <p:ext uri="{BB962C8B-B14F-4D97-AF65-F5344CB8AC3E}">
        <p14:creationId xmlns:p14="http://schemas.microsoft.com/office/powerpoint/2010/main" val="1290032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E4D79-CB14-034C-72EC-2C7C9916323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7097C18-3873-D8CE-7C73-F6B48A060D74}"/>
              </a:ext>
            </a:extLst>
          </p:cNvPr>
          <p:cNvSpPr>
            <a:spLocks noGrp="1"/>
          </p:cNvSpPr>
          <p:nvPr>
            <p:ph type="title"/>
          </p:nvPr>
        </p:nvSpPr>
        <p:spPr>
          <a:xfrm>
            <a:off x="1278308" y="150491"/>
            <a:ext cx="6654730" cy="820991"/>
          </a:xfrm>
        </p:spPr>
        <p:txBody>
          <a:bodyPr/>
          <a:lstStyle/>
          <a:p>
            <a:r>
              <a:rPr lang="en-US" sz="2800" b="1" dirty="0">
                <a:solidFill>
                  <a:schemeClr val="bg1"/>
                </a:solidFill>
              </a:rPr>
              <a:t>Factors that contributed to positive growth of MNCs</a:t>
            </a:r>
            <a:endParaRPr lang="en-IN" sz="2800" b="1" dirty="0">
              <a:solidFill>
                <a:schemeClr val="bg1"/>
              </a:solidFill>
            </a:endParaRPr>
          </a:p>
        </p:txBody>
      </p:sp>
      <p:sp>
        <p:nvSpPr>
          <p:cNvPr id="3" name="Date Placeholder 2">
            <a:extLst>
              <a:ext uri="{FF2B5EF4-FFF2-40B4-BE49-F238E27FC236}">
                <a16:creationId xmlns:a16="http://schemas.microsoft.com/office/drawing/2014/main" id="{E7432B57-A841-9394-A8E2-9EAD37064351}"/>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B1A27B5E-CBD3-EA8F-9F67-7BC3A2CF0B5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2298ECDE-493C-CD30-4D2C-F814E24CCE5F}"/>
              </a:ext>
            </a:extLst>
          </p:cNvPr>
          <p:cNvSpPr>
            <a:spLocks noGrp="1"/>
          </p:cNvSpPr>
          <p:nvPr>
            <p:ph type="sldNum" sz="quarter" idx="12"/>
          </p:nvPr>
        </p:nvSpPr>
        <p:spPr/>
        <p:txBody>
          <a:bodyPr/>
          <a:lstStyle/>
          <a:p>
            <a:pPr defTabSz="756209"/>
            <a:fld id="{B6F15528-21DE-4FAA-801E-634DDDAF4B2B}" type="slidenum">
              <a:rPr lang="en-US" smtClean="0"/>
              <a:pPr defTabSz="756209"/>
              <a:t>4</a:t>
            </a:fld>
            <a:endParaRPr lang="en-US"/>
          </a:p>
        </p:txBody>
      </p:sp>
      <p:sp>
        <p:nvSpPr>
          <p:cNvPr id="2" name="TextBox 1">
            <a:extLst>
              <a:ext uri="{FF2B5EF4-FFF2-40B4-BE49-F238E27FC236}">
                <a16:creationId xmlns:a16="http://schemas.microsoft.com/office/drawing/2014/main" id="{75F5ABA9-C4B7-5E64-B27A-9333D7048CEE}"/>
              </a:ext>
            </a:extLst>
          </p:cNvPr>
          <p:cNvSpPr txBox="1"/>
          <p:nvPr/>
        </p:nvSpPr>
        <p:spPr>
          <a:xfrm>
            <a:off x="504031" y="1581374"/>
            <a:ext cx="8371028" cy="3939540"/>
          </a:xfrm>
          <a:prstGeom prst="rect">
            <a:avLst/>
          </a:prstGeom>
          <a:noFill/>
        </p:spPr>
        <p:txBody>
          <a:bodyPr wrap="square" rtlCol="0">
            <a:spAutoFit/>
          </a:bodyPr>
          <a:lstStyle/>
          <a:p>
            <a:pPr marL="342900" indent="-342900">
              <a:buAutoNum type="arabicPeriod"/>
            </a:pPr>
            <a:r>
              <a:rPr lang="en-US" sz="2500" dirty="0">
                <a:latin typeface="Times New Roman" panose="02020603050405020304" pitchFamily="18" charset="0"/>
                <a:cs typeface="Times New Roman" panose="02020603050405020304" pitchFamily="18" charset="0"/>
              </a:rPr>
              <a:t>Capital</a:t>
            </a:r>
          </a:p>
          <a:p>
            <a:pPr marL="342900" indent="-342900">
              <a:buAutoNum type="arabicPeriod"/>
            </a:pPr>
            <a:r>
              <a:rPr lang="en-US" sz="2500" dirty="0">
                <a:latin typeface="Times New Roman" panose="02020603050405020304" pitchFamily="18" charset="0"/>
                <a:cs typeface="Times New Roman" panose="02020603050405020304" pitchFamily="18" charset="0"/>
              </a:rPr>
              <a:t>Technology</a:t>
            </a:r>
          </a:p>
          <a:p>
            <a:pPr marL="342900" indent="-342900">
              <a:buAutoNum type="arabicPeriod"/>
            </a:pPr>
            <a:r>
              <a:rPr lang="en-US" sz="2500" dirty="0">
                <a:latin typeface="Times New Roman" panose="02020603050405020304" pitchFamily="18" charset="0"/>
                <a:cs typeface="Times New Roman" panose="02020603050405020304" pitchFamily="18" charset="0"/>
              </a:rPr>
              <a:t>Skill</a:t>
            </a:r>
          </a:p>
          <a:p>
            <a:pPr marL="342900" indent="-342900">
              <a:buAutoNum type="arabicPeriod"/>
            </a:pPr>
            <a:r>
              <a:rPr lang="en-US" sz="2500" dirty="0">
                <a:latin typeface="Times New Roman" panose="02020603050405020304" pitchFamily="18" charset="0"/>
                <a:cs typeface="Times New Roman" panose="02020603050405020304" pitchFamily="18" charset="0"/>
              </a:rPr>
              <a:t>Exports</a:t>
            </a:r>
          </a:p>
          <a:p>
            <a:pPr marL="342900" indent="-342900">
              <a:buAutoNum type="arabicPeriod"/>
            </a:pPr>
            <a:r>
              <a:rPr lang="en-US" sz="2500" dirty="0">
                <a:latin typeface="Times New Roman" panose="02020603050405020304" pitchFamily="18" charset="0"/>
                <a:cs typeface="Times New Roman" panose="02020603050405020304" pitchFamily="18" charset="0"/>
              </a:rPr>
              <a:t>Level of Integration</a:t>
            </a:r>
          </a:p>
          <a:p>
            <a:pPr marL="342900" indent="-342900">
              <a:buAutoNum type="arabicPeriod"/>
            </a:pPr>
            <a:r>
              <a:rPr lang="en-US" sz="2500" dirty="0">
                <a:latin typeface="Times New Roman" panose="02020603050405020304" pitchFamily="18" charset="0"/>
                <a:cs typeface="Times New Roman" panose="02020603050405020304" pitchFamily="18" charset="0"/>
              </a:rPr>
              <a:t>Welfare of the Citizens</a:t>
            </a:r>
          </a:p>
          <a:p>
            <a:pPr marL="342900" indent="-342900">
              <a:buAutoNum type="arabicPeriod"/>
            </a:pPr>
            <a:r>
              <a:rPr lang="en-US" sz="2500" dirty="0">
                <a:latin typeface="Times New Roman" panose="02020603050405020304" pitchFamily="18" charset="0"/>
                <a:cs typeface="Times New Roman" panose="02020603050405020304" pitchFamily="18" charset="0"/>
              </a:rPr>
              <a:t>Investing in Local </a:t>
            </a:r>
            <a:r>
              <a:rPr lang="en-US" sz="2500" dirty="0" err="1">
                <a:latin typeface="Times New Roman" panose="02020603050405020304" pitchFamily="18" charset="0"/>
                <a:cs typeface="Times New Roman" panose="02020603050405020304" pitchFamily="18" charset="0"/>
              </a:rPr>
              <a:t>Labour</a:t>
            </a:r>
            <a:endParaRPr lang="en-US" sz="2500" dirty="0">
              <a:latin typeface="Times New Roman" panose="02020603050405020304" pitchFamily="18" charset="0"/>
              <a:cs typeface="Times New Roman" panose="02020603050405020304" pitchFamily="18" charset="0"/>
            </a:endParaRPr>
          </a:p>
          <a:p>
            <a:pPr marL="342900" indent="-342900">
              <a:buAutoNum type="arabicPeriod"/>
            </a:pPr>
            <a:r>
              <a:rPr lang="en-US" sz="2500" dirty="0">
                <a:latin typeface="Times New Roman" panose="02020603050405020304" pitchFamily="18" charset="0"/>
                <a:cs typeface="Times New Roman" panose="02020603050405020304" pitchFamily="18" charset="0"/>
              </a:rPr>
              <a:t>Developing a Country through FDI</a:t>
            </a:r>
          </a:p>
          <a:p>
            <a:pPr marL="342900" indent="-342900">
              <a:buAutoNum type="arabicPeriod"/>
            </a:pPr>
            <a:r>
              <a:rPr lang="en-US" sz="2500" dirty="0">
                <a:latin typeface="Times New Roman" panose="02020603050405020304" pitchFamily="18" charset="0"/>
                <a:cs typeface="Times New Roman" panose="02020603050405020304" pitchFamily="18" charset="0"/>
              </a:rPr>
              <a:t>Political Improvement</a:t>
            </a:r>
          </a:p>
          <a:p>
            <a:pPr marL="342900" indent="-342900">
              <a:buAutoNum type="arabicPeriod"/>
            </a:pPr>
            <a:r>
              <a:rPr lang="en-US" sz="2500" dirty="0">
                <a:latin typeface="Times New Roman" panose="02020603050405020304" pitchFamily="18" charset="0"/>
                <a:cs typeface="Times New Roman" panose="02020603050405020304" pitchFamily="18" charset="0"/>
              </a:rPr>
              <a:t>FDI through MNCs is Far Easier</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6652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6BC4B-4CEE-F707-EC1E-4ABCF0732FB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EC83F-6A46-EDD7-257A-F1DCE20D94F2}"/>
              </a:ext>
            </a:extLst>
          </p:cNvPr>
          <p:cNvSpPr>
            <a:spLocks noGrp="1"/>
          </p:cNvSpPr>
          <p:nvPr>
            <p:ph type="title"/>
          </p:nvPr>
        </p:nvSpPr>
        <p:spPr>
          <a:xfrm>
            <a:off x="1278308" y="150491"/>
            <a:ext cx="6654730" cy="820991"/>
          </a:xfrm>
        </p:spPr>
        <p:txBody>
          <a:bodyPr/>
          <a:lstStyle/>
          <a:p>
            <a:r>
              <a:rPr lang="en-IN" sz="2800" b="1" dirty="0">
                <a:solidFill>
                  <a:schemeClr val="bg1"/>
                </a:solidFill>
              </a:rPr>
              <a:t>Importance of MNCs</a:t>
            </a:r>
          </a:p>
        </p:txBody>
      </p:sp>
      <p:sp>
        <p:nvSpPr>
          <p:cNvPr id="3" name="Date Placeholder 2">
            <a:extLst>
              <a:ext uri="{FF2B5EF4-FFF2-40B4-BE49-F238E27FC236}">
                <a16:creationId xmlns:a16="http://schemas.microsoft.com/office/drawing/2014/main" id="{96ABFAE3-791D-1EAA-5C85-050E2FC65A67}"/>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37836169-BEBC-3EED-300C-DFA7663857A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E404897-B99B-9821-A1C5-865D5FF15C69}"/>
              </a:ext>
            </a:extLst>
          </p:cNvPr>
          <p:cNvSpPr>
            <a:spLocks noGrp="1"/>
          </p:cNvSpPr>
          <p:nvPr>
            <p:ph type="sldNum" sz="quarter" idx="12"/>
          </p:nvPr>
        </p:nvSpPr>
        <p:spPr/>
        <p:txBody>
          <a:bodyPr/>
          <a:lstStyle/>
          <a:p>
            <a:pPr defTabSz="756209"/>
            <a:fld id="{B6F15528-21DE-4FAA-801E-634DDDAF4B2B}" type="slidenum">
              <a:rPr lang="en-US" smtClean="0"/>
              <a:pPr defTabSz="756209"/>
              <a:t>5</a:t>
            </a:fld>
            <a:endParaRPr lang="en-US"/>
          </a:p>
        </p:txBody>
      </p:sp>
      <p:sp>
        <p:nvSpPr>
          <p:cNvPr id="2" name="TextBox 1">
            <a:extLst>
              <a:ext uri="{FF2B5EF4-FFF2-40B4-BE49-F238E27FC236}">
                <a16:creationId xmlns:a16="http://schemas.microsoft.com/office/drawing/2014/main" id="{B471619E-20F9-CAB1-072D-F1FD2EB9BF88}"/>
              </a:ext>
            </a:extLst>
          </p:cNvPr>
          <p:cNvSpPr txBox="1"/>
          <p:nvPr/>
        </p:nvSpPr>
        <p:spPr>
          <a:xfrm>
            <a:off x="311972" y="1549101"/>
            <a:ext cx="8842786" cy="3970318"/>
          </a:xfrm>
          <a:prstGeom prst="rect">
            <a:avLst/>
          </a:prstGeom>
          <a:noFill/>
        </p:spPr>
        <p:txBody>
          <a:bodyPr wrap="square" rtlCol="0">
            <a:spAutoFit/>
          </a:bodyPr>
          <a:lstStyle/>
          <a:p>
            <a:pPr marL="342900" indent="-342900">
              <a:buAutoNum type="arabicPeriod"/>
            </a:pPr>
            <a:r>
              <a:rPr lang="en-US" dirty="0"/>
              <a:t>Importance to Host Country</a:t>
            </a:r>
          </a:p>
          <a:p>
            <a:r>
              <a:rPr lang="en-US" dirty="0"/>
              <a:t>	a. Better Access to Worldwide Markets</a:t>
            </a:r>
          </a:p>
          <a:p>
            <a:r>
              <a:rPr lang="en-US" dirty="0"/>
              <a:t>	b.</a:t>
            </a:r>
            <a:r>
              <a:rPr lang="en-IN" dirty="0"/>
              <a:t> Better Access to Capital Investment</a:t>
            </a:r>
          </a:p>
          <a:p>
            <a:r>
              <a:rPr lang="en-IN" dirty="0"/>
              <a:t>	c. Transfer of Technology through R&amp;D</a:t>
            </a:r>
          </a:p>
          <a:p>
            <a:r>
              <a:rPr lang="en-IN" dirty="0"/>
              <a:t>	d. Local Supplier Development</a:t>
            </a:r>
          </a:p>
          <a:p>
            <a:r>
              <a:rPr lang="en-IN" dirty="0"/>
              <a:t>	e. New Jobs for Labour</a:t>
            </a:r>
          </a:p>
          <a:p>
            <a:r>
              <a:rPr lang="en-IN" dirty="0"/>
              <a:t>	f. Advanced Training for Labour</a:t>
            </a:r>
          </a:p>
          <a:p>
            <a:r>
              <a:rPr lang="en-IN" dirty="0"/>
              <a:t>	g. Better Access to Managerial Talent</a:t>
            </a:r>
          </a:p>
          <a:p>
            <a:r>
              <a:rPr lang="en-IN" dirty="0"/>
              <a:t>	h. Better Products for Consumers at Lower Cost</a:t>
            </a:r>
          </a:p>
          <a:p>
            <a:r>
              <a:rPr lang="en-IN" dirty="0"/>
              <a:t>	</a:t>
            </a:r>
            <a:r>
              <a:rPr lang="en-IN" dirty="0" err="1"/>
              <a:t>i</a:t>
            </a:r>
            <a:r>
              <a:rPr lang="en-IN" dirty="0"/>
              <a:t>. Contribution to Exports</a:t>
            </a:r>
          </a:p>
          <a:p>
            <a:r>
              <a:rPr lang="en-IN" dirty="0"/>
              <a:t>2. Importance to Home Country</a:t>
            </a:r>
          </a:p>
          <a:p>
            <a:r>
              <a:rPr lang="en-IN" dirty="0"/>
              <a:t>	a. Economical growth</a:t>
            </a:r>
          </a:p>
          <a:p>
            <a:r>
              <a:rPr lang="en-IN" dirty="0"/>
              <a:t>	b. Employment opportunities</a:t>
            </a:r>
          </a:p>
          <a:p>
            <a:r>
              <a:rPr lang="en-IN" dirty="0"/>
              <a:t>	c. Expansion of domestic market by Exporting finished goods</a:t>
            </a:r>
            <a:endParaRPr lang="en-US" dirty="0"/>
          </a:p>
        </p:txBody>
      </p:sp>
    </p:spTree>
    <p:extLst>
      <p:ext uri="{BB962C8B-B14F-4D97-AF65-F5344CB8AC3E}">
        <p14:creationId xmlns:p14="http://schemas.microsoft.com/office/powerpoint/2010/main" val="3246836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6837F-6958-8F28-4236-CC026C93B4D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F54B79F-C42E-2FB5-7918-9CB58F0BA0F6}"/>
              </a:ext>
            </a:extLst>
          </p:cNvPr>
          <p:cNvSpPr>
            <a:spLocks noGrp="1"/>
          </p:cNvSpPr>
          <p:nvPr>
            <p:ph type="title"/>
          </p:nvPr>
        </p:nvSpPr>
        <p:spPr>
          <a:xfrm>
            <a:off x="1278308" y="150491"/>
            <a:ext cx="6654730" cy="820991"/>
          </a:xfrm>
        </p:spPr>
        <p:txBody>
          <a:bodyPr/>
          <a:lstStyle/>
          <a:p>
            <a:r>
              <a:rPr lang="en-US" sz="2800" b="1" dirty="0">
                <a:solidFill>
                  <a:schemeClr val="bg1"/>
                </a:solidFill>
              </a:rPr>
              <a:t>Disadvantages of MNCs</a:t>
            </a:r>
            <a:endParaRPr lang="en-IN" sz="2800" b="1" dirty="0">
              <a:solidFill>
                <a:schemeClr val="bg1"/>
              </a:solidFill>
            </a:endParaRPr>
          </a:p>
        </p:txBody>
      </p:sp>
      <p:sp>
        <p:nvSpPr>
          <p:cNvPr id="3" name="Date Placeholder 2">
            <a:extLst>
              <a:ext uri="{FF2B5EF4-FFF2-40B4-BE49-F238E27FC236}">
                <a16:creationId xmlns:a16="http://schemas.microsoft.com/office/drawing/2014/main" id="{56A8F759-E291-367B-B722-7DB055F94D3E}"/>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E222DEF8-F0B8-EA84-636E-90EAABDF5EB7}"/>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E0F8DF20-C7A7-679A-5709-683CB41BF47D}"/>
              </a:ext>
            </a:extLst>
          </p:cNvPr>
          <p:cNvSpPr>
            <a:spLocks noGrp="1"/>
          </p:cNvSpPr>
          <p:nvPr>
            <p:ph type="sldNum" sz="quarter" idx="12"/>
          </p:nvPr>
        </p:nvSpPr>
        <p:spPr/>
        <p:txBody>
          <a:bodyPr/>
          <a:lstStyle/>
          <a:p>
            <a:pPr defTabSz="756209"/>
            <a:fld id="{B6F15528-21DE-4FAA-801E-634DDDAF4B2B}" type="slidenum">
              <a:rPr lang="en-US" smtClean="0"/>
              <a:pPr defTabSz="756209"/>
              <a:t>6</a:t>
            </a:fld>
            <a:endParaRPr lang="en-US"/>
          </a:p>
        </p:txBody>
      </p:sp>
      <p:sp>
        <p:nvSpPr>
          <p:cNvPr id="2" name="TextBox 1">
            <a:extLst>
              <a:ext uri="{FF2B5EF4-FFF2-40B4-BE49-F238E27FC236}">
                <a16:creationId xmlns:a16="http://schemas.microsoft.com/office/drawing/2014/main" id="{F3AC6369-4EF8-C826-06AE-4AC2182E980F}"/>
              </a:ext>
            </a:extLst>
          </p:cNvPr>
          <p:cNvSpPr txBox="1"/>
          <p:nvPr/>
        </p:nvSpPr>
        <p:spPr>
          <a:xfrm>
            <a:off x="408791" y="1699708"/>
            <a:ext cx="8649148" cy="3139321"/>
          </a:xfrm>
          <a:prstGeom prst="rect">
            <a:avLst/>
          </a:prstGeom>
          <a:noFill/>
        </p:spPr>
        <p:txBody>
          <a:bodyPr wrap="square" rtlCol="0">
            <a:spAutoFit/>
          </a:bodyPr>
          <a:lstStyle/>
          <a:p>
            <a:pPr marL="342900" indent="-342900">
              <a:buAutoNum type="arabicPeriod"/>
            </a:pPr>
            <a:r>
              <a:rPr lang="en-US" dirty="0"/>
              <a:t>Challenges to Host Country</a:t>
            </a:r>
            <a:endParaRPr lang="en-IN" dirty="0"/>
          </a:p>
          <a:p>
            <a:r>
              <a:rPr lang="en-IN" dirty="0"/>
              <a:t>	a. Drain of Resources for Profit Maximisation</a:t>
            </a:r>
          </a:p>
          <a:p>
            <a:r>
              <a:rPr lang="en-IN" dirty="0"/>
              <a:t>	b. Strain of Scare Foreign Exchange Reserves</a:t>
            </a:r>
          </a:p>
          <a:p>
            <a:r>
              <a:rPr lang="en-IN" dirty="0"/>
              <a:t>	c. Minimum Technology Transfer</a:t>
            </a:r>
          </a:p>
          <a:p>
            <a:r>
              <a:rPr lang="en-IN" dirty="0"/>
              <a:t>	d. Insignificant Employment Potential</a:t>
            </a:r>
          </a:p>
          <a:p>
            <a:r>
              <a:rPr lang="en-US" dirty="0"/>
              <a:t>	e. Interference in States’ Sovereignty</a:t>
            </a:r>
          </a:p>
          <a:p>
            <a:r>
              <a:rPr lang="en-US" dirty="0"/>
              <a:t>	f. Influence on Culture</a:t>
            </a:r>
          </a:p>
          <a:p>
            <a:r>
              <a:rPr lang="en-US" dirty="0"/>
              <a:t>2. Challenges to Home Country</a:t>
            </a:r>
          </a:p>
          <a:p>
            <a:r>
              <a:rPr lang="en-US" dirty="0"/>
              <a:t>	a. Loss of Employment</a:t>
            </a:r>
          </a:p>
          <a:p>
            <a:r>
              <a:rPr lang="en-US" dirty="0"/>
              <a:t>	b. Repatriation Issues</a:t>
            </a:r>
          </a:p>
          <a:p>
            <a:r>
              <a:rPr lang="en-US" dirty="0"/>
              <a:t>	c. Possibility of Losing Competitive Advantage</a:t>
            </a:r>
          </a:p>
        </p:txBody>
      </p:sp>
    </p:spTree>
    <p:extLst>
      <p:ext uri="{BB962C8B-B14F-4D97-AF65-F5344CB8AC3E}">
        <p14:creationId xmlns:p14="http://schemas.microsoft.com/office/powerpoint/2010/main" val="3496642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B2A22-060C-87F6-A7E0-C6BDDCE4336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00FB2B7-A9E6-6222-CD2F-C91EFBFBE5D9}"/>
              </a:ext>
            </a:extLst>
          </p:cNvPr>
          <p:cNvSpPr>
            <a:spLocks noGrp="1"/>
          </p:cNvSpPr>
          <p:nvPr>
            <p:ph type="title"/>
          </p:nvPr>
        </p:nvSpPr>
        <p:spPr>
          <a:xfrm>
            <a:off x="1278308" y="150491"/>
            <a:ext cx="6654730" cy="820991"/>
          </a:xfrm>
        </p:spPr>
        <p:txBody>
          <a:bodyPr/>
          <a:lstStyle/>
          <a:p>
            <a:r>
              <a:rPr lang="en-IN" sz="2800" b="1" dirty="0">
                <a:solidFill>
                  <a:schemeClr val="bg1"/>
                </a:solidFill>
              </a:rPr>
              <a:t>MNCs in India</a:t>
            </a:r>
          </a:p>
        </p:txBody>
      </p:sp>
      <p:sp>
        <p:nvSpPr>
          <p:cNvPr id="3" name="Date Placeholder 2">
            <a:extLst>
              <a:ext uri="{FF2B5EF4-FFF2-40B4-BE49-F238E27FC236}">
                <a16:creationId xmlns:a16="http://schemas.microsoft.com/office/drawing/2014/main" id="{AE80760D-8A28-1DBF-3C7E-4AD1DAD6372F}"/>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403A793D-FB9F-37B4-8DAA-AC39B88B5D5E}"/>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C6F7A44B-4E9B-079A-DE52-2468CFDFDDAC}"/>
              </a:ext>
            </a:extLst>
          </p:cNvPr>
          <p:cNvSpPr>
            <a:spLocks noGrp="1"/>
          </p:cNvSpPr>
          <p:nvPr>
            <p:ph type="sldNum" sz="quarter" idx="12"/>
          </p:nvPr>
        </p:nvSpPr>
        <p:spPr/>
        <p:txBody>
          <a:bodyPr/>
          <a:lstStyle/>
          <a:p>
            <a:pPr defTabSz="756209"/>
            <a:fld id="{B6F15528-21DE-4FAA-801E-634DDDAF4B2B}" type="slidenum">
              <a:rPr lang="en-US" smtClean="0"/>
              <a:pPr defTabSz="756209"/>
              <a:t>7</a:t>
            </a:fld>
            <a:endParaRPr lang="en-US"/>
          </a:p>
        </p:txBody>
      </p:sp>
      <p:sp>
        <p:nvSpPr>
          <p:cNvPr id="7" name="TextBox 6">
            <a:extLst>
              <a:ext uri="{FF2B5EF4-FFF2-40B4-BE49-F238E27FC236}">
                <a16:creationId xmlns:a16="http://schemas.microsoft.com/office/drawing/2014/main" id="{62665D60-FC08-3BCA-6A5B-7632EE6E3979}"/>
              </a:ext>
            </a:extLst>
          </p:cNvPr>
          <p:cNvSpPr txBox="1"/>
          <p:nvPr/>
        </p:nvSpPr>
        <p:spPr>
          <a:xfrm>
            <a:off x="201706" y="1474754"/>
            <a:ext cx="9544722" cy="193899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MNCs have a long history in India, dating back to the colonial era with companies like the British East India Company and the Dutch East India Company. However, their significant presence and growth accelerated after </a:t>
            </a:r>
            <a:r>
              <a:rPr lang="en-US" sz="2000" b="1" dirty="0">
                <a:latin typeface="Times New Roman" panose="02020603050405020304" pitchFamily="18" charset="0"/>
                <a:cs typeface="Times New Roman" panose="02020603050405020304" pitchFamily="18" charset="0"/>
              </a:rPr>
              <a:t>India's 1991 economic liberalization</a:t>
            </a:r>
            <a:r>
              <a:rPr lang="en-US" sz="2000" dirty="0">
                <a:latin typeface="Times New Roman" panose="02020603050405020304" pitchFamily="18" charset="0"/>
                <a:cs typeface="Times New Roman" panose="02020603050405020304" pitchFamily="18" charset="0"/>
              </a:rPr>
              <a:t>, which attracted a large influx of foreign investment and brought companies across various sectors. Today, India hosts thousands of MNCs, contributing to its economy through technology transfer, job creation, and integration into the global market. </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A14580F-2935-F4A4-A692-D9A9352B23B9}"/>
              </a:ext>
            </a:extLst>
          </p:cNvPr>
          <p:cNvSpPr txBox="1"/>
          <p:nvPr/>
        </p:nvSpPr>
        <p:spPr>
          <a:xfrm>
            <a:off x="201705" y="3602068"/>
            <a:ext cx="9374889" cy="1754326"/>
          </a:xfrm>
          <a:prstGeom prst="rect">
            <a:avLst/>
          </a:prstGeom>
          <a:noFill/>
        </p:spPr>
        <p:txBody>
          <a:bodyPr wrap="square">
            <a:spAutoFit/>
          </a:bodyPr>
          <a:lstStyle/>
          <a:p>
            <a:r>
              <a:rPr lang="en-IN" b="1" u="sng" dirty="0"/>
              <a:t>Examples of MNCs in India</a:t>
            </a:r>
          </a:p>
          <a:p>
            <a:pPr algn="just"/>
            <a:r>
              <a:rPr lang="en-IN" dirty="0"/>
              <a:t>Pre-Independence: Philips, Siemens, Unilever (Lever Brothers), GE, and Standard Chartered Bank. </a:t>
            </a:r>
          </a:p>
          <a:p>
            <a:pPr algn="just"/>
            <a:r>
              <a:rPr lang="en-IN" dirty="0"/>
              <a:t>Post-Independence: Shell (though its subsidiary was established in 1928). </a:t>
            </a:r>
          </a:p>
          <a:p>
            <a:pPr algn="just"/>
            <a:r>
              <a:rPr lang="en-IN" dirty="0"/>
              <a:t>Modern Era: IBM, Microsoft, Google, Nestlé, Coca-Cola, Pfizer, and Tata Consultancy Services. </a:t>
            </a:r>
          </a:p>
        </p:txBody>
      </p:sp>
    </p:spTree>
    <p:extLst>
      <p:ext uri="{BB962C8B-B14F-4D97-AF65-F5344CB8AC3E}">
        <p14:creationId xmlns:p14="http://schemas.microsoft.com/office/powerpoint/2010/main" val="989733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77229-ACE8-7EDE-978B-637D40FB8EA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C177EBF-27BE-FD5D-B8C2-7A9E195B63F6}"/>
              </a:ext>
            </a:extLst>
          </p:cNvPr>
          <p:cNvSpPr>
            <a:spLocks noGrp="1"/>
          </p:cNvSpPr>
          <p:nvPr>
            <p:ph type="title"/>
          </p:nvPr>
        </p:nvSpPr>
        <p:spPr>
          <a:xfrm>
            <a:off x="1278308" y="150491"/>
            <a:ext cx="6654730" cy="820991"/>
          </a:xfrm>
        </p:spPr>
        <p:txBody>
          <a:bodyPr/>
          <a:lstStyle/>
          <a:p>
            <a:r>
              <a:rPr lang="en-IN" sz="2800" b="1" dirty="0">
                <a:solidFill>
                  <a:schemeClr val="bg1"/>
                </a:solidFill>
              </a:rPr>
              <a:t>Current Opportunities of Indian MNCs</a:t>
            </a:r>
          </a:p>
        </p:txBody>
      </p:sp>
      <p:sp>
        <p:nvSpPr>
          <p:cNvPr id="3" name="Date Placeholder 2">
            <a:extLst>
              <a:ext uri="{FF2B5EF4-FFF2-40B4-BE49-F238E27FC236}">
                <a16:creationId xmlns:a16="http://schemas.microsoft.com/office/drawing/2014/main" id="{4C4B1766-B807-507D-8A99-17897DCD8AD7}"/>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38E0EDA5-A192-5B27-F1A6-A003D084BEDB}"/>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A3554EC3-D79F-9C00-8E63-6AA64ACC25B5}"/>
              </a:ext>
            </a:extLst>
          </p:cNvPr>
          <p:cNvSpPr>
            <a:spLocks noGrp="1"/>
          </p:cNvSpPr>
          <p:nvPr>
            <p:ph type="sldNum" sz="quarter" idx="12"/>
          </p:nvPr>
        </p:nvSpPr>
        <p:spPr/>
        <p:txBody>
          <a:bodyPr/>
          <a:lstStyle/>
          <a:p>
            <a:pPr defTabSz="756209"/>
            <a:fld id="{B6F15528-21DE-4FAA-801E-634DDDAF4B2B}" type="slidenum">
              <a:rPr lang="en-US" smtClean="0"/>
              <a:pPr defTabSz="756209"/>
              <a:t>8</a:t>
            </a:fld>
            <a:endParaRPr lang="en-US"/>
          </a:p>
        </p:txBody>
      </p:sp>
      <p:sp>
        <p:nvSpPr>
          <p:cNvPr id="2" name="TextBox 1">
            <a:extLst>
              <a:ext uri="{FF2B5EF4-FFF2-40B4-BE49-F238E27FC236}">
                <a16:creationId xmlns:a16="http://schemas.microsoft.com/office/drawing/2014/main" id="{6B0AD987-318A-0C27-C042-8134F4EEF1E2}"/>
              </a:ext>
            </a:extLst>
          </p:cNvPr>
          <p:cNvSpPr txBox="1"/>
          <p:nvPr/>
        </p:nvSpPr>
        <p:spPr>
          <a:xfrm>
            <a:off x="504031" y="1699708"/>
            <a:ext cx="7897691" cy="2400657"/>
          </a:xfrm>
          <a:prstGeom prst="rect">
            <a:avLst/>
          </a:prstGeom>
          <a:noFill/>
        </p:spPr>
        <p:txBody>
          <a:bodyPr wrap="square" rtlCol="0">
            <a:spAutoFit/>
          </a:bodyPr>
          <a:lstStyle/>
          <a:p>
            <a:pPr marL="342900" indent="-342900">
              <a:buAutoNum type="arabicPeriod"/>
            </a:pPr>
            <a:r>
              <a:rPr lang="en-US" sz="2500" dirty="0">
                <a:latin typeface="Times New Roman" panose="02020603050405020304" pitchFamily="18" charset="0"/>
                <a:cs typeface="Times New Roman" panose="02020603050405020304" pitchFamily="18" charset="0"/>
              </a:rPr>
              <a:t>Rapid Domestic Economic Growth</a:t>
            </a:r>
          </a:p>
          <a:p>
            <a:pPr marL="342900" indent="-342900">
              <a:buAutoNum type="arabicPeriod"/>
            </a:pPr>
            <a:r>
              <a:rPr lang="en-US" sz="2500" dirty="0">
                <a:latin typeface="Times New Roman" panose="02020603050405020304" pitchFamily="18" charset="0"/>
                <a:cs typeface="Times New Roman" panose="02020603050405020304" pitchFamily="18" charset="0"/>
              </a:rPr>
              <a:t>International Expansion Strategy</a:t>
            </a:r>
          </a:p>
          <a:p>
            <a:pPr marL="342900" indent="-342900">
              <a:buAutoNum type="arabicPeriod"/>
            </a:pPr>
            <a:r>
              <a:rPr lang="en-US" sz="2500" dirty="0">
                <a:latin typeface="Times New Roman" panose="02020603050405020304" pitchFamily="18" charset="0"/>
                <a:cs typeface="Times New Roman" panose="02020603050405020304" pitchFamily="18" charset="0"/>
              </a:rPr>
              <a:t>Factor Mobility</a:t>
            </a:r>
          </a:p>
          <a:p>
            <a:pPr marL="342900" indent="-342900">
              <a:buAutoNum type="arabicPeriod"/>
            </a:pPr>
            <a:r>
              <a:rPr lang="en-US" sz="2500" dirty="0">
                <a:latin typeface="Times New Roman" panose="02020603050405020304" pitchFamily="18" charset="0"/>
                <a:cs typeface="Times New Roman" panose="02020603050405020304" pitchFamily="18" charset="0"/>
              </a:rPr>
              <a:t>Economic Reforms</a:t>
            </a:r>
          </a:p>
          <a:p>
            <a:pPr marL="342900" indent="-342900">
              <a:buAutoNum type="arabicPeriod"/>
            </a:pPr>
            <a:r>
              <a:rPr lang="en-US" sz="2500" dirty="0">
                <a:latin typeface="Times New Roman" panose="02020603050405020304" pitchFamily="18" charset="0"/>
                <a:cs typeface="Times New Roman" panose="02020603050405020304" pitchFamily="18" charset="0"/>
              </a:rPr>
              <a:t>Market Potential</a:t>
            </a:r>
          </a:p>
          <a:p>
            <a:pPr marL="342900" indent="-342900">
              <a:buAutoNum type="arabicPeriod"/>
            </a:pPr>
            <a:r>
              <a:rPr lang="en-US" sz="2500" dirty="0">
                <a:latin typeface="Times New Roman" panose="02020603050405020304" pitchFamily="18" charset="0"/>
                <a:cs typeface="Times New Roman" panose="02020603050405020304" pitchFamily="18" charset="0"/>
              </a:rPr>
              <a:t>Development in Communication Technology</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0428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A1F1F-110C-E764-1F1E-42B99EBB7F1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551FB7F-A6A9-A7E4-9B5F-E51152C56F84}"/>
              </a:ext>
            </a:extLst>
          </p:cNvPr>
          <p:cNvSpPr>
            <a:spLocks noGrp="1"/>
          </p:cNvSpPr>
          <p:nvPr>
            <p:ph type="title"/>
          </p:nvPr>
        </p:nvSpPr>
        <p:spPr>
          <a:xfrm>
            <a:off x="1278308" y="150491"/>
            <a:ext cx="6654730" cy="820991"/>
          </a:xfrm>
        </p:spPr>
        <p:txBody>
          <a:bodyPr/>
          <a:lstStyle/>
          <a:p>
            <a:r>
              <a:rPr lang="en-IN" sz="2800" b="1" dirty="0">
                <a:solidFill>
                  <a:schemeClr val="bg1"/>
                </a:solidFill>
              </a:rPr>
              <a:t>Organizational structure of</a:t>
            </a:r>
            <a:br>
              <a:rPr lang="en-IN" sz="2800" b="1" dirty="0">
                <a:solidFill>
                  <a:schemeClr val="bg1"/>
                </a:solidFill>
              </a:rPr>
            </a:br>
            <a:r>
              <a:rPr lang="en-IN" sz="2800" b="1" dirty="0">
                <a:solidFill>
                  <a:schemeClr val="bg1"/>
                </a:solidFill>
              </a:rPr>
              <a:t>MNCs,</a:t>
            </a:r>
          </a:p>
        </p:txBody>
      </p:sp>
      <p:sp>
        <p:nvSpPr>
          <p:cNvPr id="3" name="Date Placeholder 2">
            <a:extLst>
              <a:ext uri="{FF2B5EF4-FFF2-40B4-BE49-F238E27FC236}">
                <a16:creationId xmlns:a16="http://schemas.microsoft.com/office/drawing/2014/main" id="{0AF77F2D-F2E5-F924-192C-D4DB950EB2A1}"/>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01A08D40-3FFF-9AB0-6C30-C6434BDAB6FE}"/>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614BDA30-8BD7-3A1C-ED61-0F5722E198BE}"/>
              </a:ext>
            </a:extLst>
          </p:cNvPr>
          <p:cNvSpPr>
            <a:spLocks noGrp="1"/>
          </p:cNvSpPr>
          <p:nvPr>
            <p:ph type="sldNum" sz="quarter" idx="12"/>
          </p:nvPr>
        </p:nvSpPr>
        <p:spPr/>
        <p:txBody>
          <a:bodyPr/>
          <a:lstStyle/>
          <a:p>
            <a:pPr defTabSz="756209"/>
            <a:fld id="{B6F15528-21DE-4FAA-801E-634DDDAF4B2B}" type="slidenum">
              <a:rPr lang="en-US" smtClean="0"/>
              <a:pPr defTabSz="756209"/>
              <a:t>9</a:t>
            </a:fld>
            <a:endParaRPr lang="en-US"/>
          </a:p>
        </p:txBody>
      </p:sp>
      <p:graphicFrame>
        <p:nvGraphicFramePr>
          <p:cNvPr id="7" name="Diagram 6">
            <a:extLst>
              <a:ext uri="{FF2B5EF4-FFF2-40B4-BE49-F238E27FC236}">
                <a16:creationId xmlns:a16="http://schemas.microsoft.com/office/drawing/2014/main" id="{364630C6-EC8A-867F-887B-1AE0527FD521}"/>
              </a:ext>
            </a:extLst>
          </p:cNvPr>
          <p:cNvGraphicFramePr/>
          <p:nvPr>
            <p:extLst>
              <p:ext uri="{D42A27DB-BD31-4B8C-83A1-F6EECF244321}">
                <p14:modId xmlns:p14="http://schemas.microsoft.com/office/powerpoint/2010/main" val="2460412713"/>
              </p:ext>
            </p:extLst>
          </p:nvPr>
        </p:nvGraphicFramePr>
        <p:xfrm>
          <a:off x="225910" y="1527586"/>
          <a:ext cx="9167094" cy="5238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9968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6F52B-CD67-7A98-6E15-2C702B910C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7A42E77-AD1C-66D7-B2A9-3586BFC6322E}"/>
              </a:ext>
            </a:extLst>
          </p:cNvPr>
          <p:cNvSpPr>
            <a:spLocks noGrp="1"/>
          </p:cNvSpPr>
          <p:nvPr>
            <p:ph type="title"/>
          </p:nvPr>
        </p:nvSpPr>
        <p:spPr>
          <a:xfrm>
            <a:off x="1278308" y="150491"/>
            <a:ext cx="6654730" cy="820991"/>
          </a:xfrm>
        </p:spPr>
        <p:txBody>
          <a:bodyPr/>
          <a:lstStyle/>
          <a:p>
            <a:r>
              <a:rPr lang="en-IN" sz="2800" b="1" dirty="0">
                <a:solidFill>
                  <a:schemeClr val="bg1"/>
                </a:solidFill>
              </a:rPr>
              <a:t>Transfer of Technology</a:t>
            </a:r>
          </a:p>
        </p:txBody>
      </p:sp>
      <p:sp>
        <p:nvSpPr>
          <p:cNvPr id="3" name="Date Placeholder 2">
            <a:extLst>
              <a:ext uri="{FF2B5EF4-FFF2-40B4-BE49-F238E27FC236}">
                <a16:creationId xmlns:a16="http://schemas.microsoft.com/office/drawing/2014/main" id="{87A7AB9C-76E7-807F-600A-0B97510A7A04}"/>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6BF70A5F-2D7A-9F26-D4E0-32AD870DE81A}"/>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7437CAF0-8E99-1F48-0C7E-BBDAEA61D580}"/>
              </a:ext>
            </a:extLst>
          </p:cNvPr>
          <p:cNvSpPr>
            <a:spLocks noGrp="1"/>
          </p:cNvSpPr>
          <p:nvPr>
            <p:ph type="sldNum" sz="quarter" idx="12"/>
          </p:nvPr>
        </p:nvSpPr>
        <p:spPr/>
        <p:txBody>
          <a:bodyPr/>
          <a:lstStyle/>
          <a:p>
            <a:pPr defTabSz="756209"/>
            <a:fld id="{B6F15528-21DE-4FAA-801E-634DDDAF4B2B}" type="slidenum">
              <a:rPr lang="en-US" smtClean="0"/>
              <a:pPr defTabSz="756209"/>
              <a:t>10</a:t>
            </a:fld>
            <a:endParaRPr lang="en-US"/>
          </a:p>
        </p:txBody>
      </p:sp>
      <p:sp>
        <p:nvSpPr>
          <p:cNvPr id="2" name="TextBox 1">
            <a:extLst>
              <a:ext uri="{FF2B5EF4-FFF2-40B4-BE49-F238E27FC236}">
                <a16:creationId xmlns:a16="http://schemas.microsoft.com/office/drawing/2014/main" id="{9C7470F2-5C3F-1987-CDA4-21E955102CCC}"/>
              </a:ext>
            </a:extLst>
          </p:cNvPr>
          <p:cNvSpPr txBox="1"/>
          <p:nvPr/>
        </p:nvSpPr>
        <p:spPr>
          <a:xfrm>
            <a:off x="107576" y="1506071"/>
            <a:ext cx="9469019" cy="163121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Transfer of Technology is the process through which technologies, knowledge, skills, manufacturing techniques, facilities between government and other institutions are shared in order to ensure that a large number of users having potential to develop and utilize existing technology to create new and better process, products, materials services, applications etc., can easily access new technological and scientific development.</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EF3099C-3ACA-5A30-BA7F-85F3EF0D5CBA}"/>
              </a:ext>
            </a:extLst>
          </p:cNvPr>
          <p:cNvSpPr txBox="1"/>
          <p:nvPr/>
        </p:nvSpPr>
        <p:spPr>
          <a:xfrm>
            <a:off x="258184" y="3517751"/>
            <a:ext cx="8896574" cy="2031325"/>
          </a:xfrm>
          <a:prstGeom prst="rect">
            <a:avLst/>
          </a:prstGeom>
          <a:noFill/>
        </p:spPr>
        <p:txBody>
          <a:bodyPr wrap="square" rtlCol="0">
            <a:spAutoFit/>
          </a:bodyPr>
          <a:lstStyle/>
          <a:p>
            <a:r>
              <a:rPr lang="en-US" b="1" u="sng" dirty="0"/>
              <a:t>Reasons for Transfer of Technology</a:t>
            </a:r>
          </a:p>
          <a:p>
            <a:pPr marL="342900" indent="-342900">
              <a:buAutoNum type="arabicPeriod"/>
            </a:pPr>
            <a:r>
              <a:rPr lang="en-US" dirty="0"/>
              <a:t>Profit from Selling Technology</a:t>
            </a:r>
          </a:p>
          <a:p>
            <a:pPr marL="342900" indent="-342900">
              <a:buAutoNum type="arabicPeriod"/>
            </a:pPr>
            <a:r>
              <a:rPr lang="en-US" dirty="0"/>
              <a:t>Locations and Logistics advantage</a:t>
            </a:r>
          </a:p>
          <a:p>
            <a:pPr marL="342900" indent="-342900">
              <a:buAutoNum type="arabicPeriod"/>
            </a:pPr>
            <a:r>
              <a:rPr lang="en-US" dirty="0"/>
              <a:t>Competitive Advantage</a:t>
            </a:r>
          </a:p>
          <a:p>
            <a:pPr marL="342900" indent="-342900">
              <a:buAutoNum type="arabicPeriod"/>
            </a:pPr>
            <a:r>
              <a:rPr lang="en-US" dirty="0"/>
              <a:t>Government Policies</a:t>
            </a:r>
          </a:p>
          <a:p>
            <a:pPr marL="342900" indent="-342900">
              <a:buAutoNum type="arabicPeriod"/>
            </a:pPr>
            <a:r>
              <a:rPr lang="en-US" dirty="0"/>
              <a:t>Market Saturation</a:t>
            </a:r>
          </a:p>
          <a:p>
            <a:pPr marL="342900" indent="-342900">
              <a:buAutoNum type="arabicPeriod"/>
            </a:pPr>
            <a:r>
              <a:rPr lang="en-US" dirty="0"/>
              <a:t>Competitive Enhancement</a:t>
            </a:r>
            <a:endParaRPr lang="en-IN" dirty="0"/>
          </a:p>
        </p:txBody>
      </p:sp>
    </p:spTree>
    <p:extLst>
      <p:ext uri="{BB962C8B-B14F-4D97-AF65-F5344CB8AC3E}">
        <p14:creationId xmlns:p14="http://schemas.microsoft.com/office/powerpoint/2010/main" val="2509729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8C67-5A8F-E120-8D63-42680E55514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E1A7E1-9D7F-8B9F-A516-1A269F2D00C8}"/>
              </a:ext>
            </a:extLst>
          </p:cNvPr>
          <p:cNvSpPr>
            <a:spLocks noGrp="1"/>
          </p:cNvSpPr>
          <p:nvPr>
            <p:ph type="title"/>
          </p:nvPr>
        </p:nvSpPr>
        <p:spPr>
          <a:xfrm>
            <a:off x="1278308" y="150491"/>
            <a:ext cx="6654730" cy="820991"/>
          </a:xfrm>
        </p:spPr>
        <p:txBody>
          <a:bodyPr/>
          <a:lstStyle/>
          <a:p>
            <a:r>
              <a:rPr lang="en-IN" sz="2800" b="1" dirty="0">
                <a:solidFill>
                  <a:schemeClr val="bg1"/>
                </a:solidFill>
              </a:rPr>
              <a:t>Transfer of Technology</a:t>
            </a:r>
          </a:p>
        </p:txBody>
      </p:sp>
      <p:sp>
        <p:nvSpPr>
          <p:cNvPr id="3" name="Date Placeholder 2">
            <a:extLst>
              <a:ext uri="{FF2B5EF4-FFF2-40B4-BE49-F238E27FC236}">
                <a16:creationId xmlns:a16="http://schemas.microsoft.com/office/drawing/2014/main" id="{DC9613AA-A052-D011-E74F-E5EDE0BE7F85}"/>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E6044CC6-ADF4-0BCE-A5F6-1663C97B6C29}"/>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009ED8A8-B9C0-A113-C5E5-590F849050C0}"/>
              </a:ext>
            </a:extLst>
          </p:cNvPr>
          <p:cNvSpPr>
            <a:spLocks noGrp="1"/>
          </p:cNvSpPr>
          <p:nvPr>
            <p:ph type="sldNum" sz="quarter" idx="12"/>
          </p:nvPr>
        </p:nvSpPr>
        <p:spPr/>
        <p:txBody>
          <a:bodyPr/>
          <a:lstStyle/>
          <a:p>
            <a:pPr defTabSz="756209"/>
            <a:fld id="{B6F15528-21DE-4FAA-801E-634DDDAF4B2B}" type="slidenum">
              <a:rPr lang="en-US" smtClean="0"/>
              <a:pPr defTabSz="756209"/>
              <a:t>11</a:t>
            </a:fld>
            <a:endParaRPr lang="en-US"/>
          </a:p>
        </p:txBody>
      </p:sp>
      <p:sp>
        <p:nvSpPr>
          <p:cNvPr id="8" name="TextBox 7">
            <a:extLst>
              <a:ext uri="{FF2B5EF4-FFF2-40B4-BE49-F238E27FC236}">
                <a16:creationId xmlns:a16="http://schemas.microsoft.com/office/drawing/2014/main" id="{79DCD068-26AE-610E-0228-FFB34B18C2A4}"/>
              </a:ext>
            </a:extLst>
          </p:cNvPr>
          <p:cNvSpPr txBox="1"/>
          <p:nvPr/>
        </p:nvSpPr>
        <p:spPr>
          <a:xfrm>
            <a:off x="193638" y="1516828"/>
            <a:ext cx="6734287" cy="2031325"/>
          </a:xfrm>
          <a:prstGeom prst="rect">
            <a:avLst/>
          </a:prstGeom>
          <a:noFill/>
        </p:spPr>
        <p:txBody>
          <a:bodyPr wrap="square" rtlCol="0">
            <a:spAutoFit/>
          </a:bodyPr>
          <a:lstStyle/>
          <a:p>
            <a:r>
              <a:rPr lang="en-US" b="1" u="sng" dirty="0"/>
              <a:t>Methods of Technology Transfer</a:t>
            </a:r>
          </a:p>
          <a:p>
            <a:pPr marL="342900" indent="-342900">
              <a:buAutoNum type="arabicPeriod"/>
            </a:pPr>
            <a:r>
              <a:rPr lang="en-US" dirty="0"/>
              <a:t>Foreign Direct Investment</a:t>
            </a:r>
          </a:p>
          <a:p>
            <a:pPr marL="342900" indent="-342900">
              <a:buAutoNum type="arabicPeriod"/>
            </a:pPr>
            <a:r>
              <a:rPr lang="en-US" dirty="0"/>
              <a:t>Licensing</a:t>
            </a:r>
          </a:p>
          <a:p>
            <a:pPr marL="342900" indent="-342900">
              <a:buAutoNum type="arabicPeriod"/>
            </a:pPr>
            <a:r>
              <a:rPr lang="en-US" dirty="0"/>
              <a:t>Franchising</a:t>
            </a:r>
          </a:p>
          <a:p>
            <a:pPr marL="342900" indent="-342900">
              <a:buAutoNum type="arabicPeriod"/>
            </a:pPr>
            <a:r>
              <a:rPr lang="en-US" dirty="0"/>
              <a:t>Management Contracts or/and Turnkey Arrangement</a:t>
            </a:r>
          </a:p>
          <a:p>
            <a:pPr marL="342900" indent="-342900">
              <a:buAutoNum type="arabicPeriod"/>
            </a:pPr>
            <a:r>
              <a:rPr lang="en-US" dirty="0"/>
              <a:t>Contract Manufacturing</a:t>
            </a:r>
          </a:p>
          <a:p>
            <a:pPr marL="342900" indent="-342900">
              <a:buAutoNum type="arabicPeriod"/>
            </a:pPr>
            <a:r>
              <a:rPr lang="en-US" dirty="0"/>
              <a:t>Joint Venture</a:t>
            </a:r>
            <a:endParaRPr lang="en-IN" dirty="0"/>
          </a:p>
        </p:txBody>
      </p:sp>
      <p:sp>
        <p:nvSpPr>
          <p:cNvPr id="9" name="TextBox 8">
            <a:extLst>
              <a:ext uri="{FF2B5EF4-FFF2-40B4-BE49-F238E27FC236}">
                <a16:creationId xmlns:a16="http://schemas.microsoft.com/office/drawing/2014/main" id="{7030BDAD-AF8F-DB24-20E7-01673540E064}"/>
              </a:ext>
            </a:extLst>
          </p:cNvPr>
          <p:cNvSpPr txBox="1"/>
          <p:nvPr/>
        </p:nvSpPr>
        <p:spPr>
          <a:xfrm>
            <a:off x="193637" y="3670150"/>
            <a:ext cx="6734287" cy="1754326"/>
          </a:xfrm>
          <a:prstGeom prst="rect">
            <a:avLst/>
          </a:prstGeom>
          <a:noFill/>
        </p:spPr>
        <p:txBody>
          <a:bodyPr wrap="square" rtlCol="0">
            <a:spAutoFit/>
          </a:bodyPr>
          <a:lstStyle/>
          <a:p>
            <a:r>
              <a:rPr lang="en-US" b="1" u="sng" dirty="0"/>
              <a:t>Importance of Technology Transfer</a:t>
            </a:r>
          </a:p>
          <a:p>
            <a:pPr marL="342900" indent="-342900">
              <a:buAutoNum type="arabicPeriod"/>
            </a:pPr>
            <a:r>
              <a:rPr lang="en-US" dirty="0"/>
              <a:t>Promotes Technological Use</a:t>
            </a:r>
          </a:p>
          <a:p>
            <a:pPr marL="342900" indent="-342900">
              <a:buAutoNum type="arabicPeriod"/>
            </a:pPr>
            <a:r>
              <a:rPr lang="en-US" dirty="0"/>
              <a:t>Develops Competitive Edge</a:t>
            </a:r>
          </a:p>
          <a:p>
            <a:pPr marL="342900" indent="-342900">
              <a:buAutoNum type="arabicPeriod"/>
            </a:pPr>
            <a:r>
              <a:rPr lang="en-US" dirty="0"/>
              <a:t>Encourages Research and Development</a:t>
            </a:r>
          </a:p>
          <a:p>
            <a:pPr marL="342900" indent="-342900">
              <a:buAutoNum type="arabicPeriod"/>
            </a:pPr>
            <a:r>
              <a:rPr lang="en-US" dirty="0"/>
              <a:t>Enhances Capability and Innovation</a:t>
            </a:r>
          </a:p>
          <a:p>
            <a:pPr marL="342900" indent="-342900">
              <a:buAutoNum type="arabicPeriod"/>
            </a:pPr>
            <a:r>
              <a:rPr lang="en-US" dirty="0"/>
              <a:t>Helps Researchers</a:t>
            </a:r>
            <a:endParaRPr lang="en-IN" dirty="0"/>
          </a:p>
        </p:txBody>
      </p:sp>
    </p:spTree>
    <p:extLst>
      <p:ext uri="{BB962C8B-B14F-4D97-AF65-F5344CB8AC3E}">
        <p14:creationId xmlns:p14="http://schemas.microsoft.com/office/powerpoint/2010/main" val="1477685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27EE7-68AB-7616-4A8F-7BA3324901A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4A05F65-7D39-76F9-8057-B88F60252387}"/>
              </a:ext>
            </a:extLst>
          </p:cNvPr>
          <p:cNvSpPr>
            <a:spLocks noGrp="1"/>
          </p:cNvSpPr>
          <p:nvPr>
            <p:ph type="title"/>
          </p:nvPr>
        </p:nvSpPr>
        <p:spPr>
          <a:xfrm>
            <a:off x="1278308" y="150491"/>
            <a:ext cx="6654730" cy="820991"/>
          </a:xfrm>
        </p:spPr>
        <p:txBody>
          <a:bodyPr/>
          <a:lstStyle/>
          <a:p>
            <a:r>
              <a:rPr lang="en-IN" sz="2800" b="1" dirty="0">
                <a:solidFill>
                  <a:schemeClr val="bg1"/>
                </a:solidFill>
              </a:rPr>
              <a:t>Global Competitiveness</a:t>
            </a:r>
          </a:p>
        </p:txBody>
      </p:sp>
      <p:sp>
        <p:nvSpPr>
          <p:cNvPr id="3" name="Date Placeholder 2">
            <a:extLst>
              <a:ext uri="{FF2B5EF4-FFF2-40B4-BE49-F238E27FC236}">
                <a16:creationId xmlns:a16="http://schemas.microsoft.com/office/drawing/2014/main" id="{C12CECE1-9B84-A794-24D7-9A3B10AE99C6}"/>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637291E6-F927-7205-3AC4-C382D0E6A6E9}"/>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FCF0310B-6AD1-1014-A593-5029F3D9AA84}"/>
              </a:ext>
            </a:extLst>
          </p:cNvPr>
          <p:cNvSpPr>
            <a:spLocks noGrp="1"/>
          </p:cNvSpPr>
          <p:nvPr>
            <p:ph type="sldNum" sz="quarter" idx="12"/>
          </p:nvPr>
        </p:nvSpPr>
        <p:spPr/>
        <p:txBody>
          <a:bodyPr/>
          <a:lstStyle/>
          <a:p>
            <a:pPr defTabSz="756209"/>
            <a:fld id="{B6F15528-21DE-4FAA-801E-634DDDAF4B2B}" type="slidenum">
              <a:rPr lang="en-US" smtClean="0"/>
              <a:pPr defTabSz="756209"/>
              <a:t>12</a:t>
            </a:fld>
            <a:endParaRPr lang="en-US"/>
          </a:p>
        </p:txBody>
      </p:sp>
      <p:sp>
        <p:nvSpPr>
          <p:cNvPr id="2" name="TextBox 1">
            <a:extLst>
              <a:ext uri="{FF2B5EF4-FFF2-40B4-BE49-F238E27FC236}">
                <a16:creationId xmlns:a16="http://schemas.microsoft.com/office/drawing/2014/main" id="{00B35AF7-EC00-BCB6-2173-1D25D491D0D9}"/>
              </a:ext>
            </a:extLst>
          </p:cNvPr>
          <p:cNvSpPr txBox="1"/>
          <p:nvPr/>
        </p:nvSpPr>
        <p:spPr>
          <a:xfrm>
            <a:off x="161365" y="1592132"/>
            <a:ext cx="9415230" cy="646331"/>
          </a:xfrm>
          <a:prstGeom prst="rect">
            <a:avLst/>
          </a:prstGeom>
          <a:noFill/>
        </p:spPr>
        <p:txBody>
          <a:bodyPr wrap="square" rtlCol="0">
            <a:spAutoFit/>
          </a:bodyPr>
          <a:lstStyle/>
          <a:p>
            <a:r>
              <a:rPr lang="en-US" dirty="0"/>
              <a:t>The rise of globalization in the Internation Business has led to intense competition because of which high technology sector had become a major part of foreign trade.</a:t>
            </a:r>
            <a:endParaRPr lang="en-IN" dirty="0"/>
          </a:p>
        </p:txBody>
      </p:sp>
      <p:sp>
        <p:nvSpPr>
          <p:cNvPr id="7" name="TextBox 6">
            <a:extLst>
              <a:ext uri="{FF2B5EF4-FFF2-40B4-BE49-F238E27FC236}">
                <a16:creationId xmlns:a16="http://schemas.microsoft.com/office/drawing/2014/main" id="{7F0C4417-E09F-183A-02D9-7513AAE3D4BC}"/>
              </a:ext>
            </a:extLst>
          </p:cNvPr>
          <p:cNvSpPr txBox="1"/>
          <p:nvPr/>
        </p:nvSpPr>
        <p:spPr>
          <a:xfrm>
            <a:off x="504031" y="2345167"/>
            <a:ext cx="7929964" cy="1754326"/>
          </a:xfrm>
          <a:prstGeom prst="rect">
            <a:avLst/>
          </a:prstGeom>
          <a:noFill/>
        </p:spPr>
        <p:txBody>
          <a:bodyPr wrap="square" rtlCol="0">
            <a:spAutoFit/>
          </a:bodyPr>
          <a:lstStyle/>
          <a:p>
            <a:r>
              <a:rPr lang="en-US" b="1" u="sng" dirty="0"/>
              <a:t>Need for Global Competitiveness</a:t>
            </a:r>
          </a:p>
          <a:p>
            <a:pPr marL="342900" indent="-342900">
              <a:buAutoNum type="arabicPeriod"/>
            </a:pPr>
            <a:r>
              <a:rPr lang="en-US" dirty="0"/>
              <a:t>Evaluate the Capability of Countries</a:t>
            </a:r>
          </a:p>
          <a:p>
            <a:pPr marL="342900" indent="-342900">
              <a:buAutoNum type="arabicPeriod"/>
            </a:pPr>
            <a:r>
              <a:rPr lang="en-US" dirty="0"/>
              <a:t>Renew and Regenerate</a:t>
            </a:r>
          </a:p>
          <a:p>
            <a:pPr marL="342900" indent="-342900">
              <a:buAutoNum type="arabicPeriod"/>
            </a:pPr>
            <a:r>
              <a:rPr lang="en-US" dirty="0"/>
              <a:t>Provide New Viewpoint and Information Competitiveness</a:t>
            </a:r>
          </a:p>
          <a:p>
            <a:pPr marL="342900" indent="-342900">
              <a:buAutoNum type="arabicPeriod"/>
            </a:pPr>
            <a:r>
              <a:rPr lang="en-US" dirty="0"/>
              <a:t>Facing International Competition</a:t>
            </a:r>
          </a:p>
          <a:p>
            <a:pPr marL="342900" indent="-342900">
              <a:buAutoNum type="arabicPeriod"/>
            </a:pPr>
            <a:r>
              <a:rPr lang="en-US" dirty="0"/>
              <a:t>Re-Examination of Products, Customers, Markets, and Rivals.</a:t>
            </a:r>
            <a:endParaRPr lang="en-IN" dirty="0"/>
          </a:p>
        </p:txBody>
      </p:sp>
    </p:spTree>
    <p:extLst>
      <p:ext uri="{BB962C8B-B14F-4D97-AF65-F5344CB8AC3E}">
        <p14:creationId xmlns:p14="http://schemas.microsoft.com/office/powerpoint/2010/main" val="2118372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C774F-9F46-3C23-5DA7-EE6E8E24744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0473F18-F657-5596-1836-4C49C486B742}"/>
              </a:ext>
            </a:extLst>
          </p:cNvPr>
          <p:cNvSpPr>
            <a:spLocks noGrp="1"/>
          </p:cNvSpPr>
          <p:nvPr>
            <p:ph type="title"/>
          </p:nvPr>
        </p:nvSpPr>
        <p:spPr>
          <a:xfrm>
            <a:off x="1278308" y="150491"/>
            <a:ext cx="6654730" cy="820991"/>
          </a:xfrm>
        </p:spPr>
        <p:txBody>
          <a:bodyPr/>
          <a:lstStyle/>
          <a:p>
            <a:r>
              <a:rPr lang="en-IN" sz="2800" b="1" dirty="0">
                <a:solidFill>
                  <a:schemeClr val="bg1"/>
                </a:solidFill>
              </a:rPr>
              <a:t>Indicators of competitiveness/12 Pillars of Global Competitiveness</a:t>
            </a:r>
          </a:p>
        </p:txBody>
      </p:sp>
      <p:sp>
        <p:nvSpPr>
          <p:cNvPr id="3" name="Date Placeholder 2">
            <a:extLst>
              <a:ext uri="{FF2B5EF4-FFF2-40B4-BE49-F238E27FC236}">
                <a16:creationId xmlns:a16="http://schemas.microsoft.com/office/drawing/2014/main" id="{90996A79-17C2-3362-68BA-D36BEAC4EC95}"/>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BA0DBBFD-44AC-6107-2458-351657632728}"/>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67A39A8A-2391-115C-C9D9-3290F231151C}"/>
              </a:ext>
            </a:extLst>
          </p:cNvPr>
          <p:cNvSpPr>
            <a:spLocks noGrp="1"/>
          </p:cNvSpPr>
          <p:nvPr>
            <p:ph type="sldNum" sz="quarter" idx="12"/>
          </p:nvPr>
        </p:nvSpPr>
        <p:spPr/>
        <p:txBody>
          <a:bodyPr/>
          <a:lstStyle/>
          <a:p>
            <a:pPr defTabSz="756209"/>
            <a:fld id="{B6F15528-21DE-4FAA-801E-634DDDAF4B2B}" type="slidenum">
              <a:rPr lang="en-US" smtClean="0"/>
              <a:pPr defTabSz="756209"/>
              <a:t>13</a:t>
            </a:fld>
            <a:endParaRPr lang="en-US"/>
          </a:p>
        </p:txBody>
      </p:sp>
      <p:sp>
        <p:nvSpPr>
          <p:cNvPr id="2" name="TextBox 1">
            <a:extLst>
              <a:ext uri="{FF2B5EF4-FFF2-40B4-BE49-F238E27FC236}">
                <a16:creationId xmlns:a16="http://schemas.microsoft.com/office/drawing/2014/main" id="{EE31E5CC-6A01-4C17-428A-FA650DF4FCBA}"/>
              </a:ext>
            </a:extLst>
          </p:cNvPr>
          <p:cNvSpPr txBox="1"/>
          <p:nvPr/>
        </p:nvSpPr>
        <p:spPr>
          <a:xfrm>
            <a:off x="623944" y="1645920"/>
            <a:ext cx="8369449" cy="3416320"/>
          </a:xfrm>
          <a:prstGeom prst="rect">
            <a:avLst/>
          </a:prstGeom>
          <a:noFill/>
        </p:spPr>
        <p:txBody>
          <a:bodyPr wrap="square" rtlCol="0">
            <a:spAutoFit/>
          </a:bodyPr>
          <a:lstStyle/>
          <a:p>
            <a:pPr marL="342900" indent="-342900">
              <a:buAutoNum type="arabicPeriod"/>
            </a:pPr>
            <a:r>
              <a:rPr lang="en-US" dirty="0"/>
              <a:t>Institutions</a:t>
            </a:r>
          </a:p>
          <a:p>
            <a:pPr marL="342900" indent="-342900">
              <a:buAutoNum type="arabicPeriod"/>
            </a:pPr>
            <a:r>
              <a:rPr lang="en-US" dirty="0"/>
              <a:t>Infrastructure</a:t>
            </a:r>
          </a:p>
          <a:p>
            <a:pPr marL="342900" indent="-342900">
              <a:buAutoNum type="arabicPeriod"/>
            </a:pPr>
            <a:r>
              <a:rPr lang="en-US" dirty="0"/>
              <a:t>Macroeconomic Stability</a:t>
            </a:r>
          </a:p>
          <a:p>
            <a:pPr marL="342900" indent="-342900">
              <a:buAutoNum type="arabicPeriod"/>
            </a:pPr>
            <a:r>
              <a:rPr lang="en-US" dirty="0"/>
              <a:t>Health and Primary Education</a:t>
            </a:r>
          </a:p>
          <a:p>
            <a:pPr marL="342900" indent="-342900">
              <a:buAutoNum type="arabicPeriod"/>
            </a:pPr>
            <a:r>
              <a:rPr lang="en-US" dirty="0"/>
              <a:t>Higher Education and Training</a:t>
            </a:r>
          </a:p>
          <a:p>
            <a:pPr marL="342900" indent="-342900">
              <a:buAutoNum type="arabicPeriod"/>
            </a:pPr>
            <a:r>
              <a:rPr lang="en-US" dirty="0"/>
              <a:t>Goods Market Efficiency</a:t>
            </a:r>
          </a:p>
          <a:p>
            <a:pPr marL="342900" indent="-342900">
              <a:buAutoNum type="arabicPeriod"/>
            </a:pPr>
            <a:r>
              <a:rPr lang="en-US" dirty="0" err="1"/>
              <a:t>Labour</a:t>
            </a:r>
            <a:r>
              <a:rPr lang="en-US" dirty="0"/>
              <a:t> Market Efficiency</a:t>
            </a:r>
          </a:p>
          <a:p>
            <a:pPr marL="342900" indent="-342900">
              <a:buAutoNum type="arabicPeriod"/>
            </a:pPr>
            <a:r>
              <a:rPr lang="en-US" dirty="0"/>
              <a:t>Financial Market Sophistication</a:t>
            </a:r>
          </a:p>
          <a:p>
            <a:pPr marL="342900" indent="-342900">
              <a:buAutoNum type="arabicPeriod"/>
            </a:pPr>
            <a:r>
              <a:rPr lang="en-US" dirty="0"/>
              <a:t>Technological Readiness</a:t>
            </a:r>
          </a:p>
          <a:p>
            <a:pPr marL="342900" indent="-342900">
              <a:buAutoNum type="arabicPeriod"/>
            </a:pPr>
            <a:r>
              <a:rPr lang="en-US" dirty="0"/>
              <a:t>Market Size</a:t>
            </a:r>
          </a:p>
          <a:p>
            <a:pPr marL="342900" indent="-342900">
              <a:buAutoNum type="arabicPeriod"/>
            </a:pPr>
            <a:r>
              <a:rPr lang="en-US" dirty="0"/>
              <a:t>Business Sophistication</a:t>
            </a:r>
          </a:p>
          <a:p>
            <a:pPr marL="342900" indent="-342900">
              <a:buAutoNum type="arabicPeriod"/>
            </a:pPr>
            <a:r>
              <a:rPr lang="en-US" dirty="0"/>
              <a:t>Innovation</a:t>
            </a:r>
          </a:p>
        </p:txBody>
      </p:sp>
    </p:spTree>
    <p:extLst>
      <p:ext uri="{BB962C8B-B14F-4D97-AF65-F5344CB8AC3E}">
        <p14:creationId xmlns:p14="http://schemas.microsoft.com/office/powerpoint/2010/main" val="2176230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2C64-4FF4-4B8B-1578-546E241A93D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4266556-FFEF-118D-9D84-798C3B1CB782}"/>
              </a:ext>
            </a:extLst>
          </p:cNvPr>
          <p:cNvSpPr>
            <a:spLocks noGrp="1"/>
          </p:cNvSpPr>
          <p:nvPr>
            <p:ph type="title"/>
          </p:nvPr>
        </p:nvSpPr>
        <p:spPr>
          <a:xfrm>
            <a:off x="1278308" y="150491"/>
            <a:ext cx="6654730" cy="820991"/>
          </a:xfrm>
        </p:spPr>
        <p:txBody>
          <a:bodyPr/>
          <a:lstStyle/>
          <a:p>
            <a:r>
              <a:rPr lang="en-IN" sz="2800" b="1" dirty="0">
                <a:solidFill>
                  <a:schemeClr val="bg1"/>
                </a:solidFill>
              </a:rPr>
              <a:t>Indicators of competitiveness/12 Pillars of Global Competitiveness</a:t>
            </a:r>
          </a:p>
        </p:txBody>
      </p:sp>
      <p:sp>
        <p:nvSpPr>
          <p:cNvPr id="3" name="Date Placeholder 2">
            <a:extLst>
              <a:ext uri="{FF2B5EF4-FFF2-40B4-BE49-F238E27FC236}">
                <a16:creationId xmlns:a16="http://schemas.microsoft.com/office/drawing/2014/main" id="{364928DB-C1EF-B45F-CCF0-5ADC162EC077}"/>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CD8A6582-EF14-FFDE-0580-9133528A6AD0}"/>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742C4DBF-9381-F919-A88D-426ACE12E983}"/>
              </a:ext>
            </a:extLst>
          </p:cNvPr>
          <p:cNvSpPr>
            <a:spLocks noGrp="1"/>
          </p:cNvSpPr>
          <p:nvPr>
            <p:ph type="sldNum" sz="quarter" idx="12"/>
          </p:nvPr>
        </p:nvSpPr>
        <p:spPr/>
        <p:txBody>
          <a:bodyPr/>
          <a:lstStyle/>
          <a:p>
            <a:pPr defTabSz="756209"/>
            <a:fld id="{B6F15528-21DE-4FAA-801E-634DDDAF4B2B}" type="slidenum">
              <a:rPr lang="en-US" smtClean="0"/>
              <a:pPr defTabSz="756209"/>
              <a:t>14</a:t>
            </a:fld>
            <a:endParaRPr lang="en-US"/>
          </a:p>
        </p:txBody>
      </p:sp>
      <p:pic>
        <p:nvPicPr>
          <p:cNvPr id="7" name="Picture 6">
            <a:extLst>
              <a:ext uri="{FF2B5EF4-FFF2-40B4-BE49-F238E27FC236}">
                <a16:creationId xmlns:a16="http://schemas.microsoft.com/office/drawing/2014/main" id="{1FD6007F-56D6-091B-9C07-DABE3EB10565}"/>
              </a:ext>
            </a:extLst>
          </p:cNvPr>
          <p:cNvPicPr>
            <a:picLocks noChangeAspect="1"/>
          </p:cNvPicPr>
          <p:nvPr/>
        </p:nvPicPr>
        <p:blipFill>
          <a:blip r:embed="rId2"/>
          <a:stretch>
            <a:fillRect/>
          </a:stretch>
        </p:blipFill>
        <p:spPr>
          <a:xfrm>
            <a:off x="504031" y="1315370"/>
            <a:ext cx="4136892" cy="4192546"/>
          </a:xfrm>
          <a:prstGeom prst="rect">
            <a:avLst/>
          </a:prstGeom>
        </p:spPr>
      </p:pic>
      <p:sp>
        <p:nvSpPr>
          <p:cNvPr id="9" name="TextBox 8">
            <a:extLst>
              <a:ext uri="{FF2B5EF4-FFF2-40B4-BE49-F238E27FC236}">
                <a16:creationId xmlns:a16="http://schemas.microsoft.com/office/drawing/2014/main" id="{8F370C98-4074-9F3B-A924-44E9A57C56E9}"/>
              </a:ext>
            </a:extLst>
          </p:cNvPr>
          <p:cNvSpPr txBox="1"/>
          <p:nvPr/>
        </p:nvSpPr>
        <p:spPr>
          <a:xfrm>
            <a:off x="4699092" y="1315370"/>
            <a:ext cx="5050714" cy="378565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India ranked 41st out of 69 countries in the 2025 International Institute for Management Development (IMD) World Competitiveness Ranking, a drop of two spots from its 39th position in 2024. Switzerland remained the most competitive economy, with Singapore and Hong Kong securing the second and third spots, respectively. While India performs well in economic performance and business efficiency, weaknesses in infrastructure and government effectiveness impact its overall competitiveness.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4574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05555-4E77-572B-2E13-FE677AE837B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CC2B3EB-9031-2265-A3E5-55437316EA81}"/>
              </a:ext>
            </a:extLst>
          </p:cNvPr>
          <p:cNvSpPr>
            <a:spLocks noGrp="1"/>
          </p:cNvSpPr>
          <p:nvPr>
            <p:ph type="title"/>
          </p:nvPr>
        </p:nvSpPr>
        <p:spPr>
          <a:xfrm>
            <a:off x="1278308" y="150491"/>
            <a:ext cx="6654730" cy="820991"/>
          </a:xfrm>
        </p:spPr>
        <p:txBody>
          <a:bodyPr/>
          <a:lstStyle/>
          <a:p>
            <a:r>
              <a:rPr lang="en-IN" sz="2800" b="1" dirty="0">
                <a:solidFill>
                  <a:schemeClr val="bg1"/>
                </a:solidFill>
              </a:rPr>
              <a:t>Technology of Global</a:t>
            </a:r>
            <a:br>
              <a:rPr lang="en-IN" sz="2800" b="1" dirty="0">
                <a:solidFill>
                  <a:schemeClr val="bg1"/>
                </a:solidFill>
              </a:rPr>
            </a:br>
            <a:r>
              <a:rPr lang="en-IN" sz="2800" b="1" dirty="0">
                <a:solidFill>
                  <a:schemeClr val="bg1"/>
                </a:solidFill>
              </a:rPr>
              <a:t>competitiveness.</a:t>
            </a:r>
          </a:p>
        </p:txBody>
      </p:sp>
      <p:sp>
        <p:nvSpPr>
          <p:cNvPr id="3" name="Date Placeholder 2">
            <a:extLst>
              <a:ext uri="{FF2B5EF4-FFF2-40B4-BE49-F238E27FC236}">
                <a16:creationId xmlns:a16="http://schemas.microsoft.com/office/drawing/2014/main" id="{1FA52816-BC35-7275-DB8E-987F14BD87C8}"/>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A9C94281-9357-55B4-BD07-F0DAC5B10BC7}"/>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DAECBE9C-6F56-4B65-1A2E-FF0A3BCD9A5A}"/>
              </a:ext>
            </a:extLst>
          </p:cNvPr>
          <p:cNvSpPr>
            <a:spLocks noGrp="1"/>
          </p:cNvSpPr>
          <p:nvPr>
            <p:ph type="sldNum" sz="quarter" idx="12"/>
          </p:nvPr>
        </p:nvSpPr>
        <p:spPr/>
        <p:txBody>
          <a:bodyPr/>
          <a:lstStyle/>
          <a:p>
            <a:pPr defTabSz="756209"/>
            <a:fld id="{B6F15528-21DE-4FAA-801E-634DDDAF4B2B}" type="slidenum">
              <a:rPr lang="en-US" smtClean="0"/>
              <a:pPr defTabSz="756209"/>
              <a:t>15</a:t>
            </a:fld>
            <a:endParaRPr lang="en-US"/>
          </a:p>
        </p:txBody>
      </p:sp>
      <p:sp>
        <p:nvSpPr>
          <p:cNvPr id="7" name="TextBox 6">
            <a:extLst>
              <a:ext uri="{FF2B5EF4-FFF2-40B4-BE49-F238E27FC236}">
                <a16:creationId xmlns:a16="http://schemas.microsoft.com/office/drawing/2014/main" id="{1BDA02C0-657A-975B-729C-3942E37A0D81}"/>
              </a:ext>
            </a:extLst>
          </p:cNvPr>
          <p:cNvSpPr txBox="1"/>
          <p:nvPr/>
        </p:nvSpPr>
        <p:spPr>
          <a:xfrm>
            <a:off x="330820" y="1465304"/>
            <a:ext cx="9372578" cy="70788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Technology drives global competitiveness by fostering innovation, increasing productivity, reducing costs, and enabling access to new markets</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4FC4007-07CC-8BAB-147D-55E101D08582}"/>
              </a:ext>
            </a:extLst>
          </p:cNvPr>
          <p:cNvSpPr txBox="1"/>
          <p:nvPr/>
        </p:nvSpPr>
        <p:spPr>
          <a:xfrm>
            <a:off x="330820" y="2564457"/>
            <a:ext cx="9245775" cy="3447098"/>
          </a:xfrm>
          <a:prstGeom prst="rect">
            <a:avLst/>
          </a:prstGeom>
          <a:noFill/>
        </p:spPr>
        <p:txBody>
          <a:bodyPr wrap="square">
            <a:spAutoFit/>
          </a:bodyPr>
          <a:lstStyle/>
          <a:p>
            <a:pPr algn="ctr"/>
            <a:r>
              <a:rPr lang="en-US" b="1" u="sng" dirty="0"/>
              <a:t>How Technology Boosts Competitiveness</a:t>
            </a:r>
          </a:p>
          <a:p>
            <a:pPr algn="just"/>
            <a:r>
              <a:rPr lang="en-US" sz="2000" b="1" dirty="0">
                <a:latin typeface="Times New Roman" panose="02020603050405020304" pitchFamily="18" charset="0"/>
                <a:cs typeface="Times New Roman" panose="02020603050405020304" pitchFamily="18" charset="0"/>
              </a:rPr>
              <a:t>Innovation: </a:t>
            </a:r>
            <a:r>
              <a:rPr lang="en-US" sz="2000" dirty="0">
                <a:latin typeface="Times New Roman" panose="02020603050405020304" pitchFamily="18" charset="0"/>
                <a:cs typeface="Times New Roman" panose="02020603050405020304" pitchFamily="18" charset="0"/>
              </a:rPr>
              <a:t>Developing new technologies creates new products and services, enhancing industry-specific advantages. </a:t>
            </a:r>
          </a:p>
          <a:p>
            <a:pPr algn="just"/>
            <a:r>
              <a:rPr lang="en-US" sz="2000" b="1" dirty="0">
                <a:latin typeface="Times New Roman" panose="02020603050405020304" pitchFamily="18" charset="0"/>
                <a:cs typeface="Times New Roman" panose="02020603050405020304" pitchFamily="18" charset="0"/>
              </a:rPr>
              <a:t>Adoption: </a:t>
            </a:r>
            <a:r>
              <a:rPr lang="en-US" sz="2000" dirty="0">
                <a:latin typeface="Times New Roman" panose="02020603050405020304" pitchFamily="18" charset="0"/>
                <a:cs typeface="Times New Roman" panose="02020603050405020304" pitchFamily="18" charset="0"/>
              </a:rPr>
              <a:t>Introducing and integrating technologies developed elsewhere can significantly improve living standards and long-term economic growth. </a:t>
            </a:r>
          </a:p>
          <a:p>
            <a:pPr algn="just"/>
            <a:r>
              <a:rPr lang="en-US" sz="2000" b="1" dirty="0">
                <a:latin typeface="Times New Roman" panose="02020603050405020304" pitchFamily="18" charset="0"/>
                <a:cs typeface="Times New Roman" panose="02020603050405020304" pitchFamily="18" charset="0"/>
              </a:rPr>
              <a:t>Efficiency &amp; Cost Reduction: </a:t>
            </a:r>
            <a:r>
              <a:rPr lang="en-US" sz="2000" dirty="0">
                <a:latin typeface="Times New Roman" panose="02020603050405020304" pitchFamily="18" charset="0"/>
                <a:cs typeface="Times New Roman" panose="02020603050405020304" pitchFamily="18" charset="0"/>
              </a:rPr>
              <a:t>Technology streamlines operations, reduces production costs, and optimizes supply chains, improving a company's profitability. </a:t>
            </a:r>
          </a:p>
          <a:p>
            <a:pPr algn="just"/>
            <a:r>
              <a:rPr lang="en-US" sz="2000" b="1" dirty="0">
                <a:latin typeface="Times New Roman" panose="02020603050405020304" pitchFamily="18" charset="0"/>
                <a:cs typeface="Times New Roman" panose="02020603050405020304" pitchFamily="18" charset="0"/>
              </a:rPr>
              <a:t>Market Access</a:t>
            </a:r>
            <a:r>
              <a:rPr lang="en-US" sz="2000" dirty="0">
                <a:latin typeface="Times New Roman" panose="02020603050405020304" pitchFamily="18" charset="0"/>
                <a:cs typeface="Times New Roman" panose="02020603050405020304" pitchFamily="18" charset="0"/>
              </a:rPr>
              <a:t>: Digital tools facilitate real-time collaboration and provide businesses with broader access to global markets. </a:t>
            </a:r>
          </a:p>
          <a:p>
            <a:pPr algn="just"/>
            <a:r>
              <a:rPr lang="en-US" sz="2000" b="1" dirty="0">
                <a:latin typeface="Times New Roman" panose="02020603050405020304" pitchFamily="18" charset="0"/>
                <a:cs typeface="Times New Roman" panose="02020603050405020304" pitchFamily="18" charset="0"/>
              </a:rPr>
              <a:t>Productivity: </a:t>
            </a:r>
            <a:r>
              <a:rPr lang="en-US" sz="2000" dirty="0">
                <a:latin typeface="Times New Roman" panose="02020603050405020304" pitchFamily="18" charset="0"/>
                <a:cs typeface="Times New Roman" panose="02020603050405020304" pitchFamily="18" charset="0"/>
              </a:rPr>
              <a:t>Technology increases the productivity and quality of goods and services, leading to higher incomes for citizens and faster economic growth.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0913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94252-E7A8-315A-AB1A-3D351DF1F9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35092DD-0140-5371-F090-EDD3D0CEA256}"/>
              </a:ext>
            </a:extLst>
          </p:cNvPr>
          <p:cNvSpPr>
            <a:spLocks noGrp="1"/>
          </p:cNvSpPr>
          <p:nvPr>
            <p:ph type="title"/>
          </p:nvPr>
        </p:nvSpPr>
        <p:spPr>
          <a:xfrm>
            <a:off x="1278308" y="150491"/>
            <a:ext cx="6654730" cy="820991"/>
          </a:xfrm>
        </p:spPr>
        <p:txBody>
          <a:bodyPr/>
          <a:lstStyle/>
          <a:p>
            <a:endParaRPr lang="en-IN" sz="2800" b="1" dirty="0">
              <a:solidFill>
                <a:schemeClr val="bg1"/>
              </a:solidFill>
            </a:endParaRPr>
          </a:p>
        </p:txBody>
      </p:sp>
      <p:sp>
        <p:nvSpPr>
          <p:cNvPr id="3" name="Date Placeholder 2">
            <a:extLst>
              <a:ext uri="{FF2B5EF4-FFF2-40B4-BE49-F238E27FC236}">
                <a16:creationId xmlns:a16="http://schemas.microsoft.com/office/drawing/2014/main" id="{A56C0AC6-371C-BF62-E6CB-B9C192AF7B68}"/>
              </a:ext>
            </a:extLst>
          </p:cNvPr>
          <p:cNvSpPr>
            <a:spLocks noGrp="1"/>
          </p:cNvSpPr>
          <p:nvPr>
            <p:ph type="dt" sz="half" idx="10"/>
          </p:nvPr>
        </p:nvSpPr>
        <p:spPr/>
        <p:txBody>
          <a:bodyPr/>
          <a:lstStyle/>
          <a:p>
            <a:pPr defTabSz="756209"/>
            <a:fld id="{59C3BFA6-9BB1-4BCB-AB07-9D84C6CDAA70}" type="datetime3">
              <a:rPr lang="en-US" smtClean="0"/>
              <a:t>8 September 2025</a:t>
            </a:fld>
            <a:endParaRPr lang="en-US"/>
          </a:p>
        </p:txBody>
      </p:sp>
      <p:sp>
        <p:nvSpPr>
          <p:cNvPr id="5" name="Footer Placeholder 4">
            <a:extLst>
              <a:ext uri="{FF2B5EF4-FFF2-40B4-BE49-F238E27FC236}">
                <a16:creationId xmlns:a16="http://schemas.microsoft.com/office/drawing/2014/main" id="{39563C0B-2A2A-D45A-F5EE-64DF80FAF44F}"/>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78FA57D7-6923-395E-CE93-929C3B8BE330}"/>
              </a:ext>
            </a:extLst>
          </p:cNvPr>
          <p:cNvSpPr>
            <a:spLocks noGrp="1"/>
          </p:cNvSpPr>
          <p:nvPr>
            <p:ph type="sldNum" sz="quarter" idx="12"/>
          </p:nvPr>
        </p:nvSpPr>
        <p:spPr/>
        <p:txBody>
          <a:bodyPr/>
          <a:lstStyle/>
          <a:p>
            <a:pPr defTabSz="756209"/>
            <a:fld id="{B6F15528-21DE-4FAA-801E-634DDDAF4B2B}" type="slidenum">
              <a:rPr lang="en-US" smtClean="0"/>
              <a:pPr defTabSz="756209"/>
              <a:t>16</a:t>
            </a:fld>
            <a:endParaRPr lang="en-US"/>
          </a:p>
        </p:txBody>
      </p:sp>
      <p:sp>
        <p:nvSpPr>
          <p:cNvPr id="2" name="TextBox 1">
            <a:extLst>
              <a:ext uri="{FF2B5EF4-FFF2-40B4-BE49-F238E27FC236}">
                <a16:creationId xmlns:a16="http://schemas.microsoft.com/office/drawing/2014/main" id="{F0C31A3F-A23A-8E41-BA58-6CFDEF5CC465}"/>
              </a:ext>
            </a:extLst>
          </p:cNvPr>
          <p:cNvSpPr txBox="1"/>
          <p:nvPr/>
        </p:nvSpPr>
        <p:spPr>
          <a:xfrm>
            <a:off x="1278308" y="1968649"/>
            <a:ext cx="6951292" cy="369332"/>
          </a:xfrm>
          <a:prstGeom prst="rect">
            <a:avLst/>
          </a:prstGeom>
          <a:noFill/>
        </p:spPr>
        <p:txBody>
          <a:bodyPr wrap="square" rtlCol="0">
            <a:spAutoFit/>
          </a:bodyPr>
          <a:lstStyle/>
          <a:p>
            <a:pPr algn="ctr"/>
            <a:r>
              <a:rPr lang="en-US" dirty="0"/>
              <a:t>Thank You</a:t>
            </a:r>
            <a:endParaRPr lang="en-IN" dirty="0"/>
          </a:p>
        </p:txBody>
      </p:sp>
    </p:spTree>
    <p:extLst>
      <p:ext uri="{BB962C8B-B14F-4D97-AF65-F5344CB8AC3E}">
        <p14:creationId xmlns:p14="http://schemas.microsoft.com/office/powerpoint/2010/main" val="24763502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2964</TotalTime>
  <Words>1191</Words>
  <Application>Microsoft Office PowerPoint</Application>
  <PresentationFormat>Custom</PresentationFormat>
  <Paragraphs>183</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Book Antiqua</vt:lpstr>
      <vt:lpstr>Calibri</vt:lpstr>
      <vt:lpstr>Cambria</vt:lpstr>
      <vt:lpstr>Times new roman</vt:lpstr>
      <vt:lpstr>Times new roman</vt:lpstr>
      <vt:lpstr>1_Office Theme</vt:lpstr>
      <vt:lpstr>International Business 22MBA401</vt:lpstr>
      <vt:lpstr>Module-5 (6Hours)   Multi-National Corporations: Definition and Meaning, factors that contributed to positive growth of MNCs, Importance of MNCs, Advantages and disadvantages of MNCs, MNCs in India, Organizational structure of MNCs, Transfer of Technology, Global Competitiveness, Indicators of competitiveness, Technology of Global competitiveness.</vt:lpstr>
      <vt:lpstr>Multi-National Corporations: Definition and Meaning</vt:lpstr>
      <vt:lpstr>Factors that contributed to positive growth of MNCs</vt:lpstr>
      <vt:lpstr>Importance of MNCs</vt:lpstr>
      <vt:lpstr>Disadvantages of MNCs</vt:lpstr>
      <vt:lpstr>MNCs in India</vt:lpstr>
      <vt:lpstr>Current Opportunities of Indian MNCs</vt:lpstr>
      <vt:lpstr>Organizational structure of MNCs,</vt:lpstr>
      <vt:lpstr>Transfer of Technology</vt:lpstr>
      <vt:lpstr>Transfer of Technology</vt:lpstr>
      <vt:lpstr>Global Competitiveness</vt:lpstr>
      <vt:lpstr>Indicators of competitiveness/12 Pillars of Global Competitiveness</vt:lpstr>
      <vt:lpstr>Indicators of competitiveness/12 Pillars of Global Competitiveness</vt:lpstr>
      <vt:lpstr>Technology of Global competitiveness.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Compensation &amp; Benefits  18MBAHR303</dc:title>
  <dc:creator>Reena</dc:creator>
  <cp:lastModifiedBy>Dell</cp:lastModifiedBy>
  <cp:revision>417</cp:revision>
  <dcterms:modified xsi:type="dcterms:W3CDTF">2025-09-08T08:47:49Z</dcterms:modified>
</cp:coreProperties>
</file>