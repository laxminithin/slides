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Lst>
  <p:notesMasterIdLst>
    <p:notesMasterId r:id="rId17"/>
  </p:notesMasterIdLst>
  <p:sldIdLst>
    <p:sldId id="283" r:id="rId2"/>
    <p:sldId id="285" r:id="rId3"/>
    <p:sldId id="286" r:id="rId4"/>
    <p:sldId id="287" r:id="rId5"/>
    <p:sldId id="288" r:id="rId6"/>
    <p:sldId id="289" r:id="rId7"/>
    <p:sldId id="290" r:id="rId8"/>
    <p:sldId id="291" r:id="rId9"/>
    <p:sldId id="292" r:id="rId10"/>
    <p:sldId id="293" r:id="rId11"/>
    <p:sldId id="294" r:id="rId12"/>
    <p:sldId id="295" r:id="rId13"/>
    <p:sldId id="296" r:id="rId14"/>
    <p:sldId id="297" r:id="rId15"/>
    <p:sldId id="302" r:id="rId16"/>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0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92" autoAdjust="0"/>
    <p:restoredTop sz="94660"/>
  </p:normalViewPr>
  <p:slideViewPr>
    <p:cSldViewPr snapToGrid="0">
      <p:cViewPr varScale="1">
        <p:scale>
          <a:sx n="71" d="100"/>
          <a:sy n="71" d="100"/>
        </p:scale>
        <p:origin x="1397" y="53"/>
      </p:cViewPr>
      <p:guideLst>
        <p:guide orient="horz" pos="2381"/>
        <p:guide pos="31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V Reena Williams" userId="bee68a21f81384c9" providerId="LiveId" clId="{5A7C177A-5150-4342-8510-C0E7CC4F9630}"/>
    <pc:docChg chg="undo custSel addSld delSld modSld">
      <pc:chgData name="Dr. V Reena Williams" userId="bee68a21f81384c9" providerId="LiveId" clId="{5A7C177A-5150-4342-8510-C0E7CC4F9630}" dt="2021-09-06T08:56:15.979" v="117" actId="1076"/>
      <pc:docMkLst>
        <pc:docMk/>
      </pc:docMkLst>
      <pc:sldChg chg="modSp mod">
        <pc:chgData name="Dr. V Reena Williams" userId="bee68a21f81384c9" providerId="LiveId" clId="{5A7C177A-5150-4342-8510-C0E7CC4F9630}" dt="2021-09-06T08:50:06.960" v="2" actId="120"/>
        <pc:sldMkLst>
          <pc:docMk/>
          <pc:sldMk cId="789510717" sldId="285"/>
        </pc:sldMkLst>
        <pc:spChg chg="mod">
          <ac:chgData name="Dr. V Reena Williams" userId="bee68a21f81384c9" providerId="LiveId" clId="{5A7C177A-5150-4342-8510-C0E7CC4F9630}" dt="2021-09-06T08:50:06.960" v="2" actId="120"/>
          <ac:spMkLst>
            <pc:docMk/>
            <pc:sldMk cId="789510717" sldId="285"/>
            <ac:spMk id="2" creationId="{00000000-0000-0000-0000-000000000000}"/>
          </ac:spMkLst>
        </pc:spChg>
      </pc:sldChg>
      <pc:sldChg chg="modSp mod">
        <pc:chgData name="Dr. V Reena Williams" userId="bee68a21f81384c9" providerId="LiveId" clId="{5A7C177A-5150-4342-8510-C0E7CC4F9630}" dt="2021-09-06T08:50:17.060" v="4" actId="120"/>
        <pc:sldMkLst>
          <pc:docMk/>
          <pc:sldMk cId="3519521770" sldId="326"/>
        </pc:sldMkLst>
        <pc:spChg chg="mod">
          <ac:chgData name="Dr. V Reena Williams" userId="bee68a21f81384c9" providerId="LiveId" clId="{5A7C177A-5150-4342-8510-C0E7CC4F9630}" dt="2021-09-06T08:50:17.060" v="4" actId="120"/>
          <ac:spMkLst>
            <pc:docMk/>
            <pc:sldMk cId="3519521770" sldId="326"/>
            <ac:spMk id="2" creationId="{00000000-0000-0000-0000-000000000000}"/>
          </ac:spMkLst>
        </pc:spChg>
      </pc:sldChg>
      <pc:sldChg chg="modSp mod">
        <pc:chgData name="Dr. V Reena Williams" userId="bee68a21f81384c9" providerId="LiveId" clId="{5A7C177A-5150-4342-8510-C0E7CC4F9630}" dt="2021-09-06T08:50:27.517" v="7" actId="20577"/>
        <pc:sldMkLst>
          <pc:docMk/>
          <pc:sldMk cId="1470130169" sldId="327"/>
        </pc:sldMkLst>
        <pc:spChg chg="mod">
          <ac:chgData name="Dr. V Reena Williams" userId="bee68a21f81384c9" providerId="LiveId" clId="{5A7C177A-5150-4342-8510-C0E7CC4F9630}" dt="2021-09-06T08:50:27.517" v="7" actId="20577"/>
          <ac:spMkLst>
            <pc:docMk/>
            <pc:sldMk cId="1470130169" sldId="327"/>
            <ac:spMk id="2" creationId="{00000000-0000-0000-0000-000000000000}"/>
          </ac:spMkLst>
        </pc:spChg>
      </pc:sldChg>
      <pc:sldChg chg="modSp mod">
        <pc:chgData name="Dr. V Reena Williams" userId="bee68a21f81384c9" providerId="LiveId" clId="{5A7C177A-5150-4342-8510-C0E7CC4F9630}" dt="2021-09-06T08:50:39.872" v="12" actId="20577"/>
        <pc:sldMkLst>
          <pc:docMk/>
          <pc:sldMk cId="2501665032" sldId="328"/>
        </pc:sldMkLst>
        <pc:spChg chg="mod">
          <ac:chgData name="Dr. V Reena Williams" userId="bee68a21f81384c9" providerId="LiveId" clId="{5A7C177A-5150-4342-8510-C0E7CC4F9630}" dt="2021-09-06T08:50:39.872" v="12" actId="20577"/>
          <ac:spMkLst>
            <pc:docMk/>
            <pc:sldMk cId="2501665032" sldId="328"/>
            <ac:spMk id="2" creationId="{00000000-0000-0000-0000-000000000000}"/>
          </ac:spMkLst>
        </pc:spChg>
      </pc:sldChg>
      <pc:sldChg chg="modSp mod">
        <pc:chgData name="Dr. V Reena Williams" userId="bee68a21f81384c9" providerId="LiveId" clId="{5A7C177A-5150-4342-8510-C0E7CC4F9630}" dt="2021-09-06T08:50:51.224" v="15" actId="20577"/>
        <pc:sldMkLst>
          <pc:docMk/>
          <pc:sldMk cId="490069653" sldId="329"/>
        </pc:sldMkLst>
        <pc:spChg chg="mod">
          <ac:chgData name="Dr. V Reena Williams" userId="bee68a21f81384c9" providerId="LiveId" clId="{5A7C177A-5150-4342-8510-C0E7CC4F9630}" dt="2021-09-06T08:50:51.224" v="15" actId="20577"/>
          <ac:spMkLst>
            <pc:docMk/>
            <pc:sldMk cId="490069653" sldId="329"/>
            <ac:spMk id="2" creationId="{00000000-0000-0000-0000-000000000000}"/>
          </ac:spMkLst>
        </pc:spChg>
      </pc:sldChg>
      <pc:sldChg chg="modSp mod">
        <pc:chgData name="Dr. V Reena Williams" userId="bee68a21f81384c9" providerId="LiveId" clId="{5A7C177A-5150-4342-8510-C0E7CC4F9630}" dt="2021-09-06T08:51:00.726" v="18" actId="20577"/>
        <pc:sldMkLst>
          <pc:docMk/>
          <pc:sldMk cId="1122302786" sldId="330"/>
        </pc:sldMkLst>
        <pc:spChg chg="mod">
          <ac:chgData name="Dr. V Reena Williams" userId="bee68a21f81384c9" providerId="LiveId" clId="{5A7C177A-5150-4342-8510-C0E7CC4F9630}" dt="2021-09-06T08:51:00.726" v="18" actId="20577"/>
          <ac:spMkLst>
            <pc:docMk/>
            <pc:sldMk cId="1122302786" sldId="330"/>
            <ac:spMk id="2" creationId="{00000000-0000-0000-0000-000000000000}"/>
          </ac:spMkLst>
        </pc:spChg>
      </pc:sldChg>
      <pc:sldChg chg="addSp modSp new mod chgLayout">
        <pc:chgData name="Dr. V Reena Williams" userId="bee68a21f81384c9" providerId="LiveId" clId="{5A7C177A-5150-4342-8510-C0E7CC4F9630}" dt="2021-09-06T08:56:15.979" v="117" actId="1076"/>
        <pc:sldMkLst>
          <pc:docMk/>
          <pc:sldMk cId="3729964599" sldId="331"/>
        </pc:sldMkLst>
        <pc:spChg chg="mod ord">
          <ac:chgData name="Dr. V Reena Williams" userId="bee68a21f81384c9" providerId="LiveId" clId="{5A7C177A-5150-4342-8510-C0E7CC4F9630}" dt="2021-09-06T08:56:15.979" v="117" actId="1076"/>
          <ac:spMkLst>
            <pc:docMk/>
            <pc:sldMk cId="3729964599" sldId="331"/>
            <ac:spMk id="2" creationId="{021B484D-DF85-4A81-AC62-2227D1C91310}"/>
          </ac:spMkLst>
        </pc:spChg>
        <pc:spChg chg="mod ord">
          <ac:chgData name="Dr. V Reena Williams" userId="bee68a21f81384c9" providerId="LiveId" clId="{5A7C177A-5150-4342-8510-C0E7CC4F9630}" dt="2021-09-06T08:52:05.623" v="35" actId="700"/>
          <ac:spMkLst>
            <pc:docMk/>
            <pc:sldMk cId="3729964599" sldId="331"/>
            <ac:spMk id="3" creationId="{93FE3E18-4DB2-4A88-A31B-084338076549}"/>
          </ac:spMkLst>
        </pc:spChg>
        <pc:spChg chg="mod ord">
          <ac:chgData name="Dr. V Reena Williams" userId="bee68a21f81384c9" providerId="LiveId" clId="{5A7C177A-5150-4342-8510-C0E7CC4F9630}" dt="2021-09-06T08:52:05.623" v="35" actId="700"/>
          <ac:spMkLst>
            <pc:docMk/>
            <pc:sldMk cId="3729964599" sldId="331"/>
            <ac:spMk id="4" creationId="{56330826-16A6-404A-AB4F-BA73D0D91BC6}"/>
          </ac:spMkLst>
        </pc:spChg>
        <pc:spChg chg="mod ord">
          <ac:chgData name="Dr. V Reena Williams" userId="bee68a21f81384c9" providerId="LiveId" clId="{5A7C177A-5150-4342-8510-C0E7CC4F9630}" dt="2021-09-06T08:52:05.623" v="35" actId="700"/>
          <ac:spMkLst>
            <pc:docMk/>
            <pc:sldMk cId="3729964599" sldId="331"/>
            <ac:spMk id="5" creationId="{38C0206A-9FB2-4677-8B17-F163FD15D65E}"/>
          </ac:spMkLst>
        </pc:spChg>
        <pc:spChg chg="add mod">
          <ac:chgData name="Dr. V Reena Williams" userId="bee68a21f81384c9" providerId="LiveId" clId="{5A7C177A-5150-4342-8510-C0E7CC4F9630}" dt="2021-09-06T08:55:55.716" v="101" actId="113"/>
          <ac:spMkLst>
            <pc:docMk/>
            <pc:sldMk cId="3729964599" sldId="331"/>
            <ac:spMk id="6" creationId="{C9DAD70E-71E0-45F2-8997-5F9577497395}"/>
          </ac:spMkLst>
        </pc:spChg>
      </pc:sldChg>
      <pc:sldChg chg="new del">
        <pc:chgData name="Dr. V Reena Williams" userId="bee68a21f81384c9" providerId="LiveId" clId="{5A7C177A-5150-4342-8510-C0E7CC4F9630}" dt="2021-09-06T08:55:13.118" v="86" actId="680"/>
        <pc:sldMkLst>
          <pc:docMk/>
          <pc:sldMk cId="313788060" sldId="33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CF9A3035-2B5C-4D33-89FD-1EEE4C5C3F52}" type="datetimeFigureOut">
              <a:rPr lang="en-IN" smtClean="0"/>
              <a:pPr/>
              <a:t>21-07-2025</a:t>
            </a:fld>
            <a:endParaRPr lang="en-IN"/>
          </a:p>
        </p:txBody>
      </p:sp>
      <p:sp>
        <p:nvSpPr>
          <p:cNvPr id="4" name="Slide Image Placeholder 3"/>
          <p:cNvSpPr>
            <a:spLocks noGrp="1" noRot="1" noChangeAspect="1"/>
          </p:cNvSpPr>
          <p:nvPr>
            <p:ph type="sldImg" idx="2"/>
          </p:nvPr>
        </p:nvSpPr>
        <p:spPr>
          <a:xfrm>
            <a:off x="1106488" y="801688"/>
            <a:ext cx="5346700" cy="40100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ECBC7D61-77AE-402C-8842-740617525158}" type="slidenum">
              <a:rPr lang="en-IN" smtClean="0"/>
              <a:pPr/>
              <a:t>‹#›</a:t>
            </a:fld>
            <a:endParaRPr lang="en-IN"/>
          </a:p>
        </p:txBody>
      </p:sp>
    </p:spTree>
    <p:extLst>
      <p:ext uri="{BB962C8B-B14F-4D97-AF65-F5344CB8AC3E}">
        <p14:creationId xmlns:p14="http://schemas.microsoft.com/office/powerpoint/2010/main" val="3656460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6244" y="2348401"/>
            <a:ext cx="8568137" cy="162043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512488" y="4283816"/>
            <a:ext cx="7055650" cy="1931917"/>
          </a:xfrm>
          <a:prstGeom prst="rect">
            <a:avLst/>
          </a:prstGeom>
        </p:spPr>
        <p:txBody>
          <a:bodyPr/>
          <a:lstStyle>
            <a:lvl1pPr marL="0" indent="0" algn="ctr">
              <a:buNone/>
              <a:defRPr>
                <a:solidFill>
                  <a:schemeClr val="tx1">
                    <a:tint val="75000"/>
                  </a:schemeClr>
                </a:solidFill>
              </a:defRPr>
            </a:lvl1pPr>
            <a:lvl2pPr marL="378104" indent="0" algn="ctr">
              <a:buNone/>
              <a:defRPr>
                <a:solidFill>
                  <a:schemeClr val="tx1">
                    <a:tint val="75000"/>
                  </a:schemeClr>
                </a:solidFill>
              </a:defRPr>
            </a:lvl2pPr>
            <a:lvl3pPr marL="756209" indent="0" algn="ctr">
              <a:buNone/>
              <a:defRPr>
                <a:solidFill>
                  <a:schemeClr val="tx1">
                    <a:tint val="75000"/>
                  </a:schemeClr>
                </a:solidFill>
              </a:defRPr>
            </a:lvl3pPr>
            <a:lvl4pPr marL="1134313" indent="0" algn="ctr">
              <a:buNone/>
              <a:defRPr>
                <a:solidFill>
                  <a:schemeClr val="tx1">
                    <a:tint val="75000"/>
                  </a:schemeClr>
                </a:solidFill>
              </a:defRPr>
            </a:lvl4pPr>
            <a:lvl5pPr marL="1512418" indent="0" algn="ctr">
              <a:buNone/>
              <a:defRPr>
                <a:solidFill>
                  <a:schemeClr val="tx1">
                    <a:tint val="75000"/>
                  </a:schemeClr>
                </a:solidFill>
              </a:defRPr>
            </a:lvl5pPr>
            <a:lvl6pPr marL="1890522" indent="0" algn="ctr">
              <a:buNone/>
              <a:defRPr>
                <a:solidFill>
                  <a:schemeClr val="tx1">
                    <a:tint val="75000"/>
                  </a:schemeClr>
                </a:solidFill>
              </a:defRPr>
            </a:lvl6pPr>
            <a:lvl7pPr marL="2268626" indent="0" algn="ctr">
              <a:buNone/>
              <a:defRPr>
                <a:solidFill>
                  <a:schemeClr val="tx1">
                    <a:tint val="75000"/>
                  </a:schemeClr>
                </a:solidFill>
              </a:defRPr>
            </a:lvl7pPr>
            <a:lvl8pPr marL="2646731" indent="0" algn="ctr">
              <a:buNone/>
              <a:defRPr>
                <a:solidFill>
                  <a:schemeClr val="tx1">
                    <a:tint val="75000"/>
                  </a:schemeClr>
                </a:solidFill>
              </a:defRPr>
            </a:lvl8pPr>
            <a:lvl9pPr marL="302483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defTabSz="756209"/>
            <a:fld id="{585B8C8C-3877-4992-85E3-14BF5F90157E}" type="datetime3">
              <a:rPr lang="en-US" smtClean="0"/>
              <a:t>21 July 2025</a:t>
            </a:fld>
            <a:endParaRPr lang="en-US"/>
          </a:p>
        </p:txBody>
      </p:sp>
      <p:sp>
        <p:nvSpPr>
          <p:cNvPr id="5" name="Footer Placeholder 4"/>
          <p:cNvSpPr>
            <a:spLocks noGrp="1"/>
          </p:cNvSpPr>
          <p:nvPr>
            <p:ph type="ftr" sz="quarter" idx="11"/>
          </p:nvPr>
        </p:nvSpPr>
        <p:spPr/>
        <p:txBody>
          <a:bodyPr/>
          <a:lstStyle/>
          <a:p>
            <a:pPr defTabSz="756209"/>
            <a:r>
              <a:rPr lang="en-US"/>
              <a:t>Dr. Vasanthi  Reena Williams  Prof. Department of MBA, VVIET, Mysuru</a:t>
            </a:r>
          </a:p>
        </p:txBody>
      </p:sp>
      <p:sp>
        <p:nvSpPr>
          <p:cNvPr id="6" name="Slide Number Placeholder 5"/>
          <p:cNvSpPr>
            <a:spLocks noGrp="1"/>
          </p:cNvSpPr>
          <p:nvPr>
            <p:ph type="sldNum" sz="quarter" idx="12"/>
          </p:nvPr>
        </p:nvSpPr>
        <p:spPr/>
        <p:txBody>
          <a:bodyPr/>
          <a:lstStyle/>
          <a:p>
            <a:pPr defTabSz="756209"/>
            <a:fld id="{B6F15528-21DE-4FAA-801E-634DDDAF4B2B}" type="slidenum">
              <a:rPr lang="en-US" smtClean="0"/>
              <a:pPr defTabSz="756209"/>
              <a:t>‹#›</a:t>
            </a:fld>
            <a:endParaRPr lang="en-US"/>
          </a:p>
        </p:txBody>
      </p:sp>
    </p:spTree>
    <p:extLst>
      <p:ext uri="{BB962C8B-B14F-4D97-AF65-F5344CB8AC3E}">
        <p14:creationId xmlns:p14="http://schemas.microsoft.com/office/powerpoint/2010/main" val="2732775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0" name="Title 9"/>
          <p:cNvSpPr>
            <a:spLocks noGrp="1"/>
          </p:cNvSpPr>
          <p:nvPr>
            <p:ph type="title"/>
          </p:nvPr>
        </p:nvSpPr>
        <p:spPr>
          <a:xfrm>
            <a:off x="504163" y="302737"/>
            <a:ext cx="9072300" cy="1259946"/>
          </a:xfrm>
          <a:prstGeom prst="rect">
            <a:avLst/>
          </a:prstGeom>
        </p:spPr>
        <p:txBody>
          <a:bodyPr/>
          <a:lstStyle/>
          <a:p>
            <a:r>
              <a:rPr lang="en-US"/>
              <a:t>Click to edit Master title style</a:t>
            </a:r>
          </a:p>
        </p:txBody>
      </p:sp>
      <p:sp>
        <p:nvSpPr>
          <p:cNvPr id="11" name="Date Placeholder 10"/>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12" name="Slide Number Placeholder 11"/>
          <p:cNvSpPr>
            <a:spLocks noGrp="1"/>
          </p:cNvSpPr>
          <p:nvPr>
            <p:ph type="sldNum" sz="quarter" idx="11"/>
          </p:nvPr>
        </p:nvSpPr>
        <p:spPr/>
        <p:txBody>
          <a:bodyPr/>
          <a:lstStyle/>
          <a:p>
            <a:pPr defTabSz="756209"/>
            <a:fld id="{B6F15528-21DE-4FAA-801E-634DDDAF4B2B}" type="slidenum">
              <a:rPr lang="en-US" smtClean="0"/>
              <a:pPr defTabSz="756209"/>
              <a:t>‹#›</a:t>
            </a:fld>
            <a:endParaRPr lang="en-US"/>
          </a:p>
        </p:txBody>
      </p:sp>
      <p:sp>
        <p:nvSpPr>
          <p:cNvPr id="13" name="Footer Placeholder 12"/>
          <p:cNvSpPr>
            <a:spLocks noGrp="1"/>
          </p:cNvSpPr>
          <p:nvPr>
            <p:ph type="ftr" sz="quarter" idx="12"/>
          </p:nvPr>
        </p:nvSpPr>
        <p:spPr/>
        <p:txBody>
          <a:bodyPr/>
          <a:lstStyle/>
          <a:p>
            <a:pPr defTabSz="756209"/>
            <a:r>
              <a:rPr lang="en-US"/>
              <a:t>Dr. Vasanthi  Reena Williams  Prof. Department of MBA, VVIET, Mysuru</a:t>
            </a:r>
          </a:p>
        </p:txBody>
      </p:sp>
    </p:spTree>
    <p:extLst>
      <p:ext uri="{BB962C8B-B14F-4D97-AF65-F5344CB8AC3E}">
        <p14:creationId xmlns:p14="http://schemas.microsoft.com/office/powerpoint/2010/main" val="3995219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65870" y="1427939"/>
            <a:ext cx="9072300" cy="125994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756209"/>
            <a:fld id="{0420B8FD-D4AD-4A41-95EA-81787BFACB69}" type="datetime3">
              <a:rPr lang="en-US" smtClean="0"/>
              <a:t>21 July 2025</a:t>
            </a:fld>
            <a:endParaRPr lang="en-US"/>
          </a:p>
        </p:txBody>
      </p:sp>
      <p:sp>
        <p:nvSpPr>
          <p:cNvPr id="4" name="Footer Placeholder 3"/>
          <p:cNvSpPr>
            <a:spLocks noGrp="1"/>
          </p:cNvSpPr>
          <p:nvPr>
            <p:ph type="ftr" sz="quarter" idx="11"/>
          </p:nvPr>
        </p:nvSpPr>
        <p:spPr/>
        <p:txBody>
          <a:bodyPr/>
          <a:lstStyle/>
          <a:p>
            <a:pPr defTabSz="756209"/>
            <a:r>
              <a:rPr lang="en-US"/>
              <a:t>Dr. Vasanthi  Reena Williams  Prof. Department of MBA, VVIET, Mysuru</a:t>
            </a:r>
          </a:p>
        </p:txBody>
      </p:sp>
      <p:sp>
        <p:nvSpPr>
          <p:cNvPr id="5" name="Slide Number Placeholder 4"/>
          <p:cNvSpPr>
            <a:spLocks noGrp="1"/>
          </p:cNvSpPr>
          <p:nvPr>
            <p:ph type="sldNum" sz="quarter" idx="12"/>
          </p:nvPr>
        </p:nvSpPr>
        <p:spPr/>
        <p:txBody>
          <a:bodyPr/>
          <a:lstStyle/>
          <a:p>
            <a:pPr defTabSz="756209"/>
            <a:fld id="{B6F15528-21DE-4FAA-801E-634DDDAF4B2B}" type="slidenum">
              <a:rPr lang="en-US" smtClean="0"/>
              <a:pPr defTabSz="756209"/>
              <a:t>‹#›</a:t>
            </a:fld>
            <a:endParaRPr lang="en-US"/>
          </a:p>
        </p:txBody>
      </p:sp>
      <p:sp>
        <p:nvSpPr>
          <p:cNvPr id="7" name="Text Placeholder 6"/>
          <p:cNvSpPr>
            <a:spLocks noGrp="1"/>
          </p:cNvSpPr>
          <p:nvPr>
            <p:ph type="body" sz="quarter" idx="13"/>
          </p:nvPr>
        </p:nvSpPr>
        <p:spPr>
          <a:xfrm>
            <a:off x="9073613" y="1091953"/>
            <a:ext cx="756244" cy="1007957"/>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34251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504031" y="7006701"/>
            <a:ext cx="2352146" cy="402483"/>
          </a:xfrm>
          <a:prstGeom prst="rect">
            <a:avLst/>
          </a:prstGeom>
        </p:spPr>
        <p:txBody>
          <a:bodyPr vert="horz" lIns="91440" tIns="45720" rIns="91440" bIns="45720" rtlCol="0" anchor="ctr"/>
          <a:lstStyle>
            <a:lvl1pPr algn="l">
              <a:defRPr sz="992">
                <a:solidFill>
                  <a:srgbClr val="002060"/>
                </a:solidFill>
                <a:latin typeface="Cambria" pitchFamily="18" charset="0"/>
              </a:defRPr>
            </a:lvl1pPr>
          </a:lstStyle>
          <a:p>
            <a:pPr defTabSz="756209"/>
            <a:fld id="{6D9E5F16-11D2-4834-8A13-8E53B6D35C7D}" type="datetime3">
              <a:rPr lang="en-US" smtClean="0"/>
              <a:t>21 July 2025</a:t>
            </a:fld>
            <a:endParaRPr lang="en-US"/>
          </a:p>
        </p:txBody>
      </p:sp>
      <p:sp>
        <p:nvSpPr>
          <p:cNvPr id="5" name="Footer Placeholder 4"/>
          <p:cNvSpPr>
            <a:spLocks noGrp="1"/>
          </p:cNvSpPr>
          <p:nvPr>
            <p:ph type="ftr" sz="quarter" idx="3"/>
          </p:nvPr>
        </p:nvSpPr>
        <p:spPr>
          <a:xfrm>
            <a:off x="3444214" y="7006701"/>
            <a:ext cx="3192198" cy="402483"/>
          </a:xfrm>
          <a:prstGeom prst="rect">
            <a:avLst/>
          </a:prstGeom>
        </p:spPr>
        <p:txBody>
          <a:bodyPr vert="horz" lIns="91440" tIns="45720" rIns="91440" bIns="45720" rtlCol="0" anchor="ctr"/>
          <a:lstStyle>
            <a:lvl1pPr algn="ctr">
              <a:defRPr sz="992">
                <a:solidFill>
                  <a:srgbClr val="002060"/>
                </a:solidFill>
                <a:latin typeface="Cambria" pitchFamily="18" charset="0"/>
              </a:defRPr>
            </a:lvl1pPr>
          </a:lstStyle>
          <a:p>
            <a:pPr defTabSz="756209"/>
            <a:r>
              <a:rPr lang="en-US"/>
              <a:t>Dr. Vasanthi  Reena Williams  Prof. Department of MBA, VVIET, Mysuru</a:t>
            </a:r>
          </a:p>
        </p:txBody>
      </p:sp>
      <p:sp>
        <p:nvSpPr>
          <p:cNvPr id="6" name="Slide Number Placeholder 5"/>
          <p:cNvSpPr>
            <a:spLocks noGrp="1"/>
          </p:cNvSpPr>
          <p:nvPr>
            <p:ph type="sldNum" sz="quarter" idx="4"/>
          </p:nvPr>
        </p:nvSpPr>
        <p:spPr>
          <a:xfrm>
            <a:off x="7224449" y="7006701"/>
            <a:ext cx="2352146" cy="402483"/>
          </a:xfrm>
          <a:prstGeom prst="rect">
            <a:avLst/>
          </a:prstGeom>
        </p:spPr>
        <p:txBody>
          <a:bodyPr vert="horz" lIns="91440" tIns="45720" rIns="91440" bIns="45720" rtlCol="0" anchor="ctr"/>
          <a:lstStyle>
            <a:lvl1pPr algn="r">
              <a:defRPr sz="992">
                <a:solidFill>
                  <a:srgbClr val="002060"/>
                </a:solidFill>
                <a:latin typeface="Cambria" pitchFamily="18" charset="0"/>
              </a:defRPr>
            </a:lvl1pPr>
          </a:lstStyle>
          <a:p>
            <a:pPr defTabSz="756209"/>
            <a:fld id="{B6F15528-21DE-4FAA-801E-634DDDAF4B2B}" type="slidenum">
              <a:rPr lang="en-US" smtClean="0"/>
              <a:pPr defTabSz="756209"/>
              <a:t>‹#›</a:t>
            </a:fld>
            <a:endParaRPr lang="en-US"/>
          </a:p>
        </p:txBody>
      </p:sp>
      <p:sp>
        <p:nvSpPr>
          <p:cNvPr id="7" name="Rectangle 6"/>
          <p:cNvSpPr/>
          <p:nvPr/>
        </p:nvSpPr>
        <p:spPr>
          <a:xfrm>
            <a:off x="1070033" y="0"/>
            <a:ext cx="6942318" cy="102811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209" rtl="0" eaLnBrk="1" fontAlgn="auto" latinLnBrk="0" hangingPunct="1">
              <a:lnSpc>
                <a:spcPct val="100000"/>
              </a:lnSpc>
              <a:spcBef>
                <a:spcPts val="0"/>
              </a:spcBef>
              <a:spcAft>
                <a:spcPts val="0"/>
              </a:spcAft>
              <a:buClrTx/>
              <a:buSzTx/>
              <a:buFontTx/>
              <a:buNone/>
              <a:tabLst/>
              <a:defRPr/>
            </a:pPr>
            <a:endParaRPr kumimoji="0" lang="en-US" sz="1489" b="0" i="0" u="none" strike="noStrike" kern="1200" cap="none" spc="0" normalizeH="0" baseline="0" noProof="0">
              <a:ln>
                <a:noFill/>
              </a:ln>
              <a:solidFill>
                <a:prstClr val="white"/>
              </a:solidFill>
              <a:effectLst/>
              <a:uLnTx/>
              <a:uFillTx/>
              <a:latin typeface="Book Antiqua"/>
              <a:ea typeface="+mn-ea"/>
              <a:cs typeface="+mn-cs"/>
            </a:endParaRPr>
          </a:p>
        </p:txBody>
      </p:sp>
      <p:pic>
        <p:nvPicPr>
          <p:cNvPr id="8"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022" y="2"/>
            <a:ext cx="943991" cy="98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5450" y="1095752"/>
            <a:ext cx="10083250" cy="5039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56209" rtl="0" eaLnBrk="1" fontAlgn="auto" latinLnBrk="0" hangingPunct="1">
              <a:lnSpc>
                <a:spcPct val="100000"/>
              </a:lnSpc>
              <a:spcBef>
                <a:spcPts val="0"/>
              </a:spcBef>
              <a:spcAft>
                <a:spcPts val="0"/>
              </a:spcAft>
              <a:buClrTx/>
              <a:buSzTx/>
              <a:buFontTx/>
              <a:buNone/>
              <a:tabLst/>
              <a:defRPr/>
            </a:pPr>
            <a:endParaRPr kumimoji="0" lang="en-IN" sz="1489" b="0" i="0" u="none" strike="noStrike" kern="1200" cap="none" spc="0" normalizeH="0" baseline="0" noProof="0">
              <a:ln>
                <a:noFill/>
              </a:ln>
              <a:solidFill>
                <a:prstClr val="white"/>
              </a:solidFill>
              <a:effectLst/>
              <a:uLnTx/>
              <a:uFillTx/>
              <a:latin typeface="Book Antiqua"/>
              <a:ea typeface="+mn-ea"/>
              <a:cs typeface="+mn-cs"/>
            </a:endParaRPr>
          </a:p>
        </p:txBody>
      </p:sp>
      <p:sp>
        <p:nvSpPr>
          <p:cNvPr id="10" name="TextBox 9"/>
          <p:cNvSpPr txBox="1"/>
          <p:nvPr/>
        </p:nvSpPr>
        <p:spPr>
          <a:xfrm>
            <a:off x="7995552" y="1"/>
            <a:ext cx="2085073" cy="703078"/>
          </a:xfrm>
          <a:prstGeom prst="rect">
            <a:avLst/>
          </a:prstGeom>
          <a:noFill/>
        </p:spPr>
        <p:txBody>
          <a:bodyPr wrap="square" rtlCol="0">
            <a:spAutoFit/>
          </a:bodyPr>
          <a:lstStyle/>
          <a:p>
            <a:pPr marL="0" marR="0" lvl="0" indent="0" algn="l" defTabSz="756209" rtl="0" eaLnBrk="1" fontAlgn="auto" latinLnBrk="0" hangingPunct="1">
              <a:lnSpc>
                <a:spcPct val="100000"/>
              </a:lnSpc>
              <a:spcBef>
                <a:spcPts val="0"/>
              </a:spcBef>
              <a:spcAft>
                <a:spcPts val="0"/>
              </a:spcAft>
              <a:buClrTx/>
              <a:buSzTx/>
              <a:buFontTx/>
              <a:buNone/>
              <a:tabLst/>
              <a:defRPr/>
            </a:pPr>
            <a:r>
              <a:rPr kumimoji="0" lang="en-IN" sz="1323" b="0" i="0" u="none" strike="noStrike" kern="1200" cap="none" spc="0" normalizeH="0" baseline="0" noProof="0" dirty="0">
                <a:ln>
                  <a:noFill/>
                </a:ln>
                <a:solidFill>
                  <a:srgbClr val="002060"/>
                </a:solidFill>
                <a:effectLst/>
                <a:uLnTx/>
                <a:uFillTx/>
                <a:latin typeface="Cambria" pitchFamily="18" charset="0"/>
                <a:ea typeface="Cambria" pitchFamily="18" charset="0"/>
                <a:cs typeface="Arial" panose="020B0604020202020204" pitchFamily="34" charset="0"/>
              </a:rPr>
              <a:t>VIDYA VIKAS INSTITUTE OF ENGINEERING &amp; TECHNOLOGY</a:t>
            </a:r>
          </a:p>
        </p:txBody>
      </p:sp>
      <p:sp>
        <p:nvSpPr>
          <p:cNvPr id="11" name="Rectangle 10"/>
          <p:cNvSpPr/>
          <p:nvPr/>
        </p:nvSpPr>
        <p:spPr>
          <a:xfrm>
            <a:off x="-3114" y="1199330"/>
            <a:ext cx="10083250" cy="131415"/>
          </a:xfrm>
          <a:prstGeom prst="rect">
            <a:avLst/>
          </a:prstGeom>
          <a:solidFill>
            <a:srgbClr val="D60093"/>
          </a:solidFill>
        </p:spPr>
        <p:txBody>
          <a:bodyPr wrap="square" lIns="0" tIns="0" rIns="0" bIns="0" rtlCol="0"/>
          <a:lstStyle/>
          <a:p>
            <a:pPr marL="0" marR="0" lvl="0" indent="0" algn="l" defTabSz="756209" rtl="0" eaLnBrk="1" fontAlgn="auto" latinLnBrk="0" hangingPunct="1">
              <a:lnSpc>
                <a:spcPct val="100000"/>
              </a:lnSpc>
              <a:spcBef>
                <a:spcPts val="0"/>
              </a:spcBef>
              <a:spcAft>
                <a:spcPts val="0"/>
              </a:spcAft>
              <a:buClrTx/>
              <a:buSzTx/>
              <a:buFontTx/>
              <a:buNone/>
              <a:tabLst/>
              <a:defRPr/>
            </a:pPr>
            <a:endParaRPr kumimoji="0" lang="en-IN" sz="1489" b="0" i="0" u="none" strike="noStrike" kern="1200" cap="none" spc="0" normalizeH="0" baseline="0" noProof="0">
              <a:ln>
                <a:noFill/>
              </a:ln>
              <a:solidFill>
                <a:prstClr val="black"/>
              </a:solidFill>
              <a:effectLst/>
              <a:uLnTx/>
              <a:uFillTx/>
              <a:latin typeface="Book Antiqua"/>
              <a:ea typeface="+mn-ea"/>
              <a:cs typeface="+mn-cs"/>
            </a:endParaRPr>
          </a:p>
        </p:txBody>
      </p:sp>
    </p:spTree>
    <p:extLst>
      <p:ext uri="{BB962C8B-B14F-4D97-AF65-F5344CB8AC3E}">
        <p14:creationId xmlns:p14="http://schemas.microsoft.com/office/powerpoint/2010/main" val="659781482"/>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Lst>
  <p:hf hdr="0"/>
  <p:txStyles>
    <p:titleStyle>
      <a:lvl1pPr algn="ctr" defTabSz="756209" rtl="0" eaLnBrk="1" latinLnBrk="0" hangingPunct="1">
        <a:spcBef>
          <a:spcPct val="0"/>
        </a:spcBef>
        <a:buNone/>
        <a:defRPr sz="3639" kern="1200">
          <a:solidFill>
            <a:schemeClr val="tx1"/>
          </a:solidFill>
          <a:latin typeface="+mj-lt"/>
          <a:ea typeface="+mj-ea"/>
          <a:cs typeface="+mj-cs"/>
        </a:defRPr>
      </a:lvl1pPr>
    </p:titleStyle>
    <p:bodyStyle>
      <a:lvl1pPr marL="283578" indent="-283578" algn="l" defTabSz="756209" rtl="0" eaLnBrk="1" latinLnBrk="0" hangingPunct="1">
        <a:spcBef>
          <a:spcPct val="20000"/>
        </a:spcBef>
        <a:buFont typeface="Arial" pitchFamily="34" charset="0"/>
        <a:buChar char="•"/>
        <a:defRPr sz="2646" kern="1200">
          <a:solidFill>
            <a:schemeClr val="tx1"/>
          </a:solidFill>
          <a:latin typeface="+mn-lt"/>
          <a:ea typeface="+mn-ea"/>
          <a:cs typeface="+mn-cs"/>
        </a:defRPr>
      </a:lvl1pPr>
      <a:lvl2pPr marL="614420" indent="-236315" algn="l" defTabSz="756209" rtl="0" eaLnBrk="1" latinLnBrk="0" hangingPunct="1">
        <a:spcBef>
          <a:spcPct val="20000"/>
        </a:spcBef>
        <a:buFont typeface="Arial" pitchFamily="34" charset="0"/>
        <a:buChar char="–"/>
        <a:defRPr sz="2316" kern="1200">
          <a:solidFill>
            <a:schemeClr val="tx1"/>
          </a:solidFill>
          <a:latin typeface="+mn-lt"/>
          <a:ea typeface="+mn-ea"/>
          <a:cs typeface="+mn-cs"/>
        </a:defRPr>
      </a:lvl2pPr>
      <a:lvl3pPr marL="945261" indent="-189052" algn="l" defTabSz="756209" rtl="0" eaLnBrk="1" latinLnBrk="0" hangingPunct="1">
        <a:spcBef>
          <a:spcPct val="20000"/>
        </a:spcBef>
        <a:buFont typeface="Arial" pitchFamily="34" charset="0"/>
        <a:buChar char="•"/>
        <a:defRPr sz="1985" kern="1200">
          <a:solidFill>
            <a:schemeClr val="tx1"/>
          </a:solidFill>
          <a:latin typeface="+mn-lt"/>
          <a:ea typeface="+mn-ea"/>
          <a:cs typeface="+mn-cs"/>
        </a:defRPr>
      </a:lvl3pPr>
      <a:lvl4pPr marL="1323365"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4pPr>
      <a:lvl5pPr marL="1701470"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5pPr>
      <a:lvl6pPr marL="2079574"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6pPr>
      <a:lvl7pPr marL="2457679"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7pPr>
      <a:lvl8pPr marL="2835783"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8pPr>
      <a:lvl9pPr marL="3213887" indent="-189052" algn="l" defTabSz="756209" rtl="0" eaLnBrk="1" latinLnBrk="0" hangingPunct="1">
        <a:spcBef>
          <a:spcPct val="20000"/>
        </a:spcBef>
        <a:buFont typeface="Arial" pitchFamily="34" charset="0"/>
        <a:buChar char="•"/>
        <a:defRPr sz="1654" kern="1200">
          <a:solidFill>
            <a:schemeClr val="tx1"/>
          </a:solidFill>
          <a:latin typeface="+mn-lt"/>
          <a:ea typeface="+mn-ea"/>
          <a:cs typeface="+mn-cs"/>
        </a:defRPr>
      </a:lvl9pPr>
    </p:bodyStyle>
    <p:otherStyle>
      <a:defPPr>
        <a:defRPr lang="en-US"/>
      </a:defPPr>
      <a:lvl1pPr marL="0" algn="l" defTabSz="756209" rtl="0" eaLnBrk="1" latinLnBrk="0" hangingPunct="1">
        <a:defRPr sz="1489" kern="1200">
          <a:solidFill>
            <a:schemeClr val="tx1"/>
          </a:solidFill>
          <a:latin typeface="+mn-lt"/>
          <a:ea typeface="+mn-ea"/>
          <a:cs typeface="+mn-cs"/>
        </a:defRPr>
      </a:lvl1pPr>
      <a:lvl2pPr marL="378104" algn="l" defTabSz="756209" rtl="0" eaLnBrk="1" latinLnBrk="0" hangingPunct="1">
        <a:defRPr sz="1489" kern="1200">
          <a:solidFill>
            <a:schemeClr val="tx1"/>
          </a:solidFill>
          <a:latin typeface="+mn-lt"/>
          <a:ea typeface="+mn-ea"/>
          <a:cs typeface="+mn-cs"/>
        </a:defRPr>
      </a:lvl2pPr>
      <a:lvl3pPr marL="756209" algn="l" defTabSz="756209" rtl="0" eaLnBrk="1" latinLnBrk="0" hangingPunct="1">
        <a:defRPr sz="1489" kern="1200">
          <a:solidFill>
            <a:schemeClr val="tx1"/>
          </a:solidFill>
          <a:latin typeface="+mn-lt"/>
          <a:ea typeface="+mn-ea"/>
          <a:cs typeface="+mn-cs"/>
        </a:defRPr>
      </a:lvl3pPr>
      <a:lvl4pPr marL="1134313" algn="l" defTabSz="756209" rtl="0" eaLnBrk="1" latinLnBrk="0" hangingPunct="1">
        <a:defRPr sz="1489" kern="1200">
          <a:solidFill>
            <a:schemeClr val="tx1"/>
          </a:solidFill>
          <a:latin typeface="+mn-lt"/>
          <a:ea typeface="+mn-ea"/>
          <a:cs typeface="+mn-cs"/>
        </a:defRPr>
      </a:lvl4pPr>
      <a:lvl5pPr marL="1512418" algn="l" defTabSz="756209" rtl="0" eaLnBrk="1" latinLnBrk="0" hangingPunct="1">
        <a:defRPr sz="1489" kern="1200">
          <a:solidFill>
            <a:schemeClr val="tx1"/>
          </a:solidFill>
          <a:latin typeface="+mn-lt"/>
          <a:ea typeface="+mn-ea"/>
          <a:cs typeface="+mn-cs"/>
        </a:defRPr>
      </a:lvl5pPr>
      <a:lvl6pPr marL="1890522" algn="l" defTabSz="756209" rtl="0" eaLnBrk="1" latinLnBrk="0" hangingPunct="1">
        <a:defRPr sz="1489" kern="1200">
          <a:solidFill>
            <a:schemeClr val="tx1"/>
          </a:solidFill>
          <a:latin typeface="+mn-lt"/>
          <a:ea typeface="+mn-ea"/>
          <a:cs typeface="+mn-cs"/>
        </a:defRPr>
      </a:lvl6pPr>
      <a:lvl7pPr marL="2268626" algn="l" defTabSz="756209" rtl="0" eaLnBrk="1" latinLnBrk="0" hangingPunct="1">
        <a:defRPr sz="1489" kern="1200">
          <a:solidFill>
            <a:schemeClr val="tx1"/>
          </a:solidFill>
          <a:latin typeface="+mn-lt"/>
          <a:ea typeface="+mn-ea"/>
          <a:cs typeface="+mn-cs"/>
        </a:defRPr>
      </a:lvl7pPr>
      <a:lvl8pPr marL="2646731" algn="l" defTabSz="756209" rtl="0" eaLnBrk="1" latinLnBrk="0" hangingPunct="1">
        <a:defRPr sz="1489" kern="1200">
          <a:solidFill>
            <a:schemeClr val="tx1"/>
          </a:solidFill>
          <a:latin typeface="+mn-lt"/>
          <a:ea typeface="+mn-ea"/>
          <a:cs typeface="+mn-cs"/>
        </a:defRPr>
      </a:lvl8pPr>
      <a:lvl9pPr marL="3024835" algn="l" defTabSz="756209" rtl="0" eaLnBrk="1" latinLnBrk="0" hangingPunct="1">
        <a:defRPr sz="14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4031" y="2708491"/>
            <a:ext cx="9072299" cy="1285993"/>
          </a:xfrm>
          <a:prstGeom prst="rect">
            <a:avLst/>
          </a:prstGeom>
        </p:spPr>
        <p:txBody>
          <a:bodyPr/>
          <a:lstStyle/>
          <a:p>
            <a:r>
              <a:rPr lang="en-IN" sz="4000" b="1" dirty="0">
                <a:latin typeface="Times new roman"/>
              </a:rPr>
              <a:t>International Business</a:t>
            </a:r>
            <a:br>
              <a:rPr lang="en-IN" dirty="0"/>
            </a:br>
            <a:r>
              <a:rPr lang="en-GB" b="1" dirty="0">
                <a:solidFill>
                  <a:srgbClr val="002060"/>
                </a:solidFill>
                <a:latin typeface="Cambria" pitchFamily="18" charset="0"/>
              </a:rPr>
              <a:t>22MBA401</a:t>
            </a:r>
            <a:endParaRPr lang="en-US" dirty="0"/>
          </a:p>
        </p:txBody>
      </p:sp>
      <p:sp>
        <p:nvSpPr>
          <p:cNvPr id="3" name="Date Placeholder 2"/>
          <p:cNvSpPr>
            <a:spLocks noGrp="1"/>
          </p:cNvSpPr>
          <p:nvPr>
            <p:ph type="dt" sz="half" idx="10"/>
          </p:nvPr>
        </p:nvSpPr>
        <p:spPr/>
        <p:txBody>
          <a:bodyPr/>
          <a:lstStyle/>
          <a:p>
            <a:pPr defTabSz="756209"/>
            <a:fld id="{2B21D306-1AEB-47FB-8750-303610154917}" type="datetime3">
              <a:rPr lang="en-US" smtClean="0"/>
              <a:t>21 July 2025</a:t>
            </a:fld>
            <a:endParaRPr lang="en-US" dirty="0"/>
          </a:p>
        </p:txBody>
      </p:sp>
      <p:sp>
        <p:nvSpPr>
          <p:cNvPr id="4" name="Slide Number Placeholder 3"/>
          <p:cNvSpPr>
            <a:spLocks noGrp="1"/>
          </p:cNvSpPr>
          <p:nvPr>
            <p:ph type="sldNum" sz="quarter" idx="11"/>
          </p:nvPr>
        </p:nvSpPr>
        <p:spPr/>
        <p:txBody>
          <a:bodyPr/>
          <a:lstStyle/>
          <a:p>
            <a:pPr defTabSz="756209"/>
            <a:fld id="{B6F15528-21DE-4FAA-801E-634DDDAF4B2B}" type="slidenum">
              <a:rPr lang="en-US"/>
              <a:pPr defTabSz="756209"/>
              <a:t>1</a:t>
            </a:fld>
            <a:endParaRPr lang="en-US"/>
          </a:p>
        </p:txBody>
      </p:sp>
      <p:sp>
        <p:nvSpPr>
          <p:cNvPr id="5" name="Footer Placeholder 4"/>
          <p:cNvSpPr>
            <a:spLocks noGrp="1"/>
          </p:cNvSpPr>
          <p:nvPr>
            <p:ph type="ftr" sz="quarter" idx="12"/>
          </p:nvPr>
        </p:nvSpPr>
        <p:spPr>
          <a:xfrm>
            <a:off x="1484555" y="7006701"/>
            <a:ext cx="6970955" cy="402483"/>
          </a:xfrm>
        </p:spPr>
        <p:txBody>
          <a:bodyPr/>
          <a:lstStyle/>
          <a:p>
            <a:pPr defTabSz="756209"/>
            <a:r>
              <a:rPr lang="en-US" dirty="0"/>
              <a:t>Mr. </a:t>
            </a:r>
            <a:r>
              <a:rPr lang="en-US" dirty="0" err="1"/>
              <a:t>Madhunayaka</a:t>
            </a:r>
            <a:r>
              <a:rPr lang="en-US" dirty="0"/>
              <a:t>, Assistant Professor. Department of MBA, VVIET, Mysuru</a:t>
            </a:r>
          </a:p>
        </p:txBody>
      </p:sp>
      <p:sp>
        <p:nvSpPr>
          <p:cNvPr id="7" name="Rectangle 6"/>
          <p:cNvSpPr/>
          <p:nvPr/>
        </p:nvSpPr>
        <p:spPr>
          <a:xfrm>
            <a:off x="1141581" y="4369737"/>
            <a:ext cx="6639340" cy="1868204"/>
          </a:xfrm>
          <a:prstGeom prst="rect">
            <a:avLst/>
          </a:prstGeom>
        </p:spPr>
        <p:txBody>
          <a:bodyPr wrap="square">
            <a:spAutoFit/>
          </a:bodyPr>
          <a:lstStyle/>
          <a:p>
            <a:pPr marL="951826" lvl="8" algn="ctr" defTabSz="756209">
              <a:lnSpc>
                <a:spcPct val="150000"/>
              </a:lnSpc>
            </a:pPr>
            <a:r>
              <a:rPr lang="en-US" sz="1985" b="1" dirty="0">
                <a:solidFill>
                  <a:srgbClr val="002060"/>
                </a:solidFill>
                <a:latin typeface="Cambria" pitchFamily="18" charset="0"/>
              </a:rPr>
              <a:t>Course Coordinator:</a:t>
            </a:r>
          </a:p>
          <a:p>
            <a:pPr marL="951826" lvl="8" algn="ctr" defTabSz="756209">
              <a:lnSpc>
                <a:spcPct val="150000"/>
              </a:lnSpc>
            </a:pPr>
            <a:r>
              <a:rPr lang="en-US" sz="1985" b="1" dirty="0">
                <a:solidFill>
                  <a:srgbClr val="002060"/>
                </a:solidFill>
                <a:latin typeface="Cambria" pitchFamily="18" charset="0"/>
              </a:rPr>
              <a:t>Prof. </a:t>
            </a:r>
            <a:r>
              <a:rPr lang="en-US" sz="1985" b="1" dirty="0" err="1">
                <a:solidFill>
                  <a:srgbClr val="002060"/>
                </a:solidFill>
                <a:latin typeface="Cambria" pitchFamily="18" charset="0"/>
              </a:rPr>
              <a:t>Madhunayaka</a:t>
            </a:r>
            <a:endParaRPr lang="en-US" sz="1985" b="1" dirty="0">
              <a:solidFill>
                <a:srgbClr val="002060"/>
              </a:solidFill>
              <a:latin typeface="Cambria" pitchFamily="18" charset="0"/>
            </a:endParaRPr>
          </a:p>
          <a:p>
            <a:pPr marL="951826" lvl="8" algn="ctr" defTabSz="756209"/>
            <a:r>
              <a:rPr lang="en-US" b="1" dirty="0">
                <a:solidFill>
                  <a:srgbClr val="D60093"/>
                </a:solidFill>
                <a:latin typeface="Cambria" pitchFamily="18" charset="0"/>
              </a:rPr>
              <a:t>Assistant Professor,</a:t>
            </a:r>
          </a:p>
          <a:p>
            <a:pPr marL="951826" lvl="8" algn="ctr" defTabSz="756209"/>
            <a:r>
              <a:rPr lang="en-US" dirty="0">
                <a:solidFill>
                  <a:srgbClr val="D60093"/>
                </a:solidFill>
                <a:latin typeface="Cambria" pitchFamily="18" charset="0"/>
              </a:rPr>
              <a:t>Department of MBA,</a:t>
            </a:r>
          </a:p>
          <a:p>
            <a:pPr marL="951826" lvl="8" algn="ctr" defTabSz="756209"/>
            <a:r>
              <a:rPr lang="en-US" dirty="0">
                <a:solidFill>
                  <a:srgbClr val="D60093"/>
                </a:solidFill>
                <a:latin typeface="Cambria" pitchFamily="18" charset="0"/>
              </a:rPr>
              <a:t>VVIET , </a:t>
            </a:r>
            <a:r>
              <a:rPr lang="en-US" dirty="0" err="1">
                <a:solidFill>
                  <a:srgbClr val="D60093"/>
                </a:solidFill>
                <a:latin typeface="Cambria" pitchFamily="18" charset="0"/>
              </a:rPr>
              <a:t>Mysuru</a:t>
            </a:r>
            <a:r>
              <a:rPr lang="en-US" dirty="0">
                <a:solidFill>
                  <a:srgbClr val="D60093"/>
                </a:solidFill>
                <a:latin typeface="Cambria" pitchFamily="18" charset="0"/>
              </a:rPr>
              <a:t>  </a:t>
            </a:r>
            <a:r>
              <a:rPr lang="en-US" sz="1737" dirty="0">
                <a:solidFill>
                  <a:srgbClr val="D60093"/>
                </a:solidFill>
                <a:latin typeface="Cambria" pitchFamily="18" charset="0"/>
              </a:rPr>
              <a:t>                   </a:t>
            </a:r>
            <a:endParaRPr lang="en-US" sz="1737" b="1" dirty="0">
              <a:solidFill>
                <a:srgbClr val="D60093"/>
              </a:solidFill>
              <a:latin typeface="Book Antiqua"/>
            </a:endParaRPr>
          </a:p>
        </p:txBody>
      </p:sp>
      <p:sp>
        <p:nvSpPr>
          <p:cNvPr id="8" name="CustomShape 1"/>
          <p:cNvSpPr/>
          <p:nvPr/>
        </p:nvSpPr>
        <p:spPr>
          <a:xfrm>
            <a:off x="584667" y="318253"/>
            <a:ext cx="8560440" cy="590362"/>
          </a:xfrm>
          <a:prstGeom prst="rect">
            <a:avLst/>
          </a:prstGeom>
          <a:noFill/>
          <a:ln>
            <a:noFill/>
          </a:ln>
        </p:spPr>
        <p:txBody>
          <a:bodyPr lIns="0" tIns="0" rIns="0" bIns="0" anchor="ctr"/>
          <a:lstStyle/>
          <a:p>
            <a:pPr algn="ctr">
              <a:lnSpc>
                <a:spcPct val="100000"/>
              </a:lnSpc>
            </a:pPr>
            <a:r>
              <a:rPr lang="en-US" sz="3600" b="1" dirty="0">
                <a:solidFill>
                  <a:schemeClr val="bg1"/>
                </a:solidFill>
                <a:latin typeface="Arial"/>
              </a:rPr>
              <a:t>CORE SUBJECT</a:t>
            </a:r>
            <a:endParaRPr sz="1400" b="1" dirty="0">
              <a:solidFill>
                <a:schemeClr val="bg1"/>
              </a:solidFill>
            </a:endParaRPr>
          </a:p>
        </p:txBody>
      </p:sp>
    </p:spTree>
    <p:extLst>
      <p:ext uri="{BB962C8B-B14F-4D97-AF65-F5344CB8AC3E}">
        <p14:creationId xmlns:p14="http://schemas.microsoft.com/office/powerpoint/2010/main" val="15309560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970" y="1459747"/>
            <a:ext cx="9250624" cy="4640179"/>
          </a:xfrm>
          <a:prstGeom prst="rect">
            <a:avLst/>
          </a:prstGeom>
        </p:spPr>
        <p:style>
          <a:lnRef idx="2">
            <a:schemeClr val="dk1"/>
          </a:lnRef>
          <a:fillRef idx="1">
            <a:schemeClr val="lt1"/>
          </a:fillRef>
          <a:effectRef idx="0">
            <a:schemeClr val="dk1"/>
          </a:effectRef>
          <a:fontRef idx="minor">
            <a:schemeClr val="dk1"/>
          </a:fontRef>
        </p:style>
        <p:txBody>
          <a:bodyPr/>
          <a:lstStyle/>
          <a:p>
            <a:pPr algn="just">
              <a:lnSpc>
                <a:spcPct val="107000"/>
              </a:lnSpc>
              <a:spcAft>
                <a:spcPts val="800"/>
              </a:spcAft>
            </a:pPr>
            <a:r>
              <a:rPr lang="en-IN" sz="2400" dirty="0">
                <a:effectLst/>
              </a:rPr>
              <a:t>Module-1 (6Hours)</a:t>
            </a:r>
            <a:br>
              <a:rPr lang="en-IN" sz="2400" dirty="0">
                <a:effectLst/>
              </a:rPr>
            </a:br>
            <a:br>
              <a:rPr lang="en-IN" sz="2000" dirty="0">
                <a:effectLst/>
                <a:latin typeface="Calibri" panose="020F0502020204030204" pitchFamily="34" charset="0"/>
                <a:ea typeface="Calibri" panose="020F0502020204030204" pitchFamily="34" charset="0"/>
                <a:cs typeface="Times New Roman" panose="02020603050405020304" pitchFamily="18" charset="0"/>
              </a:rPr>
            </a:br>
            <a:r>
              <a:rPr lang="en-US" sz="2400" dirty="0">
                <a:effectLst/>
              </a:rPr>
              <a:t> Introduction to International Business: Evolution, Meaning, Importance, Nature and Scope of International</a:t>
            </a:r>
            <a:br>
              <a:rPr lang="en-US" sz="2400" dirty="0">
                <a:effectLst/>
              </a:rPr>
            </a:br>
            <a:r>
              <a:rPr lang="en-US" sz="2400" dirty="0">
                <a:effectLst/>
              </a:rPr>
              <a:t>Business, Characteristics of International Business, Factors affecting International Business, Changing scenario</a:t>
            </a:r>
            <a:br>
              <a:rPr lang="en-US" sz="2400" dirty="0">
                <a:effectLst/>
              </a:rPr>
            </a:br>
            <a:r>
              <a:rPr lang="en-US" sz="2400" dirty="0">
                <a:effectLst/>
              </a:rPr>
              <a:t>of International Business, Advantages of International Business, challenges in International business, Modes of</a:t>
            </a:r>
            <a:br>
              <a:rPr lang="en-US" sz="2400" dirty="0">
                <a:effectLst/>
              </a:rPr>
            </a:br>
            <a:r>
              <a:rPr lang="en-US" sz="2400" dirty="0">
                <a:effectLst/>
              </a:rPr>
              <a:t>entry into International Business, Internationalization Process.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Date Placeholder 2"/>
          <p:cNvSpPr>
            <a:spLocks noGrp="1"/>
          </p:cNvSpPr>
          <p:nvPr>
            <p:ph type="dt" sz="half" idx="10"/>
          </p:nvPr>
        </p:nvSpPr>
        <p:spPr>
          <a:xfrm>
            <a:off x="504031" y="6200870"/>
            <a:ext cx="2352146" cy="301972"/>
          </a:xfrm>
        </p:spPr>
        <p:txBody>
          <a:bodyPr/>
          <a:lstStyle/>
          <a:p>
            <a:fld id="{09B8F1D0-15F3-4E99-BB47-BEF58934FAA1}" type="datetime3">
              <a:rPr lang="en-US" smtClean="0"/>
              <a:t>21 July 2025</a:t>
            </a:fld>
            <a:endParaRPr lang="en-US"/>
          </a:p>
        </p:txBody>
      </p:sp>
      <p:sp>
        <p:nvSpPr>
          <p:cNvPr id="4" name="Footer Placeholder 3"/>
          <p:cNvSpPr>
            <a:spLocks noGrp="1"/>
          </p:cNvSpPr>
          <p:nvPr>
            <p:ph type="ftr" sz="quarter" idx="12"/>
          </p:nvPr>
        </p:nvSpPr>
        <p:spPr>
          <a:xfrm>
            <a:off x="3444214" y="6200870"/>
            <a:ext cx="3192198" cy="301972"/>
          </a:xfrm>
        </p:spPr>
        <p:txBody>
          <a:bodyPr/>
          <a:lstStyle/>
          <a:p>
            <a:r>
              <a:rPr lang="en-US" dirty="0"/>
              <a:t>Prof. </a:t>
            </a:r>
            <a:r>
              <a:rPr lang="en-US" dirty="0" err="1"/>
              <a:t>Madhynayaka</a:t>
            </a:r>
            <a:r>
              <a:rPr lang="en-US" dirty="0"/>
              <a:t>,  Department of MBA, VVIET, Mysuru</a:t>
            </a:r>
          </a:p>
        </p:txBody>
      </p:sp>
      <p:sp>
        <p:nvSpPr>
          <p:cNvPr id="5" name="Slide Number Placeholder 4"/>
          <p:cNvSpPr>
            <a:spLocks noGrp="1"/>
          </p:cNvSpPr>
          <p:nvPr>
            <p:ph type="sldNum" sz="quarter" idx="11"/>
          </p:nvPr>
        </p:nvSpPr>
        <p:spPr>
          <a:xfrm>
            <a:off x="7224448" y="6200870"/>
            <a:ext cx="2352146" cy="301972"/>
          </a:xfrm>
        </p:spPr>
        <p:txBody>
          <a:bodyPr anchor="t"/>
          <a:lstStyle/>
          <a:p>
            <a:fld id="{B6F15528-21DE-4FAA-801E-634DDDAF4B2B}" type="slidenum">
              <a:rPr lang="en-US" smtClean="0"/>
              <a:pPr/>
              <a:t>2</a:t>
            </a:fld>
            <a:endParaRPr lang="en-US"/>
          </a:p>
        </p:txBody>
      </p:sp>
      <p:sp>
        <p:nvSpPr>
          <p:cNvPr id="7" name="Rectangle 6"/>
          <p:cNvSpPr/>
          <p:nvPr/>
        </p:nvSpPr>
        <p:spPr>
          <a:xfrm>
            <a:off x="1259638" y="360571"/>
            <a:ext cx="5419747" cy="461665"/>
          </a:xfrm>
          <a:prstGeom prst="rect">
            <a:avLst/>
          </a:prstGeom>
        </p:spPr>
        <p:txBody>
          <a:bodyPr wrap="square">
            <a:spAutoFit/>
          </a:bodyPr>
          <a:lstStyle/>
          <a:p>
            <a:r>
              <a:rPr lang="en-IN" sz="2400" b="1" dirty="0">
                <a:solidFill>
                  <a:schemeClr val="bg1"/>
                </a:solidFill>
                <a:latin typeface="Arial"/>
              </a:rPr>
              <a:t>Contents of  MODULE - 1</a:t>
            </a:r>
            <a:endParaRPr lang="en-IN" sz="2400" b="1" dirty="0">
              <a:solidFill>
                <a:schemeClr val="bg1"/>
              </a:solidFill>
            </a:endParaRPr>
          </a:p>
        </p:txBody>
      </p:sp>
    </p:spTree>
    <p:extLst>
      <p:ext uri="{BB962C8B-B14F-4D97-AF65-F5344CB8AC3E}">
        <p14:creationId xmlns:p14="http://schemas.microsoft.com/office/powerpoint/2010/main" val="7895107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3DAC7C-1C1A-4E5C-B881-3C58E7B212A1}"/>
              </a:ext>
            </a:extLst>
          </p:cNvPr>
          <p:cNvSpPr>
            <a:spLocks noGrp="1"/>
          </p:cNvSpPr>
          <p:nvPr>
            <p:ph type="title"/>
          </p:nvPr>
        </p:nvSpPr>
        <p:spPr>
          <a:xfrm>
            <a:off x="1278308" y="150491"/>
            <a:ext cx="6654730" cy="820991"/>
          </a:xfrm>
        </p:spPr>
        <p:txBody>
          <a:bodyPr/>
          <a:lstStyle/>
          <a:p>
            <a:r>
              <a:rPr lang="en-US" sz="2800" b="1" dirty="0">
                <a:solidFill>
                  <a:schemeClr val="bg1"/>
                </a:solidFill>
              </a:rPr>
              <a:t>Introduction to International Business</a:t>
            </a:r>
            <a:endParaRPr lang="en-IN" sz="2800" b="1" dirty="0">
              <a:solidFill>
                <a:schemeClr val="bg1"/>
              </a:solidFill>
            </a:endParaRPr>
          </a:p>
        </p:txBody>
      </p:sp>
      <p:sp>
        <p:nvSpPr>
          <p:cNvPr id="3" name="Date Placeholder 2">
            <a:extLst>
              <a:ext uri="{FF2B5EF4-FFF2-40B4-BE49-F238E27FC236}">
                <a16:creationId xmlns:a16="http://schemas.microsoft.com/office/drawing/2014/main" id="{DCC72FF9-BEE2-439B-93E0-F557A9315952}"/>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81EAE869-30C0-4857-9671-B8C1BAD98D3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D5FDF5C-900B-42E3-AD77-8A3CD29328C3}"/>
              </a:ext>
            </a:extLst>
          </p:cNvPr>
          <p:cNvSpPr>
            <a:spLocks noGrp="1"/>
          </p:cNvSpPr>
          <p:nvPr>
            <p:ph type="sldNum" sz="quarter" idx="12"/>
          </p:nvPr>
        </p:nvSpPr>
        <p:spPr/>
        <p:txBody>
          <a:bodyPr/>
          <a:lstStyle/>
          <a:p>
            <a:pPr defTabSz="756209"/>
            <a:fld id="{B6F15528-21DE-4FAA-801E-634DDDAF4B2B}" type="slidenum">
              <a:rPr lang="en-US" smtClean="0"/>
              <a:pPr defTabSz="756209"/>
              <a:t>3</a:t>
            </a:fld>
            <a:endParaRPr lang="en-US"/>
          </a:p>
        </p:txBody>
      </p:sp>
      <p:pic>
        <p:nvPicPr>
          <p:cNvPr id="2" name="Picture 1">
            <a:extLst>
              <a:ext uri="{FF2B5EF4-FFF2-40B4-BE49-F238E27FC236}">
                <a16:creationId xmlns:a16="http://schemas.microsoft.com/office/drawing/2014/main" id="{747CFBA1-79F8-B411-4BDC-E1D8843F7D33}"/>
              </a:ext>
            </a:extLst>
          </p:cNvPr>
          <p:cNvPicPr>
            <a:picLocks noChangeAspect="1"/>
          </p:cNvPicPr>
          <p:nvPr/>
        </p:nvPicPr>
        <p:blipFill>
          <a:blip r:embed="rId2"/>
          <a:srcRect b="9768"/>
          <a:stretch>
            <a:fillRect/>
          </a:stretch>
        </p:blipFill>
        <p:spPr>
          <a:xfrm>
            <a:off x="4092743" y="1697784"/>
            <a:ext cx="5638800" cy="3369068"/>
          </a:xfrm>
          <a:prstGeom prst="rect">
            <a:avLst/>
          </a:prstGeom>
        </p:spPr>
      </p:pic>
      <p:sp>
        <p:nvSpPr>
          <p:cNvPr id="8" name="TextBox 7">
            <a:extLst>
              <a:ext uri="{FF2B5EF4-FFF2-40B4-BE49-F238E27FC236}">
                <a16:creationId xmlns:a16="http://schemas.microsoft.com/office/drawing/2014/main" id="{84A4450F-202F-60DD-AB47-03F941062E0D}"/>
              </a:ext>
            </a:extLst>
          </p:cNvPr>
          <p:cNvSpPr txBox="1"/>
          <p:nvPr/>
        </p:nvSpPr>
        <p:spPr>
          <a:xfrm>
            <a:off x="118690" y="1697784"/>
            <a:ext cx="3850882" cy="286232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International business is a dynamic field driven by globalization and the pursuit of new opportunities. It demands adaptability, strategic planning, and understanding diverse cultures and legal frameworks to navigate complexities and achieve growth and success.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0032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B6A57-6CE3-737D-0D95-489BC656FB1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D8C6F55-7B6F-5960-ABC0-081776338584}"/>
              </a:ext>
            </a:extLst>
          </p:cNvPr>
          <p:cNvSpPr>
            <a:spLocks noGrp="1"/>
          </p:cNvSpPr>
          <p:nvPr>
            <p:ph type="title"/>
          </p:nvPr>
        </p:nvSpPr>
        <p:spPr>
          <a:xfrm>
            <a:off x="1278308" y="150491"/>
            <a:ext cx="6654730" cy="820991"/>
          </a:xfrm>
        </p:spPr>
        <p:txBody>
          <a:bodyPr/>
          <a:lstStyle/>
          <a:p>
            <a:r>
              <a:rPr lang="en-US" sz="2800" b="1" dirty="0">
                <a:solidFill>
                  <a:schemeClr val="bg1"/>
                </a:solidFill>
              </a:rPr>
              <a:t>Evolution-IB</a:t>
            </a:r>
            <a:endParaRPr lang="en-IN" sz="2800" b="1" dirty="0">
              <a:solidFill>
                <a:schemeClr val="bg1"/>
              </a:solidFill>
            </a:endParaRPr>
          </a:p>
        </p:txBody>
      </p:sp>
      <p:sp>
        <p:nvSpPr>
          <p:cNvPr id="3" name="Date Placeholder 2">
            <a:extLst>
              <a:ext uri="{FF2B5EF4-FFF2-40B4-BE49-F238E27FC236}">
                <a16:creationId xmlns:a16="http://schemas.microsoft.com/office/drawing/2014/main" id="{9429DB88-1298-06BB-466D-17AE5144B229}"/>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F6DF05FB-720E-9407-B4FE-39EBF24D482A}"/>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083612A-C0AE-39DB-DBAA-ED94DA41E4D4}"/>
              </a:ext>
            </a:extLst>
          </p:cNvPr>
          <p:cNvSpPr>
            <a:spLocks noGrp="1"/>
          </p:cNvSpPr>
          <p:nvPr>
            <p:ph type="sldNum" sz="quarter" idx="12"/>
          </p:nvPr>
        </p:nvSpPr>
        <p:spPr/>
        <p:txBody>
          <a:bodyPr/>
          <a:lstStyle/>
          <a:p>
            <a:pPr defTabSz="756209"/>
            <a:fld id="{B6F15528-21DE-4FAA-801E-634DDDAF4B2B}" type="slidenum">
              <a:rPr lang="en-US" smtClean="0"/>
              <a:pPr defTabSz="756209"/>
              <a:t>4</a:t>
            </a:fld>
            <a:endParaRPr lang="en-US"/>
          </a:p>
        </p:txBody>
      </p:sp>
      <p:sp>
        <p:nvSpPr>
          <p:cNvPr id="8" name="TextBox 7">
            <a:extLst>
              <a:ext uri="{FF2B5EF4-FFF2-40B4-BE49-F238E27FC236}">
                <a16:creationId xmlns:a16="http://schemas.microsoft.com/office/drawing/2014/main" id="{FF83CA88-751B-4E43-CFBD-DBDE5024F7EF}"/>
              </a:ext>
            </a:extLst>
          </p:cNvPr>
          <p:cNvSpPr txBox="1"/>
          <p:nvPr/>
        </p:nvSpPr>
        <p:spPr>
          <a:xfrm>
            <a:off x="129092" y="1406157"/>
            <a:ext cx="9864762" cy="132343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International business has undergone a significant transformation from ancient trade routes to today's complex global networks. This evolution, driven by technological advancements and shifts in economic and political landscapes, has reshaped how companies operate across borders and interact with diverse markets.</a:t>
            </a:r>
            <a:endParaRPr lang="en-IN" sz="20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ADE5E21-6BE4-5B6D-8878-93B5F274AE2E}"/>
              </a:ext>
            </a:extLst>
          </p:cNvPr>
          <p:cNvSpPr txBox="1"/>
          <p:nvPr/>
        </p:nvSpPr>
        <p:spPr>
          <a:xfrm>
            <a:off x="618620" y="2902674"/>
            <a:ext cx="7974105" cy="2400657"/>
          </a:xfrm>
          <a:prstGeom prst="rect">
            <a:avLst/>
          </a:prstGeom>
          <a:noFill/>
        </p:spPr>
        <p:txBody>
          <a:bodyPr wrap="square">
            <a:spAutoFit/>
          </a:bodyPr>
          <a:lstStyle/>
          <a:p>
            <a:pPr algn="just"/>
            <a:r>
              <a:rPr lang="en-US" sz="2500" b="1" u="sng" dirty="0">
                <a:latin typeface="Times New Roman" panose="02020603050405020304" pitchFamily="18" charset="0"/>
                <a:cs typeface="Times New Roman" panose="02020603050405020304" pitchFamily="18" charset="0"/>
              </a:rPr>
              <a:t>Key phases in the evolution of international business</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Ancient civilizations and trade routes</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Colonialism and the Age of Imperialism</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The Industrial Revolution and accelerated trade</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Post-World War II era and globalization</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The digital revolution and e-commerce</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728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4A3D8-154E-059F-5E3F-5F940DD5DF6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8D57F05-13B7-AC3D-AC2C-83D3BEC14DC2}"/>
              </a:ext>
            </a:extLst>
          </p:cNvPr>
          <p:cNvSpPr>
            <a:spLocks noGrp="1"/>
          </p:cNvSpPr>
          <p:nvPr>
            <p:ph type="title"/>
          </p:nvPr>
        </p:nvSpPr>
        <p:spPr>
          <a:xfrm>
            <a:off x="1278308" y="150491"/>
            <a:ext cx="6654730" cy="820991"/>
          </a:xfrm>
        </p:spPr>
        <p:txBody>
          <a:bodyPr/>
          <a:lstStyle/>
          <a:p>
            <a:r>
              <a:rPr lang="en-US" sz="2800" b="1" dirty="0">
                <a:solidFill>
                  <a:schemeClr val="bg1"/>
                </a:solidFill>
              </a:rPr>
              <a:t>Meaning-IB</a:t>
            </a:r>
            <a:endParaRPr lang="en-IN" sz="2800" b="1" dirty="0">
              <a:solidFill>
                <a:schemeClr val="bg1"/>
              </a:solidFill>
            </a:endParaRPr>
          </a:p>
        </p:txBody>
      </p:sp>
      <p:sp>
        <p:nvSpPr>
          <p:cNvPr id="3" name="Date Placeholder 2">
            <a:extLst>
              <a:ext uri="{FF2B5EF4-FFF2-40B4-BE49-F238E27FC236}">
                <a16:creationId xmlns:a16="http://schemas.microsoft.com/office/drawing/2014/main" id="{DCEA1E51-8013-E42B-A42D-1D30F18E2A66}"/>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8FA437E3-78EA-B445-50EF-92D45BBDAB9C}"/>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A5A61051-FBD3-DDA3-596C-CABB5C11C8B7}"/>
              </a:ext>
            </a:extLst>
          </p:cNvPr>
          <p:cNvSpPr>
            <a:spLocks noGrp="1"/>
          </p:cNvSpPr>
          <p:nvPr>
            <p:ph type="sldNum" sz="quarter" idx="12"/>
          </p:nvPr>
        </p:nvSpPr>
        <p:spPr/>
        <p:txBody>
          <a:bodyPr/>
          <a:lstStyle/>
          <a:p>
            <a:pPr defTabSz="756209"/>
            <a:fld id="{B6F15528-21DE-4FAA-801E-634DDDAF4B2B}" type="slidenum">
              <a:rPr lang="en-US" smtClean="0"/>
              <a:pPr defTabSz="756209"/>
              <a:t>5</a:t>
            </a:fld>
            <a:endParaRPr lang="en-US"/>
          </a:p>
        </p:txBody>
      </p:sp>
      <p:sp>
        <p:nvSpPr>
          <p:cNvPr id="7" name="TextBox 6">
            <a:extLst>
              <a:ext uri="{FF2B5EF4-FFF2-40B4-BE49-F238E27FC236}">
                <a16:creationId xmlns:a16="http://schemas.microsoft.com/office/drawing/2014/main" id="{54299F58-BC3B-2453-34F1-9ABE92D4F9C5}"/>
              </a:ext>
            </a:extLst>
          </p:cNvPr>
          <p:cNvSpPr txBox="1"/>
          <p:nvPr/>
        </p:nvSpPr>
        <p:spPr>
          <a:xfrm>
            <a:off x="235088" y="1625361"/>
            <a:ext cx="3712968" cy="5016758"/>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International business refers to </a:t>
            </a:r>
            <a:r>
              <a:rPr lang="en-US" sz="2000" b="1" dirty="0">
                <a:latin typeface="Times New Roman" panose="02020603050405020304" pitchFamily="18" charset="0"/>
                <a:cs typeface="Times New Roman" panose="02020603050405020304" pitchFamily="18" charset="0"/>
              </a:rPr>
              <a:t>the trade of goods, services, technology, capital, and/or knowledge across national borders and at a global scale. </a:t>
            </a:r>
            <a:r>
              <a:rPr lang="en-US" sz="2000" dirty="0">
                <a:latin typeface="Times New Roman" panose="02020603050405020304" pitchFamily="18" charset="0"/>
                <a:cs typeface="Times New Roman" panose="02020603050405020304" pitchFamily="18" charset="0"/>
              </a:rPr>
              <a:t>It encompasses various forms of business activities that occur between two or more countries. The scope of international business includes not only the exchange of products and services but also activities such as investment, joint ventures, strategic alliances, and the management of multinational enterprises (MNEs).</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A1F27D8-AF38-A943-7CE7-4F057EB54173}"/>
              </a:ext>
            </a:extLst>
          </p:cNvPr>
          <p:cNvPicPr>
            <a:picLocks noChangeAspect="1"/>
          </p:cNvPicPr>
          <p:nvPr/>
        </p:nvPicPr>
        <p:blipFill>
          <a:blip r:embed="rId2"/>
          <a:stretch>
            <a:fillRect/>
          </a:stretch>
        </p:blipFill>
        <p:spPr>
          <a:xfrm>
            <a:off x="4008723" y="1336064"/>
            <a:ext cx="6071902" cy="3785652"/>
          </a:xfrm>
          <a:prstGeom prst="rect">
            <a:avLst/>
          </a:prstGeom>
        </p:spPr>
      </p:pic>
    </p:spTree>
    <p:extLst>
      <p:ext uri="{BB962C8B-B14F-4D97-AF65-F5344CB8AC3E}">
        <p14:creationId xmlns:p14="http://schemas.microsoft.com/office/powerpoint/2010/main" val="3525465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07782-F889-1019-D424-A0F385A7F84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8BCCA33-91C9-17A5-9D9A-C188DE0C132D}"/>
              </a:ext>
            </a:extLst>
          </p:cNvPr>
          <p:cNvSpPr>
            <a:spLocks noGrp="1"/>
          </p:cNvSpPr>
          <p:nvPr>
            <p:ph type="title"/>
          </p:nvPr>
        </p:nvSpPr>
        <p:spPr>
          <a:xfrm>
            <a:off x="1278308" y="150491"/>
            <a:ext cx="6654730" cy="820991"/>
          </a:xfrm>
        </p:spPr>
        <p:txBody>
          <a:bodyPr/>
          <a:lstStyle/>
          <a:p>
            <a:r>
              <a:rPr lang="en-US" sz="2800" b="1" dirty="0">
                <a:solidFill>
                  <a:schemeClr val="bg1"/>
                </a:solidFill>
              </a:rPr>
              <a:t>Importance of International Business</a:t>
            </a:r>
            <a:endParaRPr lang="en-IN" sz="2800" b="1" dirty="0">
              <a:solidFill>
                <a:schemeClr val="bg1"/>
              </a:solidFill>
            </a:endParaRPr>
          </a:p>
        </p:txBody>
      </p:sp>
      <p:sp>
        <p:nvSpPr>
          <p:cNvPr id="3" name="Date Placeholder 2">
            <a:extLst>
              <a:ext uri="{FF2B5EF4-FFF2-40B4-BE49-F238E27FC236}">
                <a16:creationId xmlns:a16="http://schemas.microsoft.com/office/drawing/2014/main" id="{A985132D-790E-A4F9-266A-ECBC34DA3B63}"/>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14C6FA60-2466-FF6E-D2EF-BEE9592AB163}"/>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F625CBC6-3925-08F2-6356-5094B74B12A2}"/>
              </a:ext>
            </a:extLst>
          </p:cNvPr>
          <p:cNvSpPr>
            <a:spLocks noGrp="1"/>
          </p:cNvSpPr>
          <p:nvPr>
            <p:ph type="sldNum" sz="quarter" idx="12"/>
          </p:nvPr>
        </p:nvSpPr>
        <p:spPr/>
        <p:txBody>
          <a:bodyPr/>
          <a:lstStyle/>
          <a:p>
            <a:pPr defTabSz="756209"/>
            <a:fld id="{B6F15528-21DE-4FAA-801E-634DDDAF4B2B}" type="slidenum">
              <a:rPr lang="en-US" smtClean="0"/>
              <a:pPr defTabSz="756209"/>
              <a:t>6</a:t>
            </a:fld>
            <a:endParaRPr lang="en-US"/>
          </a:p>
        </p:txBody>
      </p:sp>
      <p:sp>
        <p:nvSpPr>
          <p:cNvPr id="7" name="TextBox 6">
            <a:extLst>
              <a:ext uri="{FF2B5EF4-FFF2-40B4-BE49-F238E27FC236}">
                <a16:creationId xmlns:a16="http://schemas.microsoft.com/office/drawing/2014/main" id="{05198106-46E9-8571-DB3F-03753A6525C4}"/>
              </a:ext>
            </a:extLst>
          </p:cNvPr>
          <p:cNvSpPr txBox="1"/>
          <p:nvPr/>
        </p:nvSpPr>
        <p:spPr>
          <a:xfrm>
            <a:off x="169432" y="1458597"/>
            <a:ext cx="9695329" cy="1015663"/>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International business has become an important aspect in the world today. It is a field that helps firms to develop, creates sites of work, and builds relationships at the global level. The importance of international business to the world cannot be understated in a global economy. </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7B4088B-078A-233F-41DC-93912C5B77BB}"/>
              </a:ext>
            </a:extLst>
          </p:cNvPr>
          <p:cNvSpPr txBox="1"/>
          <p:nvPr/>
        </p:nvSpPr>
        <p:spPr>
          <a:xfrm>
            <a:off x="51097" y="2474260"/>
            <a:ext cx="9813664" cy="4401205"/>
          </a:xfrm>
          <a:prstGeom prst="rect">
            <a:avLst/>
          </a:prstGeom>
          <a:noFill/>
        </p:spPr>
        <p:txBody>
          <a:bodyPr wrap="square">
            <a:spAutoFit/>
          </a:bodyPr>
          <a:lstStyle/>
          <a:p>
            <a:pPr lvl="1" algn="just"/>
            <a:r>
              <a:rPr lang="en-US" sz="2000" b="1" dirty="0">
                <a:latin typeface="Times New Roman" panose="02020603050405020304" pitchFamily="18" charset="0"/>
                <a:cs typeface="Times New Roman" panose="02020603050405020304" pitchFamily="18" charset="0"/>
              </a:rPr>
              <a:t>Why is International Business Important?</a:t>
            </a:r>
          </a:p>
          <a:p>
            <a:pPr lvl="1" algn="just"/>
            <a:r>
              <a:rPr lang="en-US" sz="2000" dirty="0">
                <a:latin typeface="Times New Roman" panose="02020603050405020304" pitchFamily="18" charset="0"/>
                <a:cs typeface="Times New Roman" panose="02020603050405020304" pitchFamily="18" charset="0"/>
              </a:rPr>
              <a:t>International business helps its case in many ways. The importance of international business lies in its effect on making life better for every human being. It builds a world that is closely connected, free, and filled with opportunities. </a:t>
            </a:r>
          </a:p>
          <a:p>
            <a:pPr lvl="1" algn="just"/>
            <a:r>
              <a:rPr lang="en-US" sz="2000" b="1" dirty="0">
                <a:latin typeface="Times New Roman" panose="02020603050405020304" pitchFamily="18" charset="0"/>
                <a:cs typeface="Times New Roman" panose="02020603050405020304" pitchFamily="18" charset="0"/>
              </a:rPr>
              <a:t>The main reasons are as follows:</a:t>
            </a:r>
          </a:p>
          <a:p>
            <a:pPr lvl="1" algn="just"/>
            <a:r>
              <a:rPr lang="en-US" sz="2000" u="sng" dirty="0">
                <a:latin typeface="Times New Roman" panose="02020603050405020304" pitchFamily="18" charset="0"/>
                <a:cs typeface="Times New Roman" panose="02020603050405020304" pitchFamily="18" charset="0"/>
              </a:rPr>
              <a:t>Promote company growth: </a:t>
            </a:r>
            <a:r>
              <a:rPr lang="en-US" sz="2000" dirty="0">
                <a:latin typeface="Times New Roman" panose="02020603050405020304" pitchFamily="18" charset="0"/>
                <a:cs typeface="Times New Roman" panose="02020603050405020304" pitchFamily="18" charset="0"/>
              </a:rPr>
              <a:t>By entering into foreign markets, companies generate more profit.</a:t>
            </a:r>
          </a:p>
          <a:p>
            <a:pPr lvl="1" algn="just"/>
            <a:r>
              <a:rPr lang="en-US" sz="2000" u="sng" dirty="0">
                <a:latin typeface="Times New Roman" panose="02020603050405020304" pitchFamily="18" charset="0"/>
                <a:cs typeface="Times New Roman" panose="02020603050405020304" pitchFamily="18" charset="0"/>
              </a:rPr>
              <a:t>Brings new technologies and ideas: </a:t>
            </a:r>
            <a:r>
              <a:rPr lang="en-US" sz="2000" dirty="0">
                <a:latin typeface="Times New Roman" panose="02020603050405020304" pitchFamily="18" charset="0"/>
                <a:cs typeface="Times New Roman" panose="02020603050405020304" pitchFamily="18" charset="0"/>
              </a:rPr>
              <a:t>Global trade introduces novel ideas and methods for doing business. </a:t>
            </a:r>
          </a:p>
          <a:p>
            <a:pPr lvl="1" algn="just"/>
            <a:r>
              <a:rPr lang="en-US" sz="2000" u="sng" dirty="0">
                <a:latin typeface="Times New Roman" panose="02020603050405020304" pitchFamily="18" charset="0"/>
                <a:cs typeface="Times New Roman" panose="02020603050405020304" pitchFamily="18" charset="0"/>
              </a:rPr>
              <a:t>Improves product quality: </a:t>
            </a:r>
            <a:r>
              <a:rPr lang="en-US" sz="2000" dirty="0">
                <a:latin typeface="Times New Roman" panose="02020603050405020304" pitchFamily="18" charset="0"/>
                <a:cs typeface="Times New Roman" panose="02020603050405020304" pitchFamily="18" charset="0"/>
              </a:rPr>
              <a:t>Heightened competition will force companies to improve product quality.</a:t>
            </a:r>
          </a:p>
          <a:p>
            <a:pPr lvl="1" algn="just"/>
            <a:r>
              <a:rPr lang="en-US" sz="2000" u="sng" dirty="0">
                <a:latin typeface="Times New Roman" panose="02020603050405020304" pitchFamily="18" charset="0"/>
                <a:cs typeface="Times New Roman" panose="02020603050405020304" pitchFamily="18" charset="0"/>
              </a:rPr>
              <a:t>Generates employment: </a:t>
            </a:r>
            <a:r>
              <a:rPr lang="en-US" sz="2000" dirty="0">
                <a:latin typeface="Times New Roman" panose="02020603050405020304" pitchFamily="18" charset="0"/>
                <a:cs typeface="Times New Roman" panose="02020603050405020304" pitchFamily="18" charset="0"/>
              </a:rPr>
              <a:t>New ventures in international business generate employment opportunities in multiple areas. </a:t>
            </a:r>
          </a:p>
          <a:p>
            <a:pPr lvl="1" algn="just"/>
            <a:r>
              <a:rPr lang="en-US" sz="2000" u="sng" dirty="0">
                <a:latin typeface="Times New Roman" panose="02020603050405020304" pitchFamily="18" charset="0"/>
                <a:cs typeface="Times New Roman" panose="02020603050405020304" pitchFamily="18" charset="0"/>
              </a:rPr>
              <a:t>Builds friendship among nations: </a:t>
            </a:r>
            <a:r>
              <a:rPr lang="en-US" sz="2000" dirty="0">
                <a:latin typeface="Times New Roman" panose="02020603050405020304" pitchFamily="18" charset="0"/>
                <a:cs typeface="Times New Roman" panose="02020603050405020304" pitchFamily="18" charset="0"/>
              </a:rPr>
              <a:t>Trade builds peace and goodwill among nations.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2914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77EDB-6A68-1C8C-53A6-9E8F1D30B80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F65D39C-778A-2EAD-DF5B-C103C1CBEAD0}"/>
              </a:ext>
            </a:extLst>
          </p:cNvPr>
          <p:cNvSpPr>
            <a:spLocks noGrp="1"/>
          </p:cNvSpPr>
          <p:nvPr>
            <p:ph type="title"/>
          </p:nvPr>
        </p:nvSpPr>
        <p:spPr>
          <a:xfrm>
            <a:off x="1278308" y="150491"/>
            <a:ext cx="6654730" cy="820991"/>
          </a:xfrm>
        </p:spPr>
        <p:txBody>
          <a:bodyPr/>
          <a:lstStyle/>
          <a:p>
            <a:r>
              <a:rPr lang="en-US" sz="2800" b="1" dirty="0">
                <a:solidFill>
                  <a:schemeClr val="bg1"/>
                </a:solidFill>
              </a:rPr>
              <a:t>Nature and Scope of International</a:t>
            </a:r>
            <a:br>
              <a:rPr lang="en-US" sz="2800" b="1" dirty="0">
                <a:solidFill>
                  <a:schemeClr val="bg1"/>
                </a:solidFill>
              </a:rPr>
            </a:br>
            <a:r>
              <a:rPr lang="en-US" sz="2800" b="1" dirty="0">
                <a:solidFill>
                  <a:schemeClr val="bg1"/>
                </a:solidFill>
              </a:rPr>
              <a:t>Business</a:t>
            </a:r>
            <a:endParaRPr lang="en-IN" sz="2800" b="1" dirty="0">
              <a:solidFill>
                <a:schemeClr val="bg1"/>
              </a:solidFill>
            </a:endParaRPr>
          </a:p>
        </p:txBody>
      </p:sp>
      <p:sp>
        <p:nvSpPr>
          <p:cNvPr id="3" name="Date Placeholder 2">
            <a:extLst>
              <a:ext uri="{FF2B5EF4-FFF2-40B4-BE49-F238E27FC236}">
                <a16:creationId xmlns:a16="http://schemas.microsoft.com/office/drawing/2014/main" id="{1B8958D1-28A1-225D-66EE-2037E4CB5F26}"/>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AF57CDA8-89CD-A910-E288-CEE279EF78C8}"/>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1415CCA0-3C57-6E16-2A54-38E020444787}"/>
              </a:ext>
            </a:extLst>
          </p:cNvPr>
          <p:cNvSpPr>
            <a:spLocks noGrp="1"/>
          </p:cNvSpPr>
          <p:nvPr>
            <p:ph type="sldNum" sz="quarter" idx="12"/>
          </p:nvPr>
        </p:nvSpPr>
        <p:spPr/>
        <p:txBody>
          <a:bodyPr/>
          <a:lstStyle/>
          <a:p>
            <a:pPr defTabSz="756209"/>
            <a:fld id="{B6F15528-21DE-4FAA-801E-634DDDAF4B2B}" type="slidenum">
              <a:rPr lang="en-US" smtClean="0"/>
              <a:pPr defTabSz="756209"/>
              <a:t>7</a:t>
            </a:fld>
            <a:endParaRPr lang="en-US"/>
          </a:p>
        </p:txBody>
      </p:sp>
      <p:sp>
        <p:nvSpPr>
          <p:cNvPr id="7" name="TextBox 6">
            <a:extLst>
              <a:ext uri="{FF2B5EF4-FFF2-40B4-BE49-F238E27FC236}">
                <a16:creationId xmlns:a16="http://schemas.microsoft.com/office/drawing/2014/main" id="{3E04B070-C102-05CE-ECC4-C4A238B7EF2D}"/>
              </a:ext>
            </a:extLst>
          </p:cNvPr>
          <p:cNvSpPr txBox="1"/>
          <p:nvPr/>
        </p:nvSpPr>
        <p:spPr>
          <a:xfrm>
            <a:off x="0" y="1403458"/>
            <a:ext cx="9907793" cy="1015663"/>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horizon of international business is very wide. It teems with all aspects of a business. From production to sales and marketing, from finances to the management of human resources, international business has an impact on everything.</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A57A73A-4C97-B415-FC1E-102F329E9374}"/>
              </a:ext>
            </a:extLst>
          </p:cNvPr>
          <p:cNvSpPr txBox="1"/>
          <p:nvPr/>
        </p:nvSpPr>
        <p:spPr>
          <a:xfrm>
            <a:off x="129094" y="2419121"/>
            <a:ext cx="5658520" cy="4524315"/>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Trade of Goods and Services: </a:t>
            </a:r>
            <a:r>
              <a:rPr lang="en-US" dirty="0">
                <a:latin typeface="Times New Roman" panose="02020603050405020304" pitchFamily="18" charset="0"/>
                <a:cs typeface="Times New Roman" panose="02020603050405020304" pitchFamily="18" charset="0"/>
              </a:rPr>
              <a:t>It describes the trade associated with the exchange of physical products like clothes, electronics, and food, as well as services like tourism, banking, and software.</a:t>
            </a:r>
          </a:p>
          <a:p>
            <a:pPr algn="just"/>
            <a:r>
              <a:rPr lang="en-US" b="1" dirty="0">
                <a:latin typeface="Times New Roman" panose="02020603050405020304" pitchFamily="18" charset="0"/>
                <a:cs typeface="Times New Roman" panose="02020603050405020304" pitchFamily="18" charset="0"/>
              </a:rPr>
              <a:t>Capital and Technology Flow: </a:t>
            </a:r>
            <a:r>
              <a:rPr lang="en-US" dirty="0">
                <a:latin typeface="Times New Roman" panose="02020603050405020304" pitchFamily="18" charset="0"/>
                <a:cs typeface="Times New Roman" panose="02020603050405020304" pitchFamily="18" charset="0"/>
              </a:rPr>
              <a:t>It includes international investments in foreign companies and technology-sharing-derived improvements in products and services developed under such agreements.</a:t>
            </a:r>
          </a:p>
          <a:p>
            <a:pPr algn="just"/>
            <a:r>
              <a:rPr lang="en-US" b="1" dirty="0">
                <a:latin typeface="Times New Roman" panose="02020603050405020304" pitchFamily="18" charset="0"/>
                <a:cs typeface="Times New Roman" panose="02020603050405020304" pitchFamily="18" charset="0"/>
              </a:rPr>
              <a:t>Movement of Labor: </a:t>
            </a:r>
            <a:r>
              <a:rPr lang="en-US" dirty="0">
                <a:latin typeface="Times New Roman" panose="02020603050405020304" pitchFamily="18" charset="0"/>
                <a:cs typeface="Times New Roman" panose="02020603050405020304" pitchFamily="18" charset="0"/>
              </a:rPr>
              <a:t>Indeed, laborers find a job overseas. It benefits both the worker and the organization.</a:t>
            </a:r>
          </a:p>
          <a:p>
            <a:pPr algn="just"/>
            <a:r>
              <a:rPr lang="en-US" b="1" dirty="0">
                <a:latin typeface="Times New Roman" panose="02020603050405020304" pitchFamily="18" charset="0"/>
                <a:cs typeface="Times New Roman" panose="02020603050405020304" pitchFamily="18" charset="0"/>
              </a:rPr>
              <a:t>Global Marketing and Branding: </a:t>
            </a:r>
            <a:r>
              <a:rPr lang="en-US" dirty="0">
                <a:latin typeface="Times New Roman" panose="02020603050405020304" pitchFamily="18" charset="0"/>
                <a:cs typeface="Times New Roman" panose="02020603050405020304" pitchFamily="18" charset="0"/>
              </a:rPr>
              <a:t>Companies craft global marketing strategies. It builds the brand across countries.</a:t>
            </a:r>
          </a:p>
          <a:p>
            <a:pPr algn="just"/>
            <a:r>
              <a:rPr lang="en-US" b="1" dirty="0">
                <a:latin typeface="Times New Roman" panose="02020603050405020304" pitchFamily="18" charset="0"/>
                <a:cs typeface="Times New Roman" panose="02020603050405020304" pitchFamily="18" charset="0"/>
              </a:rPr>
              <a:t>International Business Management :</a:t>
            </a:r>
            <a:r>
              <a:rPr lang="en-US" dirty="0">
                <a:latin typeface="Times New Roman" panose="02020603050405020304" pitchFamily="18" charset="0"/>
                <a:cs typeface="Times New Roman" panose="02020603050405020304" pitchFamily="18" charset="0"/>
              </a:rPr>
              <a:t>This involves planning, organizing, and controlling business in more than one country. It requires that managers understand different cultures and laws and markets.</a:t>
            </a:r>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DEFA128E-D003-2E62-D8D4-A027A15280A9}"/>
              </a:ext>
            </a:extLst>
          </p:cNvPr>
          <p:cNvPicPr>
            <a:picLocks noChangeAspect="1"/>
          </p:cNvPicPr>
          <p:nvPr/>
        </p:nvPicPr>
        <p:blipFill>
          <a:blip r:embed="rId2"/>
          <a:stretch>
            <a:fillRect/>
          </a:stretch>
        </p:blipFill>
        <p:spPr>
          <a:xfrm>
            <a:off x="5787614" y="2419121"/>
            <a:ext cx="4249272" cy="3465312"/>
          </a:xfrm>
          <a:prstGeom prst="rect">
            <a:avLst/>
          </a:prstGeom>
        </p:spPr>
      </p:pic>
    </p:spTree>
    <p:extLst>
      <p:ext uri="{BB962C8B-B14F-4D97-AF65-F5344CB8AC3E}">
        <p14:creationId xmlns:p14="http://schemas.microsoft.com/office/powerpoint/2010/main" val="3471869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AF820-D9FD-7413-A0B3-24506E3F182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3BF07A-36B9-8FBE-1997-B38BCDF7304F}"/>
              </a:ext>
            </a:extLst>
          </p:cNvPr>
          <p:cNvSpPr>
            <a:spLocks noGrp="1"/>
          </p:cNvSpPr>
          <p:nvPr>
            <p:ph type="title"/>
          </p:nvPr>
        </p:nvSpPr>
        <p:spPr>
          <a:xfrm>
            <a:off x="1278308" y="150491"/>
            <a:ext cx="6654730" cy="820991"/>
          </a:xfrm>
        </p:spPr>
        <p:txBody>
          <a:bodyPr/>
          <a:lstStyle/>
          <a:p>
            <a:r>
              <a:rPr lang="en-US" sz="2800" b="1" dirty="0">
                <a:solidFill>
                  <a:schemeClr val="bg1"/>
                </a:solidFill>
              </a:rPr>
              <a:t>Characteristics of International Business</a:t>
            </a:r>
            <a:endParaRPr lang="en-IN" sz="2800" b="1" dirty="0">
              <a:solidFill>
                <a:schemeClr val="bg1"/>
              </a:solidFill>
            </a:endParaRPr>
          </a:p>
        </p:txBody>
      </p:sp>
      <p:sp>
        <p:nvSpPr>
          <p:cNvPr id="3" name="Date Placeholder 2">
            <a:extLst>
              <a:ext uri="{FF2B5EF4-FFF2-40B4-BE49-F238E27FC236}">
                <a16:creationId xmlns:a16="http://schemas.microsoft.com/office/drawing/2014/main" id="{F98FDCFE-FCB9-DA92-FF82-45D1DEF8C6CE}"/>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5019480F-292D-F0E2-ADC6-96E3F7B95891}"/>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F47BE6FF-ECEC-C1A7-D4DB-97EB8671D4AC}"/>
              </a:ext>
            </a:extLst>
          </p:cNvPr>
          <p:cNvSpPr>
            <a:spLocks noGrp="1"/>
          </p:cNvSpPr>
          <p:nvPr>
            <p:ph type="sldNum" sz="quarter" idx="12"/>
          </p:nvPr>
        </p:nvSpPr>
        <p:spPr/>
        <p:txBody>
          <a:bodyPr/>
          <a:lstStyle/>
          <a:p>
            <a:pPr defTabSz="756209"/>
            <a:fld id="{B6F15528-21DE-4FAA-801E-634DDDAF4B2B}" type="slidenum">
              <a:rPr lang="en-US" smtClean="0"/>
              <a:pPr defTabSz="756209"/>
              <a:t>8</a:t>
            </a:fld>
            <a:endParaRPr lang="en-US"/>
          </a:p>
        </p:txBody>
      </p:sp>
      <p:sp>
        <p:nvSpPr>
          <p:cNvPr id="7" name="TextBox 6">
            <a:extLst>
              <a:ext uri="{FF2B5EF4-FFF2-40B4-BE49-F238E27FC236}">
                <a16:creationId xmlns:a16="http://schemas.microsoft.com/office/drawing/2014/main" id="{E22FC989-0FA9-487D-F391-438BC8B012A1}"/>
              </a:ext>
            </a:extLst>
          </p:cNvPr>
          <p:cNvSpPr txBox="1"/>
          <p:nvPr/>
        </p:nvSpPr>
        <p:spPr>
          <a:xfrm>
            <a:off x="147940" y="1351019"/>
            <a:ext cx="9792126" cy="132343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One would think that international business covers so much, but it merely offers different types of international business in which each company selects the type most suitable for them. The definition of the types of international business depends on what is traded and how the exchange is carried out. </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6C1AA2B-36BC-09DB-7C8B-1AF1679E5B88}"/>
              </a:ext>
            </a:extLst>
          </p:cNvPr>
          <p:cNvSpPr txBox="1"/>
          <p:nvPr/>
        </p:nvSpPr>
        <p:spPr>
          <a:xfrm>
            <a:off x="199371" y="2674458"/>
            <a:ext cx="9681882" cy="4093428"/>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Export/Import: </a:t>
            </a:r>
            <a:r>
              <a:rPr lang="en-US" sz="2000" dirty="0">
                <a:latin typeface="Times New Roman" panose="02020603050405020304" pitchFamily="18" charset="0"/>
                <a:cs typeface="Times New Roman" panose="02020603050405020304" pitchFamily="18" charset="0"/>
              </a:rPr>
              <a:t>This is the simplest form. Export means selling goods to another country. Import means buying goods from another country. For example, India exports tea and imports oil.</a:t>
            </a:r>
          </a:p>
          <a:p>
            <a:pPr algn="just"/>
            <a:r>
              <a:rPr lang="en-US" sz="2000" b="1" dirty="0">
                <a:latin typeface="Times New Roman" panose="02020603050405020304" pitchFamily="18" charset="0"/>
                <a:cs typeface="Times New Roman" panose="02020603050405020304" pitchFamily="18" charset="0"/>
              </a:rPr>
              <a:t>Licensing &amp; Franchising: </a:t>
            </a:r>
            <a:r>
              <a:rPr lang="en-US" sz="2000" dirty="0">
                <a:latin typeface="Times New Roman" panose="02020603050405020304" pitchFamily="18" charset="0"/>
                <a:cs typeface="Times New Roman" panose="02020603050405020304" pitchFamily="18" charset="0"/>
              </a:rPr>
              <a:t>Licensing permits companies in one country to use a product or brand from another company. Franchising is a similar concept in which a larger proportion of the business model is included. McDonald’s in India is a franchise of the US brand.</a:t>
            </a:r>
          </a:p>
          <a:p>
            <a:pPr algn="just"/>
            <a:r>
              <a:rPr lang="en-US" sz="2000" b="1" dirty="0">
                <a:latin typeface="Times New Roman" panose="02020603050405020304" pitchFamily="18" charset="0"/>
                <a:cs typeface="Times New Roman" panose="02020603050405020304" pitchFamily="18" charset="0"/>
              </a:rPr>
              <a:t>Joint Ventures: </a:t>
            </a:r>
            <a:r>
              <a:rPr lang="en-US" sz="2000" dirty="0">
                <a:latin typeface="Times New Roman" panose="02020603050405020304" pitchFamily="18" charset="0"/>
                <a:cs typeface="Times New Roman" panose="02020603050405020304" pitchFamily="18" charset="0"/>
              </a:rPr>
              <a:t>This is an international business carried on by companies from two different countries, sharing the profits and risks, thus helping both parties learn and grow together.</a:t>
            </a:r>
          </a:p>
          <a:p>
            <a:pPr algn="just"/>
            <a:r>
              <a:rPr lang="en-US" sz="2000" b="1" dirty="0">
                <a:latin typeface="Times New Roman" panose="02020603050405020304" pitchFamily="18" charset="0"/>
                <a:cs typeface="Times New Roman" panose="02020603050405020304" pitchFamily="18" charset="0"/>
              </a:rPr>
              <a:t>Foreign Direct Investment: </a:t>
            </a:r>
            <a:r>
              <a:rPr lang="en-US" sz="2000" dirty="0">
                <a:latin typeface="Times New Roman" panose="02020603050405020304" pitchFamily="18" charset="0"/>
                <a:cs typeface="Times New Roman" panose="02020603050405020304" pitchFamily="18" charset="0"/>
              </a:rPr>
              <a:t>Foreign direct investment implies that one country is investing in a business in another country. This may actually mean going into the other country and building factories or buying companies.</a:t>
            </a:r>
          </a:p>
          <a:p>
            <a:pPr algn="just"/>
            <a:r>
              <a:rPr lang="en-US" sz="2000" b="1" dirty="0">
                <a:latin typeface="Times New Roman" panose="02020603050405020304" pitchFamily="18" charset="0"/>
                <a:cs typeface="Times New Roman" panose="02020603050405020304" pitchFamily="18" charset="0"/>
              </a:rPr>
              <a:t>Contract Manufacturing</a:t>
            </a:r>
            <a:r>
              <a:rPr lang="en-US" sz="2000" dirty="0">
                <a:latin typeface="Times New Roman" panose="02020603050405020304" pitchFamily="18" charset="0"/>
                <a:cs typeface="Times New Roman" panose="02020603050405020304" pitchFamily="18" charset="0"/>
              </a:rPr>
              <a:t>: A firm in one country gets another firm in another country to produce products for it. This is what many tech companies do with China or India.</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4243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BCEBD-614B-FB9F-AF8B-437C7F0B097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F10B035-A878-5D72-1009-A6EEAC5521A5}"/>
              </a:ext>
            </a:extLst>
          </p:cNvPr>
          <p:cNvSpPr>
            <a:spLocks noGrp="1"/>
          </p:cNvSpPr>
          <p:nvPr>
            <p:ph type="title"/>
          </p:nvPr>
        </p:nvSpPr>
        <p:spPr>
          <a:xfrm>
            <a:off x="1278308" y="150491"/>
            <a:ext cx="6654730" cy="820991"/>
          </a:xfrm>
        </p:spPr>
        <p:txBody>
          <a:bodyPr/>
          <a:lstStyle/>
          <a:p>
            <a:r>
              <a:rPr lang="en-US" sz="2800" b="1" dirty="0">
                <a:solidFill>
                  <a:schemeClr val="bg1"/>
                </a:solidFill>
              </a:rPr>
              <a:t>Factors affecting International Business</a:t>
            </a:r>
            <a:endParaRPr lang="en-IN" sz="2800" b="1" dirty="0">
              <a:solidFill>
                <a:schemeClr val="bg1"/>
              </a:solidFill>
            </a:endParaRPr>
          </a:p>
        </p:txBody>
      </p:sp>
      <p:sp>
        <p:nvSpPr>
          <p:cNvPr id="3" name="Date Placeholder 2">
            <a:extLst>
              <a:ext uri="{FF2B5EF4-FFF2-40B4-BE49-F238E27FC236}">
                <a16:creationId xmlns:a16="http://schemas.microsoft.com/office/drawing/2014/main" id="{AF2F2B62-5602-0705-E6F6-08363389F785}"/>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148D2B7C-2EF3-C919-15B3-97AC0565373D}"/>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6A9C4EE-89ED-3049-96B6-CC6226CC0406}"/>
              </a:ext>
            </a:extLst>
          </p:cNvPr>
          <p:cNvSpPr>
            <a:spLocks noGrp="1"/>
          </p:cNvSpPr>
          <p:nvPr>
            <p:ph type="sldNum" sz="quarter" idx="12"/>
          </p:nvPr>
        </p:nvSpPr>
        <p:spPr/>
        <p:txBody>
          <a:bodyPr/>
          <a:lstStyle/>
          <a:p>
            <a:pPr defTabSz="756209"/>
            <a:fld id="{B6F15528-21DE-4FAA-801E-634DDDAF4B2B}" type="slidenum">
              <a:rPr lang="en-US" smtClean="0"/>
              <a:pPr defTabSz="756209"/>
              <a:t>9</a:t>
            </a:fld>
            <a:endParaRPr lang="en-US"/>
          </a:p>
        </p:txBody>
      </p:sp>
      <p:sp>
        <p:nvSpPr>
          <p:cNvPr id="7" name="TextBox 6">
            <a:extLst>
              <a:ext uri="{FF2B5EF4-FFF2-40B4-BE49-F238E27FC236}">
                <a16:creationId xmlns:a16="http://schemas.microsoft.com/office/drawing/2014/main" id="{4B073699-9113-BBD0-17CA-3AA4061660FD}"/>
              </a:ext>
            </a:extLst>
          </p:cNvPr>
          <p:cNvSpPr txBox="1"/>
          <p:nvPr/>
        </p:nvSpPr>
        <p:spPr>
          <a:xfrm>
            <a:off x="5400" y="1369835"/>
            <a:ext cx="9999211" cy="70788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International business is affected by various things, which must be considered before entering a new market. These factors affecting international business can be a deal-maker or a dealbreaker. </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6DD995C-9077-C4B0-CA91-AB09A47D9F8D}"/>
              </a:ext>
            </a:extLst>
          </p:cNvPr>
          <p:cNvSpPr txBox="1"/>
          <p:nvPr/>
        </p:nvSpPr>
        <p:spPr>
          <a:xfrm>
            <a:off x="76014" y="2077721"/>
            <a:ext cx="9810264" cy="5016758"/>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Economic Environment: </a:t>
            </a:r>
            <a:r>
              <a:rPr lang="en-US" sz="2000" dirty="0">
                <a:latin typeface="Times New Roman" panose="02020603050405020304" pitchFamily="18" charset="0"/>
                <a:cs typeface="Times New Roman" panose="02020603050405020304" pitchFamily="18" charset="0"/>
              </a:rPr>
              <a:t>Business is affected by national income, inflation and taxation. These are significant factors in attracting foreign companies to much stronger economies.</a:t>
            </a:r>
          </a:p>
          <a:p>
            <a:pPr algn="just"/>
            <a:r>
              <a:rPr lang="en-US" sz="2000" b="1" dirty="0">
                <a:latin typeface="Times New Roman" panose="02020603050405020304" pitchFamily="18" charset="0"/>
                <a:cs typeface="Times New Roman" panose="02020603050405020304" pitchFamily="18" charset="0"/>
              </a:rPr>
              <a:t>Political and Legal Systems: </a:t>
            </a:r>
            <a:r>
              <a:rPr lang="en-US" sz="2000" dirty="0">
                <a:latin typeface="Times New Roman" panose="02020603050405020304" pitchFamily="18" charset="0"/>
                <a:cs typeface="Times New Roman" panose="02020603050405020304" pitchFamily="18" charset="0"/>
              </a:rPr>
              <a:t>Countries vary in terms of their laws. Some are prohibitive for business activities, while others are favorable. The stability of the government has a lot to do with investments.</a:t>
            </a:r>
          </a:p>
          <a:p>
            <a:pPr algn="just"/>
            <a:r>
              <a:rPr lang="en-US" sz="2000" b="1" dirty="0">
                <a:latin typeface="Times New Roman" panose="02020603050405020304" pitchFamily="18" charset="0"/>
                <a:cs typeface="Times New Roman" panose="02020603050405020304" pitchFamily="18" charset="0"/>
              </a:rPr>
              <a:t>Cultural Disparities: </a:t>
            </a:r>
            <a:r>
              <a:rPr lang="en-US" sz="2000" dirty="0">
                <a:latin typeface="Times New Roman" panose="02020603050405020304" pitchFamily="18" charset="0"/>
                <a:cs typeface="Times New Roman" panose="02020603050405020304" pitchFamily="18" charset="0"/>
              </a:rPr>
              <a:t>As a rule, any particular culture has a lot in terms of language, religion, and customs. Businesses should respect and incorporate those local traditions into their practices and operations.</a:t>
            </a:r>
          </a:p>
          <a:p>
            <a:pPr algn="just"/>
            <a:r>
              <a:rPr lang="en-US" sz="2000" b="1" dirty="0">
                <a:latin typeface="Times New Roman" panose="02020603050405020304" pitchFamily="18" charset="0"/>
                <a:cs typeface="Times New Roman" panose="02020603050405020304" pitchFamily="18" charset="0"/>
              </a:rPr>
              <a:t>Level of Technology: </a:t>
            </a:r>
            <a:r>
              <a:rPr lang="en-US" sz="2000" dirty="0">
                <a:latin typeface="Times New Roman" panose="02020603050405020304" pitchFamily="18" charset="0"/>
                <a:cs typeface="Times New Roman" panose="02020603050405020304" pitchFamily="18" charset="0"/>
              </a:rPr>
              <a:t>Developed nations create obstacles, including pieces of machinery and the Internet, which will make the business run perfectly.</a:t>
            </a:r>
          </a:p>
          <a:p>
            <a:pPr algn="just"/>
            <a:r>
              <a:rPr lang="en-US" sz="2000" b="1" dirty="0">
                <a:latin typeface="Times New Roman" panose="02020603050405020304" pitchFamily="18" charset="0"/>
                <a:cs typeface="Times New Roman" panose="02020603050405020304" pitchFamily="18" charset="0"/>
              </a:rPr>
              <a:t>Foreign Exchange Rates and Currency Risk: </a:t>
            </a:r>
            <a:r>
              <a:rPr lang="en-US" sz="2000" dirty="0">
                <a:latin typeface="Times New Roman" panose="02020603050405020304" pitchFamily="18" charset="0"/>
                <a:cs typeface="Times New Roman" panose="02020603050405020304" pitchFamily="18" charset="0"/>
              </a:rPr>
              <a:t>The currency keeps changing its value in different countries. Hence, it may bring profit or a huge loss. Organizations have to diversify their risk.</a:t>
            </a:r>
          </a:p>
          <a:p>
            <a:pPr algn="just"/>
            <a:r>
              <a:rPr lang="en-US" sz="2000" b="1" dirty="0">
                <a:latin typeface="Times New Roman" panose="02020603050405020304" pitchFamily="18" charset="0"/>
                <a:cs typeface="Times New Roman" panose="02020603050405020304" pitchFamily="18" charset="0"/>
              </a:rPr>
              <a:t>Trade Barriers and Tariffs: </a:t>
            </a:r>
            <a:r>
              <a:rPr lang="en-US" sz="2000" dirty="0">
                <a:latin typeface="Times New Roman" panose="02020603050405020304" pitchFamily="18" charset="0"/>
                <a:cs typeface="Times New Roman" panose="02020603050405020304" pitchFamily="18" charset="0"/>
              </a:rPr>
              <a:t>Some countries impose extra taxation on imports, while others block certain imports entirely. Business planners will have to make calculations concerning these costs.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0695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84BE9-F2A5-74A7-E143-E900AF6B20E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ABB815-769F-1049-7F19-B2D8F676A813}"/>
              </a:ext>
            </a:extLst>
          </p:cNvPr>
          <p:cNvSpPr>
            <a:spLocks noGrp="1"/>
          </p:cNvSpPr>
          <p:nvPr>
            <p:ph type="title"/>
          </p:nvPr>
        </p:nvSpPr>
        <p:spPr>
          <a:xfrm>
            <a:off x="1278308" y="150491"/>
            <a:ext cx="6654730" cy="820991"/>
          </a:xfrm>
        </p:spPr>
        <p:txBody>
          <a:bodyPr/>
          <a:lstStyle/>
          <a:p>
            <a:r>
              <a:rPr lang="en-US" sz="2800" b="1" dirty="0">
                <a:solidFill>
                  <a:schemeClr val="bg1"/>
                </a:solidFill>
              </a:rPr>
              <a:t>Changing scenario</a:t>
            </a:r>
            <a:br>
              <a:rPr lang="en-US" sz="2800" b="1" dirty="0">
                <a:solidFill>
                  <a:schemeClr val="bg1"/>
                </a:solidFill>
              </a:rPr>
            </a:br>
            <a:r>
              <a:rPr lang="en-US" sz="2800" b="1" dirty="0">
                <a:solidFill>
                  <a:schemeClr val="bg1"/>
                </a:solidFill>
              </a:rPr>
              <a:t>of International Business</a:t>
            </a:r>
            <a:endParaRPr lang="en-IN" sz="2800" b="1" dirty="0">
              <a:solidFill>
                <a:schemeClr val="bg1"/>
              </a:solidFill>
            </a:endParaRPr>
          </a:p>
        </p:txBody>
      </p:sp>
      <p:sp>
        <p:nvSpPr>
          <p:cNvPr id="3" name="Date Placeholder 2">
            <a:extLst>
              <a:ext uri="{FF2B5EF4-FFF2-40B4-BE49-F238E27FC236}">
                <a16:creationId xmlns:a16="http://schemas.microsoft.com/office/drawing/2014/main" id="{509798C4-467E-EECF-33AD-14112091E34D}"/>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05A475AC-C1AD-0386-174C-58799D3D8314}"/>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3B19BC82-F3B7-7339-57A7-5B0E102F17E5}"/>
              </a:ext>
            </a:extLst>
          </p:cNvPr>
          <p:cNvSpPr>
            <a:spLocks noGrp="1"/>
          </p:cNvSpPr>
          <p:nvPr>
            <p:ph type="sldNum" sz="quarter" idx="12"/>
          </p:nvPr>
        </p:nvSpPr>
        <p:spPr/>
        <p:txBody>
          <a:bodyPr/>
          <a:lstStyle/>
          <a:p>
            <a:pPr defTabSz="756209"/>
            <a:fld id="{B6F15528-21DE-4FAA-801E-634DDDAF4B2B}" type="slidenum">
              <a:rPr lang="en-US" smtClean="0"/>
              <a:pPr defTabSz="756209"/>
              <a:t>10</a:t>
            </a:fld>
            <a:endParaRPr lang="en-US"/>
          </a:p>
        </p:txBody>
      </p:sp>
      <p:sp>
        <p:nvSpPr>
          <p:cNvPr id="7" name="TextBox 6">
            <a:extLst>
              <a:ext uri="{FF2B5EF4-FFF2-40B4-BE49-F238E27FC236}">
                <a16:creationId xmlns:a16="http://schemas.microsoft.com/office/drawing/2014/main" id="{F4ADFE3F-D42F-2418-A7C8-39CB66D82AF6}"/>
              </a:ext>
            </a:extLst>
          </p:cNvPr>
          <p:cNvSpPr txBox="1"/>
          <p:nvPr/>
        </p:nvSpPr>
        <p:spPr>
          <a:xfrm>
            <a:off x="107576" y="1443788"/>
            <a:ext cx="9703398" cy="1154162"/>
          </a:xfrm>
          <a:prstGeom prst="rect">
            <a:avLst/>
          </a:prstGeom>
          <a:noFill/>
        </p:spPr>
        <p:txBody>
          <a:bodyPr wrap="square">
            <a:spAutoFit/>
          </a:bodyPr>
          <a:lstStyle/>
          <a:p>
            <a:r>
              <a:rPr lang="en-US" sz="2300" dirty="0">
                <a:latin typeface="Times New Roman" panose="02020603050405020304" pitchFamily="18" charset="0"/>
                <a:cs typeface="Times New Roman" panose="02020603050405020304" pitchFamily="18" charset="0"/>
              </a:rPr>
              <a:t>The international business landscape is a dynamic and constantly evolving environment influenced by a combination of technological, political, economic, and social factors.</a:t>
            </a:r>
            <a:endParaRPr lang="en-IN" sz="23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EB88AAF-46D7-1729-3E31-857933E522A6}"/>
              </a:ext>
            </a:extLst>
          </p:cNvPr>
          <p:cNvSpPr txBox="1"/>
          <p:nvPr/>
        </p:nvSpPr>
        <p:spPr>
          <a:xfrm>
            <a:off x="223243" y="2829581"/>
            <a:ext cx="8576512" cy="2400657"/>
          </a:xfrm>
          <a:prstGeom prst="rect">
            <a:avLst/>
          </a:prstGeom>
          <a:noFill/>
        </p:spPr>
        <p:txBody>
          <a:bodyPr wrap="square">
            <a:spAutoFit/>
          </a:bodyPr>
          <a:lstStyle/>
          <a:p>
            <a:pPr marL="342900" indent="-342900" algn="just">
              <a:buAutoNum type="arabicPeriod"/>
            </a:pPr>
            <a:r>
              <a:rPr lang="en-IN" sz="2500" dirty="0">
                <a:latin typeface="Times New Roman" panose="02020603050405020304" pitchFamily="18" charset="0"/>
                <a:cs typeface="Times New Roman" panose="02020603050405020304" pitchFamily="18" charset="0"/>
              </a:rPr>
              <a:t>Globalization and interconnectedness</a:t>
            </a:r>
          </a:p>
          <a:p>
            <a:pPr marL="342900" indent="-342900" algn="just">
              <a:buAutoNum type="arabicPeriod"/>
            </a:pPr>
            <a:r>
              <a:rPr lang="en-IN" sz="2500" dirty="0">
                <a:latin typeface="Times New Roman" panose="02020603050405020304" pitchFamily="18" charset="0"/>
                <a:cs typeface="Times New Roman" panose="02020603050405020304" pitchFamily="18" charset="0"/>
              </a:rPr>
              <a:t>Technological advancements and digital transformation</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Geopolitical shifts and trade policies</a:t>
            </a:r>
          </a:p>
          <a:p>
            <a:pPr marL="342900" indent="-342900" algn="just">
              <a:buAutoNum type="arabicPeriod"/>
            </a:pPr>
            <a:r>
              <a:rPr lang="en-IN" sz="2500" dirty="0">
                <a:latin typeface="Times New Roman" panose="02020603050405020304" pitchFamily="18" charset="0"/>
                <a:cs typeface="Times New Roman" panose="02020603050405020304" pitchFamily="18" charset="0"/>
              </a:rPr>
              <a:t>Sustainability and ethical considerations</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Emerging markets and growth opportunities</a:t>
            </a:r>
          </a:p>
          <a:p>
            <a:pPr marL="342900" indent="-342900" algn="just">
              <a:buAutoNum type="arabicPeriod"/>
            </a:pPr>
            <a:r>
              <a:rPr lang="en-US" sz="2500" dirty="0">
                <a:latin typeface="Times New Roman" panose="02020603050405020304" pitchFamily="18" charset="0"/>
                <a:cs typeface="Times New Roman" panose="02020603050405020304" pitchFamily="18" charset="0"/>
              </a:rPr>
              <a:t>Remote work and global workforce management</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896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F6F81-F301-04F3-756E-F5070BA675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E52447A-85A1-3EFA-F9C7-20272A19CBFC}"/>
              </a:ext>
            </a:extLst>
          </p:cNvPr>
          <p:cNvSpPr>
            <a:spLocks noGrp="1"/>
          </p:cNvSpPr>
          <p:nvPr>
            <p:ph type="title"/>
          </p:nvPr>
        </p:nvSpPr>
        <p:spPr>
          <a:xfrm>
            <a:off x="1278308" y="150491"/>
            <a:ext cx="6654730" cy="820991"/>
          </a:xfrm>
        </p:spPr>
        <p:txBody>
          <a:bodyPr/>
          <a:lstStyle/>
          <a:p>
            <a:r>
              <a:rPr lang="en-US" sz="2800" b="1" dirty="0">
                <a:solidFill>
                  <a:schemeClr val="bg1"/>
                </a:solidFill>
              </a:rPr>
              <a:t>Advantages of International Business</a:t>
            </a:r>
            <a:endParaRPr lang="en-IN" sz="2800" b="1" dirty="0">
              <a:solidFill>
                <a:schemeClr val="bg1"/>
              </a:solidFill>
            </a:endParaRPr>
          </a:p>
        </p:txBody>
      </p:sp>
      <p:sp>
        <p:nvSpPr>
          <p:cNvPr id="3" name="Date Placeholder 2">
            <a:extLst>
              <a:ext uri="{FF2B5EF4-FFF2-40B4-BE49-F238E27FC236}">
                <a16:creationId xmlns:a16="http://schemas.microsoft.com/office/drawing/2014/main" id="{09E24E41-8CC3-DB8D-F02E-44AEC2E52596}"/>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930A3806-45AB-E4BF-CE0D-B060662EE14F}"/>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A1A3EB7F-29F8-382A-EFE0-D4C0C478452F}"/>
              </a:ext>
            </a:extLst>
          </p:cNvPr>
          <p:cNvSpPr>
            <a:spLocks noGrp="1"/>
          </p:cNvSpPr>
          <p:nvPr>
            <p:ph type="sldNum" sz="quarter" idx="12"/>
          </p:nvPr>
        </p:nvSpPr>
        <p:spPr/>
        <p:txBody>
          <a:bodyPr/>
          <a:lstStyle/>
          <a:p>
            <a:pPr defTabSz="756209"/>
            <a:fld id="{B6F15528-21DE-4FAA-801E-634DDDAF4B2B}" type="slidenum">
              <a:rPr lang="en-US" smtClean="0"/>
              <a:pPr defTabSz="756209"/>
              <a:t>11</a:t>
            </a:fld>
            <a:endParaRPr lang="en-US"/>
          </a:p>
        </p:txBody>
      </p:sp>
      <p:sp>
        <p:nvSpPr>
          <p:cNvPr id="7" name="TextBox 6">
            <a:extLst>
              <a:ext uri="{FF2B5EF4-FFF2-40B4-BE49-F238E27FC236}">
                <a16:creationId xmlns:a16="http://schemas.microsoft.com/office/drawing/2014/main" id="{9CA765B9-FB6C-2E4F-AB49-F90E98303002}"/>
              </a:ext>
            </a:extLst>
          </p:cNvPr>
          <p:cNvSpPr txBox="1"/>
          <p:nvPr/>
        </p:nvSpPr>
        <p:spPr>
          <a:xfrm>
            <a:off x="66834" y="1373885"/>
            <a:ext cx="9916261" cy="132343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International business presents companies with the potential for growth and expansion. The benefits businesses can acquire in international business are new markets, cost reductions, and reputation improvement. Businesses with international operations benefit from global skills, sophisticated technology, and world resources.</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842C81E-A9BA-919F-0238-87FF589C67CE}"/>
              </a:ext>
            </a:extLst>
          </p:cNvPr>
          <p:cNvSpPr txBox="1"/>
          <p:nvPr/>
        </p:nvSpPr>
        <p:spPr>
          <a:xfrm>
            <a:off x="151750" y="2697324"/>
            <a:ext cx="9746427" cy="4185761"/>
          </a:xfrm>
          <a:prstGeom prst="rect">
            <a:avLst/>
          </a:prstGeom>
          <a:noFill/>
        </p:spPr>
        <p:txBody>
          <a:bodyPr wrap="square">
            <a:spAutoFit/>
          </a:bodyPr>
          <a:lstStyle/>
          <a:p>
            <a:pPr algn="just"/>
            <a:r>
              <a:rPr lang="en-US" sz="1900" b="1" dirty="0">
                <a:latin typeface="Times New Roman" panose="02020603050405020304" pitchFamily="18" charset="0"/>
                <a:cs typeface="Times New Roman" panose="02020603050405020304" pitchFamily="18" charset="0"/>
              </a:rPr>
              <a:t>Effective Use of Resources: </a:t>
            </a:r>
            <a:r>
              <a:rPr lang="en-US" sz="1900" dirty="0">
                <a:latin typeface="Times New Roman" panose="02020603050405020304" pitchFamily="18" charset="0"/>
                <a:cs typeface="Times New Roman" panose="02020603050405020304" pitchFamily="18" charset="0"/>
              </a:rPr>
              <a:t>Different countries have different types of natural and human resources. Due to international trade, countries can specialize in producing the products in which a particular country has comparative advantages. Therefore, they make the goods on which they are comparatively advantageous, and other stuff is imported that they cannot manufacture properly.</a:t>
            </a:r>
          </a:p>
          <a:p>
            <a:pPr algn="just"/>
            <a:r>
              <a:rPr lang="en-US" sz="1900" b="1" dirty="0">
                <a:latin typeface="Times New Roman" panose="02020603050405020304" pitchFamily="18" charset="0"/>
                <a:cs typeface="Times New Roman" panose="02020603050405020304" pitchFamily="18" charset="0"/>
              </a:rPr>
              <a:t>Cost Reduction: </a:t>
            </a:r>
            <a:r>
              <a:rPr lang="en-US" sz="1900" dirty="0">
                <a:latin typeface="Times New Roman" panose="02020603050405020304" pitchFamily="18" charset="0"/>
                <a:cs typeface="Times New Roman" panose="02020603050405020304" pitchFamily="18" charset="0"/>
              </a:rPr>
              <a:t>In international trade, companies get the opportunity to acquire raw materials and </a:t>
            </a:r>
            <a:r>
              <a:rPr lang="en-US" sz="1900" dirty="0" err="1">
                <a:latin typeface="Times New Roman" panose="02020603050405020304" pitchFamily="18" charset="0"/>
                <a:cs typeface="Times New Roman" panose="02020603050405020304" pitchFamily="18" charset="0"/>
              </a:rPr>
              <a:t>labour</a:t>
            </a:r>
            <a:r>
              <a:rPr lang="en-US" sz="1900" dirty="0">
                <a:latin typeface="Times New Roman" panose="02020603050405020304" pitchFamily="18" charset="0"/>
                <a:cs typeface="Times New Roman" panose="02020603050405020304" pitchFamily="18" charset="0"/>
              </a:rPr>
              <a:t> from countries where costs are cheaper. Many industries have set up production facilities in countries where labor wages are minimal, taxes are lesser, and economic policies are friendly.</a:t>
            </a:r>
          </a:p>
          <a:p>
            <a:pPr algn="just"/>
            <a:r>
              <a:rPr lang="en-US" sz="1900" dirty="0">
                <a:latin typeface="Times New Roman" panose="02020603050405020304" pitchFamily="18" charset="0"/>
                <a:cs typeface="Times New Roman" panose="02020603050405020304" pitchFamily="18" charset="0"/>
              </a:rPr>
              <a:t>Consumers benefit from international trade, too, because they get imported goods at relatively more affordable prices. Consumers get better purchasing power. Consumers get upgraded living standards.</a:t>
            </a:r>
          </a:p>
          <a:p>
            <a:pPr algn="just"/>
            <a:r>
              <a:rPr lang="en-US" sz="1900" b="1" dirty="0">
                <a:latin typeface="Times New Roman" panose="02020603050405020304" pitchFamily="18" charset="0"/>
                <a:cs typeface="Times New Roman" panose="02020603050405020304" pitchFamily="18" charset="0"/>
              </a:rPr>
              <a:t>Increased Market: </a:t>
            </a:r>
            <a:r>
              <a:rPr lang="en-US" sz="1900" dirty="0">
                <a:latin typeface="Times New Roman" panose="02020603050405020304" pitchFamily="18" charset="0"/>
                <a:cs typeface="Times New Roman" panose="02020603050405020304" pitchFamily="18" charset="0"/>
              </a:rPr>
              <a:t>The constraints of domestic markets are their demand, resources, and customers. International trade may open gates for a firm to access much larger markets than national markets. Firms that trade across borders can sell to millions of customers worldwide.</a:t>
            </a:r>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4688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75AEF-0352-B06F-E9BB-1CA29FAAC06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C542495-B29E-3092-3FAD-9A39A19ABF70}"/>
              </a:ext>
            </a:extLst>
          </p:cNvPr>
          <p:cNvSpPr>
            <a:spLocks noGrp="1"/>
          </p:cNvSpPr>
          <p:nvPr>
            <p:ph type="title"/>
          </p:nvPr>
        </p:nvSpPr>
        <p:spPr>
          <a:xfrm>
            <a:off x="1278308" y="150491"/>
            <a:ext cx="6654730" cy="820991"/>
          </a:xfrm>
        </p:spPr>
        <p:txBody>
          <a:bodyPr/>
          <a:lstStyle/>
          <a:p>
            <a:r>
              <a:rPr lang="en-US" sz="2800" b="1" dirty="0">
                <a:solidFill>
                  <a:schemeClr val="bg1"/>
                </a:solidFill>
              </a:rPr>
              <a:t>challenges in International business</a:t>
            </a:r>
            <a:endParaRPr lang="en-IN" sz="2800" b="1" dirty="0">
              <a:solidFill>
                <a:schemeClr val="bg1"/>
              </a:solidFill>
            </a:endParaRPr>
          </a:p>
        </p:txBody>
      </p:sp>
      <p:sp>
        <p:nvSpPr>
          <p:cNvPr id="3" name="Date Placeholder 2">
            <a:extLst>
              <a:ext uri="{FF2B5EF4-FFF2-40B4-BE49-F238E27FC236}">
                <a16:creationId xmlns:a16="http://schemas.microsoft.com/office/drawing/2014/main" id="{0152973B-641F-8EB5-9170-280ABAD01390}"/>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E3872A3A-125A-EEB8-FFA3-DF749C80CBAE}"/>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8416A9B2-0CCA-A206-FC1E-A89A0689CEEE}"/>
              </a:ext>
            </a:extLst>
          </p:cNvPr>
          <p:cNvSpPr>
            <a:spLocks noGrp="1"/>
          </p:cNvSpPr>
          <p:nvPr>
            <p:ph type="sldNum" sz="quarter" idx="12"/>
          </p:nvPr>
        </p:nvSpPr>
        <p:spPr/>
        <p:txBody>
          <a:bodyPr/>
          <a:lstStyle/>
          <a:p>
            <a:pPr defTabSz="756209"/>
            <a:fld id="{B6F15528-21DE-4FAA-801E-634DDDAF4B2B}" type="slidenum">
              <a:rPr lang="en-US" smtClean="0"/>
              <a:pPr defTabSz="756209"/>
              <a:t>12</a:t>
            </a:fld>
            <a:endParaRPr lang="en-US"/>
          </a:p>
        </p:txBody>
      </p:sp>
      <p:sp>
        <p:nvSpPr>
          <p:cNvPr id="7" name="TextBox 6">
            <a:extLst>
              <a:ext uri="{FF2B5EF4-FFF2-40B4-BE49-F238E27FC236}">
                <a16:creationId xmlns:a16="http://schemas.microsoft.com/office/drawing/2014/main" id="{8F46BD48-0264-4A64-A5F1-5FDECB3BBD04}"/>
              </a:ext>
            </a:extLst>
          </p:cNvPr>
          <p:cNvSpPr txBox="1"/>
          <p:nvPr/>
        </p:nvSpPr>
        <p:spPr>
          <a:xfrm>
            <a:off x="180190" y="1471513"/>
            <a:ext cx="9813663" cy="132343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Language, business etiquette, and consumer behavior vary with countries. A company must adopt marketing and customer service according to the culture’s preferences. Other countries have several legal and regulatory requirements for businesses. Political instability, trade barriers, and government policies might hinder international operations.</a:t>
            </a: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44F8F66-0976-2C3C-90A9-ECE1266B700C}"/>
              </a:ext>
            </a:extLst>
          </p:cNvPr>
          <p:cNvSpPr txBox="1"/>
          <p:nvPr/>
        </p:nvSpPr>
        <p:spPr>
          <a:xfrm>
            <a:off x="180190" y="2888055"/>
            <a:ext cx="9813663" cy="3139321"/>
          </a:xfrm>
          <a:prstGeom prst="rect">
            <a:avLst/>
          </a:prstGeom>
          <a:noFill/>
        </p:spPr>
        <p:txBody>
          <a:bodyPr wrap="square">
            <a:spAutoFit/>
          </a:bodyPr>
          <a:lstStyle/>
          <a:p>
            <a:pPr algn="just"/>
            <a:r>
              <a:rPr lang="en-US" sz="2200" dirty="0">
                <a:latin typeface="Times New Roman" panose="02020603050405020304" pitchFamily="18" charset="0"/>
                <a:cs typeface="Times New Roman" panose="02020603050405020304" pitchFamily="18" charset="0"/>
              </a:rPr>
              <a:t>Natively, companies can take advantage of but they also come with some challenges:</a:t>
            </a:r>
          </a:p>
          <a:p>
            <a:pPr algn="just"/>
            <a:r>
              <a:rPr lang="en-US" sz="2200" b="1" dirty="0">
                <a:latin typeface="Times New Roman" panose="02020603050405020304" pitchFamily="18" charset="0"/>
                <a:cs typeface="Times New Roman" panose="02020603050405020304" pitchFamily="18" charset="0"/>
              </a:rPr>
              <a:t>Business Culture in Various Countries: </a:t>
            </a:r>
            <a:r>
              <a:rPr lang="en-US" sz="2200" dirty="0">
                <a:latin typeface="Times New Roman" panose="02020603050405020304" pitchFamily="18" charset="0"/>
                <a:cs typeface="Times New Roman" panose="02020603050405020304" pitchFamily="18" charset="0"/>
              </a:rPr>
              <a:t>Each country has its own customs in business.</a:t>
            </a:r>
          </a:p>
          <a:p>
            <a:pPr algn="just"/>
            <a:r>
              <a:rPr lang="en-US" sz="2200" b="1" dirty="0">
                <a:latin typeface="Times New Roman" panose="02020603050405020304" pitchFamily="18" charset="0"/>
                <a:cs typeface="Times New Roman" panose="02020603050405020304" pitchFamily="18" charset="0"/>
              </a:rPr>
              <a:t>Policies: </a:t>
            </a:r>
            <a:r>
              <a:rPr lang="en-US" sz="2200" dirty="0">
                <a:latin typeface="Times New Roman" panose="02020603050405020304" pitchFamily="18" charset="0"/>
                <a:cs typeface="Times New Roman" panose="02020603050405020304" pitchFamily="18" charset="0"/>
              </a:rPr>
              <a:t>Tariffs, international trade agreements, and regulations affect to operations of business.</a:t>
            </a:r>
          </a:p>
          <a:p>
            <a:pPr algn="just"/>
            <a:r>
              <a:rPr lang="en-US" sz="2200" b="1" dirty="0">
                <a:latin typeface="Times New Roman" panose="02020603050405020304" pitchFamily="18" charset="0"/>
                <a:cs typeface="Times New Roman" panose="02020603050405020304" pitchFamily="18" charset="0"/>
              </a:rPr>
              <a:t>Global Risk Management: </a:t>
            </a:r>
            <a:r>
              <a:rPr lang="en-US" sz="2200" dirty="0">
                <a:latin typeface="Times New Roman" panose="02020603050405020304" pitchFamily="18" charset="0"/>
                <a:cs typeface="Times New Roman" panose="02020603050405020304" pitchFamily="18" charset="0"/>
              </a:rPr>
              <a:t>Currency movements and political instability are types of financial risk.</a:t>
            </a:r>
          </a:p>
          <a:p>
            <a:pPr algn="just"/>
            <a:r>
              <a:rPr lang="en-US" sz="2200" dirty="0">
                <a:latin typeface="Times New Roman" panose="02020603050405020304" pitchFamily="18" charset="0"/>
                <a:cs typeface="Times New Roman" panose="02020603050405020304" pitchFamily="18" charset="0"/>
              </a:rPr>
              <a:t>Making strategic choices is significant in international business when entering foreign business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1225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0D9FD-E20D-9AE5-A1CC-147E319DC34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FDA3820-2336-F102-70F5-E224D1984CA5}"/>
              </a:ext>
            </a:extLst>
          </p:cNvPr>
          <p:cNvSpPr>
            <a:spLocks noGrp="1"/>
          </p:cNvSpPr>
          <p:nvPr>
            <p:ph type="title"/>
          </p:nvPr>
        </p:nvSpPr>
        <p:spPr>
          <a:xfrm>
            <a:off x="1278308" y="150491"/>
            <a:ext cx="6654730" cy="820991"/>
          </a:xfrm>
        </p:spPr>
        <p:txBody>
          <a:bodyPr/>
          <a:lstStyle/>
          <a:p>
            <a:r>
              <a:rPr lang="en-US" sz="2800" b="1" dirty="0">
                <a:solidFill>
                  <a:schemeClr val="bg1"/>
                </a:solidFill>
              </a:rPr>
              <a:t>Modes of</a:t>
            </a:r>
            <a:br>
              <a:rPr lang="en-US" sz="2800" b="1" dirty="0">
                <a:solidFill>
                  <a:schemeClr val="bg1"/>
                </a:solidFill>
              </a:rPr>
            </a:br>
            <a:r>
              <a:rPr lang="en-US" sz="2800" b="1" dirty="0">
                <a:solidFill>
                  <a:schemeClr val="bg1"/>
                </a:solidFill>
              </a:rPr>
              <a:t>entry into International Business</a:t>
            </a:r>
            <a:endParaRPr lang="en-IN" sz="2800" b="1" dirty="0">
              <a:solidFill>
                <a:schemeClr val="bg1"/>
              </a:solidFill>
            </a:endParaRPr>
          </a:p>
        </p:txBody>
      </p:sp>
      <p:sp>
        <p:nvSpPr>
          <p:cNvPr id="3" name="Date Placeholder 2">
            <a:extLst>
              <a:ext uri="{FF2B5EF4-FFF2-40B4-BE49-F238E27FC236}">
                <a16:creationId xmlns:a16="http://schemas.microsoft.com/office/drawing/2014/main" id="{B88D635E-F198-8C1A-EFAA-7D618D2E7199}"/>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BDF5DE32-684E-D606-766E-684E190C5B46}"/>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A0D1DA3E-FC26-E6DC-F269-F4B4149FBFF1}"/>
              </a:ext>
            </a:extLst>
          </p:cNvPr>
          <p:cNvSpPr>
            <a:spLocks noGrp="1"/>
          </p:cNvSpPr>
          <p:nvPr>
            <p:ph type="sldNum" sz="quarter" idx="12"/>
          </p:nvPr>
        </p:nvSpPr>
        <p:spPr/>
        <p:txBody>
          <a:bodyPr/>
          <a:lstStyle/>
          <a:p>
            <a:pPr defTabSz="756209"/>
            <a:fld id="{B6F15528-21DE-4FAA-801E-634DDDAF4B2B}" type="slidenum">
              <a:rPr lang="en-US" smtClean="0"/>
              <a:pPr defTabSz="756209"/>
              <a:t>13</a:t>
            </a:fld>
            <a:endParaRPr lang="en-US"/>
          </a:p>
        </p:txBody>
      </p:sp>
      <p:sp>
        <p:nvSpPr>
          <p:cNvPr id="7" name="TextBox 6">
            <a:extLst>
              <a:ext uri="{FF2B5EF4-FFF2-40B4-BE49-F238E27FC236}">
                <a16:creationId xmlns:a16="http://schemas.microsoft.com/office/drawing/2014/main" id="{5A84206C-CA09-9F01-3420-5159676718F7}"/>
              </a:ext>
            </a:extLst>
          </p:cNvPr>
          <p:cNvSpPr txBox="1"/>
          <p:nvPr/>
        </p:nvSpPr>
        <p:spPr>
          <a:xfrm>
            <a:off x="57168" y="1495145"/>
            <a:ext cx="9882898" cy="707886"/>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International market entry can be done through various modes. Every mode of entry has its benefits and risks. The table below gives a general overview of the standard modes of entry:</a:t>
            </a:r>
            <a:endParaRPr lang="en-IN"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4D685FD-B224-D1C9-7972-F8586EA77A99}"/>
              </a:ext>
            </a:extLst>
          </p:cNvPr>
          <p:cNvPicPr>
            <a:picLocks noChangeAspect="1"/>
          </p:cNvPicPr>
          <p:nvPr/>
        </p:nvPicPr>
        <p:blipFill>
          <a:blip r:embed="rId2"/>
          <a:stretch>
            <a:fillRect/>
          </a:stretch>
        </p:blipFill>
        <p:spPr>
          <a:xfrm>
            <a:off x="1278308" y="2253201"/>
            <a:ext cx="7545444" cy="4753500"/>
          </a:xfrm>
          <a:prstGeom prst="rect">
            <a:avLst/>
          </a:prstGeom>
        </p:spPr>
      </p:pic>
    </p:spTree>
    <p:extLst>
      <p:ext uri="{BB962C8B-B14F-4D97-AF65-F5344CB8AC3E}">
        <p14:creationId xmlns:p14="http://schemas.microsoft.com/office/powerpoint/2010/main" val="1854809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4FBC4-0118-7A8B-25D0-9FE3A3E092E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EB636DC-D3B6-EEDA-3714-4F07184349DF}"/>
              </a:ext>
            </a:extLst>
          </p:cNvPr>
          <p:cNvSpPr>
            <a:spLocks noGrp="1"/>
          </p:cNvSpPr>
          <p:nvPr>
            <p:ph type="title"/>
          </p:nvPr>
        </p:nvSpPr>
        <p:spPr>
          <a:xfrm>
            <a:off x="1278308" y="150491"/>
            <a:ext cx="6654730" cy="820991"/>
          </a:xfrm>
        </p:spPr>
        <p:txBody>
          <a:bodyPr/>
          <a:lstStyle/>
          <a:p>
            <a:r>
              <a:rPr lang="en-US" sz="2800" b="1" dirty="0">
                <a:solidFill>
                  <a:schemeClr val="bg1"/>
                </a:solidFill>
              </a:rPr>
              <a:t>Internationalization Process</a:t>
            </a:r>
            <a:endParaRPr lang="en-IN" sz="2800" b="1" dirty="0">
              <a:solidFill>
                <a:schemeClr val="bg1"/>
              </a:solidFill>
            </a:endParaRPr>
          </a:p>
        </p:txBody>
      </p:sp>
      <p:sp>
        <p:nvSpPr>
          <p:cNvPr id="3" name="Date Placeholder 2">
            <a:extLst>
              <a:ext uri="{FF2B5EF4-FFF2-40B4-BE49-F238E27FC236}">
                <a16:creationId xmlns:a16="http://schemas.microsoft.com/office/drawing/2014/main" id="{249710A1-3E9E-7C5C-6263-23C36D8EDE47}"/>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74742923-DE80-46E3-D353-4BA943D55D55}"/>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27383055-07FF-9777-4F04-91D0A5A75D3A}"/>
              </a:ext>
            </a:extLst>
          </p:cNvPr>
          <p:cNvSpPr>
            <a:spLocks noGrp="1"/>
          </p:cNvSpPr>
          <p:nvPr>
            <p:ph type="sldNum" sz="quarter" idx="12"/>
          </p:nvPr>
        </p:nvSpPr>
        <p:spPr/>
        <p:txBody>
          <a:bodyPr/>
          <a:lstStyle/>
          <a:p>
            <a:pPr defTabSz="756209"/>
            <a:fld id="{B6F15528-21DE-4FAA-801E-634DDDAF4B2B}" type="slidenum">
              <a:rPr lang="en-US" smtClean="0"/>
              <a:pPr defTabSz="756209"/>
              <a:t>14</a:t>
            </a:fld>
            <a:endParaRPr lang="en-US"/>
          </a:p>
        </p:txBody>
      </p:sp>
      <p:pic>
        <p:nvPicPr>
          <p:cNvPr id="2" name="Picture 1">
            <a:extLst>
              <a:ext uri="{FF2B5EF4-FFF2-40B4-BE49-F238E27FC236}">
                <a16:creationId xmlns:a16="http://schemas.microsoft.com/office/drawing/2014/main" id="{8ABB1425-D538-6C04-D124-9175C030EB37}"/>
              </a:ext>
            </a:extLst>
          </p:cNvPr>
          <p:cNvPicPr>
            <a:picLocks noChangeAspect="1"/>
          </p:cNvPicPr>
          <p:nvPr/>
        </p:nvPicPr>
        <p:blipFill>
          <a:blip r:embed="rId2"/>
          <a:stretch>
            <a:fillRect/>
          </a:stretch>
        </p:blipFill>
        <p:spPr>
          <a:xfrm>
            <a:off x="5593603" y="1358579"/>
            <a:ext cx="4487022" cy="3062814"/>
          </a:xfrm>
          <a:prstGeom prst="rect">
            <a:avLst/>
          </a:prstGeom>
        </p:spPr>
      </p:pic>
      <p:sp>
        <p:nvSpPr>
          <p:cNvPr id="9" name="TextBox 8">
            <a:extLst>
              <a:ext uri="{FF2B5EF4-FFF2-40B4-BE49-F238E27FC236}">
                <a16:creationId xmlns:a16="http://schemas.microsoft.com/office/drawing/2014/main" id="{D4AFDE69-1799-3502-9444-717164F75ED8}"/>
              </a:ext>
            </a:extLst>
          </p:cNvPr>
          <p:cNvSpPr txBox="1"/>
          <p:nvPr/>
        </p:nvSpPr>
        <p:spPr>
          <a:xfrm>
            <a:off x="0" y="1461351"/>
            <a:ext cx="5470953" cy="5324535"/>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Domestic Stage: </a:t>
            </a:r>
            <a:r>
              <a:rPr lang="en-US" sz="2000" dirty="0">
                <a:latin typeface="Times New Roman" panose="02020603050405020304" pitchFamily="18" charset="0"/>
                <a:cs typeface="Times New Roman" panose="02020603050405020304" pitchFamily="18" charset="0"/>
              </a:rPr>
              <a:t>Companies primarily focus on their home market and domestic opportunities.</a:t>
            </a:r>
          </a:p>
          <a:p>
            <a:pPr algn="just"/>
            <a:r>
              <a:rPr lang="en-US" sz="2000" b="1" dirty="0">
                <a:latin typeface="Times New Roman" panose="02020603050405020304" pitchFamily="18" charset="0"/>
                <a:cs typeface="Times New Roman" panose="02020603050405020304" pitchFamily="18" charset="0"/>
              </a:rPr>
              <a:t>International Company: </a:t>
            </a:r>
            <a:r>
              <a:rPr lang="en-US" sz="2000" dirty="0">
                <a:latin typeface="Times New Roman" panose="02020603050405020304" pitchFamily="18" charset="0"/>
                <a:cs typeface="Times New Roman" panose="02020603050405020304" pitchFamily="18" charset="0"/>
              </a:rPr>
              <a:t>Businesses venture beyond national borders, often through exporting or establishing branches and subsidiaries in foreign countries.</a:t>
            </a:r>
          </a:p>
          <a:p>
            <a:pPr algn="just"/>
            <a:r>
              <a:rPr lang="en-US" sz="2000" b="1" dirty="0">
                <a:latin typeface="Times New Roman" panose="02020603050405020304" pitchFamily="18" charset="0"/>
                <a:cs typeface="Times New Roman" panose="02020603050405020304" pitchFamily="18" charset="0"/>
              </a:rPr>
              <a:t>Multinational Company (MNC): </a:t>
            </a:r>
            <a:r>
              <a:rPr lang="en-US" sz="2000" dirty="0">
                <a:latin typeface="Times New Roman" panose="02020603050405020304" pitchFamily="18" charset="0"/>
                <a:cs typeface="Times New Roman" panose="02020603050405020304" pitchFamily="18" charset="0"/>
              </a:rPr>
              <a:t>MNCs adapt products, services, and strategies to specific country markets, addressing local needs and preferences.</a:t>
            </a:r>
          </a:p>
          <a:p>
            <a:pPr algn="just"/>
            <a:r>
              <a:rPr lang="en-US" sz="2000" b="1" dirty="0">
                <a:latin typeface="Times New Roman" panose="02020603050405020304" pitchFamily="18" charset="0"/>
                <a:cs typeface="Times New Roman" panose="02020603050405020304" pitchFamily="18" charset="0"/>
              </a:rPr>
              <a:t>Global Company: </a:t>
            </a:r>
            <a:r>
              <a:rPr lang="en-US" sz="2000" dirty="0">
                <a:latin typeface="Times New Roman" panose="02020603050405020304" pitchFamily="18" charset="0"/>
                <a:cs typeface="Times New Roman" panose="02020603050405020304" pitchFamily="18" charset="0"/>
              </a:rPr>
              <a:t>These companies adopt a global strategy, leveraging global production and marketing for worldwide reach and efficiency.</a:t>
            </a:r>
          </a:p>
          <a:p>
            <a:pPr algn="just"/>
            <a:r>
              <a:rPr lang="en-US" sz="2000" b="1" dirty="0">
                <a:latin typeface="Times New Roman" panose="02020603050405020304" pitchFamily="18" charset="0"/>
                <a:cs typeface="Times New Roman" panose="02020603050405020304" pitchFamily="18" charset="0"/>
              </a:rPr>
              <a:t>Transnational Company: </a:t>
            </a:r>
            <a:r>
              <a:rPr lang="en-US" sz="2000" dirty="0">
                <a:latin typeface="Times New Roman" panose="02020603050405020304" pitchFamily="18" charset="0"/>
                <a:cs typeface="Times New Roman" panose="02020603050405020304" pitchFamily="18" charset="0"/>
              </a:rPr>
              <a:t>The most integrated stage, transnational companies operate globally, combining global efficiency with local responsiveness, often managing operations across borders while maintaining centralized control.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8293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0D1C6-EDBC-325E-6175-520D867CE9E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A97A286-717C-9582-340C-2BA7874B2539}"/>
              </a:ext>
            </a:extLst>
          </p:cNvPr>
          <p:cNvSpPr>
            <a:spLocks noGrp="1"/>
          </p:cNvSpPr>
          <p:nvPr>
            <p:ph type="title"/>
          </p:nvPr>
        </p:nvSpPr>
        <p:spPr>
          <a:xfrm>
            <a:off x="1278308" y="150491"/>
            <a:ext cx="6654730" cy="820991"/>
          </a:xfrm>
        </p:spPr>
        <p:txBody>
          <a:bodyPr/>
          <a:lstStyle/>
          <a:p>
            <a:endParaRPr lang="en-IN" sz="2800" b="1" dirty="0">
              <a:solidFill>
                <a:schemeClr val="bg1"/>
              </a:solidFill>
            </a:endParaRPr>
          </a:p>
        </p:txBody>
      </p:sp>
      <p:sp>
        <p:nvSpPr>
          <p:cNvPr id="3" name="Date Placeholder 2">
            <a:extLst>
              <a:ext uri="{FF2B5EF4-FFF2-40B4-BE49-F238E27FC236}">
                <a16:creationId xmlns:a16="http://schemas.microsoft.com/office/drawing/2014/main" id="{631BA8B3-84BC-7B63-692C-317F41725427}"/>
              </a:ext>
            </a:extLst>
          </p:cNvPr>
          <p:cNvSpPr>
            <a:spLocks noGrp="1"/>
          </p:cNvSpPr>
          <p:nvPr>
            <p:ph type="dt" sz="half" idx="10"/>
          </p:nvPr>
        </p:nvSpPr>
        <p:spPr/>
        <p:txBody>
          <a:bodyPr/>
          <a:lstStyle/>
          <a:p>
            <a:pPr defTabSz="756209"/>
            <a:fld id="{59C3BFA6-9BB1-4BCB-AB07-9D84C6CDAA70}" type="datetime3">
              <a:rPr lang="en-US" smtClean="0"/>
              <a:t>21 July 2025</a:t>
            </a:fld>
            <a:endParaRPr lang="en-US"/>
          </a:p>
        </p:txBody>
      </p:sp>
      <p:sp>
        <p:nvSpPr>
          <p:cNvPr id="5" name="Footer Placeholder 4">
            <a:extLst>
              <a:ext uri="{FF2B5EF4-FFF2-40B4-BE49-F238E27FC236}">
                <a16:creationId xmlns:a16="http://schemas.microsoft.com/office/drawing/2014/main" id="{120EFFE2-228F-050C-BB1F-E96D84D4BDA0}"/>
              </a:ext>
            </a:extLst>
          </p:cNvPr>
          <p:cNvSpPr>
            <a:spLocks noGrp="1"/>
          </p:cNvSpPr>
          <p:nvPr>
            <p:ph type="ftr" sz="quarter" idx="11"/>
          </p:nvPr>
        </p:nvSpPr>
        <p:spPr/>
        <p:txBody>
          <a:bodyPr/>
          <a:lstStyle/>
          <a:p>
            <a:pPr defTabSz="756209"/>
            <a:r>
              <a:rPr lang="en-US" dirty="0"/>
              <a:t>Prof. </a:t>
            </a:r>
            <a:r>
              <a:rPr lang="en-US" dirty="0" err="1"/>
              <a:t>Madhunayaka</a:t>
            </a:r>
            <a:r>
              <a:rPr lang="en-US" dirty="0"/>
              <a:t> , Department of MBA, VVIET, Mysuru</a:t>
            </a:r>
          </a:p>
        </p:txBody>
      </p:sp>
      <p:sp>
        <p:nvSpPr>
          <p:cNvPr id="4" name="Slide Number Placeholder 3">
            <a:extLst>
              <a:ext uri="{FF2B5EF4-FFF2-40B4-BE49-F238E27FC236}">
                <a16:creationId xmlns:a16="http://schemas.microsoft.com/office/drawing/2014/main" id="{BC9DDC68-C3EC-CDE0-D27B-08036F2FE74D}"/>
              </a:ext>
            </a:extLst>
          </p:cNvPr>
          <p:cNvSpPr>
            <a:spLocks noGrp="1"/>
          </p:cNvSpPr>
          <p:nvPr>
            <p:ph type="sldNum" sz="quarter" idx="12"/>
          </p:nvPr>
        </p:nvSpPr>
        <p:spPr/>
        <p:txBody>
          <a:bodyPr/>
          <a:lstStyle/>
          <a:p>
            <a:pPr defTabSz="756209"/>
            <a:fld id="{B6F15528-21DE-4FAA-801E-634DDDAF4B2B}" type="slidenum">
              <a:rPr lang="en-US" smtClean="0"/>
              <a:pPr defTabSz="756209"/>
              <a:t>15</a:t>
            </a:fld>
            <a:endParaRPr lang="en-US"/>
          </a:p>
        </p:txBody>
      </p:sp>
      <p:sp>
        <p:nvSpPr>
          <p:cNvPr id="7" name="TextBox 6">
            <a:extLst>
              <a:ext uri="{FF2B5EF4-FFF2-40B4-BE49-F238E27FC236}">
                <a16:creationId xmlns:a16="http://schemas.microsoft.com/office/drawing/2014/main" id="{FF2888FB-3A61-5972-5101-1D14F36D4103}"/>
              </a:ext>
            </a:extLst>
          </p:cNvPr>
          <p:cNvSpPr txBox="1"/>
          <p:nvPr/>
        </p:nvSpPr>
        <p:spPr>
          <a:xfrm>
            <a:off x="2525358" y="3591268"/>
            <a:ext cx="5050714" cy="369332"/>
          </a:xfrm>
          <a:prstGeom prst="rect">
            <a:avLst/>
          </a:prstGeom>
          <a:noFill/>
        </p:spPr>
        <p:txBody>
          <a:bodyPr wrap="square">
            <a:spAutoFit/>
          </a:bodyPr>
          <a:lstStyle/>
          <a:p>
            <a:r>
              <a:rPr lang="en-US" sz="1800" b="1" dirty="0">
                <a:solidFill>
                  <a:schemeClr val="bg1"/>
                </a:solidFill>
              </a:rPr>
              <a:t>Emerging Trends in Marketing</a:t>
            </a:r>
            <a:endParaRPr lang="en-IN" dirty="0"/>
          </a:p>
        </p:txBody>
      </p:sp>
      <p:sp>
        <p:nvSpPr>
          <p:cNvPr id="8" name="TextBox 7">
            <a:extLst>
              <a:ext uri="{FF2B5EF4-FFF2-40B4-BE49-F238E27FC236}">
                <a16:creationId xmlns:a16="http://schemas.microsoft.com/office/drawing/2014/main" id="{19B1C297-FB9D-F5B7-65F8-F115AAB46EDE}"/>
              </a:ext>
            </a:extLst>
          </p:cNvPr>
          <p:cNvSpPr txBox="1"/>
          <p:nvPr/>
        </p:nvSpPr>
        <p:spPr>
          <a:xfrm>
            <a:off x="3557925" y="2475138"/>
            <a:ext cx="2985580"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Thank You</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33052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2286</TotalTime>
  <Words>1913</Words>
  <Application>Microsoft Office PowerPoint</Application>
  <PresentationFormat>Custom</PresentationFormat>
  <Paragraphs>129</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Book Antiqua</vt:lpstr>
      <vt:lpstr>Calibri</vt:lpstr>
      <vt:lpstr>Cambria</vt:lpstr>
      <vt:lpstr>Times New Roman</vt:lpstr>
      <vt:lpstr>Times New Roman</vt:lpstr>
      <vt:lpstr>1_Office Theme</vt:lpstr>
      <vt:lpstr>International Business 22MBA401</vt:lpstr>
      <vt:lpstr>Module-1 (6Hours)   Introduction to International Business: Evolution, Meaning, Importance, Nature and Scope of International Business, Characteristics of International Business, Factors affecting International Business, Changing scenario of International Business, Advantages of International Business, challenges in International business, Modes of entry into International Business, Internationalization Process.</vt:lpstr>
      <vt:lpstr>Introduction to International Business</vt:lpstr>
      <vt:lpstr>Evolution-IB</vt:lpstr>
      <vt:lpstr>Meaning-IB</vt:lpstr>
      <vt:lpstr>Importance of International Business</vt:lpstr>
      <vt:lpstr>Nature and Scope of International Business</vt:lpstr>
      <vt:lpstr>Characteristics of International Business</vt:lpstr>
      <vt:lpstr>Factors affecting International Business</vt:lpstr>
      <vt:lpstr>Changing scenario of International Business</vt:lpstr>
      <vt:lpstr>Advantages of International Business</vt:lpstr>
      <vt:lpstr>challenges in International business</vt:lpstr>
      <vt:lpstr>Modes of entry into International Business</vt:lpstr>
      <vt:lpstr>Internationalization Process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Compensation &amp; Benefits  18MBAHR303</dc:title>
  <dc:creator>Reena</dc:creator>
  <cp:lastModifiedBy>Dell</cp:lastModifiedBy>
  <cp:revision>160</cp:revision>
  <dcterms:modified xsi:type="dcterms:W3CDTF">2025-07-21T09:25:03Z</dcterms:modified>
</cp:coreProperties>
</file>