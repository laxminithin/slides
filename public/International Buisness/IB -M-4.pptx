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Lst>
  <p:notesMasterIdLst>
    <p:notesMasterId r:id="rId30"/>
  </p:notesMasterIdLst>
  <p:sldIdLst>
    <p:sldId id="283" r:id="rId2"/>
    <p:sldId id="285" r:id="rId3"/>
    <p:sldId id="286" r:id="rId4"/>
    <p:sldId id="300" r:id="rId5"/>
    <p:sldId id="301" r:id="rId6"/>
    <p:sldId id="302" r:id="rId7"/>
    <p:sldId id="303" r:id="rId8"/>
    <p:sldId id="304" r:id="rId9"/>
    <p:sldId id="310" r:id="rId10"/>
    <p:sldId id="305" r:id="rId11"/>
    <p:sldId id="306" r:id="rId12"/>
    <p:sldId id="307" r:id="rId13"/>
    <p:sldId id="311" r:id="rId14"/>
    <p:sldId id="312" r:id="rId15"/>
    <p:sldId id="308" r:id="rId16"/>
    <p:sldId id="309" r:id="rId17"/>
    <p:sldId id="313" r:id="rId18"/>
    <p:sldId id="299" r:id="rId19"/>
    <p:sldId id="314" r:id="rId20"/>
    <p:sldId id="315" r:id="rId21"/>
    <p:sldId id="316" r:id="rId22"/>
    <p:sldId id="317" r:id="rId23"/>
    <p:sldId id="320" r:id="rId24"/>
    <p:sldId id="318" r:id="rId25"/>
    <p:sldId id="319" r:id="rId26"/>
    <p:sldId id="321" r:id="rId27"/>
    <p:sldId id="322" r:id="rId28"/>
    <p:sldId id="323" r:id="rId29"/>
  </p:sldIdLst>
  <p:sldSz cx="10080625"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17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06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92" autoAdjust="0"/>
    <p:restoredTop sz="94660"/>
  </p:normalViewPr>
  <p:slideViewPr>
    <p:cSldViewPr snapToGrid="0">
      <p:cViewPr varScale="1">
        <p:scale>
          <a:sx n="71" d="100"/>
          <a:sy n="71" d="100"/>
        </p:scale>
        <p:origin x="1397" y="53"/>
      </p:cViewPr>
      <p:guideLst>
        <p:guide orient="horz" pos="2381"/>
        <p:guide pos="317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V Reena Williams" userId="bee68a21f81384c9" providerId="LiveId" clId="{5A7C177A-5150-4342-8510-C0E7CC4F9630}"/>
    <pc:docChg chg="undo custSel addSld delSld modSld">
      <pc:chgData name="Dr. V Reena Williams" userId="bee68a21f81384c9" providerId="LiveId" clId="{5A7C177A-5150-4342-8510-C0E7CC4F9630}" dt="2021-09-06T08:56:15.979" v="117" actId="1076"/>
      <pc:docMkLst>
        <pc:docMk/>
      </pc:docMkLst>
      <pc:sldChg chg="modSp mod">
        <pc:chgData name="Dr. V Reena Williams" userId="bee68a21f81384c9" providerId="LiveId" clId="{5A7C177A-5150-4342-8510-C0E7CC4F9630}" dt="2021-09-06T08:50:06.960" v="2" actId="120"/>
        <pc:sldMkLst>
          <pc:docMk/>
          <pc:sldMk cId="789510717" sldId="285"/>
        </pc:sldMkLst>
        <pc:spChg chg="mod">
          <ac:chgData name="Dr. V Reena Williams" userId="bee68a21f81384c9" providerId="LiveId" clId="{5A7C177A-5150-4342-8510-C0E7CC4F9630}" dt="2021-09-06T08:50:06.960" v="2" actId="120"/>
          <ac:spMkLst>
            <pc:docMk/>
            <pc:sldMk cId="789510717" sldId="285"/>
            <ac:spMk id="2" creationId="{00000000-0000-0000-0000-000000000000}"/>
          </ac:spMkLst>
        </pc:spChg>
      </pc:sldChg>
      <pc:sldChg chg="modSp mod">
        <pc:chgData name="Dr. V Reena Williams" userId="bee68a21f81384c9" providerId="LiveId" clId="{5A7C177A-5150-4342-8510-C0E7CC4F9630}" dt="2021-09-06T08:50:17.060" v="4" actId="120"/>
        <pc:sldMkLst>
          <pc:docMk/>
          <pc:sldMk cId="3519521770" sldId="326"/>
        </pc:sldMkLst>
        <pc:spChg chg="mod">
          <ac:chgData name="Dr. V Reena Williams" userId="bee68a21f81384c9" providerId="LiveId" clId="{5A7C177A-5150-4342-8510-C0E7CC4F9630}" dt="2021-09-06T08:50:17.060" v="4" actId="120"/>
          <ac:spMkLst>
            <pc:docMk/>
            <pc:sldMk cId="3519521770" sldId="326"/>
            <ac:spMk id="2" creationId="{00000000-0000-0000-0000-000000000000}"/>
          </ac:spMkLst>
        </pc:spChg>
      </pc:sldChg>
      <pc:sldChg chg="modSp mod">
        <pc:chgData name="Dr. V Reena Williams" userId="bee68a21f81384c9" providerId="LiveId" clId="{5A7C177A-5150-4342-8510-C0E7CC4F9630}" dt="2021-09-06T08:50:27.517" v="7" actId="20577"/>
        <pc:sldMkLst>
          <pc:docMk/>
          <pc:sldMk cId="1470130169" sldId="327"/>
        </pc:sldMkLst>
        <pc:spChg chg="mod">
          <ac:chgData name="Dr. V Reena Williams" userId="bee68a21f81384c9" providerId="LiveId" clId="{5A7C177A-5150-4342-8510-C0E7CC4F9630}" dt="2021-09-06T08:50:27.517" v="7" actId="20577"/>
          <ac:spMkLst>
            <pc:docMk/>
            <pc:sldMk cId="1470130169" sldId="327"/>
            <ac:spMk id="2" creationId="{00000000-0000-0000-0000-000000000000}"/>
          </ac:spMkLst>
        </pc:spChg>
      </pc:sldChg>
      <pc:sldChg chg="modSp mod">
        <pc:chgData name="Dr. V Reena Williams" userId="bee68a21f81384c9" providerId="LiveId" clId="{5A7C177A-5150-4342-8510-C0E7CC4F9630}" dt="2021-09-06T08:50:39.872" v="12" actId="20577"/>
        <pc:sldMkLst>
          <pc:docMk/>
          <pc:sldMk cId="2501665032" sldId="328"/>
        </pc:sldMkLst>
        <pc:spChg chg="mod">
          <ac:chgData name="Dr. V Reena Williams" userId="bee68a21f81384c9" providerId="LiveId" clId="{5A7C177A-5150-4342-8510-C0E7CC4F9630}" dt="2021-09-06T08:50:39.872" v="12" actId="20577"/>
          <ac:spMkLst>
            <pc:docMk/>
            <pc:sldMk cId="2501665032" sldId="328"/>
            <ac:spMk id="2" creationId="{00000000-0000-0000-0000-000000000000}"/>
          </ac:spMkLst>
        </pc:spChg>
      </pc:sldChg>
      <pc:sldChg chg="modSp mod">
        <pc:chgData name="Dr. V Reena Williams" userId="bee68a21f81384c9" providerId="LiveId" clId="{5A7C177A-5150-4342-8510-C0E7CC4F9630}" dt="2021-09-06T08:50:51.224" v="15" actId="20577"/>
        <pc:sldMkLst>
          <pc:docMk/>
          <pc:sldMk cId="490069653" sldId="329"/>
        </pc:sldMkLst>
        <pc:spChg chg="mod">
          <ac:chgData name="Dr. V Reena Williams" userId="bee68a21f81384c9" providerId="LiveId" clId="{5A7C177A-5150-4342-8510-C0E7CC4F9630}" dt="2021-09-06T08:50:51.224" v="15" actId="20577"/>
          <ac:spMkLst>
            <pc:docMk/>
            <pc:sldMk cId="490069653" sldId="329"/>
            <ac:spMk id="2" creationId="{00000000-0000-0000-0000-000000000000}"/>
          </ac:spMkLst>
        </pc:spChg>
      </pc:sldChg>
      <pc:sldChg chg="modSp mod">
        <pc:chgData name="Dr. V Reena Williams" userId="bee68a21f81384c9" providerId="LiveId" clId="{5A7C177A-5150-4342-8510-C0E7CC4F9630}" dt="2021-09-06T08:51:00.726" v="18" actId="20577"/>
        <pc:sldMkLst>
          <pc:docMk/>
          <pc:sldMk cId="1122302786" sldId="330"/>
        </pc:sldMkLst>
        <pc:spChg chg="mod">
          <ac:chgData name="Dr. V Reena Williams" userId="bee68a21f81384c9" providerId="LiveId" clId="{5A7C177A-5150-4342-8510-C0E7CC4F9630}" dt="2021-09-06T08:51:00.726" v="18" actId="20577"/>
          <ac:spMkLst>
            <pc:docMk/>
            <pc:sldMk cId="1122302786" sldId="330"/>
            <ac:spMk id="2" creationId="{00000000-0000-0000-0000-000000000000}"/>
          </ac:spMkLst>
        </pc:spChg>
      </pc:sldChg>
      <pc:sldChg chg="addSp modSp new mod chgLayout">
        <pc:chgData name="Dr. V Reena Williams" userId="bee68a21f81384c9" providerId="LiveId" clId="{5A7C177A-5150-4342-8510-C0E7CC4F9630}" dt="2021-09-06T08:56:15.979" v="117" actId="1076"/>
        <pc:sldMkLst>
          <pc:docMk/>
          <pc:sldMk cId="3729964599" sldId="331"/>
        </pc:sldMkLst>
        <pc:spChg chg="mod ord">
          <ac:chgData name="Dr. V Reena Williams" userId="bee68a21f81384c9" providerId="LiveId" clId="{5A7C177A-5150-4342-8510-C0E7CC4F9630}" dt="2021-09-06T08:56:15.979" v="117" actId="1076"/>
          <ac:spMkLst>
            <pc:docMk/>
            <pc:sldMk cId="3729964599" sldId="331"/>
            <ac:spMk id="2" creationId="{021B484D-DF85-4A81-AC62-2227D1C91310}"/>
          </ac:spMkLst>
        </pc:spChg>
        <pc:spChg chg="mod ord">
          <ac:chgData name="Dr. V Reena Williams" userId="bee68a21f81384c9" providerId="LiveId" clId="{5A7C177A-5150-4342-8510-C0E7CC4F9630}" dt="2021-09-06T08:52:05.623" v="35" actId="700"/>
          <ac:spMkLst>
            <pc:docMk/>
            <pc:sldMk cId="3729964599" sldId="331"/>
            <ac:spMk id="3" creationId="{93FE3E18-4DB2-4A88-A31B-084338076549}"/>
          </ac:spMkLst>
        </pc:spChg>
        <pc:spChg chg="mod ord">
          <ac:chgData name="Dr. V Reena Williams" userId="bee68a21f81384c9" providerId="LiveId" clId="{5A7C177A-5150-4342-8510-C0E7CC4F9630}" dt="2021-09-06T08:52:05.623" v="35" actId="700"/>
          <ac:spMkLst>
            <pc:docMk/>
            <pc:sldMk cId="3729964599" sldId="331"/>
            <ac:spMk id="4" creationId="{56330826-16A6-404A-AB4F-BA73D0D91BC6}"/>
          </ac:spMkLst>
        </pc:spChg>
        <pc:spChg chg="mod ord">
          <ac:chgData name="Dr. V Reena Williams" userId="bee68a21f81384c9" providerId="LiveId" clId="{5A7C177A-5150-4342-8510-C0E7CC4F9630}" dt="2021-09-06T08:52:05.623" v="35" actId="700"/>
          <ac:spMkLst>
            <pc:docMk/>
            <pc:sldMk cId="3729964599" sldId="331"/>
            <ac:spMk id="5" creationId="{38C0206A-9FB2-4677-8B17-F163FD15D65E}"/>
          </ac:spMkLst>
        </pc:spChg>
        <pc:spChg chg="add mod">
          <ac:chgData name="Dr. V Reena Williams" userId="bee68a21f81384c9" providerId="LiveId" clId="{5A7C177A-5150-4342-8510-C0E7CC4F9630}" dt="2021-09-06T08:55:55.716" v="101" actId="113"/>
          <ac:spMkLst>
            <pc:docMk/>
            <pc:sldMk cId="3729964599" sldId="331"/>
            <ac:spMk id="6" creationId="{C9DAD70E-71E0-45F2-8997-5F9577497395}"/>
          </ac:spMkLst>
        </pc:spChg>
      </pc:sldChg>
      <pc:sldChg chg="new del">
        <pc:chgData name="Dr. V Reena Williams" userId="bee68a21f81384c9" providerId="LiveId" clId="{5A7C177A-5150-4342-8510-C0E7CC4F9630}" dt="2021-09-06T08:55:13.118" v="86" actId="680"/>
        <pc:sldMkLst>
          <pc:docMk/>
          <pc:sldMk cId="313788060" sldId="33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8F13A6-B30A-46C7-A3EF-B0D9AE35B1D0}" type="doc">
      <dgm:prSet loTypeId="urn:microsoft.com/office/officeart/2005/8/layout/target1" loCatId="relationship" qsTypeId="urn:microsoft.com/office/officeart/2005/8/quickstyle/simple1" qsCatId="simple" csTypeId="urn:microsoft.com/office/officeart/2005/8/colors/colorful5" csCatId="colorful"/>
      <dgm:spPr/>
      <dgm:t>
        <a:bodyPr/>
        <a:lstStyle/>
        <a:p>
          <a:endParaRPr lang="en-IN"/>
        </a:p>
      </dgm:t>
    </dgm:pt>
    <dgm:pt modelId="{F1C69CD8-45EB-48E9-A018-9C66CC501B4B}">
      <dgm:prSet/>
      <dgm:spPr/>
      <dgm:t>
        <a:bodyPr/>
        <a:lstStyle/>
        <a:p>
          <a:r>
            <a:rPr lang="en-US"/>
            <a:t>Tariff Reclassification</a:t>
          </a:r>
          <a:endParaRPr lang="en-IN"/>
        </a:p>
      </dgm:t>
    </dgm:pt>
    <dgm:pt modelId="{BCF7C81F-DA8E-4341-94A2-9BC0AC5DB1EE}" type="parTrans" cxnId="{74EE5ECC-7507-425C-8D1D-BC82A7C17C03}">
      <dgm:prSet/>
      <dgm:spPr/>
      <dgm:t>
        <a:bodyPr/>
        <a:lstStyle/>
        <a:p>
          <a:endParaRPr lang="en-IN"/>
        </a:p>
      </dgm:t>
    </dgm:pt>
    <dgm:pt modelId="{F6439D5F-25DE-449B-8B55-CA6DA451598A}" type="sibTrans" cxnId="{74EE5ECC-7507-425C-8D1D-BC82A7C17C03}">
      <dgm:prSet/>
      <dgm:spPr/>
      <dgm:t>
        <a:bodyPr/>
        <a:lstStyle/>
        <a:p>
          <a:endParaRPr lang="en-IN"/>
        </a:p>
      </dgm:t>
    </dgm:pt>
    <dgm:pt modelId="{4077401B-B1B8-4ED6-A268-83CBE6F80B51}">
      <dgm:prSet/>
      <dgm:spPr/>
      <dgm:t>
        <a:bodyPr/>
        <a:lstStyle/>
        <a:p>
          <a:r>
            <a:rPr lang="en-US"/>
            <a:t>Integrated Programme on Commodities</a:t>
          </a:r>
          <a:endParaRPr lang="en-IN"/>
        </a:p>
      </dgm:t>
    </dgm:pt>
    <dgm:pt modelId="{52644240-A9F5-4312-B017-870A68C1A5E4}" type="parTrans" cxnId="{9FBE5409-50EA-4343-989F-9EFD6299DD30}">
      <dgm:prSet/>
      <dgm:spPr/>
      <dgm:t>
        <a:bodyPr/>
        <a:lstStyle/>
        <a:p>
          <a:endParaRPr lang="en-IN"/>
        </a:p>
      </dgm:t>
    </dgm:pt>
    <dgm:pt modelId="{8E72CB6E-25CA-4C3E-8E80-927CA5B8BC95}" type="sibTrans" cxnId="{9FBE5409-50EA-4343-989F-9EFD6299DD30}">
      <dgm:prSet/>
      <dgm:spPr/>
      <dgm:t>
        <a:bodyPr/>
        <a:lstStyle/>
        <a:p>
          <a:endParaRPr lang="en-IN"/>
        </a:p>
      </dgm:t>
    </dgm:pt>
    <dgm:pt modelId="{82797396-BCE2-4DA3-B545-143ED4D5FD63}">
      <dgm:prSet/>
      <dgm:spPr/>
      <dgm:t>
        <a:bodyPr/>
        <a:lstStyle/>
        <a:p>
          <a:r>
            <a:rPr lang="en-US"/>
            <a:t>Reducing Debt Burden</a:t>
          </a:r>
          <a:endParaRPr lang="en-IN"/>
        </a:p>
      </dgm:t>
    </dgm:pt>
    <dgm:pt modelId="{D99EE572-2626-4201-975B-0A6F686C79A5}" type="parTrans" cxnId="{0DAF7243-C817-42B3-8822-F10866AFC570}">
      <dgm:prSet/>
      <dgm:spPr/>
      <dgm:t>
        <a:bodyPr/>
        <a:lstStyle/>
        <a:p>
          <a:endParaRPr lang="en-IN"/>
        </a:p>
      </dgm:t>
    </dgm:pt>
    <dgm:pt modelId="{CEEAEA17-CB80-43EE-8573-3AA4156278FE}" type="sibTrans" cxnId="{0DAF7243-C817-42B3-8822-F10866AFC570}">
      <dgm:prSet/>
      <dgm:spPr/>
      <dgm:t>
        <a:bodyPr/>
        <a:lstStyle/>
        <a:p>
          <a:endParaRPr lang="en-IN"/>
        </a:p>
      </dgm:t>
    </dgm:pt>
    <dgm:pt modelId="{D92F3584-9049-4771-A012-773324FD2210}">
      <dgm:prSet/>
      <dgm:spPr/>
      <dgm:t>
        <a:bodyPr/>
        <a:lstStyle/>
        <a:p>
          <a:r>
            <a:rPr lang="en-US"/>
            <a:t>Commodity Development Facility</a:t>
          </a:r>
          <a:endParaRPr lang="en-IN"/>
        </a:p>
      </dgm:t>
    </dgm:pt>
    <dgm:pt modelId="{5C3FBDDD-4F41-41F8-834A-450AA312756A}" type="parTrans" cxnId="{C72B9FB3-8B82-42B9-B4D4-548F15D502E8}">
      <dgm:prSet/>
      <dgm:spPr/>
      <dgm:t>
        <a:bodyPr/>
        <a:lstStyle/>
        <a:p>
          <a:endParaRPr lang="en-IN"/>
        </a:p>
      </dgm:t>
    </dgm:pt>
    <dgm:pt modelId="{6B2E9F6C-A1DD-4BE3-922A-10875E2AAC74}" type="sibTrans" cxnId="{C72B9FB3-8B82-42B9-B4D4-548F15D502E8}">
      <dgm:prSet/>
      <dgm:spPr/>
      <dgm:t>
        <a:bodyPr/>
        <a:lstStyle/>
        <a:p>
          <a:endParaRPr lang="en-IN"/>
        </a:p>
      </dgm:t>
    </dgm:pt>
    <dgm:pt modelId="{89AA2750-28AE-40A1-8F88-DE5DF9B0708F}" type="pres">
      <dgm:prSet presAssocID="{188F13A6-B30A-46C7-A3EF-B0D9AE35B1D0}" presName="composite" presStyleCnt="0">
        <dgm:presLayoutVars>
          <dgm:chMax val="5"/>
          <dgm:dir/>
          <dgm:resizeHandles val="exact"/>
        </dgm:presLayoutVars>
      </dgm:prSet>
      <dgm:spPr/>
    </dgm:pt>
    <dgm:pt modelId="{173B736C-A88D-4304-9615-141141289615}" type="pres">
      <dgm:prSet presAssocID="{F1C69CD8-45EB-48E9-A018-9C66CC501B4B}" presName="circle1" presStyleLbl="lnNode1" presStyleIdx="0" presStyleCnt="4"/>
      <dgm:spPr/>
    </dgm:pt>
    <dgm:pt modelId="{8D42250C-886C-44FC-AB39-9B00F981F1A5}" type="pres">
      <dgm:prSet presAssocID="{F1C69CD8-45EB-48E9-A018-9C66CC501B4B}" presName="text1" presStyleLbl="revTx" presStyleIdx="0" presStyleCnt="4">
        <dgm:presLayoutVars>
          <dgm:bulletEnabled val="1"/>
        </dgm:presLayoutVars>
      </dgm:prSet>
      <dgm:spPr/>
    </dgm:pt>
    <dgm:pt modelId="{D986CD0E-031B-42C0-839D-0EF99DAE1B13}" type="pres">
      <dgm:prSet presAssocID="{F1C69CD8-45EB-48E9-A018-9C66CC501B4B}" presName="line1" presStyleLbl="callout" presStyleIdx="0" presStyleCnt="8"/>
      <dgm:spPr/>
    </dgm:pt>
    <dgm:pt modelId="{5D7BF217-764D-490C-90F3-FBCB221C1C09}" type="pres">
      <dgm:prSet presAssocID="{F1C69CD8-45EB-48E9-A018-9C66CC501B4B}" presName="d1" presStyleLbl="callout" presStyleIdx="1" presStyleCnt="8"/>
      <dgm:spPr/>
    </dgm:pt>
    <dgm:pt modelId="{E22206D4-F977-4EB9-A5C7-AE91551E8AD8}" type="pres">
      <dgm:prSet presAssocID="{4077401B-B1B8-4ED6-A268-83CBE6F80B51}" presName="circle2" presStyleLbl="lnNode1" presStyleIdx="1" presStyleCnt="4"/>
      <dgm:spPr/>
    </dgm:pt>
    <dgm:pt modelId="{499A766A-57EF-4974-876A-582DD0A6EE3B}" type="pres">
      <dgm:prSet presAssocID="{4077401B-B1B8-4ED6-A268-83CBE6F80B51}" presName="text2" presStyleLbl="revTx" presStyleIdx="1" presStyleCnt="4">
        <dgm:presLayoutVars>
          <dgm:bulletEnabled val="1"/>
        </dgm:presLayoutVars>
      </dgm:prSet>
      <dgm:spPr/>
    </dgm:pt>
    <dgm:pt modelId="{05E7C676-8CDD-4390-98B6-C0BA59402032}" type="pres">
      <dgm:prSet presAssocID="{4077401B-B1B8-4ED6-A268-83CBE6F80B51}" presName="line2" presStyleLbl="callout" presStyleIdx="2" presStyleCnt="8"/>
      <dgm:spPr/>
    </dgm:pt>
    <dgm:pt modelId="{5DFB78EA-1212-4DD8-9A56-D0E970FF386C}" type="pres">
      <dgm:prSet presAssocID="{4077401B-B1B8-4ED6-A268-83CBE6F80B51}" presName="d2" presStyleLbl="callout" presStyleIdx="3" presStyleCnt="8"/>
      <dgm:spPr/>
    </dgm:pt>
    <dgm:pt modelId="{CD945D6A-D5A6-49B9-9AB0-7596716DA2AD}" type="pres">
      <dgm:prSet presAssocID="{82797396-BCE2-4DA3-B545-143ED4D5FD63}" presName="circle3" presStyleLbl="lnNode1" presStyleIdx="2" presStyleCnt="4"/>
      <dgm:spPr/>
    </dgm:pt>
    <dgm:pt modelId="{4520B2CD-CC00-4F19-AA4E-70E19110173F}" type="pres">
      <dgm:prSet presAssocID="{82797396-BCE2-4DA3-B545-143ED4D5FD63}" presName="text3" presStyleLbl="revTx" presStyleIdx="2" presStyleCnt="4">
        <dgm:presLayoutVars>
          <dgm:bulletEnabled val="1"/>
        </dgm:presLayoutVars>
      </dgm:prSet>
      <dgm:spPr/>
    </dgm:pt>
    <dgm:pt modelId="{F2E7B384-4D13-4EA8-B660-3E27E017DEE1}" type="pres">
      <dgm:prSet presAssocID="{82797396-BCE2-4DA3-B545-143ED4D5FD63}" presName="line3" presStyleLbl="callout" presStyleIdx="4" presStyleCnt="8"/>
      <dgm:spPr/>
    </dgm:pt>
    <dgm:pt modelId="{04AF7EEF-3935-43D6-A02A-0788EC024188}" type="pres">
      <dgm:prSet presAssocID="{82797396-BCE2-4DA3-B545-143ED4D5FD63}" presName="d3" presStyleLbl="callout" presStyleIdx="5" presStyleCnt="8"/>
      <dgm:spPr/>
    </dgm:pt>
    <dgm:pt modelId="{E589E9FD-5EBE-4658-82D4-F7487CAA01C1}" type="pres">
      <dgm:prSet presAssocID="{D92F3584-9049-4771-A012-773324FD2210}" presName="circle4" presStyleLbl="lnNode1" presStyleIdx="3" presStyleCnt="4"/>
      <dgm:spPr/>
    </dgm:pt>
    <dgm:pt modelId="{8A30FBAB-64EF-447C-AEB6-3748998649EE}" type="pres">
      <dgm:prSet presAssocID="{D92F3584-9049-4771-A012-773324FD2210}" presName="text4" presStyleLbl="revTx" presStyleIdx="3" presStyleCnt="4">
        <dgm:presLayoutVars>
          <dgm:bulletEnabled val="1"/>
        </dgm:presLayoutVars>
      </dgm:prSet>
      <dgm:spPr/>
    </dgm:pt>
    <dgm:pt modelId="{26A04E7E-5A2C-4A15-B02C-F4AF386E6A0F}" type="pres">
      <dgm:prSet presAssocID="{D92F3584-9049-4771-A012-773324FD2210}" presName="line4" presStyleLbl="callout" presStyleIdx="6" presStyleCnt="8"/>
      <dgm:spPr/>
    </dgm:pt>
    <dgm:pt modelId="{4C9677A7-95FA-495B-8DB2-87056B11DBC5}" type="pres">
      <dgm:prSet presAssocID="{D92F3584-9049-4771-A012-773324FD2210}" presName="d4" presStyleLbl="callout" presStyleIdx="7" presStyleCnt="8"/>
      <dgm:spPr/>
    </dgm:pt>
  </dgm:ptLst>
  <dgm:cxnLst>
    <dgm:cxn modelId="{9FBE5409-50EA-4343-989F-9EFD6299DD30}" srcId="{188F13A6-B30A-46C7-A3EF-B0D9AE35B1D0}" destId="{4077401B-B1B8-4ED6-A268-83CBE6F80B51}" srcOrd="1" destOrd="0" parTransId="{52644240-A9F5-4312-B017-870A68C1A5E4}" sibTransId="{8E72CB6E-25CA-4C3E-8E80-927CA5B8BC95}"/>
    <dgm:cxn modelId="{81F0B625-C996-4FC5-86CD-F18502575C49}" type="presOf" srcId="{4077401B-B1B8-4ED6-A268-83CBE6F80B51}" destId="{499A766A-57EF-4974-876A-582DD0A6EE3B}" srcOrd="0" destOrd="0" presId="urn:microsoft.com/office/officeart/2005/8/layout/target1"/>
    <dgm:cxn modelId="{0DAF7243-C817-42B3-8822-F10866AFC570}" srcId="{188F13A6-B30A-46C7-A3EF-B0D9AE35B1D0}" destId="{82797396-BCE2-4DA3-B545-143ED4D5FD63}" srcOrd="2" destOrd="0" parTransId="{D99EE572-2626-4201-975B-0A6F686C79A5}" sibTransId="{CEEAEA17-CB80-43EE-8573-3AA4156278FE}"/>
    <dgm:cxn modelId="{00AC9453-A32B-4927-9D6C-899C0AFEFE9F}" type="presOf" srcId="{F1C69CD8-45EB-48E9-A018-9C66CC501B4B}" destId="{8D42250C-886C-44FC-AB39-9B00F981F1A5}" srcOrd="0" destOrd="0" presId="urn:microsoft.com/office/officeart/2005/8/layout/target1"/>
    <dgm:cxn modelId="{1A911695-7BA6-49ED-B851-BE393BB5D83F}" type="presOf" srcId="{82797396-BCE2-4DA3-B545-143ED4D5FD63}" destId="{4520B2CD-CC00-4F19-AA4E-70E19110173F}" srcOrd="0" destOrd="0" presId="urn:microsoft.com/office/officeart/2005/8/layout/target1"/>
    <dgm:cxn modelId="{C72B9FB3-8B82-42B9-B4D4-548F15D502E8}" srcId="{188F13A6-B30A-46C7-A3EF-B0D9AE35B1D0}" destId="{D92F3584-9049-4771-A012-773324FD2210}" srcOrd="3" destOrd="0" parTransId="{5C3FBDDD-4F41-41F8-834A-450AA312756A}" sibTransId="{6B2E9F6C-A1DD-4BE3-922A-10875E2AAC74}"/>
    <dgm:cxn modelId="{FEA42BBB-F0BD-4FA1-90EA-C2A3A89713ED}" type="presOf" srcId="{D92F3584-9049-4771-A012-773324FD2210}" destId="{8A30FBAB-64EF-447C-AEB6-3748998649EE}" srcOrd="0" destOrd="0" presId="urn:microsoft.com/office/officeart/2005/8/layout/target1"/>
    <dgm:cxn modelId="{74EE5ECC-7507-425C-8D1D-BC82A7C17C03}" srcId="{188F13A6-B30A-46C7-A3EF-B0D9AE35B1D0}" destId="{F1C69CD8-45EB-48E9-A018-9C66CC501B4B}" srcOrd="0" destOrd="0" parTransId="{BCF7C81F-DA8E-4341-94A2-9BC0AC5DB1EE}" sibTransId="{F6439D5F-25DE-449B-8B55-CA6DA451598A}"/>
    <dgm:cxn modelId="{418744DE-2E1A-4051-8BDA-80B1FF231390}" type="presOf" srcId="{188F13A6-B30A-46C7-A3EF-B0D9AE35B1D0}" destId="{89AA2750-28AE-40A1-8F88-DE5DF9B0708F}" srcOrd="0" destOrd="0" presId="urn:microsoft.com/office/officeart/2005/8/layout/target1"/>
    <dgm:cxn modelId="{DB26D97D-18BF-4B55-A508-74FE7F2014E3}" type="presParOf" srcId="{89AA2750-28AE-40A1-8F88-DE5DF9B0708F}" destId="{173B736C-A88D-4304-9615-141141289615}" srcOrd="0" destOrd="0" presId="urn:microsoft.com/office/officeart/2005/8/layout/target1"/>
    <dgm:cxn modelId="{CB1A1E39-6E40-4633-883B-EDBFFA85443A}" type="presParOf" srcId="{89AA2750-28AE-40A1-8F88-DE5DF9B0708F}" destId="{8D42250C-886C-44FC-AB39-9B00F981F1A5}" srcOrd="1" destOrd="0" presId="urn:microsoft.com/office/officeart/2005/8/layout/target1"/>
    <dgm:cxn modelId="{57124DFA-88A7-4EEE-B7CA-D26B097A898A}" type="presParOf" srcId="{89AA2750-28AE-40A1-8F88-DE5DF9B0708F}" destId="{D986CD0E-031B-42C0-839D-0EF99DAE1B13}" srcOrd="2" destOrd="0" presId="urn:microsoft.com/office/officeart/2005/8/layout/target1"/>
    <dgm:cxn modelId="{FBF84D78-968B-45BB-89E9-ACCABBC1DF1B}" type="presParOf" srcId="{89AA2750-28AE-40A1-8F88-DE5DF9B0708F}" destId="{5D7BF217-764D-490C-90F3-FBCB221C1C09}" srcOrd="3" destOrd="0" presId="urn:microsoft.com/office/officeart/2005/8/layout/target1"/>
    <dgm:cxn modelId="{F459AF26-84A8-4C63-B5DE-E0644FCEEED2}" type="presParOf" srcId="{89AA2750-28AE-40A1-8F88-DE5DF9B0708F}" destId="{E22206D4-F977-4EB9-A5C7-AE91551E8AD8}" srcOrd="4" destOrd="0" presId="urn:microsoft.com/office/officeart/2005/8/layout/target1"/>
    <dgm:cxn modelId="{5CEAAA29-058F-4A5D-94E9-17C9AA18DF27}" type="presParOf" srcId="{89AA2750-28AE-40A1-8F88-DE5DF9B0708F}" destId="{499A766A-57EF-4974-876A-582DD0A6EE3B}" srcOrd="5" destOrd="0" presId="urn:microsoft.com/office/officeart/2005/8/layout/target1"/>
    <dgm:cxn modelId="{6F8B3F1F-7DE6-434E-8A77-474E073DBD41}" type="presParOf" srcId="{89AA2750-28AE-40A1-8F88-DE5DF9B0708F}" destId="{05E7C676-8CDD-4390-98B6-C0BA59402032}" srcOrd="6" destOrd="0" presId="urn:microsoft.com/office/officeart/2005/8/layout/target1"/>
    <dgm:cxn modelId="{24831BF1-CF10-4262-B8A0-6CDD36733B3F}" type="presParOf" srcId="{89AA2750-28AE-40A1-8F88-DE5DF9B0708F}" destId="{5DFB78EA-1212-4DD8-9A56-D0E970FF386C}" srcOrd="7" destOrd="0" presId="urn:microsoft.com/office/officeart/2005/8/layout/target1"/>
    <dgm:cxn modelId="{842086C9-6590-4E6A-8816-1AE626113902}" type="presParOf" srcId="{89AA2750-28AE-40A1-8F88-DE5DF9B0708F}" destId="{CD945D6A-D5A6-49B9-9AB0-7596716DA2AD}" srcOrd="8" destOrd="0" presId="urn:microsoft.com/office/officeart/2005/8/layout/target1"/>
    <dgm:cxn modelId="{1E0C5E92-FCD7-4CCD-ADCB-79C4505BA370}" type="presParOf" srcId="{89AA2750-28AE-40A1-8F88-DE5DF9B0708F}" destId="{4520B2CD-CC00-4F19-AA4E-70E19110173F}" srcOrd="9" destOrd="0" presId="urn:microsoft.com/office/officeart/2005/8/layout/target1"/>
    <dgm:cxn modelId="{783C05B7-7AC0-406B-B9AF-9E0DEB57A5D4}" type="presParOf" srcId="{89AA2750-28AE-40A1-8F88-DE5DF9B0708F}" destId="{F2E7B384-4D13-4EA8-B660-3E27E017DEE1}" srcOrd="10" destOrd="0" presId="urn:microsoft.com/office/officeart/2005/8/layout/target1"/>
    <dgm:cxn modelId="{EADDE8E6-60E6-4E9F-A260-34FC89D664D0}" type="presParOf" srcId="{89AA2750-28AE-40A1-8F88-DE5DF9B0708F}" destId="{04AF7EEF-3935-43D6-A02A-0788EC024188}" srcOrd="11" destOrd="0" presId="urn:microsoft.com/office/officeart/2005/8/layout/target1"/>
    <dgm:cxn modelId="{6D46DEE1-8CDF-4358-959C-A36330ADC314}" type="presParOf" srcId="{89AA2750-28AE-40A1-8F88-DE5DF9B0708F}" destId="{E589E9FD-5EBE-4658-82D4-F7487CAA01C1}" srcOrd="12" destOrd="0" presId="urn:microsoft.com/office/officeart/2005/8/layout/target1"/>
    <dgm:cxn modelId="{AC39CA4B-DCD5-4AB5-B130-C477D32DB904}" type="presParOf" srcId="{89AA2750-28AE-40A1-8F88-DE5DF9B0708F}" destId="{8A30FBAB-64EF-447C-AEB6-3748998649EE}" srcOrd="13" destOrd="0" presId="urn:microsoft.com/office/officeart/2005/8/layout/target1"/>
    <dgm:cxn modelId="{C33FC48F-AF85-4928-9DC3-2622526E5CBD}" type="presParOf" srcId="{89AA2750-28AE-40A1-8F88-DE5DF9B0708F}" destId="{26A04E7E-5A2C-4A15-B02C-F4AF386E6A0F}" srcOrd="14" destOrd="0" presId="urn:microsoft.com/office/officeart/2005/8/layout/target1"/>
    <dgm:cxn modelId="{ECB65386-AB06-4924-85B1-B456FE3B6CF3}" type="presParOf" srcId="{89AA2750-28AE-40A1-8F88-DE5DF9B0708F}" destId="{4C9677A7-95FA-495B-8DB2-87056B11DBC5}" srcOrd="15" destOrd="0" presId="urn:microsoft.com/office/officeart/2005/8/layout/targe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89E9FD-5EBE-4658-82D4-F7487CAA01C1}">
      <dsp:nvSpPr>
        <dsp:cNvPr id="0" name=""/>
        <dsp:cNvSpPr/>
      </dsp:nvSpPr>
      <dsp:spPr>
        <a:xfrm>
          <a:off x="1372744" y="1226371"/>
          <a:ext cx="3679115" cy="3679115"/>
        </a:xfrm>
        <a:prstGeom prst="ellipse">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945D6A-D5A6-49B9-9AB0-7596716DA2AD}">
      <dsp:nvSpPr>
        <dsp:cNvPr id="0" name=""/>
        <dsp:cNvSpPr/>
      </dsp:nvSpPr>
      <dsp:spPr>
        <a:xfrm>
          <a:off x="1898551" y="1752178"/>
          <a:ext cx="2627501" cy="2627501"/>
        </a:xfrm>
        <a:prstGeom prst="ellipse">
          <a:avLst/>
        </a:prstGeom>
        <a:solidFill>
          <a:schemeClr val="accent5">
            <a:hueOff val="-6622584"/>
            <a:satOff val="26541"/>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22206D4-F977-4EB9-A5C7-AE91551E8AD8}">
      <dsp:nvSpPr>
        <dsp:cNvPr id="0" name=""/>
        <dsp:cNvSpPr/>
      </dsp:nvSpPr>
      <dsp:spPr>
        <a:xfrm>
          <a:off x="2424051" y="2277678"/>
          <a:ext cx="1576500" cy="1576500"/>
        </a:xfrm>
        <a:prstGeom prst="ellipse">
          <a:avLst/>
        </a:prstGeom>
        <a:solidFill>
          <a:schemeClr val="accent5">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73B736C-A88D-4304-9615-141141289615}">
      <dsp:nvSpPr>
        <dsp:cNvPr id="0" name=""/>
        <dsp:cNvSpPr/>
      </dsp:nvSpPr>
      <dsp:spPr>
        <a:xfrm>
          <a:off x="2949552" y="2803179"/>
          <a:ext cx="525500" cy="525500"/>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42250C-886C-44FC-AB39-9B00F981F1A5}">
      <dsp:nvSpPr>
        <dsp:cNvPr id="0" name=""/>
        <dsp:cNvSpPr/>
      </dsp:nvSpPr>
      <dsp:spPr>
        <a:xfrm>
          <a:off x="5665045" y="0"/>
          <a:ext cx="1839557" cy="879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24130" rIns="24130" bIns="24130" numCol="1" spcCol="1270" anchor="ctr" anchorCtr="0">
          <a:noAutofit/>
        </a:bodyPr>
        <a:lstStyle/>
        <a:p>
          <a:pPr marL="0" lvl="0" indent="0" algn="l" defTabSz="844550">
            <a:lnSpc>
              <a:spcPct val="90000"/>
            </a:lnSpc>
            <a:spcBef>
              <a:spcPct val="0"/>
            </a:spcBef>
            <a:spcAft>
              <a:spcPct val="35000"/>
            </a:spcAft>
            <a:buNone/>
          </a:pPr>
          <a:r>
            <a:rPr lang="en-US" sz="1900" kern="1200"/>
            <a:t>Tariff Reclassification</a:t>
          </a:r>
          <a:endParaRPr lang="en-IN" sz="1900" kern="1200"/>
        </a:p>
      </dsp:txBody>
      <dsp:txXfrm>
        <a:off x="5665045" y="0"/>
        <a:ext cx="1839557" cy="879921"/>
      </dsp:txXfrm>
    </dsp:sp>
    <dsp:sp modelId="{D986CD0E-031B-42C0-839D-0EF99DAE1B13}">
      <dsp:nvSpPr>
        <dsp:cNvPr id="0" name=""/>
        <dsp:cNvSpPr/>
      </dsp:nvSpPr>
      <dsp:spPr>
        <a:xfrm>
          <a:off x="5205156" y="439960"/>
          <a:ext cx="459889" cy="0"/>
        </a:xfrm>
        <a:prstGeom prst="line">
          <a:avLst/>
        </a:prstGeom>
        <a:solidFill>
          <a:schemeClr val="accent5">
            <a:hueOff val="0"/>
            <a:satOff val="0"/>
            <a:lumOff val="0"/>
            <a:alphaOff val="0"/>
          </a:schemeClr>
        </a:solidFill>
        <a:ln w="25400" cap="flat" cmpd="sng" algn="ctr">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D7BF217-764D-490C-90F3-FBCB221C1C09}">
      <dsp:nvSpPr>
        <dsp:cNvPr id="0" name=""/>
        <dsp:cNvSpPr/>
      </dsp:nvSpPr>
      <dsp:spPr>
        <a:xfrm rot="5400000">
          <a:off x="2893445" y="729691"/>
          <a:ext cx="2599908" cy="2023513"/>
        </a:xfrm>
        <a:prstGeom prst="line">
          <a:avLst/>
        </a:prstGeom>
        <a:solidFill>
          <a:schemeClr val="accent5">
            <a:hueOff val="0"/>
            <a:satOff val="0"/>
            <a:lumOff val="0"/>
            <a:alphaOff val="0"/>
          </a:schemeClr>
        </a:solidFill>
        <a:ln w="25400" cap="flat" cmpd="sng" algn="ctr">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99A766A-57EF-4974-876A-582DD0A6EE3B}">
      <dsp:nvSpPr>
        <dsp:cNvPr id="0" name=""/>
        <dsp:cNvSpPr/>
      </dsp:nvSpPr>
      <dsp:spPr>
        <a:xfrm>
          <a:off x="5665045" y="879921"/>
          <a:ext cx="1839557" cy="879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24130" rIns="24130" bIns="24130" numCol="1" spcCol="1270" anchor="ctr" anchorCtr="0">
          <a:noAutofit/>
        </a:bodyPr>
        <a:lstStyle/>
        <a:p>
          <a:pPr marL="0" lvl="0" indent="0" algn="l" defTabSz="844550">
            <a:lnSpc>
              <a:spcPct val="90000"/>
            </a:lnSpc>
            <a:spcBef>
              <a:spcPct val="0"/>
            </a:spcBef>
            <a:spcAft>
              <a:spcPct val="35000"/>
            </a:spcAft>
            <a:buNone/>
          </a:pPr>
          <a:r>
            <a:rPr lang="en-US" sz="1900" kern="1200"/>
            <a:t>Integrated Programme on Commodities</a:t>
          </a:r>
          <a:endParaRPr lang="en-IN" sz="1900" kern="1200"/>
        </a:p>
      </dsp:txBody>
      <dsp:txXfrm>
        <a:off x="5665045" y="879921"/>
        <a:ext cx="1839557" cy="879921"/>
      </dsp:txXfrm>
    </dsp:sp>
    <dsp:sp modelId="{05E7C676-8CDD-4390-98B6-C0BA59402032}">
      <dsp:nvSpPr>
        <dsp:cNvPr id="0" name=""/>
        <dsp:cNvSpPr/>
      </dsp:nvSpPr>
      <dsp:spPr>
        <a:xfrm>
          <a:off x="5205156" y="1319882"/>
          <a:ext cx="459889" cy="0"/>
        </a:xfrm>
        <a:prstGeom prst="line">
          <a:avLst/>
        </a:prstGeom>
        <a:solidFill>
          <a:schemeClr val="accent5">
            <a:hueOff val="0"/>
            <a:satOff val="0"/>
            <a:lumOff val="0"/>
            <a:alphaOff val="0"/>
          </a:schemeClr>
        </a:solidFill>
        <a:ln w="25400" cap="flat" cmpd="sng" algn="ctr">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DFB78EA-1212-4DD8-9A56-D0E970FF386C}">
      <dsp:nvSpPr>
        <dsp:cNvPr id="0" name=""/>
        <dsp:cNvSpPr/>
      </dsp:nvSpPr>
      <dsp:spPr>
        <a:xfrm rot="5400000">
          <a:off x="3343524" y="1595203"/>
          <a:ext cx="2135113" cy="1585085"/>
        </a:xfrm>
        <a:prstGeom prst="line">
          <a:avLst/>
        </a:prstGeom>
        <a:solidFill>
          <a:schemeClr val="accent5">
            <a:hueOff val="0"/>
            <a:satOff val="0"/>
            <a:lumOff val="0"/>
            <a:alphaOff val="0"/>
          </a:schemeClr>
        </a:solidFill>
        <a:ln w="25400" cap="flat" cmpd="sng" algn="ctr">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520B2CD-CC00-4F19-AA4E-70E19110173F}">
      <dsp:nvSpPr>
        <dsp:cNvPr id="0" name=""/>
        <dsp:cNvSpPr/>
      </dsp:nvSpPr>
      <dsp:spPr>
        <a:xfrm>
          <a:off x="5665045" y="1759843"/>
          <a:ext cx="1839557" cy="879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24130" rIns="24130" bIns="24130" numCol="1" spcCol="1270" anchor="ctr" anchorCtr="0">
          <a:noAutofit/>
        </a:bodyPr>
        <a:lstStyle/>
        <a:p>
          <a:pPr marL="0" lvl="0" indent="0" algn="l" defTabSz="844550">
            <a:lnSpc>
              <a:spcPct val="90000"/>
            </a:lnSpc>
            <a:spcBef>
              <a:spcPct val="0"/>
            </a:spcBef>
            <a:spcAft>
              <a:spcPct val="35000"/>
            </a:spcAft>
            <a:buNone/>
          </a:pPr>
          <a:r>
            <a:rPr lang="en-US" sz="1900" kern="1200"/>
            <a:t>Reducing Debt Burden</a:t>
          </a:r>
          <a:endParaRPr lang="en-IN" sz="1900" kern="1200"/>
        </a:p>
      </dsp:txBody>
      <dsp:txXfrm>
        <a:off x="5665045" y="1759843"/>
        <a:ext cx="1839557" cy="879921"/>
      </dsp:txXfrm>
    </dsp:sp>
    <dsp:sp modelId="{F2E7B384-4D13-4EA8-B660-3E27E017DEE1}">
      <dsp:nvSpPr>
        <dsp:cNvPr id="0" name=""/>
        <dsp:cNvSpPr/>
      </dsp:nvSpPr>
      <dsp:spPr>
        <a:xfrm>
          <a:off x="5205156" y="2199804"/>
          <a:ext cx="459889" cy="0"/>
        </a:xfrm>
        <a:prstGeom prst="line">
          <a:avLst/>
        </a:prstGeom>
        <a:solidFill>
          <a:schemeClr val="accent5">
            <a:hueOff val="0"/>
            <a:satOff val="0"/>
            <a:lumOff val="0"/>
            <a:alphaOff val="0"/>
          </a:schemeClr>
        </a:solidFill>
        <a:ln w="25400" cap="flat" cmpd="sng" algn="ctr">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4AF7EEF-3935-43D6-A02A-0788EC024188}">
      <dsp:nvSpPr>
        <dsp:cNvPr id="0" name=""/>
        <dsp:cNvSpPr/>
      </dsp:nvSpPr>
      <dsp:spPr>
        <a:xfrm rot="5400000">
          <a:off x="3779192" y="2401849"/>
          <a:ext cx="1628621" cy="1223305"/>
        </a:xfrm>
        <a:prstGeom prst="line">
          <a:avLst/>
        </a:prstGeom>
        <a:solidFill>
          <a:schemeClr val="accent5">
            <a:hueOff val="0"/>
            <a:satOff val="0"/>
            <a:lumOff val="0"/>
            <a:alphaOff val="0"/>
          </a:schemeClr>
        </a:solidFill>
        <a:ln w="25400" cap="flat" cmpd="sng" algn="ctr">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A30FBAB-64EF-447C-AEB6-3748998649EE}">
      <dsp:nvSpPr>
        <dsp:cNvPr id="0" name=""/>
        <dsp:cNvSpPr/>
      </dsp:nvSpPr>
      <dsp:spPr>
        <a:xfrm>
          <a:off x="5665045" y="2639765"/>
          <a:ext cx="1839557" cy="879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24130" rIns="24130" bIns="24130" numCol="1" spcCol="1270" anchor="ctr" anchorCtr="0">
          <a:noAutofit/>
        </a:bodyPr>
        <a:lstStyle/>
        <a:p>
          <a:pPr marL="0" lvl="0" indent="0" algn="l" defTabSz="844550">
            <a:lnSpc>
              <a:spcPct val="90000"/>
            </a:lnSpc>
            <a:spcBef>
              <a:spcPct val="0"/>
            </a:spcBef>
            <a:spcAft>
              <a:spcPct val="35000"/>
            </a:spcAft>
            <a:buNone/>
          </a:pPr>
          <a:r>
            <a:rPr lang="en-US" sz="1900" kern="1200"/>
            <a:t>Commodity Development Facility</a:t>
          </a:r>
          <a:endParaRPr lang="en-IN" sz="1900" kern="1200"/>
        </a:p>
      </dsp:txBody>
      <dsp:txXfrm>
        <a:off x="5665045" y="2639765"/>
        <a:ext cx="1839557" cy="879921"/>
      </dsp:txXfrm>
    </dsp:sp>
    <dsp:sp modelId="{26A04E7E-5A2C-4A15-B02C-F4AF386E6A0F}">
      <dsp:nvSpPr>
        <dsp:cNvPr id="0" name=""/>
        <dsp:cNvSpPr/>
      </dsp:nvSpPr>
      <dsp:spPr>
        <a:xfrm>
          <a:off x="5205156" y="3079726"/>
          <a:ext cx="459889" cy="0"/>
        </a:xfrm>
        <a:prstGeom prst="line">
          <a:avLst/>
        </a:prstGeom>
        <a:solidFill>
          <a:schemeClr val="accent5">
            <a:hueOff val="0"/>
            <a:satOff val="0"/>
            <a:lumOff val="0"/>
            <a:alphaOff val="0"/>
          </a:schemeClr>
        </a:solidFill>
        <a:ln w="25400" cap="flat" cmpd="sng" algn="ctr">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C9677A7-95FA-495B-8DB2-87056B11DBC5}">
      <dsp:nvSpPr>
        <dsp:cNvPr id="0" name=""/>
        <dsp:cNvSpPr/>
      </dsp:nvSpPr>
      <dsp:spPr>
        <a:xfrm rot="5400000">
          <a:off x="4215903" y="3211683"/>
          <a:ext cx="1119432" cy="854781"/>
        </a:xfrm>
        <a:prstGeom prst="line">
          <a:avLst/>
        </a:prstGeom>
        <a:solidFill>
          <a:schemeClr val="accent5">
            <a:hueOff val="0"/>
            <a:satOff val="0"/>
            <a:lumOff val="0"/>
            <a:alphaOff val="0"/>
          </a:schemeClr>
        </a:solidFill>
        <a:ln w="25400" cap="flat" cmpd="sng" algn="ctr">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rot="90" type="line" r:blip="">
              <dgm:adjLst/>
            </dgm:shape>
          </dgm:if>
          <dgm:else name="Name34">
            <dgm:shape xmlns:r="http://schemas.openxmlformats.org/officeDocument/2006/relationships" rot="180" type="line" r:blip="">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rot="90" type="line" r:blip="">
              <dgm:adjLst/>
            </dgm:shape>
          </dgm:if>
          <dgm:else name="Name50">
            <dgm:shape xmlns:r="http://schemas.openxmlformats.org/officeDocument/2006/relationships" rot="180" type="line" r:blip="">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rot="90" type="line" r:blip="">
              <dgm:adjLst/>
            </dgm:shape>
          </dgm:if>
          <dgm:else name="Name66">
            <dgm:shape xmlns:r="http://schemas.openxmlformats.org/officeDocument/2006/relationships" rot="180" type="line" r:blip="">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rot="90" type="line" r:blip="">
              <dgm:adjLst/>
            </dgm:shape>
          </dgm:if>
          <dgm:else name="Name82">
            <dgm:shape xmlns:r="http://schemas.openxmlformats.org/officeDocument/2006/relationships" rot="180" type="line" r:blip="">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rot="90" type="line" r:blip="">
              <dgm:adjLst/>
            </dgm:shape>
          </dgm:if>
          <dgm:else name="Name98">
            <dgm:shape xmlns:r="http://schemas.openxmlformats.org/officeDocument/2006/relationships" rot="180" type="line" r:blip="">
              <dgm:adjLst/>
            </dgm:shape>
          </dgm:else>
        </dgm:choos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CF9A3035-2B5C-4D33-89FD-1EEE4C5C3F52}" type="datetimeFigureOut">
              <a:rPr lang="en-IN" smtClean="0"/>
              <a:pPr/>
              <a:t>01-09-2025</a:t>
            </a:fld>
            <a:endParaRPr lang="en-IN"/>
          </a:p>
        </p:txBody>
      </p:sp>
      <p:sp>
        <p:nvSpPr>
          <p:cNvPr id="4" name="Slide Image Placeholder 3"/>
          <p:cNvSpPr>
            <a:spLocks noGrp="1" noRot="1" noChangeAspect="1"/>
          </p:cNvSpPr>
          <p:nvPr>
            <p:ph type="sldImg" idx="2"/>
          </p:nvPr>
        </p:nvSpPr>
        <p:spPr>
          <a:xfrm>
            <a:off x="1106488" y="801688"/>
            <a:ext cx="5346700" cy="40100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ECBC7D61-77AE-402C-8842-740617525158}" type="slidenum">
              <a:rPr lang="en-IN" smtClean="0"/>
              <a:pPr/>
              <a:t>‹#›</a:t>
            </a:fld>
            <a:endParaRPr lang="en-IN"/>
          </a:p>
        </p:txBody>
      </p:sp>
    </p:spTree>
    <p:extLst>
      <p:ext uri="{BB962C8B-B14F-4D97-AF65-F5344CB8AC3E}">
        <p14:creationId xmlns:p14="http://schemas.microsoft.com/office/powerpoint/2010/main" val="3656460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6244" y="2348401"/>
            <a:ext cx="8568137" cy="1620430"/>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512488" y="4283816"/>
            <a:ext cx="7055650" cy="1931917"/>
          </a:xfrm>
          <a:prstGeom prst="rect">
            <a:avLst/>
          </a:prstGeom>
        </p:spPr>
        <p:txBody>
          <a:bodyPr/>
          <a:lstStyle>
            <a:lvl1pPr marL="0" indent="0" algn="ctr">
              <a:buNone/>
              <a:defRPr>
                <a:solidFill>
                  <a:schemeClr val="tx1">
                    <a:tint val="75000"/>
                  </a:schemeClr>
                </a:solidFill>
              </a:defRPr>
            </a:lvl1pPr>
            <a:lvl2pPr marL="378104" indent="0" algn="ctr">
              <a:buNone/>
              <a:defRPr>
                <a:solidFill>
                  <a:schemeClr val="tx1">
                    <a:tint val="75000"/>
                  </a:schemeClr>
                </a:solidFill>
              </a:defRPr>
            </a:lvl2pPr>
            <a:lvl3pPr marL="756209" indent="0" algn="ctr">
              <a:buNone/>
              <a:defRPr>
                <a:solidFill>
                  <a:schemeClr val="tx1">
                    <a:tint val="75000"/>
                  </a:schemeClr>
                </a:solidFill>
              </a:defRPr>
            </a:lvl3pPr>
            <a:lvl4pPr marL="1134313" indent="0" algn="ctr">
              <a:buNone/>
              <a:defRPr>
                <a:solidFill>
                  <a:schemeClr val="tx1">
                    <a:tint val="75000"/>
                  </a:schemeClr>
                </a:solidFill>
              </a:defRPr>
            </a:lvl4pPr>
            <a:lvl5pPr marL="1512418" indent="0" algn="ctr">
              <a:buNone/>
              <a:defRPr>
                <a:solidFill>
                  <a:schemeClr val="tx1">
                    <a:tint val="75000"/>
                  </a:schemeClr>
                </a:solidFill>
              </a:defRPr>
            </a:lvl5pPr>
            <a:lvl6pPr marL="1890522" indent="0" algn="ctr">
              <a:buNone/>
              <a:defRPr>
                <a:solidFill>
                  <a:schemeClr val="tx1">
                    <a:tint val="75000"/>
                  </a:schemeClr>
                </a:solidFill>
              </a:defRPr>
            </a:lvl6pPr>
            <a:lvl7pPr marL="2268626" indent="0" algn="ctr">
              <a:buNone/>
              <a:defRPr>
                <a:solidFill>
                  <a:schemeClr val="tx1">
                    <a:tint val="75000"/>
                  </a:schemeClr>
                </a:solidFill>
              </a:defRPr>
            </a:lvl7pPr>
            <a:lvl8pPr marL="2646731" indent="0" algn="ctr">
              <a:buNone/>
              <a:defRPr>
                <a:solidFill>
                  <a:schemeClr val="tx1">
                    <a:tint val="75000"/>
                  </a:schemeClr>
                </a:solidFill>
              </a:defRPr>
            </a:lvl8pPr>
            <a:lvl9pPr marL="302483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defTabSz="756209"/>
            <a:fld id="{585B8C8C-3877-4992-85E3-14BF5F90157E}" type="datetime3">
              <a:rPr lang="en-US" smtClean="0"/>
              <a:t>1 September 2025</a:t>
            </a:fld>
            <a:endParaRPr lang="en-US"/>
          </a:p>
        </p:txBody>
      </p:sp>
      <p:sp>
        <p:nvSpPr>
          <p:cNvPr id="5" name="Footer Placeholder 4"/>
          <p:cNvSpPr>
            <a:spLocks noGrp="1"/>
          </p:cNvSpPr>
          <p:nvPr>
            <p:ph type="ftr" sz="quarter" idx="11"/>
          </p:nvPr>
        </p:nvSpPr>
        <p:spPr/>
        <p:txBody>
          <a:bodyPr/>
          <a:lstStyle/>
          <a:p>
            <a:pPr defTabSz="756209"/>
            <a:r>
              <a:rPr lang="en-US"/>
              <a:t>Dr. Vasanthi  Reena Williams  Prof. Department of MBA, VVIET, Mysuru</a:t>
            </a:r>
          </a:p>
        </p:txBody>
      </p:sp>
      <p:sp>
        <p:nvSpPr>
          <p:cNvPr id="6" name="Slide Number Placeholder 5"/>
          <p:cNvSpPr>
            <a:spLocks noGrp="1"/>
          </p:cNvSpPr>
          <p:nvPr>
            <p:ph type="sldNum" sz="quarter" idx="12"/>
          </p:nvPr>
        </p:nvSpPr>
        <p:spPr/>
        <p:txBody>
          <a:bodyPr/>
          <a:lstStyle/>
          <a:p>
            <a:pPr defTabSz="756209"/>
            <a:fld id="{B6F15528-21DE-4FAA-801E-634DDDAF4B2B}" type="slidenum">
              <a:rPr lang="en-US" smtClean="0"/>
              <a:pPr defTabSz="756209"/>
              <a:t>‹#›</a:t>
            </a:fld>
            <a:endParaRPr lang="en-US"/>
          </a:p>
        </p:txBody>
      </p:sp>
    </p:spTree>
    <p:extLst>
      <p:ext uri="{BB962C8B-B14F-4D97-AF65-F5344CB8AC3E}">
        <p14:creationId xmlns:p14="http://schemas.microsoft.com/office/powerpoint/2010/main" val="2732775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0" name="Title 9"/>
          <p:cNvSpPr>
            <a:spLocks noGrp="1"/>
          </p:cNvSpPr>
          <p:nvPr>
            <p:ph type="title"/>
          </p:nvPr>
        </p:nvSpPr>
        <p:spPr>
          <a:xfrm>
            <a:off x="504163" y="302737"/>
            <a:ext cx="9072300" cy="1259946"/>
          </a:xfrm>
          <a:prstGeom prst="rect">
            <a:avLst/>
          </a:prstGeom>
        </p:spPr>
        <p:txBody>
          <a:bodyPr/>
          <a:lstStyle/>
          <a:p>
            <a:r>
              <a:rPr lang="en-US"/>
              <a:t>Click to edit Master title style</a:t>
            </a:r>
          </a:p>
        </p:txBody>
      </p:sp>
      <p:sp>
        <p:nvSpPr>
          <p:cNvPr id="11" name="Date Placeholder 10"/>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12" name="Slide Number Placeholder 11"/>
          <p:cNvSpPr>
            <a:spLocks noGrp="1"/>
          </p:cNvSpPr>
          <p:nvPr>
            <p:ph type="sldNum" sz="quarter" idx="11"/>
          </p:nvPr>
        </p:nvSpPr>
        <p:spPr/>
        <p:txBody>
          <a:bodyPr/>
          <a:lstStyle/>
          <a:p>
            <a:pPr defTabSz="756209"/>
            <a:fld id="{B6F15528-21DE-4FAA-801E-634DDDAF4B2B}" type="slidenum">
              <a:rPr lang="en-US" smtClean="0"/>
              <a:pPr defTabSz="756209"/>
              <a:t>‹#›</a:t>
            </a:fld>
            <a:endParaRPr lang="en-US"/>
          </a:p>
        </p:txBody>
      </p:sp>
      <p:sp>
        <p:nvSpPr>
          <p:cNvPr id="13" name="Footer Placeholder 12"/>
          <p:cNvSpPr>
            <a:spLocks noGrp="1"/>
          </p:cNvSpPr>
          <p:nvPr>
            <p:ph type="ftr" sz="quarter" idx="12"/>
          </p:nvPr>
        </p:nvSpPr>
        <p:spPr/>
        <p:txBody>
          <a:bodyPr/>
          <a:lstStyle/>
          <a:p>
            <a:pPr defTabSz="756209"/>
            <a:r>
              <a:rPr lang="en-US"/>
              <a:t>Dr. Vasanthi  Reena Williams  Prof. Department of MBA, VVIET, Mysuru</a:t>
            </a:r>
          </a:p>
        </p:txBody>
      </p:sp>
    </p:spTree>
    <p:extLst>
      <p:ext uri="{BB962C8B-B14F-4D97-AF65-F5344CB8AC3E}">
        <p14:creationId xmlns:p14="http://schemas.microsoft.com/office/powerpoint/2010/main" val="3995219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65870" y="1427939"/>
            <a:ext cx="9072300" cy="125994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pPr defTabSz="756209"/>
            <a:fld id="{0420B8FD-D4AD-4A41-95EA-81787BFACB69}" type="datetime3">
              <a:rPr lang="en-US" smtClean="0"/>
              <a:t>1 September 2025</a:t>
            </a:fld>
            <a:endParaRPr lang="en-US"/>
          </a:p>
        </p:txBody>
      </p:sp>
      <p:sp>
        <p:nvSpPr>
          <p:cNvPr id="4" name="Footer Placeholder 3"/>
          <p:cNvSpPr>
            <a:spLocks noGrp="1"/>
          </p:cNvSpPr>
          <p:nvPr>
            <p:ph type="ftr" sz="quarter" idx="11"/>
          </p:nvPr>
        </p:nvSpPr>
        <p:spPr/>
        <p:txBody>
          <a:bodyPr/>
          <a:lstStyle/>
          <a:p>
            <a:pPr defTabSz="756209"/>
            <a:r>
              <a:rPr lang="en-US"/>
              <a:t>Dr. Vasanthi  Reena Williams  Prof. Department of MBA, VVIET, Mysuru</a:t>
            </a:r>
          </a:p>
        </p:txBody>
      </p:sp>
      <p:sp>
        <p:nvSpPr>
          <p:cNvPr id="5" name="Slide Number Placeholder 4"/>
          <p:cNvSpPr>
            <a:spLocks noGrp="1"/>
          </p:cNvSpPr>
          <p:nvPr>
            <p:ph type="sldNum" sz="quarter" idx="12"/>
          </p:nvPr>
        </p:nvSpPr>
        <p:spPr/>
        <p:txBody>
          <a:bodyPr/>
          <a:lstStyle/>
          <a:p>
            <a:pPr defTabSz="756209"/>
            <a:fld id="{B6F15528-21DE-4FAA-801E-634DDDAF4B2B}" type="slidenum">
              <a:rPr lang="en-US" smtClean="0"/>
              <a:pPr defTabSz="756209"/>
              <a:t>‹#›</a:t>
            </a:fld>
            <a:endParaRPr lang="en-US"/>
          </a:p>
        </p:txBody>
      </p:sp>
      <p:sp>
        <p:nvSpPr>
          <p:cNvPr id="7" name="Text Placeholder 6"/>
          <p:cNvSpPr>
            <a:spLocks noGrp="1"/>
          </p:cNvSpPr>
          <p:nvPr>
            <p:ph type="body" sz="quarter" idx="13"/>
          </p:nvPr>
        </p:nvSpPr>
        <p:spPr>
          <a:xfrm>
            <a:off x="9073613" y="1091953"/>
            <a:ext cx="756244" cy="1007957"/>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34251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504031" y="7006701"/>
            <a:ext cx="2352146" cy="402483"/>
          </a:xfrm>
          <a:prstGeom prst="rect">
            <a:avLst/>
          </a:prstGeom>
        </p:spPr>
        <p:txBody>
          <a:bodyPr vert="horz" lIns="91440" tIns="45720" rIns="91440" bIns="45720" rtlCol="0" anchor="ctr"/>
          <a:lstStyle>
            <a:lvl1pPr algn="l">
              <a:defRPr sz="992">
                <a:solidFill>
                  <a:srgbClr val="002060"/>
                </a:solidFill>
                <a:latin typeface="Cambria" pitchFamily="18" charset="0"/>
              </a:defRPr>
            </a:lvl1pPr>
          </a:lstStyle>
          <a:p>
            <a:pPr defTabSz="756209"/>
            <a:fld id="{6D9E5F16-11D2-4834-8A13-8E53B6D35C7D}" type="datetime3">
              <a:rPr lang="en-US" smtClean="0"/>
              <a:t>1 September 2025</a:t>
            </a:fld>
            <a:endParaRPr lang="en-US"/>
          </a:p>
        </p:txBody>
      </p:sp>
      <p:sp>
        <p:nvSpPr>
          <p:cNvPr id="5" name="Footer Placeholder 4"/>
          <p:cNvSpPr>
            <a:spLocks noGrp="1"/>
          </p:cNvSpPr>
          <p:nvPr>
            <p:ph type="ftr" sz="quarter" idx="3"/>
          </p:nvPr>
        </p:nvSpPr>
        <p:spPr>
          <a:xfrm>
            <a:off x="3444214" y="7006701"/>
            <a:ext cx="3192198" cy="402483"/>
          </a:xfrm>
          <a:prstGeom prst="rect">
            <a:avLst/>
          </a:prstGeom>
        </p:spPr>
        <p:txBody>
          <a:bodyPr vert="horz" lIns="91440" tIns="45720" rIns="91440" bIns="45720" rtlCol="0" anchor="ctr"/>
          <a:lstStyle>
            <a:lvl1pPr algn="ctr">
              <a:defRPr sz="992">
                <a:solidFill>
                  <a:srgbClr val="002060"/>
                </a:solidFill>
                <a:latin typeface="Cambria" pitchFamily="18" charset="0"/>
              </a:defRPr>
            </a:lvl1pPr>
          </a:lstStyle>
          <a:p>
            <a:pPr defTabSz="756209"/>
            <a:r>
              <a:rPr lang="en-US"/>
              <a:t>Dr. Vasanthi  Reena Williams  Prof. Department of MBA, VVIET, Mysuru</a:t>
            </a:r>
          </a:p>
        </p:txBody>
      </p:sp>
      <p:sp>
        <p:nvSpPr>
          <p:cNvPr id="6" name="Slide Number Placeholder 5"/>
          <p:cNvSpPr>
            <a:spLocks noGrp="1"/>
          </p:cNvSpPr>
          <p:nvPr>
            <p:ph type="sldNum" sz="quarter" idx="4"/>
          </p:nvPr>
        </p:nvSpPr>
        <p:spPr>
          <a:xfrm>
            <a:off x="7224449" y="7006701"/>
            <a:ext cx="2352146" cy="402483"/>
          </a:xfrm>
          <a:prstGeom prst="rect">
            <a:avLst/>
          </a:prstGeom>
        </p:spPr>
        <p:txBody>
          <a:bodyPr vert="horz" lIns="91440" tIns="45720" rIns="91440" bIns="45720" rtlCol="0" anchor="ctr"/>
          <a:lstStyle>
            <a:lvl1pPr algn="r">
              <a:defRPr sz="992">
                <a:solidFill>
                  <a:srgbClr val="002060"/>
                </a:solidFill>
                <a:latin typeface="Cambria" pitchFamily="18" charset="0"/>
              </a:defRPr>
            </a:lvl1pPr>
          </a:lstStyle>
          <a:p>
            <a:pPr defTabSz="756209"/>
            <a:fld id="{B6F15528-21DE-4FAA-801E-634DDDAF4B2B}" type="slidenum">
              <a:rPr lang="en-US" smtClean="0"/>
              <a:pPr defTabSz="756209"/>
              <a:t>‹#›</a:t>
            </a:fld>
            <a:endParaRPr lang="en-US"/>
          </a:p>
        </p:txBody>
      </p:sp>
      <p:sp>
        <p:nvSpPr>
          <p:cNvPr id="7" name="Rectangle 6"/>
          <p:cNvSpPr/>
          <p:nvPr/>
        </p:nvSpPr>
        <p:spPr>
          <a:xfrm>
            <a:off x="1070033" y="0"/>
            <a:ext cx="6942318" cy="1028116"/>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56209" rtl="0" eaLnBrk="1" fontAlgn="auto" latinLnBrk="0" hangingPunct="1">
              <a:lnSpc>
                <a:spcPct val="100000"/>
              </a:lnSpc>
              <a:spcBef>
                <a:spcPts val="0"/>
              </a:spcBef>
              <a:spcAft>
                <a:spcPts val="0"/>
              </a:spcAft>
              <a:buClrTx/>
              <a:buSzTx/>
              <a:buFontTx/>
              <a:buNone/>
              <a:tabLst/>
              <a:defRPr/>
            </a:pPr>
            <a:endParaRPr kumimoji="0" lang="en-US" sz="1489" b="0" i="0" u="none" strike="noStrike" kern="1200" cap="none" spc="0" normalizeH="0" baseline="0" noProof="0">
              <a:ln>
                <a:noFill/>
              </a:ln>
              <a:solidFill>
                <a:prstClr val="white"/>
              </a:solidFill>
              <a:effectLst/>
              <a:uLnTx/>
              <a:uFillTx/>
              <a:latin typeface="Book Antiqua"/>
              <a:ea typeface="+mn-ea"/>
              <a:cs typeface="+mn-cs"/>
            </a:endParaRPr>
          </a:p>
        </p:txBody>
      </p:sp>
      <p:pic>
        <p:nvPicPr>
          <p:cNvPr id="8"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022" y="2"/>
            <a:ext cx="943991" cy="98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5450" y="1095752"/>
            <a:ext cx="10083250" cy="50397"/>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56209" rtl="0" eaLnBrk="1" fontAlgn="auto" latinLnBrk="0" hangingPunct="1">
              <a:lnSpc>
                <a:spcPct val="100000"/>
              </a:lnSpc>
              <a:spcBef>
                <a:spcPts val="0"/>
              </a:spcBef>
              <a:spcAft>
                <a:spcPts val="0"/>
              </a:spcAft>
              <a:buClrTx/>
              <a:buSzTx/>
              <a:buFontTx/>
              <a:buNone/>
              <a:tabLst/>
              <a:defRPr/>
            </a:pPr>
            <a:endParaRPr kumimoji="0" lang="en-IN" sz="1489" b="0" i="0" u="none" strike="noStrike" kern="1200" cap="none" spc="0" normalizeH="0" baseline="0" noProof="0">
              <a:ln>
                <a:noFill/>
              </a:ln>
              <a:solidFill>
                <a:prstClr val="white"/>
              </a:solidFill>
              <a:effectLst/>
              <a:uLnTx/>
              <a:uFillTx/>
              <a:latin typeface="Book Antiqua"/>
              <a:ea typeface="+mn-ea"/>
              <a:cs typeface="+mn-cs"/>
            </a:endParaRPr>
          </a:p>
        </p:txBody>
      </p:sp>
      <p:sp>
        <p:nvSpPr>
          <p:cNvPr id="10" name="TextBox 9"/>
          <p:cNvSpPr txBox="1"/>
          <p:nvPr/>
        </p:nvSpPr>
        <p:spPr>
          <a:xfrm>
            <a:off x="7995552" y="1"/>
            <a:ext cx="2085073" cy="703078"/>
          </a:xfrm>
          <a:prstGeom prst="rect">
            <a:avLst/>
          </a:prstGeom>
          <a:noFill/>
        </p:spPr>
        <p:txBody>
          <a:bodyPr wrap="square" rtlCol="0">
            <a:spAutoFit/>
          </a:bodyPr>
          <a:lstStyle/>
          <a:p>
            <a:pPr marL="0" marR="0" lvl="0" indent="0" algn="l" defTabSz="756209" rtl="0" eaLnBrk="1" fontAlgn="auto" latinLnBrk="0" hangingPunct="1">
              <a:lnSpc>
                <a:spcPct val="100000"/>
              </a:lnSpc>
              <a:spcBef>
                <a:spcPts val="0"/>
              </a:spcBef>
              <a:spcAft>
                <a:spcPts val="0"/>
              </a:spcAft>
              <a:buClrTx/>
              <a:buSzTx/>
              <a:buFontTx/>
              <a:buNone/>
              <a:tabLst/>
              <a:defRPr/>
            </a:pPr>
            <a:r>
              <a:rPr kumimoji="0" lang="en-IN" sz="1323" b="0" i="0" u="none" strike="noStrike" kern="1200" cap="none" spc="0" normalizeH="0" baseline="0" noProof="0" dirty="0">
                <a:ln>
                  <a:noFill/>
                </a:ln>
                <a:solidFill>
                  <a:srgbClr val="002060"/>
                </a:solidFill>
                <a:effectLst/>
                <a:uLnTx/>
                <a:uFillTx/>
                <a:latin typeface="Cambria" pitchFamily="18" charset="0"/>
                <a:ea typeface="Cambria" pitchFamily="18" charset="0"/>
                <a:cs typeface="Arial" panose="020B0604020202020204" pitchFamily="34" charset="0"/>
              </a:rPr>
              <a:t>VIDYA VIKAS INSTITUTE OF ENGINEERING &amp; TECHNOLOGY</a:t>
            </a:r>
          </a:p>
        </p:txBody>
      </p:sp>
      <p:sp>
        <p:nvSpPr>
          <p:cNvPr id="11" name="Rectangle 10"/>
          <p:cNvSpPr/>
          <p:nvPr/>
        </p:nvSpPr>
        <p:spPr>
          <a:xfrm>
            <a:off x="-3114" y="1199330"/>
            <a:ext cx="10083250" cy="131415"/>
          </a:xfrm>
          <a:prstGeom prst="rect">
            <a:avLst/>
          </a:prstGeom>
          <a:solidFill>
            <a:srgbClr val="D60093"/>
          </a:solidFill>
        </p:spPr>
        <p:txBody>
          <a:bodyPr wrap="square" lIns="0" tIns="0" rIns="0" bIns="0" rtlCol="0"/>
          <a:lstStyle/>
          <a:p>
            <a:pPr marL="0" marR="0" lvl="0" indent="0" algn="l" defTabSz="756209" rtl="0" eaLnBrk="1" fontAlgn="auto" latinLnBrk="0" hangingPunct="1">
              <a:lnSpc>
                <a:spcPct val="100000"/>
              </a:lnSpc>
              <a:spcBef>
                <a:spcPts val="0"/>
              </a:spcBef>
              <a:spcAft>
                <a:spcPts val="0"/>
              </a:spcAft>
              <a:buClrTx/>
              <a:buSzTx/>
              <a:buFontTx/>
              <a:buNone/>
              <a:tabLst/>
              <a:defRPr/>
            </a:pPr>
            <a:endParaRPr kumimoji="0" lang="en-IN" sz="1489" b="0" i="0" u="none" strike="noStrike" kern="1200" cap="none" spc="0" normalizeH="0" baseline="0" noProof="0">
              <a:ln>
                <a:noFill/>
              </a:ln>
              <a:solidFill>
                <a:prstClr val="black"/>
              </a:solidFill>
              <a:effectLst/>
              <a:uLnTx/>
              <a:uFillTx/>
              <a:latin typeface="Book Antiqua"/>
              <a:ea typeface="+mn-ea"/>
              <a:cs typeface="+mn-cs"/>
            </a:endParaRPr>
          </a:p>
        </p:txBody>
      </p:sp>
    </p:spTree>
    <p:extLst>
      <p:ext uri="{BB962C8B-B14F-4D97-AF65-F5344CB8AC3E}">
        <p14:creationId xmlns:p14="http://schemas.microsoft.com/office/powerpoint/2010/main" val="659781482"/>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Lst>
  <p:hf hdr="0"/>
  <p:txStyles>
    <p:titleStyle>
      <a:lvl1pPr algn="ctr" defTabSz="756209" rtl="0" eaLnBrk="1" latinLnBrk="0" hangingPunct="1">
        <a:spcBef>
          <a:spcPct val="0"/>
        </a:spcBef>
        <a:buNone/>
        <a:defRPr sz="3639" kern="1200">
          <a:solidFill>
            <a:schemeClr val="tx1"/>
          </a:solidFill>
          <a:latin typeface="+mj-lt"/>
          <a:ea typeface="+mj-ea"/>
          <a:cs typeface="+mj-cs"/>
        </a:defRPr>
      </a:lvl1pPr>
    </p:titleStyle>
    <p:bodyStyle>
      <a:lvl1pPr marL="283578" indent="-283578" algn="l" defTabSz="756209" rtl="0" eaLnBrk="1" latinLnBrk="0" hangingPunct="1">
        <a:spcBef>
          <a:spcPct val="20000"/>
        </a:spcBef>
        <a:buFont typeface="Arial" pitchFamily="34" charset="0"/>
        <a:buChar char="•"/>
        <a:defRPr sz="2646" kern="1200">
          <a:solidFill>
            <a:schemeClr val="tx1"/>
          </a:solidFill>
          <a:latin typeface="+mn-lt"/>
          <a:ea typeface="+mn-ea"/>
          <a:cs typeface="+mn-cs"/>
        </a:defRPr>
      </a:lvl1pPr>
      <a:lvl2pPr marL="614420" indent="-236315" algn="l" defTabSz="756209" rtl="0" eaLnBrk="1" latinLnBrk="0" hangingPunct="1">
        <a:spcBef>
          <a:spcPct val="20000"/>
        </a:spcBef>
        <a:buFont typeface="Arial" pitchFamily="34" charset="0"/>
        <a:buChar char="–"/>
        <a:defRPr sz="2316" kern="1200">
          <a:solidFill>
            <a:schemeClr val="tx1"/>
          </a:solidFill>
          <a:latin typeface="+mn-lt"/>
          <a:ea typeface="+mn-ea"/>
          <a:cs typeface="+mn-cs"/>
        </a:defRPr>
      </a:lvl2pPr>
      <a:lvl3pPr marL="945261" indent="-189052" algn="l" defTabSz="756209" rtl="0" eaLnBrk="1" latinLnBrk="0" hangingPunct="1">
        <a:spcBef>
          <a:spcPct val="20000"/>
        </a:spcBef>
        <a:buFont typeface="Arial" pitchFamily="34" charset="0"/>
        <a:buChar char="•"/>
        <a:defRPr sz="1985" kern="1200">
          <a:solidFill>
            <a:schemeClr val="tx1"/>
          </a:solidFill>
          <a:latin typeface="+mn-lt"/>
          <a:ea typeface="+mn-ea"/>
          <a:cs typeface="+mn-cs"/>
        </a:defRPr>
      </a:lvl3pPr>
      <a:lvl4pPr marL="1323365"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4pPr>
      <a:lvl5pPr marL="1701470"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5pPr>
      <a:lvl6pPr marL="2079574"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6pPr>
      <a:lvl7pPr marL="2457679"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7pPr>
      <a:lvl8pPr marL="2835783"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8pPr>
      <a:lvl9pPr marL="3213887"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9pPr>
    </p:bodyStyle>
    <p:otherStyle>
      <a:defPPr>
        <a:defRPr lang="en-US"/>
      </a:defPPr>
      <a:lvl1pPr marL="0" algn="l" defTabSz="756209" rtl="0" eaLnBrk="1" latinLnBrk="0" hangingPunct="1">
        <a:defRPr sz="1489" kern="1200">
          <a:solidFill>
            <a:schemeClr val="tx1"/>
          </a:solidFill>
          <a:latin typeface="+mn-lt"/>
          <a:ea typeface="+mn-ea"/>
          <a:cs typeface="+mn-cs"/>
        </a:defRPr>
      </a:lvl1pPr>
      <a:lvl2pPr marL="378104" algn="l" defTabSz="756209" rtl="0" eaLnBrk="1" latinLnBrk="0" hangingPunct="1">
        <a:defRPr sz="1489" kern="1200">
          <a:solidFill>
            <a:schemeClr val="tx1"/>
          </a:solidFill>
          <a:latin typeface="+mn-lt"/>
          <a:ea typeface="+mn-ea"/>
          <a:cs typeface="+mn-cs"/>
        </a:defRPr>
      </a:lvl2pPr>
      <a:lvl3pPr marL="756209" algn="l" defTabSz="756209" rtl="0" eaLnBrk="1" latinLnBrk="0" hangingPunct="1">
        <a:defRPr sz="1489" kern="1200">
          <a:solidFill>
            <a:schemeClr val="tx1"/>
          </a:solidFill>
          <a:latin typeface="+mn-lt"/>
          <a:ea typeface="+mn-ea"/>
          <a:cs typeface="+mn-cs"/>
        </a:defRPr>
      </a:lvl3pPr>
      <a:lvl4pPr marL="1134313" algn="l" defTabSz="756209" rtl="0" eaLnBrk="1" latinLnBrk="0" hangingPunct="1">
        <a:defRPr sz="1489" kern="1200">
          <a:solidFill>
            <a:schemeClr val="tx1"/>
          </a:solidFill>
          <a:latin typeface="+mn-lt"/>
          <a:ea typeface="+mn-ea"/>
          <a:cs typeface="+mn-cs"/>
        </a:defRPr>
      </a:lvl4pPr>
      <a:lvl5pPr marL="1512418" algn="l" defTabSz="756209" rtl="0" eaLnBrk="1" latinLnBrk="0" hangingPunct="1">
        <a:defRPr sz="1489" kern="1200">
          <a:solidFill>
            <a:schemeClr val="tx1"/>
          </a:solidFill>
          <a:latin typeface="+mn-lt"/>
          <a:ea typeface="+mn-ea"/>
          <a:cs typeface="+mn-cs"/>
        </a:defRPr>
      </a:lvl5pPr>
      <a:lvl6pPr marL="1890522" algn="l" defTabSz="756209" rtl="0" eaLnBrk="1" latinLnBrk="0" hangingPunct="1">
        <a:defRPr sz="1489" kern="1200">
          <a:solidFill>
            <a:schemeClr val="tx1"/>
          </a:solidFill>
          <a:latin typeface="+mn-lt"/>
          <a:ea typeface="+mn-ea"/>
          <a:cs typeface="+mn-cs"/>
        </a:defRPr>
      </a:lvl6pPr>
      <a:lvl7pPr marL="2268626" algn="l" defTabSz="756209" rtl="0" eaLnBrk="1" latinLnBrk="0" hangingPunct="1">
        <a:defRPr sz="1489" kern="1200">
          <a:solidFill>
            <a:schemeClr val="tx1"/>
          </a:solidFill>
          <a:latin typeface="+mn-lt"/>
          <a:ea typeface="+mn-ea"/>
          <a:cs typeface="+mn-cs"/>
        </a:defRPr>
      </a:lvl7pPr>
      <a:lvl8pPr marL="2646731" algn="l" defTabSz="756209" rtl="0" eaLnBrk="1" latinLnBrk="0" hangingPunct="1">
        <a:defRPr sz="1489" kern="1200">
          <a:solidFill>
            <a:schemeClr val="tx1"/>
          </a:solidFill>
          <a:latin typeface="+mn-lt"/>
          <a:ea typeface="+mn-ea"/>
          <a:cs typeface="+mn-cs"/>
        </a:defRPr>
      </a:lvl8pPr>
      <a:lvl9pPr marL="3024835" algn="l" defTabSz="756209" rtl="0" eaLnBrk="1" latinLnBrk="0" hangingPunct="1">
        <a:defRPr sz="148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4031" y="2708491"/>
            <a:ext cx="9072299" cy="1285993"/>
          </a:xfrm>
          <a:prstGeom prst="rect">
            <a:avLst/>
          </a:prstGeom>
        </p:spPr>
        <p:txBody>
          <a:bodyPr/>
          <a:lstStyle/>
          <a:p>
            <a:r>
              <a:rPr lang="en-IN" sz="4000" b="1" dirty="0">
                <a:latin typeface="Times new roman"/>
              </a:rPr>
              <a:t>International Business</a:t>
            </a:r>
            <a:br>
              <a:rPr lang="en-IN" dirty="0"/>
            </a:br>
            <a:r>
              <a:rPr lang="en-GB" b="1" dirty="0">
                <a:solidFill>
                  <a:srgbClr val="002060"/>
                </a:solidFill>
                <a:latin typeface="Cambria" pitchFamily="18" charset="0"/>
              </a:rPr>
              <a:t>22MBA401</a:t>
            </a:r>
            <a:endParaRPr lang="en-US" dirty="0"/>
          </a:p>
        </p:txBody>
      </p:sp>
      <p:sp>
        <p:nvSpPr>
          <p:cNvPr id="3" name="Date Placeholder 2"/>
          <p:cNvSpPr>
            <a:spLocks noGrp="1"/>
          </p:cNvSpPr>
          <p:nvPr>
            <p:ph type="dt" sz="half" idx="10"/>
          </p:nvPr>
        </p:nvSpPr>
        <p:spPr/>
        <p:txBody>
          <a:bodyPr/>
          <a:lstStyle/>
          <a:p>
            <a:pPr defTabSz="756209"/>
            <a:fld id="{2B21D306-1AEB-47FB-8750-303610154917}" type="datetime3">
              <a:rPr lang="en-US" smtClean="0"/>
              <a:t>1 September 2025</a:t>
            </a:fld>
            <a:endParaRPr lang="en-US" dirty="0"/>
          </a:p>
        </p:txBody>
      </p:sp>
      <p:sp>
        <p:nvSpPr>
          <p:cNvPr id="4" name="Slide Number Placeholder 3"/>
          <p:cNvSpPr>
            <a:spLocks noGrp="1"/>
          </p:cNvSpPr>
          <p:nvPr>
            <p:ph type="sldNum" sz="quarter" idx="11"/>
          </p:nvPr>
        </p:nvSpPr>
        <p:spPr/>
        <p:txBody>
          <a:bodyPr/>
          <a:lstStyle/>
          <a:p>
            <a:pPr defTabSz="756209"/>
            <a:fld id="{B6F15528-21DE-4FAA-801E-634DDDAF4B2B}" type="slidenum">
              <a:rPr lang="en-US"/>
              <a:pPr defTabSz="756209"/>
              <a:t>1</a:t>
            </a:fld>
            <a:endParaRPr lang="en-US"/>
          </a:p>
        </p:txBody>
      </p:sp>
      <p:sp>
        <p:nvSpPr>
          <p:cNvPr id="5" name="Footer Placeholder 4"/>
          <p:cNvSpPr>
            <a:spLocks noGrp="1"/>
          </p:cNvSpPr>
          <p:nvPr>
            <p:ph type="ftr" sz="quarter" idx="12"/>
          </p:nvPr>
        </p:nvSpPr>
        <p:spPr>
          <a:xfrm>
            <a:off x="1484555" y="7006701"/>
            <a:ext cx="6970955" cy="402483"/>
          </a:xfrm>
        </p:spPr>
        <p:txBody>
          <a:bodyPr/>
          <a:lstStyle/>
          <a:p>
            <a:pPr defTabSz="756209"/>
            <a:r>
              <a:rPr lang="en-US" dirty="0"/>
              <a:t>Mr. </a:t>
            </a:r>
            <a:r>
              <a:rPr lang="en-US" dirty="0" err="1"/>
              <a:t>Madhunayaka</a:t>
            </a:r>
            <a:r>
              <a:rPr lang="en-US" dirty="0"/>
              <a:t>, Assistant Professor. Department of MBA, VVIET, Mysuru</a:t>
            </a:r>
          </a:p>
        </p:txBody>
      </p:sp>
      <p:sp>
        <p:nvSpPr>
          <p:cNvPr id="7" name="Rectangle 6"/>
          <p:cNvSpPr/>
          <p:nvPr/>
        </p:nvSpPr>
        <p:spPr>
          <a:xfrm>
            <a:off x="1141581" y="4369737"/>
            <a:ext cx="6639340" cy="1868204"/>
          </a:xfrm>
          <a:prstGeom prst="rect">
            <a:avLst/>
          </a:prstGeom>
        </p:spPr>
        <p:txBody>
          <a:bodyPr wrap="square">
            <a:spAutoFit/>
          </a:bodyPr>
          <a:lstStyle/>
          <a:p>
            <a:pPr marL="951826" lvl="8" algn="ctr" defTabSz="756209">
              <a:lnSpc>
                <a:spcPct val="150000"/>
              </a:lnSpc>
            </a:pPr>
            <a:r>
              <a:rPr lang="en-US" sz="1985" b="1" dirty="0">
                <a:solidFill>
                  <a:srgbClr val="002060"/>
                </a:solidFill>
                <a:latin typeface="Cambria" pitchFamily="18" charset="0"/>
              </a:rPr>
              <a:t>Course Coordinator:</a:t>
            </a:r>
          </a:p>
          <a:p>
            <a:pPr marL="951826" lvl="8" algn="ctr" defTabSz="756209">
              <a:lnSpc>
                <a:spcPct val="150000"/>
              </a:lnSpc>
            </a:pPr>
            <a:r>
              <a:rPr lang="en-US" sz="1985" b="1" dirty="0">
                <a:solidFill>
                  <a:srgbClr val="002060"/>
                </a:solidFill>
                <a:latin typeface="Cambria" pitchFamily="18" charset="0"/>
              </a:rPr>
              <a:t>Prof. </a:t>
            </a:r>
            <a:r>
              <a:rPr lang="en-US" sz="1985" b="1" dirty="0" err="1">
                <a:solidFill>
                  <a:srgbClr val="002060"/>
                </a:solidFill>
                <a:latin typeface="Cambria" pitchFamily="18" charset="0"/>
              </a:rPr>
              <a:t>Madhunayaka</a:t>
            </a:r>
            <a:endParaRPr lang="en-US" sz="1985" b="1" dirty="0">
              <a:solidFill>
                <a:srgbClr val="002060"/>
              </a:solidFill>
              <a:latin typeface="Cambria" pitchFamily="18" charset="0"/>
            </a:endParaRPr>
          </a:p>
          <a:p>
            <a:pPr marL="951826" lvl="8" algn="ctr" defTabSz="756209"/>
            <a:r>
              <a:rPr lang="en-US" b="1" dirty="0">
                <a:solidFill>
                  <a:srgbClr val="D60093"/>
                </a:solidFill>
                <a:latin typeface="Cambria" pitchFamily="18" charset="0"/>
              </a:rPr>
              <a:t>Assistant Professor,</a:t>
            </a:r>
          </a:p>
          <a:p>
            <a:pPr marL="951826" lvl="8" algn="ctr" defTabSz="756209"/>
            <a:r>
              <a:rPr lang="en-US" dirty="0">
                <a:solidFill>
                  <a:srgbClr val="D60093"/>
                </a:solidFill>
                <a:latin typeface="Cambria" pitchFamily="18" charset="0"/>
              </a:rPr>
              <a:t>Department of MBA,</a:t>
            </a:r>
          </a:p>
          <a:p>
            <a:pPr marL="951826" lvl="8" algn="ctr" defTabSz="756209"/>
            <a:r>
              <a:rPr lang="en-US" dirty="0">
                <a:solidFill>
                  <a:srgbClr val="D60093"/>
                </a:solidFill>
                <a:latin typeface="Cambria" pitchFamily="18" charset="0"/>
              </a:rPr>
              <a:t>VVIET , </a:t>
            </a:r>
            <a:r>
              <a:rPr lang="en-US" dirty="0" err="1">
                <a:solidFill>
                  <a:srgbClr val="D60093"/>
                </a:solidFill>
                <a:latin typeface="Cambria" pitchFamily="18" charset="0"/>
              </a:rPr>
              <a:t>Mysuru</a:t>
            </a:r>
            <a:r>
              <a:rPr lang="en-US" dirty="0">
                <a:solidFill>
                  <a:srgbClr val="D60093"/>
                </a:solidFill>
                <a:latin typeface="Cambria" pitchFamily="18" charset="0"/>
              </a:rPr>
              <a:t>  </a:t>
            </a:r>
            <a:r>
              <a:rPr lang="en-US" sz="1737" dirty="0">
                <a:solidFill>
                  <a:srgbClr val="D60093"/>
                </a:solidFill>
                <a:latin typeface="Cambria" pitchFamily="18" charset="0"/>
              </a:rPr>
              <a:t>                   </a:t>
            </a:r>
            <a:endParaRPr lang="en-US" sz="1737" b="1" dirty="0">
              <a:solidFill>
                <a:srgbClr val="D60093"/>
              </a:solidFill>
              <a:latin typeface="Book Antiqua"/>
            </a:endParaRPr>
          </a:p>
        </p:txBody>
      </p:sp>
      <p:sp>
        <p:nvSpPr>
          <p:cNvPr id="8" name="CustomShape 1"/>
          <p:cNvSpPr/>
          <p:nvPr/>
        </p:nvSpPr>
        <p:spPr>
          <a:xfrm>
            <a:off x="584667" y="318253"/>
            <a:ext cx="8560440" cy="590362"/>
          </a:xfrm>
          <a:prstGeom prst="rect">
            <a:avLst/>
          </a:prstGeom>
          <a:noFill/>
          <a:ln>
            <a:noFill/>
          </a:ln>
        </p:spPr>
        <p:txBody>
          <a:bodyPr lIns="0" tIns="0" rIns="0" bIns="0" anchor="ctr"/>
          <a:lstStyle/>
          <a:p>
            <a:pPr algn="ctr">
              <a:lnSpc>
                <a:spcPct val="100000"/>
              </a:lnSpc>
            </a:pPr>
            <a:r>
              <a:rPr lang="en-US" sz="3600" b="1" dirty="0">
                <a:solidFill>
                  <a:schemeClr val="bg1"/>
                </a:solidFill>
                <a:latin typeface="Arial"/>
              </a:rPr>
              <a:t>CORE SUBJECT</a:t>
            </a:r>
            <a:endParaRPr sz="1400" b="1" dirty="0">
              <a:solidFill>
                <a:schemeClr val="bg1"/>
              </a:solidFill>
            </a:endParaRPr>
          </a:p>
        </p:txBody>
      </p:sp>
    </p:spTree>
    <p:extLst>
      <p:ext uri="{BB962C8B-B14F-4D97-AF65-F5344CB8AC3E}">
        <p14:creationId xmlns:p14="http://schemas.microsoft.com/office/powerpoint/2010/main" val="153095605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970" y="1459747"/>
            <a:ext cx="9250624" cy="4640179"/>
          </a:xfrm>
          <a:prstGeom prst="rect">
            <a:avLst/>
          </a:prstGeom>
        </p:spPr>
        <p:style>
          <a:lnRef idx="2">
            <a:schemeClr val="dk1"/>
          </a:lnRef>
          <a:fillRef idx="1">
            <a:schemeClr val="lt1"/>
          </a:fillRef>
          <a:effectRef idx="0">
            <a:schemeClr val="dk1"/>
          </a:effectRef>
          <a:fontRef idx="minor">
            <a:schemeClr val="dk1"/>
          </a:fontRef>
        </p:style>
        <p:txBody>
          <a:bodyPr/>
          <a:lstStyle/>
          <a:p>
            <a:pPr algn="just">
              <a:lnSpc>
                <a:spcPct val="107000"/>
              </a:lnSpc>
              <a:spcAft>
                <a:spcPts val="800"/>
              </a:spcAft>
            </a:pPr>
            <a:r>
              <a:rPr lang="en-IN" sz="2400" dirty="0">
                <a:effectLst/>
              </a:rPr>
              <a:t>Module-4 (7Hours)</a:t>
            </a:r>
            <a:br>
              <a:rPr lang="en-IN" sz="2400" dirty="0">
                <a:effectLst/>
              </a:rPr>
            </a:br>
            <a:br>
              <a:rPr lang="en-IN" sz="20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rPr>
              <a:t> International Institutions: UNCTAD- Introduction, Principles and achievements, IMF-Role and objectives, WTO-Role and advantages, TRIMS, TRIPS Features, Economic Integration-Introduction, Levels of Economic Integration, Regional Economic Integration in Europe, USA, ASEAN, SAARC, SAPTA.</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Date Placeholder 2"/>
          <p:cNvSpPr>
            <a:spLocks noGrp="1"/>
          </p:cNvSpPr>
          <p:nvPr>
            <p:ph type="dt" sz="half" idx="10"/>
          </p:nvPr>
        </p:nvSpPr>
        <p:spPr>
          <a:xfrm>
            <a:off x="504031" y="6200870"/>
            <a:ext cx="2352146" cy="301972"/>
          </a:xfrm>
        </p:spPr>
        <p:txBody>
          <a:bodyPr/>
          <a:lstStyle/>
          <a:p>
            <a:fld id="{09B8F1D0-15F3-4E99-BB47-BEF58934FAA1}" type="datetime3">
              <a:rPr lang="en-US" smtClean="0"/>
              <a:t>1 September 2025</a:t>
            </a:fld>
            <a:endParaRPr lang="en-US"/>
          </a:p>
        </p:txBody>
      </p:sp>
      <p:sp>
        <p:nvSpPr>
          <p:cNvPr id="4" name="Footer Placeholder 3"/>
          <p:cNvSpPr>
            <a:spLocks noGrp="1"/>
          </p:cNvSpPr>
          <p:nvPr>
            <p:ph type="ftr" sz="quarter" idx="12"/>
          </p:nvPr>
        </p:nvSpPr>
        <p:spPr>
          <a:xfrm>
            <a:off x="3444214" y="6200870"/>
            <a:ext cx="3192198" cy="301972"/>
          </a:xfrm>
        </p:spPr>
        <p:txBody>
          <a:bodyPr/>
          <a:lstStyle/>
          <a:p>
            <a:r>
              <a:rPr lang="en-US" dirty="0"/>
              <a:t>Prof. </a:t>
            </a:r>
            <a:r>
              <a:rPr lang="en-US" dirty="0" err="1"/>
              <a:t>Madhynayaka</a:t>
            </a:r>
            <a:r>
              <a:rPr lang="en-US" dirty="0"/>
              <a:t>,  Department of MBA, VVIET, Mysuru</a:t>
            </a:r>
          </a:p>
        </p:txBody>
      </p:sp>
      <p:sp>
        <p:nvSpPr>
          <p:cNvPr id="5" name="Slide Number Placeholder 4"/>
          <p:cNvSpPr>
            <a:spLocks noGrp="1"/>
          </p:cNvSpPr>
          <p:nvPr>
            <p:ph type="sldNum" sz="quarter" idx="11"/>
          </p:nvPr>
        </p:nvSpPr>
        <p:spPr>
          <a:xfrm>
            <a:off x="7224448" y="6200870"/>
            <a:ext cx="2352146" cy="301972"/>
          </a:xfrm>
        </p:spPr>
        <p:txBody>
          <a:bodyPr anchor="t"/>
          <a:lstStyle/>
          <a:p>
            <a:fld id="{B6F15528-21DE-4FAA-801E-634DDDAF4B2B}" type="slidenum">
              <a:rPr lang="en-US" smtClean="0"/>
              <a:pPr/>
              <a:t>2</a:t>
            </a:fld>
            <a:endParaRPr lang="en-US"/>
          </a:p>
        </p:txBody>
      </p:sp>
      <p:sp>
        <p:nvSpPr>
          <p:cNvPr id="7" name="Rectangle 6"/>
          <p:cNvSpPr/>
          <p:nvPr/>
        </p:nvSpPr>
        <p:spPr>
          <a:xfrm>
            <a:off x="1259638" y="360571"/>
            <a:ext cx="5419747" cy="461665"/>
          </a:xfrm>
          <a:prstGeom prst="rect">
            <a:avLst/>
          </a:prstGeom>
        </p:spPr>
        <p:txBody>
          <a:bodyPr wrap="square">
            <a:spAutoFit/>
          </a:bodyPr>
          <a:lstStyle/>
          <a:p>
            <a:r>
              <a:rPr lang="en-IN" sz="2400" b="1" dirty="0">
                <a:solidFill>
                  <a:schemeClr val="bg1"/>
                </a:solidFill>
                <a:latin typeface="Arial"/>
              </a:rPr>
              <a:t>Contents of  MODULE - 4</a:t>
            </a:r>
            <a:endParaRPr lang="en-IN" sz="2400" b="1" dirty="0">
              <a:solidFill>
                <a:schemeClr val="bg1"/>
              </a:solidFill>
            </a:endParaRPr>
          </a:p>
        </p:txBody>
      </p:sp>
    </p:spTree>
    <p:extLst>
      <p:ext uri="{BB962C8B-B14F-4D97-AF65-F5344CB8AC3E}">
        <p14:creationId xmlns:p14="http://schemas.microsoft.com/office/powerpoint/2010/main" val="78951071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3DAC7C-1C1A-4E5C-B881-3C58E7B212A1}"/>
              </a:ext>
            </a:extLst>
          </p:cNvPr>
          <p:cNvSpPr>
            <a:spLocks noGrp="1"/>
          </p:cNvSpPr>
          <p:nvPr>
            <p:ph type="title"/>
          </p:nvPr>
        </p:nvSpPr>
        <p:spPr>
          <a:xfrm>
            <a:off x="1278308" y="150491"/>
            <a:ext cx="6654730" cy="820991"/>
          </a:xfrm>
        </p:spPr>
        <p:txBody>
          <a:bodyPr/>
          <a:lstStyle/>
          <a:p>
            <a:r>
              <a:rPr lang="en-IN" sz="2800" b="1" dirty="0">
                <a:solidFill>
                  <a:schemeClr val="bg1"/>
                </a:solidFill>
              </a:rPr>
              <a:t>International Institutions:</a:t>
            </a:r>
          </a:p>
        </p:txBody>
      </p:sp>
      <p:sp>
        <p:nvSpPr>
          <p:cNvPr id="3" name="Date Placeholder 2">
            <a:extLst>
              <a:ext uri="{FF2B5EF4-FFF2-40B4-BE49-F238E27FC236}">
                <a16:creationId xmlns:a16="http://schemas.microsoft.com/office/drawing/2014/main" id="{DCC72FF9-BEE2-439B-93E0-F557A9315952}"/>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81EAE869-30C0-4857-9671-B8C1BAD98D34}"/>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3D5FDF5C-900B-42E3-AD77-8A3CD29328C3}"/>
              </a:ext>
            </a:extLst>
          </p:cNvPr>
          <p:cNvSpPr>
            <a:spLocks noGrp="1"/>
          </p:cNvSpPr>
          <p:nvPr>
            <p:ph type="sldNum" sz="quarter" idx="12"/>
          </p:nvPr>
        </p:nvSpPr>
        <p:spPr/>
        <p:txBody>
          <a:bodyPr/>
          <a:lstStyle/>
          <a:p>
            <a:pPr defTabSz="756209"/>
            <a:fld id="{B6F15528-21DE-4FAA-801E-634DDDAF4B2B}" type="slidenum">
              <a:rPr lang="en-US" smtClean="0"/>
              <a:pPr defTabSz="756209"/>
              <a:t>3</a:t>
            </a:fld>
            <a:endParaRPr lang="en-US"/>
          </a:p>
        </p:txBody>
      </p:sp>
      <p:sp>
        <p:nvSpPr>
          <p:cNvPr id="2" name="TextBox 1">
            <a:extLst>
              <a:ext uri="{FF2B5EF4-FFF2-40B4-BE49-F238E27FC236}">
                <a16:creationId xmlns:a16="http://schemas.microsoft.com/office/drawing/2014/main" id="{BA8548FC-1446-96FB-85EA-2FA78E40AEE6}"/>
              </a:ext>
            </a:extLst>
          </p:cNvPr>
          <p:cNvSpPr txBox="1"/>
          <p:nvPr/>
        </p:nvSpPr>
        <p:spPr>
          <a:xfrm>
            <a:off x="236668" y="1559859"/>
            <a:ext cx="9339927" cy="1246495"/>
          </a:xfrm>
          <a:prstGeom prst="rect">
            <a:avLst/>
          </a:prstGeom>
          <a:noFill/>
        </p:spPr>
        <p:txBody>
          <a:bodyPr wrap="square" rtlCol="0">
            <a:spAutoFit/>
          </a:bodyPr>
          <a:lstStyle/>
          <a:p>
            <a:pPr algn="just"/>
            <a:r>
              <a:rPr lang="en-US" sz="2500" dirty="0">
                <a:latin typeface="Times New Roman" panose="02020603050405020304" pitchFamily="18" charset="0"/>
                <a:cs typeface="Times New Roman" panose="02020603050405020304" pitchFamily="18" charset="0"/>
              </a:rPr>
              <a:t>An organization which combines two or more countries as its members for a mutual financial concerns regulated by central body form an international economic institution.</a:t>
            </a:r>
            <a:endParaRPr lang="en-IN" sz="25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2C8F992-FA80-E151-FBBD-424A06E4B05C}"/>
              </a:ext>
            </a:extLst>
          </p:cNvPr>
          <p:cNvSpPr txBox="1"/>
          <p:nvPr/>
        </p:nvSpPr>
        <p:spPr>
          <a:xfrm>
            <a:off x="376518" y="3012141"/>
            <a:ext cx="9200077" cy="1831271"/>
          </a:xfrm>
          <a:prstGeom prst="rect">
            <a:avLst/>
          </a:prstGeom>
          <a:noFill/>
        </p:spPr>
        <p:txBody>
          <a:bodyPr wrap="square" rtlCol="0">
            <a:spAutoFit/>
          </a:bodyPr>
          <a:lstStyle/>
          <a:p>
            <a:r>
              <a:rPr lang="en-US" sz="2500" b="1" u="sng" dirty="0">
                <a:latin typeface="Times New Roman" panose="02020603050405020304" pitchFamily="18" charset="0"/>
                <a:cs typeface="Times New Roman" panose="02020603050405020304" pitchFamily="18" charset="0"/>
              </a:rPr>
              <a:t>Major International regulatory bodies are as follows:</a:t>
            </a:r>
          </a:p>
          <a:p>
            <a:pPr marL="342900" indent="-342900">
              <a:buAutoNum type="arabicPeriod"/>
            </a:pPr>
            <a:r>
              <a:rPr lang="en-US" sz="2200" dirty="0">
                <a:latin typeface="Times New Roman" panose="02020603050405020304" pitchFamily="18" charset="0"/>
                <a:cs typeface="Times New Roman" panose="02020603050405020304" pitchFamily="18" charset="0"/>
              </a:rPr>
              <a:t>WTO (World Trade Organization)</a:t>
            </a:r>
          </a:p>
          <a:p>
            <a:pPr marL="342900" indent="-342900">
              <a:buAutoNum type="arabicPeriod"/>
            </a:pPr>
            <a:r>
              <a:rPr lang="en-US" sz="2200" dirty="0">
                <a:latin typeface="Times New Roman" panose="02020603050405020304" pitchFamily="18" charset="0"/>
                <a:cs typeface="Times New Roman" panose="02020603050405020304" pitchFamily="18" charset="0"/>
              </a:rPr>
              <a:t>UNCTAD(United Nations Conference on Trade and Development)</a:t>
            </a:r>
          </a:p>
          <a:p>
            <a:pPr marL="342900" indent="-342900">
              <a:buAutoNum type="arabicPeriod"/>
            </a:pPr>
            <a:r>
              <a:rPr lang="en-US" sz="2200" dirty="0">
                <a:latin typeface="Times New Roman" panose="02020603050405020304" pitchFamily="18" charset="0"/>
                <a:cs typeface="Times New Roman" panose="02020603050405020304" pitchFamily="18" charset="0"/>
              </a:rPr>
              <a:t>World Bank</a:t>
            </a:r>
          </a:p>
          <a:p>
            <a:pPr marL="342900" indent="-342900">
              <a:buAutoNum type="arabicPeriod"/>
            </a:pPr>
            <a:r>
              <a:rPr lang="en-US" sz="2200" dirty="0">
                <a:latin typeface="Times New Roman" panose="02020603050405020304" pitchFamily="18" charset="0"/>
                <a:cs typeface="Times New Roman" panose="02020603050405020304" pitchFamily="18" charset="0"/>
              </a:rPr>
              <a:t>IMF(International Monetary Fund)</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0032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29BED-1C59-29AD-0C1D-3C9F213CEE9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563611C-6AC8-D76C-EEDE-9E61BD6DFBFC}"/>
              </a:ext>
            </a:extLst>
          </p:cNvPr>
          <p:cNvSpPr>
            <a:spLocks noGrp="1"/>
          </p:cNvSpPr>
          <p:nvPr>
            <p:ph type="title"/>
          </p:nvPr>
        </p:nvSpPr>
        <p:spPr>
          <a:xfrm>
            <a:off x="1278308" y="150491"/>
            <a:ext cx="6654730" cy="820991"/>
          </a:xfrm>
        </p:spPr>
        <p:txBody>
          <a:bodyPr/>
          <a:lstStyle/>
          <a:p>
            <a:r>
              <a:rPr lang="en-IN" sz="2800" b="1" dirty="0">
                <a:solidFill>
                  <a:schemeClr val="bg1"/>
                </a:solidFill>
              </a:rPr>
              <a:t>UNCTAD</a:t>
            </a:r>
          </a:p>
        </p:txBody>
      </p:sp>
      <p:sp>
        <p:nvSpPr>
          <p:cNvPr id="3" name="Date Placeholder 2">
            <a:extLst>
              <a:ext uri="{FF2B5EF4-FFF2-40B4-BE49-F238E27FC236}">
                <a16:creationId xmlns:a16="http://schemas.microsoft.com/office/drawing/2014/main" id="{F0218582-487E-D4CD-C329-D28435C67DDE}"/>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62D8B454-277A-20D0-82EA-305E2C9276A5}"/>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415014C8-42CF-960E-4020-C7D2025F0FCB}"/>
              </a:ext>
            </a:extLst>
          </p:cNvPr>
          <p:cNvSpPr>
            <a:spLocks noGrp="1"/>
          </p:cNvSpPr>
          <p:nvPr>
            <p:ph type="sldNum" sz="quarter" idx="12"/>
          </p:nvPr>
        </p:nvSpPr>
        <p:spPr/>
        <p:txBody>
          <a:bodyPr/>
          <a:lstStyle/>
          <a:p>
            <a:pPr defTabSz="756209"/>
            <a:fld id="{B6F15528-21DE-4FAA-801E-634DDDAF4B2B}" type="slidenum">
              <a:rPr lang="en-US" smtClean="0"/>
              <a:pPr defTabSz="756209"/>
              <a:t>4</a:t>
            </a:fld>
            <a:endParaRPr lang="en-US"/>
          </a:p>
        </p:txBody>
      </p:sp>
      <p:pic>
        <p:nvPicPr>
          <p:cNvPr id="2" name="Picture 1">
            <a:extLst>
              <a:ext uri="{FF2B5EF4-FFF2-40B4-BE49-F238E27FC236}">
                <a16:creationId xmlns:a16="http://schemas.microsoft.com/office/drawing/2014/main" id="{3470CBE7-E48E-6F85-4390-1B521D57EA94}"/>
              </a:ext>
            </a:extLst>
          </p:cNvPr>
          <p:cNvPicPr>
            <a:picLocks noChangeAspect="1"/>
          </p:cNvPicPr>
          <p:nvPr/>
        </p:nvPicPr>
        <p:blipFill>
          <a:blip r:embed="rId2"/>
          <a:stretch>
            <a:fillRect/>
          </a:stretch>
        </p:blipFill>
        <p:spPr>
          <a:xfrm>
            <a:off x="297233" y="1446212"/>
            <a:ext cx="1962150" cy="2333625"/>
          </a:xfrm>
          <a:prstGeom prst="rect">
            <a:avLst/>
          </a:prstGeom>
        </p:spPr>
      </p:pic>
      <p:sp>
        <p:nvSpPr>
          <p:cNvPr id="8" name="TextBox 7">
            <a:extLst>
              <a:ext uri="{FF2B5EF4-FFF2-40B4-BE49-F238E27FC236}">
                <a16:creationId xmlns:a16="http://schemas.microsoft.com/office/drawing/2014/main" id="{0B9E71A3-2409-71ED-D9C1-A81725F4AF2A}"/>
              </a:ext>
            </a:extLst>
          </p:cNvPr>
          <p:cNvSpPr txBox="1"/>
          <p:nvPr/>
        </p:nvSpPr>
        <p:spPr>
          <a:xfrm>
            <a:off x="2428540" y="1446212"/>
            <a:ext cx="7457738" cy="2554545"/>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UNCTAD, the </a:t>
            </a:r>
            <a:r>
              <a:rPr lang="en-US" sz="2000" b="1" dirty="0">
                <a:latin typeface="Times New Roman" panose="02020603050405020304" pitchFamily="18" charset="0"/>
                <a:cs typeface="Times New Roman" panose="02020603050405020304" pitchFamily="18" charset="0"/>
              </a:rPr>
              <a:t>United Nations Conference on Trade and Development</a:t>
            </a:r>
            <a:r>
              <a:rPr lang="en-US" sz="2000" dirty="0">
                <a:latin typeface="Times New Roman" panose="02020603050405020304" pitchFamily="18" charset="0"/>
                <a:cs typeface="Times New Roman" panose="02020603050405020304" pitchFamily="18" charset="0"/>
              </a:rPr>
              <a:t>, is a permanent intergovernmental body within the United Nations Secretariat. Established in 1964, it serves as the UN's focal point for </a:t>
            </a:r>
            <a:r>
              <a:rPr lang="en-US" sz="2000" b="1" dirty="0">
                <a:latin typeface="Times New Roman" panose="02020603050405020304" pitchFamily="18" charset="0"/>
                <a:cs typeface="Times New Roman" panose="02020603050405020304" pitchFamily="18" charset="0"/>
              </a:rPr>
              <a:t>dealing with trade and development issues</a:t>
            </a:r>
            <a:r>
              <a:rPr lang="en-US" sz="2000" dirty="0">
                <a:latin typeface="Times New Roman" panose="02020603050405020304" pitchFamily="18" charset="0"/>
                <a:cs typeface="Times New Roman" panose="02020603050405020304" pitchFamily="18" charset="0"/>
              </a:rPr>
              <a:t>, as well as related areas like finance, technology, investment, and sustainable development. UNCTAD's primary goal is to promote the integration of developing countries into the global economy in a way that fosters development. (1</a:t>
            </a:r>
            <a:r>
              <a:rPr lang="en-US" sz="2000" baseline="30000" dirty="0">
                <a:latin typeface="Times New Roman" panose="02020603050405020304" pitchFamily="18" charset="0"/>
                <a:cs typeface="Times New Roman" panose="02020603050405020304" pitchFamily="18" charset="0"/>
              </a:rPr>
              <a:t>st</a:t>
            </a:r>
            <a:r>
              <a:rPr lang="en-US" sz="2000" dirty="0">
                <a:latin typeface="Times New Roman" panose="02020603050405020304" pitchFamily="18" charset="0"/>
                <a:cs typeface="Times New Roman" panose="02020603050405020304" pitchFamily="18" charset="0"/>
              </a:rPr>
              <a:t> Coreference, 1964, Place Geneva)</a:t>
            </a:r>
            <a:endParaRPr lang="en-IN" sz="2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876AB3D5-71F0-57D5-232F-7023617B8A8E}"/>
              </a:ext>
            </a:extLst>
          </p:cNvPr>
          <p:cNvSpPr txBox="1"/>
          <p:nvPr/>
        </p:nvSpPr>
        <p:spPr>
          <a:xfrm>
            <a:off x="504031" y="4313313"/>
            <a:ext cx="6654730" cy="1938992"/>
          </a:xfrm>
          <a:prstGeom prst="rect">
            <a:avLst/>
          </a:prstGeom>
          <a:noFill/>
        </p:spPr>
        <p:txBody>
          <a:bodyPr wrap="square">
            <a:spAutoFit/>
          </a:bodyPr>
          <a:lstStyle/>
          <a:p>
            <a:r>
              <a:rPr lang="en-US" sz="2000" b="1" u="sng" dirty="0">
                <a:latin typeface="Times New Roman" panose="02020603050405020304" pitchFamily="18" charset="0"/>
                <a:cs typeface="Times New Roman" panose="02020603050405020304" pitchFamily="18" charset="0"/>
              </a:rPr>
              <a:t>Objectives of UNCTAD</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Promoting inclusive and sustainable growth.</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Facilitating trade and investment.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Supporting development-centered globalization.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Addressing development challenges.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Strengthening international cooperation.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2461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B4139-CE62-8B2D-A17F-4F2497EE8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E260EB5-15B1-B06D-C2C2-1F6B88ACC3C1}"/>
              </a:ext>
            </a:extLst>
          </p:cNvPr>
          <p:cNvSpPr>
            <a:spLocks noGrp="1"/>
          </p:cNvSpPr>
          <p:nvPr>
            <p:ph type="title"/>
          </p:nvPr>
        </p:nvSpPr>
        <p:spPr>
          <a:xfrm>
            <a:off x="1278308" y="150491"/>
            <a:ext cx="6654730" cy="820991"/>
          </a:xfrm>
        </p:spPr>
        <p:txBody>
          <a:bodyPr/>
          <a:lstStyle/>
          <a:p>
            <a:r>
              <a:rPr lang="en-IN" sz="2800" b="1" dirty="0">
                <a:solidFill>
                  <a:schemeClr val="bg1"/>
                </a:solidFill>
              </a:rPr>
              <a:t>Principles</a:t>
            </a:r>
          </a:p>
        </p:txBody>
      </p:sp>
      <p:sp>
        <p:nvSpPr>
          <p:cNvPr id="3" name="Date Placeholder 2">
            <a:extLst>
              <a:ext uri="{FF2B5EF4-FFF2-40B4-BE49-F238E27FC236}">
                <a16:creationId xmlns:a16="http://schemas.microsoft.com/office/drawing/2014/main" id="{F7D5749B-A24C-AE11-C393-68CB5219894C}"/>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1623048E-0DE5-7581-1606-9C1128544D12}"/>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F5184106-CBC6-F815-D416-3464FCCA7F38}"/>
              </a:ext>
            </a:extLst>
          </p:cNvPr>
          <p:cNvSpPr>
            <a:spLocks noGrp="1"/>
          </p:cNvSpPr>
          <p:nvPr>
            <p:ph type="sldNum" sz="quarter" idx="12"/>
          </p:nvPr>
        </p:nvSpPr>
        <p:spPr/>
        <p:txBody>
          <a:bodyPr/>
          <a:lstStyle/>
          <a:p>
            <a:pPr defTabSz="756209"/>
            <a:fld id="{B6F15528-21DE-4FAA-801E-634DDDAF4B2B}" type="slidenum">
              <a:rPr lang="en-US" smtClean="0"/>
              <a:pPr defTabSz="756209"/>
              <a:t>5</a:t>
            </a:fld>
            <a:endParaRPr lang="en-US"/>
          </a:p>
        </p:txBody>
      </p:sp>
      <p:sp>
        <p:nvSpPr>
          <p:cNvPr id="7" name="TextBox 6">
            <a:extLst>
              <a:ext uri="{FF2B5EF4-FFF2-40B4-BE49-F238E27FC236}">
                <a16:creationId xmlns:a16="http://schemas.microsoft.com/office/drawing/2014/main" id="{D1C61B13-23B7-8858-78C6-C41060B14E72}"/>
              </a:ext>
            </a:extLst>
          </p:cNvPr>
          <p:cNvSpPr txBox="1"/>
          <p:nvPr/>
        </p:nvSpPr>
        <p:spPr>
          <a:xfrm>
            <a:off x="392219" y="1582330"/>
            <a:ext cx="9296185" cy="3939540"/>
          </a:xfrm>
          <a:prstGeom prst="rect">
            <a:avLst/>
          </a:prstGeom>
          <a:noFill/>
        </p:spPr>
        <p:txBody>
          <a:bodyPr wrap="square">
            <a:spAutoFit/>
          </a:bodyPr>
          <a:lstStyle/>
          <a:p>
            <a:pPr algn="just"/>
            <a:r>
              <a:rPr lang="en-US" sz="2500" dirty="0">
                <a:latin typeface="Times New Roman" panose="02020603050405020304" pitchFamily="18" charset="0"/>
                <a:cs typeface="Times New Roman" panose="02020603050405020304" pitchFamily="18" charset="0"/>
              </a:rPr>
              <a:t>UNCTAD, the United Nations Conference on Trade and Development, operates on several core principles. </a:t>
            </a:r>
          </a:p>
          <a:p>
            <a:pPr algn="just"/>
            <a:r>
              <a:rPr lang="en-US" sz="2500" dirty="0">
                <a:latin typeface="Times New Roman" panose="02020603050405020304" pitchFamily="18" charset="0"/>
                <a:cs typeface="Times New Roman" panose="02020603050405020304" pitchFamily="18" charset="0"/>
              </a:rPr>
              <a:t>These include:</a:t>
            </a:r>
          </a:p>
          <a:p>
            <a:pPr marL="457200" indent="-457200" algn="just">
              <a:buAutoNum type="arabicPeriod"/>
            </a:pPr>
            <a:r>
              <a:rPr lang="en-US" sz="2500" dirty="0">
                <a:latin typeface="Times New Roman" panose="02020603050405020304" pitchFamily="18" charset="0"/>
                <a:cs typeface="Times New Roman" panose="02020603050405020304" pitchFamily="18" charset="0"/>
              </a:rPr>
              <a:t>Fostering demand-driven technical cooperation.</a:t>
            </a:r>
          </a:p>
          <a:p>
            <a:pPr marL="457200" indent="-457200" algn="just">
              <a:buAutoNum type="arabicPeriod"/>
            </a:pPr>
            <a:r>
              <a:rPr lang="en-US" sz="2500" dirty="0">
                <a:latin typeface="Times New Roman" panose="02020603050405020304" pitchFamily="18" charset="0"/>
                <a:cs typeface="Times New Roman" panose="02020603050405020304" pitchFamily="18" charset="0"/>
              </a:rPr>
              <a:t>Emphasizing country ownership of development initiatives, and ensuring transparency. </a:t>
            </a:r>
          </a:p>
          <a:p>
            <a:pPr marL="457200" indent="-457200" algn="just">
              <a:buAutoNum type="arabicPeriod"/>
            </a:pPr>
            <a:r>
              <a:rPr lang="en-US" sz="2500" dirty="0">
                <a:latin typeface="Times New Roman" panose="02020603050405020304" pitchFamily="18" charset="0"/>
                <a:cs typeface="Times New Roman" panose="02020603050405020304" pitchFamily="18" charset="0"/>
              </a:rPr>
              <a:t>Efficiency, effectiveness, and accountability in its work. </a:t>
            </a:r>
          </a:p>
          <a:p>
            <a:pPr marL="457200" indent="-457200" algn="just">
              <a:buAutoNum type="arabicPeriod"/>
            </a:pPr>
            <a:r>
              <a:rPr lang="en-US" sz="2500" dirty="0">
                <a:latin typeface="Times New Roman" panose="02020603050405020304" pitchFamily="18" charset="0"/>
                <a:cs typeface="Times New Roman" panose="02020603050405020304" pitchFamily="18" charset="0"/>
              </a:rPr>
              <a:t>UNCTAD promotes sovereign equality, the peaceful settlement of international disputes, and the fulfillment of obligations in good faith.</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1960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470F2-C1EF-8BA7-AC9D-4E8F3A9871D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281BBEA-FBC9-AECA-30A0-DCBC4B83F266}"/>
              </a:ext>
            </a:extLst>
          </p:cNvPr>
          <p:cNvSpPr>
            <a:spLocks noGrp="1"/>
          </p:cNvSpPr>
          <p:nvPr>
            <p:ph type="title"/>
          </p:nvPr>
        </p:nvSpPr>
        <p:spPr>
          <a:xfrm>
            <a:off x="1278308" y="150491"/>
            <a:ext cx="6654730" cy="820991"/>
          </a:xfrm>
        </p:spPr>
        <p:txBody>
          <a:bodyPr/>
          <a:lstStyle/>
          <a:p>
            <a:r>
              <a:rPr lang="en-IN" sz="2800" b="1" dirty="0">
                <a:solidFill>
                  <a:schemeClr val="bg1"/>
                </a:solidFill>
              </a:rPr>
              <a:t>Achievements</a:t>
            </a:r>
          </a:p>
        </p:txBody>
      </p:sp>
      <p:sp>
        <p:nvSpPr>
          <p:cNvPr id="3" name="Date Placeholder 2">
            <a:extLst>
              <a:ext uri="{FF2B5EF4-FFF2-40B4-BE49-F238E27FC236}">
                <a16:creationId xmlns:a16="http://schemas.microsoft.com/office/drawing/2014/main" id="{B773F1D8-AB1F-BFD3-43FB-49AF0297F0E9}"/>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C8396486-0EC2-24D8-308E-022CCD13F352}"/>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4C3A6853-FC91-9105-47B4-EDC553931FDB}"/>
              </a:ext>
            </a:extLst>
          </p:cNvPr>
          <p:cNvSpPr>
            <a:spLocks noGrp="1"/>
          </p:cNvSpPr>
          <p:nvPr>
            <p:ph type="sldNum" sz="quarter" idx="12"/>
          </p:nvPr>
        </p:nvSpPr>
        <p:spPr/>
        <p:txBody>
          <a:bodyPr/>
          <a:lstStyle/>
          <a:p>
            <a:pPr defTabSz="756209"/>
            <a:fld id="{B6F15528-21DE-4FAA-801E-634DDDAF4B2B}" type="slidenum">
              <a:rPr lang="en-US" smtClean="0"/>
              <a:pPr defTabSz="756209"/>
              <a:t>6</a:t>
            </a:fld>
            <a:endParaRPr lang="en-US"/>
          </a:p>
        </p:txBody>
      </p:sp>
      <p:graphicFrame>
        <p:nvGraphicFramePr>
          <p:cNvPr id="7" name="Diagram 6">
            <a:extLst>
              <a:ext uri="{FF2B5EF4-FFF2-40B4-BE49-F238E27FC236}">
                <a16:creationId xmlns:a16="http://schemas.microsoft.com/office/drawing/2014/main" id="{A9C8574F-E583-8DBD-14D0-DB9D7AE7105F}"/>
              </a:ext>
            </a:extLst>
          </p:cNvPr>
          <p:cNvGraphicFramePr/>
          <p:nvPr>
            <p:extLst>
              <p:ext uri="{D42A27DB-BD31-4B8C-83A1-F6EECF244321}">
                <p14:modId xmlns:p14="http://schemas.microsoft.com/office/powerpoint/2010/main" val="3122306184"/>
              </p:ext>
            </p:extLst>
          </p:nvPr>
        </p:nvGraphicFramePr>
        <p:xfrm>
          <a:off x="504031" y="1613647"/>
          <a:ext cx="8877348" cy="49054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73150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1CA4C-A282-8DDC-5894-2CCDFB06692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4A5A5DD-2F30-28EC-1766-65E9A3192B58}"/>
              </a:ext>
            </a:extLst>
          </p:cNvPr>
          <p:cNvSpPr>
            <a:spLocks noGrp="1"/>
          </p:cNvSpPr>
          <p:nvPr>
            <p:ph type="title"/>
          </p:nvPr>
        </p:nvSpPr>
        <p:spPr>
          <a:xfrm>
            <a:off x="1278308" y="150491"/>
            <a:ext cx="6654730" cy="820991"/>
          </a:xfrm>
        </p:spPr>
        <p:txBody>
          <a:bodyPr/>
          <a:lstStyle/>
          <a:p>
            <a:r>
              <a:rPr lang="en-US" sz="2800" b="1" dirty="0">
                <a:solidFill>
                  <a:schemeClr val="bg1"/>
                </a:solidFill>
              </a:rPr>
              <a:t>Organizational Structure</a:t>
            </a:r>
            <a:endParaRPr lang="en-IN" sz="2800" b="1" dirty="0">
              <a:solidFill>
                <a:schemeClr val="bg1"/>
              </a:solidFill>
            </a:endParaRPr>
          </a:p>
        </p:txBody>
      </p:sp>
      <p:sp>
        <p:nvSpPr>
          <p:cNvPr id="3" name="Date Placeholder 2">
            <a:extLst>
              <a:ext uri="{FF2B5EF4-FFF2-40B4-BE49-F238E27FC236}">
                <a16:creationId xmlns:a16="http://schemas.microsoft.com/office/drawing/2014/main" id="{B6608BFE-89E3-0589-7100-3AD9B7B2BF12}"/>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CBB1E0B7-6E03-F792-B3C2-6EF526D211C4}"/>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B9E72D4D-459A-BE2A-6BC2-50EE15132345}"/>
              </a:ext>
            </a:extLst>
          </p:cNvPr>
          <p:cNvSpPr>
            <a:spLocks noGrp="1"/>
          </p:cNvSpPr>
          <p:nvPr>
            <p:ph type="sldNum" sz="quarter" idx="12"/>
          </p:nvPr>
        </p:nvSpPr>
        <p:spPr/>
        <p:txBody>
          <a:bodyPr/>
          <a:lstStyle/>
          <a:p>
            <a:pPr defTabSz="756209"/>
            <a:fld id="{B6F15528-21DE-4FAA-801E-634DDDAF4B2B}" type="slidenum">
              <a:rPr lang="en-US" smtClean="0"/>
              <a:pPr defTabSz="756209"/>
              <a:t>7</a:t>
            </a:fld>
            <a:endParaRPr lang="en-US"/>
          </a:p>
        </p:txBody>
      </p:sp>
      <p:pic>
        <p:nvPicPr>
          <p:cNvPr id="2" name="Picture 1">
            <a:extLst>
              <a:ext uri="{FF2B5EF4-FFF2-40B4-BE49-F238E27FC236}">
                <a16:creationId xmlns:a16="http://schemas.microsoft.com/office/drawing/2014/main" id="{6512AC8A-8B1D-932E-F442-67619C7A2DFE}"/>
              </a:ext>
            </a:extLst>
          </p:cNvPr>
          <p:cNvPicPr>
            <a:picLocks noChangeAspect="1"/>
          </p:cNvPicPr>
          <p:nvPr/>
        </p:nvPicPr>
        <p:blipFill>
          <a:blip r:embed="rId2"/>
          <a:stretch>
            <a:fillRect/>
          </a:stretch>
        </p:blipFill>
        <p:spPr>
          <a:xfrm>
            <a:off x="652323" y="1429963"/>
            <a:ext cx="8502435" cy="5484071"/>
          </a:xfrm>
          <a:prstGeom prst="rect">
            <a:avLst/>
          </a:prstGeom>
        </p:spPr>
      </p:pic>
    </p:spTree>
    <p:extLst>
      <p:ext uri="{BB962C8B-B14F-4D97-AF65-F5344CB8AC3E}">
        <p14:creationId xmlns:p14="http://schemas.microsoft.com/office/powerpoint/2010/main" val="4158770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80832-602E-FCC7-9500-C0A8AF4402E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E319FE-8231-2F93-2639-5CA4139846F7}"/>
              </a:ext>
            </a:extLst>
          </p:cNvPr>
          <p:cNvSpPr>
            <a:spLocks noGrp="1"/>
          </p:cNvSpPr>
          <p:nvPr>
            <p:ph type="title"/>
          </p:nvPr>
        </p:nvSpPr>
        <p:spPr>
          <a:xfrm>
            <a:off x="1278308" y="150491"/>
            <a:ext cx="6654730" cy="820991"/>
          </a:xfrm>
        </p:spPr>
        <p:txBody>
          <a:bodyPr/>
          <a:lstStyle/>
          <a:p>
            <a:r>
              <a:rPr lang="en-US" sz="2800" b="1" dirty="0">
                <a:solidFill>
                  <a:schemeClr val="bg1"/>
                </a:solidFill>
              </a:rPr>
              <a:t>IMF</a:t>
            </a:r>
            <a:endParaRPr lang="en-IN" sz="2800" b="1" dirty="0">
              <a:solidFill>
                <a:schemeClr val="bg1"/>
              </a:solidFill>
            </a:endParaRPr>
          </a:p>
        </p:txBody>
      </p:sp>
      <p:sp>
        <p:nvSpPr>
          <p:cNvPr id="3" name="Date Placeholder 2">
            <a:extLst>
              <a:ext uri="{FF2B5EF4-FFF2-40B4-BE49-F238E27FC236}">
                <a16:creationId xmlns:a16="http://schemas.microsoft.com/office/drawing/2014/main" id="{811AE11B-D19B-A961-2359-8265EAC354C0}"/>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9587A5F7-4FBF-E9C7-9C36-4D0CE6E39743}"/>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E672CF63-F44B-4D67-4A02-2D1996940531}"/>
              </a:ext>
            </a:extLst>
          </p:cNvPr>
          <p:cNvSpPr>
            <a:spLocks noGrp="1"/>
          </p:cNvSpPr>
          <p:nvPr>
            <p:ph type="sldNum" sz="quarter" idx="12"/>
          </p:nvPr>
        </p:nvSpPr>
        <p:spPr/>
        <p:txBody>
          <a:bodyPr/>
          <a:lstStyle/>
          <a:p>
            <a:pPr defTabSz="756209"/>
            <a:fld id="{B6F15528-21DE-4FAA-801E-634DDDAF4B2B}" type="slidenum">
              <a:rPr lang="en-US" smtClean="0"/>
              <a:pPr defTabSz="756209"/>
              <a:t>8</a:t>
            </a:fld>
            <a:endParaRPr lang="en-US"/>
          </a:p>
        </p:txBody>
      </p:sp>
      <p:pic>
        <p:nvPicPr>
          <p:cNvPr id="1026" name="Picture 2" descr="International Monetary Fund">
            <a:extLst>
              <a:ext uri="{FF2B5EF4-FFF2-40B4-BE49-F238E27FC236}">
                <a16:creationId xmlns:a16="http://schemas.microsoft.com/office/drawing/2014/main" id="{CA2DA7F6-A74F-A483-D37C-ACB99D0FB7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643" r="37465" b="16494"/>
          <a:stretch>
            <a:fillRect/>
          </a:stretch>
        </p:blipFill>
        <p:spPr bwMode="auto">
          <a:xfrm>
            <a:off x="324640" y="1516793"/>
            <a:ext cx="2710927" cy="205474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38F2EE5-5A5A-F628-B922-404AB00BA259}"/>
              </a:ext>
            </a:extLst>
          </p:cNvPr>
          <p:cNvSpPr txBox="1"/>
          <p:nvPr/>
        </p:nvSpPr>
        <p:spPr>
          <a:xfrm>
            <a:off x="3181573" y="1516793"/>
            <a:ext cx="6654729" cy="2400657"/>
          </a:xfrm>
          <a:prstGeom prst="rect">
            <a:avLst/>
          </a:prstGeom>
          <a:noFill/>
        </p:spPr>
        <p:txBody>
          <a:bodyPr wrap="square">
            <a:spAutoFit/>
          </a:bodyPr>
          <a:lstStyle/>
          <a:p>
            <a:pPr algn="just"/>
            <a:r>
              <a:rPr lang="en-US" sz="2500" dirty="0">
                <a:latin typeface="Times New Roman" panose="02020603050405020304" pitchFamily="18" charset="0"/>
                <a:cs typeface="Times New Roman" panose="02020603050405020304" pitchFamily="18" charset="0"/>
              </a:rPr>
              <a:t>The IMF was formally established on December 27, 1945, when 29 nations signed the Articles of Agreement. However, its financial operations commenced on March 1, 1947. The IMF was conceived at the Bretton Woods Conference in 1944. </a:t>
            </a:r>
            <a:endParaRPr lang="en-IN" sz="25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704B9FF-82EB-E06F-A19C-75B1F0A3D13C}"/>
              </a:ext>
            </a:extLst>
          </p:cNvPr>
          <p:cNvSpPr txBox="1"/>
          <p:nvPr/>
        </p:nvSpPr>
        <p:spPr>
          <a:xfrm>
            <a:off x="324640" y="4044875"/>
            <a:ext cx="9335727" cy="2246769"/>
          </a:xfrm>
          <a:prstGeom prst="rect">
            <a:avLst/>
          </a:prstGeom>
          <a:noFill/>
        </p:spPr>
        <p:txBody>
          <a:bodyPr wrap="square" rtlCol="0">
            <a:spAutoFit/>
          </a:bodyPr>
          <a:lstStyle/>
          <a:p>
            <a:r>
              <a:rPr lang="en-US" sz="2000" b="1" u="sng" dirty="0">
                <a:latin typeface="Times New Roman" panose="02020603050405020304" pitchFamily="18" charset="0"/>
                <a:cs typeface="Times New Roman" panose="02020603050405020304" pitchFamily="18" charset="0"/>
              </a:rPr>
              <a:t>Objectives of IMF</a:t>
            </a:r>
          </a:p>
          <a:p>
            <a:pPr marL="342900" indent="-342900">
              <a:buAutoNum type="arabicPeriod"/>
            </a:pPr>
            <a:r>
              <a:rPr lang="en-US" sz="2000" dirty="0">
                <a:latin typeface="Times New Roman" panose="02020603050405020304" pitchFamily="18" charset="0"/>
                <a:cs typeface="Times New Roman" panose="02020603050405020304" pitchFamily="18" charset="0"/>
              </a:rPr>
              <a:t>To Promote Global Monetary Cooperation</a:t>
            </a:r>
          </a:p>
          <a:p>
            <a:pPr marL="342900" indent="-342900">
              <a:buAutoNum type="arabicPeriod"/>
            </a:pPr>
            <a:r>
              <a:rPr lang="en-US" sz="2000" dirty="0">
                <a:latin typeface="Times New Roman" panose="02020603050405020304" pitchFamily="18" charset="0"/>
                <a:cs typeface="Times New Roman" panose="02020603050405020304" pitchFamily="18" charset="0"/>
              </a:rPr>
              <a:t>To Facilitate the Growth of International Trade</a:t>
            </a:r>
          </a:p>
          <a:p>
            <a:pPr marL="342900" indent="-342900">
              <a:buAutoNum type="arabicPeriod"/>
            </a:pPr>
            <a:r>
              <a:rPr lang="en-US" sz="2000" dirty="0">
                <a:latin typeface="Times New Roman" panose="02020603050405020304" pitchFamily="18" charset="0"/>
                <a:cs typeface="Times New Roman" panose="02020603050405020304" pitchFamily="18" charset="0"/>
              </a:rPr>
              <a:t>To Promote Exchange Stability</a:t>
            </a:r>
          </a:p>
          <a:p>
            <a:pPr marL="342900" indent="-342900">
              <a:buAutoNum type="arabicPeriod"/>
            </a:pPr>
            <a:r>
              <a:rPr lang="en-US" sz="2000" dirty="0">
                <a:latin typeface="Times New Roman" panose="02020603050405020304" pitchFamily="18" charset="0"/>
                <a:cs typeface="Times New Roman" panose="02020603050405020304" pitchFamily="18" charset="0"/>
              </a:rPr>
              <a:t>To Assist in the Establishment of Multilateral system of Payments</a:t>
            </a:r>
          </a:p>
          <a:p>
            <a:pPr marL="342900" indent="-342900">
              <a:buAutoNum type="arabicPeriod"/>
            </a:pPr>
            <a:r>
              <a:rPr lang="en-US" sz="2000" dirty="0">
                <a:latin typeface="Times New Roman" panose="02020603050405020304" pitchFamily="18" charset="0"/>
                <a:cs typeface="Times New Roman" panose="02020603050405020304" pitchFamily="18" charset="0"/>
              </a:rPr>
              <a:t>To Give Confidence to the Members</a:t>
            </a:r>
          </a:p>
          <a:p>
            <a:pPr marL="342900" indent="-342900">
              <a:buAutoNum type="arabicPeriod"/>
            </a:pPr>
            <a:r>
              <a:rPr lang="en-US" sz="2000" dirty="0">
                <a:latin typeface="Times New Roman" panose="02020603050405020304" pitchFamily="18" charset="0"/>
                <a:cs typeface="Times New Roman" panose="02020603050405020304" pitchFamily="18" charset="0"/>
              </a:rPr>
              <a:t>To deal with Disequilibrium in the International Balances of Payments</a:t>
            </a:r>
            <a:r>
              <a:rPr lang="en-US" dirty="0"/>
              <a:t>.</a:t>
            </a:r>
            <a:endParaRPr lang="en-IN" dirty="0"/>
          </a:p>
        </p:txBody>
      </p:sp>
    </p:spTree>
    <p:extLst>
      <p:ext uri="{BB962C8B-B14F-4D97-AF65-F5344CB8AC3E}">
        <p14:creationId xmlns:p14="http://schemas.microsoft.com/office/powerpoint/2010/main" val="519020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56A62-5012-1974-8163-685365E857A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07D5287-D925-F4C1-7F19-1B83BEAEF5F5}"/>
              </a:ext>
            </a:extLst>
          </p:cNvPr>
          <p:cNvSpPr>
            <a:spLocks noGrp="1"/>
          </p:cNvSpPr>
          <p:nvPr>
            <p:ph type="title"/>
          </p:nvPr>
        </p:nvSpPr>
        <p:spPr>
          <a:xfrm>
            <a:off x="1278308" y="150491"/>
            <a:ext cx="6654730" cy="820991"/>
          </a:xfrm>
        </p:spPr>
        <p:txBody>
          <a:bodyPr/>
          <a:lstStyle/>
          <a:p>
            <a:r>
              <a:rPr lang="en-US" sz="2800" b="1" dirty="0">
                <a:solidFill>
                  <a:schemeClr val="bg1"/>
                </a:solidFill>
              </a:rPr>
              <a:t>IMF- Organizational Structure</a:t>
            </a:r>
            <a:endParaRPr lang="en-IN" sz="2800" b="1" dirty="0">
              <a:solidFill>
                <a:schemeClr val="bg1"/>
              </a:solidFill>
            </a:endParaRPr>
          </a:p>
        </p:txBody>
      </p:sp>
      <p:sp>
        <p:nvSpPr>
          <p:cNvPr id="3" name="Date Placeholder 2">
            <a:extLst>
              <a:ext uri="{FF2B5EF4-FFF2-40B4-BE49-F238E27FC236}">
                <a16:creationId xmlns:a16="http://schemas.microsoft.com/office/drawing/2014/main" id="{044FEB34-45C3-EE01-7E5A-EF71A6127FA8}"/>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9E13A2F4-E467-2D24-16E3-3E23055C5C94}"/>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DDF83CBE-2495-9DA6-90BA-DD252CEF01B3}"/>
              </a:ext>
            </a:extLst>
          </p:cNvPr>
          <p:cNvSpPr>
            <a:spLocks noGrp="1"/>
          </p:cNvSpPr>
          <p:nvPr>
            <p:ph type="sldNum" sz="quarter" idx="12"/>
          </p:nvPr>
        </p:nvSpPr>
        <p:spPr/>
        <p:txBody>
          <a:bodyPr/>
          <a:lstStyle/>
          <a:p>
            <a:pPr defTabSz="756209"/>
            <a:fld id="{B6F15528-21DE-4FAA-801E-634DDDAF4B2B}" type="slidenum">
              <a:rPr lang="en-US" smtClean="0"/>
              <a:pPr defTabSz="756209"/>
              <a:t>9</a:t>
            </a:fld>
            <a:endParaRPr lang="en-US"/>
          </a:p>
        </p:txBody>
      </p:sp>
      <p:pic>
        <p:nvPicPr>
          <p:cNvPr id="9" name="Picture 8">
            <a:extLst>
              <a:ext uri="{FF2B5EF4-FFF2-40B4-BE49-F238E27FC236}">
                <a16:creationId xmlns:a16="http://schemas.microsoft.com/office/drawing/2014/main" id="{51B776C3-CF91-88B5-18CF-724498C6C3DE}"/>
              </a:ext>
            </a:extLst>
          </p:cNvPr>
          <p:cNvPicPr>
            <a:picLocks noChangeAspect="1"/>
          </p:cNvPicPr>
          <p:nvPr/>
        </p:nvPicPr>
        <p:blipFill>
          <a:blip r:embed="rId2"/>
          <a:stretch>
            <a:fillRect/>
          </a:stretch>
        </p:blipFill>
        <p:spPr>
          <a:xfrm>
            <a:off x="160164" y="1454862"/>
            <a:ext cx="7546189" cy="5551839"/>
          </a:xfrm>
          <a:prstGeom prst="rect">
            <a:avLst/>
          </a:prstGeom>
        </p:spPr>
      </p:pic>
      <p:pic>
        <p:nvPicPr>
          <p:cNvPr id="11" name="Picture 10">
            <a:extLst>
              <a:ext uri="{FF2B5EF4-FFF2-40B4-BE49-F238E27FC236}">
                <a16:creationId xmlns:a16="http://schemas.microsoft.com/office/drawing/2014/main" id="{CE1E771B-D2EE-6133-1D03-4A3C67F3AF02}"/>
              </a:ext>
            </a:extLst>
          </p:cNvPr>
          <p:cNvPicPr>
            <a:picLocks noChangeAspect="1"/>
          </p:cNvPicPr>
          <p:nvPr/>
        </p:nvPicPr>
        <p:blipFill>
          <a:blip r:embed="rId3"/>
          <a:stretch>
            <a:fillRect/>
          </a:stretch>
        </p:blipFill>
        <p:spPr>
          <a:xfrm>
            <a:off x="8203324" y="1349639"/>
            <a:ext cx="876300" cy="876300"/>
          </a:xfrm>
          <a:prstGeom prst="rect">
            <a:avLst/>
          </a:prstGeom>
        </p:spPr>
      </p:pic>
      <p:sp>
        <p:nvSpPr>
          <p:cNvPr id="13" name="TextBox 12">
            <a:extLst>
              <a:ext uri="{FF2B5EF4-FFF2-40B4-BE49-F238E27FC236}">
                <a16:creationId xmlns:a16="http://schemas.microsoft.com/office/drawing/2014/main" id="{9770276A-73AB-033D-5D98-1AC0ED94F557}"/>
              </a:ext>
            </a:extLst>
          </p:cNvPr>
          <p:cNvSpPr txBox="1"/>
          <p:nvPr/>
        </p:nvSpPr>
        <p:spPr>
          <a:xfrm>
            <a:off x="7706353" y="2378186"/>
            <a:ext cx="2214109" cy="2585323"/>
          </a:xfrm>
          <a:prstGeom prst="rect">
            <a:avLst/>
          </a:prstGeom>
          <a:noFill/>
        </p:spPr>
        <p:txBody>
          <a:bodyPr wrap="square">
            <a:spAutoFit/>
          </a:bodyPr>
          <a:lstStyle/>
          <a:p>
            <a:pPr lvl="1" algn="just"/>
            <a:r>
              <a:rPr lang="en-US" dirty="0">
                <a:latin typeface="Times New Roman" panose="02020603050405020304" pitchFamily="18" charset="0"/>
                <a:cs typeface="Times New Roman" panose="02020603050405020304" pitchFamily="18" charset="0"/>
              </a:rPr>
              <a:t>Ms. Kristalina Georgieva, from Bulgaria, is Managing Director and Chairman of the Executive Board from October 1, 2019.</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3599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9EDA1-30F3-EFE5-507A-C2B0246EE4F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424BA3A-686F-6B38-9D19-D85AAA2938F5}"/>
              </a:ext>
            </a:extLst>
          </p:cNvPr>
          <p:cNvSpPr>
            <a:spLocks noGrp="1"/>
          </p:cNvSpPr>
          <p:nvPr>
            <p:ph type="title"/>
          </p:nvPr>
        </p:nvSpPr>
        <p:spPr>
          <a:xfrm>
            <a:off x="1278308" y="150491"/>
            <a:ext cx="6654730" cy="820991"/>
          </a:xfrm>
        </p:spPr>
        <p:txBody>
          <a:bodyPr/>
          <a:lstStyle/>
          <a:p>
            <a:r>
              <a:rPr lang="en-US" sz="2800" b="1" dirty="0">
                <a:solidFill>
                  <a:schemeClr val="bg1"/>
                </a:solidFill>
              </a:rPr>
              <a:t>IMF-Role/Functions </a:t>
            </a:r>
            <a:endParaRPr lang="en-IN" sz="2800" b="1" dirty="0">
              <a:solidFill>
                <a:schemeClr val="bg1"/>
              </a:solidFill>
            </a:endParaRPr>
          </a:p>
        </p:txBody>
      </p:sp>
      <p:sp>
        <p:nvSpPr>
          <p:cNvPr id="3" name="Date Placeholder 2">
            <a:extLst>
              <a:ext uri="{FF2B5EF4-FFF2-40B4-BE49-F238E27FC236}">
                <a16:creationId xmlns:a16="http://schemas.microsoft.com/office/drawing/2014/main" id="{04775886-898C-817C-FDF2-8082DE1C3042}"/>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D172ED6D-6C67-769B-31D2-D719E5819173}"/>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61266F56-9E08-B6F7-CAD9-AB7B4D3B429A}"/>
              </a:ext>
            </a:extLst>
          </p:cNvPr>
          <p:cNvSpPr>
            <a:spLocks noGrp="1"/>
          </p:cNvSpPr>
          <p:nvPr>
            <p:ph type="sldNum" sz="quarter" idx="12"/>
          </p:nvPr>
        </p:nvSpPr>
        <p:spPr/>
        <p:txBody>
          <a:bodyPr/>
          <a:lstStyle/>
          <a:p>
            <a:pPr defTabSz="756209"/>
            <a:fld id="{B6F15528-21DE-4FAA-801E-634DDDAF4B2B}" type="slidenum">
              <a:rPr lang="en-US" smtClean="0"/>
              <a:pPr defTabSz="756209"/>
              <a:t>10</a:t>
            </a:fld>
            <a:endParaRPr lang="en-US"/>
          </a:p>
        </p:txBody>
      </p:sp>
      <p:sp>
        <p:nvSpPr>
          <p:cNvPr id="7" name="TextBox 6">
            <a:extLst>
              <a:ext uri="{FF2B5EF4-FFF2-40B4-BE49-F238E27FC236}">
                <a16:creationId xmlns:a16="http://schemas.microsoft.com/office/drawing/2014/main" id="{585E84FD-DB9B-CB78-A368-9161B96D04F0}"/>
              </a:ext>
            </a:extLst>
          </p:cNvPr>
          <p:cNvSpPr txBox="1"/>
          <p:nvPr/>
        </p:nvSpPr>
        <p:spPr>
          <a:xfrm>
            <a:off x="140204" y="1388692"/>
            <a:ext cx="9800216" cy="163121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International Monetary Fund (IMF) plays a crucial role in maintaining global economic stability. Its primary functions include surveillance, financial assistance, and capacity development. The IMF monitors economies, provides policy advice, and offers financial support to countries facing economic difficulties, particularly balance of payments problems. It also fosters international monetary cooperation and promotes sustainable economic growth. </a:t>
            </a:r>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621257E-C6A5-5DD2-C7C6-C1B37F60D7A3}"/>
              </a:ext>
            </a:extLst>
          </p:cNvPr>
          <p:cNvSpPr txBox="1"/>
          <p:nvPr/>
        </p:nvSpPr>
        <p:spPr>
          <a:xfrm>
            <a:off x="279699" y="3184264"/>
            <a:ext cx="4163209" cy="923330"/>
          </a:xfrm>
          <a:prstGeom prst="rect">
            <a:avLst/>
          </a:prstGeom>
          <a:noFill/>
        </p:spPr>
        <p:txBody>
          <a:bodyPr wrap="square" rtlCol="0">
            <a:spAutoFit/>
          </a:bodyPr>
          <a:lstStyle/>
          <a:p>
            <a:pPr marL="342900" indent="-342900">
              <a:buAutoNum type="arabicPeriod"/>
            </a:pPr>
            <a:r>
              <a:rPr lang="en-US" dirty="0"/>
              <a:t>Surveillance</a:t>
            </a:r>
          </a:p>
          <a:p>
            <a:pPr marL="342900" indent="-342900">
              <a:buAutoNum type="arabicPeriod"/>
            </a:pPr>
            <a:r>
              <a:rPr lang="en-US" dirty="0"/>
              <a:t>Lending</a:t>
            </a:r>
          </a:p>
          <a:p>
            <a:pPr marL="342900" indent="-342900">
              <a:buAutoNum type="arabicPeriod"/>
            </a:pPr>
            <a:r>
              <a:rPr lang="en-US" dirty="0"/>
              <a:t>Technical Assistance</a:t>
            </a:r>
            <a:endParaRPr lang="en-IN" dirty="0"/>
          </a:p>
        </p:txBody>
      </p:sp>
    </p:spTree>
    <p:extLst>
      <p:ext uri="{BB962C8B-B14F-4D97-AF65-F5344CB8AC3E}">
        <p14:creationId xmlns:p14="http://schemas.microsoft.com/office/powerpoint/2010/main" val="1319014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734EA-E3CB-5FFE-B100-D48DE58D8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267D1E0-1946-3246-028B-E6CE87C9057C}"/>
              </a:ext>
            </a:extLst>
          </p:cNvPr>
          <p:cNvSpPr>
            <a:spLocks noGrp="1"/>
          </p:cNvSpPr>
          <p:nvPr>
            <p:ph type="title"/>
          </p:nvPr>
        </p:nvSpPr>
        <p:spPr>
          <a:xfrm>
            <a:off x="1278308" y="150491"/>
            <a:ext cx="6654730" cy="820991"/>
          </a:xfrm>
        </p:spPr>
        <p:txBody>
          <a:bodyPr/>
          <a:lstStyle/>
          <a:p>
            <a:r>
              <a:rPr lang="en-IN" sz="2800" b="1" dirty="0">
                <a:solidFill>
                  <a:schemeClr val="bg1"/>
                </a:solidFill>
              </a:rPr>
              <a:t>WTO</a:t>
            </a:r>
          </a:p>
        </p:txBody>
      </p:sp>
      <p:sp>
        <p:nvSpPr>
          <p:cNvPr id="3" name="Date Placeholder 2">
            <a:extLst>
              <a:ext uri="{FF2B5EF4-FFF2-40B4-BE49-F238E27FC236}">
                <a16:creationId xmlns:a16="http://schemas.microsoft.com/office/drawing/2014/main" id="{EC74D9FB-F023-B721-E7E0-B285CA9E1C29}"/>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1A5A28A3-DED5-DF1E-65EC-1122B7A43663}"/>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14D009F6-DF51-D682-E6E7-D7026366CE63}"/>
              </a:ext>
            </a:extLst>
          </p:cNvPr>
          <p:cNvSpPr>
            <a:spLocks noGrp="1"/>
          </p:cNvSpPr>
          <p:nvPr>
            <p:ph type="sldNum" sz="quarter" idx="12"/>
          </p:nvPr>
        </p:nvSpPr>
        <p:spPr/>
        <p:txBody>
          <a:bodyPr/>
          <a:lstStyle/>
          <a:p>
            <a:pPr defTabSz="756209"/>
            <a:fld id="{B6F15528-21DE-4FAA-801E-634DDDAF4B2B}" type="slidenum">
              <a:rPr lang="en-US" smtClean="0"/>
              <a:pPr defTabSz="756209"/>
              <a:t>11</a:t>
            </a:fld>
            <a:endParaRPr lang="en-US"/>
          </a:p>
        </p:txBody>
      </p:sp>
      <p:pic>
        <p:nvPicPr>
          <p:cNvPr id="2" name="Picture 1">
            <a:extLst>
              <a:ext uri="{FF2B5EF4-FFF2-40B4-BE49-F238E27FC236}">
                <a16:creationId xmlns:a16="http://schemas.microsoft.com/office/drawing/2014/main" id="{7AAEA512-5E14-5D9C-A22F-8EC919B69EBE}"/>
              </a:ext>
            </a:extLst>
          </p:cNvPr>
          <p:cNvPicPr>
            <a:picLocks noChangeAspect="1"/>
          </p:cNvPicPr>
          <p:nvPr/>
        </p:nvPicPr>
        <p:blipFill>
          <a:blip r:embed="rId2"/>
          <a:stretch>
            <a:fillRect/>
          </a:stretch>
        </p:blipFill>
        <p:spPr>
          <a:xfrm>
            <a:off x="5040312" y="1400492"/>
            <a:ext cx="4933950" cy="1466850"/>
          </a:xfrm>
          <a:prstGeom prst="rect">
            <a:avLst/>
          </a:prstGeom>
        </p:spPr>
      </p:pic>
      <p:sp>
        <p:nvSpPr>
          <p:cNvPr id="8" name="TextBox 7">
            <a:extLst>
              <a:ext uri="{FF2B5EF4-FFF2-40B4-BE49-F238E27FC236}">
                <a16:creationId xmlns:a16="http://schemas.microsoft.com/office/drawing/2014/main" id="{AB52E7B9-487B-4054-618C-7FA4F56B886C}"/>
              </a:ext>
            </a:extLst>
          </p:cNvPr>
          <p:cNvSpPr txBox="1"/>
          <p:nvPr/>
        </p:nvSpPr>
        <p:spPr>
          <a:xfrm>
            <a:off x="106363" y="1533068"/>
            <a:ext cx="4820639" cy="2246769"/>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World Trade Organization (WTO) is the only global international body dealing with the rules of trade between nations. It aims to ensure that trade flows smoothly, predictably, and freely, ultimately contributing to increased living standards, job creation, and improved lives for people worldwide. </a:t>
            </a:r>
            <a:endParaRPr lang="en-IN" sz="2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7409FB5-B689-A7CF-7F8A-450005D4BC8C}"/>
              </a:ext>
            </a:extLst>
          </p:cNvPr>
          <p:cNvSpPr txBox="1"/>
          <p:nvPr/>
        </p:nvSpPr>
        <p:spPr>
          <a:xfrm>
            <a:off x="255493" y="4100607"/>
            <a:ext cx="9321101" cy="163121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Historical Context:</a:t>
            </a:r>
          </a:p>
          <a:p>
            <a:pPr algn="just"/>
            <a:r>
              <a:rPr lang="en-US" sz="2000" dirty="0">
                <a:latin typeface="Times New Roman" panose="02020603050405020304" pitchFamily="18" charset="0"/>
                <a:cs typeface="Times New Roman" panose="02020603050405020304" pitchFamily="18" charset="0"/>
              </a:rPr>
              <a:t>The WTO was established on January 1, 1995, as a successor to the General Agreement on Tariffs and Trade (GATT), which had primarily focused on trade in goods.</a:t>
            </a:r>
          </a:p>
          <a:p>
            <a:pPr algn="just"/>
            <a:r>
              <a:rPr lang="en-US" sz="2000" dirty="0">
                <a:latin typeface="Times New Roman" panose="02020603050405020304" pitchFamily="18" charset="0"/>
                <a:cs typeface="Times New Roman" panose="02020603050405020304" pitchFamily="18" charset="0"/>
              </a:rPr>
              <a:t>The WTO expanded the scope of international trade rules to include services and intellectual property, as well as introducing new dispute settlement procedures.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6674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15807-1AC0-65D8-ECE2-7966E83DE02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E9B6B45-2AF2-9D84-300D-30118ACAE18C}"/>
              </a:ext>
            </a:extLst>
          </p:cNvPr>
          <p:cNvSpPr>
            <a:spLocks noGrp="1"/>
          </p:cNvSpPr>
          <p:nvPr>
            <p:ph type="title"/>
          </p:nvPr>
        </p:nvSpPr>
        <p:spPr>
          <a:xfrm>
            <a:off x="1278308" y="150491"/>
            <a:ext cx="6654730" cy="820991"/>
          </a:xfrm>
        </p:spPr>
        <p:txBody>
          <a:bodyPr/>
          <a:lstStyle/>
          <a:p>
            <a:r>
              <a:rPr lang="en-IN" sz="2800" b="1" dirty="0">
                <a:solidFill>
                  <a:schemeClr val="bg1"/>
                </a:solidFill>
              </a:rPr>
              <a:t>Objectives of WTO</a:t>
            </a:r>
          </a:p>
        </p:txBody>
      </p:sp>
      <p:sp>
        <p:nvSpPr>
          <p:cNvPr id="3" name="Date Placeholder 2">
            <a:extLst>
              <a:ext uri="{FF2B5EF4-FFF2-40B4-BE49-F238E27FC236}">
                <a16:creationId xmlns:a16="http://schemas.microsoft.com/office/drawing/2014/main" id="{D6C11A33-D6C5-6952-1153-681EA90804D8}"/>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36D28931-90CD-B205-8C0C-11DB843D401E}"/>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3726247F-FE8F-6468-F468-8EE064FC40A4}"/>
              </a:ext>
            </a:extLst>
          </p:cNvPr>
          <p:cNvSpPr>
            <a:spLocks noGrp="1"/>
          </p:cNvSpPr>
          <p:nvPr>
            <p:ph type="sldNum" sz="quarter" idx="12"/>
          </p:nvPr>
        </p:nvSpPr>
        <p:spPr/>
        <p:txBody>
          <a:bodyPr/>
          <a:lstStyle/>
          <a:p>
            <a:pPr defTabSz="756209"/>
            <a:fld id="{B6F15528-21DE-4FAA-801E-634DDDAF4B2B}" type="slidenum">
              <a:rPr lang="en-US" smtClean="0"/>
              <a:pPr defTabSz="756209"/>
              <a:t>12</a:t>
            </a:fld>
            <a:endParaRPr lang="en-US"/>
          </a:p>
        </p:txBody>
      </p:sp>
      <p:sp>
        <p:nvSpPr>
          <p:cNvPr id="7" name="TextBox 6">
            <a:extLst>
              <a:ext uri="{FF2B5EF4-FFF2-40B4-BE49-F238E27FC236}">
                <a16:creationId xmlns:a16="http://schemas.microsoft.com/office/drawing/2014/main" id="{5894C273-08F0-59C6-8320-DD9EDD4E0709}"/>
              </a:ext>
            </a:extLst>
          </p:cNvPr>
          <p:cNvSpPr txBox="1"/>
          <p:nvPr/>
        </p:nvSpPr>
        <p:spPr>
          <a:xfrm>
            <a:off x="382251" y="1826211"/>
            <a:ext cx="8858569" cy="3170099"/>
          </a:xfrm>
          <a:prstGeom prst="rect">
            <a:avLst/>
          </a:prstGeom>
          <a:noFill/>
        </p:spPr>
        <p:txBody>
          <a:bodyPr wrap="square">
            <a:spAutoFit/>
          </a:bodyPr>
          <a:lstStyle/>
          <a:p>
            <a:r>
              <a:rPr lang="en-US" sz="2500" dirty="0">
                <a:latin typeface="Times New Roman" panose="02020603050405020304" pitchFamily="18" charset="0"/>
                <a:cs typeface="Times New Roman" panose="02020603050405020304" pitchFamily="18" charset="0"/>
              </a:rPr>
              <a:t>1. Administering Trade Agreements:</a:t>
            </a:r>
          </a:p>
          <a:p>
            <a:r>
              <a:rPr lang="en-US" sz="2500" dirty="0">
                <a:latin typeface="Times New Roman" panose="02020603050405020304" pitchFamily="18" charset="0"/>
                <a:cs typeface="Times New Roman" panose="02020603050405020304" pitchFamily="18" charset="0"/>
              </a:rPr>
              <a:t>2. Providing a Forum for Negotiations:</a:t>
            </a:r>
          </a:p>
          <a:p>
            <a:r>
              <a:rPr lang="en-US" sz="2500" dirty="0">
                <a:latin typeface="Times New Roman" panose="02020603050405020304" pitchFamily="18" charset="0"/>
                <a:cs typeface="Times New Roman" panose="02020603050405020304" pitchFamily="18" charset="0"/>
              </a:rPr>
              <a:t>3. Resolving Trade Disputes:</a:t>
            </a:r>
          </a:p>
          <a:p>
            <a:r>
              <a:rPr lang="en-US" sz="2500" dirty="0">
                <a:latin typeface="Times New Roman" panose="02020603050405020304" pitchFamily="18" charset="0"/>
                <a:cs typeface="Times New Roman" panose="02020603050405020304" pitchFamily="18" charset="0"/>
              </a:rPr>
              <a:t>4. Monitoring Trade Policies:</a:t>
            </a:r>
          </a:p>
          <a:p>
            <a:r>
              <a:rPr lang="en-US" sz="2500" dirty="0">
                <a:latin typeface="Times New Roman" panose="02020603050405020304" pitchFamily="18" charset="0"/>
                <a:cs typeface="Times New Roman" panose="02020603050405020304" pitchFamily="18" charset="0"/>
              </a:rPr>
              <a:t>5. Assisting Developing Countries:</a:t>
            </a:r>
          </a:p>
          <a:p>
            <a:r>
              <a:rPr lang="en-US" sz="2500" dirty="0">
                <a:latin typeface="Times New Roman" panose="02020603050405020304" pitchFamily="18" charset="0"/>
                <a:cs typeface="Times New Roman" panose="02020603050405020304" pitchFamily="18" charset="0"/>
              </a:rPr>
              <a:t>6. Promoting Free and Fair Trade:</a:t>
            </a:r>
          </a:p>
          <a:p>
            <a:r>
              <a:rPr lang="en-US" sz="2500" dirty="0">
                <a:latin typeface="Times New Roman" panose="02020603050405020304" pitchFamily="18" charset="0"/>
                <a:cs typeface="Times New Roman" panose="02020603050405020304" pitchFamily="18" charset="0"/>
              </a:rPr>
              <a:t>7. Enhancing Transparency and Predictability:</a:t>
            </a:r>
          </a:p>
          <a:p>
            <a:r>
              <a:rPr lang="en-US" sz="2500" dirty="0">
                <a:latin typeface="Times New Roman" panose="02020603050405020304" pitchFamily="18" charset="0"/>
                <a:cs typeface="Times New Roman" panose="02020603050405020304" pitchFamily="18" charset="0"/>
              </a:rPr>
              <a:t>8. Cooperating with Other Institutions:</a:t>
            </a:r>
          </a:p>
        </p:txBody>
      </p:sp>
    </p:spTree>
    <p:extLst>
      <p:ext uri="{BB962C8B-B14F-4D97-AF65-F5344CB8AC3E}">
        <p14:creationId xmlns:p14="http://schemas.microsoft.com/office/powerpoint/2010/main" val="524747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9D06C-2CD0-3871-2B37-4918B7531CF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747FAFE-6201-5D27-25AE-395CB50A2E77}"/>
              </a:ext>
            </a:extLst>
          </p:cNvPr>
          <p:cNvSpPr>
            <a:spLocks noGrp="1"/>
          </p:cNvSpPr>
          <p:nvPr>
            <p:ph type="title"/>
          </p:nvPr>
        </p:nvSpPr>
        <p:spPr>
          <a:xfrm>
            <a:off x="1278308" y="150491"/>
            <a:ext cx="6654730" cy="820991"/>
          </a:xfrm>
        </p:spPr>
        <p:txBody>
          <a:bodyPr/>
          <a:lstStyle/>
          <a:p>
            <a:r>
              <a:rPr lang="en-IN" sz="2800" b="1" dirty="0">
                <a:solidFill>
                  <a:schemeClr val="bg1"/>
                </a:solidFill>
              </a:rPr>
              <a:t>Principles of WTO</a:t>
            </a:r>
          </a:p>
        </p:txBody>
      </p:sp>
      <p:sp>
        <p:nvSpPr>
          <p:cNvPr id="3" name="Date Placeholder 2">
            <a:extLst>
              <a:ext uri="{FF2B5EF4-FFF2-40B4-BE49-F238E27FC236}">
                <a16:creationId xmlns:a16="http://schemas.microsoft.com/office/drawing/2014/main" id="{3E1FFB36-5CEA-E507-3E99-3C7598D4C2AF}"/>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734C5271-4911-1319-765F-EF79A3D4FA8C}"/>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EA563D69-84DC-CBC3-3E3A-3278B0D0B4CA}"/>
              </a:ext>
            </a:extLst>
          </p:cNvPr>
          <p:cNvSpPr>
            <a:spLocks noGrp="1"/>
          </p:cNvSpPr>
          <p:nvPr>
            <p:ph type="sldNum" sz="quarter" idx="12"/>
          </p:nvPr>
        </p:nvSpPr>
        <p:spPr/>
        <p:txBody>
          <a:bodyPr/>
          <a:lstStyle/>
          <a:p>
            <a:pPr defTabSz="756209"/>
            <a:fld id="{B6F15528-21DE-4FAA-801E-634DDDAF4B2B}" type="slidenum">
              <a:rPr lang="en-US" smtClean="0"/>
              <a:pPr defTabSz="756209"/>
              <a:t>13</a:t>
            </a:fld>
            <a:endParaRPr lang="en-US"/>
          </a:p>
        </p:txBody>
      </p:sp>
      <p:sp>
        <p:nvSpPr>
          <p:cNvPr id="8" name="TextBox 7">
            <a:extLst>
              <a:ext uri="{FF2B5EF4-FFF2-40B4-BE49-F238E27FC236}">
                <a16:creationId xmlns:a16="http://schemas.microsoft.com/office/drawing/2014/main" id="{85441341-F0B5-231B-2BF8-18403812241F}"/>
              </a:ext>
            </a:extLst>
          </p:cNvPr>
          <p:cNvSpPr txBox="1"/>
          <p:nvPr/>
        </p:nvSpPr>
        <p:spPr>
          <a:xfrm>
            <a:off x="96819" y="1491037"/>
            <a:ext cx="9703398" cy="2785378"/>
          </a:xfrm>
          <a:prstGeom prst="rect">
            <a:avLst/>
          </a:prstGeom>
          <a:noFill/>
        </p:spPr>
        <p:txBody>
          <a:bodyPr wrap="square">
            <a:spAutoFit/>
          </a:bodyPr>
          <a:lstStyle/>
          <a:p>
            <a:r>
              <a:rPr lang="en-US" sz="2500" dirty="0">
                <a:latin typeface="Times New Roman" panose="02020603050405020304" pitchFamily="18" charset="0"/>
                <a:cs typeface="Times New Roman" panose="02020603050405020304" pitchFamily="18" charset="0"/>
              </a:rPr>
              <a:t>1.Non-Discrimination: </a:t>
            </a:r>
          </a:p>
          <a:p>
            <a:r>
              <a:rPr lang="en-US" sz="2500" dirty="0">
                <a:latin typeface="Times New Roman" panose="02020603050405020304" pitchFamily="18" charset="0"/>
                <a:cs typeface="Times New Roman" panose="02020603050405020304" pitchFamily="18" charset="0"/>
              </a:rPr>
              <a:t>2. Market Access: </a:t>
            </a:r>
          </a:p>
          <a:p>
            <a:r>
              <a:rPr lang="en-US" sz="2500" dirty="0">
                <a:latin typeface="Times New Roman" panose="02020603050405020304" pitchFamily="18" charset="0"/>
                <a:cs typeface="Times New Roman" panose="02020603050405020304" pitchFamily="18" charset="0"/>
              </a:rPr>
              <a:t>3. Fair Competition</a:t>
            </a:r>
          </a:p>
          <a:p>
            <a:r>
              <a:rPr lang="en-US" sz="2500" dirty="0">
                <a:latin typeface="Times New Roman" panose="02020603050405020304" pitchFamily="18" charset="0"/>
                <a:cs typeface="Times New Roman" panose="02020603050405020304" pitchFamily="18" charset="0"/>
              </a:rPr>
              <a:t>4. Transparency: </a:t>
            </a:r>
          </a:p>
          <a:p>
            <a:r>
              <a:rPr lang="en-US" sz="2500" dirty="0">
                <a:latin typeface="Times New Roman" panose="02020603050405020304" pitchFamily="18" charset="0"/>
                <a:cs typeface="Times New Roman" panose="02020603050405020304" pitchFamily="18" charset="0"/>
              </a:rPr>
              <a:t>5. Reciprocity: </a:t>
            </a:r>
          </a:p>
          <a:p>
            <a:r>
              <a:rPr lang="en-US" sz="2500" dirty="0">
                <a:latin typeface="Times New Roman" panose="02020603050405020304" pitchFamily="18" charset="0"/>
                <a:cs typeface="Times New Roman" panose="02020603050405020304" pitchFamily="18" charset="0"/>
              </a:rPr>
              <a:t>6. Special and Differential Treatment for Developing Countries:</a:t>
            </a:r>
          </a:p>
          <a:p>
            <a:r>
              <a:rPr lang="en-US" sz="2500" dirty="0">
                <a:latin typeface="Times New Roman" panose="02020603050405020304" pitchFamily="18" charset="0"/>
                <a:cs typeface="Times New Roman" panose="02020603050405020304" pitchFamily="18" charset="0"/>
              </a:rPr>
              <a:t>7. Safety Valves:</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1653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CE4BE-5FD3-2BE4-8331-6385E6115EF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C6B6A1A-8A11-A8C4-DC0C-E88A6C04EE6D}"/>
              </a:ext>
            </a:extLst>
          </p:cNvPr>
          <p:cNvSpPr>
            <a:spLocks noGrp="1"/>
          </p:cNvSpPr>
          <p:nvPr>
            <p:ph type="title"/>
          </p:nvPr>
        </p:nvSpPr>
        <p:spPr>
          <a:xfrm>
            <a:off x="1278308" y="150491"/>
            <a:ext cx="6654730" cy="820991"/>
          </a:xfrm>
        </p:spPr>
        <p:txBody>
          <a:bodyPr/>
          <a:lstStyle/>
          <a:p>
            <a:r>
              <a:rPr lang="en-IN" sz="2800" b="1" dirty="0">
                <a:solidFill>
                  <a:schemeClr val="bg1"/>
                </a:solidFill>
              </a:rPr>
              <a:t>Role/Functioning of WTO</a:t>
            </a:r>
          </a:p>
        </p:txBody>
      </p:sp>
      <p:sp>
        <p:nvSpPr>
          <p:cNvPr id="3" name="Date Placeholder 2">
            <a:extLst>
              <a:ext uri="{FF2B5EF4-FFF2-40B4-BE49-F238E27FC236}">
                <a16:creationId xmlns:a16="http://schemas.microsoft.com/office/drawing/2014/main" id="{4384143B-9A57-723F-53F1-D7DCC9CAB621}"/>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DFA90F03-62AB-92F7-93BE-246A677179CC}"/>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1EC34E39-90BD-D24B-B817-DE718F02931D}"/>
              </a:ext>
            </a:extLst>
          </p:cNvPr>
          <p:cNvSpPr>
            <a:spLocks noGrp="1"/>
          </p:cNvSpPr>
          <p:nvPr>
            <p:ph type="sldNum" sz="quarter" idx="12"/>
          </p:nvPr>
        </p:nvSpPr>
        <p:spPr/>
        <p:txBody>
          <a:bodyPr/>
          <a:lstStyle/>
          <a:p>
            <a:pPr defTabSz="756209"/>
            <a:fld id="{B6F15528-21DE-4FAA-801E-634DDDAF4B2B}" type="slidenum">
              <a:rPr lang="en-US" smtClean="0"/>
              <a:pPr defTabSz="756209"/>
              <a:t>14</a:t>
            </a:fld>
            <a:endParaRPr lang="en-US"/>
          </a:p>
        </p:txBody>
      </p:sp>
      <p:sp>
        <p:nvSpPr>
          <p:cNvPr id="8" name="TextBox 7">
            <a:extLst>
              <a:ext uri="{FF2B5EF4-FFF2-40B4-BE49-F238E27FC236}">
                <a16:creationId xmlns:a16="http://schemas.microsoft.com/office/drawing/2014/main" id="{187FFC01-361F-2320-584F-178DEAA07846}"/>
              </a:ext>
            </a:extLst>
          </p:cNvPr>
          <p:cNvSpPr txBox="1"/>
          <p:nvPr/>
        </p:nvSpPr>
        <p:spPr>
          <a:xfrm>
            <a:off x="75304" y="1588434"/>
            <a:ext cx="9703398" cy="2400657"/>
          </a:xfrm>
          <a:prstGeom prst="rect">
            <a:avLst/>
          </a:prstGeom>
          <a:noFill/>
        </p:spPr>
        <p:txBody>
          <a:bodyPr wrap="square">
            <a:spAutoFit/>
          </a:bodyPr>
          <a:lstStyle/>
          <a:p>
            <a:pPr marL="457200" indent="-457200">
              <a:buAutoNum type="arabicPeriod"/>
            </a:pPr>
            <a:r>
              <a:rPr lang="en-US" sz="2500" dirty="0">
                <a:latin typeface="Times New Roman" panose="02020603050405020304" pitchFamily="18" charset="0"/>
                <a:cs typeface="Times New Roman" panose="02020603050405020304" pitchFamily="18" charset="0"/>
              </a:rPr>
              <a:t>Helping Developing and Transition Economies</a:t>
            </a:r>
          </a:p>
          <a:p>
            <a:pPr marL="457200" indent="-457200">
              <a:buAutoNum type="arabicPeriod"/>
            </a:pPr>
            <a:r>
              <a:rPr lang="en-US" sz="2500" dirty="0">
                <a:latin typeface="Times New Roman" panose="02020603050405020304" pitchFamily="18" charset="0"/>
                <a:cs typeface="Times New Roman" panose="02020603050405020304" pitchFamily="18" charset="0"/>
              </a:rPr>
              <a:t>Specialized Help for Export</a:t>
            </a:r>
          </a:p>
          <a:p>
            <a:pPr marL="457200" indent="-457200">
              <a:buAutoNum type="arabicPeriod"/>
            </a:pPr>
            <a:r>
              <a:rPr lang="en-US" sz="2500" dirty="0">
                <a:latin typeface="Times New Roman" panose="02020603050405020304" pitchFamily="18" charset="0"/>
                <a:cs typeface="Times New Roman" panose="02020603050405020304" pitchFamily="18" charset="0"/>
              </a:rPr>
              <a:t>WTO in Global Economic Policy-Making</a:t>
            </a:r>
          </a:p>
          <a:p>
            <a:pPr marL="457200" indent="-457200">
              <a:buAutoNum type="arabicPeriod"/>
            </a:pPr>
            <a:r>
              <a:rPr lang="en-US" sz="2500" dirty="0">
                <a:latin typeface="Times New Roman" panose="02020603050405020304" pitchFamily="18" charset="0"/>
                <a:cs typeface="Times New Roman" panose="02020603050405020304" pitchFamily="18" charset="0"/>
              </a:rPr>
              <a:t>Taking Information</a:t>
            </a:r>
          </a:p>
          <a:p>
            <a:pPr marL="457200" indent="-457200">
              <a:buAutoNum type="arabicPeriod"/>
            </a:pPr>
            <a:r>
              <a:rPr lang="en-US" sz="2500" dirty="0">
                <a:latin typeface="Times New Roman" panose="02020603050405020304" pitchFamily="18" charset="0"/>
                <a:cs typeface="Times New Roman" panose="02020603050405020304" pitchFamily="18" charset="0"/>
              </a:rPr>
              <a:t>Giving information to Public</a:t>
            </a:r>
          </a:p>
          <a:p>
            <a:pPr marL="457200" indent="-457200">
              <a:buAutoNum type="arabicPeriod"/>
            </a:pPr>
            <a:r>
              <a:rPr lang="en-US" sz="2500" dirty="0">
                <a:latin typeface="Times New Roman" panose="02020603050405020304" pitchFamily="18" charset="0"/>
                <a:cs typeface="Times New Roman" panose="02020603050405020304" pitchFamily="18" charset="0"/>
              </a:rPr>
              <a:t>Encouraging Development and Economic Reforms </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1234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72A27-39C6-596F-A7E5-5CB5A2FE505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79D6822-12AC-4915-89B7-6A84058D367B}"/>
              </a:ext>
            </a:extLst>
          </p:cNvPr>
          <p:cNvSpPr>
            <a:spLocks noGrp="1"/>
          </p:cNvSpPr>
          <p:nvPr>
            <p:ph type="title"/>
          </p:nvPr>
        </p:nvSpPr>
        <p:spPr>
          <a:xfrm>
            <a:off x="1278308" y="150491"/>
            <a:ext cx="6654730" cy="820991"/>
          </a:xfrm>
        </p:spPr>
        <p:txBody>
          <a:bodyPr/>
          <a:lstStyle/>
          <a:p>
            <a:r>
              <a:rPr lang="en-IN" sz="2800" b="1" dirty="0">
                <a:solidFill>
                  <a:schemeClr val="bg1"/>
                </a:solidFill>
              </a:rPr>
              <a:t>WTO advantages</a:t>
            </a:r>
          </a:p>
        </p:txBody>
      </p:sp>
      <p:sp>
        <p:nvSpPr>
          <p:cNvPr id="3" name="Date Placeholder 2">
            <a:extLst>
              <a:ext uri="{FF2B5EF4-FFF2-40B4-BE49-F238E27FC236}">
                <a16:creationId xmlns:a16="http://schemas.microsoft.com/office/drawing/2014/main" id="{74B6E059-DE65-E831-FB44-0934EC968D13}"/>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20940E41-5EC9-FD7D-2988-8E0CE6C1A30B}"/>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CC28C408-8DDB-FA6E-C041-3DF21178AAD2}"/>
              </a:ext>
            </a:extLst>
          </p:cNvPr>
          <p:cNvSpPr>
            <a:spLocks noGrp="1"/>
          </p:cNvSpPr>
          <p:nvPr>
            <p:ph type="sldNum" sz="quarter" idx="12"/>
          </p:nvPr>
        </p:nvSpPr>
        <p:spPr/>
        <p:txBody>
          <a:bodyPr/>
          <a:lstStyle/>
          <a:p>
            <a:pPr defTabSz="756209"/>
            <a:fld id="{B6F15528-21DE-4FAA-801E-634DDDAF4B2B}" type="slidenum">
              <a:rPr lang="en-US" smtClean="0"/>
              <a:pPr defTabSz="756209"/>
              <a:t>15</a:t>
            </a:fld>
            <a:endParaRPr lang="en-US"/>
          </a:p>
        </p:txBody>
      </p:sp>
      <p:sp>
        <p:nvSpPr>
          <p:cNvPr id="2" name="TextBox 1">
            <a:extLst>
              <a:ext uri="{FF2B5EF4-FFF2-40B4-BE49-F238E27FC236}">
                <a16:creationId xmlns:a16="http://schemas.microsoft.com/office/drawing/2014/main" id="{A6C67490-4FB1-C203-0237-1A7187EF346A}"/>
              </a:ext>
            </a:extLst>
          </p:cNvPr>
          <p:cNvSpPr txBox="1"/>
          <p:nvPr/>
        </p:nvSpPr>
        <p:spPr>
          <a:xfrm>
            <a:off x="677732" y="1731981"/>
            <a:ext cx="8541572" cy="3170099"/>
          </a:xfrm>
          <a:prstGeom prst="rect">
            <a:avLst/>
          </a:prstGeom>
          <a:noFill/>
        </p:spPr>
        <p:txBody>
          <a:bodyPr wrap="square" rtlCol="0">
            <a:spAutoFit/>
          </a:bodyPr>
          <a:lstStyle/>
          <a:p>
            <a:pPr marL="342900" indent="-342900">
              <a:buAutoNum type="arabicPeriod"/>
            </a:pPr>
            <a:r>
              <a:rPr lang="en-US" sz="2500" dirty="0">
                <a:latin typeface="Times New Roman" panose="02020603050405020304" pitchFamily="18" charset="0"/>
                <a:cs typeface="Times New Roman" panose="02020603050405020304" pitchFamily="18" charset="0"/>
              </a:rPr>
              <a:t>Promoting International Peace</a:t>
            </a:r>
          </a:p>
          <a:p>
            <a:pPr marL="342900" indent="-342900">
              <a:buAutoNum type="arabicPeriod"/>
            </a:pPr>
            <a:r>
              <a:rPr lang="en-US" sz="2500" dirty="0">
                <a:latin typeface="Times New Roman" panose="02020603050405020304" pitchFamily="18" charset="0"/>
                <a:cs typeface="Times New Roman" panose="02020603050405020304" pitchFamily="18" charset="0"/>
              </a:rPr>
              <a:t>Rules Make life Easier for All</a:t>
            </a:r>
          </a:p>
          <a:p>
            <a:pPr marL="342900" indent="-342900">
              <a:buAutoNum type="arabicPeriod"/>
            </a:pPr>
            <a:r>
              <a:rPr lang="en-US" sz="2500" dirty="0">
                <a:latin typeface="Times New Roman" panose="02020603050405020304" pitchFamily="18" charset="0"/>
                <a:cs typeface="Times New Roman" panose="02020603050405020304" pitchFamily="18" charset="0"/>
              </a:rPr>
              <a:t>Reducing the Cost of Living</a:t>
            </a:r>
          </a:p>
          <a:p>
            <a:pPr marL="342900" indent="-342900">
              <a:buAutoNum type="arabicPeriod"/>
            </a:pPr>
            <a:r>
              <a:rPr lang="en-US" sz="2500" dirty="0">
                <a:latin typeface="Times New Roman" panose="02020603050405020304" pitchFamily="18" charset="0"/>
                <a:cs typeface="Times New Roman" panose="02020603050405020304" pitchFamily="18" charset="0"/>
              </a:rPr>
              <a:t>It Provides more Choice of Products and Qualities</a:t>
            </a:r>
          </a:p>
          <a:p>
            <a:pPr marL="342900" indent="-342900">
              <a:buAutoNum type="arabicPeriod"/>
            </a:pPr>
            <a:r>
              <a:rPr lang="en-US" sz="2500" dirty="0">
                <a:latin typeface="Times New Roman" panose="02020603050405020304" pitchFamily="18" charset="0"/>
                <a:cs typeface="Times New Roman" panose="02020603050405020304" pitchFamily="18" charset="0"/>
              </a:rPr>
              <a:t>Trade Raises the Level of Income and Economic Growth</a:t>
            </a:r>
          </a:p>
          <a:p>
            <a:pPr marL="342900" indent="-342900">
              <a:buAutoNum type="arabicPeriod"/>
            </a:pPr>
            <a:r>
              <a:rPr lang="en-US" sz="2500" dirty="0">
                <a:latin typeface="Times New Roman" panose="02020603050405020304" pitchFamily="18" charset="0"/>
                <a:cs typeface="Times New Roman" panose="02020603050405020304" pitchFamily="18" charset="0"/>
              </a:rPr>
              <a:t>Achieving Full Employment</a:t>
            </a:r>
          </a:p>
          <a:p>
            <a:pPr marL="342900" indent="-342900">
              <a:buAutoNum type="arabicPeriod"/>
            </a:pPr>
            <a:r>
              <a:rPr lang="en-IN" sz="2500" dirty="0">
                <a:latin typeface="Times New Roman" panose="02020603050405020304" pitchFamily="18" charset="0"/>
                <a:cs typeface="Times New Roman" panose="02020603050405020304" pitchFamily="18" charset="0"/>
              </a:rPr>
              <a:t>Governments are Protected from Lobbying</a:t>
            </a:r>
          </a:p>
          <a:p>
            <a:pPr marL="342900" indent="-342900">
              <a:buAutoNum type="arabicPeriod"/>
            </a:pPr>
            <a:r>
              <a:rPr lang="en-IN" sz="2500" dirty="0">
                <a:latin typeface="Times New Roman" panose="02020603050405020304" pitchFamily="18" charset="0"/>
                <a:cs typeface="Times New Roman" panose="02020603050405020304" pitchFamily="18" charset="0"/>
              </a:rPr>
              <a:t>System Promotes Good Governance</a:t>
            </a:r>
          </a:p>
        </p:txBody>
      </p:sp>
    </p:spTree>
    <p:extLst>
      <p:ext uri="{BB962C8B-B14F-4D97-AF65-F5344CB8AC3E}">
        <p14:creationId xmlns:p14="http://schemas.microsoft.com/office/powerpoint/2010/main" val="2169623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F8FBF-3D3E-C4D6-CAFC-FEEB408BF76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4818B4-E1F7-3776-A485-DABAEF6172CF}"/>
              </a:ext>
            </a:extLst>
          </p:cNvPr>
          <p:cNvSpPr>
            <a:spLocks noGrp="1"/>
          </p:cNvSpPr>
          <p:nvPr>
            <p:ph type="title"/>
          </p:nvPr>
        </p:nvSpPr>
        <p:spPr>
          <a:xfrm>
            <a:off x="1278308" y="150491"/>
            <a:ext cx="6654730" cy="820991"/>
          </a:xfrm>
        </p:spPr>
        <p:txBody>
          <a:bodyPr/>
          <a:lstStyle/>
          <a:p>
            <a:r>
              <a:rPr lang="en-IN" sz="2800" b="1" dirty="0">
                <a:solidFill>
                  <a:schemeClr val="bg1"/>
                </a:solidFill>
              </a:rPr>
              <a:t>TRIMS</a:t>
            </a:r>
          </a:p>
        </p:txBody>
      </p:sp>
      <p:sp>
        <p:nvSpPr>
          <p:cNvPr id="3" name="Date Placeholder 2">
            <a:extLst>
              <a:ext uri="{FF2B5EF4-FFF2-40B4-BE49-F238E27FC236}">
                <a16:creationId xmlns:a16="http://schemas.microsoft.com/office/drawing/2014/main" id="{E8F7025B-CFEF-CBB1-04D9-86BE5C61A56B}"/>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B2611F7B-02CF-B91E-311A-87F01F4F2481}"/>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A680F6CB-5384-DC39-C396-6AD34BCA4F59}"/>
              </a:ext>
            </a:extLst>
          </p:cNvPr>
          <p:cNvSpPr>
            <a:spLocks noGrp="1"/>
          </p:cNvSpPr>
          <p:nvPr>
            <p:ph type="sldNum" sz="quarter" idx="12"/>
          </p:nvPr>
        </p:nvSpPr>
        <p:spPr/>
        <p:txBody>
          <a:bodyPr/>
          <a:lstStyle/>
          <a:p>
            <a:pPr defTabSz="756209"/>
            <a:fld id="{B6F15528-21DE-4FAA-801E-634DDDAF4B2B}" type="slidenum">
              <a:rPr lang="en-US" smtClean="0"/>
              <a:pPr defTabSz="756209"/>
              <a:t>16</a:t>
            </a:fld>
            <a:endParaRPr lang="en-US"/>
          </a:p>
        </p:txBody>
      </p:sp>
      <p:sp>
        <p:nvSpPr>
          <p:cNvPr id="7" name="TextBox 6">
            <a:extLst>
              <a:ext uri="{FF2B5EF4-FFF2-40B4-BE49-F238E27FC236}">
                <a16:creationId xmlns:a16="http://schemas.microsoft.com/office/drawing/2014/main" id="{E28E46AF-54D2-03F3-7AB1-DF16272F61EF}"/>
              </a:ext>
            </a:extLst>
          </p:cNvPr>
          <p:cNvSpPr txBox="1"/>
          <p:nvPr/>
        </p:nvSpPr>
        <p:spPr>
          <a:xfrm>
            <a:off x="126403" y="1357602"/>
            <a:ext cx="9792148" cy="1015663"/>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Trade-Related Investment Measures is one of the four principal legal agreements of the WTO trade treaty. TRIMs are rules that restrict preference of domestic firms and thereby enable international firms to operate more easily within foreign markets.</a:t>
            </a:r>
            <a:endParaRPr lang="en-IN" sz="2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E92AF43-B2AC-19E8-9B2E-056BC961A889}"/>
              </a:ext>
            </a:extLst>
          </p:cNvPr>
          <p:cNvSpPr txBox="1"/>
          <p:nvPr/>
        </p:nvSpPr>
        <p:spPr>
          <a:xfrm>
            <a:off x="588981" y="2961632"/>
            <a:ext cx="8113955" cy="1754326"/>
          </a:xfrm>
          <a:prstGeom prst="rect">
            <a:avLst/>
          </a:prstGeom>
          <a:noFill/>
        </p:spPr>
        <p:txBody>
          <a:bodyPr wrap="square">
            <a:spAutoFit/>
          </a:bodyPr>
          <a:lstStyle/>
          <a:p>
            <a:pPr algn="ctr"/>
            <a:r>
              <a:rPr lang="en-US" b="1" u="sng" dirty="0"/>
              <a:t>Features of TRIMS</a:t>
            </a:r>
          </a:p>
          <a:p>
            <a:pPr marL="285750" indent="-285750">
              <a:buFont typeface="Arial" panose="020B0604020202020204" pitchFamily="34" charset="0"/>
              <a:buChar char="•"/>
            </a:pPr>
            <a:r>
              <a:rPr lang="en-US" dirty="0"/>
              <a:t>It only applies to investment measures related to goods trade.</a:t>
            </a:r>
          </a:p>
          <a:p>
            <a:pPr marL="285750" indent="-285750">
              <a:buFont typeface="Arial" panose="020B0604020202020204" pitchFamily="34" charset="0"/>
              <a:buChar char="•"/>
            </a:pPr>
            <a:r>
              <a:rPr lang="en-US" dirty="0"/>
              <a:t>This doesn't apply to service trade.</a:t>
            </a:r>
          </a:p>
          <a:p>
            <a:pPr marL="285750" indent="-285750">
              <a:buFont typeface="Arial" panose="020B0604020202020204" pitchFamily="34" charset="0"/>
              <a:buChar char="•"/>
            </a:pPr>
            <a:r>
              <a:rPr lang="en-US" dirty="0"/>
              <a:t>It doesn't regulate the entry of foreign industry or investment.</a:t>
            </a:r>
          </a:p>
          <a:p>
            <a:pPr marL="285750" indent="-285750">
              <a:buFont typeface="Arial" panose="020B0604020202020204" pitchFamily="34" charset="0"/>
              <a:buChar char="•"/>
            </a:pPr>
            <a:r>
              <a:rPr lang="en-US" dirty="0"/>
              <a:t>It is about the discriminatory treatment of imported/exported products.</a:t>
            </a:r>
          </a:p>
          <a:p>
            <a:pPr marL="285750" indent="-285750">
              <a:buFont typeface="Arial" panose="020B0604020202020204" pitchFamily="34" charset="0"/>
              <a:buChar char="•"/>
            </a:pPr>
            <a:r>
              <a:rPr lang="en-US" dirty="0"/>
              <a:t>Concern measures were applied to both foreign domestic firms.</a:t>
            </a:r>
            <a:endParaRPr lang="en-IN" dirty="0"/>
          </a:p>
        </p:txBody>
      </p:sp>
    </p:spTree>
    <p:extLst>
      <p:ext uri="{BB962C8B-B14F-4D97-AF65-F5344CB8AC3E}">
        <p14:creationId xmlns:p14="http://schemas.microsoft.com/office/powerpoint/2010/main" val="3927256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30691-7931-0414-E1AF-1034337F1A6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8D6C76C-ACCD-B495-7D08-0AE68C52C3E9}"/>
              </a:ext>
            </a:extLst>
          </p:cNvPr>
          <p:cNvSpPr>
            <a:spLocks noGrp="1"/>
          </p:cNvSpPr>
          <p:nvPr>
            <p:ph type="title"/>
          </p:nvPr>
        </p:nvSpPr>
        <p:spPr>
          <a:xfrm>
            <a:off x="1278308" y="150491"/>
            <a:ext cx="6654730" cy="820991"/>
          </a:xfrm>
        </p:spPr>
        <p:txBody>
          <a:bodyPr/>
          <a:lstStyle/>
          <a:p>
            <a:r>
              <a:rPr lang="en-IN" sz="2800" b="1" dirty="0">
                <a:solidFill>
                  <a:schemeClr val="bg1"/>
                </a:solidFill>
              </a:rPr>
              <a:t>TRIPS</a:t>
            </a:r>
          </a:p>
        </p:txBody>
      </p:sp>
      <p:sp>
        <p:nvSpPr>
          <p:cNvPr id="3" name="Date Placeholder 2">
            <a:extLst>
              <a:ext uri="{FF2B5EF4-FFF2-40B4-BE49-F238E27FC236}">
                <a16:creationId xmlns:a16="http://schemas.microsoft.com/office/drawing/2014/main" id="{05F0EA1A-4054-BDC9-0743-6EC0BA09EF7D}"/>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66C8193F-FC74-A56A-327C-EDDF222D39DC}"/>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74E1EBEB-ACCA-8556-8A57-EA035AD9E885}"/>
              </a:ext>
            </a:extLst>
          </p:cNvPr>
          <p:cNvSpPr>
            <a:spLocks noGrp="1"/>
          </p:cNvSpPr>
          <p:nvPr>
            <p:ph type="sldNum" sz="quarter" idx="12"/>
          </p:nvPr>
        </p:nvSpPr>
        <p:spPr/>
        <p:txBody>
          <a:bodyPr/>
          <a:lstStyle/>
          <a:p>
            <a:pPr defTabSz="756209"/>
            <a:fld id="{B6F15528-21DE-4FAA-801E-634DDDAF4B2B}" type="slidenum">
              <a:rPr lang="en-US" smtClean="0"/>
              <a:pPr defTabSz="756209"/>
              <a:t>17</a:t>
            </a:fld>
            <a:endParaRPr lang="en-US"/>
          </a:p>
        </p:txBody>
      </p:sp>
      <p:sp>
        <p:nvSpPr>
          <p:cNvPr id="8" name="TextBox 7">
            <a:extLst>
              <a:ext uri="{FF2B5EF4-FFF2-40B4-BE49-F238E27FC236}">
                <a16:creationId xmlns:a16="http://schemas.microsoft.com/office/drawing/2014/main" id="{B25AFCEE-841E-1E8E-7744-B38DE15D7FF3}"/>
              </a:ext>
            </a:extLst>
          </p:cNvPr>
          <p:cNvSpPr txBox="1"/>
          <p:nvPr/>
        </p:nvSpPr>
        <p:spPr>
          <a:xfrm>
            <a:off x="150961" y="1303691"/>
            <a:ext cx="9778701" cy="2462213"/>
          </a:xfrm>
          <a:prstGeom prst="rect">
            <a:avLst/>
          </a:prstGeom>
          <a:noFill/>
        </p:spPr>
        <p:txBody>
          <a:bodyPr wrap="square">
            <a:spAutoFit/>
          </a:bodyPr>
          <a:lstStyle/>
          <a:p>
            <a:pPr algn="just"/>
            <a:r>
              <a:rPr lang="en-US" sz="2200" dirty="0">
                <a:latin typeface="Times New Roman" panose="02020603050405020304" pitchFamily="18" charset="0"/>
                <a:cs typeface="Times New Roman" panose="02020603050405020304" pitchFamily="18" charset="0"/>
              </a:rPr>
              <a:t>The Agreement on Trade-Related Aspects of Intellectual Property Rights (TRIPS) is a comprehensive international agreement administered by the World Trade Organization (WTO) that sets minimum standards for intellectual property rights (IPR) protection and enforcement. TRIPS aims to reduce trade distortions and obstructions caused by inadequate IPR protection, ensuring measures for enforcing IPRs don't hinder legitimate trade. It also aims to facilitate international trade in knowledge and resolve trade disputes related to IP</a:t>
            </a:r>
            <a:r>
              <a:rPr lang="en-US" dirty="0"/>
              <a:t>. </a:t>
            </a:r>
            <a:endParaRPr lang="en-IN" dirty="0"/>
          </a:p>
        </p:txBody>
      </p:sp>
      <p:sp>
        <p:nvSpPr>
          <p:cNvPr id="9" name="TextBox 8">
            <a:extLst>
              <a:ext uri="{FF2B5EF4-FFF2-40B4-BE49-F238E27FC236}">
                <a16:creationId xmlns:a16="http://schemas.microsoft.com/office/drawing/2014/main" id="{EF357090-F100-D42F-E006-8A4B9C7EAE50}"/>
              </a:ext>
            </a:extLst>
          </p:cNvPr>
          <p:cNvSpPr txBox="1"/>
          <p:nvPr/>
        </p:nvSpPr>
        <p:spPr>
          <a:xfrm>
            <a:off x="268941" y="3947660"/>
            <a:ext cx="8014447" cy="2308324"/>
          </a:xfrm>
          <a:prstGeom prst="rect">
            <a:avLst/>
          </a:prstGeom>
          <a:noFill/>
        </p:spPr>
        <p:txBody>
          <a:bodyPr wrap="square" rtlCol="0">
            <a:spAutoFit/>
          </a:bodyPr>
          <a:lstStyle/>
          <a:p>
            <a:r>
              <a:rPr lang="en-US" b="1" u="sng" dirty="0"/>
              <a:t>IPRs: Major Concern in TRIPS</a:t>
            </a:r>
          </a:p>
          <a:p>
            <a:pPr marL="342900" indent="-342900">
              <a:buAutoNum type="arabicPeriod"/>
            </a:pPr>
            <a:r>
              <a:rPr lang="en-US" dirty="0"/>
              <a:t>Patents</a:t>
            </a:r>
          </a:p>
          <a:p>
            <a:pPr marL="342900" indent="-342900">
              <a:buAutoNum type="arabicPeriod"/>
            </a:pPr>
            <a:r>
              <a:rPr lang="en-US" dirty="0"/>
              <a:t>Copyrights</a:t>
            </a:r>
          </a:p>
          <a:p>
            <a:pPr marL="342900" indent="-342900">
              <a:buAutoNum type="arabicPeriod"/>
            </a:pPr>
            <a:r>
              <a:rPr lang="en-US" dirty="0"/>
              <a:t>Industrial Design</a:t>
            </a:r>
          </a:p>
          <a:p>
            <a:pPr marL="342900" indent="-342900">
              <a:buAutoNum type="arabicPeriod"/>
            </a:pPr>
            <a:r>
              <a:rPr lang="en-US" dirty="0"/>
              <a:t>Trademarks</a:t>
            </a:r>
          </a:p>
          <a:p>
            <a:pPr marL="342900" indent="-342900">
              <a:buAutoNum type="arabicPeriod"/>
            </a:pPr>
            <a:r>
              <a:rPr lang="en-US" dirty="0"/>
              <a:t>Geographical Indications</a:t>
            </a:r>
          </a:p>
          <a:p>
            <a:pPr marL="342900" indent="-342900">
              <a:buAutoNum type="arabicPeriod"/>
            </a:pPr>
            <a:r>
              <a:rPr lang="en-US" dirty="0"/>
              <a:t>Integrated Circuit Layout Design(IC)</a:t>
            </a:r>
          </a:p>
          <a:p>
            <a:pPr marL="342900" indent="-342900">
              <a:buAutoNum type="arabicPeriod"/>
            </a:pPr>
            <a:r>
              <a:rPr lang="en-US" dirty="0"/>
              <a:t>Protection of Undisclosed Information</a:t>
            </a:r>
            <a:endParaRPr lang="en-IN" dirty="0"/>
          </a:p>
        </p:txBody>
      </p:sp>
    </p:spTree>
    <p:extLst>
      <p:ext uri="{BB962C8B-B14F-4D97-AF65-F5344CB8AC3E}">
        <p14:creationId xmlns:p14="http://schemas.microsoft.com/office/powerpoint/2010/main" val="1212345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3CE7D-E5C1-3180-912A-1143FA96A65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9C10D25-34A0-B69B-10C3-6605F1C18507}"/>
              </a:ext>
            </a:extLst>
          </p:cNvPr>
          <p:cNvSpPr>
            <a:spLocks noGrp="1"/>
          </p:cNvSpPr>
          <p:nvPr>
            <p:ph type="title"/>
          </p:nvPr>
        </p:nvSpPr>
        <p:spPr>
          <a:xfrm>
            <a:off x="1278308" y="150491"/>
            <a:ext cx="6654730" cy="820991"/>
          </a:xfrm>
        </p:spPr>
        <p:txBody>
          <a:bodyPr/>
          <a:lstStyle/>
          <a:p>
            <a:r>
              <a:rPr lang="en-US" sz="2800" b="1" dirty="0">
                <a:solidFill>
                  <a:schemeClr val="bg1"/>
                </a:solidFill>
              </a:rPr>
              <a:t>Regional Economic Groupings/Major Regional Trade Agreements</a:t>
            </a:r>
            <a:endParaRPr lang="en-IN" sz="2800" b="1" dirty="0">
              <a:solidFill>
                <a:schemeClr val="bg1"/>
              </a:solidFill>
            </a:endParaRPr>
          </a:p>
        </p:txBody>
      </p:sp>
      <p:sp>
        <p:nvSpPr>
          <p:cNvPr id="3" name="Date Placeholder 2">
            <a:extLst>
              <a:ext uri="{FF2B5EF4-FFF2-40B4-BE49-F238E27FC236}">
                <a16:creationId xmlns:a16="http://schemas.microsoft.com/office/drawing/2014/main" id="{6CA00F89-9986-BDA4-91ED-F76EBA7AEAB1}"/>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D01B1F22-402C-206E-7100-2EE5B5EB0249}"/>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CC5E32D2-0365-5BFF-B430-D4CB80C981B4}"/>
              </a:ext>
            </a:extLst>
          </p:cNvPr>
          <p:cNvSpPr>
            <a:spLocks noGrp="1"/>
          </p:cNvSpPr>
          <p:nvPr>
            <p:ph type="sldNum" sz="quarter" idx="12"/>
          </p:nvPr>
        </p:nvSpPr>
        <p:spPr/>
        <p:txBody>
          <a:bodyPr/>
          <a:lstStyle/>
          <a:p>
            <a:pPr defTabSz="756209"/>
            <a:fld id="{B6F15528-21DE-4FAA-801E-634DDDAF4B2B}" type="slidenum">
              <a:rPr lang="en-US" smtClean="0"/>
              <a:pPr defTabSz="756209"/>
              <a:t>18</a:t>
            </a:fld>
            <a:endParaRPr lang="en-US"/>
          </a:p>
        </p:txBody>
      </p:sp>
      <p:sp>
        <p:nvSpPr>
          <p:cNvPr id="8" name="TextBox 7">
            <a:extLst>
              <a:ext uri="{FF2B5EF4-FFF2-40B4-BE49-F238E27FC236}">
                <a16:creationId xmlns:a16="http://schemas.microsoft.com/office/drawing/2014/main" id="{8612786E-5552-CBFA-DB5B-85D6E932B7CD}"/>
              </a:ext>
            </a:extLst>
          </p:cNvPr>
          <p:cNvSpPr txBox="1"/>
          <p:nvPr/>
        </p:nvSpPr>
        <p:spPr>
          <a:xfrm>
            <a:off x="107575" y="1375277"/>
            <a:ext cx="9746429" cy="4324261"/>
          </a:xfrm>
          <a:prstGeom prst="rect">
            <a:avLst/>
          </a:prstGeom>
          <a:noFill/>
        </p:spPr>
        <p:txBody>
          <a:bodyPr wrap="square">
            <a:spAutoFit/>
          </a:bodyPr>
          <a:lstStyle/>
          <a:p>
            <a:pPr algn="just"/>
            <a:r>
              <a:rPr lang="en-US" sz="2500" b="1" dirty="0">
                <a:latin typeface="Times New Roman" panose="02020603050405020304" pitchFamily="18" charset="0"/>
                <a:cs typeface="Times New Roman" panose="02020603050405020304" pitchFamily="18" charset="0"/>
              </a:rPr>
              <a:t>Regional economic groupings are associations of countries in a geographical region that form agreements to reduce trade barriers and promote economic cooperation, leading to increased trade and investment. </a:t>
            </a:r>
            <a:r>
              <a:rPr lang="en-US" sz="2500" dirty="0">
                <a:latin typeface="Times New Roman" panose="02020603050405020304" pitchFamily="18" charset="0"/>
                <a:cs typeface="Times New Roman" panose="02020603050405020304" pitchFamily="18" charset="0"/>
              </a:rPr>
              <a:t>Major examples include the North American Free Trade Agreement (NAFTA), now the United States-Mexico-Canada Agreement (USMCA), the Association of Southeast Asian Nations (ASEAN), the European Union (EU), and the Regional Comprehensive Economic Partnership (RCEP). These groupings can range in their level of integration, from Free Trade Areas (FTAs) that eliminate internal barriers, to Customs Unions, Common Markets, and full Economic Unions with integrated economic policies. </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7291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77DFA-4B2D-8F0C-170A-28862456B8D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40E2FA-1488-3978-353A-F92BFAC46862}"/>
              </a:ext>
            </a:extLst>
          </p:cNvPr>
          <p:cNvSpPr>
            <a:spLocks noGrp="1"/>
          </p:cNvSpPr>
          <p:nvPr>
            <p:ph type="title"/>
          </p:nvPr>
        </p:nvSpPr>
        <p:spPr>
          <a:xfrm>
            <a:off x="1278308" y="150491"/>
            <a:ext cx="6654730" cy="820991"/>
          </a:xfrm>
        </p:spPr>
        <p:txBody>
          <a:bodyPr/>
          <a:lstStyle/>
          <a:p>
            <a:r>
              <a:rPr lang="en-US" sz="2800" b="1" dirty="0">
                <a:solidFill>
                  <a:schemeClr val="bg1"/>
                </a:solidFill>
              </a:rPr>
              <a:t>Reasons For Formation of Reginal Trading Blocs</a:t>
            </a:r>
            <a:endParaRPr lang="en-IN" sz="2800" b="1" dirty="0">
              <a:solidFill>
                <a:schemeClr val="bg1"/>
              </a:solidFill>
            </a:endParaRPr>
          </a:p>
        </p:txBody>
      </p:sp>
      <p:sp>
        <p:nvSpPr>
          <p:cNvPr id="3" name="Date Placeholder 2">
            <a:extLst>
              <a:ext uri="{FF2B5EF4-FFF2-40B4-BE49-F238E27FC236}">
                <a16:creationId xmlns:a16="http://schemas.microsoft.com/office/drawing/2014/main" id="{215E6033-F650-2BF2-5B1B-5C6AE467F063}"/>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602C39AD-1D14-E1B8-164C-112549355127}"/>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7CDF32DF-1132-7370-02BF-E7C6EFF944E7}"/>
              </a:ext>
            </a:extLst>
          </p:cNvPr>
          <p:cNvSpPr>
            <a:spLocks noGrp="1"/>
          </p:cNvSpPr>
          <p:nvPr>
            <p:ph type="sldNum" sz="quarter" idx="12"/>
          </p:nvPr>
        </p:nvSpPr>
        <p:spPr/>
        <p:txBody>
          <a:bodyPr/>
          <a:lstStyle/>
          <a:p>
            <a:pPr defTabSz="756209"/>
            <a:fld id="{B6F15528-21DE-4FAA-801E-634DDDAF4B2B}" type="slidenum">
              <a:rPr lang="en-US" smtClean="0"/>
              <a:pPr defTabSz="756209"/>
              <a:t>19</a:t>
            </a:fld>
            <a:endParaRPr lang="en-US"/>
          </a:p>
        </p:txBody>
      </p:sp>
      <p:sp>
        <p:nvSpPr>
          <p:cNvPr id="2" name="TextBox 1">
            <a:extLst>
              <a:ext uri="{FF2B5EF4-FFF2-40B4-BE49-F238E27FC236}">
                <a16:creationId xmlns:a16="http://schemas.microsoft.com/office/drawing/2014/main" id="{F1B47A2C-4699-5F9F-3A20-005CD629559A}"/>
              </a:ext>
            </a:extLst>
          </p:cNvPr>
          <p:cNvSpPr txBox="1"/>
          <p:nvPr/>
        </p:nvSpPr>
        <p:spPr>
          <a:xfrm>
            <a:off x="365760" y="1592132"/>
            <a:ext cx="8627633" cy="2785378"/>
          </a:xfrm>
          <a:prstGeom prst="rect">
            <a:avLst/>
          </a:prstGeom>
          <a:noFill/>
        </p:spPr>
        <p:txBody>
          <a:bodyPr wrap="square" rtlCol="0">
            <a:spAutoFit/>
          </a:bodyPr>
          <a:lstStyle/>
          <a:p>
            <a:pPr marL="342900" indent="-342900" algn="just">
              <a:buAutoNum type="arabicPeriod"/>
            </a:pPr>
            <a:r>
              <a:rPr lang="en-US" sz="2500" dirty="0">
                <a:latin typeface="Times New Roman" panose="02020603050405020304" pitchFamily="18" charset="0"/>
                <a:cs typeface="Times New Roman" panose="02020603050405020304" pitchFamily="18" charset="0"/>
              </a:rPr>
              <a:t>Removal of Trade Barriers</a:t>
            </a:r>
          </a:p>
          <a:p>
            <a:pPr marL="342900" indent="-342900" algn="just">
              <a:buAutoNum type="arabicPeriod"/>
            </a:pPr>
            <a:r>
              <a:rPr lang="en-US" sz="2500" dirty="0">
                <a:latin typeface="Times New Roman" panose="02020603050405020304" pitchFamily="18" charset="0"/>
                <a:cs typeface="Times New Roman" panose="02020603050405020304" pitchFamily="18" charset="0"/>
              </a:rPr>
              <a:t>Coordination and Bargaining Power</a:t>
            </a:r>
          </a:p>
          <a:p>
            <a:pPr marL="342900" indent="-342900" algn="just">
              <a:buAutoNum type="arabicPeriod"/>
            </a:pPr>
            <a:r>
              <a:rPr lang="en-US" sz="2500" dirty="0">
                <a:latin typeface="Times New Roman" panose="02020603050405020304" pitchFamily="18" charset="0"/>
                <a:cs typeface="Times New Roman" panose="02020603050405020304" pitchFamily="18" charset="0"/>
              </a:rPr>
              <a:t>Economic Considerations</a:t>
            </a:r>
          </a:p>
          <a:p>
            <a:pPr marL="342900" indent="-342900" algn="just">
              <a:buAutoNum type="arabicPeriod"/>
            </a:pPr>
            <a:r>
              <a:rPr lang="en-US" sz="2500" dirty="0">
                <a:latin typeface="Times New Roman" panose="02020603050405020304" pitchFamily="18" charset="0"/>
                <a:cs typeface="Times New Roman" panose="02020603050405020304" pitchFamily="18" charset="0"/>
              </a:rPr>
              <a:t>Increased returns and Increased Competition</a:t>
            </a:r>
          </a:p>
          <a:p>
            <a:pPr marL="342900" indent="-342900" algn="just">
              <a:buAutoNum type="arabicPeriod"/>
            </a:pPr>
            <a:r>
              <a:rPr lang="en-US" sz="2500" dirty="0">
                <a:latin typeface="Times New Roman" panose="02020603050405020304" pitchFamily="18" charset="0"/>
                <a:cs typeface="Times New Roman" panose="02020603050405020304" pitchFamily="18" charset="0"/>
              </a:rPr>
              <a:t>Trade Gains</a:t>
            </a:r>
          </a:p>
          <a:p>
            <a:pPr marL="342900" indent="-342900" algn="just">
              <a:buAutoNum type="arabicPeriod"/>
            </a:pPr>
            <a:r>
              <a:rPr lang="en-US" sz="2500" dirty="0">
                <a:latin typeface="Times New Roman" panose="02020603050405020304" pitchFamily="18" charset="0"/>
                <a:cs typeface="Times New Roman" panose="02020603050405020304" pitchFamily="18" charset="0"/>
              </a:rPr>
              <a:t>Investment</a:t>
            </a:r>
          </a:p>
          <a:p>
            <a:pPr marL="342900" indent="-342900" algn="just">
              <a:buAutoNum type="arabicPeriod"/>
            </a:pPr>
            <a:r>
              <a:rPr lang="en-US" sz="2500" dirty="0">
                <a:latin typeface="Times New Roman" panose="02020603050405020304" pitchFamily="18" charset="0"/>
                <a:cs typeface="Times New Roman" panose="02020603050405020304" pitchFamily="18" charset="0"/>
              </a:rPr>
              <a:t>Security</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806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B64EC-8AA4-001F-E7B0-F84CF20730B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A210FB6-6ADA-5682-F236-A3D295A8CE70}"/>
              </a:ext>
            </a:extLst>
          </p:cNvPr>
          <p:cNvSpPr>
            <a:spLocks noGrp="1"/>
          </p:cNvSpPr>
          <p:nvPr>
            <p:ph type="title"/>
          </p:nvPr>
        </p:nvSpPr>
        <p:spPr>
          <a:xfrm>
            <a:off x="1278308" y="150491"/>
            <a:ext cx="6654730" cy="820991"/>
          </a:xfrm>
        </p:spPr>
        <p:txBody>
          <a:bodyPr/>
          <a:lstStyle/>
          <a:p>
            <a:r>
              <a:rPr lang="en-US" sz="2800" b="1" dirty="0">
                <a:solidFill>
                  <a:schemeClr val="bg1"/>
                </a:solidFill>
              </a:rPr>
              <a:t>Levels of Regional Economic Integration</a:t>
            </a:r>
            <a:endParaRPr lang="en-IN" sz="2800" b="1" dirty="0">
              <a:solidFill>
                <a:schemeClr val="bg1"/>
              </a:solidFill>
            </a:endParaRPr>
          </a:p>
        </p:txBody>
      </p:sp>
      <p:sp>
        <p:nvSpPr>
          <p:cNvPr id="3" name="Date Placeholder 2">
            <a:extLst>
              <a:ext uri="{FF2B5EF4-FFF2-40B4-BE49-F238E27FC236}">
                <a16:creationId xmlns:a16="http://schemas.microsoft.com/office/drawing/2014/main" id="{11A70645-0BCE-016B-05A7-D622362337C9}"/>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DDBA9F49-92C2-C606-DC8F-C6DF5DDD892D}"/>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CCB1FEE8-E224-838B-A31F-6702D8083BF1}"/>
              </a:ext>
            </a:extLst>
          </p:cNvPr>
          <p:cNvSpPr>
            <a:spLocks noGrp="1"/>
          </p:cNvSpPr>
          <p:nvPr>
            <p:ph type="sldNum" sz="quarter" idx="12"/>
          </p:nvPr>
        </p:nvSpPr>
        <p:spPr/>
        <p:txBody>
          <a:bodyPr/>
          <a:lstStyle/>
          <a:p>
            <a:pPr defTabSz="756209"/>
            <a:fld id="{B6F15528-21DE-4FAA-801E-634DDDAF4B2B}" type="slidenum">
              <a:rPr lang="en-US" smtClean="0"/>
              <a:pPr defTabSz="756209"/>
              <a:t>20</a:t>
            </a:fld>
            <a:endParaRPr lang="en-US"/>
          </a:p>
        </p:txBody>
      </p:sp>
      <p:sp>
        <p:nvSpPr>
          <p:cNvPr id="7" name="TextBox 6">
            <a:extLst>
              <a:ext uri="{FF2B5EF4-FFF2-40B4-BE49-F238E27FC236}">
                <a16:creationId xmlns:a16="http://schemas.microsoft.com/office/drawing/2014/main" id="{326227DA-0B93-BDD6-2251-57005BF07FD4}"/>
              </a:ext>
            </a:extLst>
          </p:cNvPr>
          <p:cNvSpPr txBox="1"/>
          <p:nvPr/>
        </p:nvSpPr>
        <p:spPr>
          <a:xfrm>
            <a:off x="765560" y="6199745"/>
            <a:ext cx="8057477" cy="646331"/>
          </a:xfrm>
          <a:prstGeom prst="rect">
            <a:avLst/>
          </a:prstGeom>
          <a:noFill/>
        </p:spPr>
        <p:txBody>
          <a:bodyPr wrap="square" rtlCol="0">
            <a:spAutoFit/>
          </a:bodyPr>
          <a:lstStyle/>
          <a:p>
            <a:pPr algn="ctr"/>
            <a:r>
              <a:rPr lang="en-US" dirty="0"/>
              <a:t>Preferential Trading Agreement</a:t>
            </a:r>
          </a:p>
          <a:p>
            <a:r>
              <a:rPr lang="en-US" dirty="0"/>
              <a:t>Reduced tariffs or special quotas allowing preferential access to markets</a:t>
            </a:r>
            <a:endParaRPr lang="en-IN" dirty="0"/>
          </a:p>
        </p:txBody>
      </p:sp>
      <p:sp>
        <p:nvSpPr>
          <p:cNvPr id="8" name="TextBox 7">
            <a:extLst>
              <a:ext uri="{FF2B5EF4-FFF2-40B4-BE49-F238E27FC236}">
                <a16:creationId xmlns:a16="http://schemas.microsoft.com/office/drawing/2014/main" id="{13997A1D-9F75-8E91-4CCF-E3CE63F04567}"/>
              </a:ext>
            </a:extLst>
          </p:cNvPr>
          <p:cNvSpPr txBox="1"/>
          <p:nvPr/>
        </p:nvSpPr>
        <p:spPr>
          <a:xfrm>
            <a:off x="765560" y="5201199"/>
            <a:ext cx="8057477" cy="646331"/>
          </a:xfrm>
          <a:prstGeom prst="rect">
            <a:avLst/>
          </a:prstGeom>
          <a:noFill/>
        </p:spPr>
        <p:txBody>
          <a:bodyPr wrap="square" rtlCol="0">
            <a:spAutoFit/>
          </a:bodyPr>
          <a:lstStyle/>
          <a:p>
            <a:pPr algn="ctr"/>
            <a:r>
              <a:rPr lang="en-US" dirty="0"/>
              <a:t>Free Trade Area</a:t>
            </a:r>
          </a:p>
          <a:p>
            <a:pPr algn="ctr"/>
            <a:r>
              <a:rPr lang="en-US" dirty="0"/>
              <a:t>Formal tariff-free trading area between countries</a:t>
            </a:r>
            <a:endParaRPr lang="en-IN" dirty="0"/>
          </a:p>
        </p:txBody>
      </p:sp>
      <p:sp>
        <p:nvSpPr>
          <p:cNvPr id="9" name="TextBox 8">
            <a:extLst>
              <a:ext uri="{FF2B5EF4-FFF2-40B4-BE49-F238E27FC236}">
                <a16:creationId xmlns:a16="http://schemas.microsoft.com/office/drawing/2014/main" id="{79DA0944-546A-8C93-3E16-AF9695EDE288}"/>
              </a:ext>
            </a:extLst>
          </p:cNvPr>
          <p:cNvSpPr txBox="1"/>
          <p:nvPr/>
        </p:nvSpPr>
        <p:spPr>
          <a:xfrm>
            <a:off x="612470" y="4223909"/>
            <a:ext cx="8057477" cy="646331"/>
          </a:xfrm>
          <a:prstGeom prst="rect">
            <a:avLst/>
          </a:prstGeom>
          <a:noFill/>
        </p:spPr>
        <p:txBody>
          <a:bodyPr wrap="square" rtlCol="0">
            <a:spAutoFit/>
          </a:bodyPr>
          <a:lstStyle/>
          <a:p>
            <a:pPr algn="ctr"/>
            <a:r>
              <a:rPr lang="en-US" dirty="0"/>
              <a:t>Customs Union</a:t>
            </a:r>
          </a:p>
          <a:p>
            <a:pPr algn="ctr"/>
            <a:r>
              <a:rPr lang="en-US" dirty="0"/>
              <a:t>Free trade are plus a common external tariff</a:t>
            </a:r>
            <a:endParaRPr lang="en-IN" dirty="0"/>
          </a:p>
        </p:txBody>
      </p:sp>
      <p:sp>
        <p:nvSpPr>
          <p:cNvPr id="10" name="TextBox 9">
            <a:extLst>
              <a:ext uri="{FF2B5EF4-FFF2-40B4-BE49-F238E27FC236}">
                <a16:creationId xmlns:a16="http://schemas.microsoft.com/office/drawing/2014/main" id="{EFAA71CF-3FB2-3E81-8D2A-444EF9830353}"/>
              </a:ext>
            </a:extLst>
          </p:cNvPr>
          <p:cNvSpPr txBox="1"/>
          <p:nvPr/>
        </p:nvSpPr>
        <p:spPr>
          <a:xfrm>
            <a:off x="538569" y="3194735"/>
            <a:ext cx="8057477" cy="646331"/>
          </a:xfrm>
          <a:prstGeom prst="rect">
            <a:avLst/>
          </a:prstGeom>
          <a:noFill/>
        </p:spPr>
        <p:txBody>
          <a:bodyPr wrap="square" rtlCol="0">
            <a:spAutoFit/>
          </a:bodyPr>
          <a:lstStyle/>
          <a:p>
            <a:pPr algn="ctr"/>
            <a:r>
              <a:rPr lang="en-US" dirty="0"/>
              <a:t>Common Market</a:t>
            </a:r>
          </a:p>
          <a:p>
            <a:pPr algn="ctr"/>
            <a:r>
              <a:rPr lang="en-US" dirty="0"/>
              <a:t>Customs union plus, the free movement goods, service, people, and capital</a:t>
            </a:r>
            <a:endParaRPr lang="en-IN" dirty="0"/>
          </a:p>
        </p:txBody>
      </p:sp>
      <p:sp>
        <p:nvSpPr>
          <p:cNvPr id="11" name="TextBox 10">
            <a:extLst>
              <a:ext uri="{FF2B5EF4-FFF2-40B4-BE49-F238E27FC236}">
                <a16:creationId xmlns:a16="http://schemas.microsoft.com/office/drawing/2014/main" id="{BFBB04A4-3630-2947-FC23-093DC0E41F5D}"/>
              </a:ext>
            </a:extLst>
          </p:cNvPr>
          <p:cNvSpPr txBox="1"/>
          <p:nvPr/>
        </p:nvSpPr>
        <p:spPr>
          <a:xfrm>
            <a:off x="504031" y="2225169"/>
            <a:ext cx="8057477" cy="646331"/>
          </a:xfrm>
          <a:prstGeom prst="rect">
            <a:avLst/>
          </a:prstGeom>
          <a:noFill/>
        </p:spPr>
        <p:txBody>
          <a:bodyPr wrap="square" rtlCol="0">
            <a:spAutoFit/>
          </a:bodyPr>
          <a:lstStyle/>
          <a:p>
            <a:pPr algn="ctr"/>
            <a:r>
              <a:rPr lang="en-US" dirty="0"/>
              <a:t>Economic Union</a:t>
            </a:r>
          </a:p>
          <a:p>
            <a:pPr algn="ctr"/>
            <a:r>
              <a:rPr lang="en-US" dirty="0"/>
              <a:t>Common market plus full economic policy harmonization</a:t>
            </a:r>
            <a:endParaRPr lang="en-IN" dirty="0"/>
          </a:p>
        </p:txBody>
      </p:sp>
      <p:sp>
        <p:nvSpPr>
          <p:cNvPr id="12" name="TextBox 11">
            <a:extLst>
              <a:ext uri="{FF2B5EF4-FFF2-40B4-BE49-F238E27FC236}">
                <a16:creationId xmlns:a16="http://schemas.microsoft.com/office/drawing/2014/main" id="{2F6F0D6A-A5B3-FE35-1D16-B061ABCBA52F}"/>
              </a:ext>
            </a:extLst>
          </p:cNvPr>
          <p:cNvSpPr txBox="1"/>
          <p:nvPr/>
        </p:nvSpPr>
        <p:spPr>
          <a:xfrm>
            <a:off x="343045" y="1416186"/>
            <a:ext cx="8057477" cy="646331"/>
          </a:xfrm>
          <a:prstGeom prst="rect">
            <a:avLst/>
          </a:prstGeom>
          <a:noFill/>
        </p:spPr>
        <p:txBody>
          <a:bodyPr wrap="square" rtlCol="0">
            <a:spAutoFit/>
          </a:bodyPr>
          <a:lstStyle/>
          <a:p>
            <a:pPr algn="ctr"/>
            <a:r>
              <a:rPr lang="en-US" dirty="0"/>
              <a:t>Political Union</a:t>
            </a:r>
          </a:p>
          <a:p>
            <a:pPr algn="ctr"/>
            <a:r>
              <a:rPr lang="en-US" dirty="0"/>
              <a:t>Group of nations with shared sovereignty or complete unification of nations</a:t>
            </a:r>
            <a:endParaRPr lang="en-IN" dirty="0"/>
          </a:p>
        </p:txBody>
      </p:sp>
      <p:sp>
        <p:nvSpPr>
          <p:cNvPr id="13" name="Arrow: Right 12">
            <a:extLst>
              <a:ext uri="{FF2B5EF4-FFF2-40B4-BE49-F238E27FC236}">
                <a16:creationId xmlns:a16="http://schemas.microsoft.com/office/drawing/2014/main" id="{C4BFFF98-8205-F8BB-AD3A-8079DF122AF6}"/>
              </a:ext>
            </a:extLst>
          </p:cNvPr>
          <p:cNvSpPr/>
          <p:nvPr/>
        </p:nvSpPr>
        <p:spPr>
          <a:xfrm rot="16200000">
            <a:off x="4398853" y="5901133"/>
            <a:ext cx="267830" cy="21688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EE9F1D51-2F9B-4123-F24A-9907C3899411}"/>
              </a:ext>
            </a:extLst>
          </p:cNvPr>
          <p:cNvSpPr/>
          <p:nvPr/>
        </p:nvSpPr>
        <p:spPr>
          <a:xfrm rot="16200000">
            <a:off x="4346309" y="4943255"/>
            <a:ext cx="267830" cy="21688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AA476AAB-2AAF-8F23-7FC1-C32382CDC8C7}"/>
              </a:ext>
            </a:extLst>
          </p:cNvPr>
          <p:cNvSpPr/>
          <p:nvPr/>
        </p:nvSpPr>
        <p:spPr>
          <a:xfrm rot="16200000">
            <a:off x="4346310" y="3925297"/>
            <a:ext cx="267830" cy="21688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B0AA7B59-DA62-8758-4BCB-10785A581634}"/>
              </a:ext>
            </a:extLst>
          </p:cNvPr>
          <p:cNvSpPr/>
          <p:nvPr/>
        </p:nvSpPr>
        <p:spPr>
          <a:xfrm rot="16200000">
            <a:off x="4324953" y="2941484"/>
            <a:ext cx="267830" cy="21688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9216FD1F-BDE9-CEC7-4223-730C747F5270}"/>
              </a:ext>
            </a:extLst>
          </p:cNvPr>
          <p:cNvSpPr/>
          <p:nvPr/>
        </p:nvSpPr>
        <p:spPr>
          <a:xfrm rot="16200000">
            <a:off x="4290413" y="2069188"/>
            <a:ext cx="267830" cy="21688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553998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1E7C4-F58B-70A0-7FCD-6BC54C8D2CB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E2FDE4-F6E0-EDCA-1598-A3483E861D29}"/>
              </a:ext>
            </a:extLst>
          </p:cNvPr>
          <p:cNvSpPr>
            <a:spLocks noGrp="1"/>
          </p:cNvSpPr>
          <p:nvPr>
            <p:ph type="title"/>
          </p:nvPr>
        </p:nvSpPr>
        <p:spPr>
          <a:xfrm>
            <a:off x="1278308" y="150491"/>
            <a:ext cx="6654730" cy="820991"/>
          </a:xfrm>
        </p:spPr>
        <p:txBody>
          <a:bodyPr/>
          <a:lstStyle/>
          <a:p>
            <a:r>
              <a:rPr lang="en-US" sz="2800" b="1" dirty="0">
                <a:solidFill>
                  <a:schemeClr val="bg1"/>
                </a:solidFill>
              </a:rPr>
              <a:t>Reginal Integration between Countries</a:t>
            </a:r>
            <a:endParaRPr lang="en-IN" sz="2800" b="1" dirty="0">
              <a:solidFill>
                <a:schemeClr val="bg1"/>
              </a:solidFill>
            </a:endParaRPr>
          </a:p>
        </p:txBody>
      </p:sp>
      <p:sp>
        <p:nvSpPr>
          <p:cNvPr id="3" name="Date Placeholder 2">
            <a:extLst>
              <a:ext uri="{FF2B5EF4-FFF2-40B4-BE49-F238E27FC236}">
                <a16:creationId xmlns:a16="http://schemas.microsoft.com/office/drawing/2014/main" id="{F23C0054-6E9A-4EF9-9E8A-42AD70017801}"/>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DF45FC21-6583-EEDD-9074-71CDBC0F4999}"/>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738EF9E0-D6C0-697D-968F-8E584118C68F}"/>
              </a:ext>
            </a:extLst>
          </p:cNvPr>
          <p:cNvSpPr>
            <a:spLocks noGrp="1"/>
          </p:cNvSpPr>
          <p:nvPr>
            <p:ph type="sldNum" sz="quarter" idx="12"/>
          </p:nvPr>
        </p:nvSpPr>
        <p:spPr/>
        <p:txBody>
          <a:bodyPr/>
          <a:lstStyle/>
          <a:p>
            <a:pPr defTabSz="756209"/>
            <a:fld id="{B6F15528-21DE-4FAA-801E-634DDDAF4B2B}" type="slidenum">
              <a:rPr lang="en-US" smtClean="0"/>
              <a:pPr defTabSz="756209"/>
              <a:t>21</a:t>
            </a:fld>
            <a:endParaRPr lang="en-US"/>
          </a:p>
        </p:txBody>
      </p:sp>
      <p:sp>
        <p:nvSpPr>
          <p:cNvPr id="2" name="TextBox 1">
            <a:extLst>
              <a:ext uri="{FF2B5EF4-FFF2-40B4-BE49-F238E27FC236}">
                <a16:creationId xmlns:a16="http://schemas.microsoft.com/office/drawing/2014/main" id="{CB3CCA6B-67DD-83A1-9A27-2018D1685EBA}"/>
              </a:ext>
            </a:extLst>
          </p:cNvPr>
          <p:cNvSpPr txBox="1"/>
          <p:nvPr/>
        </p:nvSpPr>
        <p:spPr>
          <a:xfrm>
            <a:off x="504031" y="1656678"/>
            <a:ext cx="9274670" cy="2785378"/>
          </a:xfrm>
          <a:prstGeom prst="rect">
            <a:avLst/>
          </a:prstGeom>
          <a:noFill/>
        </p:spPr>
        <p:txBody>
          <a:bodyPr wrap="square" rtlCol="0">
            <a:spAutoFit/>
          </a:bodyPr>
          <a:lstStyle/>
          <a:p>
            <a:pPr marL="342900" indent="-342900">
              <a:buAutoNum type="arabicPeriod"/>
            </a:pPr>
            <a:r>
              <a:rPr lang="en-US" sz="2500" dirty="0">
                <a:latin typeface="Times New Roman" panose="02020603050405020304" pitchFamily="18" charset="0"/>
                <a:cs typeface="Times New Roman" panose="02020603050405020304" pitchFamily="18" charset="0"/>
              </a:rPr>
              <a:t>Regional Economic Integration in Europe/European Union(EU)</a:t>
            </a:r>
          </a:p>
          <a:p>
            <a:pPr marL="342900" indent="-342900">
              <a:buAutoNum type="arabicPeriod"/>
            </a:pPr>
            <a:r>
              <a:rPr lang="en-US" sz="2500" dirty="0">
                <a:latin typeface="Times New Roman" panose="02020603050405020304" pitchFamily="18" charset="0"/>
                <a:cs typeface="Times New Roman" panose="02020603050405020304" pitchFamily="18" charset="0"/>
              </a:rPr>
              <a:t>Regional Economic Integration in USA/NAFTA(North American Free Trade Agreement)</a:t>
            </a:r>
          </a:p>
          <a:p>
            <a:pPr marL="342900" indent="-342900">
              <a:buAutoNum type="arabicPeriod"/>
            </a:pPr>
            <a:r>
              <a:rPr lang="en-US" sz="2500" dirty="0">
                <a:latin typeface="Times New Roman" panose="02020603050405020304" pitchFamily="18" charset="0"/>
                <a:cs typeface="Times New Roman" panose="02020603050405020304" pitchFamily="18" charset="0"/>
              </a:rPr>
              <a:t>ASEAN ( Association of Soth-East Asian Nations)</a:t>
            </a:r>
          </a:p>
          <a:p>
            <a:pPr marL="342900" indent="-342900">
              <a:buAutoNum type="arabicPeriod"/>
            </a:pPr>
            <a:r>
              <a:rPr lang="en-US" sz="2500" dirty="0">
                <a:latin typeface="Times New Roman" panose="02020603050405020304" pitchFamily="18" charset="0"/>
                <a:cs typeface="Times New Roman" panose="02020603050405020304" pitchFamily="18" charset="0"/>
              </a:rPr>
              <a:t>SAARC ( South Asian Association for Regional Cooperation)</a:t>
            </a:r>
          </a:p>
          <a:p>
            <a:pPr marL="342900" indent="-342900">
              <a:buAutoNum type="arabicPeriod"/>
            </a:pPr>
            <a:r>
              <a:rPr lang="en-US" sz="2500" dirty="0">
                <a:latin typeface="Times New Roman" panose="02020603050405020304" pitchFamily="18" charset="0"/>
                <a:cs typeface="Times New Roman" panose="02020603050405020304" pitchFamily="18" charset="0"/>
              </a:rPr>
              <a:t>SAFTA ( South Asian Free Trade Area): An Extension to SAARC</a:t>
            </a:r>
          </a:p>
          <a:p>
            <a:pPr marL="342900" indent="-342900">
              <a:buAutoNum type="arabicPeriod"/>
            </a:pPr>
            <a:r>
              <a:rPr lang="en-US" sz="2500" dirty="0">
                <a:latin typeface="Times New Roman" panose="02020603050405020304" pitchFamily="18" charset="0"/>
                <a:cs typeface="Times New Roman" panose="02020603050405020304" pitchFamily="18" charset="0"/>
              </a:rPr>
              <a:t>BRICS and its Features</a:t>
            </a:r>
          </a:p>
        </p:txBody>
      </p:sp>
    </p:spTree>
    <p:extLst>
      <p:ext uri="{BB962C8B-B14F-4D97-AF65-F5344CB8AC3E}">
        <p14:creationId xmlns:p14="http://schemas.microsoft.com/office/powerpoint/2010/main" val="3457785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C60C2-6E59-E9FB-D90F-653F330A58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A27C59D-663E-AB71-8C64-470BEA607CB5}"/>
              </a:ext>
            </a:extLst>
          </p:cNvPr>
          <p:cNvSpPr>
            <a:spLocks noGrp="1"/>
          </p:cNvSpPr>
          <p:nvPr>
            <p:ph type="title"/>
          </p:nvPr>
        </p:nvSpPr>
        <p:spPr>
          <a:xfrm>
            <a:off x="1278308" y="150491"/>
            <a:ext cx="6654730" cy="820991"/>
          </a:xfrm>
        </p:spPr>
        <p:txBody>
          <a:bodyPr/>
          <a:lstStyle/>
          <a:p>
            <a:r>
              <a:rPr lang="en-IN" sz="2800" b="1" dirty="0">
                <a:solidFill>
                  <a:schemeClr val="bg1"/>
                </a:solidFill>
              </a:rPr>
              <a:t>Regional Economic Integration in Europe</a:t>
            </a:r>
          </a:p>
        </p:txBody>
      </p:sp>
      <p:sp>
        <p:nvSpPr>
          <p:cNvPr id="3" name="Date Placeholder 2">
            <a:extLst>
              <a:ext uri="{FF2B5EF4-FFF2-40B4-BE49-F238E27FC236}">
                <a16:creationId xmlns:a16="http://schemas.microsoft.com/office/drawing/2014/main" id="{17B09C2A-56A2-C81A-D511-951B946A8FCB}"/>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4979ED5D-8B09-5D11-F8A1-D1F83C7D2AD7}"/>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30A99B3C-7DD6-3222-EA8B-FA089BFC163A}"/>
              </a:ext>
            </a:extLst>
          </p:cNvPr>
          <p:cNvSpPr>
            <a:spLocks noGrp="1"/>
          </p:cNvSpPr>
          <p:nvPr>
            <p:ph type="sldNum" sz="quarter" idx="12"/>
          </p:nvPr>
        </p:nvSpPr>
        <p:spPr/>
        <p:txBody>
          <a:bodyPr/>
          <a:lstStyle/>
          <a:p>
            <a:pPr defTabSz="756209"/>
            <a:fld id="{B6F15528-21DE-4FAA-801E-634DDDAF4B2B}" type="slidenum">
              <a:rPr lang="en-US" smtClean="0"/>
              <a:pPr defTabSz="756209"/>
              <a:t>22</a:t>
            </a:fld>
            <a:endParaRPr lang="en-US"/>
          </a:p>
        </p:txBody>
      </p:sp>
      <p:pic>
        <p:nvPicPr>
          <p:cNvPr id="2" name="Picture 1">
            <a:extLst>
              <a:ext uri="{FF2B5EF4-FFF2-40B4-BE49-F238E27FC236}">
                <a16:creationId xmlns:a16="http://schemas.microsoft.com/office/drawing/2014/main" id="{2B0A9975-E69C-8877-D7D9-CEDB8E1FF7A8}"/>
              </a:ext>
            </a:extLst>
          </p:cNvPr>
          <p:cNvPicPr>
            <a:picLocks noChangeAspect="1"/>
          </p:cNvPicPr>
          <p:nvPr/>
        </p:nvPicPr>
        <p:blipFill>
          <a:blip r:embed="rId2"/>
          <a:stretch>
            <a:fillRect/>
          </a:stretch>
        </p:blipFill>
        <p:spPr>
          <a:xfrm>
            <a:off x="3925138" y="1581374"/>
            <a:ext cx="5993255" cy="3388659"/>
          </a:xfrm>
          <a:prstGeom prst="rect">
            <a:avLst/>
          </a:prstGeom>
        </p:spPr>
      </p:pic>
      <p:sp>
        <p:nvSpPr>
          <p:cNvPr id="8" name="TextBox 7">
            <a:extLst>
              <a:ext uri="{FF2B5EF4-FFF2-40B4-BE49-F238E27FC236}">
                <a16:creationId xmlns:a16="http://schemas.microsoft.com/office/drawing/2014/main" id="{523EACFD-1169-34C8-BB4C-9C24477D0E60}"/>
              </a:ext>
            </a:extLst>
          </p:cNvPr>
          <p:cNvSpPr txBox="1"/>
          <p:nvPr/>
        </p:nvSpPr>
        <p:spPr>
          <a:xfrm>
            <a:off x="162232" y="1489570"/>
            <a:ext cx="3762906" cy="5324535"/>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Regional economic integration in Europe is most notably represented by the European Union (EU), the world's most integrated economic bloc, characterized by a single market, common currency (the euro), free movement of goods, services, capital, and people, and a customs union with a common external tariff. The process began after World War II with the European Coal and Steel Community and has evolved into a deeply intertwined economic and political union among its 27 member states, serving to promote peace and economic prosperity.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70142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29E3B-CA18-B634-4C2B-AD2B58F2BB2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7404482-E710-42DA-2EED-1318394F243E}"/>
              </a:ext>
            </a:extLst>
          </p:cNvPr>
          <p:cNvSpPr>
            <a:spLocks noGrp="1"/>
          </p:cNvSpPr>
          <p:nvPr>
            <p:ph type="title"/>
          </p:nvPr>
        </p:nvSpPr>
        <p:spPr>
          <a:xfrm>
            <a:off x="1278308" y="150491"/>
            <a:ext cx="6654730" cy="820991"/>
          </a:xfrm>
        </p:spPr>
        <p:txBody>
          <a:bodyPr/>
          <a:lstStyle/>
          <a:p>
            <a:r>
              <a:rPr lang="en-IN" sz="2800" b="1" dirty="0">
                <a:solidFill>
                  <a:schemeClr val="bg1"/>
                </a:solidFill>
              </a:rPr>
              <a:t>Regional Economic Integration in USA,</a:t>
            </a:r>
          </a:p>
        </p:txBody>
      </p:sp>
      <p:sp>
        <p:nvSpPr>
          <p:cNvPr id="3" name="Date Placeholder 2">
            <a:extLst>
              <a:ext uri="{FF2B5EF4-FFF2-40B4-BE49-F238E27FC236}">
                <a16:creationId xmlns:a16="http://schemas.microsoft.com/office/drawing/2014/main" id="{C3A22B81-03DF-B72A-51C5-65E74B927455}"/>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A653CC0F-1DC2-EDA7-C456-E2DAFB0A07E8}"/>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0845A2C6-9BC7-CBDA-5A12-122E85E0DF2D}"/>
              </a:ext>
            </a:extLst>
          </p:cNvPr>
          <p:cNvSpPr>
            <a:spLocks noGrp="1"/>
          </p:cNvSpPr>
          <p:nvPr>
            <p:ph type="sldNum" sz="quarter" idx="12"/>
          </p:nvPr>
        </p:nvSpPr>
        <p:spPr/>
        <p:txBody>
          <a:bodyPr/>
          <a:lstStyle/>
          <a:p>
            <a:pPr defTabSz="756209"/>
            <a:fld id="{B6F15528-21DE-4FAA-801E-634DDDAF4B2B}" type="slidenum">
              <a:rPr lang="en-US" smtClean="0"/>
              <a:pPr defTabSz="756209"/>
              <a:t>23</a:t>
            </a:fld>
            <a:endParaRPr lang="en-US"/>
          </a:p>
        </p:txBody>
      </p:sp>
      <p:sp>
        <p:nvSpPr>
          <p:cNvPr id="9" name="TextBox 8">
            <a:extLst>
              <a:ext uri="{FF2B5EF4-FFF2-40B4-BE49-F238E27FC236}">
                <a16:creationId xmlns:a16="http://schemas.microsoft.com/office/drawing/2014/main" id="{79B2445A-A01D-C7AD-B486-70096BC261BB}"/>
              </a:ext>
            </a:extLst>
          </p:cNvPr>
          <p:cNvSpPr txBox="1"/>
          <p:nvPr/>
        </p:nvSpPr>
        <p:spPr>
          <a:xfrm>
            <a:off x="169432" y="1455939"/>
            <a:ext cx="9652299" cy="2246769"/>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Regional economic integration within the United States is not defined by agreements between states as there is already a single, unified national market. Instead, the U.S. participates in regional trade agreements with other countries, such as its participation in the North American Free Trade Agreement (</a:t>
            </a:r>
            <a:r>
              <a:rPr lang="en-US" sz="2000" b="1" dirty="0">
                <a:latin typeface="Times New Roman" panose="02020603050405020304" pitchFamily="18" charset="0"/>
                <a:cs typeface="Times New Roman" panose="02020603050405020304" pitchFamily="18" charset="0"/>
              </a:rPr>
              <a:t>NAFTA-1994-Jan1</a:t>
            </a:r>
            <a:r>
              <a:rPr lang="en-US" sz="2000" dirty="0">
                <a:latin typeface="Times New Roman" panose="02020603050405020304" pitchFamily="18" charset="0"/>
                <a:cs typeface="Times New Roman" panose="02020603050405020304" pitchFamily="18" charset="0"/>
              </a:rPr>
              <a:t>) and its successor, the United States-Mexico-Canada Agreement (USMCA). These agreements involve the U.S., Canada, and Mexico, focusing on reducing trade barriers and increasing economic cooperation within the North American region. </a:t>
            </a:r>
            <a:endParaRPr lang="en-IN" sz="2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C913A6A-BC19-524D-0F5A-BA7E73935C43}"/>
              </a:ext>
            </a:extLst>
          </p:cNvPr>
          <p:cNvSpPr txBox="1"/>
          <p:nvPr/>
        </p:nvSpPr>
        <p:spPr>
          <a:xfrm>
            <a:off x="504031" y="3861995"/>
            <a:ext cx="8661484" cy="2031325"/>
          </a:xfrm>
          <a:prstGeom prst="rect">
            <a:avLst/>
          </a:prstGeom>
          <a:noFill/>
        </p:spPr>
        <p:txBody>
          <a:bodyPr wrap="square" rtlCol="0">
            <a:spAutoFit/>
          </a:bodyPr>
          <a:lstStyle/>
          <a:p>
            <a:r>
              <a:rPr lang="en-US" b="1" u="sng" dirty="0"/>
              <a:t>Functions of Nafta</a:t>
            </a:r>
          </a:p>
          <a:p>
            <a:pPr marL="342900" indent="-342900">
              <a:buAutoNum type="arabicPeriod"/>
            </a:pPr>
            <a:r>
              <a:rPr lang="en-US" dirty="0"/>
              <a:t>U.S. Canada Agricultural tariffs</a:t>
            </a:r>
          </a:p>
          <a:p>
            <a:pPr marL="342900" indent="-342900">
              <a:buAutoNum type="arabicPeriod"/>
            </a:pPr>
            <a:r>
              <a:rPr lang="en-US" dirty="0"/>
              <a:t>Cannada-Mexico Agricultural tariffs</a:t>
            </a:r>
          </a:p>
          <a:p>
            <a:pPr marL="342900" indent="-342900">
              <a:buAutoNum type="arabicPeriod"/>
            </a:pPr>
            <a:r>
              <a:rPr lang="en-US" dirty="0"/>
              <a:t>U.S. Mexico Agricultural tariffs</a:t>
            </a:r>
          </a:p>
          <a:p>
            <a:pPr marL="342900" indent="-342900">
              <a:buAutoNum type="arabicPeriod"/>
            </a:pPr>
            <a:r>
              <a:rPr lang="en-US" dirty="0"/>
              <a:t>No-Tariff Barriers</a:t>
            </a:r>
          </a:p>
          <a:p>
            <a:pPr marL="342900" indent="-342900">
              <a:buAutoNum type="arabicPeriod"/>
            </a:pPr>
            <a:r>
              <a:rPr lang="en-US" dirty="0"/>
              <a:t>Product Origin</a:t>
            </a:r>
          </a:p>
          <a:p>
            <a:pPr marL="342900" indent="-342900">
              <a:buAutoNum type="arabicPeriod"/>
            </a:pPr>
            <a:r>
              <a:rPr lang="en-US" dirty="0"/>
              <a:t>Import Protection</a:t>
            </a:r>
            <a:endParaRPr lang="en-IN" dirty="0"/>
          </a:p>
        </p:txBody>
      </p:sp>
    </p:spTree>
    <p:extLst>
      <p:ext uri="{BB962C8B-B14F-4D97-AF65-F5344CB8AC3E}">
        <p14:creationId xmlns:p14="http://schemas.microsoft.com/office/powerpoint/2010/main" val="4171280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75450-553F-FD42-F525-6B1412C6455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4FC922C-DD54-B9B4-3EDF-6DDBE6292081}"/>
              </a:ext>
            </a:extLst>
          </p:cNvPr>
          <p:cNvSpPr>
            <a:spLocks noGrp="1"/>
          </p:cNvSpPr>
          <p:nvPr>
            <p:ph type="title"/>
          </p:nvPr>
        </p:nvSpPr>
        <p:spPr>
          <a:xfrm>
            <a:off x="1278308" y="150491"/>
            <a:ext cx="6654730" cy="820991"/>
          </a:xfrm>
        </p:spPr>
        <p:txBody>
          <a:bodyPr/>
          <a:lstStyle/>
          <a:p>
            <a:r>
              <a:rPr lang="en-IN" sz="2800" b="1" dirty="0">
                <a:solidFill>
                  <a:schemeClr val="bg1"/>
                </a:solidFill>
              </a:rPr>
              <a:t>ASEAN(Association of South-East Asian Nations)</a:t>
            </a:r>
          </a:p>
        </p:txBody>
      </p:sp>
      <p:sp>
        <p:nvSpPr>
          <p:cNvPr id="3" name="Date Placeholder 2">
            <a:extLst>
              <a:ext uri="{FF2B5EF4-FFF2-40B4-BE49-F238E27FC236}">
                <a16:creationId xmlns:a16="http://schemas.microsoft.com/office/drawing/2014/main" id="{2240BB5E-655C-99F3-8391-EE77508B8695}"/>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8A715002-F67A-1C36-1D64-8AAB83FA8276}"/>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B1C268B2-9E47-C10E-4955-ECD59AC16F12}"/>
              </a:ext>
            </a:extLst>
          </p:cNvPr>
          <p:cNvSpPr>
            <a:spLocks noGrp="1"/>
          </p:cNvSpPr>
          <p:nvPr>
            <p:ph type="sldNum" sz="quarter" idx="12"/>
          </p:nvPr>
        </p:nvSpPr>
        <p:spPr/>
        <p:txBody>
          <a:bodyPr/>
          <a:lstStyle/>
          <a:p>
            <a:pPr defTabSz="756209"/>
            <a:fld id="{B6F15528-21DE-4FAA-801E-634DDDAF4B2B}" type="slidenum">
              <a:rPr lang="en-US" smtClean="0"/>
              <a:pPr defTabSz="756209"/>
              <a:t>24</a:t>
            </a:fld>
            <a:endParaRPr lang="en-US"/>
          </a:p>
        </p:txBody>
      </p:sp>
      <p:pic>
        <p:nvPicPr>
          <p:cNvPr id="2" name="Picture 1">
            <a:extLst>
              <a:ext uri="{FF2B5EF4-FFF2-40B4-BE49-F238E27FC236}">
                <a16:creationId xmlns:a16="http://schemas.microsoft.com/office/drawing/2014/main" id="{A41C2E25-4416-C115-55CC-0698B6D7389F}"/>
              </a:ext>
            </a:extLst>
          </p:cNvPr>
          <p:cNvPicPr>
            <a:picLocks noChangeAspect="1"/>
          </p:cNvPicPr>
          <p:nvPr/>
        </p:nvPicPr>
        <p:blipFill>
          <a:blip r:embed="rId2"/>
          <a:stretch>
            <a:fillRect/>
          </a:stretch>
        </p:blipFill>
        <p:spPr>
          <a:xfrm>
            <a:off x="8400522" y="1376343"/>
            <a:ext cx="1343025" cy="1343025"/>
          </a:xfrm>
          <a:prstGeom prst="rect">
            <a:avLst/>
          </a:prstGeom>
        </p:spPr>
      </p:pic>
      <p:sp>
        <p:nvSpPr>
          <p:cNvPr id="8" name="TextBox 7">
            <a:extLst>
              <a:ext uri="{FF2B5EF4-FFF2-40B4-BE49-F238E27FC236}">
                <a16:creationId xmlns:a16="http://schemas.microsoft.com/office/drawing/2014/main" id="{410D34C9-C9CC-4DE8-6027-B80B60B20D1D}"/>
              </a:ext>
            </a:extLst>
          </p:cNvPr>
          <p:cNvSpPr txBox="1"/>
          <p:nvPr/>
        </p:nvSpPr>
        <p:spPr>
          <a:xfrm>
            <a:off x="255494" y="1478803"/>
            <a:ext cx="8145027" cy="286232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Association of Southeast Asian Nations (ASEAN) is a regional intergovernmental organization of 10 member states in Southeast Asia, founded on </a:t>
            </a:r>
            <a:r>
              <a:rPr lang="en-US" sz="2000" b="1" dirty="0">
                <a:latin typeface="Times New Roman" panose="02020603050405020304" pitchFamily="18" charset="0"/>
                <a:cs typeface="Times New Roman" panose="02020603050405020304" pitchFamily="18" charset="0"/>
              </a:rPr>
              <a:t>August 8, 1967(Bangkok), </a:t>
            </a:r>
            <a:r>
              <a:rPr lang="en-US" sz="2000" dirty="0">
                <a:latin typeface="Times New Roman" panose="02020603050405020304" pitchFamily="18" charset="0"/>
                <a:cs typeface="Times New Roman" panose="02020603050405020304" pitchFamily="18" charset="0"/>
              </a:rPr>
              <a:t>to accelerate </a:t>
            </a:r>
            <a:r>
              <a:rPr lang="en-US" sz="2000" b="1" dirty="0">
                <a:latin typeface="Times New Roman" panose="02020603050405020304" pitchFamily="18" charset="0"/>
                <a:cs typeface="Times New Roman" panose="02020603050405020304" pitchFamily="18" charset="0"/>
              </a:rPr>
              <a:t>economic growth, social progress, and cultural development</a:t>
            </a:r>
            <a:r>
              <a:rPr lang="en-US" sz="2000" dirty="0">
                <a:latin typeface="Times New Roman" panose="02020603050405020304" pitchFamily="18" charset="0"/>
                <a:cs typeface="Times New Roman" panose="02020603050405020304" pitchFamily="18" charset="0"/>
              </a:rPr>
              <a:t>, while promoting peace and regional security. Its members are </a:t>
            </a:r>
            <a:r>
              <a:rPr lang="en-US" sz="2000" b="1" dirty="0">
                <a:latin typeface="Times New Roman" panose="02020603050405020304" pitchFamily="18" charset="0"/>
                <a:cs typeface="Times New Roman" panose="02020603050405020304" pitchFamily="18" charset="0"/>
              </a:rPr>
              <a:t>Brunei, Cambodia, Indonesia, Laos, Malaysia, Myanmar, the Philippines, Singapore, Thailand, and Vietnam</a:t>
            </a:r>
            <a:r>
              <a:rPr lang="en-US" sz="2000" dirty="0">
                <a:latin typeface="Times New Roman" panose="02020603050405020304" pitchFamily="18" charset="0"/>
                <a:cs typeface="Times New Roman" panose="02020603050405020304" pitchFamily="18" charset="0"/>
              </a:rPr>
              <a:t>. The organization's goals include </a:t>
            </a:r>
            <a:r>
              <a:rPr lang="en-US" sz="2000" b="1" dirty="0">
                <a:latin typeface="Times New Roman" panose="02020603050405020304" pitchFamily="18" charset="0"/>
                <a:cs typeface="Times New Roman" panose="02020603050405020304" pitchFamily="18" charset="0"/>
              </a:rPr>
              <a:t>fostering economic integration, ensuring regional stability</a:t>
            </a:r>
            <a:r>
              <a:rPr lang="en-US" sz="2000" dirty="0">
                <a:latin typeface="Times New Roman" panose="02020603050405020304" pitchFamily="18" charset="0"/>
                <a:cs typeface="Times New Roman" panose="02020603050405020304" pitchFamily="18" charset="0"/>
              </a:rPr>
              <a:t>, and cooperating on matters of common interest through the principle of non-interference in internal affairs.</a:t>
            </a:r>
            <a:endParaRPr lang="en-IN" sz="2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3F6FE84-EB5F-61BB-9108-720F3B30B043}"/>
              </a:ext>
            </a:extLst>
          </p:cNvPr>
          <p:cNvSpPr txBox="1"/>
          <p:nvPr/>
        </p:nvSpPr>
        <p:spPr>
          <a:xfrm>
            <a:off x="366371" y="4680253"/>
            <a:ext cx="8478604" cy="1631216"/>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Objectives: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Promote economic growth, social progress, and cultural development.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Foster regional peace and stability.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Encourage collaboration on common interests.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Maintain close cooperation with other international organizations.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3439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15BD5-A304-26F7-0F7B-D5B997A6B0E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A65BD7D-7A03-6A42-4873-62CE877DDADD}"/>
              </a:ext>
            </a:extLst>
          </p:cNvPr>
          <p:cNvSpPr>
            <a:spLocks noGrp="1"/>
          </p:cNvSpPr>
          <p:nvPr>
            <p:ph type="title"/>
          </p:nvPr>
        </p:nvSpPr>
        <p:spPr>
          <a:xfrm>
            <a:off x="1278308" y="150491"/>
            <a:ext cx="6654730" cy="820991"/>
          </a:xfrm>
        </p:spPr>
        <p:txBody>
          <a:bodyPr/>
          <a:lstStyle/>
          <a:p>
            <a:r>
              <a:rPr lang="en-IN" sz="2800" b="1" dirty="0">
                <a:solidFill>
                  <a:schemeClr val="bg1"/>
                </a:solidFill>
              </a:rPr>
              <a:t>SAARC ( South Asian Association for Reginal Cooperation)</a:t>
            </a:r>
          </a:p>
        </p:txBody>
      </p:sp>
      <p:sp>
        <p:nvSpPr>
          <p:cNvPr id="3" name="Date Placeholder 2">
            <a:extLst>
              <a:ext uri="{FF2B5EF4-FFF2-40B4-BE49-F238E27FC236}">
                <a16:creationId xmlns:a16="http://schemas.microsoft.com/office/drawing/2014/main" id="{F4E03F5C-17ED-44C9-3D65-F7C34B053576}"/>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A00BAD48-DA71-15FB-4418-A1A44429EF98}"/>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254CC61A-021E-C3E6-C01D-471CC84957E1}"/>
              </a:ext>
            </a:extLst>
          </p:cNvPr>
          <p:cNvSpPr>
            <a:spLocks noGrp="1"/>
          </p:cNvSpPr>
          <p:nvPr>
            <p:ph type="sldNum" sz="quarter" idx="12"/>
          </p:nvPr>
        </p:nvSpPr>
        <p:spPr/>
        <p:txBody>
          <a:bodyPr/>
          <a:lstStyle/>
          <a:p>
            <a:pPr defTabSz="756209"/>
            <a:fld id="{B6F15528-21DE-4FAA-801E-634DDDAF4B2B}" type="slidenum">
              <a:rPr lang="en-US" smtClean="0"/>
              <a:pPr defTabSz="756209"/>
              <a:t>25</a:t>
            </a:fld>
            <a:endParaRPr lang="en-US"/>
          </a:p>
        </p:txBody>
      </p:sp>
      <p:pic>
        <p:nvPicPr>
          <p:cNvPr id="2" name="Picture 1">
            <a:extLst>
              <a:ext uri="{FF2B5EF4-FFF2-40B4-BE49-F238E27FC236}">
                <a16:creationId xmlns:a16="http://schemas.microsoft.com/office/drawing/2014/main" id="{14CC6FCB-4041-64F1-6512-A13D60D8D247}"/>
              </a:ext>
            </a:extLst>
          </p:cNvPr>
          <p:cNvPicPr>
            <a:picLocks noChangeAspect="1"/>
          </p:cNvPicPr>
          <p:nvPr/>
        </p:nvPicPr>
        <p:blipFill>
          <a:blip r:embed="rId2"/>
          <a:stretch>
            <a:fillRect/>
          </a:stretch>
        </p:blipFill>
        <p:spPr>
          <a:xfrm>
            <a:off x="8639585" y="1434389"/>
            <a:ext cx="1343025" cy="1076325"/>
          </a:xfrm>
          <a:prstGeom prst="rect">
            <a:avLst/>
          </a:prstGeom>
        </p:spPr>
      </p:pic>
      <p:sp>
        <p:nvSpPr>
          <p:cNvPr id="8" name="TextBox 7">
            <a:extLst>
              <a:ext uri="{FF2B5EF4-FFF2-40B4-BE49-F238E27FC236}">
                <a16:creationId xmlns:a16="http://schemas.microsoft.com/office/drawing/2014/main" id="{45B67C8B-7419-FE42-441D-65100DD966AE}"/>
              </a:ext>
            </a:extLst>
          </p:cNvPr>
          <p:cNvSpPr txBox="1"/>
          <p:nvPr/>
        </p:nvSpPr>
        <p:spPr>
          <a:xfrm>
            <a:off x="164327" y="1434389"/>
            <a:ext cx="8635427" cy="2246769"/>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South Asian Association for Regional Cooperation (SAARC) is a regional intergovernmental organization and geopolitical union of states in South Asia, founded in </a:t>
            </a:r>
            <a:r>
              <a:rPr lang="en-US" sz="2000" b="1" dirty="0">
                <a:latin typeface="Times New Roman" panose="02020603050405020304" pitchFamily="18" charset="0"/>
                <a:cs typeface="Times New Roman" panose="02020603050405020304" pitchFamily="18" charset="0"/>
              </a:rPr>
              <a:t>1985</a:t>
            </a:r>
            <a:r>
              <a:rPr lang="en-US" sz="2000" dirty="0">
                <a:latin typeface="Times New Roman" panose="02020603050405020304" pitchFamily="18" charset="0"/>
                <a:cs typeface="Times New Roman" panose="02020603050405020304" pitchFamily="18" charset="0"/>
              </a:rPr>
              <a:t> to </a:t>
            </a:r>
            <a:r>
              <a:rPr lang="en-US" sz="2000" b="1" dirty="0">
                <a:latin typeface="Times New Roman" panose="02020603050405020304" pitchFamily="18" charset="0"/>
                <a:cs typeface="Times New Roman" panose="02020603050405020304" pitchFamily="18" charset="0"/>
              </a:rPr>
              <a:t>promote the welfare of the peoples of South Asia, accelerate economic, social, and cultural development, and foster collective self-reliance</a:t>
            </a:r>
            <a:r>
              <a:rPr lang="en-US" sz="2000" dirty="0">
                <a:latin typeface="Times New Roman" panose="02020603050405020304" pitchFamily="18" charset="0"/>
                <a:cs typeface="Times New Roman" panose="02020603050405020304" pitchFamily="18" charset="0"/>
              </a:rPr>
              <a:t>. SAARC has eight member countries: Afghanistan, Bangladesh, Bhutan, India, Maldives, Nepal, Pakistan, and Sri Lanka. </a:t>
            </a:r>
            <a:r>
              <a:rPr lang="en-US" sz="2000" b="1" dirty="0">
                <a:latin typeface="Times New Roman" panose="02020603050405020304" pitchFamily="18" charset="0"/>
                <a:cs typeface="Times New Roman" panose="02020603050405020304" pitchFamily="18" charset="0"/>
              </a:rPr>
              <a:t>Its Secretariat is based in Kathmandu, Nepal.</a:t>
            </a:r>
            <a:endParaRPr lang="en-IN" sz="20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E439EFC-2EA1-AC90-53E2-D37277878535}"/>
              </a:ext>
            </a:extLst>
          </p:cNvPr>
          <p:cNvSpPr txBox="1"/>
          <p:nvPr/>
        </p:nvSpPr>
        <p:spPr>
          <a:xfrm>
            <a:off x="164327" y="3681158"/>
            <a:ext cx="9672492" cy="2862322"/>
          </a:xfrm>
          <a:prstGeom prst="rect">
            <a:avLst/>
          </a:prstGeom>
          <a:noFill/>
        </p:spPr>
        <p:txBody>
          <a:bodyPr wrap="square">
            <a:spAutoFit/>
          </a:bodyPr>
          <a:lstStyle/>
          <a:p>
            <a:r>
              <a:rPr lang="en-US" b="1" u="sng" dirty="0"/>
              <a:t>Key Functions and Areas of Cooperation</a:t>
            </a:r>
          </a:p>
          <a:p>
            <a:r>
              <a:rPr lang="en-US" dirty="0">
                <a:latin typeface="Times New Roman" panose="02020603050405020304" pitchFamily="18" charset="0"/>
                <a:cs typeface="Times New Roman" panose="02020603050405020304" pitchFamily="18" charset="0"/>
              </a:rPr>
              <a:t>Economic Development. </a:t>
            </a:r>
          </a:p>
          <a:p>
            <a:r>
              <a:rPr lang="en-US" dirty="0">
                <a:latin typeface="Times New Roman" panose="02020603050405020304" pitchFamily="18" charset="0"/>
                <a:cs typeface="Times New Roman" panose="02020603050405020304" pitchFamily="18" charset="0"/>
              </a:rPr>
              <a:t>Collective Self-assurance: </a:t>
            </a:r>
          </a:p>
          <a:p>
            <a:r>
              <a:rPr lang="en-US" dirty="0">
                <a:latin typeface="Times New Roman" panose="02020603050405020304" pitchFamily="18" charset="0"/>
                <a:cs typeface="Times New Roman" panose="02020603050405020304" pitchFamily="18" charset="0"/>
              </a:rPr>
              <a:t>Poverty Relief:</a:t>
            </a:r>
          </a:p>
          <a:p>
            <a:r>
              <a:rPr lang="en-US" dirty="0">
                <a:latin typeface="Times New Roman" panose="02020603050405020304" pitchFamily="18" charset="0"/>
                <a:cs typeface="Times New Roman" panose="02020603050405020304" pitchFamily="18" charset="0"/>
              </a:rPr>
              <a:t>Trade: To establish free trade zones, such as the South Asian Free Trade Agreement (SAFTA), and lower trade tariffs to promote intra-regional trade. </a:t>
            </a:r>
          </a:p>
          <a:p>
            <a:r>
              <a:rPr lang="en-US" dirty="0">
                <a:latin typeface="Times New Roman" panose="02020603050405020304" pitchFamily="18" charset="0"/>
                <a:cs typeface="Times New Roman" panose="02020603050405020304" pitchFamily="18" charset="0"/>
              </a:rPr>
              <a:t>Social Progress and Cultural Development:</a:t>
            </a:r>
          </a:p>
          <a:p>
            <a:r>
              <a:rPr lang="en-US" dirty="0">
                <a:latin typeface="Times New Roman" panose="02020603050405020304" pitchFamily="18" charset="0"/>
                <a:cs typeface="Times New Roman" panose="02020603050405020304" pitchFamily="18" charset="0"/>
              </a:rPr>
              <a:t>Technological and Scientific Cooperation:</a:t>
            </a:r>
          </a:p>
          <a:p>
            <a:r>
              <a:rPr lang="en-US" dirty="0">
                <a:latin typeface="Times New Roman" panose="02020603050405020304" pitchFamily="18" charset="0"/>
                <a:cs typeface="Times New Roman" panose="02020603050405020304" pitchFamily="18" charset="0"/>
              </a:rPr>
              <a:t>Human Resource Development:</a:t>
            </a:r>
          </a:p>
          <a:p>
            <a:r>
              <a:rPr lang="en-US" dirty="0">
                <a:latin typeface="Times New Roman" panose="02020603050405020304" pitchFamily="18" charset="0"/>
                <a:cs typeface="Times New Roman" panose="02020603050405020304" pitchFamily="18" charset="0"/>
              </a:rPr>
              <a:t>Environmental and Disaster Management:</a:t>
            </a:r>
          </a:p>
        </p:txBody>
      </p:sp>
    </p:spTree>
    <p:extLst>
      <p:ext uri="{BB962C8B-B14F-4D97-AF65-F5344CB8AC3E}">
        <p14:creationId xmlns:p14="http://schemas.microsoft.com/office/powerpoint/2010/main" val="10783031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26DEB-356F-3D33-8D29-985E8677F92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611FEFF-DF42-B005-17AB-BF942276DCDF}"/>
              </a:ext>
            </a:extLst>
          </p:cNvPr>
          <p:cNvSpPr>
            <a:spLocks noGrp="1"/>
          </p:cNvSpPr>
          <p:nvPr>
            <p:ph type="title"/>
          </p:nvPr>
        </p:nvSpPr>
        <p:spPr>
          <a:xfrm>
            <a:off x="1278308" y="150491"/>
            <a:ext cx="6654730" cy="820991"/>
          </a:xfrm>
        </p:spPr>
        <p:txBody>
          <a:bodyPr/>
          <a:lstStyle/>
          <a:p>
            <a:r>
              <a:rPr lang="en-US" sz="2800" b="1" dirty="0">
                <a:solidFill>
                  <a:schemeClr val="bg1"/>
                </a:solidFill>
              </a:rPr>
              <a:t>SAPTA (SAARC Preferential Trading Arrangement) </a:t>
            </a:r>
            <a:endParaRPr lang="en-IN" sz="2800" b="1" dirty="0">
              <a:solidFill>
                <a:schemeClr val="bg1"/>
              </a:solidFill>
            </a:endParaRPr>
          </a:p>
        </p:txBody>
      </p:sp>
      <p:sp>
        <p:nvSpPr>
          <p:cNvPr id="3" name="Date Placeholder 2">
            <a:extLst>
              <a:ext uri="{FF2B5EF4-FFF2-40B4-BE49-F238E27FC236}">
                <a16:creationId xmlns:a16="http://schemas.microsoft.com/office/drawing/2014/main" id="{DDC81C5A-C3FB-D4E2-41C7-0A73376D70C2}"/>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CF1DB473-72DC-81FA-8F21-509C6F67E688}"/>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262B05E6-36F2-D748-0F0A-85C46A674973}"/>
              </a:ext>
            </a:extLst>
          </p:cNvPr>
          <p:cNvSpPr>
            <a:spLocks noGrp="1"/>
          </p:cNvSpPr>
          <p:nvPr>
            <p:ph type="sldNum" sz="quarter" idx="12"/>
          </p:nvPr>
        </p:nvSpPr>
        <p:spPr/>
        <p:txBody>
          <a:bodyPr/>
          <a:lstStyle/>
          <a:p>
            <a:pPr defTabSz="756209"/>
            <a:fld id="{B6F15528-21DE-4FAA-801E-634DDDAF4B2B}" type="slidenum">
              <a:rPr lang="en-US" smtClean="0"/>
              <a:pPr defTabSz="756209"/>
              <a:t>26</a:t>
            </a:fld>
            <a:endParaRPr lang="en-US"/>
          </a:p>
        </p:txBody>
      </p:sp>
      <p:sp>
        <p:nvSpPr>
          <p:cNvPr id="7" name="TextBox 6">
            <a:extLst>
              <a:ext uri="{FF2B5EF4-FFF2-40B4-BE49-F238E27FC236}">
                <a16:creationId xmlns:a16="http://schemas.microsoft.com/office/drawing/2014/main" id="{D4B5A674-06A3-5A5A-6C9D-97543368BE21}"/>
              </a:ext>
            </a:extLst>
          </p:cNvPr>
          <p:cNvSpPr txBox="1"/>
          <p:nvPr/>
        </p:nvSpPr>
        <p:spPr>
          <a:xfrm>
            <a:off x="180190" y="1677799"/>
            <a:ext cx="9587753" cy="163121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SAPTA (SAARC Preferential Trading Arrangement) was a </a:t>
            </a:r>
            <a:r>
              <a:rPr lang="en-US" sz="2000" b="1" dirty="0">
                <a:latin typeface="Times New Roman" panose="02020603050405020304" pitchFamily="18" charset="0"/>
                <a:cs typeface="Times New Roman" panose="02020603050405020304" pitchFamily="18" charset="0"/>
              </a:rPr>
              <a:t>1993</a:t>
            </a:r>
            <a:r>
              <a:rPr lang="en-US" sz="2000" dirty="0">
                <a:latin typeface="Times New Roman" panose="02020603050405020304" pitchFamily="18" charset="0"/>
                <a:cs typeface="Times New Roman" panose="02020603050405020304" pitchFamily="18" charset="0"/>
              </a:rPr>
              <a:t> trade agreement among SAARC member countries (Bangladesh, Bhutan, India, Maldives, Nepal, Pakistan, and Sri Lanka) designed to boost intra-regional trade by gradually reducing tariffs and other barriers. It served as the first step toward a larger Free Trade Area and has since been replaced by the more comprehensive South Asian Free Trade Area (SAFTA) agreement. </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AA55B37-6797-AD6C-D885-3664F432B90C}"/>
              </a:ext>
            </a:extLst>
          </p:cNvPr>
          <p:cNvSpPr txBox="1"/>
          <p:nvPr/>
        </p:nvSpPr>
        <p:spPr>
          <a:xfrm>
            <a:off x="180190" y="3399065"/>
            <a:ext cx="9720245" cy="1754326"/>
          </a:xfrm>
          <a:prstGeom prst="rect">
            <a:avLst/>
          </a:prstGeom>
          <a:noFill/>
        </p:spPr>
        <p:txBody>
          <a:bodyPr wrap="square">
            <a:spAutoFit/>
          </a:bodyPr>
          <a:lstStyle/>
          <a:p>
            <a:r>
              <a:rPr lang="en-US" b="1" u="sng" dirty="0"/>
              <a:t>SAPTA's key objectives:</a:t>
            </a:r>
          </a:p>
          <a:p>
            <a:r>
              <a:rPr lang="en-US" b="1" dirty="0"/>
              <a:t>Promoting Mutual Trade:</a:t>
            </a:r>
          </a:p>
          <a:p>
            <a:r>
              <a:rPr lang="en-US" b="1" dirty="0"/>
              <a:t>Enhancing Economic Cooperation:</a:t>
            </a:r>
          </a:p>
          <a:p>
            <a:r>
              <a:rPr lang="en-US" b="1" dirty="0"/>
              <a:t>Providing Preferential Treatment:</a:t>
            </a:r>
          </a:p>
          <a:p>
            <a:r>
              <a:rPr lang="en-US" b="1" dirty="0"/>
              <a:t>Laying the Foundation for a Free Trade Area</a:t>
            </a:r>
            <a:r>
              <a:rPr lang="en-US" dirty="0"/>
              <a:t>: To serve as the first phase in the process of creating a South Asian Free Trade Area (SAFTA) and, eventually, a Customs Union. </a:t>
            </a:r>
            <a:endParaRPr lang="en-IN" dirty="0"/>
          </a:p>
        </p:txBody>
      </p:sp>
    </p:spTree>
    <p:extLst>
      <p:ext uri="{BB962C8B-B14F-4D97-AF65-F5344CB8AC3E}">
        <p14:creationId xmlns:p14="http://schemas.microsoft.com/office/powerpoint/2010/main" val="2379140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B0C67-0995-02BF-816C-A03B758A114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48F5E9D-7558-9B72-76A8-FD5F786B0BA8}"/>
              </a:ext>
            </a:extLst>
          </p:cNvPr>
          <p:cNvSpPr>
            <a:spLocks noGrp="1"/>
          </p:cNvSpPr>
          <p:nvPr>
            <p:ph type="title"/>
          </p:nvPr>
        </p:nvSpPr>
        <p:spPr>
          <a:xfrm>
            <a:off x="1278308" y="150491"/>
            <a:ext cx="6654730" cy="820991"/>
          </a:xfrm>
        </p:spPr>
        <p:txBody>
          <a:bodyPr/>
          <a:lstStyle/>
          <a:p>
            <a:r>
              <a:rPr lang="en-US" sz="2800" b="1" dirty="0">
                <a:solidFill>
                  <a:schemeClr val="bg1"/>
                </a:solidFill>
              </a:rPr>
              <a:t>BRICS</a:t>
            </a:r>
            <a:endParaRPr lang="en-IN" sz="2800" b="1" dirty="0">
              <a:solidFill>
                <a:schemeClr val="bg1"/>
              </a:solidFill>
            </a:endParaRPr>
          </a:p>
        </p:txBody>
      </p:sp>
      <p:sp>
        <p:nvSpPr>
          <p:cNvPr id="3" name="Date Placeholder 2">
            <a:extLst>
              <a:ext uri="{FF2B5EF4-FFF2-40B4-BE49-F238E27FC236}">
                <a16:creationId xmlns:a16="http://schemas.microsoft.com/office/drawing/2014/main" id="{98354CC5-C2D6-A0C7-1614-41EB16CD5AC6}"/>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4E533E09-E094-2F18-A0A0-9DB94FE370D6}"/>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A381F214-E404-33C2-C9B4-AA1F4DF5138D}"/>
              </a:ext>
            </a:extLst>
          </p:cNvPr>
          <p:cNvSpPr>
            <a:spLocks noGrp="1"/>
          </p:cNvSpPr>
          <p:nvPr>
            <p:ph type="sldNum" sz="quarter" idx="12"/>
          </p:nvPr>
        </p:nvSpPr>
        <p:spPr/>
        <p:txBody>
          <a:bodyPr/>
          <a:lstStyle/>
          <a:p>
            <a:pPr defTabSz="756209"/>
            <a:fld id="{B6F15528-21DE-4FAA-801E-634DDDAF4B2B}" type="slidenum">
              <a:rPr lang="en-US" smtClean="0"/>
              <a:pPr defTabSz="756209"/>
              <a:t>27</a:t>
            </a:fld>
            <a:endParaRPr lang="en-US"/>
          </a:p>
        </p:txBody>
      </p:sp>
      <p:pic>
        <p:nvPicPr>
          <p:cNvPr id="2" name="Picture 1">
            <a:extLst>
              <a:ext uri="{FF2B5EF4-FFF2-40B4-BE49-F238E27FC236}">
                <a16:creationId xmlns:a16="http://schemas.microsoft.com/office/drawing/2014/main" id="{43B91944-A8C2-168B-D2F0-7AB95A198DC4}"/>
              </a:ext>
            </a:extLst>
          </p:cNvPr>
          <p:cNvPicPr>
            <a:picLocks noChangeAspect="1"/>
          </p:cNvPicPr>
          <p:nvPr/>
        </p:nvPicPr>
        <p:blipFill>
          <a:blip r:embed="rId2"/>
          <a:stretch>
            <a:fillRect/>
          </a:stretch>
        </p:blipFill>
        <p:spPr>
          <a:xfrm>
            <a:off x="5733653" y="1398494"/>
            <a:ext cx="4218435" cy="5457600"/>
          </a:xfrm>
          <a:prstGeom prst="rect">
            <a:avLst/>
          </a:prstGeom>
        </p:spPr>
      </p:pic>
      <p:sp>
        <p:nvSpPr>
          <p:cNvPr id="8" name="TextBox 7">
            <a:extLst>
              <a:ext uri="{FF2B5EF4-FFF2-40B4-BE49-F238E27FC236}">
                <a16:creationId xmlns:a16="http://schemas.microsoft.com/office/drawing/2014/main" id="{EED83322-1224-7C2B-AC6C-0CBD6AB864CE}"/>
              </a:ext>
            </a:extLst>
          </p:cNvPr>
          <p:cNvSpPr txBox="1"/>
          <p:nvPr/>
        </p:nvSpPr>
        <p:spPr>
          <a:xfrm>
            <a:off x="128537" y="1551407"/>
            <a:ext cx="5050714" cy="378565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BRICS is a geopolitical and economic alliance of major emerging economies, originally an acronym for Brazil, Russia, India, China, and South Africa, which has expanded to include other countries like Egypt, Ethiopia, Iran, Indonesia, and the United Arab Emirates. Its core features include representing a significant portion of the global population and economy, fostering economic and financial cooperation, and challenging Western-dominated global institutions by creating a more multipolar world order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37258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94252-E7A8-315A-AB1A-3D351DF1F9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35092DD-0140-5371-F090-EDD3D0CEA256}"/>
              </a:ext>
            </a:extLst>
          </p:cNvPr>
          <p:cNvSpPr>
            <a:spLocks noGrp="1"/>
          </p:cNvSpPr>
          <p:nvPr>
            <p:ph type="title"/>
          </p:nvPr>
        </p:nvSpPr>
        <p:spPr>
          <a:xfrm>
            <a:off x="1278308" y="150491"/>
            <a:ext cx="6654730" cy="820991"/>
          </a:xfrm>
        </p:spPr>
        <p:txBody>
          <a:bodyPr/>
          <a:lstStyle/>
          <a:p>
            <a:endParaRPr lang="en-IN" sz="2800" b="1" dirty="0">
              <a:solidFill>
                <a:schemeClr val="bg1"/>
              </a:solidFill>
            </a:endParaRPr>
          </a:p>
        </p:txBody>
      </p:sp>
      <p:sp>
        <p:nvSpPr>
          <p:cNvPr id="3" name="Date Placeholder 2">
            <a:extLst>
              <a:ext uri="{FF2B5EF4-FFF2-40B4-BE49-F238E27FC236}">
                <a16:creationId xmlns:a16="http://schemas.microsoft.com/office/drawing/2014/main" id="{A56C0AC6-371C-BF62-E6CB-B9C192AF7B68}"/>
              </a:ext>
            </a:extLst>
          </p:cNvPr>
          <p:cNvSpPr>
            <a:spLocks noGrp="1"/>
          </p:cNvSpPr>
          <p:nvPr>
            <p:ph type="dt" sz="half" idx="10"/>
          </p:nvPr>
        </p:nvSpPr>
        <p:spPr/>
        <p:txBody>
          <a:bodyPr/>
          <a:lstStyle/>
          <a:p>
            <a:pPr defTabSz="756209"/>
            <a:fld id="{59C3BFA6-9BB1-4BCB-AB07-9D84C6CDAA70}" type="datetime3">
              <a:rPr lang="en-US" smtClean="0"/>
              <a:t>1 September 2025</a:t>
            </a:fld>
            <a:endParaRPr lang="en-US"/>
          </a:p>
        </p:txBody>
      </p:sp>
      <p:sp>
        <p:nvSpPr>
          <p:cNvPr id="5" name="Footer Placeholder 4">
            <a:extLst>
              <a:ext uri="{FF2B5EF4-FFF2-40B4-BE49-F238E27FC236}">
                <a16:creationId xmlns:a16="http://schemas.microsoft.com/office/drawing/2014/main" id="{39563C0B-2A2A-D45A-F5EE-64DF80FAF44F}"/>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78FA57D7-6923-395E-CE93-929C3B8BE330}"/>
              </a:ext>
            </a:extLst>
          </p:cNvPr>
          <p:cNvSpPr>
            <a:spLocks noGrp="1"/>
          </p:cNvSpPr>
          <p:nvPr>
            <p:ph type="sldNum" sz="quarter" idx="12"/>
          </p:nvPr>
        </p:nvSpPr>
        <p:spPr/>
        <p:txBody>
          <a:bodyPr/>
          <a:lstStyle/>
          <a:p>
            <a:pPr defTabSz="756209"/>
            <a:fld id="{B6F15528-21DE-4FAA-801E-634DDDAF4B2B}" type="slidenum">
              <a:rPr lang="en-US" smtClean="0"/>
              <a:pPr defTabSz="756209"/>
              <a:t>28</a:t>
            </a:fld>
            <a:endParaRPr lang="en-US"/>
          </a:p>
        </p:txBody>
      </p:sp>
      <p:sp>
        <p:nvSpPr>
          <p:cNvPr id="2" name="TextBox 1">
            <a:extLst>
              <a:ext uri="{FF2B5EF4-FFF2-40B4-BE49-F238E27FC236}">
                <a16:creationId xmlns:a16="http://schemas.microsoft.com/office/drawing/2014/main" id="{F0C31A3F-A23A-8E41-BA58-6CFDEF5CC465}"/>
              </a:ext>
            </a:extLst>
          </p:cNvPr>
          <p:cNvSpPr txBox="1"/>
          <p:nvPr/>
        </p:nvSpPr>
        <p:spPr>
          <a:xfrm>
            <a:off x="1278308" y="1968649"/>
            <a:ext cx="6951292" cy="369332"/>
          </a:xfrm>
          <a:prstGeom prst="rect">
            <a:avLst/>
          </a:prstGeom>
          <a:noFill/>
        </p:spPr>
        <p:txBody>
          <a:bodyPr wrap="square" rtlCol="0">
            <a:spAutoFit/>
          </a:bodyPr>
          <a:lstStyle/>
          <a:p>
            <a:pPr algn="ctr"/>
            <a:r>
              <a:rPr lang="en-US" dirty="0"/>
              <a:t>Thank You</a:t>
            </a:r>
            <a:endParaRPr lang="en-IN" dirty="0"/>
          </a:p>
        </p:txBody>
      </p:sp>
    </p:spTree>
    <p:extLst>
      <p:ext uri="{BB962C8B-B14F-4D97-AF65-F5344CB8AC3E}">
        <p14:creationId xmlns:p14="http://schemas.microsoft.com/office/powerpoint/2010/main" val="24763502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 Antiqua"/>
        <a:ea typeface=""/>
        <a:cs typeface=""/>
      </a:majorFont>
      <a:minorFont>
        <a:latin typeface="Book Antiqu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2863</TotalTime>
  <Words>2418</Words>
  <Application>Microsoft Office PowerPoint</Application>
  <PresentationFormat>Custom</PresentationFormat>
  <Paragraphs>262</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Book Antiqua</vt:lpstr>
      <vt:lpstr>Calibri</vt:lpstr>
      <vt:lpstr>Cambria</vt:lpstr>
      <vt:lpstr>Times new roman</vt:lpstr>
      <vt:lpstr>Times new roman</vt:lpstr>
      <vt:lpstr>1_Office Theme</vt:lpstr>
      <vt:lpstr>International Business 22MBA401</vt:lpstr>
      <vt:lpstr>Module-4 (7Hours)   International Institutions: UNCTAD- Introduction, Principles and achievements, IMF-Role and objectives, WTO-Role and advantages, TRIMS, TRIPS Features, Economic Integration-Introduction, Levels of Economic Integration, Regional Economic Integration in Europe, USA, ASEAN, SAARC, SAPTA.</vt:lpstr>
      <vt:lpstr>International Institutions:</vt:lpstr>
      <vt:lpstr>UNCTAD</vt:lpstr>
      <vt:lpstr>Principles</vt:lpstr>
      <vt:lpstr>Achievements</vt:lpstr>
      <vt:lpstr>Organizational Structure</vt:lpstr>
      <vt:lpstr>IMF</vt:lpstr>
      <vt:lpstr>IMF- Organizational Structure</vt:lpstr>
      <vt:lpstr>IMF-Role/Functions </vt:lpstr>
      <vt:lpstr>WTO</vt:lpstr>
      <vt:lpstr>Objectives of WTO</vt:lpstr>
      <vt:lpstr>Principles of WTO</vt:lpstr>
      <vt:lpstr>Role/Functioning of WTO</vt:lpstr>
      <vt:lpstr>WTO advantages</vt:lpstr>
      <vt:lpstr>TRIMS</vt:lpstr>
      <vt:lpstr>TRIPS</vt:lpstr>
      <vt:lpstr>Regional Economic Groupings/Major Regional Trade Agreements</vt:lpstr>
      <vt:lpstr>Reasons For Formation of Reginal Trading Blocs</vt:lpstr>
      <vt:lpstr>Levels of Regional Economic Integration</vt:lpstr>
      <vt:lpstr>Reginal Integration between Countries</vt:lpstr>
      <vt:lpstr>Regional Economic Integration in Europe</vt:lpstr>
      <vt:lpstr>Regional Economic Integration in USA,</vt:lpstr>
      <vt:lpstr>ASEAN(Association of South-East Asian Nations)</vt:lpstr>
      <vt:lpstr>SAARC ( South Asian Association for Reginal Cooperation)</vt:lpstr>
      <vt:lpstr>SAPTA (SAARC Preferential Trading Arrangement) </vt:lpstr>
      <vt:lpstr>BRICS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Compensation &amp; Benefits  18MBAHR303</dc:title>
  <dc:creator>Reena</dc:creator>
  <cp:lastModifiedBy>Dell</cp:lastModifiedBy>
  <cp:revision>366</cp:revision>
  <dcterms:modified xsi:type="dcterms:W3CDTF">2025-09-01T08:18:08Z</dcterms:modified>
</cp:coreProperties>
</file>