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a25bbe38994f31" /><Relationship Type="http://schemas.openxmlformats.org/officeDocument/2006/relationships/extended-properties" Target="/docProps/app.xml" Id="R9f0e9c438693423a" /><Relationship Type="http://schemas.openxmlformats.org/officeDocument/2006/relationships/officeDocument" Target="/ppt/presentation.xml" Id="Rd3ebfb7c43044c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e5003cc2f5441f"/>
  </p:sldMasterIdLst>
  <p:notesMasterIdLst>
    <p:notesMasterId xmlns:r="http://schemas.openxmlformats.org/officeDocument/2006/relationships" r:id="R0440d77372264552"/>
  </p:notesMasterIdLst>
  <p:sldIdLst>
    <p:sldId xmlns:r="http://schemas.openxmlformats.org/officeDocument/2006/relationships" id="256" r:id="R3c5ca3b4831a4ad2"/>
    <p:sldId xmlns:r="http://schemas.openxmlformats.org/officeDocument/2006/relationships" id="257" r:id="Rf0e8951a1e784f70"/>
    <p:sldId xmlns:r="http://schemas.openxmlformats.org/officeDocument/2006/relationships" id="258" r:id="Raeee23a4dad4412a"/>
    <p:sldId xmlns:r="http://schemas.openxmlformats.org/officeDocument/2006/relationships" id="259" r:id="Rf94cdeef754b4fc3"/>
    <p:sldId xmlns:r="http://schemas.openxmlformats.org/officeDocument/2006/relationships" id="260" r:id="Rae886fe5f397460f"/>
    <p:sldId xmlns:r="http://schemas.openxmlformats.org/officeDocument/2006/relationships" id="261" r:id="Rfa558e2b709e4ae0"/>
    <p:sldId xmlns:r="http://schemas.openxmlformats.org/officeDocument/2006/relationships" id="262" r:id="Rcb8ac34d88d84362"/>
    <p:sldId xmlns:r="http://schemas.openxmlformats.org/officeDocument/2006/relationships" id="263" r:id="R3ea148834e354807"/>
    <p:sldId xmlns:r="http://schemas.openxmlformats.org/officeDocument/2006/relationships" id="264" r:id="Rf2cb810bce0b4517"/>
    <p:sldId xmlns:r="http://schemas.openxmlformats.org/officeDocument/2006/relationships" id="265" r:id="Rd4ce78b5f8b4422d"/>
    <p:sldId xmlns:r="http://schemas.openxmlformats.org/officeDocument/2006/relationships" id="266" r:id="Rfc13dcc630734f6c"/>
    <p:sldId xmlns:r="http://schemas.openxmlformats.org/officeDocument/2006/relationships" id="267" r:id="Re8b4e85feda34f82"/>
    <p:sldId xmlns:r="http://schemas.openxmlformats.org/officeDocument/2006/relationships" id="268" r:id="R5f6c85af0b614329"/>
    <p:sldId xmlns:r="http://schemas.openxmlformats.org/officeDocument/2006/relationships" id="269" r:id="Rdf1060510d5b4332"/>
    <p:sldId xmlns:r="http://schemas.openxmlformats.org/officeDocument/2006/relationships" id="270" r:id="R0a5d2521925f409a"/>
    <p:sldId xmlns:r="http://schemas.openxmlformats.org/officeDocument/2006/relationships" id="271" r:id="Rc3594df37909464e"/>
    <p:sldId xmlns:r="http://schemas.openxmlformats.org/officeDocument/2006/relationships" id="272" r:id="Re76fcc3eb9aa4e71"/>
    <p:sldId xmlns:r="http://schemas.openxmlformats.org/officeDocument/2006/relationships" id="273" r:id="R9bce2c4990aa45b1"/>
    <p:sldId xmlns:r="http://schemas.openxmlformats.org/officeDocument/2006/relationships" id="274" r:id="Rb13a4b31e7b842a7"/>
    <p:sldId xmlns:r="http://schemas.openxmlformats.org/officeDocument/2006/relationships" id="275" r:id="R41934a131c1046c8"/>
    <p:sldId xmlns:r="http://schemas.openxmlformats.org/officeDocument/2006/relationships" id="276" r:id="R102b82ce56ba42e4"/>
    <p:sldId xmlns:r="http://schemas.openxmlformats.org/officeDocument/2006/relationships" id="277" r:id="Recef4dd2125d4071"/>
    <p:sldId xmlns:r="http://schemas.openxmlformats.org/officeDocument/2006/relationships" id="278" r:id="Rf7fb8d04b44b423e"/>
    <p:sldId xmlns:r="http://schemas.openxmlformats.org/officeDocument/2006/relationships" id="279" r:id="R887c8f0080fb4f73"/>
    <p:sldId xmlns:r="http://schemas.openxmlformats.org/officeDocument/2006/relationships" id="280" r:id="Rc145fd4f3d2345dd"/>
    <p:sldId xmlns:r="http://schemas.openxmlformats.org/officeDocument/2006/relationships" id="281" r:id="R8b3647bf06f044b3"/>
    <p:sldId xmlns:r="http://schemas.openxmlformats.org/officeDocument/2006/relationships" id="282" r:id="R353448345cf94599"/>
    <p:sldId xmlns:r="http://schemas.openxmlformats.org/officeDocument/2006/relationships" id="283" r:id="R881250f7dfb94085"/>
    <p:sldId xmlns:r="http://schemas.openxmlformats.org/officeDocument/2006/relationships" id="284" r:id="R69da363e8da54bfa"/>
    <p:sldId xmlns:r="http://schemas.openxmlformats.org/officeDocument/2006/relationships" id="285" r:id="R582b8d0a23fb4de0"/>
    <p:sldId xmlns:r="http://schemas.openxmlformats.org/officeDocument/2006/relationships" id="286" r:id="R5c1216300c53492f"/>
    <p:sldId xmlns:r="http://schemas.openxmlformats.org/officeDocument/2006/relationships" id="287" r:id="Rc1bd304eba914efb"/>
    <p:sldId xmlns:r="http://schemas.openxmlformats.org/officeDocument/2006/relationships" id="288" r:id="R94a2adfbf093457c"/>
    <p:sldId xmlns:r="http://schemas.openxmlformats.org/officeDocument/2006/relationships" id="289" r:id="R7e4c55835694411b"/>
    <p:sldId xmlns:r="http://schemas.openxmlformats.org/officeDocument/2006/relationships" id="290" r:id="R40c4045d6b6146d7"/>
    <p:sldId xmlns:r="http://schemas.openxmlformats.org/officeDocument/2006/relationships" id="291" r:id="Rc6a9790fa05e4148"/>
    <p:sldId xmlns:r="http://schemas.openxmlformats.org/officeDocument/2006/relationships" id="292" r:id="R762c31f35c52444b"/>
    <p:sldId xmlns:r="http://schemas.openxmlformats.org/officeDocument/2006/relationships" id="293" r:id="R1eae0b467cf24fe6"/>
    <p:sldId xmlns:r="http://schemas.openxmlformats.org/officeDocument/2006/relationships" id="294" r:id="R408ace2e8e664514"/>
    <p:sldId xmlns:r="http://schemas.openxmlformats.org/officeDocument/2006/relationships" id="295" r:id="Re8f76f47117b497a"/>
    <p:sldId xmlns:r="http://schemas.openxmlformats.org/officeDocument/2006/relationships" id="296" r:id="Rfcc877a847e942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6649daf0bf4723" /><Relationship Type="http://schemas.openxmlformats.org/officeDocument/2006/relationships/slideMaster" Target="/ppt/slideMasters/slideMaster1.xml" Id="R3ee5003cc2f5441f" /><Relationship Type="http://schemas.openxmlformats.org/officeDocument/2006/relationships/notesMaster" Target="/ppt/notesMasters/notesMaster1.xml" Id="R0440d77372264552" /><Relationship Type="http://schemas.openxmlformats.org/officeDocument/2006/relationships/presProps" Target="/ppt/presProps.xml" Id="R71ac96a10d904592" /><Relationship Type="http://schemas.openxmlformats.org/officeDocument/2006/relationships/tableStyles" Target="/ppt/tableStyles.xml" Id="R03e928a0dd274e0d" /><Relationship Type="http://schemas.openxmlformats.org/officeDocument/2006/relationships/slide" Target="/ppt/slides/slide1.xml" Id="R3c5ca3b4831a4ad2" /><Relationship Type="http://schemas.openxmlformats.org/officeDocument/2006/relationships/slide" Target="/ppt/slides/slide2.xml" Id="Rf0e8951a1e784f70" /><Relationship Type="http://schemas.openxmlformats.org/officeDocument/2006/relationships/slide" Target="/ppt/slides/slide3.xml" Id="Raeee23a4dad4412a" /><Relationship Type="http://schemas.openxmlformats.org/officeDocument/2006/relationships/slide" Target="/ppt/slides/slide4.xml" Id="Rf94cdeef754b4fc3" /><Relationship Type="http://schemas.openxmlformats.org/officeDocument/2006/relationships/slide" Target="/ppt/slides/slide5.xml" Id="Rae886fe5f397460f" /><Relationship Type="http://schemas.openxmlformats.org/officeDocument/2006/relationships/slide" Target="/ppt/slides/slide6.xml" Id="Rfa558e2b709e4ae0" /><Relationship Type="http://schemas.openxmlformats.org/officeDocument/2006/relationships/slide" Target="/ppt/slides/slide7.xml" Id="Rcb8ac34d88d84362" /><Relationship Type="http://schemas.openxmlformats.org/officeDocument/2006/relationships/slide" Target="/ppt/slides/slide8.xml" Id="R3ea148834e354807" /><Relationship Type="http://schemas.openxmlformats.org/officeDocument/2006/relationships/slide" Target="/ppt/slides/slide9.xml" Id="Rf2cb810bce0b4517" /><Relationship Type="http://schemas.openxmlformats.org/officeDocument/2006/relationships/slide" Target="/ppt/slides/slide10.xml" Id="Rd4ce78b5f8b4422d" /><Relationship Type="http://schemas.openxmlformats.org/officeDocument/2006/relationships/slide" Target="/ppt/slides/slide11.xml" Id="Rfc13dcc630734f6c" /><Relationship Type="http://schemas.openxmlformats.org/officeDocument/2006/relationships/slide" Target="/ppt/slides/slide12.xml" Id="Re8b4e85feda34f82" /><Relationship Type="http://schemas.openxmlformats.org/officeDocument/2006/relationships/slide" Target="/ppt/slides/slide13.xml" Id="R5f6c85af0b614329" /><Relationship Type="http://schemas.openxmlformats.org/officeDocument/2006/relationships/slide" Target="/ppt/slides/slide14.xml" Id="Rdf1060510d5b4332" /><Relationship Type="http://schemas.openxmlformats.org/officeDocument/2006/relationships/slide" Target="/ppt/slides/slide15.xml" Id="R0a5d2521925f409a" /><Relationship Type="http://schemas.openxmlformats.org/officeDocument/2006/relationships/slide" Target="/ppt/slides/slide16.xml" Id="Rc3594df37909464e" /><Relationship Type="http://schemas.openxmlformats.org/officeDocument/2006/relationships/slide" Target="/ppt/slides/slide17.xml" Id="Re76fcc3eb9aa4e71" /><Relationship Type="http://schemas.openxmlformats.org/officeDocument/2006/relationships/slide" Target="/ppt/slides/slide18.xml" Id="R9bce2c4990aa45b1" /><Relationship Type="http://schemas.openxmlformats.org/officeDocument/2006/relationships/slide" Target="/ppt/slides/slide19.xml" Id="Rb13a4b31e7b842a7" /><Relationship Type="http://schemas.openxmlformats.org/officeDocument/2006/relationships/slide" Target="/ppt/slides/slide20.xml" Id="R41934a131c1046c8" /><Relationship Type="http://schemas.openxmlformats.org/officeDocument/2006/relationships/slide" Target="/ppt/slides/slide21.xml" Id="R102b82ce56ba42e4" /><Relationship Type="http://schemas.openxmlformats.org/officeDocument/2006/relationships/slide" Target="/ppt/slides/slide22.xml" Id="Recef4dd2125d4071" /><Relationship Type="http://schemas.openxmlformats.org/officeDocument/2006/relationships/slide" Target="/ppt/slides/slide23.xml" Id="Rf7fb8d04b44b423e" /><Relationship Type="http://schemas.openxmlformats.org/officeDocument/2006/relationships/slide" Target="/ppt/slides/slide24.xml" Id="R887c8f0080fb4f73" /><Relationship Type="http://schemas.openxmlformats.org/officeDocument/2006/relationships/slide" Target="/ppt/slides/slide25.xml" Id="Rc145fd4f3d2345dd" /><Relationship Type="http://schemas.openxmlformats.org/officeDocument/2006/relationships/slide" Target="/ppt/slides/slide26.xml" Id="R8b3647bf06f044b3" /><Relationship Type="http://schemas.openxmlformats.org/officeDocument/2006/relationships/slide" Target="/ppt/slides/slide27.xml" Id="R353448345cf94599" /><Relationship Type="http://schemas.openxmlformats.org/officeDocument/2006/relationships/slide" Target="/ppt/slides/slide28.xml" Id="R881250f7dfb94085" /><Relationship Type="http://schemas.openxmlformats.org/officeDocument/2006/relationships/slide" Target="/ppt/slides/slide29.xml" Id="R69da363e8da54bfa" /><Relationship Type="http://schemas.openxmlformats.org/officeDocument/2006/relationships/slide" Target="/ppt/slides/slide30.xml" Id="R582b8d0a23fb4de0" /><Relationship Type="http://schemas.openxmlformats.org/officeDocument/2006/relationships/slide" Target="/ppt/slides/slide31.xml" Id="R5c1216300c53492f" /><Relationship Type="http://schemas.openxmlformats.org/officeDocument/2006/relationships/slide" Target="/ppt/slides/slide32.xml" Id="Rc1bd304eba914efb" /><Relationship Type="http://schemas.openxmlformats.org/officeDocument/2006/relationships/slide" Target="/ppt/slides/slide33.xml" Id="R94a2adfbf093457c" /><Relationship Type="http://schemas.openxmlformats.org/officeDocument/2006/relationships/slide" Target="/ppt/slides/slide34.xml" Id="R7e4c55835694411b" /><Relationship Type="http://schemas.openxmlformats.org/officeDocument/2006/relationships/slide" Target="/ppt/slides/slide35.xml" Id="R40c4045d6b6146d7" /><Relationship Type="http://schemas.openxmlformats.org/officeDocument/2006/relationships/slide" Target="/ppt/slides/slide36.xml" Id="Rc6a9790fa05e4148" /><Relationship Type="http://schemas.openxmlformats.org/officeDocument/2006/relationships/slide" Target="/ppt/slides/slide37.xml" Id="R762c31f35c52444b" /><Relationship Type="http://schemas.openxmlformats.org/officeDocument/2006/relationships/slide" Target="/ppt/slides/slide38.xml" Id="R1eae0b467cf24fe6" /><Relationship Type="http://schemas.openxmlformats.org/officeDocument/2006/relationships/slide" Target="/ppt/slides/slide39.xml" Id="R408ace2e8e664514" /><Relationship Type="http://schemas.openxmlformats.org/officeDocument/2006/relationships/slide" Target="/ppt/slides/slide40.xml" Id="Re8f76f47117b497a" /><Relationship Type="http://schemas.openxmlformats.org/officeDocument/2006/relationships/slide" Target="/ppt/slides/slide41.xml" Id="Rfcc877a847e942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6088c139534d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b7ec91bcbb4afe" /><Relationship Type="http://schemas.openxmlformats.org/officeDocument/2006/relationships/notesMaster" Target="/ppt/notesMasters/notesMaster1.xml" Id="R0f18c3e0975e45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3aa7b8e95e470b" /><Relationship Type="http://schemas.openxmlformats.org/officeDocument/2006/relationships/notesMaster" Target="/ppt/notesMasters/notesMaster1.xml" Id="Rd6c5f46cd57340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b0b943f0784965" /><Relationship Type="http://schemas.openxmlformats.org/officeDocument/2006/relationships/notesMaster" Target="/ppt/notesMasters/notesMaster1.xml" Id="Rf606ac39b47c4e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26bb559f424755" /><Relationship Type="http://schemas.openxmlformats.org/officeDocument/2006/relationships/notesMaster" Target="/ppt/notesMasters/notesMaster1.xml" Id="R006e98dd0e614d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ce48c94447477b" /><Relationship Type="http://schemas.openxmlformats.org/officeDocument/2006/relationships/notesMaster" Target="/ppt/notesMasters/notesMaster1.xml" Id="Rc496a2236aa34f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5e71f189f4401a" /><Relationship Type="http://schemas.openxmlformats.org/officeDocument/2006/relationships/notesMaster" Target="/ppt/notesMasters/notesMaster1.xml" Id="Rf0d6db43452045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f443f6932e480c" /><Relationship Type="http://schemas.openxmlformats.org/officeDocument/2006/relationships/notesMaster" Target="/ppt/notesMasters/notesMaster1.xml" Id="R6c96e286162644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962b25e7f74d4e" /><Relationship Type="http://schemas.openxmlformats.org/officeDocument/2006/relationships/notesMaster" Target="/ppt/notesMasters/notesMaster1.xml" Id="R4ae918ee649b48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c7de1b32e4456c" /><Relationship Type="http://schemas.openxmlformats.org/officeDocument/2006/relationships/notesMaster" Target="/ppt/notesMasters/notesMaster1.xml" Id="Rd45450835e6743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93dc9609214348" /><Relationship Type="http://schemas.openxmlformats.org/officeDocument/2006/relationships/notesMaster" Target="/ppt/notesMasters/notesMaster1.xml" Id="R1802affc201b417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64602fd8e841b4" /><Relationship Type="http://schemas.openxmlformats.org/officeDocument/2006/relationships/notesMaster" Target="/ppt/notesMasters/notesMaster1.xml" Id="Rcc8c50b1ba4846d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2ebcdd8c69546c0" /><Relationship Type="http://schemas.openxmlformats.org/officeDocument/2006/relationships/notesMaster" Target="/ppt/notesMasters/notesMaster1.xml" Id="R2f56c902e4be4b7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ce37c3c5be4eee" /><Relationship Type="http://schemas.openxmlformats.org/officeDocument/2006/relationships/notesMaster" Target="/ppt/notesMasters/notesMaster1.xml" Id="Rd727298da9b14e2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77587fde97c4e4c" /><Relationship Type="http://schemas.openxmlformats.org/officeDocument/2006/relationships/notesMaster" Target="/ppt/notesMasters/notesMaster1.xml" Id="Rc981e1c7d5fa434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918f4f52cdc42fe" /><Relationship Type="http://schemas.openxmlformats.org/officeDocument/2006/relationships/notesMaster" Target="/ppt/notesMasters/notesMaster1.xml" Id="R4f2ffaeed5884f2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708ef354ab64013" /><Relationship Type="http://schemas.openxmlformats.org/officeDocument/2006/relationships/notesMaster" Target="/ppt/notesMasters/notesMaster1.xml" Id="Rb4e0efb4e7e84e3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ea7af4959be49a5" /><Relationship Type="http://schemas.openxmlformats.org/officeDocument/2006/relationships/notesMaster" Target="/ppt/notesMasters/notesMaster1.xml" Id="Re8179f4ba3c6451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2de710c74fc4db3" /><Relationship Type="http://schemas.openxmlformats.org/officeDocument/2006/relationships/notesMaster" Target="/ppt/notesMasters/notesMaster1.xml" Id="R63ece319396b4b2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e922351d944479f" /><Relationship Type="http://schemas.openxmlformats.org/officeDocument/2006/relationships/notesMaster" Target="/ppt/notesMasters/notesMaster1.xml" Id="R31c3e30bf461457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6b634f2612d46d5" /><Relationship Type="http://schemas.openxmlformats.org/officeDocument/2006/relationships/notesMaster" Target="/ppt/notesMasters/notesMaster1.xml" Id="R632e35520e21419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1a45f0d0bc848b5" /><Relationship Type="http://schemas.openxmlformats.org/officeDocument/2006/relationships/notesMaster" Target="/ppt/notesMasters/notesMaster1.xml" Id="R18ffd7994f7f425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0e8d7a761804d06" /><Relationship Type="http://schemas.openxmlformats.org/officeDocument/2006/relationships/notesMaster" Target="/ppt/notesMasters/notesMaster1.xml" Id="R3611d0258484458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0837ba2b80144ac" /><Relationship Type="http://schemas.openxmlformats.org/officeDocument/2006/relationships/notesMaster" Target="/ppt/notesMasters/notesMaster1.xml" Id="Rbbfb9f2c4a7047b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93e5834d8134298" /><Relationship Type="http://schemas.openxmlformats.org/officeDocument/2006/relationships/notesMaster" Target="/ppt/notesMasters/notesMaster1.xml" Id="R10d4b5badbca46e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dc125f37dfe4d1f" /><Relationship Type="http://schemas.openxmlformats.org/officeDocument/2006/relationships/notesMaster" Target="/ppt/notesMasters/notesMaster1.xml" Id="R928b0e872076478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a3b372239004697" /><Relationship Type="http://schemas.openxmlformats.org/officeDocument/2006/relationships/notesMaster" Target="/ppt/notesMasters/notesMaster1.xml" Id="R0e0359b14b24472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8acfc1553f64b01" /><Relationship Type="http://schemas.openxmlformats.org/officeDocument/2006/relationships/notesMaster" Target="/ppt/notesMasters/notesMaster1.xml" Id="Rf04a7cdcaf784ef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fab957303ae4897" /><Relationship Type="http://schemas.openxmlformats.org/officeDocument/2006/relationships/notesMaster" Target="/ppt/notesMasters/notesMaster1.xml" Id="Re2899ceb05554c5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d48e128165548a5" /><Relationship Type="http://schemas.openxmlformats.org/officeDocument/2006/relationships/notesMaster" Target="/ppt/notesMasters/notesMaster1.xml" Id="R321bf007bc4c472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b755b168e3f4db2" /><Relationship Type="http://schemas.openxmlformats.org/officeDocument/2006/relationships/notesMaster" Target="/ppt/notesMasters/notesMaster1.xml" Id="Rfc792309cb70413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1420d1a8075447d" /><Relationship Type="http://schemas.openxmlformats.org/officeDocument/2006/relationships/notesMaster" Target="/ppt/notesMasters/notesMaster1.xml" Id="R58178fd598a245b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7ec713009fc4661" /><Relationship Type="http://schemas.openxmlformats.org/officeDocument/2006/relationships/notesMaster" Target="/ppt/notesMasters/notesMaster1.xml" Id="Rf958b7e8b90d476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5144290f5104e9f" /><Relationship Type="http://schemas.openxmlformats.org/officeDocument/2006/relationships/notesMaster" Target="/ppt/notesMasters/notesMaster1.xml" Id="Rf4075852738f440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3b8bf0376424035" /><Relationship Type="http://schemas.openxmlformats.org/officeDocument/2006/relationships/notesMaster" Target="/ppt/notesMasters/notesMaster1.xml" Id="Rcd7d9d57ce994c9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0b9d41d02ee440c" /><Relationship Type="http://schemas.openxmlformats.org/officeDocument/2006/relationships/notesMaster" Target="/ppt/notesMasters/notesMaster1.xml" Id="R4378eab25bac46c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315f10dd7434df9" /><Relationship Type="http://schemas.openxmlformats.org/officeDocument/2006/relationships/notesMaster" Target="/ppt/notesMasters/notesMaster1.xml" Id="Rb32955f41c7843e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1a9fd0ccbdd4b48" /><Relationship Type="http://schemas.openxmlformats.org/officeDocument/2006/relationships/notesMaster" Target="/ppt/notesMasters/notesMaster1.xml" Id="R34ce8d550dac477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7438bb56f8e431b" /><Relationship Type="http://schemas.openxmlformats.org/officeDocument/2006/relationships/notesMaster" Target="/ppt/notesMasters/notesMaster1.xml" Id="Rf9b67024e79b4da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20cba78520b46d2" /><Relationship Type="http://schemas.openxmlformats.org/officeDocument/2006/relationships/notesMaster" Target="/ppt/notesMasters/notesMaster1.xml" Id="Rbfa1d8150e9f4ae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413cc383bac4eca" /><Relationship Type="http://schemas.openxmlformats.org/officeDocument/2006/relationships/notesMaster" Target="/ppt/notesMasters/notesMaster1.xml" Id="R777d437513034ae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4443721f9ea49e5" /><Relationship Type="http://schemas.openxmlformats.org/officeDocument/2006/relationships/notesMaster" Target="/ppt/notesMasters/notesMaster1.xml" Id="R00fe10b4d1a84f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Open by saying Module 2 creates relations; Module 3 checks whether those relations are well designed and implements them in SQL.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Preview design quality first, then SQL.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employee-department repeated department information as example.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every tuple should be easy to interpret.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redundancy to the three anomalies.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EMP_DEPT from notes.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why NULL is not the same as zero or blank string.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decomposition must allow correct reconstruction.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USN determines student name.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These terms drive 2NF and 3NF.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nonprime attributes in 2NF/3NF definitions.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each stage removes a class of design problem.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department locations as multivalued attribute.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why separate relation is usually cleanest.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2NF matters mainly when candidate key is composite.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CourseName depending on CourseNo not full student-course key.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DeptNo determines DeptName while EmpNo determines DeptNo.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BCNF can require decomposition when overlapping candidate keys exist.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for exam comparison.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independent multivalued facts create combinations.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5NF conceptual; students need purpose and definition.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SQL DDL turns design into database objects.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to attribute declarations, primary key and foreign key.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domains become SQL types and constraints.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salary &gt; 0 or CGPA between 0 and 10.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named constraints help debugging and maintenance.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Clarify that CHECK can compare attributes in same tuple.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SELECT columns, FROM tables, WHERE condition.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aliases for joins and self-joins.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Warn SQL is bag-oriented unless DISTINCT is used.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address contains Houston as example from notes.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order is output presentation, not relational table property.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constraints are checked before insertion succeeds.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missing WHERE can delete many rows.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Warn about WHERE clause and key/FK updates.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this as a survey slide for additional SQL features.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final overview.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SQL syntax must be clean for marks.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Run rapid viva.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as study plan.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Close with keyword revision.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DBMS_MODULE_3_Notes.pdf, Module 3 notes: Functional Dependencies, Normalization, SQL Data Definition, Constraints, Retrieval, Insert/Delete/Update, Additional SQL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66e2a422d74c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38d095592e45cd" /><Relationship Type="http://schemas.openxmlformats.org/officeDocument/2006/relationships/slideLayout" Target="/ppt/slideLayouts/slideLayout1.xml" Id="R95c9a96a3b3a46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c9a96a3b3a46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45e7b653a46e5" /><Relationship Type="http://schemas.openxmlformats.org/officeDocument/2006/relationships/notesSlide" Target="/ppt/notesSlides/notesSlide1.xml" Id="Rbd1cff1ce6eb44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f408e9c084ac6" /><Relationship Type="http://schemas.openxmlformats.org/officeDocument/2006/relationships/notesSlide" Target="/ppt/notesSlides/notesSlide2.xml" Id="R35d5b75d68a84a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6fc12d9484756" /><Relationship Type="http://schemas.openxmlformats.org/officeDocument/2006/relationships/notesSlide" Target="/ppt/notesSlides/notesSlide3.xml" Id="R7a949cafa95c46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45ed797f341f5" /><Relationship Type="http://schemas.openxmlformats.org/officeDocument/2006/relationships/notesSlide" Target="/ppt/notesSlides/notesSlide4.xml" Id="R17d66287cb5e4d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3db684730496d" /><Relationship Type="http://schemas.openxmlformats.org/officeDocument/2006/relationships/notesSlide" Target="/ppt/notesSlides/notesSlide5.xml" Id="R0952add002634e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f5945d1344b5b" /><Relationship Type="http://schemas.openxmlformats.org/officeDocument/2006/relationships/notesSlide" Target="/ppt/notesSlides/notesSlide6.xml" Id="R74f7bb566af040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7e127e2214532" /><Relationship Type="http://schemas.openxmlformats.org/officeDocument/2006/relationships/notesSlide" Target="/ppt/notesSlides/notesSlide7.xml" Id="Re281c239e2ec43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26f1a06534901" /><Relationship Type="http://schemas.openxmlformats.org/officeDocument/2006/relationships/notesSlide" Target="/ppt/notesSlides/notesSlide8.xml" Id="R456306e5ddb743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a082eb7d941c2" /><Relationship Type="http://schemas.openxmlformats.org/officeDocument/2006/relationships/notesSlide" Target="/ppt/notesSlides/notesSlide9.xml" Id="R97d9e52510014e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f743f223d4102" /><Relationship Type="http://schemas.openxmlformats.org/officeDocument/2006/relationships/notesSlide" Target="/ppt/notesSlides/notesSlide10.xml" Id="Rf1a3626ef26c48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5ef9e49be492a" /><Relationship Type="http://schemas.openxmlformats.org/officeDocument/2006/relationships/notesSlide" Target="/ppt/notesSlides/notesSlide11.xml" Id="Rbb15123b624e41f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59e30a150420c" /><Relationship Type="http://schemas.openxmlformats.org/officeDocument/2006/relationships/notesSlide" Target="/ppt/notesSlides/notesSlide12.xml" Id="R62798bef2a25492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a5341ccc74d65" /><Relationship Type="http://schemas.openxmlformats.org/officeDocument/2006/relationships/notesSlide" Target="/ppt/notesSlides/notesSlide13.xml" Id="Rc897fe5164c240a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e272e53554958" /><Relationship Type="http://schemas.openxmlformats.org/officeDocument/2006/relationships/notesSlide" Target="/ppt/notesSlides/notesSlide14.xml" Id="Re705aadab94c4e9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bd01c9dd64ce5" /><Relationship Type="http://schemas.openxmlformats.org/officeDocument/2006/relationships/notesSlide" Target="/ppt/notesSlides/notesSlide15.xml" Id="R786f76ad08704a4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79e8c37c74d0c" /><Relationship Type="http://schemas.openxmlformats.org/officeDocument/2006/relationships/notesSlide" Target="/ppt/notesSlides/notesSlide16.xml" Id="Rc7499c3e435e441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ed43fa65048ba" /><Relationship Type="http://schemas.openxmlformats.org/officeDocument/2006/relationships/notesSlide" Target="/ppt/notesSlides/notesSlide17.xml" Id="Re9e69c7a5cd94e6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15bbed1bc4c2c" /><Relationship Type="http://schemas.openxmlformats.org/officeDocument/2006/relationships/notesSlide" Target="/ppt/notesSlides/notesSlide18.xml" Id="Rd970480a8844464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cbbd196be4971" /><Relationship Type="http://schemas.openxmlformats.org/officeDocument/2006/relationships/notesSlide" Target="/ppt/notesSlides/notesSlide19.xml" Id="R5eae5f1554aa41f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6533facea4c7b" /><Relationship Type="http://schemas.openxmlformats.org/officeDocument/2006/relationships/notesSlide" Target="/ppt/notesSlides/notesSlide20.xml" Id="R893e07596c5742a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11c2b3b8e4603" /><Relationship Type="http://schemas.openxmlformats.org/officeDocument/2006/relationships/notesSlide" Target="/ppt/notesSlides/notesSlide21.xml" Id="R5777ebd21e064f3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99a8d9e07431a" /><Relationship Type="http://schemas.openxmlformats.org/officeDocument/2006/relationships/notesSlide" Target="/ppt/notesSlides/notesSlide22.xml" Id="R1cf3bef3d29b43b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37b268eb242e9" /><Relationship Type="http://schemas.openxmlformats.org/officeDocument/2006/relationships/notesSlide" Target="/ppt/notesSlides/notesSlide23.xml" Id="Rd1bedefdc0b045c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8a03927d945ae" /><Relationship Type="http://schemas.openxmlformats.org/officeDocument/2006/relationships/notesSlide" Target="/ppt/notesSlides/notesSlide24.xml" Id="R58767e8a4839428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669c3ce674eed" /><Relationship Type="http://schemas.openxmlformats.org/officeDocument/2006/relationships/notesSlide" Target="/ppt/notesSlides/notesSlide25.xml" Id="R08d721018ce4416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19fa8486d4004" /><Relationship Type="http://schemas.openxmlformats.org/officeDocument/2006/relationships/notesSlide" Target="/ppt/notesSlides/notesSlide26.xml" Id="Rf76c44bb43144f0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61945fc3b44e6" /><Relationship Type="http://schemas.openxmlformats.org/officeDocument/2006/relationships/notesSlide" Target="/ppt/notesSlides/notesSlide27.xml" Id="R92e267b3efa44f1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9596c7d2e446b" /><Relationship Type="http://schemas.openxmlformats.org/officeDocument/2006/relationships/notesSlide" Target="/ppt/notesSlides/notesSlide28.xml" Id="Re56b18ea7997467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53cee83fd48fc" /><Relationship Type="http://schemas.openxmlformats.org/officeDocument/2006/relationships/notesSlide" Target="/ppt/notesSlides/notesSlide29.xml" Id="Rabd1c07778004a0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80135395f4519" /><Relationship Type="http://schemas.openxmlformats.org/officeDocument/2006/relationships/notesSlide" Target="/ppt/notesSlides/notesSlide30.xml" Id="R588b214be917462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9f37866f54ef7" /><Relationship Type="http://schemas.openxmlformats.org/officeDocument/2006/relationships/notesSlide" Target="/ppt/notesSlides/notesSlide31.xml" Id="R224e9a2e346246d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e68d78afe47f5" /><Relationship Type="http://schemas.openxmlformats.org/officeDocument/2006/relationships/notesSlide" Target="/ppt/notesSlides/notesSlide32.xml" Id="R713b68d47e7a4b3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37d305c644a3e" /><Relationship Type="http://schemas.openxmlformats.org/officeDocument/2006/relationships/notesSlide" Target="/ppt/notesSlides/notesSlide33.xml" Id="Re97d2b349fc749d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3a00c53fc467e" /><Relationship Type="http://schemas.openxmlformats.org/officeDocument/2006/relationships/notesSlide" Target="/ppt/notesSlides/notesSlide34.xml" Id="R339e07b92ecc48c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99c5e97f44859" /><Relationship Type="http://schemas.openxmlformats.org/officeDocument/2006/relationships/notesSlide" Target="/ppt/notesSlides/notesSlide35.xml" Id="Ra2389e0e06924ab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b66e64bca4721" /><Relationship Type="http://schemas.openxmlformats.org/officeDocument/2006/relationships/notesSlide" Target="/ppt/notesSlides/notesSlide36.xml" Id="R5fc5d00b76ab477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468cfd81c4f0a" /><Relationship Type="http://schemas.openxmlformats.org/officeDocument/2006/relationships/notesSlide" Target="/ppt/notesSlides/notesSlide37.xml" Id="Rcb0c796efe1549c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9ca1f2dac4578" /><Relationship Type="http://schemas.openxmlformats.org/officeDocument/2006/relationships/notesSlide" Target="/ppt/notesSlides/notesSlide38.xml" Id="Rfdcfff24567b41f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1079da3fe47ba" /><Relationship Type="http://schemas.openxmlformats.org/officeDocument/2006/relationships/notesSlide" Target="/ppt/notesSlides/notesSlide39.xml" Id="R1ec0eae9bf36449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f71ad20ee4fe8" /><Relationship Type="http://schemas.openxmlformats.org/officeDocument/2006/relationships/notesSlide" Target="/ppt/notesSlides/notesSlide40.xml" Id="R5c77ef179eac431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073515f214eb7" /><Relationship Type="http://schemas.openxmlformats.org/officeDocument/2006/relationships/notesSlide" Target="/ppt/notesSlides/notesSlide41.xml" Id="R456435d51d234a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85A45B-AB64-4436-808D-C2D086AB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FB8DAD-C6CE-42E1-9811-7B4B704B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Normalization and SQL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AC46C-2664-4FDA-A1BF-5D25B064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Module 3 connects good relational design with SQL implementation.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190A9-B680-488E-9B77-B7667677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42AC6-9F28-46AA-9C34-D1CF5EFB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712570-F357-4C6A-80E4-DAE5281A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642B39-71A7-45CA-8134-E05D77EF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2B213-FD4D-421F-9E03-E97BAD73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486E3B-3344-4659-A1D2-94D8DD9B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6096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8FBFF"/>
                </a:solidFill>
              </a:defRPr>
            </a:pPr>
            <a:r>
              <a:rPr sz="4350" b="1">
                <a:solidFill>
                  <a:srgbClr val="F8FBFF"/>
                </a:solidFill>
              </a:rPr>
              <a:t>DBMS</a:t>
            </a:r>
          </a:p>
          <a:p xmlns:a="http://schemas.openxmlformats.org/drawingml/2006/main">
            <a:pPr>
              <a:defRPr sz="4350" b="1">
                <a:solidFill>
                  <a:srgbClr val="F8FBFF"/>
                </a:solidFill>
              </a:defRPr>
            </a:pPr>
            <a:r>
              <a:rPr sz="4350" b="1">
                <a:solidFill>
                  <a:srgbClr val="F8FBFF"/>
                </a:solidFill>
              </a:rPr>
              <a:t>Module 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FD1CA7-965D-4785-90C6-992AEFF2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B8C7D9"/>
                </a:solidFill>
              </a:defRPr>
            </a:pPr>
            <a:r>
              <a:rPr sz="1725">
                <a:solidFill>
                  <a:srgbClr val="B8C7D9"/>
                </a:solidFill>
              </a:rPr>
              <a:t>Functional dependencies • Normal forms • SQL DDL/DML • Constraints • Queries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4E8A2-C62F-477D-B412-A6A82964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7635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C69"/>
          </a:solidFill>
          <a:ln xmlns:a="http://schemas.openxmlformats.org/drawingml/2006/main" w="19050">
            <a:solidFill>
              <a:srgbClr val="2C6CA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D24E88-A5EC-4CEB-A440-F9E5F2BE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93390D-0921-41FE-8D93-7B4670DC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66950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7111F"/>
                </a:solidFill>
              </a:defRPr>
            </a:pPr>
            <a:r>
              <a:rPr sz="2400" b="1">
                <a:solidFill>
                  <a:srgbClr val="07111F"/>
                </a:solidFill>
              </a:rPr>
              <a:t>FD</a:t>
            </a:r>
          </a:p>
          <a:p xmlns:a="http://schemas.openxmlformats.org/drawingml/2006/main">
            <a:pPr algn="ctr">
              <a:defRPr sz="2400" b="1">
                <a:solidFill>
                  <a:srgbClr val="07111F"/>
                </a:solidFill>
              </a:defRPr>
            </a:pPr>
            <a:r>
              <a:rPr sz="2400" b="1">
                <a:solidFill>
                  <a:srgbClr val="07111F"/>
                </a:solidFill>
              </a:rPr>
              <a:t>SQL</a:t>
            </a:r>
          </a:p>
          <a:p xmlns:a="http://schemas.openxmlformats.org/drawingml/2006/main">
            <a:pPr algn="ctr">
              <a:defRPr sz="2400" b="1">
                <a:solidFill>
                  <a:srgbClr val="07111F"/>
                </a:solidFill>
              </a:defRPr>
            </a:pPr>
            <a:r>
              <a:rPr sz="2400" b="1">
                <a:solidFill>
                  <a:srgbClr val="07111F"/>
                </a:solidFill>
              </a:rPr>
              <a:t>3NF</a:t>
            </a:r>
          </a:p>
        </p:txBody>
      </p:sp>
    </p:spTree>
    <p:extLst>
      <p:ext uri="{BB962C8B-B14F-4D97-AF65-F5344CB8AC3E}">
        <p14:creationId xmlns:p14="http://schemas.microsoft.com/office/powerpoint/2010/main" val="1978151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37762C-CCE1-47E0-84BB-822A9490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475B1-16EF-49DD-9AC4-36EA714B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Module 3 learning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F0B4C5-DB9B-4049-85EC-64BA816C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Use the supplied notes as the checklist.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EF54E-7805-44E7-A3BA-C84F83B1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4E923F-274A-4FA3-8BAA-DA5DED08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71A88-D4A3-4296-A363-16475272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D7AE0-2199-48D2-AFF1-68B4E475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97755-C27F-467A-A827-D8DF653D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0E248-224B-4829-8067-519E7EA0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1D576-1B53-447A-AE4A-AE5C9439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7E108E-A0DF-4559-AC93-A63BBDCF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informal design guidelines for relation schemas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C9FA98-5EE4-4E7E-AC74-DA1EDDEA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6F4429-230A-42CB-9495-D2222864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A7808-4731-4369-B883-777B8291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redundancy, update anomalies, NULLs and spurious tuples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636B0C-595D-4281-9D90-9920FA0C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1CDE46-2FD9-4E12-A6FB-D09A80CC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F79ACE-FC8F-4CC6-8AFA-B1F8904A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functional dependencies and keys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91FB42-BFB9-4BAA-803B-5A5FB07B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F0A826-81D2-4790-8D14-05D1C1C4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179380-6EF9-46B2-8D59-FDC5A3D8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1NF, 2NF, 3NF, BCNF, 4NF and 5NF ideas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BC4297-F2A3-44A4-8D00-EA2F606D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6FD639-E111-4860-95B6-7A59F05F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0C08BC-8200-4ED9-8BCB-7569D99B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Write SQL DDL, data types and constraints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E1C3EE-11BC-40CD-9C53-86029CBA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7E1EF7-6E8F-4F7D-B6AB-8B9D520A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9EDEC9-A699-4387-AB1B-658D659A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767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Write SQL SELECT, INSERT, DELETE, UPDATE and additional features</a:t>
            </a:r>
          </a:p>
        </p:txBody>
      </p:sp>
    </p:spTree>
    <p:extLst>
      <p:ext uri="{BB962C8B-B14F-4D97-AF65-F5344CB8AC3E}">
        <p14:creationId xmlns:p14="http://schemas.microsoft.com/office/powerpoint/2010/main" val="12151335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A9AA3A-4CEB-403E-BA90-12B3CEFF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AD6D6-3807-46FA-98E5-CDC757E1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Why normalization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23844-66CF-4DBD-85C7-025DF32E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Motivate good relation design.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F447E-59BE-47B4-8275-AC237A26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04213-D788-4B68-92C9-E8D3B2CA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C891A-DD9E-444F-A62A-F0CFE750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A99D5-D3AE-43D6-B267-B6E2584A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Design Quality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CC684-C244-48A0-9EE0-B701948C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7EEA36-D663-4A93-9C76-B432DA70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FADBC-433F-4384-B773-5C755392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Single big table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F3E8BB-E78D-4CA2-BB98-A7F5EAF2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AD725C-CAF9-4917-9A01-51F181F3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5BBE3-C6E3-4EDA-A16E-4082FF09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Repeated facts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2280CE-27C5-41E8-9376-CBA19A9B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3EC1C2-4C23-45B5-90BF-FCB465C0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98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A2511B-C6CE-4425-8B46-43B1C2D6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Update anomalies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E5FC9A-C5CA-4C88-A53B-284716A9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5A6C31-A5C0-401F-B706-C53145EE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817561-B7C3-4927-8398-6887A55D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Decompose relations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B70B9B-01D1-498E-A6DA-31DC6F40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4F5EA0-F91C-4897-AE9E-186A0C84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A3B3AE-BDE4-474F-8D3F-5C8EC026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Cleaner schema</a:t>
            </a:r>
          </a:p>
        </p:txBody>
      </p:sp>
    </p:spTree>
    <p:extLst>
      <p:ext uri="{BB962C8B-B14F-4D97-AF65-F5344CB8AC3E}">
        <p14:creationId xmlns:p14="http://schemas.microsoft.com/office/powerpoint/2010/main" val="9303933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16B5D4-91EC-40AC-BA8D-202C023C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CFDD5-E4CF-401F-932C-4F95BC7D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Clear semantics of attributes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8EB7BA-19E7-4E3C-B853-6C402013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informal guideline 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7FE64-460D-4A6E-A446-0BE8B0CB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4BF78-C608-4B6E-8E4A-C8DBE777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B6810-58DD-4D31-B807-DCE2EB83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4FBB09-AE23-4D67-B544-C3F913DA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Design Quality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B5FE2F-BCF9-44F1-98FF-09B88CD1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6C2085-8165-49D8-92D2-B596FF2B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Clear semantics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8E9593-7099-4C61-9A9C-7891C217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relation schema should group attributes that describe one clear entity or relationship meaning.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CC0E7D-BC1A-464A-B9B7-29013AD1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87D849-2D0A-428E-AF69-D0861394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733588-B84F-4519-A918-BA6A353E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FC60AD-79C6-4EAF-846F-17BC7F3D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A1113E-78C2-4118-8F12-9DD957C4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Cohesion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B2F625-2E8D-41D1-8D64-20B992CE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DDADDE-D092-4D53-A1B3-346BC77F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A77F2A-3E89-4D05-8045-08E78426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Entity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B9310B-8CC0-422C-BF25-3673D61A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776470-BA1B-44CD-BF37-CD35FD96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0C87E6-8A09-4538-9099-A66DA3AE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Relationship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8D834D-9012-46C2-9FC3-55625864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87EDD5-75AD-4F9D-825D-A466B672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BEC81A-A524-45EA-9CAC-32E3B94C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Clarity</a:t>
            </a:r>
          </a:p>
        </p:txBody>
      </p:sp>
    </p:spTree>
    <p:extLst>
      <p:ext uri="{BB962C8B-B14F-4D97-AF65-F5344CB8AC3E}">
        <p14:creationId xmlns:p14="http://schemas.microsoft.com/office/powerpoint/2010/main" val="11085121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5CE46D-6525-40B3-AE76-2E0FE56B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760C7-6D83-4E5A-8DF6-D135F386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Redundancy causes anomalies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E330B-F44F-433A-961E-32D35D79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repeated information risk.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D709C-CC69-49B1-842E-17251BE0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EDE33-1CD5-4AE7-91ED-0EF0343F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240BE-C950-4A87-84D4-90DB6A85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F74B4-B105-49BE-BFC2-D351292B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Design Quality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6473C8-3C3E-4200-AAE8-0A3B70F9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7F62C0-F556-44B5-8460-E66344C8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9255C9-CA0D-4B2E-8F09-A5753724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3BDE3A-9AD5-4AB1-8364-D6247C73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Redundant facts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7D7911-BBE2-415F-B726-EDCC92EE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Department name and manager repeated in many employee rows.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FA66DD-F4F9-467E-AE72-46F9C3BD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50BEA9-C37F-4E8E-8C4A-1E7A21A4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1F641E-F334-458E-B6B8-D30E7726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Storage waste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A354F2-C337-4C02-A5F7-89FD4372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Same fact stored again and again.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FE34B1-BDD0-4BB4-B61E-08E17A2C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CB7A2C-0353-4CC1-980E-8236697E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BE046E-ACAB-4AE6-B979-7D547452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Inconsistency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CB3BF8-C85D-4C65-9938-D2FAC8AD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Some copies may change while others do not.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6BC216-0A97-4363-BA72-74C922F4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4D1601-103B-4897-A78C-638EFF32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A8168D-0981-4AD0-8CB6-33EC21EB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Maintenance effort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83B01E-D1B1-4E75-8139-CF89F273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Every update must find all repeated copies.</a:t>
            </a:r>
          </a:p>
        </p:txBody>
      </p:sp>
    </p:spTree>
    <p:extLst>
      <p:ext uri="{BB962C8B-B14F-4D97-AF65-F5344CB8AC3E}">
        <p14:creationId xmlns:p14="http://schemas.microsoft.com/office/powerpoint/2010/main" val="19283901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C711B0-D3B5-434F-BC6A-F8CFA98F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E2263-84C1-4505-BB5D-8489A7DE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Insertion, deletion and modification anomalies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29B477-3C6C-40D8-8026-E463ABC3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Compare anomalies.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03493-9FD3-4A62-B1A4-458DDFAF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F05E2-FD0A-4AC0-9254-3D17C601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3D561C-442F-42A4-BCB6-EE6C52B9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62493-943B-44F8-A93E-4CAFAE23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Design Quality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58C815-7465-4BE3-A763-B001EFD9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0C7DB0-97E8-4784-B14B-0B47D449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67BDD8-FE29-4B0D-A921-AD2531B9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13B95-32C0-448F-B0B0-5E44E9F0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Insertion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A19298-BA3E-47FD-BBB0-D31C4F1E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Cannot insert a department unless an employee exists.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2A5EB9-F022-451F-99AA-BD8CA087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82EFB2-878D-419C-8B33-5F8479D1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65C2E2-1D1F-4EB5-A257-FF646172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Deletion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13E917-4F5C-4B59-B27E-BE20CD96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Deleting last employee may lose department facts.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E3F1D5-61CC-40E0-AE34-F05C99FC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FF63C6-32D4-440E-B949-6A86ED61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927F97-98E2-47A6-AE0C-98F69967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Modification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9A06DA-9CC1-49F1-8619-C12934EB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Changing department data requires many tuple updates.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04744F-1E8B-4940-B3E5-D9B0D59E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0C347D-349B-4092-803E-8F2B8ED6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802A89-30BF-4355-87B4-B4413BBE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Fix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B6E1DF-615A-4EFD-A8C6-24620765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Decompose into better relations with dependencies preserved.</a:t>
            </a:r>
          </a:p>
        </p:txBody>
      </p:sp>
    </p:spTree>
    <p:extLst>
      <p:ext uri="{BB962C8B-B14F-4D97-AF65-F5344CB8AC3E}">
        <p14:creationId xmlns:p14="http://schemas.microsoft.com/office/powerpoint/2010/main" val="16187795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6B1BEC-DA26-48C4-B930-14C8CCAF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56FDB-C488-4A4F-B7C3-3A86F627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NULL values should be exceptional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3A0F8-4395-43BC-9058-38E190E4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NULL problems.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B9BD12-1552-4DAE-8590-F158C4A6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FD33E-1F69-4693-89AB-5AACD10D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443A1-9650-4F22-BDC8-CC08A56E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4C52E4-67F6-4E0E-B372-7AB9AE15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Design Quality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F0158-89E0-40DA-A3BD-D94DF52C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C9B58-DD87-4A58-A832-A47BD376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NULL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3D54D-94A2-4B53-9406-0057E231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NULL may mean not applicable, unknown, or known but absent; too many NULLs make queries and meaning unclear.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1DBFC1-70C2-456D-A8E8-25FBB302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AF2FDB-8DFB-41BA-865F-8800EBD1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Not applicable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DBD263-0CEF-489A-AC1C-9A1B3B92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73878B-218A-43AB-B2F8-A3E1B597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4EB1D-CEE8-4F54-AE1B-100CD104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Unknown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CDE70F-F236-42AF-904B-343E7732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14177E-457A-4164-BD36-D7ADEAB1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2CE560-C1A6-476C-BAB8-FE1037BC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Absent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975887-8050-4CE6-BEFA-3E409D4A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A7C8BF-9C69-4BEB-9CB1-F07A07A8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988442-ACCD-460B-931A-A8ED8E29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Query logic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F8D594-00BA-4282-A87E-F171EDFA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84AF9B-6815-4D4A-BEA8-9B93B385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9BABD0-6084-4E9E-BBB2-9CF8896B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Avoid excess</a:t>
            </a:r>
          </a:p>
        </p:txBody>
      </p:sp>
    </p:spTree>
    <p:extLst>
      <p:ext uri="{BB962C8B-B14F-4D97-AF65-F5344CB8AC3E}">
        <p14:creationId xmlns:p14="http://schemas.microsoft.com/office/powerpoint/2010/main" val="1868306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1BB61A-FE50-436C-9B4C-AA909BEE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0F9305-9A35-44EA-8A0F-D0CE25DD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Spurious tuples reveal bad decomposition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2C80E2-8D10-4F99-9826-C286B045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join error.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FE56A-1969-4356-8EFD-AAA37FE5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0A635-A335-4BA9-9F23-E7D8204B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66814-0515-4B63-AE9C-5EFFAC6A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CE961-17D0-4EE8-8536-1911470F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Design Quality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FB759-25A8-40C0-967D-95B088D7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7E689-1B4B-484A-A670-61A6A141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Spurious tuple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BAE711-3412-4AFD-98F7-D841625D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spurious tuple is an incorrect extra tuple produced when decomposed relations are joined back improperly.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B7B7DF-75B9-4AD6-A2AE-E1CC9539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0B90CA-DACD-42A4-96E0-01E38298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Decomposition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9D1BB4-77FB-4770-A189-4AC2616C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4A56F2-6D2B-4295-90FE-B03E0B3C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AA22CC-D77C-4D7B-89DD-D8EBF787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Join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58F95B-8144-4B12-B0E4-F04B21E0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49D559-1BB2-456A-BC97-1B169C8C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2326DF-94C2-4D1D-9F99-D95E8513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Lossless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11CB6A-652C-40E4-B582-8131E4A2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504759-FA37-4664-873E-5CB8EFB5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6C6300-8D96-4BC1-AF1E-CB0C1200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Incorrect rows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E2BB33-1386-4B95-B2D7-F84992AD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CECEBB-B4A3-4193-B8D5-DC92E85E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F15760-1013-499A-829B-AC81E58D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Design error</a:t>
            </a:r>
          </a:p>
        </p:txBody>
      </p:sp>
    </p:spTree>
    <p:extLst>
      <p:ext uri="{BB962C8B-B14F-4D97-AF65-F5344CB8AC3E}">
        <p14:creationId xmlns:p14="http://schemas.microsoft.com/office/powerpoint/2010/main" val="12354197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4CC7AE-3BD8-4848-BF80-92CC98D5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81AF75-C211-4639-B74C-55A072DC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Functional dependency is the design rule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9569B8-6137-4901-BB4F-C7DD6769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FD.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C949A-080B-4F9C-9862-74144C8A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F91DF-2FD3-487F-8C2A-066D20F8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CCA2C-E17A-4834-856D-249B836A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924D78-B67C-4672-8E76-59904D9D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Dependencies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12ECF5-F7E1-4439-BBCB-0ECC1622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8A1FE-618C-44FB-B675-5B4B4B09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Functional dependency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6B739D-CAC5-4184-BA51-175FABE3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X → Y means that if two tuples agree on attribute set X, they must also agree on attribute set 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8FEC6E-E8D1-4CEE-9329-860367E4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40A180-BB78-447A-848D-ADD4FA33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X determines 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6A5787-7597-4099-92B1-94091FA3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FFBCFA-5AB8-41FD-8840-1320D29A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FE966D-0C9E-4379-A298-D22562AC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Constraint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6B7102-2D47-4C99-8FBD-3DCDA4BD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6ED9F8-5F0F-44BB-A22C-ADFD613D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8834B5-6529-4EBF-B4DD-C5CF30E1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Keys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8B07AF-AC4B-4345-A0D8-979D4B89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843314-2009-4DC7-9B6F-7331332D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134D6E-32B6-4759-AE0C-6C70DE01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Normalization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8FA398-869A-4A36-86B8-40A1A960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5724AD-83F6-4553-91CA-8E01E9F3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14A55A-20E6-42D1-9B73-FCEFF14F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Semantics</a:t>
            </a:r>
          </a:p>
        </p:txBody>
      </p:sp>
    </p:spTree>
    <p:extLst>
      <p:ext uri="{BB962C8B-B14F-4D97-AF65-F5344CB8AC3E}">
        <p14:creationId xmlns:p14="http://schemas.microsoft.com/office/powerpoint/2010/main" val="7955901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B032DA-B99E-4CD6-A5A9-6D87F8C9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054EF-9930-407A-9EC4-6E9F65AE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Full, partial, transitive and trivial FDs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3BEC1-EEAB-4C01-A81E-F96CE39A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dependency types.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56B6D-0088-465D-A4C1-309845A7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1BAB7-3ADE-4A1C-99D2-4631AF9C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6C1AE-1E67-43C6-B9A2-770EDE63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10D09-6DCF-4B71-8A28-C2234D8F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Dependencies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D2AC5-D9C5-47EE-A49C-8942CBB1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E73D54-2F47-4A06-9CC0-88697DC2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92D44E-93BD-4E17-A8C3-67674212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2F74C-8ABE-4FE0-AE94-F53F050A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Full FD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0BEB37-CE05-4952-954D-958467AE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Removing any attribute from determinant breaks dependency.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F3822-4D16-4736-8586-C33136A1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629EC3-F6AB-4C5E-B722-1DBFBA70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0A859A-36D7-4CFF-8047-EFD10B50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Partial FD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9E41B0-5ADC-4B33-944E-58D6C075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Some attribute can be removed and dependency still holds.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9B0FCD-6624-4B7D-A942-3232C11A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7BAB7B-EECF-40A1-A52A-5E8C3274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F84615-844A-46D3-8C02-D7AD7CF8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Transitive FD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FCA345-F831-4A8A-9BDE-46907EC9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X → Y and Y → Z imply X determines Z indirectly.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1A5B78-02E5-49C2-A6A6-6E432612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3EC588-88C8-41DF-8140-AEBFD7B2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F5B8C8-C963-409B-A43A-D658750C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Trivial FD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8201CA-D52A-4EFC-9CB7-A3DD0D91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Y is subset of X, so X → Y is always true.</a:t>
            </a:r>
          </a:p>
        </p:txBody>
      </p:sp>
    </p:spTree>
    <p:extLst>
      <p:ext uri="{BB962C8B-B14F-4D97-AF65-F5344CB8AC3E}">
        <p14:creationId xmlns:p14="http://schemas.microsoft.com/office/powerpoint/2010/main" val="9262335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EC325B-CF52-4667-89B9-26E18EFC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8F552-5B03-4538-A976-9F6C02FB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Keys and prime attributes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5C1D5-4AD1-43D8-B69B-8884DEF6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key vocabulary for normalization.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F0A55-A75D-41FF-8F4D-07501665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EF3D1-9287-45C4-949A-DF4AEAAD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C7D23-462A-45C3-80E2-706305DD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F396C8-AD67-4A4B-823B-BC383C8C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Dependencies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D80CC-8C93-4444-8689-53754A2E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8F1FC0-0943-4C37-AE84-48FE0AA0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F31150-EAFF-47C5-8455-81A9DCA4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AD112B-0E9F-4D99-A254-AC4FFD55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Superkey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86543F-4727-46A2-8171-88719AD3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Uniquely identifies tuples.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F17DCB-0719-4508-8AB8-D9A407DF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5CE5F1-548B-45FA-85A4-1AF4A8BB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A0BA8-48D3-491B-B1CE-7363CCDF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Candidate key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99B62C-41DE-4F0E-8375-B573936D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Minimal superkey.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08C001-55FF-4A43-934C-82ACEEB7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442218-E62D-4FD7-B989-E7A60015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F9AC2D-CF0F-4202-BF34-261BE225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Primary key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69803F-25D7-4CA9-91EB-DF1995FF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Chosen candidate key.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F0B25C-3979-4868-8FA9-AA4A85C7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A1233D-081E-44D0-9A3F-FB8EC4F2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F899C-37FB-4D16-BB2B-F65B5344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Prime attribute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509C78-18D0-43F1-8CA5-DD260184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Attribute that is part of some candidate key.</a:t>
            </a:r>
          </a:p>
        </p:txBody>
      </p:sp>
    </p:spTree>
    <p:extLst>
      <p:ext uri="{BB962C8B-B14F-4D97-AF65-F5344CB8AC3E}">
        <p14:creationId xmlns:p14="http://schemas.microsoft.com/office/powerpoint/2010/main" val="2278922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15689E-6D71-41F7-BD3D-9A8A8AB5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1BEE5-47AB-4560-86BA-37825BB5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Normalization as a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4D704-0D69-4B8E-9E52-35C4E979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normal form progression.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D2E42-5B41-46B4-89D6-091E0613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0F35C-C90A-4C32-B55D-B85BF800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A0E5E-8A1B-48FB-84D0-8E8E9CD9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A02E6-51D7-4F9D-9497-A67BB6AE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Normal Forms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C58D8-4DD3-43FA-96D6-0BFEA630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A36F2A-DF32-417F-AB7C-5677E59A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2FE74-F8F9-42FF-A53C-370EB53F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Unnormalized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343BFA-0AD7-4A74-88E3-F9C4D1A6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426FB-4AC2-4FD4-ADCD-7E18AF0E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D3ED7-AAEB-4745-BCBE-C850135F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1NF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280023-459C-4826-B365-C23B7252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AA190A-C251-4325-A273-56CB082A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98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A11D56-8C17-42F6-BAB5-F6ED3A67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2NF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195DE9-2C40-428B-959A-6E6A7C51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9E86CC-56F8-4FC4-8386-2209F346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7C38E8-7093-4E58-8C49-BFDE8C81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3NF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229B1C-8874-44A5-8666-4FB60622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8FF76D-7E0C-40FE-8E0A-F98B4795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57449B-A054-4847-AD3C-0362FD63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BCNF / 4NF / 5NF</a:t>
            </a:r>
          </a:p>
        </p:txBody>
      </p:sp>
    </p:spTree>
    <p:extLst>
      <p:ext uri="{BB962C8B-B14F-4D97-AF65-F5344CB8AC3E}">
        <p14:creationId xmlns:p14="http://schemas.microsoft.com/office/powerpoint/2010/main" val="16463090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47E560-57FD-4473-A18F-C97B6B48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E9177-38E6-443C-A2AC-AB2C611A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First Normal 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11D62-0F32-413D-8D38-87C48FC9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1NF.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DED17-B897-4CBD-8E30-A0E8BBE7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A268D-60FC-400F-84D3-6763D9F6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BF376-B3B3-4E1E-B9C3-FAEC6034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D9539-CB7A-4CA8-AD2E-C2B548DB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Normal Forms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878BAD-4E6D-4558-BCEE-FDC0A127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EC3A1-E884-472F-B0AE-E7BAE9A5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1NF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C9F759-E994-40B7-A77F-F09F280A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relation is in First Normal Form when every attribute value is atomic and repeating groups or multivalued attributes are removed.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0C54A1-29A2-4021-926F-F8C5F8EE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07C04B-24E6-489C-BBD4-EAD38E6B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Atomic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57FEED-356D-43ED-8E58-5A5657AE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167BBB-D71E-4B68-A31D-687B1E2A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FA5B80-8AC5-4045-B8B0-6CEB895C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No repeating groups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62D5F6-74F0-4D30-85DB-7844EA57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158CB0-2DFF-4BFF-91D8-2F6E5173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71D4F5-239B-4682-87C8-88990635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No multivalued cells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EE1D0B-3D21-45B0-9447-9051E395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AD0744-FE2F-4661-8B44-4954CFA1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AED538-7669-4319-AC6A-A8DBA59C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Separate relation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7D5646-E367-4485-B655-205EA454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F435B8-0D54-49C0-8935-D0DDFBFA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3C9349-1479-4BFE-806F-BDEB3EE2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Primary key</a:t>
            </a:r>
          </a:p>
        </p:txBody>
      </p:sp>
    </p:spTree>
    <p:extLst>
      <p:ext uri="{BB962C8B-B14F-4D97-AF65-F5344CB8AC3E}">
        <p14:creationId xmlns:p14="http://schemas.microsoft.com/office/powerpoint/2010/main" val="9862688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35F420-D072-471B-9D69-83744511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D0C595-E904-45BB-8B60-97F354F6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How to remove 1NF violations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EDB8A-2C68-48DC-9522-E946D35A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strategies from notes.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BD0B10-65BC-4D7D-95E2-603B4DB5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1EDC2-A801-4AF1-B747-ACECDD5C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BCB5C-ABB9-453E-A98D-EA082DCF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8DF09-3146-46E4-A198-59B6B7DA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Normal Forms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73021-E5E6-4F80-9D65-75C94E5E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0BDA8-61BC-4405-B8DD-BE678D1D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048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01B3CC-DD56-4147-9DF8-AD1549BC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66397-529A-4359-8E8C-E81EB178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812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Separate relation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021882-C250-4FF4-9C2B-F4E027FE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62225"/>
            <a:ext cx="26860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Move multivalued attribute into a new relation.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0DCD79-39D4-4785-AF11-0F204E62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048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C982DB-2AFA-403B-A3C6-BC213B97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8677C5-1767-4B82-A707-0563C805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812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Expand key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0DFC61-631D-42B7-A2BA-FA5E02CC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62225"/>
            <a:ext cx="26860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Create separate tuples for each repeated value.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28C971-AB2A-4964-8DBC-D2CDDB93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048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A868B9-4223-43A4-B150-FFF1F686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8EA898-8360-4208-A8DA-EB24F1B4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812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Fixed attributes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F3166D-C29F-42F1-9C3A-35CD587D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62225"/>
            <a:ext cx="26860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Use multiple attributes only when maximum count is known, though this is less flexible.</a:t>
            </a:r>
          </a:p>
        </p:txBody>
      </p:sp>
    </p:spTree>
    <p:extLst>
      <p:ext uri="{BB962C8B-B14F-4D97-AF65-F5344CB8AC3E}">
        <p14:creationId xmlns:p14="http://schemas.microsoft.com/office/powerpoint/2010/main" val="15384931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DD4BF6-EFA8-4D0A-924F-D9E4CEFD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B8EA4-A324-4817-AAFB-C1CE7E68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Second Normal 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23A5B-E7DD-4DC9-AABF-C61CD699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2NF.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59F7A-813E-42E4-B30B-DBA1D940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B8A12-46E6-46CD-92AC-25620451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D0F01-E257-4B70-97C8-9B4421AE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4D89C-0C28-48EA-B769-711ED71A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Normal Forms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FA4ED-E5CD-4D92-A76D-27F51348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2F9E90-82CF-4800-876E-0D54059A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2NF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5EF252-DDD4-42D5-94C7-FE763EED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relation is in 2NF when it is in 1NF and every nonprime attribute is fully functionally dependent on the whole candidate key.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6E3915-92F3-452A-9800-53953D86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39210-65B3-45FC-AA8F-8329EB1C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1NF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35DFFD-A674-498C-8E61-B733735B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C169F3-58F2-4029-A8CD-4A628D33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A609E8-50C5-4382-A8C0-BCE8EEFC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Full dependency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EE15B9-7B24-43C9-BCE1-D0DF71ED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E98B49-1579-4C7B-9684-C56EA988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5C117F-C768-41CD-8AC4-4BF3E271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No partial dependency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712F45-E2A0-4E87-8BB9-B324F725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5F9D56-D5FB-4459-A240-AF2294FE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81AE37-9216-4C3F-9055-85D61898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Composite key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DF7D7F-F5F9-46C2-9A0B-DB063932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0D214C-B163-41E1-830B-51DB872E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EE69A8-B5C3-4392-8298-DA886A99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Nonprime</a:t>
            </a:r>
          </a:p>
        </p:txBody>
      </p:sp>
    </p:spTree>
    <p:extLst>
      <p:ext uri="{BB962C8B-B14F-4D97-AF65-F5344CB8AC3E}">
        <p14:creationId xmlns:p14="http://schemas.microsoft.com/office/powerpoint/2010/main" val="16723238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1D1158-0C17-4B6A-AC94-2D6169CA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A9F6C-DF0C-431E-B67F-7BDF6F6C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2NF removes partial dependency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9CC8C-EBC0-430A-8CD6-D7557981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the process.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44693-5F97-4FD2-BDE7-B438278C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AF8A58-5211-430E-86CB-81732B20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19C61-40E2-497A-B09B-F447B51A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A90C5-3E88-4104-9C9C-23DF7E7B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Normal Forms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CD788-7D73-43D9-963B-5AC33870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86B264-CC77-4833-873D-1088B8C6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601EE1-BAA0-4C9B-9E31-2135BFD2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Find composite key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9276F4-2205-4FDF-946A-3310CFAD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9613FB-CBB9-4741-985F-87283861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76E92A-3E87-4DBA-9D06-217A9B25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Find nonprime attributes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4751CA-3AB3-49D0-98FA-1B8A9E33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98E3C3-1856-4120-868A-8832950C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98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8576DA-58D9-4F76-B7CE-8F0AB693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Detect partial dependency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FB1D73-A0DB-4F29-BFD3-78041E0D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CCDA3A-497F-4E88-8136-3C6BA670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56CC11-8C30-4C48-B174-B42B45D4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Move dependent attributes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06A478-033D-4EEA-8A5A-8B9A062A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9C41EB-1130-4A73-9067-733BD211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3C5E55-8254-443F-88FD-62094AFD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Create proper relation</a:t>
            </a:r>
          </a:p>
        </p:txBody>
      </p:sp>
    </p:spTree>
    <p:extLst>
      <p:ext uri="{BB962C8B-B14F-4D97-AF65-F5344CB8AC3E}">
        <p14:creationId xmlns:p14="http://schemas.microsoft.com/office/powerpoint/2010/main" val="7707003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DB5654-04C9-4041-9D0C-1F33B940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10467-9865-4FED-BDD2-170692EC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Third Normal 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761A6-C433-48F2-80E5-121FF00C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3NF.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09AB0-5CF1-4A93-BCD3-8F101D81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BC5DD-5D4D-4837-9E9C-D081F55B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30F69-1FB6-46DF-91C6-816DB925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F8E09D-35F8-4F5D-894C-301F07DF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Normal Forms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D608B-3A04-4424-87AF-865C47DB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1D283-A19C-4D99-813F-D4F1E823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3NF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910EAF-4A37-48EF-89E4-E4FC349A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relation is in 3NF when it is in 2NF and no nonprime attribute depends transitively on a key through another nonprime attribute.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B7F09-C530-4749-A2F4-43ABCBC9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25D69D-9B9F-41F7-98C8-4B2ED018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2NF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26A5F9-19FB-4288-9F09-CA0F609E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376607-574D-471E-8364-643C5B42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0838B8-1C0D-420E-A4C6-7A96CCD1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No transitive dependency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867B03-13E4-46B5-BF5C-3449D3F5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EB9E08-D5D1-4AF6-A2DD-1F526A4D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6F097C-7101-4C97-9625-42B86FF6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Nonprime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F0FDA6-BB16-4496-8231-2DCD528A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15A0A5-AA3B-4076-98A4-7F6898ED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1DB542-2B93-4B99-B603-3C57CDE9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Candidate key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89D871-C421-4A6B-AD4C-DD4C5245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11DF30-3B59-4DE5-A23B-5EFF726D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40AF59-C7FE-4642-B2F1-E34C2770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Dependency preservation</a:t>
            </a:r>
          </a:p>
        </p:txBody>
      </p:sp>
    </p:spTree>
    <p:extLst>
      <p:ext uri="{BB962C8B-B14F-4D97-AF65-F5344CB8AC3E}">
        <p14:creationId xmlns:p14="http://schemas.microsoft.com/office/powerpoint/2010/main" val="2956707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412F8E-6196-459B-8A9E-FED203D1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67369-34FA-4FB3-B3F1-8049722F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BCNF is stricter than 3NF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73CE4-5852-404E-A71A-3C20C27B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BCNF.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151D1-9720-4678-A186-9DC91ACB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F109D-62D2-4E6D-B2D4-4F146D2A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4F367-AA29-49F3-9200-7DC79D97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9A5BC-9341-41B5-8C3F-C244EA65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Normal Forms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38D9F-3C4D-489A-A3C7-D250E9E8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0DB34D-7FDD-4DD7-A680-102ABB0E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BCNF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58EC8-03AD-4719-AF50-7586933C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relation is in Boyce-Codd Normal Form when every nontrivial functional dependency X → Y has X as a superkey.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460FC0-73DD-4613-AB15-4CD2A842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C6894-AC11-4910-897F-80C26A5F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Nontrivial FD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6D0F98-D5FA-41D1-BF54-3C369643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F6D55D-6DA7-4D24-847E-625BD9AE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F9D524-D368-4CCE-8D3F-C41AE603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Determinant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E5E45A-8269-4C4F-9926-D761D4A1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EED99E-4C7D-4408-9C91-11F11974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9EF4F-8A5D-422F-8788-98AB5F0C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Superkey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EEF799-7ADF-4221-8708-9B46FE64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003C07-CE3F-4064-88A3-96D82C30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1BC4CB-D3D7-4B11-9B3D-13F81EC8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Stricter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26D871-3F9F-4894-A0AF-F79A04E2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57A3F2-3D21-4F40-9707-159939B8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BF9928-BE2C-4ACA-91B7-39985931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Anomaly control</a:t>
            </a:r>
          </a:p>
        </p:txBody>
      </p:sp>
    </p:spTree>
    <p:extLst>
      <p:ext uri="{BB962C8B-B14F-4D97-AF65-F5344CB8AC3E}">
        <p14:creationId xmlns:p14="http://schemas.microsoft.com/office/powerpoint/2010/main" val="29742754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BF68B2-B5E5-47E7-BEC6-38790113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0E594-21B7-456E-B8F7-9FFE061B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3NF vs BCNF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74F397-1044-4541-9CA8-62B2BDE7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Compare definitions.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AB8F2-0379-40C6-92E0-A1FDF128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3F846-DCB8-4D6D-A563-F81EA556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F70CEB-9061-498F-8503-27D8E247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3B272-6790-42DA-9EEC-B4DAECE2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Normal Forms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97AD61-6433-4A7B-9580-D969182F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FC47E-62BF-4073-9FE5-A95776A2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CA76CC-823A-431A-93FE-E15B4E77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07AADA-3777-4F61-AA44-3F50E0C9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3NF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E9FF45-101A-4320-A338-EB64FB80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48CE04-CB71-4321-8E85-C617BE04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707630-A943-4EF6-95FB-A870E333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65F584-D8F4-4ED6-8987-98B0AF01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BCNF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316CD7-4AD5-4290-86D4-03D31030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7BDCFF-7779-49D5-A094-9A5D0150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692197-A75F-4164-ABB9-EDEAE831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9A8637-2521-4807-A47D-BE08399B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Allows exception for prime attributes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BCF577-8294-43C1-8F93-7AF0B1ED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7E9DB2-AF4F-4766-82A1-44DA3426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200013-E52F-4389-90CB-02FB8969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Often preserves dependencies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FE1079-8551-4CAA-BA5B-239ED907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F11D40-5F24-4988-BE05-31EB6C19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962BE9-6448-467F-9623-9A0203B9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Less strict than BCNF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8A2240-16F6-4718-9CF8-15E7D421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853A6D-8193-43D2-949A-923330DC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918150-3FBA-42D1-AE85-2C9306DD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Common design target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E0D622-8CEA-40E2-931A-9D800535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6DFAD0-939A-4F69-89EB-2FD25F59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FA2246-DAFD-4A17-AD39-436F9147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Every determinant must be superkey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861ABC-F39E-47EB-8DC6-2387D569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5B9992-923C-4DCE-9673-6E50AE2D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C70D94-F3BD-4F7B-A134-E9EC334B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Removes more anomalies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5D12BF-23AB-4A5F-BF1E-5C97B5DC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04F7F9-BC70-4BC8-95E0-2ED39312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04EF26-C7AC-45DA-A43D-A4FC02F7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May lose dependency preservation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66F548-3DC7-4C4F-BEAE-8AD8B4E0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AE1571-75BC-4909-A299-D5B371CE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8D3A14-5FBF-4BB1-BD64-A4CBCAA6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Stronger normal form</a:t>
            </a:r>
          </a:p>
        </p:txBody>
      </p:sp>
    </p:spTree>
    <p:extLst>
      <p:ext uri="{BB962C8B-B14F-4D97-AF65-F5344CB8AC3E}">
        <p14:creationId xmlns:p14="http://schemas.microsoft.com/office/powerpoint/2010/main" val="80343689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CF8C94-A40F-48C2-A13D-0913D4A5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66C76-542A-4580-A9FB-EC9882D4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Fourth Normal 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22A75-1079-40F5-AA76-A0F485F7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multivalued dependencies.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29A1B-FD07-46AC-81A7-17F9A65F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317AD-1622-4C3A-ABD7-3977F5E5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B58C7-CB06-4343-80D8-AC684D92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3A084-D473-43E1-BF7A-49AB4CE7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Normal Forms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5BD3F-FD92-4455-B83A-C2D1FF05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177AE-82FC-49E3-90D5-5CC02BE4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4NF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2A9B6-4C36-4EB2-A888-DDFCB422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relation is in 4NF when every nontrivial multivalued dependency has a determinant that is a superkey.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52F18-2357-4C20-A535-2FDBC5EA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749A79-479F-4465-99DA-1E733ED1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Multivalued dependency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201D8F-4D06-40A1-A5B6-BB20676A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A2DC0C-1225-4AB0-91B1-1F008E81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2B6827-EE70-4CB3-A262-A1CB31F5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Independent facts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6A34AD-AE11-4A99-9A51-01487A53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BC81A6-5A22-4C7B-9F95-6615747B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3159F3-B716-434C-9FAC-1F349D6E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Superkey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BEC92F-AE19-44DE-9BD4-424942D5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B0AB80-4CA2-47CB-8341-1C58A23D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FC3A8D-95E0-4B97-8633-5944073F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Decomposition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DA294C-F1BB-4D56-94BA-C54E1D5E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90E452-8AA9-4134-AF68-EDD5748D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8F788D-7544-46EF-8120-5147BB02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No repetition</a:t>
            </a:r>
          </a:p>
        </p:txBody>
      </p:sp>
    </p:spTree>
    <p:extLst>
      <p:ext uri="{BB962C8B-B14F-4D97-AF65-F5344CB8AC3E}">
        <p14:creationId xmlns:p14="http://schemas.microsoft.com/office/powerpoint/2010/main" val="203403687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319B31-3141-4942-9191-F16E041C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09D76-9569-4F8A-A55C-F9248A5D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Fifth Normal 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262B9-76AF-4CBF-AFD0-4F1E7AFA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join dependencies.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13A1C-8A06-42AD-9AB3-D041BE39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E439A-3E17-473C-96B2-A4B47EF5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F480D-C503-4130-8F2C-FF5A33D1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1D2E9-66C7-49C0-A479-DC4992D2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Normal Forms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C8B60-D708-4ECD-A657-23E05DA5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95F85-34A5-4310-ACC1-F0778AFC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5NF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D484F-8E64-428F-A947-21CAEF6A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relation is in 5NF when every nontrivial join dependency is implied by candidate keys.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7C2D1C-83D1-4F73-ACF8-75909DCD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EC3315-6643-484A-ACBC-36A69CFB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Join dependency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A84A34-1EE7-4F30-8F83-49E3BD6B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C69FA-EA1C-4465-8430-C8770BE1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BFC8A2-C5DC-4B92-9249-351BC7DA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Lossless decomposition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D6998F-3B43-429F-B553-FF524BFA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362B46-440F-49B4-9072-CE670727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4DDB1A-6651-4860-BB41-F3A19BA0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Projection-join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53813A-2576-45C3-8CE0-187EB717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F7DB24-86F9-4379-9FB1-0B506155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72419B-C5B8-4AF9-93F5-9C71341E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Candidate keys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78EED5-20FE-4E55-9B6E-E99BC018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9DF674-30DC-4608-9849-4C8CB319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21BF26-A5DE-461C-A34C-6F2B61C8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Rare but precise</a:t>
            </a:r>
          </a:p>
        </p:txBody>
      </p:sp>
    </p:spTree>
    <p:extLst>
      <p:ext uri="{BB962C8B-B14F-4D97-AF65-F5344CB8AC3E}">
        <p14:creationId xmlns:p14="http://schemas.microsoft.com/office/powerpoint/2010/main" val="35255309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C77D31-3420-4500-B87C-A729794B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D35E0-0B09-4AA5-A1DF-9A4A6EE2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SQL implements relational schemas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FE110-6B73-4377-8B18-10ADFFD3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Transition from design to SQL.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1B9027-7460-442D-9918-81F0C29F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42F49-36C0-45A0-9FA7-DCAA1D41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12A4C-8032-41A4-A620-F9CA4B86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8B02D-B6CA-4820-8776-A814FE3E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SQL DDL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4229FE-7382-4383-860C-FC35B604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D8FA42-64D5-4A7D-998B-9AA2A35E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C888FB-2125-426B-8372-539F4EB7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Choose relations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9C3470-E204-43F1-B30C-DF2B1CEA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9CD9B2-8B0E-4E4A-A5BF-770FBE7B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4ED08F-D469-4C81-B5C8-D7E6D750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Choose domains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392E1F-48F2-4F65-B340-699F2A10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8B7AD6-F3E3-484C-B1BD-89C4BB72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98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C342D3-F4BC-430B-9A20-17BEE034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Declare keys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F9D995-2112-4F9F-A34D-00463CB3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1B4A8D-1890-4FE3-94F2-E666BE1E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269A21-93B2-4216-BD8A-2AF1B5E8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Declare foreign keys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7CED47-DBEF-4566-8C0D-E424CA5A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B88146-6B75-475D-B38D-6FC6D1A3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8AE649-6434-4ED7-A866-AC36B535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Run SQL DDL</a:t>
            </a:r>
          </a:p>
        </p:txBody>
      </p:sp>
    </p:spTree>
    <p:extLst>
      <p:ext uri="{BB962C8B-B14F-4D97-AF65-F5344CB8AC3E}">
        <p14:creationId xmlns:p14="http://schemas.microsoft.com/office/powerpoint/2010/main" val="151625866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D059BF-D50B-4562-8FB7-02FD8076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DA479-4225-437C-9EC8-9601B2A8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CREATE TABLE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CE9D8-03F4-4B55-94C6-7A5B43D4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SQL table creation.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731D0-9405-468A-A9C8-ABC5A9BF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25B61-344D-4575-A36D-19972A44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96200-CEF0-4B2F-B4C9-63031B13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21A3A-D68D-4A2A-AEDF-8D280713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SQL DDL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D258C6-052A-4BD5-9146-4B88D3E4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24A1C-858F-46B0-A783-24DFA1B0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6953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000D0-F2F4-403A-9C99-C334251D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52625"/>
            <a:ext cx="642937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CREATE TABLE STUDENT (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  USN CHAR(10) PRIMARY KEY,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  Name VARCHAR(40) NOT NULL,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  DeptNo INT,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  CGPA DECIMAL(3,2),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  FOREIGN KEY (DeptNo)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    REFERENCES DEPARTMENT(DeptNo)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E263A5-041B-4BB5-A6C6-8359A1C1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EABA08-70B5-49F0-8DB0-787E917E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2D722F-6EDC-4657-A37A-ECDFD07E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CREATE 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423F8B-A833-433E-9AB3-E1C8975F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90850"/>
            <a:ext cx="2495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pattern by identifying input relation, condition, projected attributes, constraints, and result relation.</a:t>
            </a:r>
          </a:p>
        </p:txBody>
      </p:sp>
    </p:spTree>
    <p:extLst>
      <p:ext uri="{BB962C8B-B14F-4D97-AF65-F5344CB8AC3E}">
        <p14:creationId xmlns:p14="http://schemas.microsoft.com/office/powerpoint/2010/main" val="51736182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521B98-0826-41B2-AD86-24A3E879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F0B58-B3AE-4029-9B2B-568D1AA0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SQL data types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BA340-C4D3-4CF5-BDC0-0AC0F2F4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type categories.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3E0995-BBCB-43C5-AE0D-666E1F45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5E9F3-D8C6-47AC-8FAE-BEEA6B56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91FE9F-C771-4DD6-BC83-31C913E8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6CFF4-63B3-4B3B-8546-BDC8A133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SQL DDL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FC3722-E042-4774-AF12-EEB3EC11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BDF64-0068-4316-9FFE-2519A13E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EC9C37-5B89-4BC6-82DC-EAD85C3E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53FDD1-6357-4CFE-B041-B993573F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Numeric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612A34-1A5D-4A66-B62A-634C8CA1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INTEGER, SMALLINT, DECIMAL, FLOAT and related numeric types.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E267BC-46F1-4E0E-91AC-C853B093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E39970-A03C-4179-A073-D46E7FE7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CB755E-CE3B-4132-A4F3-21D7E606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Character string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7A4271-36BF-4F32-8F8B-4205109F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CHAR and VARCHAR for fixed or variable strings.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FE4DF6-7C1B-463A-BCE9-534E6FDF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6F075D-9C4D-4DCD-A715-957F4B16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9A330C-CE95-4941-AC7C-41FE97E3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Bit / Boolean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67A885-B798-4EC9-99DC-00EDCDAD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Bit strings and TRUE/FALSE values where supported.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F6E4F6-C80D-42FE-A127-C7E8886B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3F7A43-AAA3-487E-B8DE-9D9D4F42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5225EF-4398-4724-BC1F-C29E6FCC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Date/time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4CC4DD-6DF9-4ACD-BB9B-DFA66FDB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DATE, TIME, TIMESTAMP and INTERVAL values.</a:t>
            </a:r>
          </a:p>
        </p:txBody>
      </p:sp>
    </p:spTree>
    <p:extLst>
      <p:ext uri="{BB962C8B-B14F-4D97-AF65-F5344CB8AC3E}">
        <p14:creationId xmlns:p14="http://schemas.microsoft.com/office/powerpoint/2010/main" val="54210784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98C949-5694-4A9C-9756-E08CD176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023F7-C667-47F3-ACB5-60BB3B8C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Attribute constraints and defaults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F71C7-45DD-48BD-A2AC-14096843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NOT NULL, DEFAULT and CHECK.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29E94-CD62-4CAC-BE45-2DB472CC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C59F5-AE13-4993-8628-1DD4B0AA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9D05A-04BA-4452-B43E-131B1972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920B7-7C7A-4E33-AF2B-3A86A934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SQL Constraints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22E80-68C5-4082-B816-6C685B3D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C0857F-54FD-44D6-91F8-881FB3AA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DEA147-FA27-45B7-BCB7-01951D92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27974-F894-4AE5-8FA1-9DAD6075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NOT NULL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11A77B-9ED6-48A3-B7B1-3DBE0155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Attribute must have a value.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F43E73-48C9-4406-A5C5-B75912B6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D0D93B-A0FC-41C8-AED9-C5A808A4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4F9855-6453-4EC3-9AA5-7211A51A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DEFAULT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9353D2-200B-4AD8-8D9B-85330A5C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DBMS supplies value when user omits one.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BE943C-D4AA-415D-A75B-D2C7D00E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357549-AF87-4F47-85A0-31A70BA9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EAAD2D-15D2-46F0-A93B-8760699A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137E76-10F5-4A47-BFB5-5B8ABE87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Boolean condition that tuple values must satisfy.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2FDBBD-B9FC-432E-B76E-4514CC9E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399772-B866-42DD-B674-1E8CC42A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986516-0863-4817-8328-65BF1FDE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Domain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2069D9-E156-4292-89D5-DBCBEF10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Types plus constraints restrict valid values.</a:t>
            </a:r>
          </a:p>
        </p:txBody>
      </p:sp>
    </p:spTree>
    <p:extLst>
      <p:ext uri="{BB962C8B-B14F-4D97-AF65-F5344CB8AC3E}">
        <p14:creationId xmlns:p14="http://schemas.microsoft.com/office/powerpoint/2010/main" val="88882075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8998F9-DA2B-4E5E-9FE9-C38F90D4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68280-7AE2-4A7F-B349-623D2CFF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Key and referential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B13F1-997D-42BC-B62B-E260A5AB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PK, UNIQUE and FK.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DCDE2-4272-4977-9B58-40247046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A99DF-C659-4F66-8DA2-6381EF93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E41C4-1102-46CB-BDF9-71C685F5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DC1B7-06D9-4FB8-AB6B-5AB5C837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SQL Constraints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F392A-9505-46C9-8AC4-85852C28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57D328-410B-4B63-8C7B-9235E17F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69050B-5609-4447-9C97-276CAF70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513B1C-F455-467E-9481-F9441A22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PRIMARY KEY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59ABC8-03AC-4AF0-92F1-0998BDBD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Unique and not NULL identifier.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7C02B-3378-4C0F-A66A-B535002E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69D51D-A661-48E8-923A-286A3DF1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FDFD64-89E6-4265-823E-634F45DB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UNIQUE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9F4FA1-6CD0-4582-9BC1-1E3C1003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Alternate key constraint.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55876F-2C60-49CF-9207-25A1AAB6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CC57AC-95F3-4A6C-8533-1E81D7E7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1711E8-25AF-4209-A99C-45123A6C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FOREIGN KEY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9FFBF3-82EF-421F-BE0A-5545B306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References primary/candidate key in another table.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62AD6E-0781-4923-99BA-62159EEB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69C9B1-C869-4037-9D76-98289648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B8E9AA-196C-4EF0-98E5-0BE2A49B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Referential actions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2D7CBF-6A61-43D3-AFC0-9B9B8CC2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CASCADE, SET NULL, SET DEFAULT or restrict behavior.</a:t>
            </a:r>
          </a:p>
        </p:txBody>
      </p:sp>
    </p:spTree>
    <p:extLst>
      <p:ext uri="{BB962C8B-B14F-4D97-AF65-F5344CB8AC3E}">
        <p14:creationId xmlns:p14="http://schemas.microsoft.com/office/powerpoint/2010/main" val="205808917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FCF0EF-1F9E-40F0-BA04-06C4AB09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B31FD-DB12-41C2-B21C-0DF5C41E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Tuple constraints using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87B52-B864-4C68-AA73-CFEC1143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row-level rules.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C895D-0F2B-4578-866D-857A76FE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94C55-C701-4511-A5A7-FB7088F9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A26C2-E699-4743-A462-643F3696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0D1006-3E2B-43FA-8907-94A9D0AB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SQL Constraints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AD7C1-9E50-4E81-9A07-143754AA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F4649E-8DC9-4773-8895-A3E25283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6953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6477EC-99E1-4816-A355-3605B391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52625"/>
            <a:ext cx="642937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CREATE TABLE EMPLOYEE (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  Salary DECIMAL(10,2),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  SupervisorSalary DECIMAL(10,2),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  CHECK (Salary &lt;= SupervisorSalary)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A9B7CF-344F-425B-AE4F-FBB3FBFB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221339-0A42-43BA-AB7A-DA9C0EE0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C0061-3CD3-4347-A59C-46F80947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CHECK constraint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9642C0-A8AC-4025-B530-ADCE8A0D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90850"/>
            <a:ext cx="2495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pattern by identifying input relation, condition, projected attributes, constraints, and result relation.</a:t>
            </a:r>
          </a:p>
        </p:txBody>
      </p:sp>
    </p:spTree>
    <p:extLst>
      <p:ext uri="{BB962C8B-B14F-4D97-AF65-F5344CB8AC3E}">
        <p14:creationId xmlns:p14="http://schemas.microsoft.com/office/powerpoint/2010/main" val="202679690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DA717E-D2FF-4C17-B0E9-5D622A19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47410D-17B5-487C-AB01-56B8CC93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Basic SELECT-FROM-WHERE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DB88A-6D60-41AC-9B3A-B689CB38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retrieval form.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2DDAF-5F75-4EAD-B9E9-B36163B4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B45F3E-1BB7-4600-8DEC-528D2276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D83A84-3E1C-4244-AA94-2C63CE92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CDEA20-8D54-4A02-B390-E3A304DF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SQL Queries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BF559A-1EC2-4899-BB68-E568A222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7AC34D-8DE9-4218-858F-F8B4E391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6953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CAB02-BCF6-46A4-B10F-FE1E2D1C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52625"/>
            <a:ext cx="642937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SELECT Fname, Lname, Address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FROM EMPLOYEE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WHERE Dno = 5;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EFCF31-942C-402F-9F3E-D324CC65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02A4E2-3340-470B-A435-37087EDE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5BDE0E-725F-40E6-AE28-68884783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SELECT query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EF57AA-AF79-4540-967C-CEA937FE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90850"/>
            <a:ext cx="2495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pattern by identifying input relation, condition, projected attributes, constraints, and result relation.</a:t>
            </a:r>
          </a:p>
        </p:txBody>
      </p:sp>
    </p:spTree>
    <p:extLst>
      <p:ext uri="{BB962C8B-B14F-4D97-AF65-F5344CB8AC3E}">
        <p14:creationId xmlns:p14="http://schemas.microsoft.com/office/powerpoint/2010/main" val="172335098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9C68EF-5D48-4547-ABD5-C4C5562A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4A0BD7-C119-488C-B39B-A9A77F8C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Ambiguous names and aliases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014094-8D3C-4B2E-8AAA-076ED741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qualification.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295DA-B1FF-46AD-808B-1619FBFF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22DDF6-9339-49B6-A102-1177FCBD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E655F-D785-4766-A917-5E1BA5DD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BE42B9-D937-401D-8F08-EA80CD18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SQL Queries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F64A0-A0A7-4BDC-AF1C-14CB7983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EC0E6C-C982-419B-B0EF-E94D0303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6953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A56BCD-90BC-4F4E-A08E-2C44BDAA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52625"/>
            <a:ext cx="642937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SELECT E.Fname, E.Lname, D.Dname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FROM EMPLOYEE AS E, DEPARTMENT AS D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WHERE E.Dno = D.Dnumber;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336CCF-D768-4EFC-9BD7-E5A51254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59AAD9-7AFA-44AE-8409-C69BF2A8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B19C4A-C4C6-452E-8A41-4E22F9FB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Aliases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25B2B2-F96A-4B36-AB72-411AC66C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90850"/>
            <a:ext cx="2495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pattern by identifying input relation, condition, projected attributes, constraints, and result relation.</a:t>
            </a:r>
          </a:p>
        </p:txBody>
      </p:sp>
    </p:spTree>
    <p:extLst>
      <p:ext uri="{BB962C8B-B14F-4D97-AF65-F5344CB8AC3E}">
        <p14:creationId xmlns:p14="http://schemas.microsoft.com/office/powerpoint/2010/main" val="5348050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512929-DAFC-4FE0-83B7-B577239B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E392F-E000-4E23-B93C-41CADF09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SELECT * , ALL and DISTINCT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1AD8F-4D4F-412C-AA0A-21A2A246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result options.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30BC4-70E0-4766-9BC6-E79C1750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26633-0E75-4C12-B5B2-9A3BA517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CA4B4-3227-4EF5-9895-7FB26075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E4A5F-6EB6-46D8-936E-81B24E83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SQL Queries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295845-FDE9-443C-8538-B6448C24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2ACB2-EC6C-4981-8AD1-9D1ED75A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CF2037-38B1-476F-A6DC-6A933D8B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3C4CFF-67F7-4992-9074-126F238E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SELECT *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52A85-EAE5-45C9-BDBE-923C004B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Return all attributes.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50682A-1835-4228-A912-4D5F942F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35984E-A132-4E1D-8031-7ED22F02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B099B6-23A4-47B8-B443-E826533E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SELECT 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449FD0-C874-4053-A685-8614F413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Keep duplicate result rows; usually default.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CD35BB-B72F-4F83-A734-C6BB9592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19F44C-E674-43FF-8481-267797F0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0F9A25-B100-46DE-AFF2-606ED5AB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SELECT DISTINCT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90802E-D578-4A67-9117-5AEF6DFE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Eliminate duplicate result rows.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0CE28B-2375-4927-BA6A-7CD69D02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F41A6F-C493-49D7-AC89-088DDB4C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F932FC-E72A-4F8C-B507-B53D9413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Projection link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200CB0-C08C-49E8-95BF-2792A9AB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SQL SELECT resembles relational projection with bag behavior.</a:t>
            </a:r>
          </a:p>
        </p:txBody>
      </p:sp>
    </p:spTree>
    <p:extLst>
      <p:ext uri="{BB962C8B-B14F-4D97-AF65-F5344CB8AC3E}">
        <p14:creationId xmlns:p14="http://schemas.microsoft.com/office/powerpoint/2010/main" val="91988727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22189A-5BB7-48C2-983F-746C04A4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3E558-0CAA-4FB1-8D66-7898FD6B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WHERE conditions and pattern matching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7409E-981A-4B8E-BFE4-E18C0505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selection conditions.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DC621-5A64-408D-8D7B-040D993F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43BC8-3648-4D50-AF63-1F9E61DE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1B552-DF79-4294-BB2E-52991AAC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089623-282D-4290-8388-7E65AD42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SQL Queries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E4D10C-7E73-46B5-9B72-CBA6E262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3D57A-EB25-4E26-85D8-DE83EFCE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A5C53E-BAF1-407D-86A1-CB80010C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A8E7F-2DF1-4134-A4FB-E4DDA6CD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Comparison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A63AC5-9EDA-43EC-9EF1-03C00C65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=, &lt;, &gt;, &lt;=, &gt;=, &lt;&gt;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1E50F9-9A43-462D-BB93-7607D45D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8C9C59-AE40-4373-B5C2-0DB576BA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65832B-6821-4E0C-BC1A-1471569C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Logical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355F60-E98A-4E46-8FED-E76B7B7E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AND, OR and NOT combine conditions.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29BA8C-5150-499A-B8D1-FCB32A81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ACA2DA-2D36-4B28-BC96-1DE3B50E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7906FF-B9D2-440F-8F22-E9D040DF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LIKE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A1A0AC-ACE6-40AE-9511-75A97A27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Pattern matching for strings.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C441AE-EF42-4388-A5F3-2B17E61F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E26B28-5C90-4637-A839-D2A42D64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C2BD16-A245-49D0-A3D3-B6921C62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BETWEEN / 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D97711-C11C-4269-B33C-A8C122EA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Range and set membership checks.</a:t>
            </a:r>
          </a:p>
        </p:txBody>
      </p:sp>
    </p:spTree>
    <p:extLst>
      <p:ext uri="{BB962C8B-B14F-4D97-AF65-F5344CB8AC3E}">
        <p14:creationId xmlns:p14="http://schemas.microsoft.com/office/powerpoint/2010/main" val="100974977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0AC0E3-ACA9-41FA-9CF7-786BB1BF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B87A1-11F8-4008-8F23-6506CEF0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ORDER BY sorts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1C7A2-FAE0-48BA-94DF-B73850D9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result ordering.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C0B5D-0E65-4538-B432-616ECC0D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9EC7B-EFD3-4FD6-9563-49CD306E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7F8615-2D7A-49B3-88A2-90FE979E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45AF1-B0A4-4878-9167-DF8212F7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SQL Queries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F3BBD-6E2A-40B9-926F-C961E259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43C9A-157C-44EA-94D5-69FC44C0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6953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58730-B336-4420-B910-0D13B406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52625"/>
            <a:ext cx="642937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SELECT Dname, Lname, Fname, Pname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FROM EMPLOYEE, DEPARTMENT, PROJECT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WHERE Dno = Dnumber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ORDER BY Dname, Lname;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8B4BA0-DCC9-4AE5-8BF7-B3F09009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AA33E-E71A-4145-ABFD-63B9E7B8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487824-FAEF-4F84-8156-841DF681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ORDER BY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AD77C9-8647-4AAC-92D1-A6403F77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90850"/>
            <a:ext cx="2495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pattern by identifying input relation, condition, projected attributes, constraints, and result relation.</a:t>
            </a:r>
          </a:p>
        </p:txBody>
      </p:sp>
    </p:spTree>
    <p:extLst>
      <p:ext uri="{BB962C8B-B14F-4D97-AF65-F5344CB8AC3E}">
        <p14:creationId xmlns:p14="http://schemas.microsoft.com/office/powerpoint/2010/main" val="29330207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B7C8D-FDC5-4850-9953-DDDE94AF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F1F129-1A94-4801-B025-99E75940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INSERT adds tuples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5DDFB-36F2-4809-9148-C6BC4D7C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insert.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A4B22-5523-4334-835C-19000507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0FF05-DC82-42C6-9EAA-EFE66908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AD7D7-7DDB-44AE-9747-5A1EC2EB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D59BE-DBC4-4F3F-A295-390B5E94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SQL Updates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5B7ED-3858-4ADA-B89B-B5E0EC5C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F9483B-2C05-4011-A5D6-ABD73DC8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6953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289A7E-271E-454B-8240-0DEF57FA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52625"/>
            <a:ext cx="642937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INSERT INTO STUDENT(USN, Name, DeptNo, CGPA)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VALUES ('1VV23CS001', 'Asha', 10, 8.7);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C439E-80C4-4189-B39E-4F41674C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ED934-AFC7-492A-993E-14DB2A5B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CA6EF4-8A19-4E73-82ED-AFD19766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INSERT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D55708-90BA-49BD-8D32-CBC91B79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90850"/>
            <a:ext cx="2495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pattern by identifying input relation, condition, projected attributes, constraints, and result relation.</a:t>
            </a:r>
          </a:p>
        </p:txBody>
      </p:sp>
    </p:spTree>
    <p:extLst>
      <p:ext uri="{BB962C8B-B14F-4D97-AF65-F5344CB8AC3E}">
        <p14:creationId xmlns:p14="http://schemas.microsoft.com/office/powerpoint/2010/main" val="22537964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C2FED1-D76E-47A8-ABA6-2EFE04F2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D67A2-A48D-4369-A0F1-5AF405A5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DELETE removes tuples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B598AD-14C2-46CA-A3E0-1AE2B893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delete.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CB830-90CE-4A1D-A5C6-2E8D1747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E0F77-D60C-407F-B5EA-61863E02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596AE-1418-4D53-A8F0-302AFB9A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A16AB5-1618-4BD7-B39E-C9B2FFBF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SQL Updates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92DF7E-B7B6-49CC-AE98-D8F6918A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95EDB1-A595-4FBD-B4AC-65A5E323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6953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72BAD1-547B-4698-AFBD-8DD7F81A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52625"/>
            <a:ext cx="642937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DELETE FROM STUDENT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WHERE USN = '1VV23CS001';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BFA84A-AF1B-49C8-B8DF-0F837F8B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4C8769-BFC1-4641-9C7F-F77C3343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4902B-7345-4983-99E0-37B7220B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DELETE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4F8267-6766-4042-B744-DFDEA453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90850"/>
            <a:ext cx="2495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pattern by identifying input relation, condition, projected attributes, constraints, and result relation.</a:t>
            </a:r>
          </a:p>
        </p:txBody>
      </p:sp>
    </p:spTree>
    <p:extLst>
      <p:ext uri="{BB962C8B-B14F-4D97-AF65-F5344CB8AC3E}">
        <p14:creationId xmlns:p14="http://schemas.microsoft.com/office/powerpoint/2010/main" val="70390999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54E6B7-AB0C-44F0-ADF4-F46206B8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E90D0-7E00-42EA-999F-93EB161B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UPDATE modifies tuples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D4AD3-8AAB-49C5-8620-196B79C5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update.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75E77-3E84-41A2-BEBD-F55E74FA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A18C5-150F-4F40-8EE0-53A2F935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36E2E-C199-4051-BF46-FFA55703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CA6FF7-DC29-45C8-9B89-EEE4A1DD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SQL Updates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13B3DB-804B-403E-A039-191A654B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2AC7BD-8509-4CAC-81E8-1BC5F499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6953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D9C628-9EF8-4E5C-B2A7-230C455A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52625"/>
            <a:ext cx="642937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UPDATE STUDENT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SET CGPA = 8.9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WHERE USN = '1VV23CS001';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CFA291-EE78-4D50-AC76-D76451E7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9EAA56-E495-41AD-92B5-E90DBB81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EAEC98-9E7C-4589-9710-C0BF93EE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3C1448-ADB7-4216-B520-B9E8FC4E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90850"/>
            <a:ext cx="2495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pattern by identifying input relation, condition, projected attributes, constraints, and result relation.</a:t>
            </a:r>
          </a:p>
        </p:txBody>
      </p:sp>
    </p:spTree>
    <p:extLst>
      <p:ext uri="{BB962C8B-B14F-4D97-AF65-F5344CB8AC3E}">
        <p14:creationId xmlns:p14="http://schemas.microsoft.com/office/powerpoint/2010/main" val="212645521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2F06BC-A73E-438F-9F60-B1E91012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50881-A752-421F-B808-601F1283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Additional SQL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FD66D-BA79-4C4A-8B48-A7B95425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the remaining feature heading.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7E931-452A-4372-857E-D6702AC7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D7642-4D53-4B1A-BDA5-7EF84BEB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CF058-4CD1-4E68-B075-F396C472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9C3F4-D92B-45BA-AC98-67CD3386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SQL Features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C387E2-FE82-4EE1-8ABA-517D30AE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5CF38-E965-4943-B949-050C27FD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90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91C8E1-FFBD-4190-9746-D76AD529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86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B3FFCA-6F5D-489B-A4D3-DB80D7C7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758081-2E47-4DB6-B5FC-F0AFD7F2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992F43-4A27-4E3A-9A63-6E354390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Views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F894E-F969-42CA-8BEA-02C7A699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Virtual tables from queries.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2CD398-526A-4892-B78B-290112D2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46ECF4-06EA-4D61-86E0-04048221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A5898F-266E-4B7D-9EDA-932235F8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14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Assertions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A8D773-F90A-4437-AB91-8A08560F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Database-wide constraints where supported.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B8B4ED-D510-4F94-AF87-525178EE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BF1236-AEAD-4454-94F1-9F71328F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B79A37-272B-444F-A1C6-CFA38BFF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7C8FF"/>
                </a:solidFill>
              </a:defRPr>
            </a:pPr>
            <a:r>
              <a:rPr sz="1650" b="1">
                <a:solidFill>
                  <a:srgbClr val="77C8FF"/>
                </a:solidFill>
              </a:rPr>
              <a:t>Triggers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6114AE-C632-4AAF-9981-2ECE2504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Actions fired by events.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16AF30-5A86-409A-85D8-9585EE51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073F1C-7213-48DE-AF97-602FC037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1A89C6-0140-437C-AAA1-40F4A2FF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F69"/>
                </a:solidFill>
              </a:defRPr>
            </a:pPr>
            <a:r>
              <a:rPr sz="1650" b="1">
                <a:solidFill>
                  <a:srgbClr val="FFBF69"/>
                </a:solidFill>
              </a:rPr>
              <a:t>Privileges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E9DA2B-C823-42DD-8AC6-BD29DA16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Authorization through GRANT/REVOKE.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5DC64F-C4FD-4DE6-953E-28CD7C1B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113018-45E1-430F-97B1-1C9E9925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8005FD-3FBF-4030-B499-E979C735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911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Transactions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4461AB-E365-4F54-878D-5C0E16DB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721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COMMIT and ROLLBACK.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4EB9E6-97D1-4ED7-9F32-446B21DA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9FB88D-66D2-45C5-BD2E-6E7EC4B6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A4D361-37E9-490F-A4DF-DED65F06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Embedded SQL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F8B318-7566-4C32-A06B-94F66EFF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Use SQL inside programs.</a:t>
            </a:r>
          </a:p>
        </p:txBody>
      </p:sp>
    </p:spTree>
    <p:extLst>
      <p:ext uri="{BB962C8B-B14F-4D97-AF65-F5344CB8AC3E}">
        <p14:creationId xmlns:p14="http://schemas.microsoft.com/office/powerpoint/2010/main" val="56193585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965CD5-7579-4E21-A15E-F6DC9A0F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F2ED15-E2CD-4668-AF8C-E1F44046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Module 3 mind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B6C16-1DD1-443D-AA18-AA494167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all major headings.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CAE3C-8862-49A7-AF32-1E3DA884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A0DA1-BDD1-47D2-AEE2-6D2D4780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FBE61-1D5E-4E4A-A758-4DAA2CDA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58746-4061-4B20-8DB5-E719C5BB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A6AF7-2A93-422C-9068-589C8164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A37209-29B9-4E0B-A68A-045A0C21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90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E6A82-6496-430B-95D4-3EEE2134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86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Module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83C0CD-9574-478C-A68A-44C36508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6C39BB-B9EF-4766-B233-8375D722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E20E4-3BBC-4544-B521-A2CC1E5E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Guidelines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97A069-F4BF-4F6A-AF2A-9F6866AF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Clear semantics.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B10254-46C9-4640-94BC-1ACD4B25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A5DD0E-C19D-4A58-9392-30B04B10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87D19E-C6A5-4A77-8328-443C61C6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14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Anomalies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2D52F7-3624-4041-92E9-D12157F0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Insert/delete/update.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0D460C-A5B7-44F9-B2BF-C7380EE7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190C17-6084-425A-87F4-32AB3101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3E65BE-3128-4A0D-8732-55E7CDF1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7C8FF"/>
                </a:solidFill>
              </a:defRPr>
            </a:pPr>
            <a:r>
              <a:rPr sz="1650" b="1">
                <a:solidFill>
                  <a:srgbClr val="77C8FF"/>
                </a:solidFill>
              </a:rPr>
              <a:t>FDs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B91723-328C-4593-B44A-18AD2E0A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X determines 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5E8548-BE10-4E19-B3A0-1B5E7146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16150F-ABDB-4C4C-ABDD-8324D5B7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A81E54-5133-4D25-964B-B7BA367F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F69"/>
                </a:solidFill>
              </a:defRPr>
            </a:pPr>
            <a:r>
              <a:rPr sz="1650" b="1">
                <a:solidFill>
                  <a:srgbClr val="FFBF69"/>
                </a:solidFill>
              </a:rPr>
              <a:t>Normal forms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F6156D-BBA3-46A4-B753-F314E8E6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1NF to 5NF.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0B0718-8F15-4D05-AA86-20DAF4B5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F00DFB-A5E1-4B2A-AC2B-769A5D14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662B12-9BB3-4AB6-9814-166403B4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911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SQL DDL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A09FFC-D650-482E-BFC6-1F966A98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721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Types and constraints.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F922F6-4075-4703-9941-E61B0E2A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C00F64-FAFE-40DC-A407-D2C8D272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7236D9-85E3-49AC-ADDA-821F7955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SQL DML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B8EA13-DC64-4AC8-8C61-0BBAD9EC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Query and update.</a:t>
            </a:r>
          </a:p>
        </p:txBody>
      </p:sp>
    </p:spTree>
    <p:extLst>
      <p:ext uri="{BB962C8B-B14F-4D97-AF65-F5344CB8AC3E}">
        <p14:creationId xmlns:p14="http://schemas.microsoft.com/office/powerpoint/2010/main" val="177190922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A293C9-B515-4DA5-A28A-ADBAFF4C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9D1EC-6105-4619-BB1D-C98785E2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Exam and viva focus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AA1C0-E2A9-4EAB-981F-D54CA14E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Convert content into marks.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EAAA6-6E12-4F6E-9DF7-5B0CB57E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E4207-E82F-46DE-B344-907567A4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D55BF-32E2-498F-8F75-178002AD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C029C-1470-45BB-ABFE-22941770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0830E-AE8C-4CDC-B353-89CF06AD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5E2766-949B-44CE-BAA7-64A19813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060666-E736-4BC2-8926-C1FEEB0A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39965-344E-40BE-B82C-45C17793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Define FD and dependency types with examples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4FF500-F3D3-4356-A297-CB89A37C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B6E36-0102-4662-A66B-AD52AE38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1452F4-3C86-45BC-A9F2-9ABF84FE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anomalies using EMP_DEPT-style 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60C4CF-6292-4162-9424-442B8857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B62F10-66CE-454C-9CE2-3A9D2270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06E0D7-F02A-4462-98FB-B8DA3EAF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Write definitions of 1NF, 2NF, 3NF and BCNF precisely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02B630-B886-4DE1-A8D1-E56DD570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45576B-F741-4BC0-BEA2-F91AA41F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81C250-7D1F-4396-B995-3354AEE3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Write CREATE TABLE with keys, foreign keys and CHECK constraints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3AFC51-1C0B-414C-B537-6E561F21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66E6A0-FA15-4F51-BF7C-C065BB30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F5B980-7415-4EDB-9BDC-D370D504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Write SELECT, INSERT, DELETE and UPDATE syntax carefully</a:t>
            </a:r>
          </a:p>
        </p:txBody>
      </p:sp>
    </p:spTree>
    <p:extLst>
      <p:ext uri="{BB962C8B-B14F-4D97-AF65-F5344CB8AC3E}">
        <p14:creationId xmlns:p14="http://schemas.microsoft.com/office/powerpoint/2010/main" val="190895550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59981B-AE12-45E3-B9EB-E5B23AE9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B7C9A-F449-4053-BC94-7330AA21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20 important 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F4D14-0F6E-49E9-B5FE-FB490D70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Rapid oral revision.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C1BB6C-4C0E-4303-9869-3E459A16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0B925-8674-4BD1-9AB5-B4585E50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26A8B-91DB-4E32-B66B-D1F1E1FC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C73CE-2954-4854-9AED-DB49780F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928EE-DD1F-4907-A68F-715DDECF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FFA01-3B7C-40C7-A284-19AE441C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1. What is normalization?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9575EE-5829-4E1D-AD6E-80BE6319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2. What is clear semantics?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A610E5-938A-4057-B221-9E74836F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3. What is redundancy?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C9CBF8-6640-4821-8F79-DB7C7D74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4. Insertion anomaly?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F494BE-8A27-4BA0-BD26-EE807148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5. Deletion anomaly?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CA8CA8-E5AD-4522-B984-8AB3413C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6. Modification anomaly?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9FE3DC-441D-4F50-BC4D-BDB6241B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7. What is NULL?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2E9593-A62C-4691-8E9C-BC4339F1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8. What is spurious tuple?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9A805D-9843-4F54-B657-71224475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91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9. What is FD?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21A4AE-ECAA-4CE5-B7D2-80975240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10. Full vs partial FD?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84F69A-D486-4E16-A981-CA9CDAF4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859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11. What is transitive FD?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D62510-9997-47B9-9E44-3FB57F31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40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12. What is candidate key?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D1BD0E-8D06-463C-AD06-30C8CB3D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622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13. What is 1NF?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336D49-7E6C-4BB3-937C-338424E1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0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14. What is 2NF?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8D30C4-7EBA-4824-9C53-86A1A8C0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385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15. What is 3NF?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A415F0-DE6D-4488-88C7-3555589D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16. What is BCNF?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04845E-FA77-4731-A8CF-5D3F0423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17. What is 4NF?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44E381-341A-4BDA-933E-B4BC2DEC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529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18. What is CREATE TABLE?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C1B06A-840F-4A8F-85FB-E929822E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91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19. What is CHECK?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5F7738-06D4-4C14-8DD3-85FAFC4C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292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20. SELECT vs UPDATE?</a:t>
            </a:r>
          </a:p>
        </p:txBody>
      </p:sp>
    </p:spTree>
    <p:extLst>
      <p:ext uri="{BB962C8B-B14F-4D97-AF65-F5344CB8AC3E}">
        <p14:creationId xmlns:p14="http://schemas.microsoft.com/office/powerpoint/2010/main" val="101073492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D113B3-5383-43CC-AE01-349C55C9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24E6E-AE47-43F9-8062-9AE12893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Important questions bank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165D3-0316-4022-A97B-387DE8D5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Provide two, five and ten-mark practice.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C4DF3D-E981-47F7-AACA-917EEF01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A25A32-4860-48E6-8463-E9CDFD95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43130-126E-469E-A296-A190CE41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677745-5419-40FF-B1B5-BC4568DF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7F6FE-83CE-4EED-84D5-3ECD9918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A8CD14-6F2E-46D0-9372-B7FFBE14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1. 2M: Define FD.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301822-458F-45B5-B6E1-B3BF00E6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2. 2M: Define 1NF.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B3BEE2-E720-4DBF-824B-655ECB14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3. 2M: Define 2NF.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B6B174-B3B3-43A8-A21F-2D82A276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4. 2M: Define 3NF.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AF183B-C26B-40AC-B0D4-31CA2200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5. 2M: Define BCNF.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2692C2-0300-4A55-99C3-B26ABE44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6. 5M: Explain anomalies.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2A1BA3-C931-46B5-AD09-AC1F4FF0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7. 5M: Explain NULL problems.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5C77CD-570A-45B3-AC15-AEF355C4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8. 5M: Explain SQL data types.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86C0E7-5E2D-4DBE-9B30-EABCDC21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859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9. 5M: Explain SQL constraints.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A118B6-E283-460C-90D6-ECF325F5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40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10. 5M: Explain basic SELECT query.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B172AB-1918-4554-9AE8-8319BC7D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622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11. 10M: Explain normalization up to 3NF.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CE2F64-3C0E-4E39-B4D1-32931E4E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0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12. 10M: Compare 3NF and BCNF.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2C894C-4394-46D8-A43D-F1B1DDE3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385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13. 10M: Explain SQL DDL and constraints.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334322-5BAF-4E97-AB77-D8CA4FAE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14. 10M: Explain SQL retrieval and updates.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538AB7-CDED-4E9A-8B66-1A45B65C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15. VTU previous question placeholders: fill from past papers.</a:t>
            </a:r>
          </a:p>
        </p:txBody>
      </p:sp>
    </p:spTree>
    <p:extLst>
      <p:ext uri="{BB962C8B-B14F-4D97-AF65-F5344CB8AC3E}">
        <p14:creationId xmlns:p14="http://schemas.microsoft.com/office/powerpoint/2010/main" val="210721263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61E52C-1941-4844-A35C-D725E3F5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746F7-C62C-43C5-B369-6A24BF3B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One-page revision sheet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7FA33-45B6-46B3-BFD1-AF9CB496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End with compact keywords.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001C7-E165-47F0-83F2-6278C53A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9D9BC-011B-41F4-A683-AEBDA6FD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22063-40F1-4620-BE40-A14C5F0C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95F31-7F85-4BCF-81A4-BB1334E3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298BA-6DA5-4E3B-8DCA-FAA2F455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82C41-8CD4-402D-844C-C9FA6546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107061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ACE124-5FF4-4B2C-B8E5-B038023B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118A49-900D-4711-BCEA-589BF5E1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Keywords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60746A-F0FF-4F4C-88CC-2F0729B2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0344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Normalization; clear semantics; redundancy; insertion anomaly; deletion anomaly; modification anomaly; NULL; spurious tuple; functional dependency; full FD; partial FD; transitive FD; trivial FD; superkey; candidate key; prime attribute; 1NF; 2NF; 3NF; BCNF; 4NF; 5NF; SQL; DDL; CREATE TABLE; data type; NOT NULL; DEFAULT; CHECK; PRIMARY KEY; FOREIGN KEY; SELECT; FROM; WHERE; alias; DISTINCT; ORDER BY; INSERT; DELETE; UPDATE.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274AB1-9860-4506-906A-33F56390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07061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1ED2D6-AAF3-455B-987D-D880DA62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2BA0D-92D0-4AA4-A461-BEC8E480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Exam answer pattern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14F827-6388-446C-955F-9006B0D2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1034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For Module 3 answers: show the bad relation, identify dependency/anomaly, decompose or state normal form, then show SQL syntax where relevant.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6F5D88-DE59-46FA-AFA5-95794CD0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10706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930488-48E6-45BD-B58C-AE3FCC8A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B9F809-943A-461B-A6ED-737FDA10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8160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Memory trick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93B3DE-136B-4175-943C-7DE31EBF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62600"/>
            <a:ext cx="1034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Definition -&gt; diagram -&gt; constraints/rules -&gt; example -&gt; common mistake. This sequence works for almost every DBMS long answer.</a:t>
            </a:r>
          </a:p>
        </p:txBody>
      </p:sp>
    </p:spTree>
    <p:extLst>
      <p:ext uri="{BB962C8B-B14F-4D97-AF65-F5344CB8AC3E}">
        <p14:creationId xmlns:p14="http://schemas.microsoft.com/office/powerpoint/2010/main" val="20821372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2026-08-07T09:24:03.8420000Z</dcterms:created>
  <dcterms:modified xsi:type="dcterms:W3CDTF">2026-08-07T09:24:03.8420000Z</dcterms:modified>
</coreProperties>
</file>