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f06122621c4e3f" /><Relationship Type="http://schemas.openxmlformats.org/officeDocument/2006/relationships/extended-properties" Target="/docProps/app.xml" Id="Rdfed9b8de603410f" /><Relationship Type="http://schemas.openxmlformats.org/officeDocument/2006/relationships/officeDocument" Target="/ppt/presentation.xml" Id="R23127d6f22d646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776c20b8604e84"/>
  </p:sldMasterIdLst>
  <p:notesMasterIdLst>
    <p:notesMasterId xmlns:r="http://schemas.openxmlformats.org/officeDocument/2006/relationships" r:id="Ra303546918d34bfb"/>
  </p:notesMasterIdLst>
  <p:sldIdLst>
    <p:sldId xmlns:r="http://schemas.openxmlformats.org/officeDocument/2006/relationships" id="256" r:id="R1e5edf139d0f4178"/>
    <p:sldId xmlns:r="http://schemas.openxmlformats.org/officeDocument/2006/relationships" id="257" r:id="Re4276790f9d64153"/>
    <p:sldId xmlns:r="http://schemas.openxmlformats.org/officeDocument/2006/relationships" id="258" r:id="R683d0e58a6a74db1"/>
    <p:sldId xmlns:r="http://schemas.openxmlformats.org/officeDocument/2006/relationships" id="259" r:id="R26cdf48fde864801"/>
    <p:sldId xmlns:r="http://schemas.openxmlformats.org/officeDocument/2006/relationships" id="260" r:id="Rf6ed7016446149d4"/>
    <p:sldId xmlns:r="http://schemas.openxmlformats.org/officeDocument/2006/relationships" id="261" r:id="R6d9d522b0cfd40fc"/>
    <p:sldId xmlns:r="http://schemas.openxmlformats.org/officeDocument/2006/relationships" id="262" r:id="Rd25e1cb847e144bf"/>
    <p:sldId xmlns:r="http://schemas.openxmlformats.org/officeDocument/2006/relationships" id="263" r:id="R83af5853007e4bfe"/>
    <p:sldId xmlns:r="http://schemas.openxmlformats.org/officeDocument/2006/relationships" id="264" r:id="R51b9e58e8d0a422e"/>
    <p:sldId xmlns:r="http://schemas.openxmlformats.org/officeDocument/2006/relationships" id="265" r:id="Rd9d49a5a81354127"/>
    <p:sldId xmlns:r="http://schemas.openxmlformats.org/officeDocument/2006/relationships" id="266" r:id="R3b71349463ec4d0b"/>
    <p:sldId xmlns:r="http://schemas.openxmlformats.org/officeDocument/2006/relationships" id="267" r:id="Ra8481e30ffef4916"/>
    <p:sldId xmlns:r="http://schemas.openxmlformats.org/officeDocument/2006/relationships" id="268" r:id="R1b8fee6934354bac"/>
    <p:sldId xmlns:r="http://schemas.openxmlformats.org/officeDocument/2006/relationships" id="269" r:id="R8112b76b06aa407c"/>
    <p:sldId xmlns:r="http://schemas.openxmlformats.org/officeDocument/2006/relationships" id="270" r:id="R3cc929616ac740c7"/>
    <p:sldId xmlns:r="http://schemas.openxmlformats.org/officeDocument/2006/relationships" id="271" r:id="Rfc7212ba9f6c44e3"/>
    <p:sldId xmlns:r="http://schemas.openxmlformats.org/officeDocument/2006/relationships" id="272" r:id="R6ff94369f2384d13"/>
    <p:sldId xmlns:r="http://schemas.openxmlformats.org/officeDocument/2006/relationships" id="273" r:id="R73b076a21d6a4a83"/>
    <p:sldId xmlns:r="http://schemas.openxmlformats.org/officeDocument/2006/relationships" id="274" r:id="Rd966d3a1230749c4"/>
    <p:sldId xmlns:r="http://schemas.openxmlformats.org/officeDocument/2006/relationships" id="275" r:id="R2fc2d5a52a7546fb"/>
    <p:sldId xmlns:r="http://schemas.openxmlformats.org/officeDocument/2006/relationships" id="276" r:id="R76c74778c50d4d68"/>
    <p:sldId xmlns:r="http://schemas.openxmlformats.org/officeDocument/2006/relationships" id="277" r:id="Reb41996a8f354fdb"/>
    <p:sldId xmlns:r="http://schemas.openxmlformats.org/officeDocument/2006/relationships" id="278" r:id="Reb9944d3b83648d8"/>
    <p:sldId xmlns:r="http://schemas.openxmlformats.org/officeDocument/2006/relationships" id="279" r:id="R7ccc465c056b4028"/>
    <p:sldId xmlns:r="http://schemas.openxmlformats.org/officeDocument/2006/relationships" id="280" r:id="R99a178f7d963479d"/>
    <p:sldId xmlns:r="http://schemas.openxmlformats.org/officeDocument/2006/relationships" id="281" r:id="R68e57db77d954a68"/>
    <p:sldId xmlns:r="http://schemas.openxmlformats.org/officeDocument/2006/relationships" id="282" r:id="Rfc990cd536b54116"/>
    <p:sldId xmlns:r="http://schemas.openxmlformats.org/officeDocument/2006/relationships" id="283" r:id="R413acdf4b860421b"/>
    <p:sldId xmlns:r="http://schemas.openxmlformats.org/officeDocument/2006/relationships" id="284" r:id="Ra410e98c642741ed"/>
    <p:sldId xmlns:r="http://schemas.openxmlformats.org/officeDocument/2006/relationships" id="285" r:id="Rabc54333e4ed4a91"/>
    <p:sldId xmlns:r="http://schemas.openxmlformats.org/officeDocument/2006/relationships" id="286" r:id="R0064165093bd463c"/>
    <p:sldId xmlns:r="http://schemas.openxmlformats.org/officeDocument/2006/relationships" id="287" r:id="R2a0ea2d2dc6841ad"/>
    <p:sldId xmlns:r="http://schemas.openxmlformats.org/officeDocument/2006/relationships" id="288" r:id="R07c044e6ca4e4c5e"/>
    <p:sldId xmlns:r="http://schemas.openxmlformats.org/officeDocument/2006/relationships" id="289" r:id="Ra73042858c72443a"/>
    <p:sldId xmlns:r="http://schemas.openxmlformats.org/officeDocument/2006/relationships" id="290" r:id="R99eaaca33b9549b3"/>
    <p:sldId xmlns:r="http://schemas.openxmlformats.org/officeDocument/2006/relationships" id="291" r:id="R1d8517062f994b24"/>
    <p:sldId xmlns:r="http://schemas.openxmlformats.org/officeDocument/2006/relationships" id="292" r:id="R348009cf5acb4bf8"/>
    <p:sldId xmlns:r="http://schemas.openxmlformats.org/officeDocument/2006/relationships" id="293" r:id="Ref37fc5629ff4fb1"/>
    <p:sldId xmlns:r="http://schemas.openxmlformats.org/officeDocument/2006/relationships" id="294" r:id="Rebfb34693a0e45be"/>
    <p:sldId xmlns:r="http://schemas.openxmlformats.org/officeDocument/2006/relationships" id="295" r:id="Race9d6b487524344"/>
    <p:sldId xmlns:r="http://schemas.openxmlformats.org/officeDocument/2006/relationships" id="296" r:id="Rf089e305315d4955"/>
    <p:sldId xmlns:r="http://schemas.openxmlformats.org/officeDocument/2006/relationships" id="297" r:id="R524bb8f9ea47404f"/>
    <p:sldId xmlns:r="http://schemas.openxmlformats.org/officeDocument/2006/relationships" id="298" r:id="R3db76adc122045de"/>
    <p:sldId xmlns:r="http://schemas.openxmlformats.org/officeDocument/2006/relationships" id="299" r:id="Re17a05945bc84c33"/>
    <p:sldId xmlns:r="http://schemas.openxmlformats.org/officeDocument/2006/relationships" id="300" r:id="R4e908bce85b14cdf"/>
    <p:sldId xmlns:r="http://schemas.openxmlformats.org/officeDocument/2006/relationships" id="301" r:id="R2e5c1718005f41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74eebc10c9440e" /><Relationship Type="http://schemas.openxmlformats.org/officeDocument/2006/relationships/slideMaster" Target="/ppt/slideMasters/slideMaster1.xml" Id="R69776c20b8604e84" /><Relationship Type="http://schemas.openxmlformats.org/officeDocument/2006/relationships/notesMaster" Target="/ppt/notesMasters/notesMaster1.xml" Id="Ra303546918d34bfb" /><Relationship Type="http://schemas.openxmlformats.org/officeDocument/2006/relationships/presProps" Target="/ppt/presProps.xml" Id="R492a897bbf424c2b" /><Relationship Type="http://schemas.openxmlformats.org/officeDocument/2006/relationships/tableStyles" Target="/ppt/tableStyles.xml" Id="Rc0a03833680c48f3" /><Relationship Type="http://schemas.openxmlformats.org/officeDocument/2006/relationships/slide" Target="/ppt/slides/slide1.xml" Id="R1e5edf139d0f4178" /><Relationship Type="http://schemas.openxmlformats.org/officeDocument/2006/relationships/slide" Target="/ppt/slides/slide2.xml" Id="Re4276790f9d64153" /><Relationship Type="http://schemas.openxmlformats.org/officeDocument/2006/relationships/slide" Target="/ppt/slides/slide3.xml" Id="R683d0e58a6a74db1" /><Relationship Type="http://schemas.openxmlformats.org/officeDocument/2006/relationships/slide" Target="/ppt/slides/slide4.xml" Id="R26cdf48fde864801" /><Relationship Type="http://schemas.openxmlformats.org/officeDocument/2006/relationships/slide" Target="/ppt/slides/slide5.xml" Id="Rf6ed7016446149d4" /><Relationship Type="http://schemas.openxmlformats.org/officeDocument/2006/relationships/slide" Target="/ppt/slides/slide6.xml" Id="R6d9d522b0cfd40fc" /><Relationship Type="http://schemas.openxmlformats.org/officeDocument/2006/relationships/slide" Target="/ppt/slides/slide7.xml" Id="Rd25e1cb847e144bf" /><Relationship Type="http://schemas.openxmlformats.org/officeDocument/2006/relationships/slide" Target="/ppt/slides/slide8.xml" Id="R83af5853007e4bfe" /><Relationship Type="http://schemas.openxmlformats.org/officeDocument/2006/relationships/slide" Target="/ppt/slides/slide9.xml" Id="R51b9e58e8d0a422e" /><Relationship Type="http://schemas.openxmlformats.org/officeDocument/2006/relationships/slide" Target="/ppt/slides/slide10.xml" Id="Rd9d49a5a81354127" /><Relationship Type="http://schemas.openxmlformats.org/officeDocument/2006/relationships/slide" Target="/ppt/slides/slide11.xml" Id="R3b71349463ec4d0b" /><Relationship Type="http://schemas.openxmlformats.org/officeDocument/2006/relationships/slide" Target="/ppt/slides/slide12.xml" Id="Ra8481e30ffef4916" /><Relationship Type="http://schemas.openxmlformats.org/officeDocument/2006/relationships/slide" Target="/ppt/slides/slide13.xml" Id="R1b8fee6934354bac" /><Relationship Type="http://schemas.openxmlformats.org/officeDocument/2006/relationships/slide" Target="/ppt/slides/slide14.xml" Id="R8112b76b06aa407c" /><Relationship Type="http://schemas.openxmlformats.org/officeDocument/2006/relationships/slide" Target="/ppt/slides/slide15.xml" Id="R3cc929616ac740c7" /><Relationship Type="http://schemas.openxmlformats.org/officeDocument/2006/relationships/slide" Target="/ppt/slides/slide16.xml" Id="Rfc7212ba9f6c44e3" /><Relationship Type="http://schemas.openxmlformats.org/officeDocument/2006/relationships/slide" Target="/ppt/slides/slide17.xml" Id="R6ff94369f2384d13" /><Relationship Type="http://schemas.openxmlformats.org/officeDocument/2006/relationships/slide" Target="/ppt/slides/slide18.xml" Id="R73b076a21d6a4a83" /><Relationship Type="http://schemas.openxmlformats.org/officeDocument/2006/relationships/slide" Target="/ppt/slides/slide19.xml" Id="Rd966d3a1230749c4" /><Relationship Type="http://schemas.openxmlformats.org/officeDocument/2006/relationships/slide" Target="/ppt/slides/slide20.xml" Id="R2fc2d5a52a7546fb" /><Relationship Type="http://schemas.openxmlformats.org/officeDocument/2006/relationships/slide" Target="/ppt/slides/slide21.xml" Id="R76c74778c50d4d68" /><Relationship Type="http://schemas.openxmlformats.org/officeDocument/2006/relationships/slide" Target="/ppt/slides/slide22.xml" Id="Reb41996a8f354fdb" /><Relationship Type="http://schemas.openxmlformats.org/officeDocument/2006/relationships/slide" Target="/ppt/slides/slide23.xml" Id="Reb9944d3b83648d8" /><Relationship Type="http://schemas.openxmlformats.org/officeDocument/2006/relationships/slide" Target="/ppt/slides/slide24.xml" Id="R7ccc465c056b4028" /><Relationship Type="http://schemas.openxmlformats.org/officeDocument/2006/relationships/slide" Target="/ppt/slides/slide25.xml" Id="R99a178f7d963479d" /><Relationship Type="http://schemas.openxmlformats.org/officeDocument/2006/relationships/slide" Target="/ppt/slides/slide26.xml" Id="R68e57db77d954a68" /><Relationship Type="http://schemas.openxmlformats.org/officeDocument/2006/relationships/slide" Target="/ppt/slides/slide27.xml" Id="Rfc990cd536b54116" /><Relationship Type="http://schemas.openxmlformats.org/officeDocument/2006/relationships/slide" Target="/ppt/slides/slide28.xml" Id="R413acdf4b860421b" /><Relationship Type="http://schemas.openxmlformats.org/officeDocument/2006/relationships/slide" Target="/ppt/slides/slide29.xml" Id="Ra410e98c642741ed" /><Relationship Type="http://schemas.openxmlformats.org/officeDocument/2006/relationships/slide" Target="/ppt/slides/slide30.xml" Id="Rabc54333e4ed4a91" /><Relationship Type="http://schemas.openxmlformats.org/officeDocument/2006/relationships/slide" Target="/ppt/slides/slide31.xml" Id="R0064165093bd463c" /><Relationship Type="http://schemas.openxmlformats.org/officeDocument/2006/relationships/slide" Target="/ppt/slides/slide32.xml" Id="R2a0ea2d2dc6841ad" /><Relationship Type="http://schemas.openxmlformats.org/officeDocument/2006/relationships/slide" Target="/ppt/slides/slide33.xml" Id="R07c044e6ca4e4c5e" /><Relationship Type="http://schemas.openxmlformats.org/officeDocument/2006/relationships/slide" Target="/ppt/slides/slide34.xml" Id="Ra73042858c72443a" /><Relationship Type="http://schemas.openxmlformats.org/officeDocument/2006/relationships/slide" Target="/ppt/slides/slide35.xml" Id="R99eaaca33b9549b3" /><Relationship Type="http://schemas.openxmlformats.org/officeDocument/2006/relationships/slide" Target="/ppt/slides/slide36.xml" Id="R1d8517062f994b24" /><Relationship Type="http://schemas.openxmlformats.org/officeDocument/2006/relationships/slide" Target="/ppt/slides/slide37.xml" Id="R348009cf5acb4bf8" /><Relationship Type="http://schemas.openxmlformats.org/officeDocument/2006/relationships/slide" Target="/ppt/slides/slide38.xml" Id="Ref37fc5629ff4fb1" /><Relationship Type="http://schemas.openxmlformats.org/officeDocument/2006/relationships/slide" Target="/ppt/slides/slide39.xml" Id="Rebfb34693a0e45be" /><Relationship Type="http://schemas.openxmlformats.org/officeDocument/2006/relationships/slide" Target="/ppt/slides/slide40.xml" Id="Race9d6b487524344" /><Relationship Type="http://schemas.openxmlformats.org/officeDocument/2006/relationships/slide" Target="/ppt/slides/slide41.xml" Id="Rf089e305315d4955" /><Relationship Type="http://schemas.openxmlformats.org/officeDocument/2006/relationships/slide" Target="/ppt/slides/slide42.xml" Id="R524bb8f9ea47404f" /><Relationship Type="http://schemas.openxmlformats.org/officeDocument/2006/relationships/slide" Target="/ppt/slides/slide43.xml" Id="R3db76adc122045de" /><Relationship Type="http://schemas.openxmlformats.org/officeDocument/2006/relationships/slide" Target="/ppt/slides/slide44.xml" Id="Re17a05945bc84c33" /><Relationship Type="http://schemas.openxmlformats.org/officeDocument/2006/relationships/slide" Target="/ppt/slides/slide45.xml" Id="R4e908bce85b14cdf" /><Relationship Type="http://schemas.openxmlformats.org/officeDocument/2006/relationships/slide" Target="/ppt/slides/slide46.xml" Id="R2e5c1718005f41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dbee70275d4a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591f69a11f4182" /><Relationship Type="http://schemas.openxmlformats.org/officeDocument/2006/relationships/notesMaster" Target="/ppt/notesMasters/notesMaster1.xml" Id="Rf446db84a8c343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ea60183c964916" /><Relationship Type="http://schemas.openxmlformats.org/officeDocument/2006/relationships/notesMaster" Target="/ppt/notesMasters/notesMaster1.xml" Id="Rda8e1064a56243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83690b56404a0e" /><Relationship Type="http://schemas.openxmlformats.org/officeDocument/2006/relationships/notesMaster" Target="/ppt/notesMasters/notesMaster1.xml" Id="R40852c1a665445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1c3eb053a248f5" /><Relationship Type="http://schemas.openxmlformats.org/officeDocument/2006/relationships/notesMaster" Target="/ppt/notesMasters/notesMaster1.xml" Id="Ra9561a6840de4f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3b602cf1a443f4" /><Relationship Type="http://schemas.openxmlformats.org/officeDocument/2006/relationships/notesMaster" Target="/ppt/notesMasters/notesMaster1.xml" Id="Rdac304c62bb24d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be494e5130428e" /><Relationship Type="http://schemas.openxmlformats.org/officeDocument/2006/relationships/notesMaster" Target="/ppt/notesMasters/notesMaster1.xml" Id="R73c0ef0d02d349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1575ac50664c3c" /><Relationship Type="http://schemas.openxmlformats.org/officeDocument/2006/relationships/notesMaster" Target="/ppt/notesMasters/notesMaster1.xml" Id="R01d9bc72c1f844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631ec88ea24061" /><Relationship Type="http://schemas.openxmlformats.org/officeDocument/2006/relationships/notesMaster" Target="/ppt/notesMasters/notesMaster1.xml" Id="R3eaf9471dd4c4d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5d689a23004b01" /><Relationship Type="http://schemas.openxmlformats.org/officeDocument/2006/relationships/notesMaster" Target="/ppt/notesMasters/notesMaster1.xml" Id="R0408c1ca954948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b25310d42c4907" /><Relationship Type="http://schemas.openxmlformats.org/officeDocument/2006/relationships/notesMaster" Target="/ppt/notesMasters/notesMaster1.xml" Id="R8188992b325848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3db29014484c45" /><Relationship Type="http://schemas.openxmlformats.org/officeDocument/2006/relationships/notesMaster" Target="/ppt/notesMasters/notesMaster1.xml" Id="R23ebccad39584c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3304fb4f8a445a" /><Relationship Type="http://schemas.openxmlformats.org/officeDocument/2006/relationships/notesMaster" Target="/ppt/notesMasters/notesMaster1.xml" Id="R6ca1c62f599542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eecfe83d594983" /><Relationship Type="http://schemas.openxmlformats.org/officeDocument/2006/relationships/notesMaster" Target="/ppt/notesMasters/notesMaster1.xml" Id="R8f4fb73813054e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71bc0f50e14da5" /><Relationship Type="http://schemas.openxmlformats.org/officeDocument/2006/relationships/notesMaster" Target="/ppt/notesMasters/notesMaster1.xml" Id="R1200573c4c9f4a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6d04416fc94f2e" /><Relationship Type="http://schemas.openxmlformats.org/officeDocument/2006/relationships/notesMaster" Target="/ppt/notesMasters/notesMaster1.xml" Id="R7028c035bec743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7dbb8bb81540a5" /><Relationship Type="http://schemas.openxmlformats.org/officeDocument/2006/relationships/notesMaster" Target="/ppt/notesMasters/notesMaster1.xml" Id="R45f8057f5d014e9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5d7e9290c28466e" /><Relationship Type="http://schemas.openxmlformats.org/officeDocument/2006/relationships/notesMaster" Target="/ppt/notesMasters/notesMaster1.xml" Id="Rc44292bdab7e42b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eedf1efe1134988" /><Relationship Type="http://schemas.openxmlformats.org/officeDocument/2006/relationships/notesMaster" Target="/ppt/notesMasters/notesMaster1.xml" Id="R3d7418c019354b5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b560cf462114641" /><Relationship Type="http://schemas.openxmlformats.org/officeDocument/2006/relationships/notesMaster" Target="/ppt/notesMasters/notesMaster1.xml" Id="R30ed7087a02d474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292012089ec481d" /><Relationship Type="http://schemas.openxmlformats.org/officeDocument/2006/relationships/notesMaster" Target="/ppt/notesMasters/notesMaster1.xml" Id="Ra99b0d39f181427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fe0cddf6a7a4e2e" /><Relationship Type="http://schemas.openxmlformats.org/officeDocument/2006/relationships/notesMaster" Target="/ppt/notesMasters/notesMaster1.xml" Id="Rc93e31885d564da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15fb58290dc4b5e" /><Relationship Type="http://schemas.openxmlformats.org/officeDocument/2006/relationships/notesMaster" Target="/ppt/notesMasters/notesMaster1.xml" Id="Rd4e7f0b0905e4cb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105e57da62e42a2" /><Relationship Type="http://schemas.openxmlformats.org/officeDocument/2006/relationships/notesMaster" Target="/ppt/notesMasters/notesMaster1.xml" Id="R969de172de7440c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9d6f78ba2374376" /><Relationship Type="http://schemas.openxmlformats.org/officeDocument/2006/relationships/notesMaster" Target="/ppt/notesMasters/notesMaster1.xml" Id="R65b14a8bf0ae451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43329c1722c4215" /><Relationship Type="http://schemas.openxmlformats.org/officeDocument/2006/relationships/notesMaster" Target="/ppt/notesMasters/notesMaster1.xml" Id="R1f7329e4969845e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4c8f3e7d3cb486f" /><Relationship Type="http://schemas.openxmlformats.org/officeDocument/2006/relationships/notesMaster" Target="/ppt/notesMasters/notesMaster1.xml" Id="R3d4dc9dc181b4fd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b2664c221d74f1a" /><Relationship Type="http://schemas.openxmlformats.org/officeDocument/2006/relationships/notesMaster" Target="/ppt/notesMasters/notesMaster1.xml" Id="Rd2ca7be3259e45d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7d507c8c1634188" /><Relationship Type="http://schemas.openxmlformats.org/officeDocument/2006/relationships/notesMaster" Target="/ppt/notesMasters/notesMaster1.xml" Id="Rb398082739f146d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a5c6720a8d64c30" /><Relationship Type="http://schemas.openxmlformats.org/officeDocument/2006/relationships/notesMaster" Target="/ppt/notesMasters/notesMaster1.xml" Id="Rdf1c81938d9a442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5393588300f4b06" /><Relationship Type="http://schemas.openxmlformats.org/officeDocument/2006/relationships/notesMaster" Target="/ppt/notesMasters/notesMaster1.xml" Id="R98a4dba6bd25451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97a824a2ef3439b" /><Relationship Type="http://schemas.openxmlformats.org/officeDocument/2006/relationships/notesMaster" Target="/ppt/notesMasters/notesMaster1.xml" Id="R61cc94c41aeb459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745505e7c374e8a" /><Relationship Type="http://schemas.openxmlformats.org/officeDocument/2006/relationships/notesMaster" Target="/ppt/notesMasters/notesMaster1.xml" Id="R743739a3d80f4c9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0981b2802824a36" /><Relationship Type="http://schemas.openxmlformats.org/officeDocument/2006/relationships/notesMaster" Target="/ppt/notesMasters/notesMaster1.xml" Id="R1954ba81cd45407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f7dd89d785d47a8" /><Relationship Type="http://schemas.openxmlformats.org/officeDocument/2006/relationships/notesMaster" Target="/ppt/notesMasters/notesMaster1.xml" Id="R27efe4f89f38461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017d0e3c9c54b84" /><Relationship Type="http://schemas.openxmlformats.org/officeDocument/2006/relationships/notesMaster" Target="/ppt/notesMasters/notesMaster1.xml" Id="Rb07a21f5d6fb415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e53089c861b4b46" /><Relationship Type="http://schemas.openxmlformats.org/officeDocument/2006/relationships/notesMaster" Target="/ppt/notesMasters/notesMaster1.xml" Id="Rbceb24325bf14b2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d712a8d7fb346b4" /><Relationship Type="http://schemas.openxmlformats.org/officeDocument/2006/relationships/notesMaster" Target="/ppt/notesMasters/notesMaster1.xml" Id="R3d208c615b774fb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a47e97747b4480c" /><Relationship Type="http://schemas.openxmlformats.org/officeDocument/2006/relationships/notesMaster" Target="/ppt/notesMasters/notesMaster1.xml" Id="R7a874e27742f43a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9a0decd253940b9" /><Relationship Type="http://schemas.openxmlformats.org/officeDocument/2006/relationships/notesMaster" Target="/ppt/notesMasters/notesMaster1.xml" Id="R52a987365e2949d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9526ac669304acf" /><Relationship Type="http://schemas.openxmlformats.org/officeDocument/2006/relationships/notesMaster" Target="/ppt/notesMasters/notesMaster1.xml" Id="R8f0a705bf0a047b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f8eff0ed6af4388" /><Relationship Type="http://schemas.openxmlformats.org/officeDocument/2006/relationships/notesMaster" Target="/ppt/notesMasters/notesMaster1.xml" Id="Re2e41e9b5d5e49d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efa2849d9c94f77" /><Relationship Type="http://schemas.openxmlformats.org/officeDocument/2006/relationships/notesMaster" Target="/ppt/notesMasters/notesMaster1.xml" Id="Raa733b1161cb4cc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9571391f4974a7d" /><Relationship Type="http://schemas.openxmlformats.org/officeDocument/2006/relationships/notesMaster" Target="/ppt/notesMasters/notesMaster1.xml" Id="R396687527d9745a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172186b2a7e4adc" /><Relationship Type="http://schemas.openxmlformats.org/officeDocument/2006/relationships/notesMaster" Target="/ppt/notesMasters/notesMaster1.xml" Id="R25b2f5aa94b9414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4edd9f177064fd7" /><Relationship Type="http://schemas.openxmlformats.org/officeDocument/2006/relationships/notesMaster" Target="/ppt/notesMasters/notesMaster1.xml" Id="R1857b5e7c82e4a4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2201408c53c44ee" /><Relationship Type="http://schemas.openxmlformats.org/officeDocument/2006/relationships/notesMaster" Target="/ppt/notesMasters/notesMaster1.xml" Id="R45d057d8a00b46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by saying Module 1 designed concepts; Module 2 turns them into relational tables and operations.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Preview the journey from table structure to algebra to mapping.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relational model is simple for users and formal for DBMS.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STUDENT(USN, Name, Dept, CGPA).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to identify each part in a student table.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relational database state as current relation instances.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why SQL tables can appear ordered but relational theory does not depend on it.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notation earns clarity in algebra answers.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marks out of 100 and existing department references.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schema-based constraints are the main Module 2 focus.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Examples: salary numeric, gender code, date format.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Stress minimality: removing any attribute breaks a key.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EMPLOYEE.Dno referencing DEPARTMENT.Dnumber.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FK as the bridge between tables.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DBMS guards every database state.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inserting employee with nonexistent department number.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deleting a department referenced by employees.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updating a PK resembles deleting old key and inserting new key.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Emphasize closure: every result can feed another operation.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to condition as row filter.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why projection can remove duplicates.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rename helps self-joins and query trees.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queries are built by stacking algebra operators.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employee names and dependent names if domains match.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Stress compatibility before applying set operations.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Warn that product without conditions can explode.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join as product plus selection, often followed by projection.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Warn natural join can surprise if names are accidental.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employees without departments or departments without employees.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students who took all required courses.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division and intersection can be derived from core operations.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aggregates to SQL GROUP BY later.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these extend the core algebra for practical cases.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mapping preserves meaning and constraints from ER design.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EMPLOYEE as example.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DEPENDENT with employee SSN.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department-manager relationship.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department has many employees.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WORKS_ON with Hours attribute.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department locations.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ternary relationships cannot always be decomposed safely.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final overview.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Module 2 rewards notation and examples.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these as viva prompts.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slide as the study list.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Close with rapid keyword revision.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 2 notes.pdf, Module 2 notes: Relational Model; Relational Constraints; Update Operations; Relational Algebra; ER-to-Relational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f7818d43c447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584588e3a54f76" /><Relationship Type="http://schemas.openxmlformats.org/officeDocument/2006/relationships/slideLayout" Target="/ppt/slideLayouts/slideLayout1.xml" Id="R58c9cd45b6f64c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c9cd45b6f64c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b4dcfed604d56" /><Relationship Type="http://schemas.openxmlformats.org/officeDocument/2006/relationships/notesSlide" Target="/ppt/notesSlides/notesSlide1.xml" Id="R14bd9b95ba414c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829122e904d6b" /><Relationship Type="http://schemas.openxmlformats.org/officeDocument/2006/relationships/notesSlide" Target="/ppt/notesSlides/notesSlide2.xml" Id="R7c9e7eaf7b8044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0b50117164708" /><Relationship Type="http://schemas.openxmlformats.org/officeDocument/2006/relationships/notesSlide" Target="/ppt/notesSlides/notesSlide3.xml" Id="Rdb6c54b0a6e24c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926226f3c49d9" /><Relationship Type="http://schemas.openxmlformats.org/officeDocument/2006/relationships/notesSlide" Target="/ppt/notesSlides/notesSlide4.xml" Id="Rcfccfc5abcea46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e5cdc63b24cef" /><Relationship Type="http://schemas.openxmlformats.org/officeDocument/2006/relationships/notesSlide" Target="/ppt/notesSlides/notesSlide5.xml" Id="Rdd3592e8b56041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91809650d46da" /><Relationship Type="http://schemas.openxmlformats.org/officeDocument/2006/relationships/notesSlide" Target="/ppt/notesSlides/notesSlide6.xml" Id="Rf64527a4a24f4b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1a297db22467e" /><Relationship Type="http://schemas.openxmlformats.org/officeDocument/2006/relationships/notesSlide" Target="/ppt/notesSlides/notesSlide7.xml" Id="Rbd88c88a873742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7f4968b474b99" /><Relationship Type="http://schemas.openxmlformats.org/officeDocument/2006/relationships/notesSlide" Target="/ppt/notesSlides/notesSlide8.xml" Id="R7f8871c121474c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83e9c24dd41bd" /><Relationship Type="http://schemas.openxmlformats.org/officeDocument/2006/relationships/notesSlide" Target="/ppt/notesSlides/notesSlide9.xml" Id="R71c1782971124c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913996edb48db" /><Relationship Type="http://schemas.openxmlformats.org/officeDocument/2006/relationships/notesSlide" Target="/ppt/notesSlides/notesSlide10.xml" Id="Rfcd80e2d9ef748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dc393fa954fac" /><Relationship Type="http://schemas.openxmlformats.org/officeDocument/2006/relationships/notesSlide" Target="/ppt/notesSlides/notesSlide11.xml" Id="R12c624ddd7a646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f8404b7854596" /><Relationship Type="http://schemas.openxmlformats.org/officeDocument/2006/relationships/notesSlide" Target="/ppt/notesSlides/notesSlide12.xml" Id="R137081a7b1c740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92e8a619e477c" /><Relationship Type="http://schemas.openxmlformats.org/officeDocument/2006/relationships/notesSlide" Target="/ppt/notesSlides/notesSlide13.xml" Id="Rec687153a59c48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57381813f4c3b" /><Relationship Type="http://schemas.openxmlformats.org/officeDocument/2006/relationships/notesSlide" Target="/ppt/notesSlides/notesSlide14.xml" Id="R03327e8321fb4d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4b226d9b34845" /><Relationship Type="http://schemas.openxmlformats.org/officeDocument/2006/relationships/notesSlide" Target="/ppt/notesSlides/notesSlide15.xml" Id="Rc200e9fa963a4e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6ff9a5e1d4e06" /><Relationship Type="http://schemas.openxmlformats.org/officeDocument/2006/relationships/notesSlide" Target="/ppt/notesSlides/notesSlide16.xml" Id="R64acb8e255eb4ba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a3746556c4691" /><Relationship Type="http://schemas.openxmlformats.org/officeDocument/2006/relationships/notesSlide" Target="/ppt/notesSlides/notesSlide17.xml" Id="R3b8e50e5e5f24b3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e46d839bd4640" /><Relationship Type="http://schemas.openxmlformats.org/officeDocument/2006/relationships/notesSlide" Target="/ppt/notesSlides/notesSlide18.xml" Id="R55f0887e1fab494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62068266549a5" /><Relationship Type="http://schemas.openxmlformats.org/officeDocument/2006/relationships/notesSlide" Target="/ppt/notesSlides/notesSlide19.xml" Id="Rf67bb9894675443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214a24d174d5e" /><Relationship Type="http://schemas.openxmlformats.org/officeDocument/2006/relationships/notesSlide" Target="/ppt/notesSlides/notesSlide20.xml" Id="R6e4c165aa9af4ed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2a689e84246c3" /><Relationship Type="http://schemas.openxmlformats.org/officeDocument/2006/relationships/notesSlide" Target="/ppt/notesSlides/notesSlide21.xml" Id="R1c91a7d9396b438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525ff73f445e2" /><Relationship Type="http://schemas.openxmlformats.org/officeDocument/2006/relationships/notesSlide" Target="/ppt/notesSlides/notesSlide22.xml" Id="Rea1e8bdfc71541d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93c323e3842c2" /><Relationship Type="http://schemas.openxmlformats.org/officeDocument/2006/relationships/notesSlide" Target="/ppt/notesSlides/notesSlide23.xml" Id="R8c5169b4e7274f1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fd43ebbb84090" /><Relationship Type="http://schemas.openxmlformats.org/officeDocument/2006/relationships/notesSlide" Target="/ppt/notesSlides/notesSlide24.xml" Id="R8e0ce160e4954f7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b28f75bc0447b" /><Relationship Type="http://schemas.openxmlformats.org/officeDocument/2006/relationships/notesSlide" Target="/ppt/notesSlides/notesSlide25.xml" Id="R388a3d1690c3472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9046dd2e142bb" /><Relationship Type="http://schemas.openxmlformats.org/officeDocument/2006/relationships/notesSlide" Target="/ppt/notesSlides/notesSlide26.xml" Id="R9c251052ea0d45f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dd96306ed4ca5" /><Relationship Type="http://schemas.openxmlformats.org/officeDocument/2006/relationships/notesSlide" Target="/ppt/notesSlides/notesSlide27.xml" Id="Rc8a908af6a464f6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afcbad9e04284" /><Relationship Type="http://schemas.openxmlformats.org/officeDocument/2006/relationships/notesSlide" Target="/ppt/notesSlides/notesSlide28.xml" Id="Rb8ad2df671d44ae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bedaf684e459b" /><Relationship Type="http://schemas.openxmlformats.org/officeDocument/2006/relationships/notesSlide" Target="/ppt/notesSlides/notesSlide29.xml" Id="R53eb02fd12be406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1f48b596f4c45" /><Relationship Type="http://schemas.openxmlformats.org/officeDocument/2006/relationships/notesSlide" Target="/ppt/notesSlides/notesSlide30.xml" Id="Rd68c96f8b7184ba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713cb18464063" /><Relationship Type="http://schemas.openxmlformats.org/officeDocument/2006/relationships/notesSlide" Target="/ppt/notesSlides/notesSlide31.xml" Id="R37e7196ebb574b9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9e8bbd9584038" /><Relationship Type="http://schemas.openxmlformats.org/officeDocument/2006/relationships/notesSlide" Target="/ppt/notesSlides/notesSlide32.xml" Id="Rf0e5b02134ac486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3cfae82c044a6" /><Relationship Type="http://schemas.openxmlformats.org/officeDocument/2006/relationships/notesSlide" Target="/ppt/notesSlides/notesSlide33.xml" Id="R32bfacab5b7445a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ba6c83e4042f3" /><Relationship Type="http://schemas.openxmlformats.org/officeDocument/2006/relationships/notesSlide" Target="/ppt/notesSlides/notesSlide34.xml" Id="Rcdf090357328413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17136c6264c96" /><Relationship Type="http://schemas.openxmlformats.org/officeDocument/2006/relationships/notesSlide" Target="/ppt/notesSlides/notesSlide35.xml" Id="R26ea75bf4f6243d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8de3fa1ef4181" /><Relationship Type="http://schemas.openxmlformats.org/officeDocument/2006/relationships/notesSlide" Target="/ppt/notesSlides/notesSlide36.xml" Id="R133a20254e79471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e08edf78e482a" /><Relationship Type="http://schemas.openxmlformats.org/officeDocument/2006/relationships/notesSlide" Target="/ppt/notesSlides/notesSlide37.xml" Id="R31385046d279455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be99d30e248a4" /><Relationship Type="http://schemas.openxmlformats.org/officeDocument/2006/relationships/notesSlide" Target="/ppt/notesSlides/notesSlide38.xml" Id="Re8cba106166d41d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d0145f9dd4bd2" /><Relationship Type="http://schemas.openxmlformats.org/officeDocument/2006/relationships/notesSlide" Target="/ppt/notesSlides/notesSlide39.xml" Id="Rc81f96b82ab446f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5de8181af475a" /><Relationship Type="http://schemas.openxmlformats.org/officeDocument/2006/relationships/notesSlide" Target="/ppt/notesSlides/notesSlide40.xml" Id="R6c78b3aa48c6494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c055ccf4249a3" /><Relationship Type="http://schemas.openxmlformats.org/officeDocument/2006/relationships/notesSlide" Target="/ppt/notesSlides/notesSlide41.xml" Id="R84288c62890f4cb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0aa16257248ff" /><Relationship Type="http://schemas.openxmlformats.org/officeDocument/2006/relationships/notesSlide" Target="/ppt/notesSlides/notesSlide42.xml" Id="Rba2ae0bfc3f8466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b9e1aec164c4b" /><Relationship Type="http://schemas.openxmlformats.org/officeDocument/2006/relationships/notesSlide" Target="/ppt/notesSlides/notesSlide43.xml" Id="R8c4c15e2da934d0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8efb1f85140c0" /><Relationship Type="http://schemas.openxmlformats.org/officeDocument/2006/relationships/notesSlide" Target="/ppt/notesSlides/notesSlide44.xml" Id="Rdde3f5f1f6aa4a6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40e819e8a4a91" /><Relationship Type="http://schemas.openxmlformats.org/officeDocument/2006/relationships/notesSlide" Target="/ppt/notesSlides/notesSlide45.xml" Id="R285ff98577f6425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4f0d51a294ac4" /><Relationship Type="http://schemas.openxmlformats.org/officeDocument/2006/relationships/notesSlide" Target="/ppt/notesSlides/notesSlide46.xml" Id="Rb4205620a2904d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26A64-A1A8-40FA-B302-13B6CA51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BC18B-EED8-4689-BDE9-1D103808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Relational Model and Algebra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8815F-6FB9-4E96-9AEF-A08C57C2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Module 2 turns ER ideas into relations and query operations.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1A536-1DFD-462D-A090-683918FD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8666D-5642-42AB-B015-AC3F3043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FCB1F-94A1-4CBB-BD40-43A19522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DE362-DFAF-4FC0-88DE-1011E929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7D9B9-3ACA-4845-B94D-4C9FB3EB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5DFAE-E18F-4D55-A0FF-F7BFD84F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6096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8FBFF"/>
                </a:solidFill>
              </a:defRPr>
            </a:pPr>
            <a:r>
              <a:rPr sz="4350" b="1">
                <a:solidFill>
                  <a:srgbClr val="F8FBFF"/>
                </a:solidFill>
              </a:rPr>
              <a:t>DBMS</a:t>
            </a:r>
          </a:p>
          <a:p xmlns:a="http://schemas.openxmlformats.org/drawingml/2006/main">
            <a:pPr>
              <a:defRPr sz="4350" b="1">
                <a:solidFill>
                  <a:srgbClr val="F8FBFF"/>
                </a:solidFill>
              </a:defRPr>
            </a:pPr>
            <a:r>
              <a:rPr sz="4350" b="1">
                <a:solidFill>
                  <a:srgbClr val="F8FBFF"/>
                </a:solidFill>
              </a:rPr>
              <a:t>Module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172E3-86C2-4F3F-8EA5-33BE8DB3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7D9"/>
                </a:solidFill>
              </a:defRPr>
            </a:pPr>
            <a:r>
              <a:rPr sz="1725">
                <a:solidFill>
                  <a:srgbClr val="B8C7D9"/>
                </a:solidFill>
              </a:rPr>
              <a:t>Relational concepts • Constraints • Updates • Algebra • ER mapping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80850-937F-4C25-B9DF-8CA7BF10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763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19050">
            <a:solidFill>
              <a:srgbClr val="2C6C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4BD16-6955-4DEA-9DB9-908FCD65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58726-A43B-4F0C-99B0-F9D810D4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7111F"/>
                </a:solidFill>
              </a:defRPr>
            </a:pPr>
            <a:r>
              <a:rPr sz="2400" b="1">
                <a:solidFill>
                  <a:srgbClr val="07111F"/>
                </a:solidFill>
              </a:rPr>
              <a:t>TABLE</a:t>
            </a:r>
          </a:p>
          <a:p xmlns:a="http://schemas.openxmlformats.org/drawingml/2006/main">
            <a:pPr algn="ctr">
              <a:defRPr sz="2400" b="1">
                <a:solidFill>
                  <a:srgbClr val="07111F"/>
                </a:solidFill>
              </a:defRPr>
            </a:pPr>
            <a:r>
              <a:rPr sz="2400" b="1">
                <a:solidFill>
                  <a:srgbClr val="07111F"/>
                </a:solidFill>
              </a:rPr>
              <a:t>KEY</a:t>
            </a:r>
          </a:p>
          <a:p xmlns:a="http://schemas.openxmlformats.org/drawingml/2006/main">
            <a:pPr algn="ctr">
              <a:defRPr sz="2400" b="1">
                <a:solidFill>
                  <a:srgbClr val="07111F"/>
                </a:solidFill>
              </a:defRPr>
            </a:pPr>
            <a:r>
              <a:rPr sz="2400" b="1">
                <a:solidFill>
                  <a:srgbClr val="07111F"/>
                </a:solidFill>
              </a:rPr>
              <a:t>JOIN</a:t>
            </a:r>
          </a:p>
        </p:txBody>
      </p:sp>
    </p:spTree>
    <p:extLst>
      <p:ext uri="{BB962C8B-B14F-4D97-AF65-F5344CB8AC3E}">
        <p14:creationId xmlns:p14="http://schemas.microsoft.com/office/powerpoint/2010/main" val="10853420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C0FCC0-B747-4C65-B0B2-C611635C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251F4-D370-4447-830D-8F0AB1A6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2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722E3-AA8A-46C7-873B-133E1827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the supplied notes as the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29128-1AA0-44D7-9F2A-3F6C8645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DB05A-C31A-4CAA-AB10-232CD07A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B3B9F-ECCF-4A1E-B2C6-46A7F602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BDF3F-7807-451F-B54C-B43391B7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CA0CF-58E0-45AA-AF3F-8BA46DCD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28AF0-6061-4D6C-A70E-E73173A2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ED158-5BF2-4CFE-9433-D9463054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AAE3E-6A7C-4B6C-BBA9-87D75CB0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domains, attributes, tuples, relations and relation schemas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8D118-61FC-4F62-A0B4-78CA3A88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82910-F21A-4527-AB17-8C73D4B3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44AAD-61E5-4D08-B0C2-CCD7DB60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relation characteristics and relational notation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B0E17-B719-4B57-88A9-CA57D4D2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31F2C-3CB5-4F7C-A1D8-7B86A35D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3EA80-2C63-41BD-94A8-64F2A5D9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domain, key, NULL, entity and referential integrity constraints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F37B3D-5351-48B4-8405-E0B70974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CD062D-BF32-4CAD-8CAD-3BF7BF9A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D87ED-3913-452A-B169-65CDA781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insert, delete, update and transaction constraint violations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10FB89-C386-4260-B6B6-FB6D2A46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8C40C1-F3EB-4C61-BA66-08C30AD0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F05E66-3EF9-4063-9227-5E8C271B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select, project, rename, set operations, product, join and division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968A83-8666-4CF5-8DB6-4769CC7B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D9FF5C-694A-4C8A-B128-05CDF0AC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3F2120-842F-4DC8-A7DC-5A5CCE19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767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Map ER designs into relational schemas</a:t>
            </a:r>
          </a:p>
        </p:txBody>
      </p:sp>
    </p:spTree>
    <p:extLst>
      <p:ext uri="{BB962C8B-B14F-4D97-AF65-F5344CB8AC3E}">
        <p14:creationId xmlns:p14="http://schemas.microsoft.com/office/powerpoint/2010/main" val="1084544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73E63-77D8-436B-A749-417522AE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1EDEA-9FB5-4DFA-A831-889129DE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tables became the dominant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A5FB8-4F84-46D6-9CFE-3F4746F2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Motivate the relational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466C7-C216-4EB7-B397-E88C61CE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0439C-FE50-4985-A290-26659EAE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8F749-78A1-4AD9-9207-961F7993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51FA2-0FE9-4016-B7D1-5F941C0F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Relational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1C356-9625-4CAC-B598-D73CBFE8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AF473-3B93-482F-A104-5BD0C491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4F1F1-038D-420A-99CA-F688138D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Real-world 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3B313-115F-41E6-B4B6-B3BBE001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8D6A8-2ADD-4471-94D9-3166D358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DCA17-9E75-437E-B82B-B78FDCF4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Relations as tables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6F795-9B2B-4AE9-9590-6A2EC8D7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FD762-645E-460D-BEE4-915C004C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14C62-D490-4BD8-89F3-E61DEBF4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Keys identify rows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283656-7D14-49F7-BC88-A81EAFA7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69FF3-712A-421C-8474-6D0035E4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7DD1FB-037E-401D-A4E8-9903646A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Constraints protect meaning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A8904-08A0-4725-AE79-8CC1A3D2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EBBE12-E817-4ED1-8034-C5472B08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81E030-D19B-42E2-8CAF-F9128CE3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Algebra queries data</a:t>
            </a:r>
          </a:p>
        </p:txBody>
      </p:sp>
    </p:spTree>
    <p:extLst>
      <p:ext uri="{BB962C8B-B14F-4D97-AF65-F5344CB8AC3E}">
        <p14:creationId xmlns:p14="http://schemas.microsoft.com/office/powerpoint/2010/main" val="5633731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922652-9DD4-411E-8EF4-1E860C85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F432A-767D-4DE5-832E-C46B64D9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Relation basics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501A2-C23E-4F4A-B511-02F767EC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the main vocabulary.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52822-8B95-4EC3-A417-A647D129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FAC3F-26CE-43E4-BBD7-AA076877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7C281-077C-4B30-88FA-9E1EA39D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835ED-0FD5-4886-9F1B-01BC91F1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Relational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77502-2B5E-46D1-838B-206120CF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BA84E-5588-421C-9C0E-70381C55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46295-83D5-40F0-8259-EE63C4CB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relation is a table-like set of tuples where each column is an attribute defined over a domain.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11185-76D7-42AD-88EF-6C24E3E5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366BF-899A-45D3-A90F-40CF5AAC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Domain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1AAEC-5F2F-483C-92B9-91BC828E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F7A9B6-4074-4D48-814D-F33135A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8E169-C70A-4AE8-9F87-D27FFC77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Attribute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D67FD-02A3-4241-8D02-120EB046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5BD5A-F418-49B3-84AD-51F78B67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2DF1B5-B807-44F2-8F2F-1C498ECA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Tuple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3B8C66-9752-4B8D-8FBD-8DB4744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59B351-D85F-4667-9380-3FA4E907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FEBF5-8789-4B79-B333-A5E3330F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96A8A8-F50B-40A1-83A5-70B5FC4D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8A5283-F199-46BB-814B-38BFBEFF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5FFCDA-B146-4054-959D-3488B42F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Schema</a:t>
            </a:r>
          </a:p>
        </p:txBody>
      </p:sp>
    </p:spTree>
    <p:extLst>
      <p:ext uri="{BB962C8B-B14F-4D97-AF65-F5344CB8AC3E}">
        <p14:creationId xmlns:p14="http://schemas.microsoft.com/office/powerpoint/2010/main" val="15694864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2B1147-29E5-46BE-B844-939D72CC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85186-2874-4802-A79D-D2653CDE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Domain, attribute, tuple and relation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56FE6-D3AA-443B-B6BA-013849A2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Separate the four core ideas.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0B4AF-6CCD-4136-AB20-EDC35A3E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EA63E-D0EA-4965-8927-CE6156AA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26B6A-80A3-4E21-A226-5DF39F6E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53ED1-CA20-4374-87DC-9C05A544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Relational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96FCB-5E64-402C-B1C7-29328544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A8B9A-E79D-4392-9849-FC1D1DD0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5D373-42ED-4BF6-84E1-A295575D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BFD47-08CA-4786-ABF3-C86B1D72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Domain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09FEA-4D64-473A-AFA8-40B1DF95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Allowed set of atomic values for an attribute.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19D4F-9522-4030-8B19-5EB1F9F9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D9962-22F1-493F-BD7D-92967F49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5DA16-590F-4638-8F97-E58F44A5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Attribute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7D54F-3193-4CED-9FAC-B5BAD7D5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Column name with meaning and domain.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7105C-34AB-4954-915C-E3F0C1EE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E7D99-F3BF-437D-99D4-AD6C4820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6C5CF1-8687-4342-8CAA-05794141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Tuple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6E8A13-4D0C-4E07-B9F4-E1D95C46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One row containing related values.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7F8C16-D11D-403A-84B1-3141DCAC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E7D867-274B-4EEB-AFEC-F8CAECDB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655BF8-1A28-40ED-8D1A-1C5E3150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826EFA-61C1-497D-888C-2480A125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Set of tuples under one schema.</a:t>
            </a:r>
          </a:p>
        </p:txBody>
      </p:sp>
    </p:spTree>
    <p:extLst>
      <p:ext uri="{BB962C8B-B14F-4D97-AF65-F5344CB8AC3E}">
        <p14:creationId xmlns:p14="http://schemas.microsoft.com/office/powerpoint/2010/main" val="3953412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DCF781-C018-47E8-97FE-68F3901E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059D6-03FE-46A1-9A74-ACC49283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Relation schema and database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C90BF-3333-4CF3-8C8B-0AF90EED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relation-level and database-level schemas.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14276-9CA5-4535-9736-2B1E5D77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4EBE1-0531-4DA9-9ECC-60DB3A32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C60C2-08E4-4038-B37C-FEE24AF4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21F13-2AC3-4592-9AD6-7079AB54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Relational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3EDA1-099F-46CC-BE96-C503BA17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467E3-8703-47F7-BFCA-D8D0885C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E8433-CE80-4265-A757-1E7F5C33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125F5-F281-44DB-AB92-A6C9BC7D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Relation 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5ABE2-EA49-40AB-8956-61936EF8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2F610-C966-4864-B0DE-F7D801A2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3F7EC-88BB-4B78-A563-FD64A222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5D26C-E2D8-4843-9B48-0F1B67E1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Database schema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D842E-689B-4CC9-8D1B-6AC57ACE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4AA310-E9E4-4292-8493-EDE56C8A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D0A778-11EC-4610-9FA1-2C9E744A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D19E0D-721C-4AD7-BCE4-9BB91B69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Name of relation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6EF66B-BBB0-47AC-9E96-DCC4067B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7F933-BCD5-42A7-B863-2D7D1F07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BC544-5725-45B6-A5E1-7CB09CC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List of attributes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0863B9-EA70-41C6-AD0F-B6BF0CC5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B86558-F604-439B-A754-03EA39E3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EE457B-02BE-4AF5-9931-BB316B76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Domains and constraints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450FCB-DB1C-471B-9DC1-1FC8E76D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3EF40B-D87C-4867-B560-1376DDCC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3B2F74-3A01-4422-88B7-868C65C8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Example: STUDENT(...)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DD3097-993D-4373-AAC5-3A8CFE1A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1344AC-21D6-4797-9A86-F9CDC889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28B1BF-71EC-4E26-B87F-FE1D6C2A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Collection of relation schemas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CEB98E-A534-49DB-BBF6-2E998C8C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04742E-B233-484D-ADE5-E5227209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B39885-03D2-4A02-BAC7-6050F13B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Includes constraints across relations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49261D-FBF8-4EEF-80C5-4C49CD5C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2EEEAE-612C-4E85-9F20-5E6AD6F8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5C8A6D-C058-4D36-9C6F-2D50290F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Represents full database design</a:t>
            </a:r>
          </a:p>
        </p:txBody>
      </p:sp>
    </p:spTree>
    <p:extLst>
      <p:ext uri="{BB962C8B-B14F-4D97-AF65-F5344CB8AC3E}">
        <p14:creationId xmlns:p14="http://schemas.microsoft.com/office/powerpoint/2010/main" val="3485651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6FFADD-A64B-455A-A1BA-7ACC33BA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2E9F5-BDBD-4E38-BFBE-A50F6445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Characteristics of relations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01F11-12C8-4F6B-B73B-DE0F91A5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table properties.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32BA6-FFE0-4E1E-AF36-E56E03DE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1F0CE-738A-4801-BD9D-DAE0E457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0A296-A2AE-4080-BA9F-E4C2C518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72777-4B7E-4890-B56B-86D8FC5E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Relational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9679D-2F92-491C-BD20-62B8811B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1F7DF-4F59-4C10-BCA2-C13AA3D6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B1A59-1D1F-482F-8DFE-13EDA8A9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56B3A-0C74-4426-AF31-B8846D7F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Ordering of tuples has no meaning in a relation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46418-340F-400C-BD2A-8FB45EDC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358AF-1F69-4648-8ECB-2C7A0780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0BD7D-A2F7-4F91-9038-766C9AFE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Ordering of values follows attribute order in a tuple notation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381548-CE51-4EE3-83A4-115AF1A0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AAE288-1CC9-4EE5-8195-1B9303BA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A6CB97-D64E-4E91-8DC2-3168D123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Tuple values are atomic and may include NULL where allowed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131A17-3021-452B-A12E-318B93B3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779331-C07D-4A6B-9C86-C261EF1E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A3FB61-6E36-4BCF-A949-DE1215E0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Each relation has an intended meaning or 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086432-220C-4F05-BF99-687E292B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EDC670-B088-4D36-801B-F08ADE42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E8FD33-6046-4DAA-9E6D-568E9DF8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Duplicate tuples are not part of the pure relational model</a:t>
            </a:r>
          </a:p>
        </p:txBody>
      </p:sp>
    </p:spTree>
    <p:extLst>
      <p:ext uri="{BB962C8B-B14F-4D97-AF65-F5344CB8AC3E}">
        <p14:creationId xmlns:p14="http://schemas.microsoft.com/office/powerpoint/2010/main" val="16655625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4498F8-4FE2-463E-89BB-02B964AF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D07E2-3D21-4034-B60A-C8B3853A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Relational model notation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B9675-65C9-48DB-A1CF-BEF09F03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notation used in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35AB7-E361-467B-94A2-12EDC6AB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47CC9-AA7A-4F55-BEAF-ECAAF0D6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BA598-9BEF-4B55-B90E-94AD5B6C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B2579-8B43-4949-A344-C11C567D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Notation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7DB80-F2FE-45B8-B15C-9B8E1EAD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37888-1138-4796-BEF1-0B1F0A84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76D6E-2FA4-4E37-9D6C-0B62D2E7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5AA7E-3C1D-4957-8559-31154291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R(A1, A2, ... An)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B1FC8-BF4B-4EE5-BB70-FD74023C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Relation schema R with attributes.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69FD8-D42C-4326-881F-994D24E3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D6472-3935-4E11-A9EE-B57FC64B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F00CA-6577-4694-9A9D-C8EEADEB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r(R)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59BD9-F8C5-44F3-A148-37D4B7F2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Current relation state or instance.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8B8F0A-1A96-42A3-9567-733C5D3C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0B322B-44F0-4950-9F5F-4F8E011E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9277E7-34AD-4184-B28D-8268780F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t[Ai]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28AE3-A40B-4144-A4F7-08AE2345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Value of attribute Ai in tuple 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976674-7E6D-42D0-92AB-76924DF0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2920E3-DBC9-42AA-8F30-9F0E36DC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1C298-D3BC-4FEF-AEDA-5AF007EB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Q, S, 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040215-8FA6-4CAD-943B-D738FB4D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Common symbols for relation schemas or states.</a:t>
            </a:r>
          </a:p>
        </p:txBody>
      </p:sp>
    </p:spTree>
    <p:extLst>
      <p:ext uri="{BB962C8B-B14F-4D97-AF65-F5344CB8AC3E}">
        <p14:creationId xmlns:p14="http://schemas.microsoft.com/office/powerpoint/2010/main" val="19116523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FD2E67-D869-4D06-8900-43987DFA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FEA03-969A-4C76-AE07-9B00EE6D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Relational constraints protect meaning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4C330-57BE-4BC2-A0B8-C1D8035B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Classify constraint types.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A6DA5-B62C-4123-A6E7-DD6BA1CD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04C4F-1BD7-418A-B9B2-0ECEF6E4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1E404-CEBB-4130-93C7-7337B76E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9F00B-07FB-4EE3-A009-5B221815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Constraints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97DF8-BFFD-468B-8D95-89EAFD3A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1D48B-59B4-4678-A992-B233A035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Constraint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232B5-1EA1-478F-9D2A-6EC5445F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constraint is a rule that restricts allowed database states so stored data remains valid and meaningful.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300C3-E331-49F5-9627-0D19FE11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7448C-AB78-491F-BCF9-3FD10A2B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Implicit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FC901-3E2C-4580-AA05-2FBB89ED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0448C-04AE-49BA-82E1-1460EC6E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C7C5C-CD4B-4695-99FB-7996D514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Schema-based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E04ED6-4347-43C2-8064-D7CD21CA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8EBC6-5106-4635-ABE9-B683FDFD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9AF157-ADFD-4EA6-B905-3705DADC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Application-based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CCC317-F732-4D29-B703-DDFF9B73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CB538-34E0-4A53-9D18-9A92333C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44220F-A722-4B5A-8D54-E40789BF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Integrity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1231D5-0D5F-4566-A1B3-363D30F8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722CBF-A33E-408C-AAC0-69EBD496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262546-DE26-42BD-B7A7-B005E6C6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Validity</a:t>
            </a:r>
          </a:p>
        </p:txBody>
      </p:sp>
    </p:spTree>
    <p:extLst>
      <p:ext uri="{BB962C8B-B14F-4D97-AF65-F5344CB8AC3E}">
        <p14:creationId xmlns:p14="http://schemas.microsoft.com/office/powerpoint/2010/main" val="17664563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432674-DABB-4FC9-8A61-38E86E6D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B1852-38B6-452E-96B9-6B323C4B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Constraint categories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08041-FBD9-4720-8419-2F8249B2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three categories from notes.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58FA6-4A69-401B-A517-16F42973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B614E-E3EB-469A-819C-A2856E72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F9986-66F4-49A6-9F74-5DBA3EA4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D5B0E-7F48-4FBB-8741-B211860B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Constraints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6567E-6588-465E-9645-8BE82110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02F58-D535-4ECA-B723-D10444C0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866A2-8BAB-4B17-B494-3DA69A54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8EB1E-A925-42AE-BF54-6F110205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812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Inherent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80935-CDA2-401A-B092-003DE6BA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62225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Built into the data model, such as relation tuple uniqueness.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2292B-C732-4653-A638-8F297589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E86F0-0D38-40C2-868D-5C11DBD0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A619D-4113-42BB-BA1A-C21DFF5C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812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Schema-based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4AC19E-E73B-4256-8180-028AECF0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62225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Expressed directly in schemas: domains, keys, NULLs and foreign keys.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F1383-970D-456D-AEAA-0DB0BC55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B83055-7695-408D-B2F2-C6150096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0CD2C-2F52-442F-ACD3-AA86B941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812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Application-based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108310-67DD-492A-A9A1-7F334850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62225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Business rules that may need programs, assertions or triggers.</a:t>
            </a:r>
          </a:p>
        </p:txBody>
      </p:sp>
    </p:spTree>
    <p:extLst>
      <p:ext uri="{BB962C8B-B14F-4D97-AF65-F5344CB8AC3E}">
        <p14:creationId xmlns:p14="http://schemas.microsoft.com/office/powerpoint/2010/main" val="10258023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4F00B7-73D6-4104-97B8-94FF14E3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5CF6E-1CA7-4D30-BD1B-1CC85BE5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Domain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268E7-1A9B-4071-BCD0-7FE36734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allowed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0B42E-31E5-43F4-9D1C-540E2C16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A42FA-C999-4390-9624-1AFE540C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977FF-6121-499F-B063-1235D552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785A9-2DA3-445D-ADC0-6960A2B9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Constraints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95813-01BE-4C16-805B-77E42E5C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E6E37-D325-471E-A3E5-D3955B06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Domain constraint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46009-A8A6-4EA3-8B29-82D117CC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Each attribute value must be atomic and drawn from the domain specified for that attribute.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C8B18-5BFB-471B-9453-2133BC1A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3A4E8-6D2C-4F10-9618-13E80108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Atomic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F832E-676E-4AB0-8170-B7F3E65A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A4FB8-AC07-4FF0-92BB-E4CBB663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F43FC-C557-4D14-937F-7B71B4B7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3BB78-25C1-476B-B045-3991B797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4999DD-5F78-415C-A2B7-5ADE09EC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F943D-914E-43D4-82EA-4BF1EBDD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83ECB6-8DE9-45ED-BFAE-7DDA8CB1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F42C91-F14C-4F1F-9A63-7BCB61FF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D95DC6-2C80-4AFE-9A10-2D4D6924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Format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B8123F-E97B-43D8-B33B-A3F68AF4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830CE6-4F35-4880-985F-23A85649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D06968-CC3B-40D5-A74E-2C912B83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Validity</a:t>
            </a:r>
          </a:p>
        </p:txBody>
      </p:sp>
    </p:spTree>
    <p:extLst>
      <p:ext uri="{BB962C8B-B14F-4D97-AF65-F5344CB8AC3E}">
        <p14:creationId xmlns:p14="http://schemas.microsoft.com/office/powerpoint/2010/main" val="19412547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EB5643-279F-4600-B15F-27CFADA0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FE249-53E9-4F51-9CE7-5F22EC51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Keys and NULL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A7DFE-2D32-46B0-B4B6-4B72CF04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superkey, key and primary key.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78554-D084-4B8F-876D-9849722C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CA2AB-7F23-44CF-9D05-D663A897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E2C6E-34B1-43AE-9FEF-FF7E8FC7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4A30B-5E20-499D-95EE-67855DB3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Constraints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AB46C-490C-4661-9F5D-4DB22615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285C9-086E-4A53-811A-34E2D226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20CCD-4AC8-4081-AF29-FF23006D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B5BFA-9A26-484D-AF41-FAF0DB31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Superkey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1AAE1-ABEC-4496-9BA7-EC31CCF4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 set of attributes that uniquely identifies tuples.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20A3B-910D-4011-BF00-B7C7C28B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00686-D595-46BB-B5BB-C1EE63F9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11297-6C32-461A-8C87-A73B5262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Key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25F98-7E56-4341-A8F9-BAE2F1CD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 minimal superkey.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4A9AA-5E6D-401E-8853-D92FA0D1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79655-810E-4829-B0DF-E400E195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3EF00-6683-4F42-B77F-C04A0A2E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Candidate key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383FC4-248F-431D-8D9E-977FA0EB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Any key that can be selected as primary.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F5714C-5814-490F-9406-C8A8E412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34E5A4-D807-4B2E-BA15-C91AD6B8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9EB0AF-9FC7-4579-A078-6656C57B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Primary key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AAA792-A0BD-4F68-81BD-12252691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Chosen key; cannot contain NULL values.</a:t>
            </a:r>
          </a:p>
        </p:txBody>
      </p:sp>
    </p:spTree>
    <p:extLst>
      <p:ext uri="{BB962C8B-B14F-4D97-AF65-F5344CB8AC3E}">
        <p14:creationId xmlns:p14="http://schemas.microsoft.com/office/powerpoint/2010/main" val="12337364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18408F-7E29-4F80-9FE9-AA374B89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6D6EA-25B0-459D-88E6-8FB57376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Entity and referential integrity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CA187-2AF9-4E07-AD92-DDB88B79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the two central relational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DA386-3DD7-465D-AD29-F88AA616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6C48E-7F06-4AD9-8306-E4CA5EFE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566A7-7527-40D5-A53A-5BC4F95E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8A01E-56E1-4A4D-BB7B-C37CED5F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Constraints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D1073-5BC1-4785-AAC6-62976766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C828E-5C9C-4F8A-8BD1-627E80FC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55A86-AC0E-4558-B5D2-3132A559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8E8EE-ECFC-48FC-AB13-FE66B221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Entity integrity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42DC8-0CAD-4B43-A884-2D4023F4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DA006-751F-452F-B1A7-69D8E25D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51B3A-46D8-4283-A594-588FC61D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1651D-25DF-4757-8B60-8928FDC0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Referential integrity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F27E9D-52ED-4633-97DB-B83472D8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4F6AE-A6A3-42AD-98F8-9E2996C4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9E83E-39C6-44EF-A82B-52EA5DB4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6E742-7805-40E2-87E7-BE468B60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Primary key cannot be NULL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D0D91C-8F78-4EC4-B262-F7CD5307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B65E47-E93D-4E9A-9E9D-443F55DD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466972-E709-49E8-B507-52316BE2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Every tuple must be identifiable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81F4B6-25D8-41E7-AC34-F1ED3E33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213299-73AB-4552-93A9-5B5DCE20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2546FF-D8DE-4992-9C63-46B09514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Applies within one relation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2B0E93-E9EB-4D42-B43D-9D361E02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53B922-CFBA-4F5F-928C-64590F50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DC2126-65DF-4CB4-8D1E-E17BE9F2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Foreign key must match referenced primary key or be NULL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3FEA0A-61E4-43B3-81F3-140A155E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EE9BAF-F882-45FC-B195-19353F78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202902-68A6-4F24-9DF6-7FCFE578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Connects relations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F56204-E9FF-4705-98D3-AB0A12D3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E93AB1-23FC-45A9-B5B4-D530CA15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40563A-4FCA-4067-B6A6-8F865527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Prevents dangling references</a:t>
            </a:r>
          </a:p>
        </p:txBody>
      </p:sp>
    </p:spTree>
    <p:extLst>
      <p:ext uri="{BB962C8B-B14F-4D97-AF65-F5344CB8AC3E}">
        <p14:creationId xmlns:p14="http://schemas.microsoft.com/office/powerpoint/2010/main" val="15699150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61421B-563A-4192-A9C4-9A4F7ED7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BB101-A4CB-42DE-A7B1-0FF17C7D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Foreign key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8F01B-3AA8-4CFE-B440-DFCEC01F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FK requirements.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58B2F-83E3-4E07-9499-6CD211D9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B3AC3-23C3-46D5-BFF1-AD712960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433C0-134C-409A-99E8-538DA48A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DD036-C936-4231-A13A-3F466698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Constraints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381EE-22BF-41AD-89DA-E531E2B7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B4980-88D9-420F-861A-87F95E1D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13D3F-7947-423D-B2A7-C2A3A3CB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09939-EF6F-426A-B67D-CE0D8E44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Foreign key attributes have same domains as referenced primary key attributes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1F44D-64C1-46CC-8B71-CE5E48FA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34A5E-5759-484C-99D2-6798B530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7E106-F972-421F-AD5C-9F288237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Each non-NULL foreign key value must exist in referenced relation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2678F-BA95-42FD-A4BD-BADD1978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510CF-2218-4E50-81C4-0F7ABC52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8ECA2C-9374-4A1A-BB35-04AF8234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Foreign key may be NULL only if relationship is optional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A3162C-E8C2-4A1C-9EE7-E01C65D9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4B64F6-9C31-464D-84C8-921D8381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73D74A-50D9-4449-8CE3-7A77527A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Referential actions handle update or delete of referenced tuples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545F45-9430-43F0-9DC0-5CD146C7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CB7AFF-D85A-4E4A-8A18-706A2F9B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B07E2D-E046-4B8E-9D42-CFE8EB20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Foreign keys implement relationships from ER design</a:t>
            </a:r>
          </a:p>
        </p:txBody>
      </p:sp>
    </p:spTree>
    <p:extLst>
      <p:ext uri="{BB962C8B-B14F-4D97-AF65-F5344CB8AC3E}">
        <p14:creationId xmlns:p14="http://schemas.microsoft.com/office/powerpoint/2010/main" val="21407554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580775-35E2-469D-B7D0-04599023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71971-7701-49FA-A42D-D4F5F97B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Update operations can violate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329F3-F6A9-43D5-85DD-7F1EF12E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insert, delete and update problems.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F1CED-CAC1-43C1-8357-17C39015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6B208-B9E2-4FD0-8F85-4AAECC00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0019B-6ACC-456B-80AC-23E9EF89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793CF-6461-4EB2-8BFB-076D3A63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Updates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8D5C6-0C00-4A8E-B79E-8EF881DF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AB937-299D-4A6D-AB75-155CD52F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F5025-92ED-48B1-88F8-290B0E30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User submits operation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525BE-1293-4DA7-88E9-F7BA71CC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DD7FA2-6A6A-420E-A823-B75680CE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7360B3-FDD2-4341-A963-86DDDBB4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DBMS checks constraints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1E225-A3E1-473C-B376-4A01B70A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546F5-C78F-4416-BDC0-DBF12C4B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60769-1BD1-459E-8A9F-52274B32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Violation found?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8DE6C-832B-432C-B232-BACFC28E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ECCEAD-E4C8-4BD7-BBE8-1F683276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C696D7-5BEC-42DC-85B7-47860857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Reject or cascade 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0E82C1-E56F-4FB5-BEB6-7147EE55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3D969C-4D2D-47B2-872F-1AF7518B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845DFE-65D9-4673-8013-7D601358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Commit valid state</a:t>
            </a:r>
          </a:p>
        </p:txBody>
      </p:sp>
    </p:spTree>
    <p:extLst>
      <p:ext uri="{BB962C8B-B14F-4D97-AF65-F5344CB8AC3E}">
        <p14:creationId xmlns:p14="http://schemas.microsoft.com/office/powerpoint/2010/main" val="17943507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A8E2BE-4130-487D-9EF9-CAB1F40A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A23C7-377C-4FE9-A2FE-76C6B494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Insert operation violations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CE63D-51D3-4CD8-964C-72A4D829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four violation types.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2FB29-BA30-4EE4-99E2-E4D6F57F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9EAE4-5B3E-4C41-803B-929CDF73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5C56B-F2A6-4147-84D2-A501E6B6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3A135-504C-4E6B-8C60-73FBCF5C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Updates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9A699-F119-4C8B-88AD-C8B72573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6F01A-7847-41D5-8041-46FC3FEB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20B53-4192-47E6-BB2F-D628C986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16A5A-9536-49AD-B8A4-001468A4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Domain violation: value outside allowed domain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7D9EF-E22A-49ED-B6B0-D0B26ECA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BE7FD7-2467-45EE-A8D7-CC1EC157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CEEBC-1855-4CB5-A66C-65AAA26B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Key violation: duplicate key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0DF54-CA88-41CB-B7BA-99591F72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E9029-02B0-4199-8F22-6270426F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B53A44-EDB4-4D2D-85B8-4948D3E8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Entity integrity violation: primary key is NULL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9A8429-9405-40C2-B8E2-CB9D0294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44CF72-BA1F-4592-BAFF-DC25C43B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1FCF24-4904-4F3B-8A45-60479AC9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Referential integrity violation: foreign key references missing tuple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0661B7-2756-4983-B142-3E0B53CB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24240-DEDA-44E4-BE98-1EF22D92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B2F8CA-5C09-4C7B-8B36-0CE860E4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DBMS rejects or requires correction before insertion</a:t>
            </a:r>
          </a:p>
        </p:txBody>
      </p:sp>
    </p:spTree>
    <p:extLst>
      <p:ext uri="{BB962C8B-B14F-4D97-AF65-F5344CB8AC3E}">
        <p14:creationId xmlns:p14="http://schemas.microsoft.com/office/powerpoint/2010/main" val="16516298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75391C-0A99-4C71-8367-AFF57110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F3BF5-82BB-4492-9C1D-AF5A5D20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Delete operation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DC768-D49D-4EEC-8037-5EF3BAA1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referential 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7C594-7F0D-47C4-90A5-BB81010E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84D76-1032-4AEA-ACB2-EF7FEA68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8141E-692A-41A3-981D-6192DFB4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5BEE0-351E-429F-B8F1-87F44904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Updates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EC318-CCC9-4989-88C5-85C04468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0B17D-62EB-4C1C-8326-3A92E198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32D4D-4DBF-4CC1-B0EF-9AC3186D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0E6A7-AEC1-4F14-A603-2CA84380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Restrict / reject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1FA83-63F3-4991-B828-F281A709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Do not delete if other tuples reference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BF2DB-F9C9-443D-B7FF-637940B3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FA9427-3238-4CAF-BF98-6CD6AE64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E1287-2F81-4DC8-AF94-B07FBA00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Cascade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0C522-8BD9-4F2E-9080-11A77300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Delete referencing tuples automatically.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E17F4-7AEA-4B57-8BA1-4CDE2B1D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250F2-32F9-4D82-84E8-629834B0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E21B03-1BBD-4B87-84D9-F4E9F15B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Set NULL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D51F8A-5A28-478A-AD15-F64115D0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Set referencing foreign key to NULL if allowed.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23E4C-E0AB-4B26-A27B-67D7DDAC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9A94F3-6DC3-4794-910E-52CE6D2A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16E3D-541A-461C-AC87-8340C7AE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Set default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13EFA6-1EA3-4B9C-AEC8-A5DA06DE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Replace foreign key with default value if defined.</a:t>
            </a:r>
          </a:p>
        </p:txBody>
      </p:sp>
    </p:spTree>
    <p:extLst>
      <p:ext uri="{BB962C8B-B14F-4D97-AF65-F5344CB8AC3E}">
        <p14:creationId xmlns:p14="http://schemas.microsoft.com/office/powerpoint/2010/main" val="18807162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572F1A-D442-45C0-BB4E-B23AED79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EBBE2-D3CF-4402-B8EE-B0324597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Update operation violations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24243-6388-475F-9C9A-4ED81982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modify risks.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052A3-C2B8-42FA-9896-13505EA5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92357-3CCE-4648-9D5C-8D848472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548AE-9AD3-4093-ADBB-4B14E78D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6D00A-52A9-4ABE-8785-69EE8B08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Updates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34E22-B1E4-4820-8271-A9B1C39E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EB3B3-212B-4CF9-A117-88CB7943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0E3BB-648F-4491-873A-14013097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B046B-E6C7-49E2-A514-B027F8D7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Non-key attribute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7FD7B-DDAD-4BAC-956E-3444BE28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Usually safe if domain constraints hold.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ABBD0-A052-4068-AD0C-D2A8E16D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9EF0A-0A54-4E0C-B4C4-BB249904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CC8B9-94B5-48DB-86D4-4CF931B8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Primary key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F1578-8A56-44E5-B1E9-04175A6A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May break entity and referential integrity.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7B9D99-DC83-4DB8-B38E-AB2D693D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6FE34-423D-4AC1-98F4-113F00B4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A92A3-66A2-4C87-AEC6-6D5A5549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Foreign key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8F4E9-475F-491D-822C-5F606DD8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Must still reference an existing tuple or be allowed NULL.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AC808F-0837-487F-88FD-AA54FDEE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C393A-8703-4E6A-AC50-4F5B2DEE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D26F4-DB7A-41F5-A79C-65C2A517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Transaction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0A5B39-1C2B-47FB-960E-8BBED765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Groups operations and should leave database consistent.</a:t>
            </a:r>
          </a:p>
        </p:txBody>
      </p:sp>
    </p:spTree>
    <p:extLst>
      <p:ext uri="{BB962C8B-B14F-4D97-AF65-F5344CB8AC3E}">
        <p14:creationId xmlns:p14="http://schemas.microsoft.com/office/powerpoint/2010/main" val="8804145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E205FA-A271-4BEA-AF7D-CBB677FB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F27D7-9800-471B-95FD-67D5EEF6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Relational algebra is a query language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531EA-29E2-421B-A34C-B1EFCC8D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Motivate algebra before operators.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B6D5B-CE29-45B1-974E-0F2D2528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DFC72-7295-4F03-B533-6CF60F08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9469E-0F75-40F1-BC6A-6C4BA748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2529B-1021-4509-A2B7-B074C0A3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Algebra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1C21A-0CFD-4795-B2EB-A2D556B7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7FE5F-0051-43D7-84C1-BB47731F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Relational algebra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68CEB-4A2D-415B-B282-0148B18C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Relational algebra is a formal set of operations that takes relations as input and produces relations as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4BEB4-AF1D-4C31-A809-2B8A7B72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82115-9B60-458C-B4A9-9B016339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Input relation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A15B9-9DAA-48A3-ABFC-01608AD9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BA86B-1B46-4E61-8404-21BF386A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C263B-7125-4919-8B1B-2C4DF5ED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Operator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0CB00B-0767-4C79-AB06-2736E281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221DC1-E040-42E3-974A-064F8623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A3789-4B80-4029-B0E6-F52EB166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Output relation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D5A48F-6AF7-4BAF-BE0E-6953727D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9ABD6-AC62-439E-85C2-D128B8D3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1AD68B-B120-45AC-9649-8060C84E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Closure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5821DD-AED4-4D8F-A224-BAD6943C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E54427-D00D-4E75-A2A1-49ECA496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810D8B-F7DD-4A0F-9B6B-97F27997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Query tree</a:t>
            </a:r>
          </a:p>
        </p:txBody>
      </p:sp>
    </p:spTree>
    <p:extLst>
      <p:ext uri="{BB962C8B-B14F-4D97-AF65-F5344CB8AC3E}">
        <p14:creationId xmlns:p14="http://schemas.microsoft.com/office/powerpoint/2010/main" val="30521847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BB75F-24FA-4831-B0A7-665E26D7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E6DE6-B667-4FF0-A61C-480E91EB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SELECT filters 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8F596-6B38-4948-9B1D-9EEAA115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selection.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46052-CCED-495A-8435-6710A934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F5354-5279-4A07-AD1B-4DD04965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089AD-C471-4CC8-BFEC-EEF50B4A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8E35F-077E-4375-AFC0-22F77092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Algebra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B0B7C-31A2-4609-89F7-099A9128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84BA6-F731-4F13-90B7-9B567CFA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6953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96E97-6F2F-4829-A14E-8BAC0F92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64293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σ Dno=5 (EMPLOYEE)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Meaning: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Choose EMPLOYEE tuples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where department number is 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CE1F0-CDFF-4A24-8389-68A64BB8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801F4-1F06-4EE6-8B46-D8996367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E5459-95A3-46B6-AD4A-A42BD582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7A0EE-7BFC-4DAE-9821-70957B38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90850"/>
            <a:ext cx="2495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pattern by identifying input relation, condition, projected attributes, constraints, and result relation.</a:t>
            </a:r>
          </a:p>
        </p:txBody>
      </p:sp>
    </p:spTree>
    <p:extLst>
      <p:ext uri="{BB962C8B-B14F-4D97-AF65-F5344CB8AC3E}">
        <p14:creationId xmlns:p14="http://schemas.microsoft.com/office/powerpoint/2010/main" val="16641027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173B9-6A1A-42ED-8013-764232C1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50BD2-0D32-4223-BE9C-069DBE23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PROJECT chooses columns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7C1DB-15E3-45D0-9758-3A068B9B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projection.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9A31C-8C8E-4F74-8E14-519516D2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0D2FE-02E0-4B13-8E2A-378535ED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33C18-F44B-402C-9678-AE207DD8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20A79-0A4A-4AE8-A067-EA8B179E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Algebra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D8304-648B-462D-86FA-57099812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1476C-E267-40CA-B62F-77B31D78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6953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24A57-189A-4C23-AB8B-E41D091F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64293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π Lname, Fname, Salary (EMPLOYEE)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Meaning: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Return only selected attributes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and remove duplicate tuples.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375A4-E315-4F68-A974-83173878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729E9-23CB-42C0-B976-2FBCF190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CC067-CB7F-40FB-B9A7-E4C2D10B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Projection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69864-891B-484D-9D0D-AC912A75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90850"/>
            <a:ext cx="2495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pattern by identifying input relation, condition, projected attributes, constraints, and result relation.</a:t>
            </a:r>
          </a:p>
        </p:txBody>
      </p:sp>
    </p:spTree>
    <p:extLst>
      <p:ext uri="{BB962C8B-B14F-4D97-AF65-F5344CB8AC3E}">
        <p14:creationId xmlns:p14="http://schemas.microsoft.com/office/powerpoint/2010/main" val="112277514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59D01-B35F-4A4D-A9EA-31FDD71A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E445D-130B-4EB5-982B-89735088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RENAME labels intermediate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0C0D4-781E-41D0-B8F4-EDE420DF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rename operator.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4AE40-C683-4974-8F62-B50DB44E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3FA00-034C-4978-95FD-36E0E87E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E2454-F7F6-40FA-B4C7-8BDB7503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E2B01-9A8C-48AE-B745-0A0DEAD9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Algebra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4CF4A-4E8C-4E86-BE14-45BE6ABF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C55E3-8A0A-40CD-B7E2-B3EFBC4E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6953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06F66-655B-4FAB-BF8E-789AC469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64293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ρ WORKER(Fname, Lname, Salary)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(π Fname, Lname, Salary (EMPLOYEE))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Use rename when result names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must be clearer or reused.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4B419-7314-4950-9E7E-144ADB9D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36C23-A95E-4C9E-8C57-B9AA4324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393468-388B-48D5-B5AE-FFE10724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Rename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67398-DC5C-4B52-8F84-35574CB7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90850"/>
            <a:ext cx="2495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pattern by identifying input relation, condition, projected attributes, constraints, and result relation.</a:t>
            </a:r>
          </a:p>
        </p:txBody>
      </p:sp>
    </p:spTree>
    <p:extLst>
      <p:ext uri="{BB962C8B-B14F-4D97-AF65-F5344CB8AC3E}">
        <p14:creationId xmlns:p14="http://schemas.microsoft.com/office/powerpoint/2010/main" val="34821105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6BEEBE-7CDD-48E1-A7D7-86D5BCD1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9C149-0E2A-449E-9BF8-824FAF62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Sequences become query trees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23B01-8DD3-4F98-A20F-94479F9D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composition of operations.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89844-5718-482E-8353-E9FC9621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C75A0-45C1-411F-AC10-02F3F433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0ABBC-C606-454A-A3EC-3687DA79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552B3-B2AE-4B1C-A24D-4FDCF1B7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Algebra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5B1B1-0B83-4E39-97C6-1D926D7C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3C283-4B99-4973-B749-85D80F10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B2323-25B3-49BE-9FCB-39DAA7B5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Input relations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43ED0-001C-44B2-AE15-F1CC61A2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DF720-5D96-446B-A1D5-CA1D7E1B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1FE2D-C87E-498B-8E25-00EBC9F6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Apply 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C8BFA-DD9F-4DF8-8939-FF407288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5ECF5-46E7-42A4-A462-2ED8CD73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B7C99-BD8E-4039-A112-41A67029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Apply JOIN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D820C1-27C4-4602-9CC1-9CB23C2D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8670E7-DD93-48DB-BFE4-FC2214FE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413EFF-1FB8-4BC8-BB18-D876BE05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Apply PROJECT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FBC940-977D-4E3D-832A-8BA304CC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3B280-8E74-4D73-A894-0AED4BDC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85606A-4EBA-42A1-A200-766A595E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Output relation</a:t>
            </a:r>
          </a:p>
        </p:txBody>
      </p:sp>
    </p:spTree>
    <p:extLst>
      <p:ext uri="{BB962C8B-B14F-4D97-AF65-F5344CB8AC3E}">
        <p14:creationId xmlns:p14="http://schemas.microsoft.com/office/powerpoint/2010/main" val="8107621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C3B5CF-F515-4FDE-ADA2-50891888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54255-6099-4C9C-93AF-F9E390BA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Set operations require compatible relations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122D4-5190-406F-B5E9-D5A33F0C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union compatibility.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40084-A733-4C37-80C6-2EDF7EBC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FBBFC-0E12-40F4-BEB2-50779D47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47B1F-3CAF-4070-9391-282F8445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954C8-6A3A-4384-88C4-461BF4A2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Set 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DC353-9B29-4DA6-9191-10672E84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5BD95-4728-44BB-BE16-167244D4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Union compatibility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BFB01-4633-42F4-8875-C72972CA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Two relations are union compatible when they have the same number of attributes and corresponding attributes have compatible domains.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7BC8E-DA43-4C64-803F-B7B7FCBB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681EA-9305-427E-BAA1-BC631DDB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Same degree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F6388-D3E8-46B4-951F-60B6F9B3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4115A4-489C-4E55-A97C-89C47E20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0317A-4F1A-469E-AF73-EB75A6D6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Compatible domains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3C59A-E544-41FF-8677-4A074B90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004F82-BD79-4B13-AAEA-A5434DBB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93FF7-7FAA-4C2A-AB30-E7A99B23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UNION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DBD1C5-E428-4560-B465-22186734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B9942A-270C-458E-9529-933D9883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2A0AA0-A5B3-4AFF-A44A-4D5A5AF1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INTERSECTION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1007D-A744-475F-AF3E-CD775DBB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0C7ECB-7953-43D6-9312-89C0B57E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65CED0-0544-4D77-8F02-2BA32E2D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MINUS</a:t>
            </a:r>
          </a:p>
        </p:txBody>
      </p:sp>
    </p:spTree>
    <p:extLst>
      <p:ext uri="{BB962C8B-B14F-4D97-AF65-F5344CB8AC3E}">
        <p14:creationId xmlns:p14="http://schemas.microsoft.com/office/powerpoint/2010/main" val="1304173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C56843-2127-482A-925E-02B6349C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C76EA-61C7-4968-AFB6-4291B824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UNION, INTERSECTION and MINUS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67A55-4E15-467E-9B88-07922F64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set operators.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607F3-39C0-40B7-8D8C-B6A31469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D1CA1-1556-473E-B27E-EC83128F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637EC-0333-4213-9320-6937F9F7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D2A82-B9A1-4ACC-B9BD-F44988DD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Set 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79412-D770-4891-B76E-082832F8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5D158-7FEA-451F-A275-C7F00D7A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41234-0A5F-4643-97DA-664F9122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8EBC0-1231-4990-906C-5014F598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UNION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FF8EE-4C3D-43CB-A2D0-97980977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Tuples in either relation.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8C2922-5D47-46B8-9F9B-468CFF04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35742-1726-46ED-9895-934F689D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85E91B-9EC9-4A36-B392-670BC70F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INTERSECTION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FE118-E98E-48D1-8C88-AF7DE647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Tuples common to both relations.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A68862-5BC3-4710-AEA8-6C2B9772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49BE0A-365E-4359-B615-EC33BCAB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35C96D-FA33-48A6-8A32-6BEF2AC9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MINUS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3295BB-4274-4E23-AF3A-946E06DA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Tuples in first relation but not second.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FEB207-AA98-40D9-ADEF-E61C9E49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2BA2A9-BDA7-475D-A715-304344CF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C8128E-0A9B-4E26-944B-ABEB2CC8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Duplicates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DE3D91-3C76-47D6-A5F1-FBF80389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Pure relational algebra treats results as sets.</a:t>
            </a:r>
          </a:p>
        </p:txBody>
      </p:sp>
    </p:spTree>
    <p:extLst>
      <p:ext uri="{BB962C8B-B14F-4D97-AF65-F5344CB8AC3E}">
        <p14:creationId xmlns:p14="http://schemas.microsoft.com/office/powerpoint/2010/main" val="55822672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6EE2BB-938D-40CD-944B-2C21481E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AB4DD-454A-4AA7-9398-725F0AB1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CARTESIAN PRODUCT combines every pair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12EC3-DD9C-482C-B7B2-A3B96624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cross product.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76CD0-48CD-4677-AAE1-7EC57EB1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9FC82-EE99-4462-B0CB-396FD310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BF19A-7980-49F3-A0E3-C57356DC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36FBF-453B-4629-8108-330E08F4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Set 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1A896-56A2-41EF-A323-D13692C9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5508B-3356-430A-ABD9-C927DDA4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Cartesian 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AAA2E-C216-49D8-BF49-7F38A1E1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R × S combines every tuple of R with every tuple of S, creating all possible pairings.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282A6-CA7C-44A2-A39A-B29C5E82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E66C6-4BFC-45A0-AF4C-B80AE2E7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Pairing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6C855A-1986-499C-8B6D-C4301DA4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BE7EC-A035-4486-A58B-DD928F97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2B5DD-B7CF-478B-97F5-8A3F0336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Degree adds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AB3CCA-88EB-4BDF-8D7B-512E8357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B41A9-F66A-42AC-A843-1EE1477A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C7569-4C9C-4E23-BA2F-F56A7B20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Tuple count multiplies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4A812-2AA6-47EF-B9AF-1F5136C9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19EDF-27EF-42C3-B721-30113685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84371-5613-4BFC-8F29-11B456A2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Basis for join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40D3F7-EED2-4FB4-AE31-23BF22D9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C87753-7A8D-4FC4-8D55-4D1B60F1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9DCC9C-5433-41E3-9997-6B65810E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May be huge</a:t>
            </a:r>
          </a:p>
        </p:txBody>
      </p:sp>
    </p:spTree>
    <p:extLst>
      <p:ext uri="{BB962C8B-B14F-4D97-AF65-F5344CB8AC3E}">
        <p14:creationId xmlns:p14="http://schemas.microsoft.com/office/powerpoint/2010/main" val="117820999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C4D29-006C-4215-BAA6-1C4585E6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78121-7168-4585-B7AB-2F4D54C9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JOIN adds meaning to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92B24-15C5-4118-805D-078BEB12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join.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3A244-8DA7-4911-961B-9221427B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4459B-5F1F-47D5-BDA9-2D561C77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E98DB-DD25-4BCA-8FE6-6FFB2C90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9074B-E22C-41DF-A0F9-77B0BEFD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Join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30E64-C77D-47B3-AE7E-B3249656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3EFBA-F6FC-4E6C-953E-12A7BBE9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6953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1CD49-2811-4ECF-AA42-37D7ED8D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64293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EMPLOYEE ⋈ Dno=Dnumber DEPARTMENT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Meaning: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Pair employees with matching departments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instead of every possible department.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DA1CF-1B98-42A7-873B-4468D7E0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6B302-5C2F-4B45-A323-C73E9EA7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B638E-EC7C-444E-8692-A15E9170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Join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BB83E-B608-46B1-BBB8-35F7783A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90850"/>
            <a:ext cx="2495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pattern by identifying input relation, condition, projected attributes, constraints, and result relation.</a:t>
            </a:r>
          </a:p>
        </p:txBody>
      </p:sp>
    </p:spTree>
    <p:extLst>
      <p:ext uri="{BB962C8B-B14F-4D97-AF65-F5344CB8AC3E}">
        <p14:creationId xmlns:p14="http://schemas.microsoft.com/office/powerpoint/2010/main" val="105754027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E523A4-0229-411C-A9EA-787086B5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2212E-87B3-48F0-B089-B60CB572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Equijoin and natural join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5C18A-2B5B-4E74-A5E4-0FB351C2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join variations.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F3F2A-117B-45EC-9628-A6C8D0A9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4AF67-A66C-4939-A7DA-1474BEF7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3A6A1-9E53-49B2-9DD4-7690557B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AC527-CDC9-4EB0-A308-F06EC4DC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Join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AD944-B643-470D-AAF2-280D3075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59FD0-544C-4AC2-8625-9A227C28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DF214-39AC-4B83-ACE7-0D47B168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82726-1C48-4D4A-BDE1-666A6814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Equijoin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E5927-F90A-490D-8B1A-28150DE1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A76C8-FB09-4617-87E0-A9E910A7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8145B-8D17-436B-819F-E49641CD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2450B-30C3-4760-B29E-630A8B5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Natural join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4E7EBA-FAD9-4737-9803-039C9C5C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94617-E50A-4AF9-A9AD-7CB2833E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BD62A3-703F-4A58-8673-56764079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C4C17-33FF-4D6D-BB08-DB5CFC81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Join condition uses equality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BD1837-0609-4DD3-B06A-77D361CE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8949FE-7F79-4AC8-837B-D1A93C2D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E7DF15-F38E-432C-812F-49B788F5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Keeps both join attributes unless projected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3170D9-6DC0-4AE0-A8B3-751328C2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48F704-CC3F-4405-9378-F456BD5D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0E6311-5EE8-4FD6-94EC-126E9AA6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Example: Dno = Dnumber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7A4814-F417-4B70-B3A9-A6D9D6A3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54B39B-2CD5-418C-AA68-CA1AB92B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23162F-4AFE-463B-BA62-76274BE9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Matches same-named attributes automatically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D61F96-9AD4-4E51-88CB-5E3915E1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8E963E-5D95-4E1E-BEC7-4D55950D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939ED0-BEC3-4D5B-9137-04C222A1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Removes duplicate join column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CAAE3C-2087-4A8B-B85A-99028BE0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24C109-46B2-408A-AFCE-5E76DAE2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27E125-4AC6-44C0-B0A7-003F89B3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Needs careful attribute names</a:t>
            </a:r>
          </a:p>
        </p:txBody>
      </p:sp>
    </p:spTree>
    <p:extLst>
      <p:ext uri="{BB962C8B-B14F-4D97-AF65-F5344CB8AC3E}">
        <p14:creationId xmlns:p14="http://schemas.microsoft.com/office/powerpoint/2010/main" val="183243216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AD47BE-CBBE-475B-8613-33FE0C51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D0D89-D1DC-4360-840E-EE1E4DCE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Outer joins preserve unmatched tuples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DE365-5733-41AB-B2ED-F53F9575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left, right and full outer join.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88312-2BBF-4AF5-8619-896E55A1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58F06-4680-4617-9D55-631DD7F5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29B19-5CFA-40DD-8332-FDE8D596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BC581-5630-4E23-8E98-E6A73B3E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Join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73AD6-8FE3-45A1-AC4B-E2FA2E26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E484F-4246-4F15-B812-21AAB129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638EC-E3A8-4FDC-B5AF-26B2C55E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CEA23-D0E2-41BC-BD4F-3B60C157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Left outer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97650-9254-41E7-AA67-125B5AFB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Keeps all tuples from left relation.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C35E2-64B4-4F5C-A1BD-5609B2F5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4E6EF-1903-4ACA-B508-7E1EB6C4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B76667-0774-4F7A-A5E7-EBED68B0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Right outer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9297A-A9EE-460C-9416-8612A21E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Keeps all tuples from right relation.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9212BE-4762-4920-9887-3F0FBD73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2A0C3A-8CE2-4C2E-9E63-66DF3FAD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188C1-06C9-4F36-B510-F6C03BB1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Full outer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30579-F8B3-4668-BA99-76AC4857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Keeps unmatched tuples from both sides.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76C65A-8A65-4868-BF98-8523DE02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45DB77-778B-4EAA-9662-D752C68C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F2F8E9-3847-4E03-B0B2-1AE5988E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NULL padding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FA7DC7-B54A-42E1-865C-C91CA85B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Missing matching side appears as NULLs.</a:t>
            </a:r>
          </a:p>
        </p:txBody>
      </p:sp>
    </p:spTree>
    <p:extLst>
      <p:ext uri="{BB962C8B-B14F-4D97-AF65-F5344CB8AC3E}">
        <p14:creationId xmlns:p14="http://schemas.microsoft.com/office/powerpoint/2010/main" val="146596736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CCD7C7-C12F-4A5D-905F-4530CD99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C029C-C0C5-4FC3-B027-C68C3142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Division answers 'for all' queries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4A03A-DA31-4723-8FCE-2ADC596B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division.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04810-E803-4677-AF46-04B79427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F269D-C582-4E22-B45E-50437892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6BA66-F5B1-4057-AAA5-5FC997DA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7DDAB-CB80-462E-9B49-F310F9A1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Advanced Algebra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A03BB-D336-42C4-85A0-EFE01FA5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4F8F0-E913-45D3-BDC6-A03CBF66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Division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26694-BFC2-49DC-A7E7-7E3ADAC4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Division finds tuples in one relation that are associated with all tuples in another relation.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E22AD-B91E-4CCD-9DB1-D443838B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0ACA1-9974-4465-9E6B-BB1EB7B0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For 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B0102-4648-452E-B38A-C5644497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A50EA-B3B9-4E48-A849-5A1461FF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427D9-8DB4-4B8C-9FE2-34EE741A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Required 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E93D7-E86A-4FB3-B45F-82005814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3A7757-FE00-408C-8785-10739ABE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25A295-0430-4DDD-B8F1-181D9074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Matching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31EAD1-BE16-495F-BD1A-0C9EB8FF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DFB71B-9286-49E0-8176-1189AD69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337A61-6E65-47F1-8342-257C24BC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 ÷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A85F06-5D7E-4C01-8EF5-AA11D14F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3C839C-F8DD-4028-A819-6CF393BF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96CF12-7D45-4059-9D37-9BCE1ED8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Universal query</a:t>
            </a:r>
          </a:p>
        </p:txBody>
      </p:sp>
    </p:spTree>
    <p:extLst>
      <p:ext uri="{BB962C8B-B14F-4D97-AF65-F5344CB8AC3E}">
        <p14:creationId xmlns:p14="http://schemas.microsoft.com/office/powerpoint/2010/main" val="117723519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35EC3E-4D81-4ADA-A810-08245335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0F46E-56AD-45F9-86D0-F18B842A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Complete set of algebra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5F54E-7FA0-4D3A-902F-8ED8D572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Summarize core operators.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D448D-8938-45DB-8F3A-973FA76A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F6A66-2557-4548-A317-34D14113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E42EB-39F1-4910-A75B-FE7925BB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BA38C-E9D4-4353-B993-3BBA5E16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Advanced Algebra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8C243-2A29-4CDB-B5D5-774AFEB2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4D179-F541-4336-A58A-FD9AA882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D9F9B-8B81-4778-8605-D6D11829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Algebra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8F838-4325-4E93-BED9-1740CFC0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FD6B8-CA8F-4469-BAAC-14BCF067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0D604-640E-4B0E-825E-C9F1F9DC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A51AE-69D2-4408-B2D3-905F3013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8D8CF9-9542-4E0A-A4B7-D872448F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C134E-5642-45C6-AA6D-E8CCB828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4F51F-298A-47B9-A16A-11B49FBA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PROJECT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38CEFC-273E-4D2C-A161-7C024668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Columns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882FEF-36E3-4769-8779-E8A120D9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EFD843-B06B-47F1-8767-00BDDDE1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2F3802-520C-4CA3-954B-8548D61C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UNION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7B3053-9FEE-4820-8256-BCE573F3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Either 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2A286D-F958-4C4E-A32F-B545A4F7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DD8CAD-06C7-4F19-92BF-85C292A2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B604E1-55B0-44BA-8EB0-0E04EBA5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MINUS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512F2F-06A4-4452-87DF-31F094B1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Difference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DDCAFB-2CF5-46E6-BE22-874E25A8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CDCE2A-17A3-49D3-B2F3-4C28885C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5F3E20-6ABB-4561-AC3C-B08ECE06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PRODUCT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EF272E-8BE6-4A3E-92C3-C716B14D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Pair all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9B8DB8-6C6E-4684-A4C2-DD2B9B7E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89D77F-DEC3-4B11-BC33-B83B467A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C70DC2-3159-4442-A69C-1D8235D4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JOIN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27C0D5-2E11-4311-B78D-FB16C09D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Match meaning</a:t>
            </a:r>
          </a:p>
        </p:txBody>
      </p:sp>
    </p:spTree>
    <p:extLst>
      <p:ext uri="{BB962C8B-B14F-4D97-AF65-F5344CB8AC3E}">
        <p14:creationId xmlns:p14="http://schemas.microsoft.com/office/powerpoint/2010/main" val="56016163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D62AFF-F13E-4ACA-B4EA-2F444A99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F950B-B37E-4734-90F7-8E74FE57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Aggregate and grouping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C4208-D6CA-4A5A-AC32-3B5592F8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additional relational operations.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B7A95-18F6-4C61-A709-B51CF5AA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32BB8-B6C7-4FFF-8AB5-34F3F9D5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4A06D-88F1-40AD-97CA-16104D08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F3554-A9D2-4BED-88CF-F0A58459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Advanced Algebra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3F87C-58AF-405B-9304-C8424336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B7F4A-D9A5-43FB-A988-13587C22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8C4CE-ECF3-4AEF-8473-1E43FF89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2D4BB-9D6D-40CF-8541-BBF1D7A7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Aggregate functions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CF2D0-027C-41A2-9F1A-3C303C1F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COUNT, SUM, AVG, MIN and MAX summarize values.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3C433-5BA5-4F9C-81DE-FE9A07CC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CF498-F4B5-4F59-A66F-99BB9CC3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95743-E255-43F3-9302-0D9E04C7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Grouping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E94BC-E7BD-4E9B-8A33-B4BE2C9E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Partitions tuples by grouping attributes before aggregation.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BDC75-FE1B-40F5-A7C3-DC20EFCB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F50109-2E54-478A-A2BC-DC1B4DC2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377E6-7FBF-4029-A6D6-F89FF71A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Generalized projection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7CA948-9912-4BF2-AEFD-1C3609B2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Allows functions and expressions in projection.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B6825E-63B1-40DB-91F4-A02891D4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1260E9-4900-47DD-A648-38821A12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953B04-B13D-41DA-AE21-4D97C041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Recursive closure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2BDA3B-BBAF-438C-8394-355F7334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Useful for transitive relationships such as prerequisite paths.</a:t>
            </a:r>
          </a:p>
        </p:txBody>
      </p:sp>
    </p:spTree>
    <p:extLst>
      <p:ext uri="{BB962C8B-B14F-4D97-AF65-F5344CB8AC3E}">
        <p14:creationId xmlns:p14="http://schemas.microsoft.com/office/powerpoint/2010/main" val="27332809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89CD41-FCFB-4CC7-B3E3-953FDAF3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9622F-7869-4350-9A0E-122CA71C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Outer union and recursive closure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FEEA9-AC85-4305-A94E-6B98F462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less common operators.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60248-2A88-48F8-AAA2-DACC304A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A58DB-F485-4FB5-905F-68D7FB2D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040F2-8AF5-4EE9-B228-A0C9D4CD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5F312-0201-4BDD-A0F1-7ADF871A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Advanced Algebra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C123B-D328-40D4-90FF-8D4F0BFE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0B3C5-0B66-4B27-8DA8-DB2FC87D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D1AFF-3583-4DAA-87D9-AA62413B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82997-A34D-4640-BC45-B330E58C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812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Outer union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7A12F-FEED-4792-A121-98E9C1B6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62225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Combines partially compatible relations and fills missing attributes with NULLs.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9B25F-D0C2-4009-85EF-13A2E3E8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B1220-86BE-4EBB-B69E-BB62A81F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77385-0F4D-474D-B522-786D8DA8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812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Recursive closure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A9AA4E-7598-4F81-987C-6EE505EA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62225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Repeatedly follows relationships until no new tuples appear.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F7589-978B-442C-9040-0326F1C8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0FC3A4-3A22-4F03-B39E-201E9C7E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F00820-109B-4E2F-9C52-323131E9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812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Use case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D76E08-B07B-4F75-9C99-084BF4B1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62225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Organizational supervision chains or course prerequisite chains.</a:t>
            </a:r>
          </a:p>
        </p:txBody>
      </p:sp>
    </p:spTree>
    <p:extLst>
      <p:ext uri="{BB962C8B-B14F-4D97-AF65-F5344CB8AC3E}">
        <p14:creationId xmlns:p14="http://schemas.microsoft.com/office/powerpoint/2010/main" val="58504606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AAC862-567A-4338-9E5C-0D975EE2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8F2AA-D04C-43E2-869F-07212D41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Logical design maps ER into relations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DBB8B-D9DB-4F01-B96B-CCBDBBA7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mapping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4610E-3B71-48CA-8D10-5741DE5A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4CA32-F259-47A1-930C-57B2A016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0B798-3D50-48EE-A034-2ECB09C6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78884-6247-4EC6-B32E-939916D0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Mapping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BC0BD-D7D8-48D9-9C66-9F9843C7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61503-B41A-436D-A0D7-ECA82733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16B6C-BC23-4211-AFB9-A37396CD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ER entities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1159F-7F72-4F16-8C23-3ABA0777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E973A-1FF0-40DB-9CF1-28C31199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DE6A0-4DE0-479E-8CB3-7570D04A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Regular entity relations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18F64-E5DF-4D0C-B577-C10EF193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08E572-DF18-436D-AF72-D911881B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00EF2-F494-45D7-8AE5-DD985A12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Weak entity relations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D8C04F-5CCC-4BD5-B3BB-36531941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E2436-70BE-408C-B771-49FF8172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34CEF-AB15-47A9-A841-F9EE1301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Relationship relations / foreign keys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A3D570-1730-477B-BD78-FDE49B99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4270A-FFF3-48C1-AD19-5B3ACC1A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F896B6-768E-4F77-87E1-B215080B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Final relational schema</a:t>
            </a:r>
          </a:p>
        </p:txBody>
      </p:sp>
    </p:spTree>
    <p:extLst>
      <p:ext uri="{BB962C8B-B14F-4D97-AF65-F5344CB8AC3E}">
        <p14:creationId xmlns:p14="http://schemas.microsoft.com/office/powerpoint/2010/main" val="130262553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3A55E5-C625-425F-9A6F-6BCD9ECB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E5247-84C2-40B5-A1F8-3F9D03F6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Map regular entity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2BAF9-8839-4F52-93D0-3167E4EC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Step 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1045D-D4E7-4008-9FCB-9FEF43D9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79BCF-AFFB-4184-B8C1-BEB72604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C0158-03A7-4C8C-BA8F-5C9BF74D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939CB-EEEA-42FB-9C67-26987A62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Mapping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BAC5E-313D-4198-B3DD-58A8796E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62924-5F10-43FE-B895-BABB0787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C6E68-F3C8-497D-9797-2BE90689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3B507-892B-447B-A6C0-374F6B01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Relation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4F623-7932-49B3-9451-C4DCFC13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Create one relation for each regular entity type.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5D1BC-7E2E-472A-A91E-0052611B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BB2EA-715A-42EC-A184-AE1E064E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AA33D-0C60-4E01-89E8-B187DF80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Attributes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97FA8-1036-42F8-AAF6-FA065875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Include simple attributes; expand composite attributes.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0AF080-7CDF-4991-8F3D-F5AF7860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6C5E4-74DE-43FD-8518-514DBA78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08DAE-4F2E-40EB-93CC-BC705087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Key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C7EEA0-C101-4E4F-B84D-55B9578E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Choose the entity key as primary key.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45CB9-C913-402E-9C20-79765163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A350B-80E0-4A43-B088-CBF0A765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F33C1-24D0-47A6-9675-13DFE2F1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Derived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3A7E16-EF5D-4FB6-9F06-22CDECBA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Usually not stored unless needed for performance.</a:t>
            </a:r>
          </a:p>
        </p:txBody>
      </p:sp>
    </p:spTree>
    <p:extLst>
      <p:ext uri="{BB962C8B-B14F-4D97-AF65-F5344CB8AC3E}">
        <p14:creationId xmlns:p14="http://schemas.microsoft.com/office/powerpoint/2010/main" val="104768988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DD64AC-B4A4-477F-849C-C37F946D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E5E1F-D814-4528-96DC-989E4100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Map weak entity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43C9D-0230-4F03-8AAD-583A9B16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weak entity mapping.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00D21-A586-4CB7-9599-C88EAD85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2CA58-C67D-449B-A1DA-B83BE5C9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2F965-7AD7-4CBA-A6F3-31DDAC95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46CE6-0BD7-4BC6-8BDB-CD69E2C3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Mapping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C5D81-B7D9-44FE-8037-26AC0F0D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4D479-2AB9-46E2-B0D7-5357100E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26791-86E4-4221-A990-454407A6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3E510-B7D3-49F9-914D-81D024B2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Create relation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8413E-92F3-4D55-B82F-4F380888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Include weak entity attributes.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BBFAB7-4780-430B-8A12-4EB0116D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B5055-06B2-49ED-8D23-691733C9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06BA54-6E75-4AA9-B70C-9258F42D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Owner key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B2877-1C75-4805-BAA0-3CD6B1E8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Add primary key of owner entity as foreign key.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F7A62-B543-4071-BE7D-F2542D9B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DE12B-2139-4580-9657-D806BDA3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08C1AE-B288-497B-BEF9-BC23CAD6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Primary key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938D88-2A27-42AC-A446-40697373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Owner key plus partial key.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C65473-F7BB-43FF-BB70-C8CF738E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0C4B51-90E1-48DD-B3EF-52D541F4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B7D326-ACAB-4201-84CF-4861F03B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Constraint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6B3946-7E5A-4A21-AFFE-C4EE5564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Represents identifying relationship and existence dependency.</a:t>
            </a:r>
          </a:p>
        </p:txBody>
      </p:sp>
    </p:spTree>
    <p:extLst>
      <p:ext uri="{BB962C8B-B14F-4D97-AF65-F5344CB8AC3E}">
        <p14:creationId xmlns:p14="http://schemas.microsoft.com/office/powerpoint/2010/main" val="137955257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B16603-7554-47D1-890A-0A560993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D9EC1-CA9B-4514-92C2-A3C4794B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Map binary 1:1 relationships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6BEE2-B848-4904-AC5E-4043C467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mapping choices.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CA421-9912-45DB-AD0D-209697B8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34209-C4C8-4A8F-B57A-CC3AE531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AFC34-0749-4A8B-9DED-B9FECB16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DC525-4AFE-4220-B300-27A53D55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Mapping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66601-C0DE-4670-8031-6A58BA2A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33341-7E59-4DD8-B893-5A2CBD6F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D76CD-A696-457E-A3B2-4F1BBE52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CC8C5-63B1-4F6A-A4B7-14A7FE08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Foreign key option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40D8E-6DA8-4F3B-9E53-C979F0BD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Place FK in one relation, preferably total participation side.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A987E-963B-4D76-A0A9-6336F871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D8F53-4830-441C-AF85-B42D5BCD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2AEA3-C12A-4DE8-B93C-9DB6FF8B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Merged relation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9F0B5-96BB-4AF3-AE02-7464E078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Possible when both sides have total participation.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8080EC-3EF3-468B-9695-A3274CD0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652D9-DDA3-4608-9FA5-9D57E955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21DF5C-7206-4EC1-8F3D-0A6A6F99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Relationship attributes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49D609-8420-43AB-8A8B-98FC64A6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Store with the chosen foreign key.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01A39-0CC6-4574-862F-7095D32E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A56289-D690-4B02-88F0-26E1E288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55245-ECCB-49FD-9FBC-9685D776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NULLs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B71AB0-F05E-447B-BB40-E1C410FA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Avoid many NULLs by choosing the right side.</a:t>
            </a:r>
          </a:p>
        </p:txBody>
      </p:sp>
    </p:spTree>
    <p:extLst>
      <p:ext uri="{BB962C8B-B14F-4D97-AF65-F5344CB8AC3E}">
        <p14:creationId xmlns:p14="http://schemas.microsoft.com/office/powerpoint/2010/main" val="168895464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ECB91C-3678-427A-9479-FD116407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61CDD-BC39-49F8-9AFD-D03E3795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Map binary 1:N relationships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9EA62-F258-4BAE-AC4A-1B0987A9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the common FK rule.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87A20-D5C4-4734-B29A-5D917FD8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0C738-9F8C-40E6-B3DF-4EC06CB7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2C091-4E15-45AD-A3ED-246E306E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04BA2-E00A-49B4-A993-4DCC36C0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Mapping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5046F-6065-41E1-BC75-D788D48E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10156-97F9-48F6-90C6-9CE1CC8E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1:N mapping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95EC2-4A79-422F-8C08-10E20905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Place the primary key of the 1-side as a foreign key in the relation on the N-side.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15AF6-7692-4530-A0B8-5405F9CD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B7AB47-C97E-4741-8696-632A5BA5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One side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E75C7-4BFF-41B4-8980-BA51AE4D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64A1E-829D-4052-99D1-F5AAD136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3FDB6-E6F9-432D-A9FD-B1C11161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Many side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20C63-7766-4689-9979-806EB856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56EAA-3696-483F-AB85-97AAF27F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D1341-051D-4933-9382-1455A0E6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Foreign key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BFD7AC-F678-4039-978C-2BAAEB6C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5363B3-F745-4F29-8E52-7946BC0F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65FFE1-F288-412F-AA01-CFD4F45D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Relationship attributes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BBBC9C-FDC6-491B-A4D4-2DEF8992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17B8A0-D74C-4A77-B88F-EC14FCD8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789F44-C196-42BB-BB8B-17E37A67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Referential integrity</a:t>
            </a:r>
          </a:p>
        </p:txBody>
      </p:sp>
    </p:spTree>
    <p:extLst>
      <p:ext uri="{BB962C8B-B14F-4D97-AF65-F5344CB8AC3E}">
        <p14:creationId xmlns:p14="http://schemas.microsoft.com/office/powerpoint/2010/main" val="77183620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EFE67C-8C0B-41EF-8E03-085B5EFD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B1396-D171-4A0E-8AF7-561AE72B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Map binary M:N relationships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7B94C-0ED7-4D5B-A78B-80BFA06F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relationship relation.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CC993-4CCF-4F22-BA97-76548E61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EB263-BFF3-44B8-8325-8FDC2F90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02CAF-B1AA-41F9-A021-47754C62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86C7F-9213-48CA-8445-2B457BB0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Mapping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7977F-F4FA-4F90-9D7D-BFA7B0F1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5B362-AAFA-4D96-B6F9-2C02DF31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4A6CE-72DE-474A-BA1F-EF95B67E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Create new relation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7A771-6296-4D49-81EB-1D45FDF6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B31A2-5AA9-42F2-A451-0A09FC82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8AE58-C42B-430E-A7D0-1DA1D235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Add PKs of both entities as FKs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9EC4B-C54A-4570-94B7-2423620D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0DC42-0465-4D37-B838-6E0C7625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DBE5F-F751-4A44-AAB2-B0436AE2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Combine FKs as primary key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F3F4FD-AC5B-4914-A630-FCFCEBFD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A54878-FC9F-4F02-9B3C-19CFF626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84DC1-11DB-4EE7-B108-D90B8182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Add relationship attributes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57762F-6BAE-435B-AECE-E739E147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C14533-4C09-411B-B182-A05EE4E3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1D41E6-46CE-4A2C-A616-BF3124E2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Enforce references</a:t>
            </a:r>
          </a:p>
        </p:txBody>
      </p:sp>
    </p:spTree>
    <p:extLst>
      <p:ext uri="{BB962C8B-B14F-4D97-AF65-F5344CB8AC3E}">
        <p14:creationId xmlns:p14="http://schemas.microsoft.com/office/powerpoint/2010/main" val="140854149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EB0E82-539F-465E-B16C-C8FDE2D3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3B5F4-4432-4D41-A4A8-A90BDFFB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Map multivalued attributes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7265A-FAC3-4290-B5D8-8C19CD98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separate relation.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84A79-E1B7-4CDE-98D4-A6429A9D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39BFD-B102-41BD-9136-294FC8C0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32D58-B8D8-46D3-BC07-6AC78EDF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AB9FA-5FE0-4560-BF58-3ECB816C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Mapping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C4936-344E-460B-BEFB-7AD817B4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93542-0464-4AFE-95B3-E15793B0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4105B-B479-448C-97DD-9255FB8F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A6102-E746-4AD4-8F7E-2FA85ADF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New relation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1914F-F73D-4C27-9EB9-A5C0D4CB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Create relation for the multivalued attribute.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1B005-E1F4-4D1F-B938-9E51C004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A8D84-7F90-4E52-B670-1A27D492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BB5A0-DE14-480A-B251-EEFB1B64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Owner key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11D01-C26B-4BF2-99ED-DDB33E18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Include owner entity primary key as foreign key.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5F6CE-31A2-42DF-B9F6-A407E815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EA14C-7692-49B1-A1B0-2FADB941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B68135-98BC-4BF2-A28D-F3BA57D5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Attribute value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7650B-EB3F-47D0-B93B-45FA6BC9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Include the multivalued attribute as a column.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49B533-2046-481C-96C0-1E90893B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F5EA8A-B8E6-4497-8B76-1E43C18D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3F02A5-35C9-4997-A513-32CB6E7E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Primary key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014F62-694B-4A64-899A-6E8B0D5E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Owner key plus attribute value or suitable key.</a:t>
            </a:r>
          </a:p>
        </p:txBody>
      </p:sp>
    </p:spTree>
    <p:extLst>
      <p:ext uri="{BB962C8B-B14F-4D97-AF65-F5344CB8AC3E}">
        <p14:creationId xmlns:p14="http://schemas.microsoft.com/office/powerpoint/2010/main" val="91315701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26C4C6-59B9-45B5-B71C-BC383E3A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35281-421C-4D9B-A6B5-672B9B47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Map n-ary relationships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15DCC-CAF1-4947-A84F-B5031F1B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higher-degree relationships.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E4472-01B1-489E-8365-317AD58E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D54E9-1B6C-49A6-A6B5-1837F394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76EF2-4B4F-49B3-BDE6-38C45DB2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56545-FF04-4DFB-8C50-B54F4E48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Mapping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75572-EB27-40E9-B7CD-437C473B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E8B0A-D08A-4401-8FAB-66ED94D1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BF270-BE90-4E7F-8A81-092ED7E6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B405B-C3CA-4285-BCE2-CDBA4E2B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New relation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8FF1E-C63B-40C6-B8A6-A25B9E4A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Create relation for the relationship.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BBC37-FB33-4136-B287-52AC852A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2D362-7424-42B9-BD3B-029AB5EE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697BF-AED0-49D6-80F1-123A21FC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Foreign keys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53193-9CCE-4FF2-8EA2-4BA61789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Include primary keys of all participating entity types.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BC6F6-2010-405A-9634-0A46E8FC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F4CAD-CE71-4E9E-B956-11D658BA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EA450F-480B-4277-ACBA-088A703A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Attributes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5A72C8-E01F-4F6A-9F13-A70A7815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Include relationship attributes.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822B09-82EA-4DDB-A812-A1A4EAF0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D47858-DE83-485C-A783-7B6580D9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B294D1-18BA-440F-A3AD-D707D4BC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Primary key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387F88-BF48-43BF-B8FD-7857B0B1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Depends on cardinality constraints and participating keys.</a:t>
            </a:r>
          </a:p>
        </p:txBody>
      </p:sp>
    </p:spTree>
    <p:extLst>
      <p:ext uri="{BB962C8B-B14F-4D97-AF65-F5344CB8AC3E}">
        <p14:creationId xmlns:p14="http://schemas.microsoft.com/office/powerpoint/2010/main" val="169261491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E3CA19-FAE7-4B20-8477-779C1A50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8D471-72EA-4572-87BD-7DE9810C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2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416A7-9D3D-491F-BEB5-2CAF4AC2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all major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1CCB3-BE0E-4C7D-9AAB-1C5C11AF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949B0-2B49-4C7B-80DC-CD5FAE64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76BE1-1B97-42E3-9100-97595D58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F305B-DF83-42F3-B13F-5CD31428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65C9B-7DB3-4958-9017-DCCCD299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45A9B-D9B3-400F-A300-FE3A4504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33142-6325-4A4B-B268-9945BC1C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Module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D4D6C-173A-42CD-8781-E51C94D8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3EFC5-9951-4EC1-B960-9BE5A8D3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4DC4A-042E-448A-B4E3-5E8B4FA5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Relations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DA43E-2FF3-44F4-AA59-E9F99D9F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Domains, tuples, schemas.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B6AA92-0CAF-45D2-8EFD-4B67A764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649E4-B0E5-451E-8A43-B5912730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EA1ED-C539-4343-AF6B-6F061474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Constraints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7FDE17-508B-4FE2-B8D7-A7DCEF07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Domains, keys, integrity.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F17794-4900-4561-85A5-AD3B5311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B0AB40-640F-4EE1-913F-427FBEBE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BBCE1A-B2CD-4867-BE44-EDFA05FA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Updates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C2FADD-0D3A-4526-9D0C-1F0CBEB8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Insert/delete/update checks.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4CA455-398B-4FE3-B112-B14A8F3E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E87B56-3D7D-4774-9BB0-CF05F835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1BECE2-D4F2-40A5-A750-7639238A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Algebra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D15CC5-7053-48DA-A30F-850EA15D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Operators and query trees.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C89289-FB6B-4D75-9A89-ECF55BA3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C8EA7B-5494-44F7-B2C4-A3A00190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F81E17-F476-4707-959D-3DDA7412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Joins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894C89-6AE8-4D65-96E8-2EFE8BDE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Equi, natural, outer.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DDD16C-9EF1-41EF-B4D4-4D67196E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7CF6A8-DBF9-49AC-96C6-2B40357E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C5FB76-B537-4FA9-BA12-88C6AE02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Mapping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60DCEB-BD5D-476C-9901-13DF16AF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ER to relational schema.</a:t>
            </a:r>
          </a:p>
        </p:txBody>
      </p:sp>
    </p:spTree>
    <p:extLst>
      <p:ext uri="{BB962C8B-B14F-4D97-AF65-F5344CB8AC3E}">
        <p14:creationId xmlns:p14="http://schemas.microsoft.com/office/powerpoint/2010/main" val="152110619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59F932-3CBF-4B60-AB49-2A2F1814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0FC8D-F78C-40BC-A144-6D39A61C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Exam and viva focus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B5696-2BF1-439A-9078-DE15257C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Convert content into marks.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F12CC-17CF-4A5D-A5C2-AD572655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C9773-315E-4BAF-9BC1-9BC726EB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F977D-ED39-4168-BDB1-610E27A2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1911C-E502-43E9-8998-5812549D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4C6D7-BE2B-4579-96A1-A0E26F3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76F16-42DE-47AA-A932-EF3E1148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20FA5-07FD-4E83-AE12-4F681F67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C1CED-7DDF-4D22-955F-13CBA977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Define relation vocabulary precisely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668DD-34D7-492D-AFBD-FE385FB5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4CD85-DC45-4C39-9BE8-6FF7C139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E9D92-DB1D-422C-BC95-32EF3EC0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Differentiate key, superkey, candidate key and primary key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DA4EA-8427-4341-81B6-25B48A71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57C55-3BC4-427F-BFD3-4B2D873F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0E7E78-EC35-493F-8947-417DFD4D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entity and referential integrity with examples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E21F9-C2E0-48FA-A172-9FE57F54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BE794C-5457-4239-B635-18324F42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045F65-AB8F-4598-9056-9D5FF5F7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Write relational algebra notation for select, project and join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02410A-E42D-4B53-ADAF-3C0B8559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AC0C76-C9DB-4F4E-8B24-47CB225C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AEDF98-0675-4293-AD7A-36847EBC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ER-to-relational mapping rules step by step</a:t>
            </a:r>
          </a:p>
        </p:txBody>
      </p:sp>
    </p:spTree>
    <p:extLst>
      <p:ext uri="{BB962C8B-B14F-4D97-AF65-F5344CB8AC3E}">
        <p14:creationId xmlns:p14="http://schemas.microsoft.com/office/powerpoint/2010/main" val="88981736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75F46F-70A3-4676-BDDD-4F298919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0CBA0-7E0A-413F-A0C6-19CB82FE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BA1F2-72BB-403E-9EC0-BB777AC5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47A73-4C2D-44F7-8E42-4C07DA37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53B67-550F-409A-9160-CFDB8980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96605-9D31-49C2-8710-AE794600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81338-39B9-4722-8F02-36B59BA4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E1A3A-F367-45A2-87D5-50AC1752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6E7AF-867D-41FB-81C3-F3A9B568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1. What is relation?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3E215-C76D-422D-8F6C-3C432ED6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2. What is domain?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305ED-B958-472C-BF8E-8A749805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3. What is tuple?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2D9B2-ADF8-4FEC-B70B-6E614AD1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4. What is schema?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F5DAE-8A00-48FA-B790-2B40CC4D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5. Relation schema vs state?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CDF20-059F-4E66-8F58-41DEEECB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6. What is key?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8AC819-3BAE-4493-9FE7-BDACD2A3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7. Superkey vs key?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5E5B8-1D2D-4C27-A257-F3A5BF32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8. What is primary key?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B856C-41CF-40C7-9684-70308D3D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9. What is foreign key?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E1805-DE22-4C2C-A4EC-2688BD05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10. Entity integrity?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4AA0D-301F-4551-99EF-4ED17033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859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11. Referential integrity?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B2FDF8-736C-4EAC-90AB-BE633031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12. Insert violation types?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B790DF-F068-46D4-8255-7604883D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13. What is relational algebra?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10A5D9-BD3C-4C54-ACC7-82E0ADFE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14. SELECT vs PROJECT?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4D9523-9016-4597-B77E-5E5ECBDF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15. What is union compatibility?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6650A8-E025-464B-8F3E-765078AA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16. What is Cartesian product?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7DC224-E6F5-44C4-967E-26DE57AB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17. What is join?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79FD33-BDC7-4C8F-B8A4-D1C54238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529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18. Equijoin vs natural join?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7D1EEF-3235-44CA-BC17-A554A3AC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91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19. What is division?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18DA15-E899-4F1E-8805-EF425F6B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292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20. How map M:N relationship?</a:t>
            </a:r>
          </a:p>
        </p:txBody>
      </p:sp>
    </p:spTree>
    <p:extLst>
      <p:ext uri="{BB962C8B-B14F-4D97-AF65-F5344CB8AC3E}">
        <p14:creationId xmlns:p14="http://schemas.microsoft.com/office/powerpoint/2010/main" val="74468979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CE29B6-1775-4594-A4E5-631A6A99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24C86-A588-4D22-AD0A-074D3FBA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Important questions bank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6C487-C9FF-4C42-99BA-14394D9B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Provide two, five and ten-mark practice.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722BE-DF03-40C7-ACA1-78F4F32D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71FD7-1E75-4BDC-BC11-59066FA9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A4D0C-0F85-477A-BC2C-4193E821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D8C0E-E947-4EC1-A381-FEF6988C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A5B5F-0C97-4687-88D6-D9DDFCB2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325F6-3BE8-4EA0-A287-D2E8E805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1. 2M: Define domain.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43CEE-41E0-4D90-B912-DBD06FD0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2. 2M: Define tuple.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7316CA-7AAE-4637-A868-18DC6A2E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3. 2M: Define foreign key.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F5654-7EB5-4EA2-970F-63CD2842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4. 2M: What is selection?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D40B8-2463-4C00-8384-17895464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5. 2M: What is division?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9ED02-A435-406D-98AC-D620A7A0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6. 5M: Explain relational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4E63A-EC00-46DB-B632-7E91320A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7. 5M: Explain update violations.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0E841-4431-4CE1-98C2-F9588492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8. 5M: Explain join types.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DE89AD-C2D9-42ED-BA39-9BF2635F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859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9. 5M: Explain aggregate/grouping operations.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22BB3A-A23A-4D09-92B1-9927FF9B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10. 5M: Explain weak entity mapping.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BFEF7C-1FDD-425D-9190-1E7EC158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11. 10M: Explain relational model concepts and constraints.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32B611-CF7D-462B-936E-5E7A7C8B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12. 10M: Explain relational algebra operations.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D8AFBD-4775-4042-9F13-9F4E46FC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13. 10M: Explain ER-to-relational mapping rules.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B48C21-AEA7-4EE3-9CDF-9C517F2D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14. 10M: Solve relational algebra queries.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53D2B-6BBF-4908-A0C1-7C230E90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15. VTU previous question placeholders: fill from past papers.</a:t>
            </a:r>
          </a:p>
        </p:txBody>
      </p:sp>
    </p:spTree>
    <p:extLst>
      <p:ext uri="{BB962C8B-B14F-4D97-AF65-F5344CB8AC3E}">
        <p14:creationId xmlns:p14="http://schemas.microsoft.com/office/powerpoint/2010/main" val="149482841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5F6124-A658-415D-96F9-88E771AC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8E0CA-9D93-452F-8FB5-D4A4F1D0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One-page revision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46087-E96D-493A-86C0-B1A01DBD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End with compact keywords.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2CE20-67E4-4ED3-8006-6664759C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A54A9-C9CF-4778-8FE3-D21100BF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3D916-4386-4AB0-A67B-DDAAFF3B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B0A1B-CDA0-4B09-94F3-A43FEDBD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75C66-A364-4253-8F18-23C67671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8FCD1-C297-49A5-9706-84263DD1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7061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B38DE-DEC2-40E9-9A27-BD71B086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3F42E-A1B4-4DAE-9020-73F90235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064F1-06BE-4B93-A7DA-FD16E72B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34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Domain; attribute; tuple; relation; relation schema; database schema; state; NULL; superkey; key; candidate key; primary key; foreign key; entity integrity; referential integrity; insert; delete; update; transaction; relational algebra; select; project; rename; union; intersection; minus; Cartesian product; join; equijoin; natural join; outer join; division; grouping; aggregate; query tree; ER mapping.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2FF0A-7732-4545-9937-D2207C71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7061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2B82A-AB04-41FA-84BD-28DCFC19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D2ADD-17B8-4EB6-877E-0BA93F9D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Exam answer 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22145-3355-4413-847D-68A74253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034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For Module 2 answers: define vocabulary, write notation, state constraints, give one table example, and finish with mapping or query result logic.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2F477-6182-45A1-A310-3E5AD6EC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0706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E2CE6-C497-43F6-8884-DDEC79D6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5DE81B-42C1-463F-A0C3-9BB3E5B2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Memory trick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704F84-63FF-493E-9269-222E609B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034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Definition -&gt; diagram -&gt; constraints/rules -&gt; example -&gt; common mistake. This sequence works for almost every DBMS long answer.</a:t>
            </a:r>
          </a:p>
        </p:txBody>
      </p:sp>
    </p:spTree>
    <p:extLst>
      <p:ext uri="{BB962C8B-B14F-4D97-AF65-F5344CB8AC3E}">
        <p14:creationId xmlns:p14="http://schemas.microsoft.com/office/powerpoint/2010/main" val="10506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2026-08-07T09:24:02.5050000Z</dcterms:created>
  <dcterms:modified xsi:type="dcterms:W3CDTF">2026-08-07T09:24:02.5050000Z</dcterms:modified>
</coreProperties>
</file>