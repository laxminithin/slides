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d32b421cdb4544" /><Relationship Type="http://schemas.openxmlformats.org/officeDocument/2006/relationships/extended-properties" Target="/docProps/app.xml" Id="R6119a517bfd1465e" /><Relationship Type="http://schemas.openxmlformats.org/officeDocument/2006/relationships/officeDocument" Target="/ppt/presentation.xml" Id="Rebf2a749fe6044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5b21ceb0dc4c40"/>
  </p:sldMasterIdLst>
  <p:notesMasterIdLst>
    <p:notesMasterId xmlns:r="http://schemas.openxmlformats.org/officeDocument/2006/relationships" r:id="Rbd0048885b2b439a"/>
  </p:notesMasterIdLst>
  <p:sldIdLst>
    <p:sldId xmlns:r="http://schemas.openxmlformats.org/officeDocument/2006/relationships" id="256" r:id="Rc3282978bf9943b0"/>
    <p:sldId xmlns:r="http://schemas.openxmlformats.org/officeDocument/2006/relationships" id="257" r:id="R2cf85d9180c3416b"/>
    <p:sldId xmlns:r="http://schemas.openxmlformats.org/officeDocument/2006/relationships" id="258" r:id="R5e886e310ccb4363"/>
    <p:sldId xmlns:r="http://schemas.openxmlformats.org/officeDocument/2006/relationships" id="259" r:id="R1c127da5161b4294"/>
    <p:sldId xmlns:r="http://schemas.openxmlformats.org/officeDocument/2006/relationships" id="260" r:id="R82a5d67e1e9645fe"/>
    <p:sldId xmlns:r="http://schemas.openxmlformats.org/officeDocument/2006/relationships" id="261" r:id="Rf3b13f9d4944484e"/>
    <p:sldId xmlns:r="http://schemas.openxmlformats.org/officeDocument/2006/relationships" id="262" r:id="R38847a95656945bb"/>
    <p:sldId xmlns:r="http://schemas.openxmlformats.org/officeDocument/2006/relationships" id="263" r:id="Rf7bd9e3cc3854049"/>
    <p:sldId xmlns:r="http://schemas.openxmlformats.org/officeDocument/2006/relationships" id="264" r:id="R0af47514b0944c7d"/>
    <p:sldId xmlns:r="http://schemas.openxmlformats.org/officeDocument/2006/relationships" id="265" r:id="R41f1da794ff34f50"/>
    <p:sldId xmlns:r="http://schemas.openxmlformats.org/officeDocument/2006/relationships" id="266" r:id="Ra3b510e8231f41ac"/>
    <p:sldId xmlns:r="http://schemas.openxmlformats.org/officeDocument/2006/relationships" id="267" r:id="Rbc57c0334f854ae8"/>
    <p:sldId xmlns:r="http://schemas.openxmlformats.org/officeDocument/2006/relationships" id="268" r:id="R9a466e7d38fc4e40"/>
    <p:sldId xmlns:r="http://schemas.openxmlformats.org/officeDocument/2006/relationships" id="269" r:id="R8ed4d00fc1bd48bf"/>
    <p:sldId xmlns:r="http://schemas.openxmlformats.org/officeDocument/2006/relationships" id="270" r:id="R8972c6e31f20424c"/>
    <p:sldId xmlns:r="http://schemas.openxmlformats.org/officeDocument/2006/relationships" id="271" r:id="Rd9207bf5c3ae416c"/>
    <p:sldId xmlns:r="http://schemas.openxmlformats.org/officeDocument/2006/relationships" id="272" r:id="R5654cf3d7fa44a55"/>
    <p:sldId xmlns:r="http://schemas.openxmlformats.org/officeDocument/2006/relationships" id="273" r:id="R7aa185c1cdc949fd"/>
    <p:sldId xmlns:r="http://schemas.openxmlformats.org/officeDocument/2006/relationships" id="274" r:id="Raeef703041fc4050"/>
    <p:sldId xmlns:r="http://schemas.openxmlformats.org/officeDocument/2006/relationships" id="275" r:id="R914a870829154685"/>
    <p:sldId xmlns:r="http://schemas.openxmlformats.org/officeDocument/2006/relationships" id="276" r:id="Rf1431b2216c14be1"/>
    <p:sldId xmlns:r="http://schemas.openxmlformats.org/officeDocument/2006/relationships" id="277" r:id="Rff716c2039f84647"/>
    <p:sldId xmlns:r="http://schemas.openxmlformats.org/officeDocument/2006/relationships" id="278" r:id="R20f8030ea19b4a67"/>
    <p:sldId xmlns:r="http://schemas.openxmlformats.org/officeDocument/2006/relationships" id="279" r:id="R138c835a50f24126"/>
    <p:sldId xmlns:r="http://schemas.openxmlformats.org/officeDocument/2006/relationships" id="280" r:id="Rb1c7e3f5f1564dbd"/>
    <p:sldId xmlns:r="http://schemas.openxmlformats.org/officeDocument/2006/relationships" id="281" r:id="R3e59a158220341fb"/>
    <p:sldId xmlns:r="http://schemas.openxmlformats.org/officeDocument/2006/relationships" id="282" r:id="Rfef45c987ddd475b"/>
    <p:sldId xmlns:r="http://schemas.openxmlformats.org/officeDocument/2006/relationships" id="283" r:id="R06ede184bf9a4b14"/>
    <p:sldId xmlns:r="http://schemas.openxmlformats.org/officeDocument/2006/relationships" id="284" r:id="R42ce648203bd4326"/>
    <p:sldId xmlns:r="http://schemas.openxmlformats.org/officeDocument/2006/relationships" id="285" r:id="Rc635fac0fb9844a5"/>
    <p:sldId xmlns:r="http://schemas.openxmlformats.org/officeDocument/2006/relationships" id="286" r:id="Rd2f29e47d9fd40ef"/>
    <p:sldId xmlns:r="http://schemas.openxmlformats.org/officeDocument/2006/relationships" id="287" r:id="R0260894fd3b149e7"/>
    <p:sldId xmlns:r="http://schemas.openxmlformats.org/officeDocument/2006/relationships" id="288" r:id="Rc27bd7e3c2ad4608"/>
    <p:sldId xmlns:r="http://schemas.openxmlformats.org/officeDocument/2006/relationships" id="289" r:id="R570885771b04419e"/>
    <p:sldId xmlns:r="http://schemas.openxmlformats.org/officeDocument/2006/relationships" id="290" r:id="R6c2690c67b704761"/>
    <p:sldId xmlns:r="http://schemas.openxmlformats.org/officeDocument/2006/relationships" id="291" r:id="Ra0c4f3123c3c4642"/>
    <p:sldId xmlns:r="http://schemas.openxmlformats.org/officeDocument/2006/relationships" id="292" r:id="R5d72fce7ff314398"/>
    <p:sldId xmlns:r="http://schemas.openxmlformats.org/officeDocument/2006/relationships" id="293" r:id="Rf5f6682a3c4e4118"/>
    <p:sldId xmlns:r="http://schemas.openxmlformats.org/officeDocument/2006/relationships" id="294" r:id="R10c735f7bee040ac"/>
    <p:sldId xmlns:r="http://schemas.openxmlformats.org/officeDocument/2006/relationships" id="295" r:id="Rd1735470bb054180"/>
    <p:sldId xmlns:r="http://schemas.openxmlformats.org/officeDocument/2006/relationships" id="296" r:id="Rbe7b9ef19d13495d"/>
    <p:sldId xmlns:r="http://schemas.openxmlformats.org/officeDocument/2006/relationships" id="297" r:id="R4cf9caad118b4d51"/>
    <p:sldId xmlns:r="http://schemas.openxmlformats.org/officeDocument/2006/relationships" id="298" r:id="Rcadca3e0d7f64639"/>
    <p:sldId xmlns:r="http://schemas.openxmlformats.org/officeDocument/2006/relationships" id="299" r:id="Rc7c66fcd6d1b4aaa"/>
    <p:sldId xmlns:r="http://schemas.openxmlformats.org/officeDocument/2006/relationships" id="300" r:id="R7d34378942d84f25"/>
    <p:sldId xmlns:r="http://schemas.openxmlformats.org/officeDocument/2006/relationships" id="301" r:id="Rfcb1ad6fd7ae44e0"/>
    <p:sldId xmlns:r="http://schemas.openxmlformats.org/officeDocument/2006/relationships" id="302" r:id="R209ae31ddb2b46a1"/>
    <p:sldId xmlns:r="http://schemas.openxmlformats.org/officeDocument/2006/relationships" id="303" r:id="Rc0afb3eca3224c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374997dbfb4c87" /><Relationship Type="http://schemas.openxmlformats.org/officeDocument/2006/relationships/slideMaster" Target="/ppt/slideMasters/slideMaster1.xml" Id="Rf55b21ceb0dc4c40" /><Relationship Type="http://schemas.openxmlformats.org/officeDocument/2006/relationships/notesMaster" Target="/ppt/notesMasters/notesMaster1.xml" Id="Rbd0048885b2b439a" /><Relationship Type="http://schemas.openxmlformats.org/officeDocument/2006/relationships/presProps" Target="/ppt/presProps.xml" Id="Rcdfcafb391a84725" /><Relationship Type="http://schemas.openxmlformats.org/officeDocument/2006/relationships/tableStyles" Target="/ppt/tableStyles.xml" Id="R7c4875d68e9b4590" /><Relationship Type="http://schemas.openxmlformats.org/officeDocument/2006/relationships/slide" Target="/ppt/slides/slide1.xml" Id="Rc3282978bf9943b0" /><Relationship Type="http://schemas.openxmlformats.org/officeDocument/2006/relationships/slide" Target="/ppt/slides/slide2.xml" Id="R2cf85d9180c3416b" /><Relationship Type="http://schemas.openxmlformats.org/officeDocument/2006/relationships/slide" Target="/ppt/slides/slide3.xml" Id="R5e886e310ccb4363" /><Relationship Type="http://schemas.openxmlformats.org/officeDocument/2006/relationships/slide" Target="/ppt/slides/slide4.xml" Id="R1c127da5161b4294" /><Relationship Type="http://schemas.openxmlformats.org/officeDocument/2006/relationships/slide" Target="/ppt/slides/slide5.xml" Id="R82a5d67e1e9645fe" /><Relationship Type="http://schemas.openxmlformats.org/officeDocument/2006/relationships/slide" Target="/ppt/slides/slide6.xml" Id="Rf3b13f9d4944484e" /><Relationship Type="http://schemas.openxmlformats.org/officeDocument/2006/relationships/slide" Target="/ppt/slides/slide7.xml" Id="R38847a95656945bb" /><Relationship Type="http://schemas.openxmlformats.org/officeDocument/2006/relationships/slide" Target="/ppt/slides/slide8.xml" Id="Rf7bd9e3cc3854049" /><Relationship Type="http://schemas.openxmlformats.org/officeDocument/2006/relationships/slide" Target="/ppt/slides/slide9.xml" Id="R0af47514b0944c7d" /><Relationship Type="http://schemas.openxmlformats.org/officeDocument/2006/relationships/slide" Target="/ppt/slides/slide10.xml" Id="R41f1da794ff34f50" /><Relationship Type="http://schemas.openxmlformats.org/officeDocument/2006/relationships/slide" Target="/ppt/slides/slide11.xml" Id="Ra3b510e8231f41ac" /><Relationship Type="http://schemas.openxmlformats.org/officeDocument/2006/relationships/slide" Target="/ppt/slides/slide12.xml" Id="Rbc57c0334f854ae8" /><Relationship Type="http://schemas.openxmlformats.org/officeDocument/2006/relationships/slide" Target="/ppt/slides/slide13.xml" Id="R9a466e7d38fc4e40" /><Relationship Type="http://schemas.openxmlformats.org/officeDocument/2006/relationships/slide" Target="/ppt/slides/slide14.xml" Id="R8ed4d00fc1bd48bf" /><Relationship Type="http://schemas.openxmlformats.org/officeDocument/2006/relationships/slide" Target="/ppt/slides/slide15.xml" Id="R8972c6e31f20424c" /><Relationship Type="http://schemas.openxmlformats.org/officeDocument/2006/relationships/slide" Target="/ppt/slides/slide16.xml" Id="Rd9207bf5c3ae416c" /><Relationship Type="http://schemas.openxmlformats.org/officeDocument/2006/relationships/slide" Target="/ppt/slides/slide17.xml" Id="R5654cf3d7fa44a55" /><Relationship Type="http://schemas.openxmlformats.org/officeDocument/2006/relationships/slide" Target="/ppt/slides/slide18.xml" Id="R7aa185c1cdc949fd" /><Relationship Type="http://schemas.openxmlformats.org/officeDocument/2006/relationships/slide" Target="/ppt/slides/slide19.xml" Id="Raeef703041fc4050" /><Relationship Type="http://schemas.openxmlformats.org/officeDocument/2006/relationships/slide" Target="/ppt/slides/slide20.xml" Id="R914a870829154685" /><Relationship Type="http://schemas.openxmlformats.org/officeDocument/2006/relationships/slide" Target="/ppt/slides/slide21.xml" Id="Rf1431b2216c14be1" /><Relationship Type="http://schemas.openxmlformats.org/officeDocument/2006/relationships/slide" Target="/ppt/slides/slide22.xml" Id="Rff716c2039f84647" /><Relationship Type="http://schemas.openxmlformats.org/officeDocument/2006/relationships/slide" Target="/ppt/slides/slide23.xml" Id="R20f8030ea19b4a67" /><Relationship Type="http://schemas.openxmlformats.org/officeDocument/2006/relationships/slide" Target="/ppt/slides/slide24.xml" Id="R138c835a50f24126" /><Relationship Type="http://schemas.openxmlformats.org/officeDocument/2006/relationships/slide" Target="/ppt/slides/slide25.xml" Id="Rb1c7e3f5f1564dbd" /><Relationship Type="http://schemas.openxmlformats.org/officeDocument/2006/relationships/slide" Target="/ppt/slides/slide26.xml" Id="R3e59a158220341fb" /><Relationship Type="http://schemas.openxmlformats.org/officeDocument/2006/relationships/slide" Target="/ppt/slides/slide27.xml" Id="Rfef45c987ddd475b" /><Relationship Type="http://schemas.openxmlformats.org/officeDocument/2006/relationships/slide" Target="/ppt/slides/slide28.xml" Id="R06ede184bf9a4b14" /><Relationship Type="http://schemas.openxmlformats.org/officeDocument/2006/relationships/slide" Target="/ppt/slides/slide29.xml" Id="R42ce648203bd4326" /><Relationship Type="http://schemas.openxmlformats.org/officeDocument/2006/relationships/slide" Target="/ppt/slides/slide30.xml" Id="Rc635fac0fb9844a5" /><Relationship Type="http://schemas.openxmlformats.org/officeDocument/2006/relationships/slide" Target="/ppt/slides/slide31.xml" Id="Rd2f29e47d9fd40ef" /><Relationship Type="http://schemas.openxmlformats.org/officeDocument/2006/relationships/slide" Target="/ppt/slides/slide32.xml" Id="R0260894fd3b149e7" /><Relationship Type="http://schemas.openxmlformats.org/officeDocument/2006/relationships/slide" Target="/ppt/slides/slide33.xml" Id="Rc27bd7e3c2ad4608" /><Relationship Type="http://schemas.openxmlformats.org/officeDocument/2006/relationships/slide" Target="/ppt/slides/slide34.xml" Id="R570885771b04419e" /><Relationship Type="http://schemas.openxmlformats.org/officeDocument/2006/relationships/slide" Target="/ppt/slides/slide35.xml" Id="R6c2690c67b704761" /><Relationship Type="http://schemas.openxmlformats.org/officeDocument/2006/relationships/slide" Target="/ppt/slides/slide36.xml" Id="Ra0c4f3123c3c4642" /><Relationship Type="http://schemas.openxmlformats.org/officeDocument/2006/relationships/slide" Target="/ppt/slides/slide37.xml" Id="R5d72fce7ff314398" /><Relationship Type="http://schemas.openxmlformats.org/officeDocument/2006/relationships/slide" Target="/ppt/slides/slide38.xml" Id="Rf5f6682a3c4e4118" /><Relationship Type="http://schemas.openxmlformats.org/officeDocument/2006/relationships/slide" Target="/ppt/slides/slide39.xml" Id="R10c735f7bee040ac" /><Relationship Type="http://schemas.openxmlformats.org/officeDocument/2006/relationships/slide" Target="/ppt/slides/slide40.xml" Id="Rd1735470bb054180" /><Relationship Type="http://schemas.openxmlformats.org/officeDocument/2006/relationships/slide" Target="/ppt/slides/slide41.xml" Id="Rbe7b9ef19d13495d" /><Relationship Type="http://schemas.openxmlformats.org/officeDocument/2006/relationships/slide" Target="/ppt/slides/slide42.xml" Id="R4cf9caad118b4d51" /><Relationship Type="http://schemas.openxmlformats.org/officeDocument/2006/relationships/slide" Target="/ppt/slides/slide43.xml" Id="Rcadca3e0d7f64639" /><Relationship Type="http://schemas.openxmlformats.org/officeDocument/2006/relationships/slide" Target="/ppt/slides/slide44.xml" Id="Rc7c66fcd6d1b4aaa" /><Relationship Type="http://schemas.openxmlformats.org/officeDocument/2006/relationships/slide" Target="/ppt/slides/slide45.xml" Id="R7d34378942d84f25" /><Relationship Type="http://schemas.openxmlformats.org/officeDocument/2006/relationships/slide" Target="/ppt/slides/slide46.xml" Id="Rfcb1ad6fd7ae44e0" /><Relationship Type="http://schemas.openxmlformats.org/officeDocument/2006/relationships/slide" Target="/ppt/slides/slide47.xml" Id="R209ae31ddb2b46a1" /><Relationship Type="http://schemas.openxmlformats.org/officeDocument/2006/relationships/slide" Target="/ppt/slides/slide48.xml" Id="Rc0afb3eca3224c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cd1ac26d8c41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1df2b4fba54b5c" /><Relationship Type="http://schemas.openxmlformats.org/officeDocument/2006/relationships/notesMaster" Target="/ppt/notesMasters/notesMaster1.xml" Id="R8a42106a34b64c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64fea2549e402f" /><Relationship Type="http://schemas.openxmlformats.org/officeDocument/2006/relationships/notesMaster" Target="/ppt/notesMasters/notesMaster1.xml" Id="Rf6afc9c49e514e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39d0fac9ff4ab8" /><Relationship Type="http://schemas.openxmlformats.org/officeDocument/2006/relationships/notesMaster" Target="/ppt/notesMasters/notesMaster1.xml" Id="R69ec9d21fa0640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d3af2135834ef9" /><Relationship Type="http://schemas.openxmlformats.org/officeDocument/2006/relationships/notesMaster" Target="/ppt/notesMasters/notesMaster1.xml" Id="R7f725f04309443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f55dededf847be" /><Relationship Type="http://schemas.openxmlformats.org/officeDocument/2006/relationships/notesMaster" Target="/ppt/notesMasters/notesMaster1.xml" Id="R2e0c62d2fb324a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d570e0a2244bfd" /><Relationship Type="http://schemas.openxmlformats.org/officeDocument/2006/relationships/notesMaster" Target="/ppt/notesMasters/notesMaster1.xml" Id="R2c08fc9e761643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9844661b8d4e4a" /><Relationship Type="http://schemas.openxmlformats.org/officeDocument/2006/relationships/notesMaster" Target="/ppt/notesMasters/notesMaster1.xml" Id="Rec92a446bc224b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cb3a8ff0804e65" /><Relationship Type="http://schemas.openxmlformats.org/officeDocument/2006/relationships/notesMaster" Target="/ppt/notesMasters/notesMaster1.xml" Id="R6ad1b759f86f45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d04b7789654dbb" /><Relationship Type="http://schemas.openxmlformats.org/officeDocument/2006/relationships/notesMaster" Target="/ppt/notesMasters/notesMaster1.xml" Id="R58a3b6f0070f4e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988ad987c045aa" /><Relationship Type="http://schemas.openxmlformats.org/officeDocument/2006/relationships/notesMaster" Target="/ppt/notesMasters/notesMaster1.xml" Id="R5d56e9d5a38243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0d774ed79b4cb3" /><Relationship Type="http://schemas.openxmlformats.org/officeDocument/2006/relationships/notesMaster" Target="/ppt/notesMasters/notesMaster1.xml" Id="Re62258ad3b4f40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0cb87017db4d30" /><Relationship Type="http://schemas.openxmlformats.org/officeDocument/2006/relationships/notesMaster" Target="/ppt/notesMasters/notesMaster1.xml" Id="R07fe75a036484e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fdc6c4e75d24590" /><Relationship Type="http://schemas.openxmlformats.org/officeDocument/2006/relationships/notesMaster" Target="/ppt/notesMasters/notesMaster1.xml" Id="R9beb34863ae54c1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74cbc2cf31d4c15" /><Relationship Type="http://schemas.openxmlformats.org/officeDocument/2006/relationships/notesMaster" Target="/ppt/notesMasters/notesMaster1.xml" Id="R19823d27ad18475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20e7898e1044857" /><Relationship Type="http://schemas.openxmlformats.org/officeDocument/2006/relationships/notesMaster" Target="/ppt/notesMasters/notesMaster1.xml" Id="Rfbc5d0c60b414a8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47750986b24273" /><Relationship Type="http://schemas.openxmlformats.org/officeDocument/2006/relationships/notesMaster" Target="/ppt/notesMasters/notesMaster1.xml" Id="R18bf10dfb3e64f6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7afd32b84c44779" /><Relationship Type="http://schemas.openxmlformats.org/officeDocument/2006/relationships/notesMaster" Target="/ppt/notesMasters/notesMaster1.xml" Id="R78fc1e16f39b4ba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0c4d2fe44d14f79" /><Relationship Type="http://schemas.openxmlformats.org/officeDocument/2006/relationships/notesMaster" Target="/ppt/notesMasters/notesMaster1.xml" Id="R358b57fcde8b4f0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d6b301550cf4eb7" /><Relationship Type="http://schemas.openxmlformats.org/officeDocument/2006/relationships/notesMaster" Target="/ppt/notesMasters/notesMaster1.xml" Id="R91823496db064a3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1822f35e4384129" /><Relationship Type="http://schemas.openxmlformats.org/officeDocument/2006/relationships/notesMaster" Target="/ppt/notesMasters/notesMaster1.xml" Id="R658959956d5d49d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e24957d132840a6" /><Relationship Type="http://schemas.openxmlformats.org/officeDocument/2006/relationships/notesMaster" Target="/ppt/notesMasters/notesMaster1.xml" Id="R0160e061a86c4f3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cee01a4da9141a1" /><Relationship Type="http://schemas.openxmlformats.org/officeDocument/2006/relationships/notesMaster" Target="/ppt/notesMasters/notesMaster1.xml" Id="R6e81742f56444eb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fef8f9cf91d4d68" /><Relationship Type="http://schemas.openxmlformats.org/officeDocument/2006/relationships/notesMaster" Target="/ppt/notesMasters/notesMaster1.xml" Id="R2911eeaadc184a6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516b85146ad4e7c" /><Relationship Type="http://schemas.openxmlformats.org/officeDocument/2006/relationships/notesMaster" Target="/ppt/notesMasters/notesMaster1.xml" Id="Rdab9b3b330f14bf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fdec9a119e241a6" /><Relationship Type="http://schemas.openxmlformats.org/officeDocument/2006/relationships/notesMaster" Target="/ppt/notesMasters/notesMaster1.xml" Id="Rf49b835f11a64a7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a1c6504d49642dd" /><Relationship Type="http://schemas.openxmlformats.org/officeDocument/2006/relationships/notesMaster" Target="/ppt/notesMasters/notesMaster1.xml" Id="R2de7f9852e47474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4aa2ad9ea6d4bad" /><Relationship Type="http://schemas.openxmlformats.org/officeDocument/2006/relationships/notesMaster" Target="/ppt/notesMasters/notesMaster1.xml" Id="R71b3e633188e400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2c48e8f8524460b" /><Relationship Type="http://schemas.openxmlformats.org/officeDocument/2006/relationships/notesMaster" Target="/ppt/notesMasters/notesMaster1.xml" Id="Rd146ff5d98c8481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577c5ef7b824771" /><Relationship Type="http://schemas.openxmlformats.org/officeDocument/2006/relationships/notesMaster" Target="/ppt/notesMasters/notesMaster1.xml" Id="Ra5df702e66954f9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9b243e00eaa4d27" /><Relationship Type="http://schemas.openxmlformats.org/officeDocument/2006/relationships/notesMaster" Target="/ppt/notesMasters/notesMaster1.xml" Id="Ra148b8602a5845d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028426d2d424a6d" /><Relationship Type="http://schemas.openxmlformats.org/officeDocument/2006/relationships/notesMaster" Target="/ppt/notesMasters/notesMaster1.xml" Id="R591c505942be49a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21bd6a5db114baa" /><Relationship Type="http://schemas.openxmlformats.org/officeDocument/2006/relationships/notesMaster" Target="/ppt/notesMasters/notesMaster1.xml" Id="R5f34254edc3e4fc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06b73a834564dc6" /><Relationship Type="http://schemas.openxmlformats.org/officeDocument/2006/relationships/notesMaster" Target="/ppt/notesMasters/notesMaster1.xml" Id="R03d18998fd5e4f9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9cb8639460c4acf" /><Relationship Type="http://schemas.openxmlformats.org/officeDocument/2006/relationships/notesMaster" Target="/ppt/notesMasters/notesMaster1.xml" Id="Re76b6a1db391492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29213bb95bb4543" /><Relationship Type="http://schemas.openxmlformats.org/officeDocument/2006/relationships/notesMaster" Target="/ppt/notesMasters/notesMaster1.xml" Id="Rd83d92557db4400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c495b6670684113" /><Relationship Type="http://schemas.openxmlformats.org/officeDocument/2006/relationships/notesMaster" Target="/ppt/notesMasters/notesMaster1.xml" Id="Rbcba5181bfc84e2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65d1714629c4376" /><Relationship Type="http://schemas.openxmlformats.org/officeDocument/2006/relationships/notesMaster" Target="/ppt/notesMasters/notesMaster1.xml" Id="R7567c1c7ea0f4b6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270e26d7f554170" /><Relationship Type="http://schemas.openxmlformats.org/officeDocument/2006/relationships/notesMaster" Target="/ppt/notesMasters/notesMaster1.xml" Id="R1017f7df674c4d3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a5130018ac34c9d" /><Relationship Type="http://schemas.openxmlformats.org/officeDocument/2006/relationships/notesMaster" Target="/ppt/notesMasters/notesMaster1.xml" Id="R1c49f0a4c2984f3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9e278e6f2d644f1" /><Relationship Type="http://schemas.openxmlformats.org/officeDocument/2006/relationships/notesMaster" Target="/ppt/notesMasters/notesMaster1.xml" Id="Rd8b93e41fda54c9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96df4982fb7431f" /><Relationship Type="http://schemas.openxmlformats.org/officeDocument/2006/relationships/notesMaster" Target="/ppt/notesMasters/notesMaster1.xml" Id="R826935e4cd1b405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4cb7db8c95a45ea" /><Relationship Type="http://schemas.openxmlformats.org/officeDocument/2006/relationships/notesMaster" Target="/ppt/notesMasters/notesMaster1.xml" Id="R9382133adccf44d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f0d04826a5b4da4" /><Relationship Type="http://schemas.openxmlformats.org/officeDocument/2006/relationships/notesMaster" Target="/ppt/notesMasters/notesMaster1.xml" Id="R84d8dff6b0474ee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1893d956c824cd3" /><Relationship Type="http://schemas.openxmlformats.org/officeDocument/2006/relationships/notesMaster" Target="/ppt/notesMasters/notesMaster1.xml" Id="R048f92cf7e3f486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f054f7009e6b4105" /><Relationship Type="http://schemas.openxmlformats.org/officeDocument/2006/relationships/notesMaster" Target="/ppt/notesMasters/notesMaster1.xml" Id="R0f78fb827a534407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2d994906d9f4799" /><Relationship Type="http://schemas.openxmlformats.org/officeDocument/2006/relationships/notesMaster" Target="/ppt/notesMasters/notesMaster1.xml" Id="R07d2a0f60f504a1f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e4e020166c7466c" /><Relationship Type="http://schemas.openxmlformats.org/officeDocument/2006/relationships/notesMaster" Target="/ppt/notesMasters/notesMaster1.xml" Id="R3c00244e8f5b4552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80e1c037e38a43f4" /><Relationship Type="http://schemas.openxmlformats.org/officeDocument/2006/relationships/notesMaster" Target="/ppt/notesMasters/notesMaster1.xml" Id="R809716c39ebd4e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Open with a college database: students, courses, fees, marks and library data must remain connected and correct.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the module moves from why databases exist to how we design them conceptually.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a database mirrors a chosen part of reality and changes as that reality changes.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address book, library catalog and Amazon as small-to-large examples.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Stress that these properties separate a database from a plain file dump.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out that DBMS is software; database is the stored data.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the difference between a query and a transaction.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a college ERP as the running example.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Contrast grade office and accounting office both storing student data.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DBMS reads the catalog before accessing records.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adding Birth_date to STUDENT as the example.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interface versus implementation using object method analogy from notes.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Make clear a view can be stored subset or virtual derived data.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Give bank withdrawal as example: read balance, update balance, record transaction.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Walk from DBA to end users and application builders.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where ATM users and business analysts fit.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Clarify they support the system even if they do not use database content.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each advantage as a problem the DBMS prevents.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student USN and department number examples.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new data types pushed DBMS research.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Stress DBMS is powerful but not automatically the best choice.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data model to language used for database design.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ER as conceptual and relational as representational.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class timetable design versus today’s actual rows.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from external views inward to internal storage.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which type applies when adding an index.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SQL combines DDL and DML features in practice.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bank teller form and SQL query window as contrast.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utilities are not optional in real deployments.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Relate to browser, application server and database server.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business logic usually lives in middle tier.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MySQL, Oracle and personal database examples.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ER modeling belongs to conceptual design.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EMPLOYEE with Name, SSN and Salary.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to classify Address, Age and Phone numbers.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PERSON with SSN as a typical key.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employee works_on project and employee supervises employee.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rectangle entity, diamond relationship and attribute details at a conceptual level.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department-manager, department-employee and student-course examples.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employee must belong to department versus employee may manage a department.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DEPENDENT of EMPLOYEE as the standard example.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bad ER choices create confusing relational schemas later.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this appears at the end of Module 1 notes.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the end-of-module summary.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diagrams are high-value in Module 1 answers.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Run as rapid viva.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Students can use this as the revision checklist.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Close by asking students to explain the module with only the keyword sheet.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 MODULE_1_NOTES.docx, Module 1 notes: Introduction to Databases; Overview of Database Languages and Architectures; Conceptual Data Modelling using ER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0d8f14c35a4a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d8b7ec38ce4d49" /><Relationship Type="http://schemas.openxmlformats.org/officeDocument/2006/relationships/slideLayout" Target="/ppt/slideLayouts/slideLayout1.xml" Id="Raf91f9d0b75142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91f9d0b75142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2da04d4644083" /><Relationship Type="http://schemas.openxmlformats.org/officeDocument/2006/relationships/notesSlide" Target="/ppt/notesSlides/notesSlide1.xml" Id="R16138970b2bb43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f50118c244e9d" /><Relationship Type="http://schemas.openxmlformats.org/officeDocument/2006/relationships/notesSlide" Target="/ppt/notesSlides/notesSlide2.xml" Id="Rf482f9dca3f043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d07a938494b73" /><Relationship Type="http://schemas.openxmlformats.org/officeDocument/2006/relationships/notesSlide" Target="/ppt/notesSlides/notesSlide3.xml" Id="R5437389f429244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2fd6279df4caa" /><Relationship Type="http://schemas.openxmlformats.org/officeDocument/2006/relationships/notesSlide" Target="/ppt/notesSlides/notesSlide4.xml" Id="R3dad1e9c022844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232556277429b" /><Relationship Type="http://schemas.openxmlformats.org/officeDocument/2006/relationships/notesSlide" Target="/ppt/notesSlides/notesSlide5.xml" Id="Re7f90fdeee0244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34a21a0ab448e5" /><Relationship Type="http://schemas.openxmlformats.org/officeDocument/2006/relationships/notesSlide" Target="/ppt/notesSlides/notesSlide6.xml" Id="Rfb506b76d6024b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cd6f97a7342ab" /><Relationship Type="http://schemas.openxmlformats.org/officeDocument/2006/relationships/notesSlide" Target="/ppt/notesSlides/notesSlide7.xml" Id="R7633670ddf294f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b012d96fa46eb" /><Relationship Type="http://schemas.openxmlformats.org/officeDocument/2006/relationships/notesSlide" Target="/ppt/notesSlides/notesSlide8.xml" Id="R822735441d7d4a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98663175741b2" /><Relationship Type="http://schemas.openxmlformats.org/officeDocument/2006/relationships/notesSlide" Target="/ppt/notesSlides/notesSlide9.xml" Id="R3b702085d9eb4f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7bdb0f9444508" /><Relationship Type="http://schemas.openxmlformats.org/officeDocument/2006/relationships/notesSlide" Target="/ppt/notesSlides/notesSlide10.xml" Id="Rb2a0c88e428642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ee1c48aa74bb9" /><Relationship Type="http://schemas.openxmlformats.org/officeDocument/2006/relationships/notesSlide" Target="/ppt/notesSlides/notesSlide11.xml" Id="R89a3eafea37240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3d8ac47d343d5" /><Relationship Type="http://schemas.openxmlformats.org/officeDocument/2006/relationships/notesSlide" Target="/ppt/notesSlides/notesSlide12.xml" Id="R54dc078cf6624c8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228863fad42d0" /><Relationship Type="http://schemas.openxmlformats.org/officeDocument/2006/relationships/notesSlide" Target="/ppt/notesSlides/notesSlide13.xml" Id="R96fca578bb95455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0a13f1ca44167" /><Relationship Type="http://schemas.openxmlformats.org/officeDocument/2006/relationships/notesSlide" Target="/ppt/notesSlides/notesSlide14.xml" Id="R39dc460bef00444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2f28560b2441c" /><Relationship Type="http://schemas.openxmlformats.org/officeDocument/2006/relationships/notesSlide" Target="/ppt/notesSlides/notesSlide15.xml" Id="Rd7bb89bb7ea047e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ec3c6721b42de" /><Relationship Type="http://schemas.openxmlformats.org/officeDocument/2006/relationships/notesSlide" Target="/ppt/notesSlides/notesSlide16.xml" Id="R5e52cbf20ede413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02e4391794cb1" /><Relationship Type="http://schemas.openxmlformats.org/officeDocument/2006/relationships/notesSlide" Target="/ppt/notesSlides/notesSlide17.xml" Id="R1354e8590e9c4f9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f67eba5454069" /><Relationship Type="http://schemas.openxmlformats.org/officeDocument/2006/relationships/notesSlide" Target="/ppt/notesSlides/notesSlide18.xml" Id="R25ee25e339c4445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cbd0e972249d7" /><Relationship Type="http://schemas.openxmlformats.org/officeDocument/2006/relationships/notesSlide" Target="/ppt/notesSlides/notesSlide19.xml" Id="R962e2e28cd76455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f5765637c423f" /><Relationship Type="http://schemas.openxmlformats.org/officeDocument/2006/relationships/notesSlide" Target="/ppt/notesSlides/notesSlide20.xml" Id="R16df509857144fc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ad16e6f384e1a" /><Relationship Type="http://schemas.openxmlformats.org/officeDocument/2006/relationships/notesSlide" Target="/ppt/notesSlides/notesSlide21.xml" Id="R7c466d528b92483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286f4ecf54edd" /><Relationship Type="http://schemas.openxmlformats.org/officeDocument/2006/relationships/notesSlide" Target="/ppt/notesSlides/notesSlide22.xml" Id="Re4b6681ea791436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95ad60f6b46a7" /><Relationship Type="http://schemas.openxmlformats.org/officeDocument/2006/relationships/notesSlide" Target="/ppt/notesSlides/notesSlide23.xml" Id="R9a48fbfb963b4fb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37a5cd1ff4bd9" /><Relationship Type="http://schemas.openxmlformats.org/officeDocument/2006/relationships/notesSlide" Target="/ppt/notesSlides/notesSlide24.xml" Id="R2edee57db1bb434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2fe2d5a7c4c5e" /><Relationship Type="http://schemas.openxmlformats.org/officeDocument/2006/relationships/notesSlide" Target="/ppt/notesSlides/notesSlide25.xml" Id="R770c474bd8574e3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751d97f5d407e" /><Relationship Type="http://schemas.openxmlformats.org/officeDocument/2006/relationships/notesSlide" Target="/ppt/notesSlides/notesSlide26.xml" Id="Rd0fe8b470bcc484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dbee73b0046b9" /><Relationship Type="http://schemas.openxmlformats.org/officeDocument/2006/relationships/notesSlide" Target="/ppt/notesSlides/notesSlide27.xml" Id="Rdf4b896deaaf476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69031d8de429e" /><Relationship Type="http://schemas.openxmlformats.org/officeDocument/2006/relationships/notesSlide" Target="/ppt/notesSlides/notesSlide28.xml" Id="R5fa24f8971b748d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ab30087dc4805" /><Relationship Type="http://schemas.openxmlformats.org/officeDocument/2006/relationships/notesSlide" Target="/ppt/notesSlides/notesSlide29.xml" Id="R707b2ec75d624cd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41908892340f6" /><Relationship Type="http://schemas.openxmlformats.org/officeDocument/2006/relationships/notesSlide" Target="/ppt/notesSlides/notesSlide30.xml" Id="R5323b3bb9d524c3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08f0e25264c19" /><Relationship Type="http://schemas.openxmlformats.org/officeDocument/2006/relationships/notesSlide" Target="/ppt/notesSlides/notesSlide31.xml" Id="R73862207fd8d42c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deab5b3dc4a8a" /><Relationship Type="http://schemas.openxmlformats.org/officeDocument/2006/relationships/notesSlide" Target="/ppt/notesSlides/notesSlide32.xml" Id="Re04497c330e7492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f4dcb96484d93" /><Relationship Type="http://schemas.openxmlformats.org/officeDocument/2006/relationships/notesSlide" Target="/ppt/notesSlides/notesSlide33.xml" Id="R6da473f884b2422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8c6ae73fa4721" /><Relationship Type="http://schemas.openxmlformats.org/officeDocument/2006/relationships/notesSlide" Target="/ppt/notesSlides/notesSlide34.xml" Id="R85074072ecbb470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ec1a471bb4cdc" /><Relationship Type="http://schemas.openxmlformats.org/officeDocument/2006/relationships/notesSlide" Target="/ppt/notesSlides/notesSlide35.xml" Id="Rf4c08ac33ce2475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327c4fef24e5d" /><Relationship Type="http://schemas.openxmlformats.org/officeDocument/2006/relationships/notesSlide" Target="/ppt/notesSlides/notesSlide36.xml" Id="R6e839f487d4c4e3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19ca8f1734fee" /><Relationship Type="http://schemas.openxmlformats.org/officeDocument/2006/relationships/notesSlide" Target="/ppt/notesSlides/notesSlide37.xml" Id="R31b8e70a059944e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fb4944bf04612" /><Relationship Type="http://schemas.openxmlformats.org/officeDocument/2006/relationships/notesSlide" Target="/ppt/notesSlides/notesSlide38.xml" Id="Rb997ac63281b4d3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850b5efbc43c5" /><Relationship Type="http://schemas.openxmlformats.org/officeDocument/2006/relationships/notesSlide" Target="/ppt/notesSlides/notesSlide39.xml" Id="Ra2bb0d400453460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28095287d435a" /><Relationship Type="http://schemas.openxmlformats.org/officeDocument/2006/relationships/notesSlide" Target="/ppt/notesSlides/notesSlide40.xml" Id="R1dc67323e32a46f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6d49d06b14490" /><Relationship Type="http://schemas.openxmlformats.org/officeDocument/2006/relationships/notesSlide" Target="/ppt/notesSlides/notesSlide41.xml" Id="R99f6e7a7c479423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7ea5a3b6041c2" /><Relationship Type="http://schemas.openxmlformats.org/officeDocument/2006/relationships/notesSlide" Target="/ppt/notesSlides/notesSlide42.xml" Id="R23d1f40b56b4457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484de3fa2462d" /><Relationship Type="http://schemas.openxmlformats.org/officeDocument/2006/relationships/notesSlide" Target="/ppt/notesSlides/notesSlide43.xml" Id="Rfaa38c9c7250415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5a0e9bc1e447e" /><Relationship Type="http://schemas.openxmlformats.org/officeDocument/2006/relationships/notesSlide" Target="/ppt/notesSlides/notesSlide44.xml" Id="R3c42db86efe64b5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1f5e1694c428e" /><Relationship Type="http://schemas.openxmlformats.org/officeDocument/2006/relationships/notesSlide" Target="/ppt/notesSlides/notesSlide45.xml" Id="Rd725071022da41c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aa289f14445f9" /><Relationship Type="http://schemas.openxmlformats.org/officeDocument/2006/relationships/notesSlide" Target="/ppt/notesSlides/notesSlide46.xml" Id="Ra9efee1dee6d457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a333e0abc4d8d" /><Relationship Type="http://schemas.openxmlformats.org/officeDocument/2006/relationships/notesSlide" Target="/ppt/notesSlides/notesSlide47.xml" Id="Rd947e37a7791456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571420ebe4df5" /><Relationship Type="http://schemas.openxmlformats.org/officeDocument/2006/relationships/notesSlide" Target="/ppt/notesSlides/notesSlide48.xml" Id="R4758722f3b3441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75291A-2CFB-4F0A-A441-9561DB6D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8236C-F7EE-4095-92CD-B578D901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Database Management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C1B64-4FF4-4AB1-9967-D9A8EB0C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Start Module 1 with why organized, shared data needs DBMS support.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3789B-E2BC-48E2-8F2D-83A1AFCE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D934B-B256-4FB6-A9A5-36483BF9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1C238-D4FB-47F6-9680-410C8A23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76FA7-62C4-42BE-A3FE-40A84438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DFB92-3368-4DD4-9600-6DC15303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58B2F-3C1C-4983-A573-FB9263B8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6096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8FBFF"/>
                </a:solidFill>
              </a:defRPr>
            </a:pPr>
            <a:r>
              <a:rPr sz="4350" b="1">
                <a:solidFill>
                  <a:srgbClr val="F8FBFF"/>
                </a:solidFill>
              </a:rPr>
              <a:t>DBMS</a:t>
            </a:r>
          </a:p>
          <a:p xmlns:a="http://schemas.openxmlformats.org/drawingml/2006/main">
            <a:pPr>
              <a:defRPr sz="4350" b="1">
                <a:solidFill>
                  <a:srgbClr val="F8FBFF"/>
                </a:solidFill>
              </a:defRPr>
            </a:pPr>
            <a:r>
              <a:rPr sz="4350" b="1">
                <a:solidFill>
                  <a:srgbClr val="F8FBFF"/>
                </a:solidFill>
              </a:rPr>
              <a:t>Module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D70FF7-9A12-4517-B43D-EC768F7F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B8C7D9"/>
                </a:solidFill>
              </a:defRPr>
            </a:pPr>
            <a:r>
              <a:rPr sz="1725">
                <a:solidFill>
                  <a:srgbClr val="B8C7D9"/>
                </a:solidFill>
              </a:rPr>
              <a:t>Databases • DBMS approach • Users • Architecture • ER modeling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E47A0-F8D3-4328-BA82-AB9F408B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763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69"/>
          </a:solidFill>
          <a:ln xmlns:a="http://schemas.openxmlformats.org/drawingml/2006/main" w="19050">
            <a:solidFill>
              <a:srgbClr val="2C6C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6FD12-28EE-467C-95A8-E1C930D9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F2783-AF32-4C29-BF24-24B8E0E0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66950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7111F"/>
                </a:solidFill>
              </a:defRPr>
            </a:pPr>
            <a:r>
              <a:rPr sz="2400" b="1">
                <a:solidFill>
                  <a:srgbClr val="07111F"/>
                </a:solidFill>
              </a:rPr>
              <a:t>DBMS</a:t>
            </a:r>
          </a:p>
          <a:p xmlns:a="http://schemas.openxmlformats.org/drawingml/2006/main">
            <a:pPr algn="ctr">
              <a:defRPr sz="2400" b="1">
                <a:solidFill>
                  <a:srgbClr val="07111F"/>
                </a:solidFill>
              </a:defRPr>
            </a:pPr>
            <a:r>
              <a:rPr sz="2400" b="1">
                <a:solidFill>
                  <a:srgbClr val="07111F"/>
                </a:solidFill>
              </a:rPr>
              <a:t>ER</a:t>
            </a:r>
          </a:p>
          <a:p xmlns:a="http://schemas.openxmlformats.org/drawingml/2006/main">
            <a:pPr algn="ctr">
              <a:defRPr sz="2400" b="1">
                <a:solidFill>
                  <a:srgbClr val="07111F"/>
                </a:solidFill>
              </a:defRPr>
            </a:pPr>
            <a:r>
              <a:rPr sz="2400" b="1">
                <a:solidFill>
                  <a:srgbClr val="07111F"/>
                </a:solidFill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7569011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303760-DE5F-4E2B-8A96-18A0C4AD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4326E-A496-4075-BA93-9A57A3D3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1 learning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681A5-D854-494E-8E2C-909095E8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Use the supplied notes as the checklist.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6BDE5-3602-4408-88B2-A85EF05F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5A0CE-5AC0-480D-9323-A3DC0AC5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62716-9350-4268-8296-0A1A7BAB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249F28-B586-436B-9090-FAA12722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31A7C-8C06-4A10-AA6C-00A5C67B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5BEAA-5CEF-42BD-B9CC-03225B87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4B19D-D0AF-4FCF-9F6C-67274B00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4985E-2A35-4CF9-AEF2-0F528A07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Define database, DBMS and database system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91B7C-725B-45DE-AB60-1BEDF30F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36B3D-5888-4A82-AF53-CFED794E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201C2-E728-402F-8DD1-26969927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Compare file processing with the database approach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B0F7D-F2B3-4F97-B4C3-4E07E997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C7BDAE-7E05-4D51-9A3A-08019DFF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A2F928-B9B2-496F-AEE0-DB52EEB9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actors, workers, DBMS advantages and limitations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306D4-DEF8-41FF-9AEA-52B2D9D1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0CD1FD-A509-4D4B-81C4-BAEA44F9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72D9DA-0FED-41DC-B1A3-4216EF88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data models, schemas, instances and three-schema architecture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408136-1A6C-4B32-A216-5BC03B4E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0CAB04-9732-4A19-8AC6-CFBC43B2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D694E4-BE1D-4F0C-863D-742322B4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DBMS languages, interfaces, environment and architectures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BE2DC4-A310-47CD-B617-AA1DFDE5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347EB8-3FE7-4A34-9740-4980B3A3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9A9A70-1C3B-446B-B969-A23DDE8F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767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Build conceptual models using ER entities, attributes, keys and relationships</a:t>
            </a:r>
          </a:p>
        </p:txBody>
      </p:sp>
    </p:spTree>
    <p:extLst>
      <p:ext uri="{BB962C8B-B14F-4D97-AF65-F5344CB8AC3E}">
        <p14:creationId xmlns:p14="http://schemas.microsoft.com/office/powerpoint/2010/main" val="18031002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CB8781-8E18-4007-8424-1E523BD4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C75BE-53BD-4B1C-B441-52392DBD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a database is more than a 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5482A-2F62-4F3F-96D4-7B34C29B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Motivate database thinking before definitions.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9BA90-0B69-435D-9E19-89E1EB81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43D2F-C058-4859-87C2-FB588FF5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46D6A-8B80-482E-AC4C-E9E570CA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B19CB-C13C-480F-980C-6472478B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Foundations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B8497-D1CA-489C-BD3F-B8F91E9E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728F9-92C7-4682-82A9-9212D9F8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22F87-0120-43CF-9203-7636892F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Real-world miniworld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7BABAA-3DE3-42F4-ABD3-DCE2C873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F1355-DE70-42EF-A959-835FDB26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4C2551-5B27-42F3-A01D-FA074F6C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Related facts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8A3948-AC0B-4E5D-B7FA-17945848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D6DE59-F1A4-44CD-B329-C945BE8E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A3C32E-787F-4D44-9A8D-6C5A52EE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Shared users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011678-BE73-43F6-A8C1-40A410E4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40474D-707A-4D4E-8702-AD0C6357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F4728B-094A-4694-BB1F-4E8C2434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Rules and constraints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07221F-056C-4B8D-BEB2-4F8F3E11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F327DF-AE61-4458-B356-041B3BEE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F5F3B6-05B4-4514-93C8-52B76F49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Useful applications</a:t>
            </a:r>
          </a:p>
        </p:txBody>
      </p:sp>
    </p:spTree>
    <p:extLst>
      <p:ext uri="{BB962C8B-B14F-4D97-AF65-F5344CB8AC3E}">
        <p14:creationId xmlns:p14="http://schemas.microsoft.com/office/powerpoint/2010/main" val="18009030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BF8953-AF9F-4098-A817-683AC757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F1034-9902-472F-86EF-B8FB1024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is a database?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D4A3D-8AC8-4952-B6EA-75A75F62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database in simple engineering language.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90859-10CE-4E23-B120-4A6AC495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B960F-2B49-4440-9EF5-7C88DD8C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94A80-7BC0-4E7F-BD28-881BA808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6618D-07E2-4873-A449-29DF05FA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Foundations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95ADD-851E-4BDE-925B-7A4A8B1B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2B239-2E7B-4403-B544-CDCDF6F2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Database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73008-D498-4FBC-9719-5AF409A5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database is a logically related collection of recorded facts with meaning, designed for a specific purpose and user group.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B3112-28AC-4F51-8D1B-BEAA2056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CF6F8C-F844-4153-BD67-136240C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Related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5B0FF-30E3-4124-BA0B-D0E1FF7E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5BC32-CC8D-426C-81E6-BDFF54E2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14E924-3B95-4978-B2CB-EAD3A5F4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Miniworld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B3F6CF-2EE8-4D81-908A-241FBCFB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AA9912-291D-42CC-A85F-4C676025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9A87C7-992F-443B-A1F2-99B12257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Meaning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25FF18-3301-4B80-BF53-00C21EC9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C9AFAD-3731-46EB-AA13-79C8D8FF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53897D-902E-4C9C-9007-73AC2643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Purpose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E638B9-65D6-4767-B66D-03001EC1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677726-8365-46A5-BA3C-F28240E8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6BCE41-ADBB-438E-BC3E-1ED85BDC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Users</a:t>
            </a:r>
          </a:p>
        </p:txBody>
      </p:sp>
    </p:spTree>
    <p:extLst>
      <p:ext uri="{BB962C8B-B14F-4D97-AF65-F5344CB8AC3E}">
        <p14:creationId xmlns:p14="http://schemas.microsoft.com/office/powerpoint/2010/main" val="19369919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897BE1-C611-4412-BFB2-52B282B2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D5357-F9A8-4E18-95AD-76ED1645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Implicit properties of a database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73748-599F-4B99-9147-D164A201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the three essential properties from the notes.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31252-E055-42D7-9D63-2BA9C826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FEB3E-471B-4893-BCC4-8949F8FB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2A538-B658-4634-9D70-93CD82CE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336AF-CD02-4503-9FDE-60480E84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Foundations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A1BB47-2CC3-47AB-972A-3641B11C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ED2CF1-A344-4B94-A1EF-23410F9F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069FA-9E57-4441-A098-405A4415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EBF65-795F-4073-9E5F-6A8D89C7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812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Miniworld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A0EB7-9095-4314-B466-5FD10E08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62225"/>
            <a:ext cx="26860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Represents some part of the real world or universe of discourse.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908CC-E8C0-4C63-B229-ED000F88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A6BA44-7F81-4E17-B036-BC9FF681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5063F8-061C-4FD0-8D92-FE333E6C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812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Logical coherence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7894BE-982B-42A0-8E48-A84B06F6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62225"/>
            <a:ext cx="26860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 random pile of facts is not a database; the data must have meaning.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C58A8C-4AB8-4979-B027-2F862508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395123-DD81-4FFF-9A81-17A311FA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47D6F7-5339-4806-816B-D4DB67A9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812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Specific purpose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47E9F9-88A5-4E04-B9C4-8CA79411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62225"/>
            <a:ext cx="26860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Designed, built and populated for intended users and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8990847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B54F89-8CC2-41C8-ABD3-C33764B1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56C02-5641-4845-BBA7-7E05239F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is a DBMS?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8ABA3-CA07-43E6-80D9-45AD6D62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the software role of DBMS.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FCD9A-71D9-49CD-9491-920B5F11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94AEF-43E7-4267-B709-A47A731D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9D5D3-87B3-462F-8D93-FA926063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83408-1F19-435E-B2D9-86BBB580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Foundations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7E1F2-D56C-434B-84EE-41269919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50DAD-B4DE-4B52-8BE7-285F89D5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DBMS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A00CC-5407-4D2C-B698-C49B2C0E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DBMS is a collection of programs that lets users define, construct, manipulate, share, protect and maintain a database.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1F00A2-D5A2-403B-8324-60BFA03F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DEACF-95D7-4129-8158-E3644D94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Define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B2CCD-AA9A-4A9B-BD16-699E54E9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20911-23F6-46FA-B170-4529266E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B5F07B-5FDF-4162-8410-61DAC5EC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Construct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880A53-2C52-4E0E-8DCC-644832C7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3E3B9C-25EE-4E8C-AE14-5F96E563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7E19FA-DDAB-4AC0-8D61-95B3131A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Manipulate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256CEB-5DA5-476B-A440-1C1399CF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D82316-2B0E-4F70-BB80-5FF38543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9BBBD7-D097-4B1C-95BD-6C2D511B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Share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272C60-8306-45D2-9B19-373F85F9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9201FB-ED41-43AD-93EA-5A6AD119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0F4400-DB5A-4075-A78A-B6580AD0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Protect</a:t>
            </a:r>
          </a:p>
        </p:txBody>
      </p:sp>
    </p:spTree>
    <p:extLst>
      <p:ext uri="{BB962C8B-B14F-4D97-AF65-F5344CB8AC3E}">
        <p14:creationId xmlns:p14="http://schemas.microsoft.com/office/powerpoint/2010/main" val="10376720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2F48CF-3798-4E6E-87A7-FB337755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39DF1-3472-4119-A342-A9E8DF1A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Database system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CA7CF-266F-4A09-B2E9-13987B42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how users and applications reach stored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34636-5B2E-4F72-9FD0-AAAD3CB8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9BAD1-8002-49B8-B90A-DD983B0B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37C20-861E-4632-8AC5-9BC983F3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763B7-5BFA-4A44-9C38-83E6C916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Foundations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3403B-291F-4E0E-A3A8-E56A5A5C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28818-5603-4FD9-A7A5-BA3CC06F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EF5B0-B5F2-43D6-B7D8-1B8A5292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Users / applications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F8BE7-06EF-4EBF-9A26-39FBFDE9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133237-EA7B-49F0-ADF6-5D8AF7CE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8FD624-D200-4C4C-B9BB-C498907A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Queries or transactions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B88F1-EF2F-483D-AD33-BDF6E6D6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9AA965-0D96-4AC6-B453-357840D7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23F1E5-0970-4AD5-B174-758F8F3E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DBMS software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E4B96-6EA3-4FC1-904C-235AE5D0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CF5FA5-0D52-4C72-9E9C-AB450827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99E97C-38FE-4B1F-9F5C-368ED60D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Database catalog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45D517-646D-4D6B-A8DB-F9116EFC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520B7C-A6A4-41D1-8818-2D6CA4B5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9A778A-6DCD-4C00-8606-D85779A7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Stored database</a:t>
            </a:r>
          </a:p>
        </p:txBody>
      </p:sp>
    </p:spTree>
    <p:extLst>
      <p:ext uri="{BB962C8B-B14F-4D97-AF65-F5344CB8AC3E}">
        <p14:creationId xmlns:p14="http://schemas.microsoft.com/office/powerpoint/2010/main" val="1039358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8334DB-D435-4E92-913E-CD817008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B19AD-94A2-4FAF-8BF4-4A090B91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Database life 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C0F96-B275-44F4-A581-95D2F7E0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requirements to maintenance.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19BF1-6E4E-47ED-BA8B-77B29F9B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6D005-F5AF-4F93-A196-71CEEC30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A0077-D00F-4F6B-A598-76BFDFE1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512F5-2F0F-44C1-AD92-871B7D2A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Foundations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91B0A-2D17-4C8F-8595-E6D4C827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92751D-1007-4C5F-BA72-E394F040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3D5FB-ABD9-4411-95FA-8BE6A41D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Requirements 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19352-16A1-4B9C-ABBC-6E865BCD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2FDDB-EB20-4E0C-A627-975F3B84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85F526-A340-4443-8DAF-9FAB6994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Conceptual design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3DD341-81E6-428E-9B42-7747E5C0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807303-ACBA-4269-AFC4-62A5D124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9E2122-3AA8-4060-A11E-01171374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Logical design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3209DB-2AD6-4E46-92D2-496DAE3B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06CCF8-D22C-4B26-801A-2013C1F3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943EAC-94FA-44A9-B93B-7386FA9F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Physical design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D9F269-FA3E-411E-ABEE-2C453C4F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F68C73-38AD-44CB-8826-C5473CD2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68B9B6-6A11-47B0-A963-D19E962F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Implementation and maintenance</a:t>
            </a:r>
          </a:p>
        </p:txBody>
      </p:sp>
    </p:spTree>
    <p:extLst>
      <p:ext uri="{BB962C8B-B14F-4D97-AF65-F5344CB8AC3E}">
        <p14:creationId xmlns:p14="http://schemas.microsoft.com/office/powerpoint/2010/main" val="8120627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407726-23BA-40AA-8B4C-B2261913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53D75-7564-49AD-91AF-30819A0C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File processing creates scattered truth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ADB00D-9623-4F33-A981-F49C121D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the problem solved by DBMS.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D36D7-6324-4325-90E8-388015C7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5A957-7D6F-4487-9067-AFB05A50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52E3C-9C78-4BA3-A487-E9C49222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2F121-F158-4D6C-8683-F88746EF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DB Approach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42F62-F66E-4166-8968-547C2104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43ED3-FB3D-4AEC-88FB-D5E53B16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8368A3-3FDB-4CB0-9DB8-E1DF8CFF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60D2C3-2D10-4175-8232-9C8516BA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File processing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5BE4AE-5C8C-41D0-9F53-E3278CE0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FEDA7-C4EE-4C88-825D-5363BE17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151D85-AA05-43FC-8BC5-8A8B0FE3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51CA3F-C39D-4094-B56C-70BC955A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Database approach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EB89B0-678A-4A97-91E5-D67124E7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E2FF5-767D-40A3-984A-3B335B54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EE3393-5161-44C9-B07E-487E1AF0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E7E413-DE37-4DC3-9D7D-5D3076E3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Separate files per department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C2F16A-432E-45CA-BFA3-E8B3748B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B6BB55-BEF1-44F8-A01A-37275B23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F3FB4F-B8C0-4ED7-8CCA-A986C076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Program-specific data definitions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9C8AE4-E57A-46D6-9951-1293B868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B20C42-48A5-4E49-8097-412BE14D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47B103-5855-4596-9243-C031C5F4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Redundant student details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77482E-DD14-4B93-9DA9-028C6857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DF464C-F87F-406A-9063-4F051F34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17876A-9537-4EAF-B1B1-485F0EF1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Hard to maintain consistency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35BC79-FD92-442E-8235-1085A0A9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49929C-00E3-4E91-A571-E73E5800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1E1C4E-7836-4FCD-A7BE-9EFBB76D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Shared integrated database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BB53D6-1733-4B4E-90F2-C40210C9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19588B-0EEA-45CE-8CB2-19566579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F91260-B767-4F83-9132-7A520CC2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Catalog stores definitions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1D4635-216D-49D4-87A2-ABD09FF3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E0747D-5E48-4626-B0EA-D19B46E8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9ECF95-8FD0-4D47-A86E-95BFFB34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Controlled redundancy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983970-8734-45B5-B3E8-8A2583E4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DCA602-54BC-441B-BF09-E690DD21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5D9DF8-2269-43E6-9725-3D88CE1F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Multiple applications use same data</a:t>
            </a:r>
          </a:p>
        </p:txBody>
      </p:sp>
    </p:spTree>
    <p:extLst>
      <p:ext uri="{BB962C8B-B14F-4D97-AF65-F5344CB8AC3E}">
        <p14:creationId xmlns:p14="http://schemas.microsoft.com/office/powerpoint/2010/main" val="20201714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D0C4FF-99A3-4DF9-9181-F9AF222E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54FB7-878B-484F-8BA9-707FC7D8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Self-describing database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D475F-200E-41EC-8DC8-E640E76D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metadata and catalog.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089EE-BC83-4F42-976A-F55F3E1B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63DBA-FFBE-4103-956E-E416457E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D8925-6568-4742-8F26-3AA318C7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E3F84-99A4-4F2C-9939-E186790B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DB Approach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5BAC3-C7E8-422C-BD95-6986A003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7357E-1077-4A37-BB15-6D93D343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Metadata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9AB55-FCDF-4695-89DF-FDEE7B53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Metadata is descriptive information stored in the DBMS catalog that defines structures, formats and constraints of the primary database.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F0058-0386-4DBE-A2C4-02BAE0AB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4A4E4D-5729-44C6-B265-A1EFE4A8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Catalog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2ECE2-5BCD-44C1-9031-2A3B141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AF51B6-9359-4C8B-953D-D17A9C71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09DB65-490F-4D40-8C83-ABE64056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Schema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96EF3-BC5B-445D-BDB7-CCAA0234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2BAAD3-487F-4A10-A9A0-380EDCD9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23F98B-89F6-42CA-AA6C-1EEF8EF2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Structure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DF93F9-42FA-4458-87B1-3C3C4E64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D485E4-BD4D-4E22-BB05-BA0DA8BC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7E80E5-6D6F-4AED-839B-A4741D0D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Constraints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2D3F40-0D79-49CE-951B-AB6B3A47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04F361-1788-40E3-B9E4-51E79E1D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CF23B8-2623-48C6-B96D-22B3FC28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Self-describing</a:t>
            </a:r>
          </a:p>
        </p:txBody>
      </p:sp>
    </p:spTree>
    <p:extLst>
      <p:ext uri="{BB962C8B-B14F-4D97-AF65-F5344CB8AC3E}">
        <p14:creationId xmlns:p14="http://schemas.microsoft.com/office/powerpoint/2010/main" val="9641522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127E91-7467-4C6D-A067-EFB5E79C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0C2BE-EDB3-4E6D-840E-DD68FBC5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Program-data independence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DD300-A900-4B35-AD0A-28734751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insulation between programs and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025B1-7C91-4761-B883-2BB22C3B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47CB1-6943-42F9-B4A4-6D50EDBC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32080-8E56-4C59-A80A-592CFBB2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C73A7-D75B-407C-9F9A-F3FDF2EB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DB Approach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D693A-C87A-41C1-AEAF-ED8AE1DC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57F9F-3B99-4A52-8FA2-42F4FCA9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55F056-165D-45F4-A226-5A359C3B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45625-B00D-4442-9699-41945157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Traditional files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38EF37-86F2-40D3-919F-E58FE090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C4D90E-0E16-49D5-B3F3-F3890991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23DEB-FB07-4B87-826F-DC2AB1D5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88A5B4-7B8C-401B-82E5-AAC98A91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DBMS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0120A-44D1-4D71-B0F5-D4999BEE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5540D6-D8E2-41D0-9457-DB76ED10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989DD8-03F7-4257-BF4C-3F1276B9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5E312A-1C86-462E-A286-73E5EB47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Record format embedded in programs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69ECE2-1CAB-4706-B8AE-3C29CFF2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FAEAFA-EB0E-4FA7-867F-310D0399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C0EFD4-BA29-40B4-A788-0388FBB9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Changing a field breaks programs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95BB24-0271-425C-A310-716746E2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2F1E0E-055E-49B3-9053-E414DB92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DBCB13-6625-46D4-B6C0-90B17B60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Each program knows physical details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70ACBF-ED5C-44CF-9A37-6ED81595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D4DE93-A739-4023-B727-1761F551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B6DBF1-0875-4F8C-B1B7-F525AF3D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Structure stored in catalog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EE6FF2-1394-4E96-B1A5-A3EB18A7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48E0FD-633C-42D0-B4DD-984AC8E0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A32FC5-6E42-420E-96B0-284F2B5A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Programs ask through DBMS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25F0F2-2A1A-4011-BD5A-153FAD8D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A22A1B-E1B9-4413-9FEE-DEF800DB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94EF65-61EE-4E50-A541-EA0C7FA2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Schema changes often avoid code changes</a:t>
            </a:r>
          </a:p>
        </p:txBody>
      </p:sp>
    </p:spTree>
    <p:extLst>
      <p:ext uri="{BB962C8B-B14F-4D97-AF65-F5344CB8AC3E}">
        <p14:creationId xmlns:p14="http://schemas.microsoft.com/office/powerpoint/2010/main" val="14272041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DD9A62-037D-4E3B-9EEF-29FCBF71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8D126-3660-4A21-A0E0-2C407A7E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Data abstraction hides storage details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F88D1-6D6F-4017-905F-F31818A1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abstraction and operation independence.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5ED79-91B9-4E8E-ABCF-9C46F660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FBA14-E54B-4E89-B235-FBCF686F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CB1BE-F75B-4400-B1F8-9FF7470D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21225-349C-4C51-BD67-59179FA3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DB Approach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AD9DE-E3E7-43B5-8415-175C2335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597EE-4FB6-4A15-907F-47CD876A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Data abstraction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FE1955-0C4B-46E2-94B0-4497152B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Data abstraction suppresses low-level storage details and exposes essential features so users and programs work at the right level.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C570D-839E-4333-8B27-BA1AA5E2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FD03FC-FFB3-4D84-8647-2E7050C7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Hide details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47303E-2232-4FD7-B9EF-14D26C1C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9631D-217F-4BC3-8464-BD3EA405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B0FCB-4F1C-4E36-A4AC-96F9AA49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Essential 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B42C7-4A8B-43E8-A47C-73D2AC5E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91F4BC-5B00-4905-A446-DBC15DE1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B84076-41D6-4790-B8E4-36A48397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Program-data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43D1DB-FA21-4A62-AA35-5C0A9DC1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3572AF-F483-4C30-8A3C-E7A49234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20599D-80DF-4DF0-9322-7E903E07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Program-operation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F19592-77D1-4954-A17D-AACC163F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CA5A27-829B-446D-BA8E-07E082A8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173DEA-8D9F-4C80-BAB5-F37E798B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Independence</a:t>
            </a:r>
          </a:p>
        </p:txBody>
      </p:sp>
    </p:spTree>
    <p:extLst>
      <p:ext uri="{BB962C8B-B14F-4D97-AF65-F5344CB8AC3E}">
        <p14:creationId xmlns:p14="http://schemas.microsoft.com/office/powerpoint/2010/main" val="14643587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4C4650-836F-472C-B785-14D293F8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CB11F-F2EC-460F-A9A6-5D300E2E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Multiple views serve multiple users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A40FB-DC05-4AE4-9083-DC6BCEC6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why one database can have many perspectives.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CE010-36AD-4922-8551-94E3B9F5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8DC74-C5EC-415E-8F91-26BE805A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B42ED-2D4E-4ED3-A769-7F526684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7625E-37A8-4916-92DB-0E10FD5A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DB Approach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2A0DC-9742-449E-890A-2BB6A31E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9DA0C-EB7F-4739-BFC5-99B23486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F138D-CB76-480A-AD88-CC19C1F9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9DBAC-E6DC-462E-BB84-3E9187AA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Transcript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3680B-5B99-4345-AE29-2AEFB48B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Shows student grades and course history.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45ABF-329B-4AB8-BE4B-F9819933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C0B6E2-C5AC-4989-A93F-A394A142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60C720-6276-43C8-B11F-40A93042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Prerequisite 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B3926C-72FB-4860-9CAC-03D4FB51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Shows completed courses needed for registration checks.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753CE6-EFE2-4909-B029-C35659A7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C374B3-8BA4-49E0-A7D8-AEE23E30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0839C4-F8B0-463C-9CCD-48D3E5F0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Finance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A50A54-5CE2-4B1A-9525-46CC97BC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Shows fees, payments and balances.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670242-1EB1-45FE-ADD5-402937FF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F407BF-5905-481E-9F44-153A2991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97B44E-4160-4CC2-A5AB-A42F430F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Admin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3AC0D0-38F4-478C-8376-BE69B398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Shows broader institutional data with authorization.</a:t>
            </a:r>
          </a:p>
        </p:txBody>
      </p:sp>
    </p:spTree>
    <p:extLst>
      <p:ext uri="{BB962C8B-B14F-4D97-AF65-F5344CB8AC3E}">
        <p14:creationId xmlns:p14="http://schemas.microsoft.com/office/powerpoint/2010/main" val="302658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C01ABB-664B-43AC-B133-F10BF2F9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F406B-960F-47D2-B138-F3EB7DA8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Multiuser transactions need ACID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5AC17-F26C-45D3-B256-F4408AA0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isolation and atomicity from Module 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8B12C-83A4-4C3D-855D-273620B4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B4FBC-3C0C-4F08-B09C-D94B3685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7CD27-13F8-471A-B70A-402C27BC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D3946-E1B9-4C86-AA72-2539F473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DB Approach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FF078-4FE3-42A7-AFD7-E47C9ECC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8FCD6E-E52F-4EA9-8443-8A73EABF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Transaction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D2249-01BE-4B1A-A507-7325CBE8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transaction is an executing program or process that performs one or more database reads or writes as a logical unit.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2D168-3A9B-453E-8F54-107A1252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90DBC-905D-4964-BC9C-194B6294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0D935-14DC-4BA0-9576-A400930C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CB1882-AC63-4748-BC0C-5A40340E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9FFFB-9ED8-4603-A5A8-789944EF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Write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58923-4862-4817-95E8-56A85B42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87D015-5D18-4EDF-A971-8FEE68BA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E0B2B6-1F59-4C3A-95A6-C96B1A3D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Isolation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7AE6B1-BE02-49EB-9567-91AB60E9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3562BE-4E4D-4BD0-950D-A75A89CD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88181D-F7AA-4047-9B39-D72A7F90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Atomicity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00762F-AB1D-4DDA-BA26-F9E89F66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DAC150-D41E-4BB0-B5FF-B4EABE17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331E14-F0A3-43AA-88B4-A5CA5FD0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Concurrency</a:t>
            </a:r>
          </a:p>
        </p:txBody>
      </p:sp>
    </p:spTree>
    <p:extLst>
      <p:ext uri="{BB962C8B-B14F-4D97-AF65-F5344CB8AC3E}">
        <p14:creationId xmlns:p14="http://schemas.microsoft.com/office/powerpoint/2010/main" val="17504477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FDA8CA-1ED5-429D-BB85-E005C4F4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0462E-445A-4DCA-95DB-3F7FBD16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Actors on the scene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3E9B8-A902-4D63-AA5A-D66B4F9D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Identify people who directly use or manage database content.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7694F-70F5-48A9-95B8-83BE84B5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49CA4-6BAB-428F-A329-1A22AF0E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B3777-D345-4A9F-B16A-B643629B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DA10B6-2C54-4076-B298-B8F296C4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Actors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2C880-DA6D-4E98-A66B-9784BF1E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55C60-AF44-4414-A406-B92875EA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1EC9AB-3EBA-45FF-BCB5-D0173FE8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Actors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6BC06-C658-4949-BE9A-670A3DB8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B3E10-E144-4083-AA37-2460F646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054B02-CBFB-4372-879A-4B7FD290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DBA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C60E41-ECF1-4AA5-A167-554E5D13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Authorizes access and monitors resources.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7F5D9-D56E-444C-ACF3-4439E3BB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C27B2-562B-4883-9680-B68FEEBF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AE96DC-5F38-42DE-8F63-FA6AFD8F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Designers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A45227-18F8-4079-8E86-AC88E0C1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Identify data and choose structures.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D7CB7F-3753-451E-9265-40E3B087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817D27-8C88-48E5-B7E6-6C281A4F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D1D8E0-EA3C-42F8-BB03-A2E13AEB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7C8FF"/>
                </a:solidFill>
              </a:defRPr>
            </a:pPr>
            <a:r>
              <a:rPr sz="1650" b="1">
                <a:solidFill>
                  <a:srgbClr val="77C8FF"/>
                </a:solidFill>
              </a:rPr>
              <a:t>End users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F63C3C-DE9F-4164-A27F-2573AC65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Query, update and generate reports.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171C9C-D340-4B3A-BA57-2F556862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43190A-027F-470E-A000-F991AA1D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02FE42-B335-4784-8D12-C27130EA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Analysts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B0D3BC-7D5F-4C88-9E86-22A3BC31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Specify requirements and canned transactions.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FAEACC-7D88-4026-9919-25350052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224394-40A4-4477-ADED-1E43717F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5E83D5-D94F-40A9-9D7F-BEBCA0EB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Programmers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527AD2-8740-448F-87F4-1354C331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72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Implement and maintain applications.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11DF60-F37A-47EF-B7EE-E0F93B74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4DCA39-C885-449A-8FE4-FEE65CB2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2AF2B8-E876-4F49-8B8D-E0A65420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Engineers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DC9CCE-53DF-4AAB-8BE3-47A269D0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Build software around the database.</a:t>
            </a:r>
          </a:p>
        </p:txBody>
      </p:sp>
    </p:spTree>
    <p:extLst>
      <p:ext uri="{BB962C8B-B14F-4D97-AF65-F5344CB8AC3E}">
        <p14:creationId xmlns:p14="http://schemas.microsoft.com/office/powerpoint/2010/main" val="15042624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C7B5B6-21E3-4E64-AE98-2F2E33ED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F0BE9-5D7A-40A6-9A11-DFB8D123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End users are not all the same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08D17-A721-4B81-A100-B9CAACE6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categories of end users.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3051B-AF3D-4819-B4EE-BD9B1763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83ADF-772B-4C57-9C43-135B3017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335AC-0486-4FBD-813F-7CE67140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D88AD-0CE0-4B33-BEF5-026605D6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Actors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4BF81-6B29-45E7-894C-3A6C19AB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0664B0-5534-4F78-AD6C-0EC11FA8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CC933-C9F7-4459-AF72-0E543FDE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E9A8C5-5B98-4848-80C2-31466742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Casual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2131E-9104-440C-B0EE-A3B5A8DC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Occasionally ask different queries using query languages.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C9F4A-B42A-4E1A-93C6-288060FF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E0F9A-B891-4428-8396-BD6B37C3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59A80-8818-4EA9-87E6-EBF069A3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Naive / parametric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F58821-5554-46EA-A0ED-4EA4717B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Run repeated canned transactions such as bank or reservation tasks.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60FAA5-FD8A-40A0-A100-C727D73E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3B4D76-13AE-487A-B43E-4C908089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4E4E76-2F46-41BD-AD80-7B17B869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Sophisticated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88D656-651E-417F-B216-649F7DEB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Engineers, scientists or analysts who build complex DBMS-based work.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F0626E-A662-4D31-80C7-BC9F8765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4C7FA-164D-4C7E-BD6C-7698EBF9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C632D2-C26E-403F-A869-343FE886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Stand-alone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25C45A-7549-4501-A56B-95919B66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Use personal databases through packaged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6377256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C25A09-F4E4-418D-BEAF-86C4C0C7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B593A-1877-488E-A158-62AE2CFD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Workers behind the scene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C3E4C-91A6-4AA5-A865-D0FE3F8A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DBMS builders and support roles.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3D14B-BD80-46E4-854A-7271FF73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08F04-7E34-46FC-90FA-B3376ACF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C2840-FB87-4BE7-85E3-40830FA3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93D02-D09E-4A4E-B9BD-190F32E3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Actors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9C9B4-84C0-4999-8CCB-92BA986D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4B2AE5-6023-4802-BDFD-B37FCED4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4BDB8-A3F5-4ED7-A3BD-40925493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25CFA7-06A8-43EB-A835-665AF748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812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DBMS designers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BC3AF-1994-4F97-8D91-5E51657A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62225"/>
            <a:ext cx="26860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Design and implement DBMS modules and interfaces.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1F5582-C9F5-4CE0-81E3-54A96848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46C87-9524-4523-9E85-263082EA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4B175A-20DA-49BE-BF18-C505D816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812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Tool developers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C1417C-787E-4487-821B-7BC3D839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62225"/>
            <a:ext cx="26860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Build design, monitoring, prototyping and testing tools.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F75421-7A94-4747-8533-353DD35B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327E1-45FD-407C-AD1E-26C3DA0C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6AA717-B493-4D37-9364-24E66A66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812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Operators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03FBF1-A6A3-4591-92F1-1AEED4B5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62225"/>
            <a:ext cx="26860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Run and maintain hardware and software environment.</a:t>
            </a:r>
          </a:p>
        </p:txBody>
      </p:sp>
    </p:spTree>
    <p:extLst>
      <p:ext uri="{BB962C8B-B14F-4D97-AF65-F5344CB8AC3E}">
        <p14:creationId xmlns:p14="http://schemas.microsoft.com/office/powerpoint/2010/main" val="4770734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8C914A-333D-486A-B42A-97690B50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222AB-1A35-40FB-A8D9-406FB244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DBMS advantages are practical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8CAFD-FA5B-42F5-9318-14D45822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Summarize the major benefits.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8D962-A2ED-4C02-B2D1-6AA3F3B6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E8704-C26E-4A83-B54B-165DADB9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B403F-1E40-45B5-A6EC-FE479D1C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97C11-5B22-484E-BA4E-049974F8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Advantages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C0EC8-52AC-4DBF-8EC1-FAC77F40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A3170-42ED-44A1-AC2D-197615BA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45ADB-2085-487E-A974-29B6377C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DBMS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6E642-E664-4CAE-8653-B82A2319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02CBD-4443-47B3-923F-9A76E1AD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321C3-8683-4902-A4BC-38805CA2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Redundancy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CCF45B-545D-4A40-B0C4-6010B607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Controls duplication and inconsistency.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81DED-F79A-4453-B922-6126B10F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CDCB4A-E517-44E3-9F79-F8D526DA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8E04A-BA64-4789-BA5A-18D80170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Security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43C52D-DA56-4BBB-AA6F-5157EBE5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Restricts unauthorized access.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C80593-36EA-43DF-AFB6-1A1B86FB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0D938B-0E4A-4E50-BBF1-CB54C109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D95B0C-F7EC-40FA-9644-EB251D7C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7C8FF"/>
                </a:solidFill>
              </a:defRPr>
            </a:pPr>
            <a:r>
              <a:rPr sz="1650" b="1">
                <a:solidFill>
                  <a:srgbClr val="77C8FF"/>
                </a:solidFill>
              </a:rPr>
              <a:t>Query speed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700F0F-1CA8-455F-AE1E-8B8027B1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Uses storage structures and optimization.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B87EA2-E12F-4DBE-94AC-0E8F5696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783822-66D1-4144-A0B2-A0D287A3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9614A8-9CA1-4065-AC4A-AFF34E1B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Recovery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85EE84-D279-48E6-996D-0958610C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Restores database after failures.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84184B-9E87-411A-A456-D293FD29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A2844B-9B81-4EDE-9874-C113BAA6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327D8B-F8BB-415F-9FA1-337D9438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Interfaces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59D3CE-B303-46BE-AC1A-F72FFE1A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72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Supports different user types.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9DC0A8-79E2-43D7-A902-C2AA1BF0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5EF837-7299-4D5D-A582-A0F6DCB0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FCA30D-0DBF-4FC9-AC20-38EF8BF4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Integrity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558A38-25CD-4DD0-8B4E-4216A673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Enforces keys, domains and references.</a:t>
            </a:r>
          </a:p>
        </p:txBody>
      </p:sp>
    </p:spTree>
    <p:extLst>
      <p:ext uri="{BB962C8B-B14F-4D97-AF65-F5344CB8AC3E}">
        <p14:creationId xmlns:p14="http://schemas.microsoft.com/office/powerpoint/2010/main" val="8990821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C90371-C953-47A9-BC93-AE088A40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216B4-4F28-4A1D-ABF6-1178449C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Integrity constraints keep data believable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8026D-8E61-4C2D-AC99-BE12D7F3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domain, referential and key constraints.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E2423F-95D9-4090-9D1B-86092AE6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E096B-FFED-4B4E-AD16-3A2B3DC2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112E0-00A9-42C3-AD58-75832CCA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55454-4BE9-42FE-86D3-A80525DB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Advantages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39D528-C631-4A23-976A-EC784401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6B2B9-EB89-4422-ADEA-94717FA9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875CD-0E27-4DCF-8B33-4A0303A9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1D1E9-FCB4-4EDE-9D7C-82B1A1B2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Domain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BEB500-8035-4F98-BC5E-38E2A6C1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Attribute values must come from allowed type or range.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F8D6C-E394-4BCC-92F6-8E112B85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48263A-3536-4121-9010-AB53B9D1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817E9-C548-4A44-90B8-DD06F53E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Key / uniqueness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4A072E-AD29-4C36-A2B5-4F4C527C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Each entity or tuple can be uniquely identified.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501E2A-2D28-481B-AB96-E24A9EEF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D596EF-F3A7-4B3A-A9DB-704C8CE3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6F2739-525A-4A6A-9879-1796419F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Referential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F3DCF-C2BB-4CC2-95E4-2883300F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 foreign key must refer to an existing related record.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B8CE48-BF6B-416B-911E-06AF7ADF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273AF9-2607-4C8F-B79E-793D69A5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404375-C214-4244-AD1E-DB8A1829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Rules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4678E3-F6DF-42B7-9078-3B9395E7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Active or deductive rules can infer data or trigger actions.</a:t>
            </a:r>
          </a:p>
        </p:txBody>
      </p:sp>
    </p:spTree>
    <p:extLst>
      <p:ext uri="{BB962C8B-B14F-4D97-AF65-F5344CB8AC3E}">
        <p14:creationId xmlns:p14="http://schemas.microsoft.com/office/powerpoint/2010/main" val="5977426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8235A0-8887-4042-8AAD-63E819EF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949D2-527C-410C-B2C9-76B5EFD3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Database applications evolved with data needs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8FAB9-65EF-48F6-94F6-75626B49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the historical progression.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F1C5D-34D4-4959-9D42-25B79945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E521A-6760-4AFB-A65A-C1CA2A58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5DC15-640E-40E6-A7EA-11F4B0AB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3A264-2D73-4782-ABE2-F7C480DF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7A63D-D49C-43F5-B637-1ADDAAAF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9CB55B-0D66-4009-9F3D-2E7A8230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167F4-3986-4FB8-80F6-5F77A256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Hierarchical / network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331633-203A-429F-87C5-116787FB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DA962-8F5E-4EE7-8BDF-6C87FC90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9F89C-B494-4FC1-AC77-B3EE0486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Relational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412B41-FB10-4237-85C1-8D4A987F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67092-8286-470F-B7C8-E2842D11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913550-D21E-4BEF-B213-D60A05D4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Object-oriented / ORDBMS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B731DA-6372-4121-A367-AB749AC2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D1EE0A-07BC-4A8E-A55B-ABD006B8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3E07B2-6343-41C5-BFA6-50A6EAB9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Web and e-commerce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4E6B3C-D160-4608-BDB4-EB18AEC6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F4B583-628E-4304-83D7-17E6083D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135FC0-3B82-4ED0-A0EC-5F5841E2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XML, multimedia and mining</a:t>
            </a:r>
          </a:p>
        </p:txBody>
      </p:sp>
    </p:spTree>
    <p:extLst>
      <p:ext uri="{BB962C8B-B14F-4D97-AF65-F5344CB8AC3E}">
        <p14:creationId xmlns:p14="http://schemas.microsoft.com/office/powerpoint/2010/main" val="162650929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34E2A2-65F5-4A2D-BA79-FCA0CCCC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FD583-BDB6-430C-8A2B-531E4CC9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When not to use a DBMS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A2E18-483A-4C93-B08D-74049A70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cost and unsuitable cases.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F7CE7-EA2A-4EDB-B05E-25400A96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4EA08-F325-4DC1-858B-740BC664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B03CA-FD75-4868-AE68-CA810C75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3E8A7-E64F-4520-BC04-8A27A3BD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Limits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5B040-C215-4821-9E42-5F619946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7C1E5B-1653-4BF7-9FD2-D1547EC2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8165A-7E88-451E-B259-7603EDC9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3B5CCB-F8AF-4813-9028-8DF3C9DA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High initial investment and possible hardware cost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3D5B8-B2CC-4AAF-BA7C-90631D3E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BF497-AA45-4C64-8764-C799187F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CCD47-2122-4BA6-B972-A3F48DE7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Overhead for security, concurrency, recovery and integrity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03B97F-070F-4F2B-B57F-C7F75525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D354DD-78F1-443A-B347-E62A423F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9F09C-03AF-4FFF-A5D9-2428F3B8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Simple fixed applications may not need DBMS generality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11D047-F98E-495E-B4F5-A8804095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8419AF-69B1-4BE1-910F-CF48A34F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ED0247-A6FE-466A-82A5-B86C81C5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Strict real-time systems may reject DBMS overhead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B1895F-1102-4283-90F7-3B543C5A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2D3157-004E-405B-9ACA-F1922412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CFC727-9755-4CC7-857B-659C4834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Some complex special operations may exceed DBMS support</a:t>
            </a:r>
          </a:p>
        </p:txBody>
      </p:sp>
    </p:spTree>
    <p:extLst>
      <p:ext uri="{BB962C8B-B14F-4D97-AF65-F5344CB8AC3E}">
        <p14:creationId xmlns:p14="http://schemas.microsoft.com/office/powerpoint/2010/main" val="96045310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76DBF5-F97D-4021-B223-9168555E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6322A-EEFE-4C59-BDB1-246F00D8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Data models provide abstraction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BD8DC-7A2A-4DEA-82C6-74C715F5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data model categories.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70AC9-6408-43D8-8686-FC489FED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DFF7D-4AA5-4FC4-AA94-4000E8BC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DD045-AC5B-4684-B69E-23ECC404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6AD50-F66C-43B6-9417-79C9C47D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3E8D7-D85C-42FA-A6CB-D0639EAA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8896B-2527-4CBC-9D59-EE8212BD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Data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CAF0A-2ECB-4287-9BA6-57C84451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data model is a collection of concepts used to describe database structure: data types, relationships, constraints and basic operations.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F42A6-BB48-4C94-AA18-311B4376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F90EB-7112-48B1-A48A-A94D5D4F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B33F5-48F0-4B16-9485-ADCC90E3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0B0FF-501E-4143-857D-28F4072B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CE4166-BA98-4326-B0F3-12A026B0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Relationships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65FEC4-CE84-4848-86D6-DAF8762A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2DA87D-EEEC-435D-9BCE-2D3A2487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A96FD-CB9C-4224-83D4-0A195336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Constraints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8BEC1F-76B9-4380-B7B3-6311BDFD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F1EB8A-34B0-4580-9263-FE325CAC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235B63-85EB-4224-B4D7-030BC138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Operations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4C5DAF-F2B1-43BE-90B6-B2C72103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CEC51B-AEF1-48D4-A775-1871C09D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69AF2E-1F4A-4DD9-A47D-62E94594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Abstraction</a:t>
            </a:r>
          </a:p>
        </p:txBody>
      </p:sp>
    </p:spTree>
    <p:extLst>
      <p:ext uri="{BB962C8B-B14F-4D97-AF65-F5344CB8AC3E}">
        <p14:creationId xmlns:p14="http://schemas.microsoft.com/office/powerpoint/2010/main" val="163075518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B980CF-4EAA-4A71-BC22-66F64609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140CD-6755-4F6E-9565-03D2CC73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Categories of data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857A1-5CF1-4E81-AAC8-10353FFB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conceptual, physical and representational models.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56951-6A0C-4DF8-958F-C6B23531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39DBB-8DB2-4DC8-9BF1-59E954AC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69EB1-03A3-42E4-88F0-808DEFCE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34ED0-BEE1-4B18-BD8C-0A5D918A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38C0F1-CA57-424D-8167-093C43C3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01FAC-DCAD-41B6-A3A9-446D0C7A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4AD80-CAB7-4640-99DA-C3CDF1FA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52B60A-5223-472E-BD5E-907065AE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812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Conceptual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631F5-8F38-49B9-82BE-A9200D52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62225"/>
            <a:ext cx="26860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Close to user thinking: entities, attributes and relationships.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225BA-2289-4C06-8F66-A22B785C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02BBFE-A441-4444-87CC-62C80484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02F61-4CCD-49AD-AFD4-4EC32E28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812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Physical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EB403-7F6A-4985-980E-01453E1E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62225"/>
            <a:ext cx="26860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Close to storage details on disk and access paths.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317871-2961-4DD9-900D-03B108FE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236BA-EB24-49C1-A445-A7B00167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CFD0B-8BF1-478D-9A29-A5B9C548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812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Representational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6AF87C-314A-42CD-BA6A-C1A5D65F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62225"/>
            <a:ext cx="26860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Between the two; understandable and directly implementable.</a:t>
            </a:r>
          </a:p>
        </p:txBody>
      </p:sp>
    </p:spTree>
    <p:extLst>
      <p:ext uri="{BB962C8B-B14F-4D97-AF65-F5344CB8AC3E}">
        <p14:creationId xmlns:p14="http://schemas.microsoft.com/office/powerpoint/2010/main" val="193572078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8A5DD2-203B-4FC3-91D4-77C8995D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E0646-B809-4654-A412-63CF2156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Schemas and instances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D3BB8-E7DF-4782-9663-51232554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Separate stable design from changing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4D49D-B861-4692-9030-12F09A22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5C8BA-8FEF-4BA6-8E3C-688D7A21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145AB-B246-44BF-AA8E-4DBFC5FF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69621F-5B91-4CD4-82D8-66EA1A02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4254E-6EC1-4B7B-BD78-F8678CAB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07A57-EDEE-4E72-B5CF-8B8FB4D4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A37D7-E2CA-4A3E-A407-775CE6FD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B21A0B-1378-4E05-BC04-E9A2A694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Schema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E4F11-81D0-4D90-86DD-09456F24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137CB-6558-4464-AE75-4FC8CF89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E91584-BFC1-4B58-9287-C72468BE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A6F3ED-40A2-4D06-AF5C-B2E93045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Instance /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6EE49E-95A4-4028-AF5A-9AB17DD6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72BF96-DC80-437E-940A-260CA5B2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D020C0-67B3-4FA0-8E02-07B10A15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9A486E-4FFA-4F7E-9EF6-12E9606D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Database description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DE8CE4-15FF-403F-A66C-F1523363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759EB3-AEBF-4AC5-8F49-5C2CEF71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2C981C-871D-4EC9-B7EB-82DB6C6E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Specified during design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2DB606-95CD-47B4-99BF-8F011F3E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88C47E-DC68-4538-899C-6F20BD6B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695C2E-48D6-43D5-85A0-E61B889D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Changes infrequently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C6C677-7E35-4312-8C2B-E7C51E8B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E0A830-67F4-47E0-9968-0AFECD0A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5596A7-5949-4E39-AE67-19BF856B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Shown as schema diagram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F9879F-7F55-4063-A261-A86368EE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3E3A98-3C78-44EE-BECB-21F78DDC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637833-6289-46A3-8747-0626A426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Actual data at a time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B7E4F9-CA3C-4694-A1FE-146938D6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E787A5-76DE-4628-B46B-9BF3FB16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C3F5DB-C758-480A-879C-FCA05914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Changes after updates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4D654C-98C2-41D1-88B7-FC0B346D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2B281A-3FB4-41D1-A916-47222482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EB88C7-1F09-4BF2-A838-658190A3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Also called snapshot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B55BE1-5ED1-4B32-92CD-F104A382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68DB48-BBD4-4AE4-A8A2-693ACA44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DD304F-5E5D-44D5-953E-1B282023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Contains current occurrences</a:t>
            </a:r>
          </a:p>
        </p:txBody>
      </p:sp>
    </p:spTree>
    <p:extLst>
      <p:ext uri="{BB962C8B-B14F-4D97-AF65-F5344CB8AC3E}">
        <p14:creationId xmlns:p14="http://schemas.microsoft.com/office/powerpoint/2010/main" val="185367858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B64021-AD70-4E05-9C14-46C6C204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8086E-879A-4544-9BDD-A481AA13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Three-schema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59BA8-BDA3-4BAC-9E2B-35A55388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external, conceptual and internal levels.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CE07D-38DA-4A36-B9B3-60BC3379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A9EA6-840E-426D-9185-314BF37E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4794D-47BF-4C02-A561-48147E40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D673C-38B7-4525-BD0F-3BC44492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200452-C0FA-4AAC-B504-B10B13C6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C5116-AC85-4ECD-8C2E-0D1D1AC5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7FA37-7F6C-4A83-8A29-F92E9E15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Database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FAFD0-A82E-4FEF-945F-6E8EE37C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437BD-0AC6-4A74-A93E-9F5DC43E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086D6F-47C3-40E2-8A75-28A2C4B5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External schema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F6EC8-BD2A-4D6B-92FC-4521DCCB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User-specific views.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B1E5BC-1BFC-4F0B-A0B2-0988358D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C1AE09-6809-42EB-967A-2C223BDF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8505B0-5B93-4DD7-BB45-6EA3920D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Conceptual schema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F39970-03ED-49F4-9905-4440E20A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Whole logical database.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5DD2CD-C308-4A5A-AFDA-A49F6A56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B82190-4283-4B1A-9E96-ACF177BB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10E7E0-C168-4EAC-883B-73BAE7C3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7C8FF"/>
                </a:solidFill>
              </a:defRPr>
            </a:pPr>
            <a:r>
              <a:rPr sz="1650" b="1">
                <a:solidFill>
                  <a:srgbClr val="77C8FF"/>
                </a:solidFill>
              </a:rPr>
              <a:t>Internal schema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C9E76E-C054-445E-9CD9-A232AD4A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Physical storage details.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8149C1-F0BD-47F0-8950-03EE4582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E71304-279E-4947-97CF-D4B94DB5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021958-5B33-4FB7-8E42-6B4941F8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Mappings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9E5DA8-2742-4C8A-BAFA-26EEEA51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Connect levels.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ECF05B-F60B-41AB-9F5C-34092EBF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3393AD-FEEF-46D4-9AE0-89FE46FB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12C4A8-B82D-4AC2-9BF0-57ED1BA5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Abstraction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FAB892-CF46-4A73-B069-62D44346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72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Hide unnecessary detail.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6B9313-04E3-493F-B48D-A804D75B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B53BED-F619-423D-8AF9-72983295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0C0164-6E2A-42C9-B4E8-74B8B169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Independence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E7F6AF-2840-44ED-A0CC-34EF4EA3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Protect users and programs.</a:t>
            </a:r>
          </a:p>
        </p:txBody>
      </p:sp>
    </p:spTree>
    <p:extLst>
      <p:ext uri="{BB962C8B-B14F-4D97-AF65-F5344CB8AC3E}">
        <p14:creationId xmlns:p14="http://schemas.microsoft.com/office/powerpoint/2010/main" val="129570447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D5F582-F506-4387-9EB6-2E31D423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E00A3-CB63-4DA4-B514-CE75D7DC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Data independence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EB0F2-5EF6-47B6-BF4A-80C6D060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logical and physical independence.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9D1A5-7AE1-48C2-B066-636DBBD7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B9623-244B-4558-A24D-45834DA7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34D42-0E76-4171-A019-8404D42E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DEA2C-7B47-4976-AC11-6E980AB5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BDACB-03D2-4B10-B7FD-CB4092E6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96787-8A6E-4F2F-9152-CF98FE04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1EEE8-8604-41D7-91AB-C90674C3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8E29E-D8AC-4FE0-9041-F03F9880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Logical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B66F3-8032-4A33-A0BC-8491129B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58A41-AFF5-4BF4-B865-B913E730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287D9-B86C-4418-BCA3-5E7753D3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D38F0-CBA8-4BC7-82F4-6D1A1017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Physical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2F5AFD-4321-4DFB-8877-93E62F6D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3B4151-6FFD-4EFB-B8D8-60FD17BA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AD1283-8653-465E-B93F-DA336ADF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B06D24-99F5-493B-BAAD-F317372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Change conceptual schema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C9327B-90CE-4F02-B8AD-CF72CC09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98F2AD-85D6-4576-A62D-2F2A82A8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7E6200-951F-4080-A9ED-DFA4A911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External views may remain stable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4BBA74-566E-43E4-A48D-12F8B4D5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32EBB2-3222-4A4A-843F-E0717889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3E30E8-1EC7-4CD4-84C0-70C9F5A4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Example: add a new entity or attribute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20F19C-9FB3-4408-914F-62F7C957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44B9E8-CC2E-4898-BB84-05D4D4F3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CBD0B3-F8CC-4EDE-A0A1-3DC275DF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Change internal storage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FB104C-C9A6-4BFA-817D-1403BF02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B952EB-2E95-4578-9D7B-6A1ED26D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E67FDE-349E-4BE6-BCE9-C013AD47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Conceptual schema remains stable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3DB198-CC5A-4CFA-A3A1-968CE782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D7168D-000D-4F9E-B354-E5D5C180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16BA3E-B3BE-4C02-9F0F-6275DEBF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Example: add index or reorganize file</a:t>
            </a:r>
          </a:p>
        </p:txBody>
      </p:sp>
    </p:spTree>
    <p:extLst>
      <p:ext uri="{BB962C8B-B14F-4D97-AF65-F5344CB8AC3E}">
        <p14:creationId xmlns:p14="http://schemas.microsoft.com/office/powerpoint/2010/main" val="213871275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240C87-7BA2-4698-BF92-9237640B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3957F-AFD5-4E49-A6D6-9011EC1C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DBMS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5C355-E400-4A28-A0C5-42F35E25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language roles.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DEDA8-7D93-4AFB-9991-CD9E350F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02A9C-E5DE-4977-8297-32412B56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C8332-881A-44E4-9F04-CC747015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857F4-FDC3-4920-A516-C21C771C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Languages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C8A71-8E7D-412D-9ADA-A05B6523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000939-1AF9-4246-B3DC-98B3FB55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381F9-D332-4392-B29E-16A2CF4F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670278-51F6-4562-9998-5B8CFE28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DDL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FB83AA-45E8-4CBD-8189-23F985C1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Defines schemas and constraints.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BB564F-6244-4636-92AE-263B1EDA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C78312-17C1-4D84-B14C-59DEED43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14659F-CEAB-4AD6-A369-5711CC2C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DML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E606C0-B374-475C-939E-00830D9B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Retrieves and updates stored data.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0FF567-84A0-41DC-B409-1E68EDCD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B62786-C402-4EB4-B085-520A460D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73CC35-BE91-4FDC-9574-085B1B6A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SDL / VDL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EEF02C-6223-4428-AB85-64B8A6D1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Specify storage details and user views where supported.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F6CB22-DA93-41F9-BAD0-DC5361D4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E6E385-60EC-454C-BFE7-9C759750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F1F2E9-6050-431E-9E5C-AD47B201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Transactions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BC5ABF-0B26-47B6-ACCF-152FD1CA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Group database operations into logical units.</a:t>
            </a:r>
          </a:p>
        </p:txBody>
      </p:sp>
    </p:spTree>
    <p:extLst>
      <p:ext uri="{BB962C8B-B14F-4D97-AF65-F5344CB8AC3E}">
        <p14:creationId xmlns:p14="http://schemas.microsoft.com/office/powerpoint/2010/main" val="53684079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412DA4-7858-4E17-A14D-0184ED9E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851DD-3334-452E-9898-4DEBF408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DBMS interfaces match user skill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9C7C6-C377-4F1B-A606-AF27DFAB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interface types.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A82B0-72DD-466F-9189-CEC489B3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1801B-2DA5-4906-8D65-7F229049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293C8-ACA3-4B07-8D66-DD29C40D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84897-19BD-423A-998A-05225D7D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Interfaces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52882-ECE2-4ED2-9F20-567518DE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37F79-09C1-4C64-94AD-52087FC2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FEFDCD-5F26-4120-8FA2-4B8AE216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903D0-64AB-4490-B651-A4C97519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Menu / forms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CAD3A5-EE80-4286-822A-4602DC24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Parametric users perform routine transactions.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99CD34-88A4-40A2-9921-3EE2FB5F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0EB35-0D9D-434C-ABD5-E995A653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8A3B97-2700-482B-9376-1306367E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Query language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61161F-106E-4CEA-BF04-EF215BCA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Casual users ask flexible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7B9946-D780-4C71-88B0-DB8A22DD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AA4D56-FD60-4527-BDBD-DADBE9AB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42F4E7-5AEE-42D0-A187-132D2B9B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Programming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6A37E9-1964-4C6A-BB9C-AA673519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Developers embed database access in software.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76E31B-6A44-4583-9BF1-E095F38C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76EA65-476B-40FF-8390-A58A8D94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5B3A3E-4CE8-49B3-B8AC-F9509B39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Natural / graphical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D77FC9-FB62-485B-96F7-993EAC23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Support easier interaction and design.</a:t>
            </a:r>
          </a:p>
        </p:txBody>
      </p:sp>
    </p:spTree>
    <p:extLst>
      <p:ext uri="{BB962C8B-B14F-4D97-AF65-F5344CB8AC3E}">
        <p14:creationId xmlns:p14="http://schemas.microsoft.com/office/powerpoint/2010/main" val="118154273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D0CE1B-27B3-428B-8BB4-64CE5203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F9F1B-2424-4FA7-BBD3-E64E627B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Database system utilities and tools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193DA-ACBD-4EE5-8741-3F3B33C7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supporting components.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1912A-54EF-432A-8047-F926758F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F9C8C-9AFC-419B-8C5A-286F4316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ABC0F-4695-496D-A0A4-4BF4AC08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B1BC7-DEA9-485A-88BD-2A4AFA44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Environment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8DAF6-79C3-4BD9-800A-39C74D5C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49086-5782-466C-B983-095FD9D1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10A77-90D3-4BB1-9BA9-2FB54BEA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Utilities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3EC49-B305-4F3B-A44B-27676B1B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A2FAD-7CE2-4E8F-884F-9D6931F0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93F11-D367-4192-A4CE-68215CC4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Loading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FE65B3-9C18-4722-9A3E-289767EB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Import data into database.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8CA55-99C4-40F0-8B15-7CAE9066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78D5AE-C4AE-4F1C-A5A6-F0D0B526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DDED71-5F83-4478-925B-CEBB24A3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Backup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6654F7-062C-4CBE-A2A1-C528B271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Copy data for recovery.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EC988C-9383-4F5B-ABE6-3D4DF4BC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108C96-77A7-4BC6-8F76-B2248BF1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873935-3FEE-4FC6-AFB7-31891928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7C8FF"/>
                </a:solidFill>
              </a:defRPr>
            </a:pPr>
            <a:r>
              <a:rPr sz="1650" b="1">
                <a:solidFill>
                  <a:srgbClr val="77C8FF"/>
                </a:solidFill>
              </a:rPr>
              <a:t>Reorganization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15ABB3-1EAB-481B-89D6-E4789763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Improve storage layout.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C1482B-8F9D-4DAB-BA98-88D4519C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EBC854-82B0-4A05-B7B9-0A36E481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C72398-D457-4DB5-8FCC-828F3D39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Monitoring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393775-2A39-4491-BEB1-5B83C459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Track performance and usage.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B077F9-E894-4DF6-86CD-011C0913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545772-5230-4488-9FE7-747FEE18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8CE5C5-96E4-4A88-A535-253CBFD2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Design tools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7B65E9-6E7A-4B73-8371-C99F6F6C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72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Model and generate schema.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F99A58-56F5-4718-BC67-07D36526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2C168C-EDB1-4C8E-BA3B-320B6410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776E56-9063-4D52-8203-3EA71ED1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Communication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C23E6A-6106-47E0-B73D-168F7677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Support distributed access.</a:t>
            </a:r>
          </a:p>
        </p:txBody>
      </p:sp>
    </p:spTree>
    <p:extLst>
      <p:ext uri="{BB962C8B-B14F-4D97-AF65-F5344CB8AC3E}">
        <p14:creationId xmlns:p14="http://schemas.microsoft.com/office/powerpoint/2010/main" val="86574715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964BEF-8B51-473D-942F-4BD162EC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F7D48-1212-4000-90C8-221B9114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Centralized and client/server DBMS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EACBA-0045-4A0E-BC03-EC35132D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deployment styles.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63CD4-6BB5-48EF-91C0-98EAA9AB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60283-E2B8-4E85-8BA4-2F49FBB2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9034C-A73C-4AB4-8FCB-261FDFA7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FBC69-6AC3-4393-B3E1-A645397D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27CEA0-72CC-4210-B7E2-7C8F1487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9AE0C-F2F3-4A12-87BD-D797672A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CB104-C6CA-4F3F-9DFC-7A79A6C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4F1848-6871-4894-91A7-03DB491B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Centralized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BCE60-F42B-4711-AC4F-D3D5E705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CB0EA9-0B58-4FC6-9F08-49AED5B9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7F2CC-E85F-46A8-9E91-F5DB2A9A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3D528B-6EFD-41E0-B325-4878664D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Client/server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27CAF2-DC2E-46CD-9DD9-2AC6F144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19AB7E-9C94-47E2-BCAF-08E6BFC6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83DD1A-D764-43C6-B7FE-BF961631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EDFB9E-CA28-4E96-8938-E261C2AB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All DBMS work on one computer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B3D091-EFD7-45BA-8256-936B1C46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747E15-CDDB-4930-A8A7-B1B1A1B4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47DEC8-3825-47A9-9D67-76B78634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Users connect through terminals/apps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A5BCAD-432D-4598-80EC-A5C3E11E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CB9646-1C82-4DA9-8FA8-9FCB328B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937A85-6489-4752-830A-DA43597B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Simpler control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415F53-D10E-472D-ABCE-6F78422D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79F161-50BD-4806-ACEA-232983C8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64CF62-1667-4D47-B085-2A968D5F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Limited by central machine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541FF3-550D-4862-A022-E8779B27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E186E0-4259-4A5C-94EF-7B094D87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DB0942-F1E5-44BE-9BF2-BC7D9B93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Clients send requests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80181D-D214-4199-9A06-987EF00C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B918D2-C91B-4840-A85D-2048EFF6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A2FB9E-99E5-46D2-AFB5-3805DC26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Server runs DBMS services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927712-4B28-4D21-ADE2-DBED3240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A4A0DE-5046-492F-AC7B-0E00A568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860DE6-B926-4955-A906-58FB2402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Two-tier or three-tier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4122B2-CE0E-440F-B8D6-2BDBBAEC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BBEDD4-DF32-457E-89A3-0769210F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1A3065-95FD-46C3-B561-D45EE814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Supports web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6003151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7B89F0-9339-4F21-B574-A1505C52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8A179-E96A-4E26-9093-35F44F80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Two-tier, three-tier and n-tier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4B565-92DF-4EE2-8995-A0BA7FA1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web application architecture.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249F5-1FE5-4DB9-9286-A725E640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285C0-1523-42A9-807F-8417850C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CB5DF-6E25-4F40-9DBA-84B91B89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C470E-EE64-4D2B-8AC5-A2D802E9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495F6-4263-4092-9225-39A7694B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EFC735-36FE-4D1A-B495-C4BA444D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D5788-7C7B-486A-BB1F-0019078D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Client / browser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0C60BE-A72F-4430-86EC-1165A349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93DE3F-7012-40FA-8593-5593C83B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4ED268-D04C-45AE-8A70-9A65A918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Application server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AEA0EE-1809-40F2-9535-B7E5D028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C23876-20D8-4368-9882-3772386B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CB3AA8-48F3-45F7-A7E1-2C50AD97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DBMS server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346F4A-F253-4312-B02A-05F4FDC7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87CCCA-CCAF-4FB5-9E9A-5C5B7F8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C62393-59C8-45A6-908C-D5543F45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Database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FE8E03-491A-4EA5-80DE-B639F5AB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410D7D-8E24-4765-A2BB-02579949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D5116B-85D8-4A3E-924E-C9FD0DC2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Response to user</a:t>
            </a:r>
          </a:p>
        </p:txBody>
      </p:sp>
    </p:spTree>
    <p:extLst>
      <p:ext uri="{BB962C8B-B14F-4D97-AF65-F5344CB8AC3E}">
        <p14:creationId xmlns:p14="http://schemas.microsoft.com/office/powerpoint/2010/main" val="12635074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3E94AA-8B3A-47E1-982D-CDA72E68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56938-E0E5-40FC-850C-2472DD3C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DBMS classification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CFDF8-D70B-4C3B-8893-CA41F521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common classification dimensions.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791DE-D75B-4F6D-AFF2-B3F12F5E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762A8-EACB-47CE-B6B6-B926A6E4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97AB9-FFC9-411D-80EB-796A8485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F58A5-ED3B-40A8-81DF-2273FD9A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Classification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DD879-E7BC-4474-BEDB-6BCF0A6C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CD2A0-B58B-4331-BFB6-786496DB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0850E-409B-4E02-B903-AE454962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6EFC5-F82F-4C70-B8CC-C815CCC6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Data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17E3D3-0ECC-4E38-BDB0-4A597704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Relational, object, object-relational, hierarchical, network.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58779-FD2B-4099-A282-0ECCAC48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8C3C47-C256-4C30-9B59-EE547D5E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B7E75-36F7-4A45-8F2F-6E94EE8C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Users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8F2A8-731E-45C6-A822-C86E8DBD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Single-user or multiuser.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8897E2-E3A2-4625-8E8D-E8B79542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AC22A6-5590-4EE4-98A6-1A2C34F3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07EBEB-F879-49D0-907D-72FBE26F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Sites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9B1D86-DA77-40AB-8AC1-62FF8E53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Centralized or distributed.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40CCB5-F7FC-4867-ACA2-373C3B8F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2E2F67-33B4-4F0A-995E-632D3ACA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EF0744-8D31-4BC3-9E12-FB9874A8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Cost / purpose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86BA65-5013-4D18-907E-7B34A24C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General-purpose, special-purpose, open-source or commercial.</a:t>
            </a:r>
          </a:p>
        </p:txBody>
      </p:sp>
    </p:spTree>
    <p:extLst>
      <p:ext uri="{BB962C8B-B14F-4D97-AF65-F5344CB8AC3E}">
        <p14:creationId xmlns:p14="http://schemas.microsoft.com/office/powerpoint/2010/main" val="156830316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1B20F7-35DB-44BB-B149-DFB2EBD6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E55F7-D077-44B1-A2EA-427F531D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Conceptual design starts with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0D454-F4D6-47E2-9D22-7D69B581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database design phases.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92262-2E2F-4127-BD81-A38D2983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4845A-2706-490C-BF73-6BD912E2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84717-D12B-4D09-B521-417660E4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B561A-C4B2-4C9E-A80E-9DAC5794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ER Modeling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4BE1A-9296-461D-B7E1-2D3E1CD1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ED839-866D-4453-A799-40F07C28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73F21-F311-4C18-82FD-6A32E246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Requirements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7A4C7-1B0B-49DC-8350-3A36F2A9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4C13A-49B1-42B9-AA5C-D12E723B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037D64-993A-43C3-A56A-06D93819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Conceptual schema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F20398-771B-4DC3-B4D6-1DA17947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3CF359-A73C-43F8-B3C0-4FC3CAD8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72E3DB-AEDA-43A8-A93D-5CACF6D4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Logical schema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FA63C8-647B-4CDC-B546-29836C50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16EE97-ACF2-444F-B1D4-636615B1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346914-1DF6-4AE5-A594-203A2716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Physical schema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776EAF-A0FE-40D3-8A73-9FD73340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64B42E-29CA-4560-849B-2B034B02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81DE98-714B-4829-BA50-BC749822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32460599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144AD1-FCB5-47F3-BA34-AB54BAAF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D5515-7D1A-411F-A4A2-D3E81F08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Entities and attributes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A5ED8-4DD6-4317-A660-B341A335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ER model building blocks.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F8B52-CA17-4C63-BCCF-A22BA330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FF392-5EB0-41D7-83F4-93148DE9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83C89-7136-4E91-B2B9-A6FE41F2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7941D-9EBC-4A81-B915-246394E5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ER Modeling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768BC-338B-4175-A8A7-8F6AE872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F9CD5-1256-4AB4-A355-D2C2C670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Entity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FDEAD-9A99-42CB-AC6F-752BF71F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An entity is a real-world object or concept; an attribute is a property that describes that entity.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EBB654-39B7-4B16-8DDE-21F8EB12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63B36-8812-4CCF-AD67-F644F2EE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4F9DE-4741-4885-9EC7-025304F6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E3467D-DC73-469E-BC57-5CA7E561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4C560E-5E56-49C3-B396-92C1FC5E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Attribute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76BE06-7F85-47F0-BA55-0207F158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46FED-05C8-4596-809C-278D9F55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1D5C51-00BC-479A-BB95-52A3CB00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Entity type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BDF84-B91C-4FD4-A79E-2C780B58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A5D96D-F033-472A-9326-C1193C5E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4ECA53-918F-48AD-923B-88ED125F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Entity set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28D48D-8F59-4DEE-9FE2-8CF0678A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AADEB3-2427-4D70-8980-3449BD00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C63EC0-D45A-41E4-B9D7-69072B7A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Value set</a:t>
            </a:r>
          </a:p>
        </p:txBody>
      </p:sp>
    </p:spTree>
    <p:extLst>
      <p:ext uri="{BB962C8B-B14F-4D97-AF65-F5344CB8AC3E}">
        <p14:creationId xmlns:p14="http://schemas.microsoft.com/office/powerpoint/2010/main" val="193175340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768D49-6618-4CF2-8F64-B8E1AA13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8AFC0-024E-4DC3-A805-85792F1E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Types of attributes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86543-4896-49DA-A23B-A08B2A7D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ER attribute categories.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5671D-B9C4-49A1-8C13-7570B897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65CE3-9BD4-437F-A1BE-EE45C79D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70039-7EE6-43DE-B968-8EE8A291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40437-288A-4977-8713-6495969D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ER Modeling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5D114-CD2D-42CB-A0B5-87237059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3C94F9-FB19-4263-AFC2-2D83D86E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81B39-5E9F-463A-926C-F93B5A73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A31902-E9D0-4DE9-A0C8-5991EA8C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Simple / composite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59A4C-F6CB-436B-8E9A-1D26D212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Atomic value or made of components such as Address.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ACB37A-205A-4CFA-B583-4F41CEC4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C769C-5AED-4C5F-A467-44649A25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8427EB-3868-4E6F-9D7F-9BA36725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Single / multivalued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D2911F-113D-4ECE-94C1-E8CCBEB8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One value or many values such as phone numbers.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51F573-BC15-48B5-9C2B-10DAF7F5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8F670C-8E8D-4F36-9F4A-F88EE9C5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0AC979-862A-4F7A-9319-002FF786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Stored / derived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8FD3FF-4852-4F02-A0A5-CA70E4C6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Stored birth date can derive 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6C76DF-FBBE-4BAC-8886-266962C4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025E9E-883B-46C1-B4EA-52ED7C0E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419671-269D-4DE3-98E1-FBFCA2D6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NULL / complex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4AE3BA-44AF-4AC7-B4A1-0F8FC74E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Unknown, not applicable, absent or nested attributes.</a:t>
            </a:r>
          </a:p>
        </p:txBody>
      </p:sp>
    </p:spTree>
    <p:extLst>
      <p:ext uri="{BB962C8B-B14F-4D97-AF65-F5344CB8AC3E}">
        <p14:creationId xmlns:p14="http://schemas.microsoft.com/office/powerpoint/2010/main" val="192272297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E6AE07-8344-4A7A-8FEA-6414E91A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0DECA-E6EF-4EBB-B74D-4DB1A1E5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Entity types, entity sets and keys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19184-675E-45F5-A186-90C07F08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type, set and key attribute.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DC60D-C07E-4019-8922-A410DD8C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617A2-28FA-4FB8-A324-6A9B21FE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165DC-1D77-4742-A905-27AAFBA5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8977C-E123-4CA6-B1BB-76AFA751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ER Modeling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741172-1627-4BE0-9E1A-D44EBE1F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96B21-8E50-495A-827D-D30510B2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C1566-4150-441F-9AE3-893CDC68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40191-B352-4A32-9C7B-761DE741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Entity 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D32F2-D2CF-428A-A3BB-06F3D164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Defines common structure for similar entities.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DB674-9D5D-4F33-B381-BF7F6BB9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55DBE-880B-4076-A4DE-975D6FD8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021BF6-17B3-48A3-A912-DF9C8DFE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Entity 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7C29FF-AF1E-44E3-AF5B-945E4658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Current collection of entities of that type.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0ECB27-764F-4D07-9E4C-9F907C50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933535-2FA1-43CB-ABA6-06F233AC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F75AAB-04D6-4F26-BF6E-092A47C4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Key attribute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4E6E40-9EED-4E09-BDFA-E6E389F3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Uniquely identifies each entity.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FF60B3-D79F-4786-951D-299AD35A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374EFD-03BB-4C20-A98F-BBCB810F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99D534-881C-40F3-AF4C-781C46E9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Domain / value 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88B1DE-2D47-461A-916B-57F173F0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Allowed values for an attribute.</a:t>
            </a:r>
          </a:p>
        </p:txBody>
      </p:sp>
    </p:spTree>
    <p:extLst>
      <p:ext uri="{BB962C8B-B14F-4D97-AF65-F5344CB8AC3E}">
        <p14:creationId xmlns:p14="http://schemas.microsoft.com/office/powerpoint/2010/main" val="188411158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48D130-F22B-41D4-8EF6-6B64F7D1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9812A-2DAF-48E0-B049-1682FDBB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Relationships connect entities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F7F90-0ACB-4FA3-B28D-BC845664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relationship type and set.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2BB57-88AA-44BA-BE78-80DF95EC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6300A-4A61-4EE2-8478-D79295FB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693F0-C85C-4760-B2E6-C6A25E07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D7432-2B89-406C-8948-488914D9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ER Modeling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6D6E7-29DF-48CC-B9B6-2411ACB3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0CF42-EEBC-45EF-9208-432143E8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Relationship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1DD708-0513-4222-ADF7-72AFD349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relationship is an association among two or more entities; a relationship set contains current relationship instances.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27EAF-CB6C-49A5-A3BB-C0AB0605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43427E-A2E3-4483-9EE1-A3AEBD1A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Association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A95285-EC3F-4A7C-B237-42BC77FA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8AF64-E70D-4EAE-83AB-BC4E2670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C81D1E-BA4B-4A74-94AF-D6A1B78B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Role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E7A62-2669-4801-8D7E-F91344F0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29CDC5-E642-4812-9CEA-8346871A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7B8E5A-C219-4391-858B-D400E21C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Degree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977BAE-44CE-4D01-B365-BC7F7BA4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27828F-83FF-4580-B646-D581CCA0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319681-C22A-4C7C-993B-5572659D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Recursive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E8652A-EDC6-47EB-99D5-9E2103A8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1BEF64-2A10-411C-BBC6-FC7EB9B7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0189BC-3A57-43A7-9F08-869B3117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Relationship attributes</a:t>
            </a:r>
          </a:p>
        </p:txBody>
      </p:sp>
    </p:spTree>
    <p:extLst>
      <p:ext uri="{BB962C8B-B14F-4D97-AF65-F5344CB8AC3E}">
        <p14:creationId xmlns:p14="http://schemas.microsoft.com/office/powerpoint/2010/main" val="15192757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B067D7-7C66-41E6-BE46-B8537EB5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710A6-203A-48B0-BB90-8D524909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ER diagram notation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9F4AA-42C4-432E-8672-E4176996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basic ER shapes.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88B86-EC28-4B14-8BF9-31384142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60A1F-E115-4389-9E49-DD9C3BA8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84C56-C9D2-4003-BC0B-288885F1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75F8C-CAE7-477A-B11D-B35FDE94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ER Modeling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76E2C-610E-4CE2-BCB3-5D334BD5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69060-E76C-4B20-9DCC-C0B091BE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9555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D151E-60DD-4BCC-93E2-008563AE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241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EMPLOYEE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68016-1E5D-4D18-8EE6-250F0353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81250"/>
            <a:ext cx="1619250" cy="9715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7DA28B-22B6-466A-B11B-98D6E452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WORKS_ON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015E4-4AE3-4DB7-845E-508C2D94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9555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2A341E-219A-493B-8B84-294F6F0B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PROJECT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A017B1-AC83-4ACC-A399-53658B3D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5750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8F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69E993-A2D9-45D2-808D-84AE1550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8FB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C39FB3-5016-4E50-81CA-DB8AFF50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05300"/>
            <a:ext cx="857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36DC59-48CB-41A4-AEE0-2725C4A4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053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67742A-671D-4712-BE59-B0B4551E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38650"/>
            <a:ext cx="821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7C8FF"/>
                </a:solidFill>
              </a:defRPr>
            </a:pPr>
            <a:r>
              <a:rPr sz="1650" b="1">
                <a:solidFill>
                  <a:srgbClr val="77C8FF"/>
                </a:solidFill>
              </a:rPr>
              <a:t>Attributes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0E0450-8727-4A46-8C4A-A6D4DE7E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19650"/>
            <a:ext cx="821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Entity attributes such as name, ssn, hours and project number become columns during logical design.</a:t>
            </a:r>
          </a:p>
        </p:txBody>
      </p:sp>
    </p:spTree>
    <p:extLst>
      <p:ext uri="{BB962C8B-B14F-4D97-AF65-F5344CB8AC3E}">
        <p14:creationId xmlns:p14="http://schemas.microsoft.com/office/powerpoint/2010/main" val="60755013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65945C-AB29-4670-A9D8-7E6B826B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7E62D-0128-43BB-850D-F06E581B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Cardinality ratios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FAA88-FC15-4684-9732-EA500387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1:1, 1:N and M:N.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F1767-B44F-4F6A-9093-D36F3819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49A26-9E64-4F2C-8F6E-61ECED00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80E19-DF08-4C05-A644-05FFB2FC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AFD47-98A7-4F74-8365-1B62BC21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ER Modeling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89539B-0BE8-45F6-AC5A-95F4EEEE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1DC2DF-B4BD-4FBF-86CF-48FB15C3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B71259-81A4-4615-A4EB-DDF110D2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948CD4-8DF6-4A2F-A710-2713E4E5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1:1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CD357-6D0D-4E93-AA07-D8B9272B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One entity instance relates to at most one on the other side.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746C4-FCE5-4077-A98C-07C4A876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AFD97-1E46-415D-88B6-0D1BE6C0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3EC2C1-5AA2-40C2-87DD-516EC80B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1:N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34704E-EAA7-4C06-81D6-FD79DC70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One entity instance relates to many on the other side.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79B16A-BCBE-4409-B819-2BCA0D14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F39FA-D90D-44FA-9909-51584C08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DA436A-D13F-4CE9-AE83-B09B5067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M:N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215BDC-4579-496B-8520-C8560E2E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Many instances on both sides can be related.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924BB4-4FB5-40B7-9F37-BF7A5555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7B0A26-435F-43A2-881F-DB902DCF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0BEEF2-6C5C-4DC9-8963-6E1B61AD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Min-max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3619F1-1FF7-406A-BFA5-A315B6B0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Specifies minimum and maximum participation more precisely.</a:t>
            </a:r>
          </a:p>
        </p:txBody>
      </p:sp>
    </p:spTree>
    <p:extLst>
      <p:ext uri="{BB962C8B-B14F-4D97-AF65-F5344CB8AC3E}">
        <p14:creationId xmlns:p14="http://schemas.microsoft.com/office/powerpoint/2010/main" val="183560537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67A31E-0C1C-42BC-AC01-2D6BEEBE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2D37B-3F12-4623-80C4-0FC4F4E9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Participation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864C9-03AF-4FD3-B41A-352DDD43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total and partial participation.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C28B2-6E0A-4574-999C-18FD7C1D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E41FA-3D2A-478C-B9AF-C5327308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F6BF5-76BE-4B9E-9D05-C86845C5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93A11-4FFB-45E9-AA90-3E274655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ER Modeling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11EC9-9973-4A34-9B65-69D61EB4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893C4-27E0-420E-ADAC-56A59D42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88584-A64F-46C3-82C9-ED4AAA23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16426-89F0-49D7-929C-8F04242B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Total participation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07DDB-9985-4EDB-A2DF-BF2FAAC2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C0AD4-8D17-45A7-B102-C0889DE4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A7D2EB-F8D3-4FD2-94FC-75393644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FC7740-EEEC-4510-B9BC-A1727312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Partial participation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AA67F-8E8D-41C0-970D-2394325B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34B4A-C973-4926-969E-079D1E53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05156F-0BAE-4F0F-BDED-88B454F6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62AA1A-A16B-41E6-9080-49E6F41F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Every entity must participate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620F7B-98FD-49C6-B81E-C6045A0C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FA0ADB-CE5A-462B-8DD0-8FA50596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0BA136-ABAA-4993-B508-677371A1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Shown with mandatory minimum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94B199-B22F-454A-AA18-12F5E56E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6D7F5A-C2D3-440E-9FD7-36995C94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68CA76-587E-45F5-8117-0DDF9F22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Existence depends on relationship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C7F674-7DEE-4E5B-A181-7C7AA1BF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F9314A-2DD6-430A-B740-41E4E564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5DE6FC-9C79-44A9-B9B7-B698EA7F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Some entities may not participate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7AD0C9-2810-4304-8A9F-7928A8AB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548CD0-1A82-4538-BA6C-42D79302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E289E8-5D6C-4FE7-B7CA-ADD603BA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Optional relationship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C37E45-BABC-4104-808D-7C73C460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720834-5D82-447B-820D-D9EA77C1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572212-3884-454D-9015-2FB68EF1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Minimum participation can be zero</a:t>
            </a:r>
          </a:p>
        </p:txBody>
      </p:sp>
    </p:spTree>
    <p:extLst>
      <p:ext uri="{BB962C8B-B14F-4D97-AF65-F5344CB8AC3E}">
        <p14:creationId xmlns:p14="http://schemas.microsoft.com/office/powerpoint/2010/main" val="71515104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C4AA50-5121-4C23-8C22-8F9A6271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A696F-7B4E-4BD8-A295-A4C066EF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Weak entity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F71D2-145F-4CC8-8999-3C92FAB2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weak entities and identifying relationships.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61640-008B-4748-8DFF-BDFE745F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9BCDF-98CB-4F53-B217-F430CDEF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D211D-872B-4682-BF83-5611E331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8B746-4A60-4E68-A6BF-4C37F686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ER Modeling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C2C12E-3145-40F9-83DD-95E72DF4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11BA1-8DCA-4BD8-BBF8-B5EA87BA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Weak entity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3723B1-BC7D-439C-9A7D-B894BC39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weak entity type has no key of its own and is identified by an owner entity plus a partial key.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85E17B-9107-49DF-A338-CE09E779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D5EE5-C498-4EF0-BBC3-0F492239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Owner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C9163A-71C6-46B1-A65B-BD13F48B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4032A2-9870-48AC-802D-E45E458A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C54F1D-B405-46DD-B0B0-14F6C5A4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Identifying relationship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7B51D4-F91F-439B-A58E-1CCDA2A4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CCC182-2F36-4A28-B94B-171071EF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0D5814-FC0C-47ED-A0C3-AED958EB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Partial key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D54D0E-F54C-43F6-B7ED-31E2AAD8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5465BD-08E0-4F81-A2D5-25FC37AA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F50F1E-3624-4AAB-A499-6505BED9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Existence dependency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8D6EC4-15A9-451B-BC04-AE31CAE1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2013D6-85F9-4383-B0E9-09B61B3A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490172-FBE3-4B9F-BBE0-E8403DC2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Total participation</a:t>
            </a:r>
          </a:p>
        </p:txBody>
      </p:sp>
    </p:spTree>
    <p:extLst>
      <p:ext uri="{BB962C8B-B14F-4D97-AF65-F5344CB8AC3E}">
        <p14:creationId xmlns:p14="http://schemas.microsoft.com/office/powerpoint/2010/main" val="80124103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BADC0B-9722-44C9-ACB6-32D20E66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60689-24DA-4B30-880B-21DF20E3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ER design choices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EB415-CB21-43EB-B16D-D12C2438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Avoid common modeling mistakes.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CB9A3-B861-47B3-961A-43940CD6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8A564-9456-4F29-B7A8-95FA009A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708960-F2DB-4784-8E9C-62C8DA55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CD74E-8CE1-4980-94A3-F2C24DBD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ER Modeling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FD4B0-DFF6-4E7A-8912-6B51B6C9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5766A-AFEE-455C-B803-E0AD7C1B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BDC57-0DF9-494D-92AF-2000CB38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3FE6FD-42DE-4BF6-AF17-692B54B6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Choose entity types when objects need independent identity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222D7-3315-42CE-B74F-374D4808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674BF1-063E-4907-8B29-7F1929E1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2578A0-15BD-4D82-90C3-E267A433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Choose attributes for simple descriptive properties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B7B72-1E22-4C69-A391-74DC2E0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024B4-572B-4965-9E59-38CA228C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A8691F-5633-4946-BD00-732C5BD9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Choose relationships for meaningful associations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8AF466-A939-4A23-AD65-D6AB768B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FF02BE-1FA9-4189-AEE8-8B24022E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78B9A8-7C0A-43DF-9A87-A7E3A8FD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Name constructs clearly and consistently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7959AE-D924-4793-B440-991F9763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835B2D-EE68-4378-BB19-3822F906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FECF17-C282-4985-9177-12BDE1EF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Use ternary relationships only when binary decomposition loses meaning</a:t>
            </a:r>
          </a:p>
        </p:txBody>
      </p:sp>
    </p:spTree>
    <p:extLst>
      <p:ext uri="{BB962C8B-B14F-4D97-AF65-F5344CB8AC3E}">
        <p14:creationId xmlns:p14="http://schemas.microsoft.com/office/powerpoint/2010/main" val="80310178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5E90F2-267C-4339-88DE-C5A51AFE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CC17F-056F-43C5-A978-BEE9DD0B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Specialization and generalization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E46C3-A0FB-4BDA-91CE-C5019159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superclass and subclass thinking.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51F94-4F29-4512-B671-33E91DAB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0A8F1-2C5D-435F-9932-B21B1F9D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368EC-4AAF-484D-B3BE-D2299EDB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7E1E6-0C04-41AB-A42C-CD7002E3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ER Modeling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006CB-6664-405A-A699-7ADF39C0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659DC-CC00-4632-A9DA-C9A2AC5D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D880C-CA82-48C8-A908-C0F7D1A3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CCEBC9-6E50-4783-A729-FB11E753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Specialization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5C57B-21DC-4297-AF07-AA0EB4FD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8CA23-F658-4DD0-A6E7-60EA798F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0454A7-C7AB-442D-BC13-EF44EBDE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2F33A-C571-45EC-AA54-4013863B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Generalization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7572CB-3841-4B2C-BAD9-2EE12D3C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697F6F-11B0-4E38-AA4A-50483BBF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E4A878-739B-4D51-BCFC-27F44248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513227-E8BA-4EAA-9E72-FB328896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Top-down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286D3F-1AB7-4265-8B36-D2564E95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139A97-9E63-48A9-9DD7-D8949154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6B6F1A-84E7-4DE4-BB1C-1991B974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Split entity into subclasses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D1F44F-A9CA-4778-8461-913A98FE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80ECA7-C14B-4FC3-9377-DB3A8F8E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9EB628-FF3A-4691-9C5A-C72C3E07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Example: EMPLOYEE into ENGINEER and MANAGER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2C0B96-315A-411F-BDF3-482034DF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F1DA27-86BA-48E5-BE40-FDAF9E29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8FB1D8-A047-4D0B-84CF-0C195F64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Bottom-up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0CA070-7DBA-4F56-8468-A14A9AB3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8FED68-CB0B-40C8-AA1A-1A2263BA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D0F2A3-6F53-4D24-8517-8BE7DC2A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Combine similar entity types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A84594-543C-48AC-895F-FC20BD81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825325-912D-4CFC-A45D-599D0748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7A4875-7E0E-4264-8955-17F2FE33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Create shared superclass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1D6002-425B-429B-8FE5-DBB3A22A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28C2D3-18AC-441E-9174-733DC4FA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BCD285-AEBE-4232-800B-EBDA5414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Capture common attributes</a:t>
            </a:r>
          </a:p>
        </p:txBody>
      </p:sp>
    </p:spTree>
    <p:extLst>
      <p:ext uri="{BB962C8B-B14F-4D97-AF65-F5344CB8AC3E}">
        <p14:creationId xmlns:p14="http://schemas.microsoft.com/office/powerpoint/2010/main" val="181275874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B23E99-ADA8-4709-A4E0-5F6A0A8A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73C29-1685-464B-AF5B-1C27341F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1 mind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1BF79-D698-4BF1-A212-60D2FAE7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all major headings.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A76AD-08E6-4664-AFEB-A3D93272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1AF0B-00F2-455C-9EFE-8FD5A174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80A88-A649-45C6-B63D-0BCAC951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538E0-401A-4BD2-9C69-1C4598CB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F5845-58C1-4256-A8B0-1BB36F9C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36CC4-9D51-4B18-B03C-063BDAA9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E20CD-C135-4E8C-A924-951E3D5B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Module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63B7F-4416-4D84-A671-F47CD30C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3B12B6-8662-418F-93F1-C7715590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7824E9-B920-442F-A7B7-AACB52C0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875D19-6084-48F1-ABB1-3DE39FD5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Related data with meaning.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CE3566-71D6-45C0-8F40-5A9345F6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808086-4BDA-415F-AEE7-4ECD67D3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18FD6B-7B29-4B71-A400-27C22F0E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DBMS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AF375D-9938-4B95-A7E0-74CE483E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Define, store, share and protect.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88CCC5-F38C-4B5A-B3F0-6905E6FB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11BC87-1C2C-4A91-A66D-FDB33FB7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D10FC6-B131-4D94-B5FC-F428E6B4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7C8FF"/>
                </a:solidFill>
              </a:defRPr>
            </a:pPr>
            <a:r>
              <a:rPr sz="1650" b="1">
                <a:solidFill>
                  <a:srgbClr val="77C8FF"/>
                </a:solidFill>
              </a:rPr>
              <a:t>Approach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177AA8-DD87-4F20-A7D3-7E9C7FB8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Metadata, views, transactions.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CE62FB-88B2-43E3-95C1-C66934D7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1DF945-5DD1-4998-B224-D4D5741B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3B8FD9-E337-4374-A387-6375B4AB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Architecture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176089-9A2B-454E-93A0-5398BA0E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Schemas, languages and tiers.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783046-E4BC-4A25-AAB9-3FBC08D2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B9E4F4-F1BE-4AE4-9B55-92CC7696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7FFC27-64C8-4825-943B-0D989C8E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D9FCFB-9867-477E-A01A-CBA27F86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72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Entities and relationships.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1D5449-97E0-4F87-9EDE-1DE74C8D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0BCAE1-3076-4858-ACCC-FC18F2A0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78626B-7A49-4153-BFFE-1696D815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Design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D499F9-5019-4960-8345-171042F2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Keys, constraints and specialization.</a:t>
            </a:r>
          </a:p>
        </p:txBody>
      </p:sp>
    </p:spTree>
    <p:extLst>
      <p:ext uri="{BB962C8B-B14F-4D97-AF65-F5344CB8AC3E}">
        <p14:creationId xmlns:p14="http://schemas.microsoft.com/office/powerpoint/2010/main" val="116034919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8E2016-F943-48EB-B8F5-9D7C5693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E44BC-9CA4-45C9-A5B7-3AE1D1F2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Exam and viva focus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6197B-D7CB-41C3-8104-F09F5072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Convert content into marks.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45EF4-C987-466B-8C08-170DDFB5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02D3B-B353-4F63-A910-48B94F70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2E05E-B2B4-42D9-96B7-9B19922D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D3BC0-C676-4756-BFAA-94E03938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BF44A-DBDA-4095-AD79-74FA807E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D32BC-7609-43A9-A291-54EBB25C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853BD-71B4-46D2-9D82-C4AFCA8E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DE84D-FE10-41DB-8E98-730BEE7D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Always distinguish database, DBMS and database system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98ADD2-1661-4A4F-8E45-BB248703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FDAC2-C726-4162-AC6F-B33BCDE3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1E1521-14F0-4AB6-B79C-B773E154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Use file-processing vs DBMS comparison for advantages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E37981-1BFC-40CC-8984-865FB09E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DC390B-ECD0-400A-B611-B91132B6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57C277-AADC-479A-9565-20E67C04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Draw three-schema architecture for data independence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BD3B7E-BA3F-4F1B-B19F-3954FA97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056D2F-4FB5-4683-B1DC-66E6A157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C099CC-8DB4-4DD5-AD4D-A6F55E40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List DBMS users and workers with examples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990263-3364-4318-BABA-A3CE4132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63E377-FE9D-4D0F-985C-C13F9F16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49242-B98C-43A4-B223-6E2676B5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Draw ER notation and explain keys, cardinality, participation and weak entities</a:t>
            </a:r>
          </a:p>
        </p:txBody>
      </p:sp>
    </p:spTree>
    <p:extLst>
      <p:ext uri="{BB962C8B-B14F-4D97-AF65-F5344CB8AC3E}">
        <p14:creationId xmlns:p14="http://schemas.microsoft.com/office/powerpoint/2010/main" val="89461740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A8B3B1-8DE4-4E3C-B10C-8E513F29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A7278-FE85-47C0-BDAA-3B5785CA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20 important 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181AA-5BB3-4384-97F6-337FEDE1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Rapid oral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44CA0-4C4B-49CF-A1AA-5F54B0BC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A6EFC-9804-4CBA-ABA0-0C3B973F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487BC-BF66-48DB-87BF-DC1959F3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B3C66-D1DB-4D36-8A99-2E4C1C1E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FDEC1-1B75-4A29-88C2-A6EC7EF0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27216-E864-49D1-A1BC-D394256E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1. What is database?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350F9E-E095-4F7F-A4FF-C0505F41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2. What is DBMS?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51411-04EC-4A4E-B25C-E2DDA6DB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3. What is metadata?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FDA4DE-A4F8-4718-9EEA-67358B18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4. What is miniworld?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40C70F-5AF4-425D-90E6-5EBE940B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5. What is program-data independence?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2767D-AEE8-4914-9F8B-D5304A8A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6. What is a view?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6BDCA0-BEEB-426C-BD90-D81617FF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7. What is a transaction?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A93B66-A8AA-4223-90F5-9FA04808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8. Who is DBA?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C55EA-AAB4-40CC-88AA-44023C26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9. Types of end users?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4671CC-1CE4-44F4-B9E4-51A00591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10. Two DBMS advantages?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AE7BCB-173E-4A22-B92A-F42FDC1E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859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11. When not to use DBMS?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928139-D77E-4DB9-A003-6B290CBE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12. What is data model?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BEC03-10EA-4F15-826B-6CA4F57B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622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13. Schema vs instance?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BC591A-9A08-4AFE-B86E-D5E2636A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14. Three-schema levels?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4E17FB-A802-4034-BEC2-12022E59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15. Logical vs physical data independence?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D29683-7751-408F-9857-F9797846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16. What is DDL?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D105A0-9970-445A-BCFB-2D6235F8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17. What is entity?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169885-211A-4C74-BB3F-ABE589E8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529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18. What is relationship?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8CF3D8-BC31-412B-9318-80B8F9B3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91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19. What is weak entity?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F884A0-C5E1-405A-AD25-5A23FE4D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292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20. Specialization vs generalization?</a:t>
            </a:r>
          </a:p>
        </p:txBody>
      </p:sp>
    </p:spTree>
    <p:extLst>
      <p:ext uri="{BB962C8B-B14F-4D97-AF65-F5344CB8AC3E}">
        <p14:creationId xmlns:p14="http://schemas.microsoft.com/office/powerpoint/2010/main" val="82572454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177620-8E1E-4D45-BDFB-9E191895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FE866-B315-4521-AA83-F61A47CE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Important questions bank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73213-87FE-4548-91B0-3A37B5FC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Provide two, five and ten-mark practice.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2C1FE-CFAE-4BA5-BCB1-04D9326B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B9251-218E-4168-9594-2CEDA0E1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300A5-AB49-4A47-8524-4725444A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4C8E6-4D58-4A4B-8B27-53183959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D0474-64C4-42FA-861B-F35B77CD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D8C4B8-6102-4CD6-B008-4ABD608D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1. 2M: Define database.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3368A7-728B-460B-B636-8F59E211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2. 2M: Define metadata.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DE913-21F3-4408-A1D0-8A37A713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3. 2M: What is schema?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532E8-0C6B-443E-8873-6BAACE5B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4. 2M: What is entity?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905AB-5466-429D-8189-DE5010F6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5. 2M: What is weak entity?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007A0-CCDB-4F56-B186-680A44AA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6. 5M: Explain DBMS advantages.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716C88-A641-469C-9A23-6CBB0D4A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7. 5M: Explain database users.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145A14-E4A5-4002-AA54-BB66AC58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8. 5M: Explain three-schema architecture.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3DA5AF-9D24-4193-BF2E-4DD45DF0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859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9. 5M: Explain ER attribute types.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3C5831-E914-441C-AF9C-EB4A27CA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10. 5M: Explain cardinality and participation.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0FFF25-E402-44BD-8D31-6F34A207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622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11. 10M: Compare file system and DBMS.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EB143F-B79B-499F-9F2A-DAD574ED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12. 10M: Explain DBMS architecture and languages.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958A4F-DB7E-4C41-9248-1F0E7ADD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13. 10M: Explain ER modeling with notation.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7FC2A-725F-45C5-AE5F-B7B73306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14. 10M: Explain conceptual database design.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CF756B-DFDB-47BA-9A55-118ABF59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15. VTU previous question placeholders: fill from past papers.</a:t>
            </a:r>
          </a:p>
        </p:txBody>
      </p:sp>
    </p:spTree>
    <p:extLst>
      <p:ext uri="{BB962C8B-B14F-4D97-AF65-F5344CB8AC3E}">
        <p14:creationId xmlns:p14="http://schemas.microsoft.com/office/powerpoint/2010/main" val="122507100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B7497A-1F87-4121-BF15-6F82A5B4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CA405-F1F4-4C12-8267-643FC73C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One-page revision sheet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B61E9-9EF0-45C4-8E7E-2DC06FBE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End with compact keywords.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D915D-81C0-4F23-AF17-DD86F1FA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D96DE-84DC-4477-9EBF-29DC6FDA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3AEB0-A398-4CE7-96B1-EC4C9121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40441-C0EB-4485-9CA4-DC564116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629DF-4592-4B0A-80C6-8FBEEC04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30EF9-A2E8-4FB1-BB50-2F92FB2C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07061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1C135-0ACA-45CC-85F3-BABD0A78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5120D-88AB-4571-AEC0-067C6F41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Keywords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D9C447-D5D7-4D2C-A039-A4EB8A2D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0344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Database; DBMS; miniworld; metadata; catalog; query; transaction; DBA; end users; redundancy; security; backup; recovery; integrity; data model; schema; instance; three-schema; data independence; DDL; DML; centralized; client/server; ER; entity; attribute; key; relationship; cardinality; participation; weak entity; specialization; generalization.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E84370-EC60-4A5B-9461-2B3E877B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07061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C4F516-BD80-4CDE-962D-345A5E40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60A30C-FEBF-4F69-BC5F-D5A374E2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Exam answer pattern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ADB4D3-1183-4A87-A8E5-0817F5FF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1034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For any Module 1 long answer: define the term, draw the architecture or ER diagram, compare with file processing where relevant, and finish with examples plus common mistakes.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B9EB80-3EAC-409F-A354-CC07F6D3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10706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796A72-2E48-47BE-9BBC-7C7A20F1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AFDDEA-6DAA-4CCF-8B5E-8701D5D8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Memory trick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3E2799-EABA-475C-8661-4293D7B3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1034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Definition -&gt; diagram -&gt; constraints/rules -&gt; example -&gt; common mistake. This sequence works for almost every DBMS long answer.</a:t>
            </a:r>
          </a:p>
        </p:txBody>
      </p:sp>
    </p:spTree>
    <p:extLst>
      <p:ext uri="{BB962C8B-B14F-4D97-AF65-F5344CB8AC3E}">
        <p14:creationId xmlns:p14="http://schemas.microsoft.com/office/powerpoint/2010/main" val="12931423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2026-08-07T09:24:00.8090000Z</dcterms:created>
  <dcterms:modified xsi:type="dcterms:W3CDTF">2026-08-07T09:24:00.8090000Z</dcterms:modified>
</coreProperties>
</file>