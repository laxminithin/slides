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61e003ea64257" /><Relationship Type="http://schemas.openxmlformats.org/officeDocument/2006/relationships/extended-properties" Target="/docProps/app.xml" Id="Rc47acd95f5bb40b5" /><Relationship Type="http://schemas.openxmlformats.org/officeDocument/2006/relationships/officeDocument" Target="/ppt/presentation.xml" Id="R70b1251d1f9142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3dde3b8c9644e5"/>
  </p:sldMasterIdLst>
  <p:notesMasterIdLst>
    <p:notesMasterId xmlns:r="http://schemas.openxmlformats.org/officeDocument/2006/relationships" r:id="Rcf4e37d30e83482b"/>
  </p:notesMasterIdLst>
  <p:sldIdLst>
    <p:sldId xmlns:r="http://schemas.openxmlformats.org/officeDocument/2006/relationships" id="256" r:id="R92235836634e4ecc"/>
    <p:sldId xmlns:r="http://schemas.openxmlformats.org/officeDocument/2006/relationships" id="257" r:id="R55568f26968b4a41"/>
    <p:sldId xmlns:r="http://schemas.openxmlformats.org/officeDocument/2006/relationships" id="258" r:id="R08fe12507e594d95"/>
    <p:sldId xmlns:r="http://schemas.openxmlformats.org/officeDocument/2006/relationships" id="259" r:id="Rb875607de6ab4c1c"/>
    <p:sldId xmlns:r="http://schemas.openxmlformats.org/officeDocument/2006/relationships" id="260" r:id="R378894676b3d471b"/>
    <p:sldId xmlns:r="http://schemas.openxmlformats.org/officeDocument/2006/relationships" id="261" r:id="Rf8a95faf249946ab"/>
    <p:sldId xmlns:r="http://schemas.openxmlformats.org/officeDocument/2006/relationships" id="262" r:id="R86361ac6a91d49e0"/>
    <p:sldId xmlns:r="http://schemas.openxmlformats.org/officeDocument/2006/relationships" id="263" r:id="R172bb47c04474e4e"/>
    <p:sldId xmlns:r="http://schemas.openxmlformats.org/officeDocument/2006/relationships" id="264" r:id="R8a143526afc349bd"/>
    <p:sldId xmlns:r="http://schemas.openxmlformats.org/officeDocument/2006/relationships" id="265" r:id="R8c73571de2f84675"/>
    <p:sldId xmlns:r="http://schemas.openxmlformats.org/officeDocument/2006/relationships" id="266" r:id="Rdb8766f66ae34f9a"/>
    <p:sldId xmlns:r="http://schemas.openxmlformats.org/officeDocument/2006/relationships" id="267" r:id="Rbe65863abcb546b5"/>
    <p:sldId xmlns:r="http://schemas.openxmlformats.org/officeDocument/2006/relationships" id="268" r:id="Rdcd7fc95bd7d4ef1"/>
    <p:sldId xmlns:r="http://schemas.openxmlformats.org/officeDocument/2006/relationships" id="269" r:id="R2350701fc6d748e2"/>
    <p:sldId xmlns:r="http://schemas.openxmlformats.org/officeDocument/2006/relationships" id="270" r:id="R048c495cc6f34ccf"/>
    <p:sldId xmlns:r="http://schemas.openxmlformats.org/officeDocument/2006/relationships" id="271" r:id="R086c0192833a4cad"/>
    <p:sldId xmlns:r="http://schemas.openxmlformats.org/officeDocument/2006/relationships" id="272" r:id="R208e49abb66a4b84"/>
    <p:sldId xmlns:r="http://schemas.openxmlformats.org/officeDocument/2006/relationships" id="273" r:id="Rae1c7439d887443d"/>
    <p:sldId xmlns:r="http://schemas.openxmlformats.org/officeDocument/2006/relationships" id="274" r:id="R0b967146a3f54fb8"/>
    <p:sldId xmlns:r="http://schemas.openxmlformats.org/officeDocument/2006/relationships" id="275" r:id="R0790df292e224d88"/>
    <p:sldId xmlns:r="http://schemas.openxmlformats.org/officeDocument/2006/relationships" id="276" r:id="Rbd3822b3841d401f"/>
    <p:sldId xmlns:r="http://schemas.openxmlformats.org/officeDocument/2006/relationships" id="277" r:id="Rab6289d89dbc4e6a"/>
    <p:sldId xmlns:r="http://schemas.openxmlformats.org/officeDocument/2006/relationships" id="278" r:id="R9685aa1ba4d94efd"/>
    <p:sldId xmlns:r="http://schemas.openxmlformats.org/officeDocument/2006/relationships" id="279" r:id="Rd3742c901b2d4e5f"/>
    <p:sldId xmlns:r="http://schemas.openxmlformats.org/officeDocument/2006/relationships" id="280" r:id="R9b9a1f63385e4ad9"/>
    <p:sldId xmlns:r="http://schemas.openxmlformats.org/officeDocument/2006/relationships" id="281" r:id="R246d47300e4a478a"/>
    <p:sldId xmlns:r="http://schemas.openxmlformats.org/officeDocument/2006/relationships" id="282" r:id="Rc593d79bd3f94e14"/>
    <p:sldId xmlns:r="http://schemas.openxmlformats.org/officeDocument/2006/relationships" id="283" r:id="R3393d86d50014d4a"/>
    <p:sldId xmlns:r="http://schemas.openxmlformats.org/officeDocument/2006/relationships" id="284" r:id="Re7c10bb1f0c244f1"/>
    <p:sldId xmlns:r="http://schemas.openxmlformats.org/officeDocument/2006/relationships" id="285" r:id="R35bf8ae138314ba5"/>
    <p:sldId xmlns:r="http://schemas.openxmlformats.org/officeDocument/2006/relationships" id="286" r:id="R2ab927bbed58406a"/>
    <p:sldId xmlns:r="http://schemas.openxmlformats.org/officeDocument/2006/relationships" id="287" r:id="R0f40a0bfd0144e35"/>
    <p:sldId xmlns:r="http://schemas.openxmlformats.org/officeDocument/2006/relationships" id="288" r:id="Rf7c5504b5e874632"/>
    <p:sldId xmlns:r="http://schemas.openxmlformats.org/officeDocument/2006/relationships" id="289" r:id="Ree21b5d496654367"/>
    <p:sldId xmlns:r="http://schemas.openxmlformats.org/officeDocument/2006/relationships" id="290" r:id="R55828f8bbe2e439a"/>
    <p:sldId xmlns:r="http://schemas.openxmlformats.org/officeDocument/2006/relationships" id="291" r:id="R1f4839fdd0cc458d"/>
    <p:sldId xmlns:r="http://schemas.openxmlformats.org/officeDocument/2006/relationships" id="292" r:id="R7725d51584744f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a6c9e650f54a26" /><Relationship Type="http://schemas.openxmlformats.org/officeDocument/2006/relationships/slideMaster" Target="/ppt/slideMasters/slideMaster1.xml" Id="R603dde3b8c9644e5" /><Relationship Type="http://schemas.openxmlformats.org/officeDocument/2006/relationships/notesMaster" Target="/ppt/notesMasters/notesMaster1.xml" Id="Rcf4e37d30e83482b" /><Relationship Type="http://schemas.openxmlformats.org/officeDocument/2006/relationships/presProps" Target="/ppt/presProps.xml" Id="Rbd1b992aa0b44f9c" /><Relationship Type="http://schemas.openxmlformats.org/officeDocument/2006/relationships/tableStyles" Target="/ppt/tableStyles.xml" Id="R49c54a9d09e24a94" /><Relationship Type="http://schemas.openxmlformats.org/officeDocument/2006/relationships/slide" Target="/ppt/slides/slide1.xml" Id="R92235836634e4ecc" /><Relationship Type="http://schemas.openxmlformats.org/officeDocument/2006/relationships/slide" Target="/ppt/slides/slide2.xml" Id="R55568f26968b4a41" /><Relationship Type="http://schemas.openxmlformats.org/officeDocument/2006/relationships/slide" Target="/ppt/slides/slide3.xml" Id="R08fe12507e594d95" /><Relationship Type="http://schemas.openxmlformats.org/officeDocument/2006/relationships/slide" Target="/ppt/slides/slide4.xml" Id="Rb875607de6ab4c1c" /><Relationship Type="http://schemas.openxmlformats.org/officeDocument/2006/relationships/slide" Target="/ppt/slides/slide5.xml" Id="R378894676b3d471b" /><Relationship Type="http://schemas.openxmlformats.org/officeDocument/2006/relationships/slide" Target="/ppt/slides/slide6.xml" Id="Rf8a95faf249946ab" /><Relationship Type="http://schemas.openxmlformats.org/officeDocument/2006/relationships/slide" Target="/ppt/slides/slide7.xml" Id="R86361ac6a91d49e0" /><Relationship Type="http://schemas.openxmlformats.org/officeDocument/2006/relationships/slide" Target="/ppt/slides/slide8.xml" Id="R172bb47c04474e4e" /><Relationship Type="http://schemas.openxmlformats.org/officeDocument/2006/relationships/slide" Target="/ppt/slides/slide9.xml" Id="R8a143526afc349bd" /><Relationship Type="http://schemas.openxmlformats.org/officeDocument/2006/relationships/slide" Target="/ppt/slides/slide10.xml" Id="R8c73571de2f84675" /><Relationship Type="http://schemas.openxmlformats.org/officeDocument/2006/relationships/slide" Target="/ppt/slides/slide11.xml" Id="Rdb8766f66ae34f9a" /><Relationship Type="http://schemas.openxmlformats.org/officeDocument/2006/relationships/slide" Target="/ppt/slides/slide12.xml" Id="Rbe65863abcb546b5" /><Relationship Type="http://schemas.openxmlformats.org/officeDocument/2006/relationships/slide" Target="/ppt/slides/slide13.xml" Id="Rdcd7fc95bd7d4ef1" /><Relationship Type="http://schemas.openxmlformats.org/officeDocument/2006/relationships/slide" Target="/ppt/slides/slide14.xml" Id="R2350701fc6d748e2" /><Relationship Type="http://schemas.openxmlformats.org/officeDocument/2006/relationships/slide" Target="/ppt/slides/slide15.xml" Id="R048c495cc6f34ccf" /><Relationship Type="http://schemas.openxmlformats.org/officeDocument/2006/relationships/slide" Target="/ppt/slides/slide16.xml" Id="R086c0192833a4cad" /><Relationship Type="http://schemas.openxmlformats.org/officeDocument/2006/relationships/slide" Target="/ppt/slides/slide17.xml" Id="R208e49abb66a4b84" /><Relationship Type="http://schemas.openxmlformats.org/officeDocument/2006/relationships/slide" Target="/ppt/slides/slide18.xml" Id="Rae1c7439d887443d" /><Relationship Type="http://schemas.openxmlformats.org/officeDocument/2006/relationships/slide" Target="/ppt/slides/slide19.xml" Id="R0b967146a3f54fb8" /><Relationship Type="http://schemas.openxmlformats.org/officeDocument/2006/relationships/slide" Target="/ppt/slides/slide20.xml" Id="R0790df292e224d88" /><Relationship Type="http://schemas.openxmlformats.org/officeDocument/2006/relationships/slide" Target="/ppt/slides/slide21.xml" Id="Rbd3822b3841d401f" /><Relationship Type="http://schemas.openxmlformats.org/officeDocument/2006/relationships/slide" Target="/ppt/slides/slide22.xml" Id="Rab6289d89dbc4e6a" /><Relationship Type="http://schemas.openxmlformats.org/officeDocument/2006/relationships/slide" Target="/ppt/slides/slide23.xml" Id="R9685aa1ba4d94efd" /><Relationship Type="http://schemas.openxmlformats.org/officeDocument/2006/relationships/slide" Target="/ppt/slides/slide24.xml" Id="Rd3742c901b2d4e5f" /><Relationship Type="http://schemas.openxmlformats.org/officeDocument/2006/relationships/slide" Target="/ppt/slides/slide25.xml" Id="R9b9a1f63385e4ad9" /><Relationship Type="http://schemas.openxmlformats.org/officeDocument/2006/relationships/slide" Target="/ppt/slides/slide26.xml" Id="R246d47300e4a478a" /><Relationship Type="http://schemas.openxmlformats.org/officeDocument/2006/relationships/slide" Target="/ppt/slides/slide27.xml" Id="Rc593d79bd3f94e14" /><Relationship Type="http://schemas.openxmlformats.org/officeDocument/2006/relationships/slide" Target="/ppt/slides/slide28.xml" Id="R3393d86d50014d4a" /><Relationship Type="http://schemas.openxmlformats.org/officeDocument/2006/relationships/slide" Target="/ppt/slides/slide29.xml" Id="Re7c10bb1f0c244f1" /><Relationship Type="http://schemas.openxmlformats.org/officeDocument/2006/relationships/slide" Target="/ppt/slides/slide30.xml" Id="R35bf8ae138314ba5" /><Relationship Type="http://schemas.openxmlformats.org/officeDocument/2006/relationships/slide" Target="/ppt/slides/slide31.xml" Id="R2ab927bbed58406a" /><Relationship Type="http://schemas.openxmlformats.org/officeDocument/2006/relationships/slide" Target="/ppt/slides/slide32.xml" Id="R0f40a0bfd0144e35" /><Relationship Type="http://schemas.openxmlformats.org/officeDocument/2006/relationships/slide" Target="/ppt/slides/slide33.xml" Id="Rf7c5504b5e874632" /><Relationship Type="http://schemas.openxmlformats.org/officeDocument/2006/relationships/slide" Target="/ppt/slides/slide34.xml" Id="Ree21b5d496654367" /><Relationship Type="http://schemas.openxmlformats.org/officeDocument/2006/relationships/slide" Target="/ppt/slides/slide35.xml" Id="R55828f8bbe2e439a" /><Relationship Type="http://schemas.openxmlformats.org/officeDocument/2006/relationships/slide" Target="/ppt/slides/slide36.xml" Id="R1f4839fdd0cc458d" /><Relationship Type="http://schemas.openxmlformats.org/officeDocument/2006/relationships/slide" Target="/ppt/slides/slide37.xml" Id="R7725d51584744f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8096b1546546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5d398518d64a84" /><Relationship Type="http://schemas.openxmlformats.org/officeDocument/2006/relationships/notesMaster" Target="/ppt/notesMasters/notesMaster1.xml" Id="R883331faf33041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4831650090442d" /><Relationship Type="http://schemas.openxmlformats.org/officeDocument/2006/relationships/notesMaster" Target="/ppt/notesMasters/notesMaster1.xml" Id="R736ec470f41c43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89b353f0674fd8" /><Relationship Type="http://schemas.openxmlformats.org/officeDocument/2006/relationships/notesMaster" Target="/ppt/notesMasters/notesMaster1.xml" Id="R4448bd9061f346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3becdc580442aa" /><Relationship Type="http://schemas.openxmlformats.org/officeDocument/2006/relationships/notesMaster" Target="/ppt/notesMasters/notesMaster1.xml" Id="Rbfd353350bd544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3c386d523149f3" /><Relationship Type="http://schemas.openxmlformats.org/officeDocument/2006/relationships/notesMaster" Target="/ppt/notesMasters/notesMaster1.xml" Id="R20bb0f72640d40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a39e90b09d4f3c" /><Relationship Type="http://schemas.openxmlformats.org/officeDocument/2006/relationships/notesMaster" Target="/ppt/notesMasters/notesMaster1.xml" Id="R6912dc58aa4243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c9931ce1ec41cb" /><Relationship Type="http://schemas.openxmlformats.org/officeDocument/2006/relationships/notesMaster" Target="/ppt/notesMasters/notesMaster1.xml" Id="R0e94f3316fbb45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40fd11faa14d42" /><Relationship Type="http://schemas.openxmlformats.org/officeDocument/2006/relationships/notesMaster" Target="/ppt/notesMasters/notesMaster1.xml" Id="R88ee9374195b4e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31c9243d444ff7" /><Relationship Type="http://schemas.openxmlformats.org/officeDocument/2006/relationships/notesMaster" Target="/ppt/notesMasters/notesMaster1.xml" Id="R0261e3aa90864d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409173a5cc4a6c" /><Relationship Type="http://schemas.openxmlformats.org/officeDocument/2006/relationships/notesMaster" Target="/ppt/notesMasters/notesMaster1.xml" Id="Rf90b80e4fc6d47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90b33dca7a4251" /><Relationship Type="http://schemas.openxmlformats.org/officeDocument/2006/relationships/notesMaster" Target="/ppt/notesMasters/notesMaster1.xml" Id="R790ee49e701249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1f4735ad0844b3" /><Relationship Type="http://schemas.openxmlformats.org/officeDocument/2006/relationships/notesMaster" Target="/ppt/notesMasters/notesMaster1.xml" Id="R48248496737e4b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f6dfeedcfd4c73" /><Relationship Type="http://schemas.openxmlformats.org/officeDocument/2006/relationships/notesMaster" Target="/ppt/notesMasters/notesMaster1.xml" Id="R6a141b7888b145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e528e66b874a06" /><Relationship Type="http://schemas.openxmlformats.org/officeDocument/2006/relationships/notesMaster" Target="/ppt/notesMasters/notesMaster1.xml" Id="R9841e52f5f8346b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79001ce5884f1a" /><Relationship Type="http://schemas.openxmlformats.org/officeDocument/2006/relationships/notesMaster" Target="/ppt/notesMasters/notesMaster1.xml" Id="R5ab3d8f2e2e443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cf843d76a8141ce" /><Relationship Type="http://schemas.openxmlformats.org/officeDocument/2006/relationships/notesMaster" Target="/ppt/notesMasters/notesMaster1.xml" Id="R72b70c1f06ff45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66efe25df44758" /><Relationship Type="http://schemas.openxmlformats.org/officeDocument/2006/relationships/notesMaster" Target="/ppt/notesMasters/notesMaster1.xml" Id="R91eb6522dda249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5057de86c84fee" /><Relationship Type="http://schemas.openxmlformats.org/officeDocument/2006/relationships/notesMaster" Target="/ppt/notesMasters/notesMaster1.xml" Id="R019d4758848241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75118413ae9418b" /><Relationship Type="http://schemas.openxmlformats.org/officeDocument/2006/relationships/notesMaster" Target="/ppt/notesMasters/notesMaster1.xml" Id="R654ef714a6304b2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b2388257ce54e10" /><Relationship Type="http://schemas.openxmlformats.org/officeDocument/2006/relationships/notesMaster" Target="/ppt/notesMasters/notesMaster1.xml" Id="R7cc82363924840e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d039db52c584fa0" /><Relationship Type="http://schemas.openxmlformats.org/officeDocument/2006/relationships/notesMaster" Target="/ppt/notesMasters/notesMaster1.xml" Id="R956063ef53f046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97676c497b4a30" /><Relationship Type="http://schemas.openxmlformats.org/officeDocument/2006/relationships/notesMaster" Target="/ppt/notesMasters/notesMaster1.xml" Id="Rfcc6190971804e7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bfc6023a80841f9" /><Relationship Type="http://schemas.openxmlformats.org/officeDocument/2006/relationships/notesMaster" Target="/ppt/notesMasters/notesMaster1.xml" Id="R2425c2ded221492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f36b46cf424f0e" /><Relationship Type="http://schemas.openxmlformats.org/officeDocument/2006/relationships/notesMaster" Target="/ppt/notesMasters/notesMaster1.xml" Id="Ra3e2a66e8f914e9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02a1c64e17c4253" /><Relationship Type="http://schemas.openxmlformats.org/officeDocument/2006/relationships/notesMaster" Target="/ppt/notesMasters/notesMaster1.xml" Id="R75725b1c30db4e9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0279ab5ed694cfc" /><Relationship Type="http://schemas.openxmlformats.org/officeDocument/2006/relationships/notesMaster" Target="/ppt/notesMasters/notesMaster1.xml" Id="R52973647a4b54bf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132876a53eb439d" /><Relationship Type="http://schemas.openxmlformats.org/officeDocument/2006/relationships/notesMaster" Target="/ppt/notesMasters/notesMaster1.xml" Id="Rb15a8ca22d6a418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6410a00986a497f" /><Relationship Type="http://schemas.openxmlformats.org/officeDocument/2006/relationships/notesMaster" Target="/ppt/notesMasters/notesMaster1.xml" Id="R6aafd38c248c4a8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f8f65a6718b462d" /><Relationship Type="http://schemas.openxmlformats.org/officeDocument/2006/relationships/notesMaster" Target="/ppt/notesMasters/notesMaster1.xml" Id="Rdfc76498a323413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34f5bec474d41f6" /><Relationship Type="http://schemas.openxmlformats.org/officeDocument/2006/relationships/notesMaster" Target="/ppt/notesMasters/notesMaster1.xml" Id="Rfbf0e6dd43dc44d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16e1450362c482c" /><Relationship Type="http://schemas.openxmlformats.org/officeDocument/2006/relationships/notesMaster" Target="/ppt/notesMasters/notesMaster1.xml" Id="Rb5ae3af4e126467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c285aea229248f6" /><Relationship Type="http://schemas.openxmlformats.org/officeDocument/2006/relationships/notesMaster" Target="/ppt/notesMasters/notesMaster1.xml" Id="Rb8970c4b6cf5498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d9ab8eb7e074f06" /><Relationship Type="http://schemas.openxmlformats.org/officeDocument/2006/relationships/notesMaster" Target="/ppt/notesMasters/notesMaster1.xml" Id="Rd606c2acea08442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6addbc6222c4c04" /><Relationship Type="http://schemas.openxmlformats.org/officeDocument/2006/relationships/notesMaster" Target="/ppt/notesMasters/notesMaster1.xml" Id="R9c81bb0d105541a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95ff3a825424f83" /><Relationship Type="http://schemas.openxmlformats.org/officeDocument/2006/relationships/notesMaster" Target="/ppt/notesMasters/notesMaster1.xml" Id="R0cade63496b2468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d5dd301d3b7479d" /><Relationship Type="http://schemas.openxmlformats.org/officeDocument/2006/relationships/notesMaster" Target="/ppt/notesMasters/notesMaster1.xml" Id="R9dd53fcf0eb042d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62827c5d47642fe" /><Relationship Type="http://schemas.openxmlformats.org/officeDocument/2006/relationships/notesMaster" Target="/ppt/notesMasters/notesMaster1.xml" Id="Rcfa46327c5f54d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with online banking: hundreds of users update accounts while crashes can happen.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Preview correctness under concurrency and failure.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transfer money from A to B as the example.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most commercial DBMS are multiuser.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DBMS does not always write immediately to disk.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buffer behavior affects recovery.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all problems come from uncontrolled interleaving.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two users withdrawing or updating same seat count.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dirty data should not influence committed transactions.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bank balance total while transfers occur.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to SQL isolation levels later.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DBMS must know what completed and what did not.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concurrency control can also abort transactions.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normal path and failure path.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commit tells DBMS transaction effects must survive.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log is stored safely and consulted after failures.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old value supports undo and new value supports redo.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this conceptual since notes provide policy names.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bank transfer to explain all four.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undo vs redo intuition.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consistency to constraints and isolation to concurrency.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DBMS decides safe interleavings.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strict schedules are easiest to recover.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table for exam comparison.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serial execution is correct but slow; serializable interleaving is correct and faster.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T1/T2 operation sequence.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read-read does not conflict.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topological order gives equivalent serial order.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a cycle means no serial order can satisfy all conflict directions.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commit makes changes permanent; rollback cancels transaction.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stronger isolation may reduce concurrency.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these terms exactly; they often appear in exams.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final overview.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timelines and graphs earn clarity.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rapid viva.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study list.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with keyword revision.</a:t>
            </a:r>
          </a:p>
          <a:p xmlns:a="http://schemas.openxmlformats.org/drawingml/2006/main">
            <a:r>
              <a:t>Pause cue: pause after the visual appears, then restate the core term in one simple sentence.</a:t>
            </a:r>
          </a:p>
          <a:p xmlns:a="http://schemas.openxmlformats.org/drawingml/2006/main">
            <a:r>
              <a:t>Pointing cue: point left-to-right through process arrows; for diagrams, point first to the center concept and then to each connected part.</a:t>
            </a:r>
          </a:p>
          <a:p xmlns:a="http://schemas.openxmlformats.org/drawingml/2006/main">
            <a:r>
              <a:t>Question to ask students: Ask students to explain the slide using one real database example.</a:t>
            </a:r>
          </a:p>
          <a:p xmlns:a="http://schemas.openxmlformats.org/drawingml/2006/main">
            <a:r>
              <a:t>Animation instructions: Fade title; appear cards one by one; wipe arrows in process order; highlight keywords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Supplied DBMS_MODULE_4_NOTES.pdf, Module 4 notes: Transaction Processing, Recovery Need, Transaction States, System Log, ACID, Recoverability, Serializability, SQL Transaction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9c81b946244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efe44a54b54ef6" /><Relationship Type="http://schemas.openxmlformats.org/officeDocument/2006/relationships/slideLayout" Target="/ppt/slideLayouts/slideLayout1.xml" Id="Re9cede70d8e547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cede70d8e547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da79063da489f" /><Relationship Type="http://schemas.openxmlformats.org/officeDocument/2006/relationships/notesSlide" Target="/ppt/notesSlides/notesSlide1.xml" Id="R4306332b548841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01fb293e74eb6" /><Relationship Type="http://schemas.openxmlformats.org/officeDocument/2006/relationships/notesSlide" Target="/ppt/notesSlides/notesSlide2.xml" Id="R8642177401694e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b11272d524881" /><Relationship Type="http://schemas.openxmlformats.org/officeDocument/2006/relationships/notesSlide" Target="/ppt/notesSlides/notesSlide3.xml" Id="Ra9a08742aca945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a366ce10e4b7a" /><Relationship Type="http://schemas.openxmlformats.org/officeDocument/2006/relationships/notesSlide" Target="/ppt/notesSlides/notesSlide4.xml" Id="Ra9be906778d040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09467124b4d38" /><Relationship Type="http://schemas.openxmlformats.org/officeDocument/2006/relationships/notesSlide" Target="/ppt/notesSlides/notesSlide5.xml" Id="R246a1ef3596946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4ef6ded2840bd" /><Relationship Type="http://schemas.openxmlformats.org/officeDocument/2006/relationships/notesSlide" Target="/ppt/notesSlides/notesSlide6.xml" Id="R7b8688a6297b40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dc50ec4364484" /><Relationship Type="http://schemas.openxmlformats.org/officeDocument/2006/relationships/notesSlide" Target="/ppt/notesSlides/notesSlide7.xml" Id="Racaecd3825244a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080a415404f3e" /><Relationship Type="http://schemas.openxmlformats.org/officeDocument/2006/relationships/notesSlide" Target="/ppt/notesSlides/notesSlide8.xml" Id="R864b59b9c74440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060ca6a2b419d" /><Relationship Type="http://schemas.openxmlformats.org/officeDocument/2006/relationships/notesSlide" Target="/ppt/notesSlides/notesSlide9.xml" Id="Racb834bee08e4c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5906b38eb4365" /><Relationship Type="http://schemas.openxmlformats.org/officeDocument/2006/relationships/notesSlide" Target="/ppt/notesSlides/notesSlide10.xml" Id="R3548e1a4bceb40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ccb6285714265" /><Relationship Type="http://schemas.openxmlformats.org/officeDocument/2006/relationships/notesSlide" Target="/ppt/notesSlides/notesSlide11.xml" Id="R985ff22943e040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b09e61df1462a" /><Relationship Type="http://schemas.openxmlformats.org/officeDocument/2006/relationships/notesSlide" Target="/ppt/notesSlides/notesSlide12.xml" Id="Rbc479c1ba04b450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84d5d0bbc46e7" /><Relationship Type="http://schemas.openxmlformats.org/officeDocument/2006/relationships/notesSlide" Target="/ppt/notesSlides/notesSlide13.xml" Id="R985dc2157dd349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ca417833140a0" /><Relationship Type="http://schemas.openxmlformats.org/officeDocument/2006/relationships/notesSlide" Target="/ppt/notesSlides/notesSlide14.xml" Id="R44983aa8922a41d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8b153ba344ed8" /><Relationship Type="http://schemas.openxmlformats.org/officeDocument/2006/relationships/notesSlide" Target="/ppt/notesSlides/notesSlide15.xml" Id="Rf0939d4f6e1d478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ac83b732e4c5d" /><Relationship Type="http://schemas.openxmlformats.org/officeDocument/2006/relationships/notesSlide" Target="/ppt/notesSlides/notesSlide16.xml" Id="Rcd6a66a47cc144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724a925764fd7" /><Relationship Type="http://schemas.openxmlformats.org/officeDocument/2006/relationships/notesSlide" Target="/ppt/notesSlides/notesSlide17.xml" Id="R8ad359ffda164f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2c788a213428d" /><Relationship Type="http://schemas.openxmlformats.org/officeDocument/2006/relationships/notesSlide" Target="/ppt/notesSlides/notesSlide18.xml" Id="R4e765f59169f43a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3454f71014edd" /><Relationship Type="http://schemas.openxmlformats.org/officeDocument/2006/relationships/notesSlide" Target="/ppt/notesSlides/notesSlide19.xml" Id="Rf316a765b9e0452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b5cd5631542cc" /><Relationship Type="http://schemas.openxmlformats.org/officeDocument/2006/relationships/notesSlide" Target="/ppt/notesSlides/notesSlide20.xml" Id="R8667fdde63db41a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4f3331b12465c" /><Relationship Type="http://schemas.openxmlformats.org/officeDocument/2006/relationships/notesSlide" Target="/ppt/notesSlides/notesSlide21.xml" Id="R75fbeded288c42d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65f06ed4944cc" /><Relationship Type="http://schemas.openxmlformats.org/officeDocument/2006/relationships/notesSlide" Target="/ppt/notesSlides/notesSlide22.xml" Id="R462420118ea54e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8ea85da3d4f70" /><Relationship Type="http://schemas.openxmlformats.org/officeDocument/2006/relationships/notesSlide" Target="/ppt/notesSlides/notesSlide23.xml" Id="R51837066176b4ea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347b5031c44de" /><Relationship Type="http://schemas.openxmlformats.org/officeDocument/2006/relationships/notesSlide" Target="/ppt/notesSlides/notesSlide24.xml" Id="Rd0eba5e8875f429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c9053cab547ba" /><Relationship Type="http://schemas.openxmlformats.org/officeDocument/2006/relationships/notesSlide" Target="/ppt/notesSlides/notesSlide25.xml" Id="R27f3313d1efe4ca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64d9e865d439e" /><Relationship Type="http://schemas.openxmlformats.org/officeDocument/2006/relationships/notesSlide" Target="/ppt/notesSlides/notesSlide26.xml" Id="Ra01cf1818cd64f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f4bd3cda84162" /><Relationship Type="http://schemas.openxmlformats.org/officeDocument/2006/relationships/notesSlide" Target="/ppt/notesSlides/notesSlide27.xml" Id="R1dda6db5b77c40a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5922a7f614a86" /><Relationship Type="http://schemas.openxmlformats.org/officeDocument/2006/relationships/notesSlide" Target="/ppt/notesSlides/notesSlide28.xml" Id="R70cf41676d8b4d0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4b20ca9734e1a" /><Relationship Type="http://schemas.openxmlformats.org/officeDocument/2006/relationships/notesSlide" Target="/ppt/notesSlides/notesSlide29.xml" Id="Rf5338c2320204a3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0462b359b4e48" /><Relationship Type="http://schemas.openxmlformats.org/officeDocument/2006/relationships/notesSlide" Target="/ppt/notesSlides/notesSlide30.xml" Id="R1754caf743634d2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edbf619eb498d" /><Relationship Type="http://schemas.openxmlformats.org/officeDocument/2006/relationships/notesSlide" Target="/ppt/notesSlides/notesSlide31.xml" Id="Raa86b7f0b2d24f7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ac5c4248646a0" /><Relationship Type="http://schemas.openxmlformats.org/officeDocument/2006/relationships/notesSlide" Target="/ppt/notesSlides/notesSlide32.xml" Id="R08a367097a1142f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d0f218496480b" /><Relationship Type="http://schemas.openxmlformats.org/officeDocument/2006/relationships/notesSlide" Target="/ppt/notesSlides/notesSlide33.xml" Id="R93f64f70929f477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280a08d7b4334" /><Relationship Type="http://schemas.openxmlformats.org/officeDocument/2006/relationships/notesSlide" Target="/ppt/notesSlides/notesSlide34.xml" Id="R17cfc372eb50471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eaa6aecb34126" /><Relationship Type="http://schemas.openxmlformats.org/officeDocument/2006/relationships/notesSlide" Target="/ppt/notesSlides/notesSlide35.xml" Id="R305b66064c124d6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ba57508254165" /><Relationship Type="http://schemas.openxmlformats.org/officeDocument/2006/relationships/notesSlide" Target="/ppt/notesSlides/notesSlide36.xml" Id="R90488be65a284c1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0883ec1bf4b9d" /><Relationship Type="http://schemas.openxmlformats.org/officeDocument/2006/relationships/notesSlide" Target="/ppt/notesSlides/notesSlide37.xml" Id="Ra54edf0f758849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2C447-B66E-4E9A-80DC-1086F224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78ECC-69AE-4444-93EC-765D1A1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Transaction 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FD768-8CDD-4B1C-B6F6-CB443C10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Module 4 explains correctness when many database operations run and failures happen.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A4B1A-5A79-4B01-95F0-9F2E7B77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C9B98-9DFE-4F97-9C8A-889A2A12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B7967-F535-4111-8AD3-676C15DE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56724-4353-4519-8DE4-DA9B4FC8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FD906-F3A8-4F84-A425-EB1C08EE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3707E-AA08-4BB4-AC01-C16745CC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09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DBMS</a:t>
            </a:r>
          </a:p>
          <a:p xmlns:a="http://schemas.openxmlformats.org/drawingml/2006/main">
            <a:pPr>
              <a:defRPr sz="4350" b="1">
                <a:solidFill>
                  <a:srgbClr val="F8FBFF"/>
                </a:solidFill>
              </a:defRPr>
            </a:pPr>
            <a:r>
              <a:rPr sz="4350" b="1">
                <a:solidFill>
                  <a:srgbClr val="F8FBFF"/>
                </a:solidFill>
              </a:rPr>
              <a:t>Module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7E4C0-02D8-4EAB-A49C-95ADC7AB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B8C7D9"/>
                </a:solidFill>
              </a:defRPr>
            </a:pPr>
            <a:r>
              <a:rPr sz="1725">
                <a:solidFill>
                  <a:srgbClr val="B8C7D9"/>
                </a:solidFill>
              </a:rPr>
              <a:t>Transactions • Concurrency need • Recovery • Logs • ACID • Schedules • Serializability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04275-092A-4EBF-AFA5-9E5A4693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763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C69"/>
          </a:solidFill>
          <a:ln xmlns:a="http://schemas.openxmlformats.org/drawingml/2006/main" w="19050">
            <a:solidFill>
              <a:srgbClr val="2C6C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F86CD-D551-410A-AC25-2B35F131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3564D-163D-4823-B3FD-E01F10E5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ACID</a:t>
            </a:r>
          </a:p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LOG</a:t>
            </a:r>
          </a:p>
          <a:p xmlns:a="http://schemas.openxmlformats.org/drawingml/2006/main">
            <a:pPr algn="ctr">
              <a:defRPr sz="2400" b="1">
                <a:solidFill>
                  <a:srgbClr val="07111F"/>
                </a:solidFill>
              </a:defRPr>
            </a:pPr>
            <a:r>
              <a:rPr sz="2400" b="1">
                <a:solidFill>
                  <a:srgbClr val="07111F"/>
                </a:solidFill>
              </a:rPr>
              <a:t>TXN</a:t>
            </a:r>
          </a:p>
        </p:txBody>
      </p:sp>
    </p:spTree>
    <p:extLst>
      <p:ext uri="{BB962C8B-B14F-4D97-AF65-F5344CB8AC3E}">
        <p14:creationId xmlns:p14="http://schemas.microsoft.com/office/powerpoint/2010/main" val="510423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D0FA29-1C48-4BDA-B5FC-B2588373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941BF-B37E-4132-84E5-4AC113AA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4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8BC87-89B8-4A00-BB2B-946F65CB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the supplied notes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B050D-CC16-4EF7-A204-0732572F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A3235-6F58-49C1-99C1-F5884067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DAFEC-D284-4253-A314-8F331F81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BF62B-4116-4098-AD57-BBD66B42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7E466-D9E4-4630-9CEB-7D705879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4C085-E08C-4FC7-9CCA-029983EB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A1E27-C18E-4AA9-AFAF-CF3041DE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6502F-9736-46D5-861A-116C134B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single-user and multiuser transaction processing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CF01D-D716-4054-A9D4-3863A887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4C23D-17B3-4F7E-ADCA-4664A14E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DB0E8-2079-4472-96D3-A2C84FF8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database items, read/write operations and buffers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255F5-C950-4F47-824C-ABCC49AD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359C0-2A9F-4530-AC5A-F64E30C7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89061C-EFCE-4EEE-B80A-F86788C6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lost update, dirty read, incorrect summary and unrepeatable read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21F6E-ED86-4156-9A19-960EB0C9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1526A-64FF-474E-991A-0AC6CDA6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9BEE23-2BB3-40E2-BF3B-7C1FABBE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why recovery is needed and types of failures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7BA3A-EA75-4BCB-9662-BDB9E113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80B22-C7B9-4EA1-BFC3-DE11AA85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DA91E-D633-456A-9619-FA8C3262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transaction states, commit point, system log and buffer replacement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0122E-8550-47CE-A982-34EB3B43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3BD7A-BCBF-4645-A10D-0460F43A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DA561-1859-4395-9EE3-98E7BC09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ACID, recoverability, serializability and SQL transaction support</a:t>
            </a:r>
          </a:p>
        </p:txBody>
      </p:sp>
    </p:spTree>
    <p:extLst>
      <p:ext uri="{BB962C8B-B14F-4D97-AF65-F5344CB8AC3E}">
        <p14:creationId xmlns:p14="http://schemas.microsoft.com/office/powerpoint/2010/main" val="19215693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6F161-CCE5-411E-A65F-8A11ED6F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DEC97-4687-4E89-BFA9-3DF90402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 transaction is a logical unit of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F788A-4E27-48FD-8399-4A83CFDC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transaction.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A7367-D694-423A-BC45-114EB2EE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D0787-898B-4B16-A08A-DC58FACF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0AB87-852F-44F4-81E0-7667AA14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2609D-4211-4093-B8F5-B22A2194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Transaction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7989A-10A6-4929-ABA7-C9114DB4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C70E1-555F-46AD-A47D-D903861D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Transaction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151999-2BD6-469B-8F37-D3857E7F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transaction is an executing program that performs database reads and writes as one logical unit that should either complete fully or have no effect.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AADEF-EDF9-43A2-AE1C-567F54A1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6B255-1EEB-4786-BDD6-22A3D0DA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AE2DC-B4D2-45C6-968F-605016B5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C191B-EC48-4FDD-912D-DF319A6A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03CA4-BC16-470E-8746-80B2AB7D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36EB2E-D687-4550-8DB3-A7E3DB1F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26659-A274-4B2F-BDA0-71BCE427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0C2EA-DF8A-4BFE-8C2C-F109F2DF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Logical unit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8CD37-EC89-46FE-A37F-EE8CFFEC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30841-14B9-4A56-9ACF-5327A698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AF961-5EEB-4995-985C-AA6237B8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2C32E-94B3-4300-A592-43327CE0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2AA0B4-2D1E-4B90-88A7-4630D62F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3ED1D-59BC-4F09-AA12-CCB2CEA4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Rollback</a:t>
            </a:r>
          </a:p>
        </p:txBody>
      </p:sp>
    </p:spTree>
    <p:extLst>
      <p:ext uri="{BB962C8B-B14F-4D97-AF65-F5344CB8AC3E}">
        <p14:creationId xmlns:p14="http://schemas.microsoft.com/office/powerpoint/2010/main" val="1048114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468EB1-0B5E-460B-8259-C10CBF8C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B7C1C-85C3-4339-AB47-E684D32D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Single-user vs multiuser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ABB61-54F3-4CB5-B1C0-6CC62186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execution settings.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3C7E8-A2A4-401B-8AC9-BCC4374E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0E5CE-AFEF-4BD3-B670-5CFA8B01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845BB-37F7-4021-BA97-CB064E0A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B6F8D-C1FD-4AC8-AB1F-203AACF3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Transaction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7AA4D-C952-449C-9B56-E62D4E14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FCE39-E250-4040-8DF1-EB482D81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1CC7C6-45B6-40A8-ACB5-B986C1FF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1CAC2-6689-4AB7-8667-33F8606D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Single-user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C1A6A-779A-468E-BCD1-9B9A417F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4BBEF-CA4B-4DA1-94C0-FD2DEF5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CAD47-90A6-4E2B-BC6E-103B1C8F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1A919-5512-4B1C-8999-4BCA5061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Multiuser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99AC7-7D31-429F-AD59-4F72B453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0DC6E-5033-4EFB-8253-23CA0DBA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9F20F-F479-466E-B113-3C20DC96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54370-D4B8-440B-B9D9-EE45A7DA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One user at a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207E3-DB57-4AC9-93EB-A3C77ED7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B97849-DC12-43FE-A943-E8DC13B7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33AD01-F9FB-4CFA-B335-8392040F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No interleaved transactions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8241F8-7F84-4CCA-92DF-08657EC2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35296-9E40-4B14-89B8-2B8E4C35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BBE2A4-29AF-4717-9EAD-5A0D31F8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Simpler correctness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C34049-07D1-4C32-A4F8-B9DD7C84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F8EABA-BE9C-452D-8D66-5E9E3839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BB2349-89F3-424C-B7C8-5F09D986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Limited throughput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FD0626-978A-48F4-9678-6E22A296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BDE75-CD82-4B86-A319-C9E9FC92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755B26-8287-461E-AB20-380AD596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Many users concurrently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9B1636-53CC-4006-8252-E4C9BADB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476DBF-1813-422F-B701-E7CF62FA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F9A715-0AF7-425D-804D-4806BDC7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Interleaved operations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E8C9E2-6175-4888-BCFA-16E4BBE7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C28FC1-2017-47E7-8A23-C9A689BC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523F9F-E637-4022-8D02-44D056B1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Needs concurrency control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17419A-9E13-4652-A741-033AF9CA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68A522-2F68-4A2A-AA28-86CEF761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7D59F5-A60C-49AE-B59A-E7DBBE64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Higher availability and response needs</a:t>
            </a:r>
          </a:p>
        </p:txBody>
      </p:sp>
    </p:spTree>
    <p:extLst>
      <p:ext uri="{BB962C8B-B14F-4D97-AF65-F5344CB8AC3E}">
        <p14:creationId xmlns:p14="http://schemas.microsoft.com/office/powerpoint/2010/main" val="5705947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C9A4F-7421-4EEB-857D-C796DE07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B745C-2961-44AB-821D-26ED5445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Database items and buffers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E9EAF-F8BE-40BA-854B-6D525475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data movement.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A2F3D-F03A-4E20-9A81-E042E562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787FE-8FA8-4E0D-805E-6445D08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98730-0755-4CA1-ACBD-E8363AA0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ACB01-6506-456D-8B60-0E52632A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Transaction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2EC61-C61D-4FCC-9936-A653D1E5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74BD3-EA55-4081-B828-5AE03AF2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AE2BD-673C-4995-9972-329D3C16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Disk 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DB0D05-1BD1-4268-ABAC-13E30B5D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A0FC3-16D3-453B-A360-2C6A425A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B6AB9-FF29-45AE-9E13-F93B7229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DBMS buffer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6E515B-586E-4529-9D0B-94BDAD62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C6C33-A4D2-4201-AF2F-791D7CE3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57EDA-0094-4291-A0A9-900AC617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Program variable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4E3174-A4BB-4819-BF7B-678BC4AC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F3923-3341-4BD6-BE36-323BCF10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3264C-C4CD-4347-A655-109CCA0C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Transaction operation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E8102-499A-4D1A-AD35-EB0C0BA0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6DE638-DCF0-450C-A1A4-F06961C5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E2114-1D9A-4B62-9233-D0AEA9C1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Write back to disk</a:t>
            </a:r>
          </a:p>
        </p:txBody>
      </p:sp>
    </p:spTree>
    <p:extLst>
      <p:ext uri="{BB962C8B-B14F-4D97-AF65-F5344CB8AC3E}">
        <p14:creationId xmlns:p14="http://schemas.microsoft.com/office/powerpoint/2010/main" val="9329042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F594E8-0BEB-4AFA-92CC-8E12EEF2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BBF7CF-2E85-4B16-A1C2-00DE3764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Read and write item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E1985-46FE-4D9C-B605-0C4943DC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operation mechanics.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33AB3-624A-4023-8768-B3E0AD09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FA2CB-F2CF-47FD-8879-F27853D8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1D275-7B54-4059-B7F9-8FA131B3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EAB6E-3F64-4FE1-9D0F-4A8DB35FB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Transaction 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26EF9-E286-42F1-ADAF-3C51C86F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FA64C-AABC-463C-B80E-B21A4793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8F0E6-07DB-4303-B64F-592F8707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42D00-EB26-416D-9005-9E8220D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read_item(X)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4FC3E-7652-4A5D-8978-14218317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Find disk block, copy into buffer, copy item X into program variable.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369D1-1AE7-41D2-B302-C15FD591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24608-6F31-4389-9400-F0CBC90E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13F43-B7FE-4128-996A-0383CDB5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write_item(X)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58FB7-C1DB-4C02-A1D6-0B61EC15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Find block, copy to buffer, copy variable value into buffer, later write block to disk.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694DC-BE6C-4134-94C2-91589891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563AC-98A0-4525-A4F0-CC6E0118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AB8FF-E17B-40D5-A431-10744C3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Buffer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62F279-9DCA-4369-9C69-8F30A899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Main-memory area where DBMS works on disk blocks.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5413C-BFB6-4946-812F-D930F335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6D50F-4A12-457A-A9DA-69258B5A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CB6E7-9B43-43B4-9DFF-395B1E23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Deferred disk write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B4A8BD-7E15-4512-8567-DDD0DE86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Updated buffer may reach disk immediately or later.</a:t>
            </a:r>
          </a:p>
        </p:txBody>
      </p:sp>
    </p:spTree>
    <p:extLst>
      <p:ext uri="{BB962C8B-B14F-4D97-AF65-F5344CB8AC3E}">
        <p14:creationId xmlns:p14="http://schemas.microsoft.com/office/powerpoint/2010/main" val="234230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388552-D1F2-493C-8AC6-DC549F6B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3506C-E4D9-4F52-9C00-60AB36B1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concurrency control is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490E2-890E-4A0B-94E8-9FDF830E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concurrency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052EA-F621-456B-8CE7-CC473703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89A59-9891-4E49-84F1-247D6C7C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34B98-6C16-47BC-B3AA-403D7954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CFB27-356E-4BB4-A58A-EAAE35A1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Concurrency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798E1-D365-45C4-A910-9F737EDE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5EF22-6C6A-4F81-8837-984A9B84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C76D2-49F7-455D-A972-55735B58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Problems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437EB-F419-46AE-8A8D-C3FD9DD0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6C417-BD3F-4074-8BFA-135C516A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1AD63-B534-43AD-8331-4F7C3439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Lost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2F117-0ACC-4028-BD53-422A466A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One update overwrites another.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F0F91-6759-4E51-A48C-CCDD3EFE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DDB83-B01A-4849-9B44-2163E1D0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32A0A-C248-4405-9F55-DC12319C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Dirty read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5019EF-C1AC-42C4-ACFD-301A82B3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uncommitted temporary value.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4D600-57F4-479B-A514-CBE7EE1B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B74BF-C4B8-4481-88DE-058BEF6D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9DF4B-8E51-4C5F-99C2-FBBCE822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Incorrect 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8EDA0-8A24-4716-B03D-ECC17229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Aggregate reads mixed old/new values.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704D9-627E-41DD-AC09-AE3403FE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4A8CE-F9D4-4BC3-8BE6-A522D686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B2565-7F0B-42A4-9B03-BE7465C2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Unrepeatable 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2D8DEC-5123-4E40-87A3-5F254130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Same read gives different result.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BA111-1535-486A-8224-FE0B7ED3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573CC-2E77-4A24-997E-A9CC870F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A46493-D1F9-4F77-B0FA-36737A64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Isolation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87196E-A04C-4ED1-8EF8-55F4637F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Transactions should not interfere.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172D55-246B-48A7-B1D9-C6A63E3A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09D277-8322-45B2-8BA1-AAA22DA1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F011C4-8DDF-4546-B34D-4E744F5C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Consistency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653793-EFEB-4543-BB30-87F95A71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Database rules must hold.</a:t>
            </a:r>
          </a:p>
        </p:txBody>
      </p:sp>
    </p:spTree>
    <p:extLst>
      <p:ext uri="{BB962C8B-B14F-4D97-AF65-F5344CB8AC3E}">
        <p14:creationId xmlns:p14="http://schemas.microsoft.com/office/powerpoint/2010/main" val="10118093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B4B2C-07CA-460F-9295-8F1AB9D8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67F01-0927-4392-A367-82EDCC48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Lost update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0EB74-A699-4A69-9FE9-C4014284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overwritten update.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B7722-EE2A-458E-BCEF-92DAE8DA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70010-E4B7-4548-9BEB-1EB1B92A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CE59A-A9AC-4E6A-A1B4-DBF06B2E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BCE5C-D473-4B0D-BB89-B8337887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Concurrency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4FB04-16B4-4138-A9C2-F3DF207B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40D7F-6333-4ACB-A3FD-06696EC8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89AAB-DB49-49E9-862D-5757554F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T1 reads 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1EA7C-3540-42A9-8A83-8EC0B3AB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852B7C-1431-46B6-BC0D-2F5C8D8A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9FFBD-E056-4583-AEAE-FD7B2EE1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T2 reads 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FBDF5-857C-4BF2-BB0B-0A0059D0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1EBEC-A240-4716-96CB-275D5C15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3A037-6A0C-4E19-B4DF-14652796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T1 writes 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E2AF2-BD90-4BF7-A64C-4F591F0A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9E92A-494D-4225-8986-DDCACA0D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FFD4C-3ADE-4B1D-9BC9-55BDDF8D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T2 writes 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C30B0-FC8D-4FCA-9ADC-7248CA37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E33D0-B88B-4FD1-A80F-0932D231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8A3F7-B80D-4FB7-B860-8F430491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T1 update lost</a:t>
            </a:r>
          </a:p>
        </p:txBody>
      </p:sp>
    </p:spTree>
    <p:extLst>
      <p:ext uri="{BB962C8B-B14F-4D97-AF65-F5344CB8AC3E}">
        <p14:creationId xmlns:p14="http://schemas.microsoft.com/office/powerpoint/2010/main" val="15769366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B1CF9C-3D7E-47DC-B68A-6DE3FA68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838AD-1038-4F1D-9CD4-9EF16349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Temporary update or dirty 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93ACA-37FA-4637-B664-A9EBD8E4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uncommitted read.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6ABE3-03B9-4219-8263-B1C9E67B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06FB0-E71B-46A5-AE47-B68FB133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456D9-E28A-49F2-A9AB-339FB1B1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2D37E-F682-4C81-B697-8DFEEC26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Concurrency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3A84E-DE70-45D3-8AF1-D1FF3474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D6998-AE31-409C-8273-E6E99AF9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05F17A-4610-4674-8553-39739018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T1 writes 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06446-BB8B-4236-B9F3-25152727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7D6E5-5364-49B5-98BC-77D0C2CD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7F978-F7BB-4CDD-A55C-A6AD9433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T2 reads 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C2F1C-E975-4AEF-8411-A83EF4BA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56F97-85D1-4F04-BA7C-E121C1E4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A5F1D-06F5-475A-86C8-EC28FF48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T1 aborts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F67770-CF30-4022-A448-24B7B569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49E2B-9C45-41BD-A3A3-E1AD22EA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2DF407-0E1C-4BB9-92F3-46907A09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T2 used bad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72A218-8152-4CFA-AB49-EAF3A62F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06386-E624-46F5-9FBF-0805AEDA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4A29DD-9BA8-498D-B268-2685D54C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Recovery becomes hard</a:t>
            </a:r>
          </a:p>
        </p:txBody>
      </p:sp>
    </p:spTree>
    <p:extLst>
      <p:ext uri="{BB962C8B-B14F-4D97-AF65-F5344CB8AC3E}">
        <p14:creationId xmlns:p14="http://schemas.microsoft.com/office/powerpoint/2010/main" val="137513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E99E2-34DB-464B-9A57-F7F7A32C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FDAD0-2D55-4B36-950F-5593DC0A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Incorrect summary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07AA6-1128-42C6-8B3E-F6DCBE48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aggregate inconsistency.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0E3186-FDB5-4DFA-B5F0-7B9D165B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AD3D6-A3C6-4B13-9655-33889F32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4ABB0-3E26-4FFC-A590-BBDE7C91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F912B-2284-443E-BDC6-D546EAF9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Concurrency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9C730-F1DD-416F-934A-FCF254C3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565F0-A82A-4287-8381-FBDACF23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4E8B6-D252-4904-8487-40DA46EA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T1 computes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B6499-88B3-4FB4-90A5-42422073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E0949-C3D8-4E7B-98C2-A9097C86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EE431-7DDB-4DA2-8BE3-356F4DAD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T2 updates items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A76BD-514B-4EFD-B44D-D506A520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67CD8-7DA1-4D40-AA4F-A8526A60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3C77E-3D01-4E5E-8A43-E104CD08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T1 reads mixed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10DD-7D26-4AB6-A280-00F18004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C2789-917D-434E-8BCD-29156F75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6DF88-360D-4588-9483-6A24A063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Total is inconsistent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FFCAE6-A1EE-46F4-A8CA-2ED2ADAD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D0EB44-3D28-4F51-B99E-452F768A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8EAF2-8B2D-4292-BDF1-1B2CE4A9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Report becomes wrong</a:t>
            </a:r>
          </a:p>
        </p:txBody>
      </p:sp>
    </p:spTree>
    <p:extLst>
      <p:ext uri="{BB962C8B-B14F-4D97-AF65-F5344CB8AC3E}">
        <p14:creationId xmlns:p14="http://schemas.microsoft.com/office/powerpoint/2010/main" val="19468926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0A1250-C742-426B-82BB-DDD38BFE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79908-D196-4248-9C56-37D380B0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Unrepeatable read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63F2AC-072A-43AF-832A-4B509E9E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changed reread.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6A522-7658-4751-92E0-42F2860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4B5B6-8562-42AA-972E-21364E1D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3DB3F-E4C4-4157-8F89-A531628E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29A40-3837-40B2-9FC9-E69BF9D2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Concurrency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EF35A-A6E8-4FF1-A891-E75B9EF6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61CA4-97E3-43C9-91AB-63A4CE1D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D1952-C36F-490E-89B6-49467769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T1 reads 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211C2-08BF-43C6-A88E-327199F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2D562-E70C-4A86-8CCD-E20FA659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49542E-6F93-43AD-9F39-3B6923BE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T2 updates 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36CB9-D202-4A8F-B7BA-89614F6F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AFD6F7-1AE8-473C-9FD8-195A7ACE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0E338-FA06-48B1-A317-73A43A17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T2 commits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481C75-8564-4DE9-811C-D07EBCD9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60AD7-A8F3-42AA-9226-C038BC79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7824A-A121-40C4-9A24-CF738116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T1 reads X again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B42445-C84B-474B-9C38-ECB30A9A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004E5-9365-41C4-8ABA-A05E66E2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AF844-669A-44ED-B5C2-30650FA1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Different value appears</a:t>
            </a:r>
          </a:p>
        </p:txBody>
      </p:sp>
    </p:spTree>
    <p:extLst>
      <p:ext uri="{BB962C8B-B14F-4D97-AF65-F5344CB8AC3E}">
        <p14:creationId xmlns:p14="http://schemas.microsoft.com/office/powerpoint/2010/main" val="14379190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2BA9E1-AA80-4208-B95B-D296C2FC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57C33-3BEB-46EC-AB8A-BE103CD6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recovery is needed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1E800-4AF0-48C0-8BAB-7F528903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recovery goal.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0B871-6DDF-486F-B21D-A1BCD3E3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7B398-1EAF-4885-8F7B-46E6DDC3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511B8-02CD-4F95-B17F-D3B0DC5B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A977E-314F-4EE3-A36B-4E18243B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Recovery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5065F-D2A0-46C9-B46B-62D5A331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A0ED0-FB9B-42CF-B6CC-01045DFE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5485A-7B86-40E7-975E-8FCBCAB2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Recovery restores the database to a correct state after transaction, system, disk or physical failures.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689C5-D88B-411F-9794-FFE0BB58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3493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5B982-B510-4AD8-A7D5-2F3B2C90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120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DCBB2-E9D1-4C4B-B0B5-6B9437E6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975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FECBD-064F-4D84-AF50-6D93327D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825" y="4495800"/>
            <a:ext cx="13493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46E2C-1BEC-4DA3-84CC-BF5C3B1E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125" y="4676775"/>
            <a:ext cx="1120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Rollback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D6426-5DAE-4B3D-B399-07111903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440AE-B1D1-428A-A92B-7F004DF1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495800"/>
            <a:ext cx="13493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D7B55-C3C4-4813-A011-F3D749C2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676775"/>
            <a:ext cx="1120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C7367-F9C9-40E9-A685-11F5F9C0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350A0-454A-4433-807D-30BA42F4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95800"/>
            <a:ext cx="13493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91DCB-555A-4B25-A2A6-BAFD74FC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676775"/>
            <a:ext cx="1120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Undo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A19123-2FFE-4177-B49E-B5435091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25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FE6482-7925-4B83-880D-89CCB9B5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2100" y="4495800"/>
            <a:ext cx="13493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1728E-458A-41D5-BB71-1E4F9E65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1120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2AFCE-5844-4151-9E9A-E315B3FC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675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8F169-259D-4716-B842-54972DE9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525" y="4495800"/>
            <a:ext cx="134937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82185-0168-4441-83F7-E978BAC4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825" y="4676775"/>
            <a:ext cx="11207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Durability</a:t>
            </a:r>
          </a:p>
        </p:txBody>
      </p:sp>
    </p:spTree>
    <p:extLst>
      <p:ext uri="{BB962C8B-B14F-4D97-AF65-F5344CB8AC3E}">
        <p14:creationId xmlns:p14="http://schemas.microsoft.com/office/powerpoint/2010/main" val="4460726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C0862A-C45B-4EBC-91B6-901D407B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05BBA-AEC5-4E2F-9CEE-5374BAD6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Types of failures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46A17-2FF8-49EC-B9ED-B8944176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failure 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4A539-9DAB-4E0C-BE11-CA16A7B1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7EC9F-19FF-450F-89FB-DDD41B55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ACBA1-7C99-4E2F-82E1-A361009B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6208B-2E9F-47BD-BAFC-A074E757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Recovery 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057AE-BE9F-44AD-9BD3-41652CC2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48C3A-D43F-4674-A864-A267B1C5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F19FC-BBF2-4F7B-84F4-0B54836E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A3D27-22BC-4B63-A370-4BB2D134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System crash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82D63-C13B-4FB2-B66B-ABFA2AE1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Computer failure loses volatile memory.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764B3-68ED-41B0-8AAE-2BFAF095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A06F6-C260-437F-8FD7-F32A3B89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6AE41-D894-446B-87F7-5F6933BE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Transaction 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29EB4-71C4-4FC9-BDBB-F1FBBB01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Logical or system error prevents completion.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F197E-CC1B-4469-8B5A-D7630AF5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081768-3D5C-40DD-AC8A-C6DDBA43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2840E-B0BB-474B-996C-A314727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Local exception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E2382-E993-4382-A888-799990CB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Bad data, missing input or detected condition.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CD66B-60D0-4431-A233-76774FA6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DE71F-B30E-4640-92A8-689A59CD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24388-4CF8-4FB6-9CFB-D1750894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Disk / catastrophe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6666C-AEB7-4604-9214-6F8075F9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Storage failure or physical problem damages data.</a:t>
            </a:r>
          </a:p>
        </p:txBody>
      </p:sp>
    </p:spTree>
    <p:extLst>
      <p:ext uri="{BB962C8B-B14F-4D97-AF65-F5344CB8AC3E}">
        <p14:creationId xmlns:p14="http://schemas.microsoft.com/office/powerpoint/2010/main" val="11282416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2B995-398A-4DEF-8F88-E86FA516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AB253-3448-4908-8C52-393AC53B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Transaction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079E8-1E98-4ADF-AC03-890E56D5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state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E122F-B23D-4D8A-8D8A-E63DE557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70ACB-9FE4-4FD3-B980-532A2B81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C9B5C-BC6C-49C7-8197-17CC0A79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0AC0E-3498-4DFB-A9CE-3054B2E2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Transaction States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BDB65-1D06-4FE3-8FA7-FE5CC5BC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4C389-DE78-4DBA-811D-92337288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A3D3C-4525-487E-BD2F-63277740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E55A4-6CEE-4814-B787-57FADE90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D2F00-D1F4-49F3-A00B-5E1CBE00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B114C-A736-4B4F-BC35-920C7E16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Partially committed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084F93-9A80-434B-822D-0E1599C5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0E845-E12F-46EF-AE6A-57A94BD3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C2F42-98B2-4ABE-AEF1-5E838713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Committed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052AB-8B98-4A83-838E-41DE1F3B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B9270-6FB5-4270-BD9A-D8D039A9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F1FF4-5D81-4804-AE0E-4943A38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Failed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C2FEB-DAE8-4921-96EA-29E54A49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C56690-32C5-4955-8296-1102ECCC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8B959D-1997-4AF3-A03A-A540E8F5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Aborted</a:t>
            </a:r>
          </a:p>
        </p:txBody>
      </p:sp>
    </p:spTree>
    <p:extLst>
      <p:ext uri="{BB962C8B-B14F-4D97-AF65-F5344CB8AC3E}">
        <p14:creationId xmlns:p14="http://schemas.microsoft.com/office/powerpoint/2010/main" val="19901799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762C88-FCB5-4D73-B568-DD635C37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0F519-BB4A-489D-9182-8C3BC766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Commit 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6F5F9-2218-4977-A34E-5FB91F4E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durable completion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77325-0BF3-4013-A1C7-18EF667F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24818-7022-4AA8-9F1B-C4970E9B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6E0AF-132B-4F4F-8B47-481A1CA4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A9158E-78FD-4616-9649-3CE5C84E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Transaction States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29EF7-B9C1-4FFD-8845-081E3B0C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A2DBA4-67A4-461B-8B4C-4FEAD539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Commit 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9D819-225B-44F5-BB4D-D824BB91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transaction reaches commit point when all operations have executed successfully and required log information is safely recorded.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1713A-D1D8-4F63-A70D-064F5764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94A76-A2F5-4863-8C82-9AAB8177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Success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1CC3E-4531-4310-8E97-47A61609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3D339-6DC2-4C8F-865F-C78FACB4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7ACD50-849D-42E2-B593-DA023A5C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CA810-49B7-4A98-B419-EEB35F6B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3DF4D-DB11-4E5E-8C81-A1535B56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369B1-7992-4625-A8F8-2B50F652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Durability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B70C1-5E59-47E7-9036-4DE256A6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5E2C2-1C1D-4E4C-BBE7-4E988E04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01CD7-339A-4E49-800C-13156A46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75F039-3A74-46F0-8BDC-CCB42714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B7189A-C762-402D-A341-CAB1F289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EC86F-2BC9-4639-A21F-A8F8BCFF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Recovery</a:t>
            </a:r>
          </a:p>
        </p:txBody>
      </p:sp>
    </p:spTree>
    <p:extLst>
      <p:ext uri="{BB962C8B-B14F-4D97-AF65-F5344CB8AC3E}">
        <p14:creationId xmlns:p14="http://schemas.microsoft.com/office/powerpoint/2010/main" val="17282973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BA0AA4-D85A-4AAA-A8AB-1946F5FC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9CB82-5D1B-4198-B967-636BE7BB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The system log is recovery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562F8-A344-44DA-BEFE-63674823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log.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097D3-00F1-4E99-999C-5052EADF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646DB-E54F-4E2F-8299-B6F2443D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63DBB-A024-49C2-874E-8C07A3AE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9761D-39A3-4CE6-B66D-993DC5A7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System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0E720-F780-42A4-9438-7B224124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36C42-232C-4405-B4B3-F9022143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System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F78AE-38D1-4E32-BB7C-EC33ED99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The system log records transaction events and before/after values so the DBMS can undo or redo work during recovery.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5FDAF-73AA-453C-9D09-B7C8E5C0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ED801-1A26-4950-99AD-F5882FFB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A47C4-5611-4C3D-8144-81DEA593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A7720-CC86-480B-A51A-B83BE039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42ABC-41FB-4E30-A86F-0E57DB7C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884F1-32C6-4173-B39D-4C82BCB0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2EF08-2714-4F38-A564-0A8D4983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1197D-1822-4BC9-8DD5-FC23DECC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05691-852B-4CB7-9F88-2B43F725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836A6-1CB5-4F98-A062-DA95B61A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86630-BD62-4AA9-8153-A737EF28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6C0E2C-454E-4A95-8031-C195B1B5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4B6C04-08DB-42F1-A6A6-405ED506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265CB1-CBF8-409C-9345-5CC71EB9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abort</a:t>
            </a:r>
          </a:p>
        </p:txBody>
      </p:sp>
    </p:spTree>
    <p:extLst>
      <p:ext uri="{BB962C8B-B14F-4D97-AF65-F5344CB8AC3E}">
        <p14:creationId xmlns:p14="http://schemas.microsoft.com/office/powerpoint/2010/main" val="18338923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9E7D27-1A70-4B4F-B0BB-8CF9A774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A91A7-DAE4-4B3C-B750-09943DF1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Important log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2B767-DB4A-4CED-B56C-06501914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log record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A12EB-31B9-4C7B-AFAB-0236F78F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7BAD4-7997-45F6-866F-EFAA2D1D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664948-E1ED-4BD3-A68B-7622170F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F4F8C4-74F8-403E-A251-01FB8B59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System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6445B-DA5E-4571-BB25-94234B8B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CF86A-0ACE-46EE-9A0B-7C2FFA6C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9DA81-2335-4B57-AB3A-27C739D7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1BD7D-3499-4CD5-A828-2008C475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start_transaction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1A920-C46B-4F18-9B2D-29E363FB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Marks beginning of transaction 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01F27-70B6-45DB-B0E7-0E145019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D8505-CA01-4ED7-B28A-ECF901CA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99674-79E4-4176-B8A3-33AC9F80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write_item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D90AE2-49BF-424B-BB89-F10DA793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Stores transaction, item, old value and new value.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CDFAD-48FF-421A-95E1-7A6CF10E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77F03-A23D-406D-8174-C85538F4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083762-1965-4D8A-82D4-905F5EE5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read_item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662A7-83C7-4E8F-BA77-711868ED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Records item read where needed.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32B623-DD55-4BC9-8C86-3269D863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ED147-1C90-4067-86A3-7419A6BA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3C5E9D-8D8B-40E2-A6B9-3BAB8D5A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commit / abort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17606-5F61-4FEB-92F7-BB567343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Marks successful completion or rollback.</a:t>
            </a:r>
          </a:p>
        </p:txBody>
      </p:sp>
    </p:spTree>
    <p:extLst>
      <p:ext uri="{BB962C8B-B14F-4D97-AF65-F5344CB8AC3E}">
        <p14:creationId xmlns:p14="http://schemas.microsoft.com/office/powerpoint/2010/main" val="20606863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6B58C-673A-45C6-891C-5E8DDF8C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C54C1-4BD1-4E24-AC42-BB69E899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DBMS buffer replacement policies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D7649-2D87-41A5-AF30-BF6524AE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DS, hot set and DBMIN.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3805D-F6A0-4353-83D2-04082A9B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B0A2C-7E68-451A-96D5-E19F7BFE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6E793-4E4F-43B0-9D26-EA8B62D6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09915-BB83-489D-A031-4AC0E773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Buffers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D88FD-7D89-4D97-A5CE-6FE817A9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28EDA-C86B-4419-8015-B1F482D4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AEC7E-4013-4877-8EBD-F397699C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C89B79-D8AB-4F8D-86C4-24E5DF955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Domain separation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AE1ED-5597-4A65-80E4-289AC7D2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Separates buffer areas by database domain or file type.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379BD-525F-4793-A66F-31E89718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2735DE-29F4-4924-A316-A68E505F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59763-3655-4057-83EC-87ED7C21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Hot 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E60C9-F0E4-40F3-9215-7D21325D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Keeps pages frequently needed by active transactions.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825DA-7C59-49DC-ABB4-54E6FCEA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D4B31-7A70-4BC4-AE7F-1FB9928E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3DAD0-945E-457E-8EFB-2430FB11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DBMIN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DCB49B-DE28-490F-B73C-78F5EAE4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Uses query locality sets to guide buffer allocation.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940F5-CEC2-449A-A433-7D9675D6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C41FA-E765-4CFB-8908-BE753199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2072E-74C2-4FD7-9293-F8AE2C8E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Goal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844801-F0A0-443D-B4AB-29CB4135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Reduce I/O while supporting transaction processing.</a:t>
            </a:r>
          </a:p>
        </p:txBody>
      </p:sp>
    </p:spTree>
    <p:extLst>
      <p:ext uri="{BB962C8B-B14F-4D97-AF65-F5344CB8AC3E}">
        <p14:creationId xmlns:p14="http://schemas.microsoft.com/office/powerpoint/2010/main" val="19626649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E44991-CBDF-460A-8FCC-FD000C12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EA283-5D57-4110-B573-B4562E25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ACID properties define transaction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9A209-9877-49A1-BC35-65C0B7E3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ACID.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5A8D3-07AE-464C-A474-28F7A37A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896FE-85A6-4FE3-862C-EF90277B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8DE3A-F1E9-42C3-8CDB-971A42C0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24612-347D-45BA-845A-C4A26F7E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ACID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2AD2C-D861-475E-99F7-E00E7C96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3732A-F5D1-4C06-91DD-54141E6E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2D620-8861-45F6-9D1B-E85F595D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ACID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2FF5A-9E21-4453-A3A5-A09A1A7D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F539D-181C-48C8-A14D-562D626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1613AB-DD1F-4C65-A73F-62744221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Atomicity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4CD25-185F-4594-8601-C56A9DA5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All or none.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C3C7D-A0D6-4AC3-888D-BE570B21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371DA-79D8-498B-B335-8CE800D7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2BFD9-05F9-4EE4-8BE6-AB3A6CC5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Consistency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EEDC2-CF70-4110-89AB-F2E44C34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Preserve rules.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A5B5F8-FE8F-41B8-822A-53B72E83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1A4A0-CCCC-46A1-9FF5-42D3609A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7114A-A995-44D4-ADB0-2F4B5B31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Isolation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6B1BA6-8968-47B4-BCF4-C4D68D7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Appear independent.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64B432-8858-4511-B601-C11115B9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EE151A-8A7D-4F12-AE92-2E1F75CE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81399-C7B4-4093-B4B7-E9F72AA5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Durability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E6E0C7-8967-41A3-BD71-8CC04B4F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Committed effects persist.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58740A-BC41-4C4B-85BD-75581521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EC45F4-9751-4076-B813-A1C3E8C6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C081D-2A47-4DF8-9109-311366C1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Recovery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4958F6-42D2-429B-A2C8-23C2D008F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Supports A and 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9E4405-34E0-40BB-924A-6985CEC8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3C30AE-5544-420C-B082-CB616D71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68BA07-437A-4650-BA0F-06A4C69A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Concurrency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12BE31-CB62-4B43-905E-291FBE77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Supports I.</a:t>
            </a:r>
          </a:p>
        </p:txBody>
      </p:sp>
    </p:spTree>
    <p:extLst>
      <p:ext uri="{BB962C8B-B14F-4D97-AF65-F5344CB8AC3E}">
        <p14:creationId xmlns:p14="http://schemas.microsoft.com/office/powerpoint/2010/main" val="10187623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E5732E-95CB-4CEC-9AF2-0035285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89417-A535-4C05-9513-7A692922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Atomicity and durability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E3F4A-2A85-4DC5-803D-7F01C574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recovery-focused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3B1E71-E388-4A3E-9C1A-86A95D4C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A530F-E9E2-462D-A078-827866EC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5FD6C-A3B4-4534-8FD5-4A4A3576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477F6-2F47-453D-AFE9-6A15F07D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ACID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411C6-B24F-4648-9D4A-B8D3B363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C59BC-9007-4807-9BDC-63E86D95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29AFA-4ADF-4FC4-A270-08CDA24D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C2EE3-5DE0-44A1-B364-1852828A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Atomicity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748C0-4A88-4478-A1D8-3A5E521C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2DC74-37EC-4A03-8179-30232141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CEE9C-A699-49BB-B240-9B30C250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078B7-0967-49EB-BAE2-AEF41DE1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Durability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EB979-024C-4D53-982C-1AD02E0B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E93900-6444-42C3-8257-2D66F443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746CC-4D67-4E30-99EB-0919FC0D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F74ACC-433F-406F-A1F5-456898C7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No partial transaction effects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481CF-C08E-4B9D-8FB4-06F36088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C8BB5-8239-4111-AD36-E42A80FB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3093B-B334-4E33-B52A-AB5A9CF6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Abort means undo changes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B62D55-F365-4531-B3F3-38882924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071ED-1F01-40D1-B950-FEE4D035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422D51-68F9-4A2D-B557-3F9B8E4C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Protects against mid-transaction failure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2659C2-D5F9-4CC3-858E-8A8EEE4A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63FA3D-767E-4E4D-9CED-83A7B598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F17A23-C8DE-4FCE-BC2F-B0B6478F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Committed effects survive failure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152D49-D8C5-4626-AC56-FF9F18FF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E172A2-AE44-4D0F-8915-59C14346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760A8C-1817-466D-9D33-93F46B006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Uses stable log/storage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C6E9A0-648E-46E2-B97F-AE0DEDB7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7F5211-E217-401E-9E2D-1D58D1D2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1D4DA8-64F2-4D8C-9A26-29D2191A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Protects completed work</a:t>
            </a:r>
          </a:p>
        </p:txBody>
      </p:sp>
    </p:spTree>
    <p:extLst>
      <p:ext uri="{BB962C8B-B14F-4D97-AF65-F5344CB8AC3E}">
        <p14:creationId xmlns:p14="http://schemas.microsoft.com/office/powerpoint/2010/main" val="15948726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7C1842-C0DB-4FC9-A2C0-D47AB874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8D86D-67E8-465D-9A6D-46506C9F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Consistency and isolation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43A9F-0D5B-45F3-8C1E-973D7559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correctness-focused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B8CCB-F034-4C25-B7BA-0F5D50C1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D6E27-4B0C-4219-8D5C-41DDE739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4E781-897D-4DEE-9866-E3644BC9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72B4E-BDD9-4075-8AEC-25462637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ACID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5AF41-72C1-479F-869F-C60F61E7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2AB8F-BCB8-4C0B-B77C-DE8CC1AD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FA1C9-CE69-4F42-B7A6-871ADE41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E9C4D-91B7-491B-81AF-751048DB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Consistency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62606-CB65-4EB4-A384-0925ACA3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0A3D3-7EE9-4AF4-986C-F6461A7E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05B43-1488-4CAA-9D61-70C7B40B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8B523-F4B1-4E39-9A3F-7FA4D887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Isolation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BC0C5-4666-4013-A94E-EAFB34D3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9FAAF-3AB1-4B9D-9D5E-7B87257C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AD29F-CF58-4FDC-84E0-031385F5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17875-C19E-439F-AAFB-EB8FB00E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Transaction moves database between valid states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8D0934-1E58-4228-A339-9BE44A7D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8E356E-269C-44D4-9E0F-880DF10A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AD7D9-83FD-47D6-B283-16025400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Integrity constraints remain true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FB734-8371-4811-B7C4-FCE34461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DE461F-78E1-436A-BBF7-B62C59DD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080E56-782D-4E75-8FA6-CC6879F2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Application logic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8AFAA8-2F7A-4A61-846C-CF304C1E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59EBE3-73C0-49B1-B5D1-43040A5C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5ADB74-4691-4CC4-A5F2-1C54CE68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Concurrent transactions appear separated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3E5A18-8FBB-4CD4-9DF7-4912F2BD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B2383-412E-4DA2-83F8-EECB1E10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63E127-CC76-459E-A08E-BB0A8046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Prevents dirty reads and lost updates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01D711-8571-491F-B3F9-7D525AB0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1345DE-2766-478A-B6CE-7D7D0E07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BED9A1-5151-4C2D-A159-C500286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Controlled by scheduling</a:t>
            </a:r>
          </a:p>
        </p:txBody>
      </p:sp>
    </p:spTree>
    <p:extLst>
      <p:ext uri="{BB962C8B-B14F-4D97-AF65-F5344CB8AC3E}">
        <p14:creationId xmlns:p14="http://schemas.microsoft.com/office/powerpoint/2010/main" val="1113986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C9CC06-730C-4654-8DC0-95A511E6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66FD-5297-474F-863C-D787491B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 schedule orders transaction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81C33-10DB-4062-96B3-CA046551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schedule.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1F3E8-3A67-4997-9002-CEF15E61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DA72D-BC5B-408A-AD63-3C0ACB56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40A45-113A-4250-8940-68B11468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68364-BFB4-41C5-9265-F26FCED7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Schedules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735A4-26FC-4A57-B741-0D76269B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A6EA7-9F6A-4292-9D79-0ED5B1A7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7C8B8-D663-444D-B9AB-E8DBBD8D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schedule is an ordering of operations from one or more transactions that preserves each transaction's internal order.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2B6C0F-AE2E-4D04-8419-26F177E9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710B9-461C-4F58-9DE2-CF05B907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39411-0883-42FC-9467-090910A6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A56BB-70BC-4D9D-808C-2D023282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E9325-F9ED-4CD6-BC62-5BE74D3D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Interleaving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65B55D-BBFB-4913-9A55-74CFF5FB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36A95C-28FC-48F3-9755-D725CE01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8454D0-E1E0-4296-AB22-26510863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Serial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5300E-B406-403C-9321-A1B386C2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0E0383-6F34-4BF3-AC96-CB4511F5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315CD-57C3-44D2-AFA1-27F01735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Concurrent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8D0C59-0F1C-44AD-916B-F772EE7C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287C3-50ED-41E0-8CBE-29001F1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74A831-EAA5-46AC-BDE1-F4769F56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Correctness</a:t>
            </a:r>
          </a:p>
        </p:txBody>
      </p:sp>
    </p:spTree>
    <p:extLst>
      <p:ext uri="{BB962C8B-B14F-4D97-AF65-F5344CB8AC3E}">
        <p14:creationId xmlns:p14="http://schemas.microsoft.com/office/powerpoint/2010/main" val="99836640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50FA1C-7CFF-4A99-82C7-B5A7121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99864-DC66-4007-9EBA-9CA2E2FD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Recoverable schedules protect committed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07F82-5041-49E4-AA79-747AED1E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Introduce recoverability classes.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16271-6651-4051-A409-E4D9FB71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7386A-413A-4A66-9339-3C297A07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30CE9-1948-4701-B87A-504B6ABA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8AF2D-5028-4151-A78E-673E42B8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Recoverability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03EE5-383C-4362-BBCE-88B47274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D8BEC-1A5C-4C2B-8A90-23DC6959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B5599-ACC7-4302-9CB4-8609E301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Recoverability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88298-51CB-4004-82CC-86717638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F5A40-D6F4-4852-BDCF-55007F1F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080C5-740F-4E5E-A10B-E7D022DD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Recoverable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E7AA3-15F9-4EC1-9C69-D9B75F70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Commit after dependencies commit.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51914-F640-4ABA-BCF1-3560C09C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F9601-1973-420A-B244-DF1BE647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BA9BB-7F9B-4BAB-AAF6-C54D2B3D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Cascadeless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ACAC6-8C35-4547-8FFD-D563CA1B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only committed values.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08894-39CF-4B77-A874-3B47772D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DEE4F2-D507-4E46-93E9-B2340A68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BDFEE6-2F29-4064-AE61-26E24252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Strict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C0054B-AD09-48C1-ADB0-7C97846A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No read/write of uncommitted writes.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3D11F-0CB9-4D51-9442-19CBFD89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C8472-7D91-435E-91F9-96FC1DF7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D74F3-281D-4E62-9292-E77C4F69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Dirty 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DA1AE-4DDE-4CF8-8799-15251714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Main risk.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504F2-6F47-4EB1-BD9C-13335580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06110-E444-4C3E-8B2F-26C018D7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BB1CD1-DCEC-478A-BAFB-4CF0AE8B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Abort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3E6444-5CE2-4827-9BFF-1DE51ABD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Can cascade.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D60DE-65FA-40E8-96D1-F22364AF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BB625-D7C9-4D87-A6F7-870B04D6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E4AF10-2446-488F-AEBF-FA73DE31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Commit order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EB4171-CD40-4316-9FC0-D71F675A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Matters.</a:t>
            </a:r>
          </a:p>
        </p:txBody>
      </p:sp>
    </p:spTree>
    <p:extLst>
      <p:ext uri="{BB962C8B-B14F-4D97-AF65-F5344CB8AC3E}">
        <p14:creationId xmlns:p14="http://schemas.microsoft.com/office/powerpoint/2010/main" val="14495269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C70BFD-F47F-417E-A816-DDB9F5A7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35C59-F636-46EF-9507-B2B4FA2E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Recoverable vs cascadeless vs strict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6A41D-B07C-4CF0-B9AE-6243ACFD0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schedule classes.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E86AB-2F43-4A1F-8304-7C275B38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793A0-6A66-4618-98F6-9777CF0B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3E803-6961-4992-B812-951A63D3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C0820-E310-402E-A885-3A9D35EA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Recoverability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55668-81BA-4545-81EA-3D488015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D06AAB-C6D8-4030-84A5-C8239542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80E29-07AA-4F86-A440-68ACCACC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Class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323CD-B3D4-434F-99DB-4226551D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D8440-98D1-44DD-AA30-B562899D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845A0-3393-49DC-A195-37061D57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1666875"/>
            <a:ext cx="353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912BA-259C-4E79-AE0D-2193284D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550" y="1790700"/>
            <a:ext cx="334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</a:defRPr>
            </a:pPr>
            <a:r>
              <a:rPr sz="1350" b="1">
                <a:solidFill>
                  <a:srgbClr val="07111F"/>
                </a:solidFill>
              </a:rPr>
              <a:t>Why it matters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C6ADD-1632-4733-87F3-A8C871F8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5D398-3036-4F92-A47F-F24E4C4F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Recoverable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2C03D8-FE53-40C3-9099-F4327C78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9DD53-2879-4360-B550-D892C5C5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Dependent transaction commits later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4C0F3C-96F5-4319-A19F-4658C2D9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1812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D1DA4-87BF-403C-9433-F513785D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2764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Avoids committed transaction depending on aborted 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A4DB1-9900-49B0-BF8F-9193CF96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29A1E-FF38-4826-AE62-1E7D8B79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Cascadeless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43113E-A30D-4918-9F48-37E7ECDE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91DB8B-C30C-4285-AED7-20DAAD74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Reads only committed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9FF91-EB72-48F3-BB32-FFEE2505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277177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3298B7-5369-49A8-8D3C-D32BC050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286702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Avoids cascading rollbacks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7E318E-5A1C-4850-BCA2-536CEBD4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09E3D1-46D1-42B5-B356-7A017C0A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Strict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70D6E2-B5F2-4B89-8868-B5B7603A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E5E3F1-9AB7-4793-BD32-DE571D55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No one reads/writes item until writer commits/aborts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808890-C672-4B50-9954-46A6B485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3362325"/>
            <a:ext cx="3530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160A4E-6175-44F9-85FA-3DE5CD1A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3457575"/>
            <a:ext cx="330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Simplifies recovery</a:t>
            </a:r>
          </a:p>
        </p:txBody>
      </p:sp>
    </p:spTree>
    <p:extLst>
      <p:ext uri="{BB962C8B-B14F-4D97-AF65-F5344CB8AC3E}">
        <p14:creationId xmlns:p14="http://schemas.microsoft.com/office/powerpoint/2010/main" val="8969151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FF0039-DE89-4954-BBC2-AC4FD016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E7CE6-A5E3-42CA-9D21-83B8ADC6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Serializability is the gold standard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532F8-E6D8-4288-A396-44FF5847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Define serializability.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25D1A-8713-4FFD-B11E-59EE8299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78653-BBB6-455C-A6AD-EB8BA869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02A02-C973-42A4-A480-85E76649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AB203-60F3-464A-BD4D-703F2C24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Serializability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1C79D-C98D-436A-99C8-1F99291E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E6343-7BD6-4B8F-8A2C-D4B52402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Serializability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571C6-DFC4-4116-9811-D10ACF91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schedule is serializable if its effect is equivalent to some serial execution of the same transactions.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2BBF1-AD74-4F1F-8A94-B9BE7AAF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435D7-D5F7-4980-9A0C-30C90E70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Equivalent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11DF0-DCFE-49B8-B780-528223E8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CAED7-C539-4431-8401-471C70D4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20FA0-249F-4830-B5DF-D6A77DBC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Serial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49854-16E2-44B0-A382-424198D0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29C41-F152-4EEC-87CB-49460CFD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0B166-2BB2-46E4-A8C3-1030202C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Correctness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977D0F-EBF5-4C76-8B4C-C00F39D3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225BCE-1490-4E45-8B51-40762395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8F1F6-42FC-4A52-A2D3-0374A14E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Conflicts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8422F-D5AC-4EA8-9D54-C9065B7C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57CFAB-EA6E-4016-B357-5C2765A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B6B352-8807-4CAA-AF24-0394C491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Precedence graph</a:t>
            </a:r>
          </a:p>
        </p:txBody>
      </p:sp>
    </p:spTree>
    <p:extLst>
      <p:ext uri="{BB962C8B-B14F-4D97-AF65-F5344CB8AC3E}">
        <p14:creationId xmlns:p14="http://schemas.microsoft.com/office/powerpoint/2010/main" val="41931263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B787BD-197B-42D2-A0B1-FEE585A7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CAA5A-4068-4F3E-A667-164F0AA6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Serial and nonserial schedules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76ACB-CCA0-425A-AA7B-6DDE913A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Compare schedule styles.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A44A1-DB79-4E17-8A87-1A871C73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72906-9ECE-4486-9571-56689224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07A11-AD24-4707-93ED-5118EB68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58B41-3891-4B65-828C-5F9E2336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Serializability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77C16-9976-4E69-B565-D9B5197A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59AF0-C5A6-4772-80E3-028DEA16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E62DE-DA0D-4726-AABE-0A016734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CE732-A91F-475F-880C-FD9EB177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Serial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2F3A7-194C-4832-91D0-F17058EE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F11E5-44A9-47A7-B042-2598C2EC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96DB3-1371-4D25-8258-A04A508F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B1F5C4-77AB-4BB6-9149-D682F2CE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Nonserial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47C1B-9C7D-4589-8DE5-4304F7C4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7617A-4A29-4D9A-8836-E1966CD4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63191D-2769-49E2-9383-A3D0FF5F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7E762-B155-4000-AECC-04B89276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Runs T1 fully then T2, or reverse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4F48E-D4EA-4B33-ABCA-A331C447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9E4B9E-5C51-415D-BA7F-D12C35B6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DD94CD-1901-4BE9-946B-5C4CA275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Simple correctness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95565A-7B2B-4521-ADC1-2001C4E6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7E7B8-AC5C-4113-A401-5DB338BC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D76B8-7514-4820-A638-27C459E4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Low concurrency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FC719-7AF1-4BBE-99AA-FE8ED42A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04AC4E-618F-498B-93C2-CE99A057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D7F14C-540F-44A7-972F-1E05CC02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Operations interleave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D7F6D7-BA27-4C15-A445-BD73DB10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595C1B-FE0A-42A2-B4B0-31DD1C13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20D3D6-8C8B-46C0-8C8B-E0511C06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Higher throughput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9D0B8F-2580-4159-AB50-FFD4618D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4EAFD0-5F44-4C83-BB27-19EB6EA5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C7A9B4-3F06-4E02-ADDF-B26DF413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Needs serializability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702A99-8363-4367-B7DC-ECDCED02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82F3D9-2577-4191-83D6-ED55E43D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D06A14-588A-44EC-AE81-AE55B264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May still be correct</a:t>
            </a:r>
          </a:p>
        </p:txBody>
      </p:sp>
    </p:spTree>
    <p:extLst>
      <p:ext uri="{BB962C8B-B14F-4D97-AF65-F5344CB8AC3E}">
        <p14:creationId xmlns:p14="http://schemas.microsoft.com/office/powerpoint/2010/main" val="16101122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09FFA-D8A9-48E6-B3B5-A35E7420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8A6F4-6426-4B56-B99A-E13BA6CF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Conflict serializability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73317-9B72-4540-B1A8-A9EDF180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Explain conflict idea.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10DC1-726B-47F7-9E8B-4C20695E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8F1C3-3389-41FD-B110-75B29ED2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7AC3F-C15D-4E49-BF7B-E265E6F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1EF05-E12C-4F5E-BA34-0FBED514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Serializability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D260E-EE4B-403A-95BA-1DADC769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25E17-8206-4BAA-AC7C-7EAD316F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9F1C"/>
                </a:solidFill>
              </a:defRPr>
            </a:pPr>
            <a:r>
              <a:rPr sz="3600" b="1">
                <a:solidFill>
                  <a:srgbClr val="FF9F1C"/>
                </a:solidFill>
              </a:rPr>
              <a:t>Conflict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70DC1-BAC3-489F-8FC9-3419C47F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Two operations conflict when they belong to different transactions, access the same item, and at least one is a write.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30479-3DB0-4816-A46C-A7D9E9F7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396D7-EE36-427F-A160-46C21C4F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Different transactions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34434-A410-4037-BD04-6E477A7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C4397-48B7-463E-BCD1-47D2630CC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E854D7-AD48-4D46-9EE2-607342A9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Same item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EC43D-7396-44C7-9C54-7ED38F39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C3EFF8-429E-4FBD-8B3F-8CA60C14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CF3DF-292E-4342-94FD-2380C54D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Read/write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5CEC0-7D46-410B-B31E-58CC0101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0E415E-3DFF-46EA-80C2-D2B6E9AB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00D0EE-DEB3-4F7C-8F66-14E5745A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Write/write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50F00-8DB7-4A98-AC74-BD8A9D7A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B79A1-1456-4D0E-B765-B8805580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A4E43-292D-4E11-B746-8A7C5F88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Order matters</a:t>
            </a:r>
          </a:p>
        </p:txBody>
      </p:sp>
    </p:spTree>
    <p:extLst>
      <p:ext uri="{BB962C8B-B14F-4D97-AF65-F5344CB8AC3E}">
        <p14:creationId xmlns:p14="http://schemas.microsoft.com/office/powerpoint/2010/main" val="21272872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503D59-F8C5-4E0D-8F86-4D7D263B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C8D87-6070-4F7D-94A7-912BC846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Testing conflict serializability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CBCEB-3E64-4277-902D-20170253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Show precedence graph method.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BBF51-487D-4A19-812B-81623416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7959C-46C5-42A9-8EAA-FE4EB61A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CA221-2AF9-4FA9-90FF-456AA058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4C2AC-C8A8-4405-B851-41DBE2A8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Serializability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AEBDA-AB20-468F-A522-D2D3AB86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DDA00-1DA0-42BC-BA69-0D04BE33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D1E70-C70A-41A6-B1BA-6CA006D0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Create node per 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B6CD3-CA8C-40A7-800F-84BC2D3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C8B38-03F5-4F9B-AF15-2F809B90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DDA25-CB10-4742-AC23-8BA0A5FE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Find conflicting operation pairs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B6C00-1250-4612-ADFB-49A9B6B7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5454A-74A3-4F9C-9508-6FCCE614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98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4C613-72F8-4811-AF0D-38019E91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828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Add directed edge by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D50DB-E22E-4DEF-9362-63F81ECC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2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9F205-1CF7-4B0B-B7D3-EDA00E61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807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A0E1D-E08C-4753-B693-6CD0767F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37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Check for 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F09FC-92D3-4101-A845-94043105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661FE9-FCE8-42FC-9C37-C2267BCE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2905125"/>
            <a:ext cx="184404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2C265-D208-4893-9400-39900E42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3086100"/>
            <a:ext cx="161544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Acyclic means serializable</a:t>
            </a:r>
          </a:p>
        </p:txBody>
      </p:sp>
    </p:spTree>
    <p:extLst>
      <p:ext uri="{BB962C8B-B14F-4D97-AF65-F5344CB8AC3E}">
        <p14:creationId xmlns:p14="http://schemas.microsoft.com/office/powerpoint/2010/main" val="195009722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9710C-195A-44CC-8A9D-5C302A03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A6258-5DA1-433C-A410-9727FE02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Precedence graph visual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8BA3D-DCB1-4778-9E2D-749B9750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Use graph intuition.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B0286-EEDA-4927-BAF1-98863ADD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96428-CB36-403E-8542-97479666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67F58-D170-46FE-88C8-D73FC30D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9CE47-A57E-4E1D-A262-BB550ADC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Serializability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F94C01-A465-488F-9635-B9F7D34B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F03A1-DDC8-4108-A974-AAC66210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57450"/>
            <a:ext cx="1143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EA4C4-5BEB-4E66-890D-2E40889E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1143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95D80-1DB8-489B-AE51-D6D3DAD1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904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02A3B-1801-467F-92E8-E79D76D7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29000"/>
            <a:ext cx="1104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EE32B-C12F-4DF9-8E3E-2DE0E2EF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29050"/>
            <a:ext cx="11430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45FFA-6713-4F18-A56A-EE072926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3362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B5D31-8318-4DB7-97CC-09B78C76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241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T1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1EE9B-BCD7-42BD-80EF-F433C1A2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E50F2-4F48-413D-81FF-C0874AA7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T2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0FDFB-1D49-482B-8DC9-A48205A8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85B0F-9191-4166-9B90-5527D3DA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717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T3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27889-C31F-4615-800A-42FEC5C2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338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FDF55-D56F-45D6-9761-4D8C95BF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T4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6CEF0-099E-49B5-9F5C-46D168FE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8625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E42C3-8656-4910-8368-510A624E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T5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B14C24-9A91-498F-ADB0-E6BA570C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476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3D648C-4E22-421C-9B8B-C3CC5D96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F7A2EA-82B9-44B0-BDFE-67D6726A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Graph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50771-C62D-4D41-AF0E-798915B3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90850"/>
            <a:ext cx="2114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 cycle in a precedence or wait-for graph signals non-serializability or deadlock, depending on the graph type.</a:t>
            </a:r>
          </a:p>
        </p:txBody>
      </p:sp>
    </p:spTree>
    <p:extLst>
      <p:ext uri="{BB962C8B-B14F-4D97-AF65-F5344CB8AC3E}">
        <p14:creationId xmlns:p14="http://schemas.microsoft.com/office/powerpoint/2010/main" val="786838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47FBF-5357-441B-A90A-AA747A01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0CC1A-3B2B-4D36-8FD7-403A5B43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SQL transaction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28944-77AB-4369-A0F1-ABE28A51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COMMIT and ROLLBACK.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84696-6B76-4021-8D7F-4CCBEBAE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2751D-7DC3-47AE-BE48-4F22F74F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E3318-0B67-43FF-B06D-B112B70D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23848-BD6B-4B5F-9D7D-1AC40F14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Transactions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42C9E-E257-4A70-BF19-5C946A46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B509D-6E5A-4669-9670-194C882F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6953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01D2C"/>
          </a:solidFill>
          <a:ln xmlns:a="http://schemas.openxmlformats.org/drawingml/2006/main" w="9525">
            <a:solidFill>
              <a:srgbClr val="35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07250-D190-43C5-8769-50C73E53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52625"/>
            <a:ext cx="64293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START TRANSACTION;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UPDATE ACCOUNT SET Bal = Bal - 100 WHERE AccNo = 1;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UPDATE ACCOUNT SET Bal = Bal + 100 WHERE AccNo = 2;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COMMIT;</a:t>
            </a:r>
          </a:p>
          <a:p xmlns:a="http://schemas.openxmlformats.org/drawingml/2006/main">
            <a:pPr>
              <a:defRPr sz="1500">
                <a:solidFill>
                  <a:srgbClr val="FFBF69"/>
                </a:solidFill>
              </a:defRPr>
            </a:pPr>
            <a:r>
              <a:rPr sz="1500">
                <a:solidFill>
                  <a:srgbClr val="FFBF69"/>
                </a:solidFill>
              </a:rPr>
              <a:t>-- or ROLLBACK on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0592C-C91D-4C05-BB12-38D40A77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F2DEB-D622-4943-AAD2-E3BC5338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22C0F-E356-420B-AC6A-26094C80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985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SQL transaction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82B63-D9D6-45EC-ABDB-67340DDD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90850"/>
            <a:ext cx="2495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the pattern by identifying input relation, condition, projected attributes, constraints, and result relation.</a:t>
            </a:r>
          </a:p>
        </p:txBody>
      </p:sp>
    </p:spTree>
    <p:extLst>
      <p:ext uri="{BB962C8B-B14F-4D97-AF65-F5344CB8AC3E}">
        <p14:creationId xmlns:p14="http://schemas.microsoft.com/office/powerpoint/2010/main" val="73003051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665E9-784D-428B-926F-3B5B838E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DCB30-D598-46F3-9B17-43C53D3E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Isolation levels expose trade-offs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23F3B-531A-4E2E-943D-08C88BFC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Cover SQL isolation ideas.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79FA5-9321-46FB-A254-E00149C4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34ADA-5B7D-43C7-A095-5CF348FE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80D99-A5C1-47F5-AE0C-70F5B675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D237B-E67F-4A49-8836-F2C395AF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Transactions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C35CE-E8F5-4989-B35F-07F93A7A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8D8DC-A227-47B4-BADB-01F24305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7A0DF-3143-4933-919C-AA6AF595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006D0-2B27-4E89-B6B2-92785270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READ UNCOMMITTED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62B878-4446-45E7-9741-7D044897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May allow dirty reads.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5E882-3730-41B8-A97D-92D01934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C8F0E-BA06-483C-B621-85E60F39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716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A645A-E284-45D9-92DB-1EE552DE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READ COMMITTED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9D1487-E396-4478-B19A-0980B5FC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Avoids dirty reads.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EE9B97-370A-48E7-AC0C-14C9E26D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9D4F6-926E-428D-9E5D-9878445F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E5EB0-CE5E-4860-A5AE-5848CCC5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REPEATABLE 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FADC3-B33E-4C0C-B956-4A1F4777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Avoids nonrepeatable reads.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85520-F863-4BA4-88DF-487BA3E9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22B16-D4E8-4B27-AD86-73F55205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1C6E5-EC61-4834-9C4B-998DC75B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576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SERIALIZABLE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974F2-1757-44A8-9D5E-E5295BA0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Strongest; makes execution equivalent to serial.</a:t>
            </a:r>
          </a:p>
        </p:txBody>
      </p:sp>
    </p:spTree>
    <p:extLst>
      <p:ext uri="{BB962C8B-B14F-4D97-AF65-F5344CB8AC3E}">
        <p14:creationId xmlns:p14="http://schemas.microsoft.com/office/powerpoint/2010/main" val="17811490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883FC-6189-43AE-B65F-96006BC8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B3A0B-2B44-4A4A-A535-793620E2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Dirty read, nonrepeatable read and phantom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EC170-C988-47E5-8CC6-462D11B4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Clarify SQL anomalies.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5CA55-98B4-4746-9FDC-0283EB12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28038-B041-49CA-840A-A2F4D1BF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D5468-302C-49AF-B4C2-91FA1616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E875C-B3F6-4113-931D-F2D7E896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SQL Transactions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58FF7-4CAF-4524-B40C-090C3ECF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9889E-494A-44AF-8B6B-0B080D60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60D68-A0EA-48A3-85B1-89D928A2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4FFD5-2225-431C-8C86-2B9A3A2C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Dirty 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DAAC4-AB96-4812-8E5C-416CDB7E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Read update from uncommitted transaction.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DA3D8-352C-4450-BFD6-7C9B303C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AB46D-E6E1-4CA7-B79A-56852805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92E58-7998-4F6B-8930-6E2275E7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Nonrepeatable 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FFE9E-CF14-4947-9B46-C208D512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Same row read twice gives different value.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BFE97-9622-4E09-959C-CD99858C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04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4317FE-C5F0-409A-BFB4-70CFB400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BFC8A-D9EC-4879-ADA5-0777812D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812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Phantom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6D2B1B-71AA-455C-BD4C-64D028A1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26860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Same predicate returns extra/missing rows after another transaction changes matching set.</a:t>
            </a:r>
          </a:p>
        </p:txBody>
      </p:sp>
    </p:spTree>
    <p:extLst>
      <p:ext uri="{BB962C8B-B14F-4D97-AF65-F5344CB8AC3E}">
        <p14:creationId xmlns:p14="http://schemas.microsoft.com/office/powerpoint/2010/main" val="71049442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AB8DF0-92CA-449D-9D2A-966B2C93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FCD34-48CE-4E5C-821A-2376075C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4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3AE04-3607-4711-A611-F13B0FA8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D01BB-672C-4937-B529-70EC8912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57441-8F81-47B3-9021-E521E31E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36456-B9A5-4607-83BD-B5B3CCC6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90A3A-B1B8-4220-B149-694040E8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D0231-E941-44BF-A59E-7A528B0F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F7359-99BC-4F46-A707-97614586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746DD-BEB5-4139-B929-5730F2EE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F"/>
                </a:solidFill>
              </a:defRPr>
            </a:pPr>
            <a:r>
              <a:rPr sz="2100" b="1">
                <a:solidFill>
                  <a:srgbClr val="07111F"/>
                </a:solidFill>
              </a:rPr>
              <a:t>Module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E08238-D8BE-42EE-AE2F-303A2D38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C52A9-8169-4CD0-870E-6F813242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9E037-B3ED-46D7-93D7-5903C694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Transactions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DBEA7-72E3-49C0-B4F5-4D940827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Logical unit.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CE96A-9449-46E0-8559-B79363A5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09938-AFD8-4BDA-A361-F07D1494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0A1B36-B05E-40A4-8E58-EF66640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Concurrency problems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A7919-D06F-49E7-868C-5D668CC9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Lost/dirty/summary/repeat.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D10AC-9326-4E3C-AFB3-B7807F43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C4BBB-FD15-4A41-BA5A-7969D8B6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F808B-596E-4793-8451-44354079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7C8FF"/>
                </a:solidFill>
              </a:defRPr>
            </a:pPr>
            <a:r>
              <a:rPr sz="1650" b="1">
                <a:solidFill>
                  <a:srgbClr val="77C8FF"/>
                </a:solidFill>
              </a:rPr>
              <a:t>Recovery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A018EE-C61C-403B-82B2-5CFF237C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Failures and logs.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960F7-BB4C-4FE2-BB1E-9BCBC8C3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590DAC-FAA9-481C-ABB5-62FF1660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A38A4B-E472-453F-A0A3-67F1AA1F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ACID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579CF-AB2F-4387-85BC-6CA92839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Transaction properties.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C7D672-3DC9-4237-8266-C9AAC58B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1845A0-7BC4-45B6-AC2E-F24ED8F5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BA1EB4-4060-4E01-815D-CAEDD5B4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Schedules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30CCAD-CA30-4313-80A0-7EE0CBEA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Recoverability.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183907-2107-4892-918C-33D08E49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3E830D-04FE-4BCA-A9F5-BF7F82E3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53A608-23CD-416A-87C4-80B2A7BB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Serializability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260EF5-9951-4C9C-8EC1-35A687E9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Conflict graph.</a:t>
            </a:r>
          </a:p>
        </p:txBody>
      </p:sp>
    </p:spTree>
    <p:extLst>
      <p:ext uri="{BB962C8B-B14F-4D97-AF65-F5344CB8AC3E}">
        <p14:creationId xmlns:p14="http://schemas.microsoft.com/office/powerpoint/2010/main" val="53473862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906A23-76B2-45D1-93F9-7E0AC490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C2D5D-7A0E-470E-91AF-B3D24D80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Exam and viva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5F2DD-0B1E-482A-9A9A-199B646A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Convert content into marks.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E7AB6-8639-4713-8243-DB96914B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4B06F-377A-4050-9DE6-5524E260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42D14-51D7-4BB8-AAC4-DB39B5F5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1E232-8E35-4243-8BD4-9EBF523B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0DEC1-F67F-43B8-9509-D917305F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0EA69-8244-47BF-96BA-40C8F89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18A0A-435F-4131-B5DF-C325EE98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A2F4C-BADD-46DF-807B-546B7626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Draw transaction state diagram for state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8FE89F-87C7-4CE6-8C65-BD7F0873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D9381-7D3E-4A13-A018-62DA59D5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03D04-4F8B-4E68-A3D3-188E55A3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each concurrency problem with a timeline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EB066-0184-4EEF-80D7-83B2A8B3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50BB5-0439-4F47-A2BA-CC7617A6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A009C-075E-4840-B92C-AB2DDE34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log records to explain recovery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07D1E-C375-492C-B19D-03BB30D1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604AA-A52E-4089-931E-1A13CDBB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73D28-7415-4159-815B-657DBBC6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Define ACID with one banking example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2B7360-0B1E-4D34-B9C9-3E49E665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BFE928-5477-4D8E-8D24-7291997B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111F"/>
                </a:solidFill>
              </a:defRPr>
            </a:pPr>
            <a:r>
              <a:rPr sz="90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D6249-4654-4E15-8E07-92706070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Use precedence graph steps for serializability answers</a:t>
            </a:r>
          </a:p>
        </p:txBody>
      </p:sp>
    </p:spTree>
    <p:extLst>
      <p:ext uri="{BB962C8B-B14F-4D97-AF65-F5344CB8AC3E}">
        <p14:creationId xmlns:p14="http://schemas.microsoft.com/office/powerpoint/2010/main" val="204354933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61A779-02CE-470A-8AA4-9001628C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13203-36C9-412F-9904-B9DB05D2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A8CDC-131D-46DA-9CB4-80D6728E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9D2D9-8BCF-4261-B467-0D8EF75B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38C9C-9806-49F1-ADD5-81B7330F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99883-2C2E-4DE2-B70B-20E632E5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3E98B-2B34-4B46-8C57-BBF9C808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7DA94-14B5-4D4B-BEF0-F3DA7F5F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2A4F0-FB2E-4605-99FE-7F8E81F1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What is transaction?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1A481C-64EB-4A91-881D-876A03EA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Single vs multiuser?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677C9-82BF-40DB-BC99-D45D0E77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What is read_item?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BC869-D91E-4092-B04F-9160EB24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What is write_item?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DD43E-9E22-4492-BB21-73525E3D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What is buffer?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490D5-3D4A-468E-9BC4-8193B763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Lost update?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214E3-3311-422A-BF1B-B0BD4B45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Dirty read?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933BE-C89B-48E1-AA07-304C3B32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Incorrect summary?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E45B2F-BA8A-478C-8A36-79B1FFFD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Unrepeatable read?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B8043-212F-47A1-89DC-3739BFF5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Why recovery?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2CAFE7-FAD3-459B-AB0D-E7595539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Types of failures?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971FF-F6CB-48BF-9FF2-B60F64F0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Transaction states?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532375-CDB2-43E8-9730-907743CA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Commit point?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1CA00-E970-4D3A-9F03-7EE68325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System log?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2A4C33-38B0-477C-BFFD-021F9A8E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Atomicity?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27B21-F169-4338-A4CB-F9874B39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16. Consistency?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20875E-A77F-464B-81F1-D730414F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17. Isolation?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9D2975-74D2-4367-A547-91C82DEF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18. Durability?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0EA4B-E193-4A19-AEFD-EDE1B290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91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19. Recoverable schedule?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970E6D-2BB8-46FF-93BA-064E7CA5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292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20. Conflict serializability?</a:t>
            </a:r>
          </a:p>
        </p:txBody>
      </p:sp>
    </p:spTree>
    <p:extLst>
      <p:ext uri="{BB962C8B-B14F-4D97-AF65-F5344CB8AC3E}">
        <p14:creationId xmlns:p14="http://schemas.microsoft.com/office/powerpoint/2010/main" val="120663968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A1266-2FAF-4E7E-B7E8-37124B08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3F450-3CEF-4857-A9FF-3FE95D0F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Important questions bank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0CD55-818C-4BFA-8BB5-F0A5EA74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Provide two, five and ten-mark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1E09D-8D5E-4D91-BAC6-9135B9DD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8AAE6-B586-4EA3-A6D5-827D6155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0D201-8B9B-40D8-AB36-F8B6431A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E81F1-341D-434B-8026-42C2ED9F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8F38C-898F-4DC8-9DA9-2AC19DA3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62345-262D-40B6-BF5E-E92E4C82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2M: Define transaction.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5B429-BD39-476D-B078-D3DEC48E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2M: Define dirty read.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EB626-DDB8-4E79-8D26-FA2087A7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2M: Define commit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EE147-7FD6-43C8-9CF4-A05CDD67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2M: Define system log.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E3D71-CA73-4D5B-B12C-BC69EE42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2M: Define serializability.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785A7-AA07-459D-8F77-EB0AD3F6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5M: Explain transaction states.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66F35-5424-49A7-BB06-9C7918E9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5M: Explain concurrency problems.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AB9EE-A18A-468A-8115-B620192D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5M: Explain recovery need and failures.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93F10-3375-4DDA-9E94-330B0DFF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5M: Explain ACID.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E48733-0B82-41CE-89B6-6B8454B5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40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5M: Test conflict serializability.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DB894-EE21-4171-AEAA-91C12136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622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10M: Explain transaction processing concepts.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2D508-F0E1-4B6C-969A-9B63E417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10M: Explain recoverability classes.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399D5-7E1E-4C96-BBBB-B10DC6FD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38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10M: Explain serializability with graph test.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7984D0-4912-4A96-A533-4D1FDA2D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10M: Explain SQL transaction support.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DB9B3-07C3-481B-89BA-31579CF3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VTU previous question placeholders: fill from past papers.</a:t>
            </a:r>
          </a:p>
        </p:txBody>
      </p:sp>
    </p:spTree>
    <p:extLst>
      <p:ext uri="{BB962C8B-B14F-4D97-AF65-F5344CB8AC3E}">
        <p14:creationId xmlns:p14="http://schemas.microsoft.com/office/powerpoint/2010/main" val="99990861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1EC86-40DC-43B8-B13D-A407C6BE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/>
              </a:gs>
              <a:gs pos="100000">
                <a:srgbClr val="0B1D33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BE8DE-E55B-47FE-9AC7-65F6326D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3E4FF-9839-4E69-A7F5-CAF6AB48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66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C8FF"/>
                </a:solidFill>
              </a:defRPr>
            </a:pPr>
            <a:r>
              <a:rPr sz="1275">
                <a:solidFill>
                  <a:srgbClr val="77C8FF"/>
                </a:solidFill>
              </a:rPr>
              <a:t>End with compact keywords.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96993-1955-4637-969D-0E6EC7D9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50952-6EC9-43A9-9247-EAB23495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C2493-8557-4B20-BA80-2F9D3F89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DBMS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7077E-7F2F-4F66-B7CD-4358AABB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29400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5D7188"/>
                </a:solidFill>
              </a:defRPr>
            </a:pPr>
            <a:r>
              <a:rPr sz="900">
                <a:solidFill>
                  <a:srgbClr val="5D7188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3287F-0AE8-4294-9F52-BE0FF1A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C7D9"/>
                </a:solidFill>
              </a:defRPr>
            </a:pPr>
            <a:r>
              <a:rPr sz="900" b="1">
                <a:solidFill>
                  <a:srgbClr val="B8C7D9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FD638-1FBD-43A9-ACA6-9D9F2101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00146-33B8-4F27-9FAD-2DF7B08B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203A0-4035-449D-883A-AF70BCBA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A4040-679B-43FF-8FDF-9884C2A5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4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Transaction; read_item; write_item; DBMS buffer; single-user; multiuser; lost update; temporary update; dirty read; incorrect summary; unrepeatable read; recovery; system crash; transaction error; local exception; disk failure; active; partially committed; committed; failed; aborted; commit point; system log; undo; redo; ACID; recoverable; cascadeless; strict; serial schedule; nonserial schedule; conflict; precedence graph; SQL COMMIT; ROLLBACK; isolation level; phantom.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0B660-E76E-4A01-9F7B-ED7CA2A1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1B3FE-FDAF-4D78-AF25-AFB05358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FF5BDE-1DC8-4DB1-A6F2-236F59BA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5A7FF"/>
                </a:solidFill>
              </a:defRPr>
            </a:pPr>
            <a:r>
              <a:rPr sz="1650" b="1">
                <a:solidFill>
                  <a:srgbClr val="35A7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459EFD-6B84-460D-9362-2CAE03C6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034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For Module 4 answers: draw a timeline for problems, draw state/log/graph for theory, and always connect ACID to recovery or concurrency.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81EE2-B84D-4C4B-9FF4-522F7325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036"/>
          </a:solidFill>
          <a:ln xmlns:a="http://schemas.openxmlformats.org/drawingml/2006/main" w="9525">
            <a:solidFill>
              <a:srgbClr val="25415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3B076-B744-44D5-9056-FB1A2F8D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575346-CAA2-44C1-9230-9984C80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0FE36-1544-436C-A903-481FB308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34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8C7D9"/>
                </a:solidFill>
              </a:defRPr>
            </a:pPr>
            <a:r>
              <a:rPr sz="1275">
                <a:solidFill>
                  <a:srgbClr val="B8C7D9"/>
                </a:solidFill>
              </a:rPr>
              <a:t>Definition -&gt; diagram -&gt; constraints/rules -&gt; example -&gt; common mistake. This sequence works for almost every DBMS long answer.</a:t>
            </a:r>
          </a:p>
        </p:txBody>
      </p:sp>
    </p:spTree>
    <p:extLst>
      <p:ext uri="{BB962C8B-B14F-4D97-AF65-F5344CB8AC3E}">
        <p14:creationId xmlns:p14="http://schemas.microsoft.com/office/powerpoint/2010/main" val="6474577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2026-08-07T09:24:05.0910000Z</dcterms:created>
  <dcterms:modified xsi:type="dcterms:W3CDTF">2026-08-07T09:24:05.0910000Z</dcterms:modified>
</coreProperties>
</file>