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414b98151e4167" /><Relationship Type="http://schemas.openxmlformats.org/officeDocument/2006/relationships/extended-properties" Target="/docProps/app.xml" Id="R0be41994ab5a488e" /><Relationship Type="http://schemas.openxmlformats.org/officeDocument/2006/relationships/officeDocument" Target="/ppt/presentation.xml" Id="R0db46adeb432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ccc62486049bd"/>
  </p:sldMasterIdLst>
  <p:notesMasterIdLst>
    <p:notesMasterId xmlns:r="http://schemas.openxmlformats.org/officeDocument/2006/relationships" r:id="R1823118a67ae4173"/>
  </p:notesMasterIdLst>
  <p:sldIdLst>
    <p:sldId xmlns:r="http://schemas.openxmlformats.org/officeDocument/2006/relationships" id="256" r:id="Re4e3ef5d890d4161"/>
    <p:sldId xmlns:r="http://schemas.openxmlformats.org/officeDocument/2006/relationships" id="257" r:id="R84d66fdba5d34e22"/>
    <p:sldId xmlns:r="http://schemas.openxmlformats.org/officeDocument/2006/relationships" id="258" r:id="R810a096dd44146b2"/>
    <p:sldId xmlns:r="http://schemas.openxmlformats.org/officeDocument/2006/relationships" id="259" r:id="R0c2f8f9870cc4cbf"/>
    <p:sldId xmlns:r="http://schemas.openxmlformats.org/officeDocument/2006/relationships" id="260" r:id="R211faad3b9914651"/>
    <p:sldId xmlns:r="http://schemas.openxmlformats.org/officeDocument/2006/relationships" id="261" r:id="Rac93dc3bbce942fc"/>
    <p:sldId xmlns:r="http://schemas.openxmlformats.org/officeDocument/2006/relationships" id="262" r:id="R3757b52e72da4193"/>
    <p:sldId xmlns:r="http://schemas.openxmlformats.org/officeDocument/2006/relationships" id="263" r:id="R111e0b62c07043ec"/>
    <p:sldId xmlns:r="http://schemas.openxmlformats.org/officeDocument/2006/relationships" id="264" r:id="R57100b6b18084162"/>
    <p:sldId xmlns:r="http://schemas.openxmlformats.org/officeDocument/2006/relationships" id="265" r:id="R5838fc2b7c5b411b"/>
    <p:sldId xmlns:r="http://schemas.openxmlformats.org/officeDocument/2006/relationships" id="266" r:id="R44ddc6c7bfb24188"/>
    <p:sldId xmlns:r="http://schemas.openxmlformats.org/officeDocument/2006/relationships" id="267" r:id="R06e7e9042761410c"/>
    <p:sldId xmlns:r="http://schemas.openxmlformats.org/officeDocument/2006/relationships" id="268" r:id="R490e13c2f4a744a2"/>
    <p:sldId xmlns:r="http://schemas.openxmlformats.org/officeDocument/2006/relationships" id="269" r:id="Ra30506164b024773"/>
    <p:sldId xmlns:r="http://schemas.openxmlformats.org/officeDocument/2006/relationships" id="270" r:id="R7b1257ab112d4133"/>
    <p:sldId xmlns:r="http://schemas.openxmlformats.org/officeDocument/2006/relationships" id="271" r:id="R519d4cc4e8bb4ccc"/>
    <p:sldId xmlns:r="http://schemas.openxmlformats.org/officeDocument/2006/relationships" id="272" r:id="R2e7e85616e8e4189"/>
    <p:sldId xmlns:r="http://schemas.openxmlformats.org/officeDocument/2006/relationships" id="273" r:id="Rb675992248774972"/>
    <p:sldId xmlns:r="http://schemas.openxmlformats.org/officeDocument/2006/relationships" id="274" r:id="R8827dd8799c647ae"/>
    <p:sldId xmlns:r="http://schemas.openxmlformats.org/officeDocument/2006/relationships" id="275" r:id="R6858c1e9311c487a"/>
    <p:sldId xmlns:r="http://schemas.openxmlformats.org/officeDocument/2006/relationships" id="276" r:id="Rb4818467191d497a"/>
    <p:sldId xmlns:r="http://schemas.openxmlformats.org/officeDocument/2006/relationships" id="277" r:id="R18d5108168484fb0"/>
    <p:sldId xmlns:r="http://schemas.openxmlformats.org/officeDocument/2006/relationships" id="278" r:id="R9de5192797b14df4"/>
    <p:sldId xmlns:r="http://schemas.openxmlformats.org/officeDocument/2006/relationships" id="279" r:id="R368d2150e0ff4a78"/>
    <p:sldId xmlns:r="http://schemas.openxmlformats.org/officeDocument/2006/relationships" id="280" r:id="R0bf90f172d6c4b49"/>
    <p:sldId xmlns:r="http://schemas.openxmlformats.org/officeDocument/2006/relationships" id="281" r:id="Rd879bd7b43d6436a"/>
    <p:sldId xmlns:r="http://schemas.openxmlformats.org/officeDocument/2006/relationships" id="282" r:id="R3899656b030d4b83"/>
    <p:sldId xmlns:r="http://schemas.openxmlformats.org/officeDocument/2006/relationships" id="283" r:id="Rf1d834d3e56a4ee6"/>
    <p:sldId xmlns:r="http://schemas.openxmlformats.org/officeDocument/2006/relationships" id="284" r:id="Rea4ac3fbf7cb469f"/>
    <p:sldId xmlns:r="http://schemas.openxmlformats.org/officeDocument/2006/relationships" id="285" r:id="Re5e4fea9e7ec4f17"/>
    <p:sldId xmlns:r="http://schemas.openxmlformats.org/officeDocument/2006/relationships" id="286" r:id="Ref73eb60195f4dc8"/>
    <p:sldId xmlns:r="http://schemas.openxmlformats.org/officeDocument/2006/relationships" id="287" r:id="R24b05fff82dc4072"/>
    <p:sldId xmlns:r="http://schemas.openxmlformats.org/officeDocument/2006/relationships" id="288" r:id="R8dd4090a8b144833"/>
    <p:sldId xmlns:r="http://schemas.openxmlformats.org/officeDocument/2006/relationships" id="289" r:id="Ra8d99c3ef6d84584"/>
    <p:sldId xmlns:r="http://schemas.openxmlformats.org/officeDocument/2006/relationships" id="290" r:id="Rdb2c8160e71b4fca"/>
    <p:sldId xmlns:r="http://schemas.openxmlformats.org/officeDocument/2006/relationships" id="291" r:id="R2596539e8f824319"/>
    <p:sldId xmlns:r="http://schemas.openxmlformats.org/officeDocument/2006/relationships" id="292" r:id="Red8593a021594b6b"/>
    <p:sldId xmlns:r="http://schemas.openxmlformats.org/officeDocument/2006/relationships" id="293" r:id="Rc8166ba46a53458b"/>
    <p:sldId xmlns:r="http://schemas.openxmlformats.org/officeDocument/2006/relationships" id="294" r:id="R4074207feda144a5"/>
    <p:sldId xmlns:r="http://schemas.openxmlformats.org/officeDocument/2006/relationships" id="295" r:id="R03a3fff2a3944abf"/>
    <p:sldId xmlns:r="http://schemas.openxmlformats.org/officeDocument/2006/relationships" id="296" r:id="R4b9d4f1c8aec4396"/>
    <p:sldId xmlns:r="http://schemas.openxmlformats.org/officeDocument/2006/relationships" id="297" r:id="Rda87178f3bac4843"/>
    <p:sldId xmlns:r="http://schemas.openxmlformats.org/officeDocument/2006/relationships" id="298" r:id="R6295c28ffd904625"/>
    <p:sldId xmlns:r="http://schemas.openxmlformats.org/officeDocument/2006/relationships" id="299" r:id="R08b3a73950ca46c2"/>
    <p:sldId xmlns:r="http://schemas.openxmlformats.org/officeDocument/2006/relationships" id="300" r:id="Rf53a077834844acd"/>
    <p:sldId xmlns:r="http://schemas.openxmlformats.org/officeDocument/2006/relationships" id="301" r:id="R36b5d9c34dca4051"/>
    <p:sldId xmlns:r="http://schemas.openxmlformats.org/officeDocument/2006/relationships" id="302" r:id="R5b007a159a094b48"/>
    <p:sldId xmlns:r="http://schemas.openxmlformats.org/officeDocument/2006/relationships" id="303" r:id="R66f43780c0e54891"/>
    <p:sldId xmlns:r="http://schemas.openxmlformats.org/officeDocument/2006/relationships" id="304" r:id="Rda244c34fc7e4fb1"/>
    <p:sldId xmlns:r="http://schemas.openxmlformats.org/officeDocument/2006/relationships" id="305" r:id="R99e3fd2db32a4fbb"/>
    <p:sldId xmlns:r="http://schemas.openxmlformats.org/officeDocument/2006/relationships" id="306" r:id="R80f01ecce6af4330"/>
    <p:sldId xmlns:r="http://schemas.openxmlformats.org/officeDocument/2006/relationships" id="307" r:id="Reb45b7609d1c4377"/>
    <p:sldId xmlns:r="http://schemas.openxmlformats.org/officeDocument/2006/relationships" id="308" r:id="Rf47d7f4ae4244d77"/>
    <p:sldId xmlns:r="http://schemas.openxmlformats.org/officeDocument/2006/relationships" id="309" r:id="R3347f977fdda4d41"/>
    <p:sldId xmlns:r="http://schemas.openxmlformats.org/officeDocument/2006/relationships" id="310" r:id="Rb0fd4b6a67da45b8"/>
    <p:sldId xmlns:r="http://schemas.openxmlformats.org/officeDocument/2006/relationships" id="311" r:id="R7946becf5fd24ad1"/>
    <p:sldId xmlns:r="http://schemas.openxmlformats.org/officeDocument/2006/relationships" id="312" r:id="Rf825bf1c464a4629"/>
    <p:sldId xmlns:r="http://schemas.openxmlformats.org/officeDocument/2006/relationships" id="313" r:id="R2dff3181155c40cc"/>
    <p:sldId xmlns:r="http://schemas.openxmlformats.org/officeDocument/2006/relationships" id="314" r:id="Re7661e5ab1924a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fdfda9d68245eb" /><Relationship Type="http://schemas.openxmlformats.org/officeDocument/2006/relationships/slideMaster" Target="/ppt/slideMasters/slideMaster1.xml" Id="R0a6ccc62486049bd" /><Relationship Type="http://schemas.openxmlformats.org/officeDocument/2006/relationships/notesMaster" Target="/ppt/notesMasters/notesMaster1.xml" Id="R1823118a67ae4173" /><Relationship Type="http://schemas.openxmlformats.org/officeDocument/2006/relationships/presProps" Target="/ppt/presProps.xml" Id="Rffe2473bc0b441f7" /><Relationship Type="http://schemas.openxmlformats.org/officeDocument/2006/relationships/tableStyles" Target="/ppt/tableStyles.xml" Id="R2114be73c3d541f9" /><Relationship Type="http://schemas.openxmlformats.org/officeDocument/2006/relationships/slide" Target="/ppt/slides/slide1.xml" Id="Re4e3ef5d890d4161" /><Relationship Type="http://schemas.openxmlformats.org/officeDocument/2006/relationships/slide" Target="/ppt/slides/slide2.xml" Id="R84d66fdba5d34e22" /><Relationship Type="http://schemas.openxmlformats.org/officeDocument/2006/relationships/slide" Target="/ppt/slides/slide3.xml" Id="R810a096dd44146b2" /><Relationship Type="http://schemas.openxmlformats.org/officeDocument/2006/relationships/slide" Target="/ppt/slides/slide4.xml" Id="R0c2f8f9870cc4cbf" /><Relationship Type="http://schemas.openxmlformats.org/officeDocument/2006/relationships/slide" Target="/ppt/slides/slide5.xml" Id="R211faad3b9914651" /><Relationship Type="http://schemas.openxmlformats.org/officeDocument/2006/relationships/slide" Target="/ppt/slides/slide6.xml" Id="Rac93dc3bbce942fc" /><Relationship Type="http://schemas.openxmlformats.org/officeDocument/2006/relationships/slide" Target="/ppt/slides/slide7.xml" Id="R3757b52e72da4193" /><Relationship Type="http://schemas.openxmlformats.org/officeDocument/2006/relationships/slide" Target="/ppt/slides/slide8.xml" Id="R111e0b62c07043ec" /><Relationship Type="http://schemas.openxmlformats.org/officeDocument/2006/relationships/slide" Target="/ppt/slides/slide9.xml" Id="R57100b6b18084162" /><Relationship Type="http://schemas.openxmlformats.org/officeDocument/2006/relationships/slide" Target="/ppt/slides/slide10.xml" Id="R5838fc2b7c5b411b" /><Relationship Type="http://schemas.openxmlformats.org/officeDocument/2006/relationships/slide" Target="/ppt/slides/slide11.xml" Id="R44ddc6c7bfb24188" /><Relationship Type="http://schemas.openxmlformats.org/officeDocument/2006/relationships/slide" Target="/ppt/slides/slide12.xml" Id="R06e7e9042761410c" /><Relationship Type="http://schemas.openxmlformats.org/officeDocument/2006/relationships/slide" Target="/ppt/slides/slide13.xml" Id="R490e13c2f4a744a2" /><Relationship Type="http://schemas.openxmlformats.org/officeDocument/2006/relationships/slide" Target="/ppt/slides/slide14.xml" Id="Ra30506164b024773" /><Relationship Type="http://schemas.openxmlformats.org/officeDocument/2006/relationships/slide" Target="/ppt/slides/slide15.xml" Id="R7b1257ab112d4133" /><Relationship Type="http://schemas.openxmlformats.org/officeDocument/2006/relationships/slide" Target="/ppt/slides/slide16.xml" Id="R519d4cc4e8bb4ccc" /><Relationship Type="http://schemas.openxmlformats.org/officeDocument/2006/relationships/slide" Target="/ppt/slides/slide17.xml" Id="R2e7e85616e8e4189" /><Relationship Type="http://schemas.openxmlformats.org/officeDocument/2006/relationships/slide" Target="/ppt/slides/slide18.xml" Id="Rb675992248774972" /><Relationship Type="http://schemas.openxmlformats.org/officeDocument/2006/relationships/slide" Target="/ppt/slides/slide19.xml" Id="R8827dd8799c647ae" /><Relationship Type="http://schemas.openxmlformats.org/officeDocument/2006/relationships/slide" Target="/ppt/slides/slide20.xml" Id="R6858c1e9311c487a" /><Relationship Type="http://schemas.openxmlformats.org/officeDocument/2006/relationships/slide" Target="/ppt/slides/slide21.xml" Id="Rb4818467191d497a" /><Relationship Type="http://schemas.openxmlformats.org/officeDocument/2006/relationships/slide" Target="/ppt/slides/slide22.xml" Id="R18d5108168484fb0" /><Relationship Type="http://schemas.openxmlformats.org/officeDocument/2006/relationships/slide" Target="/ppt/slides/slide23.xml" Id="R9de5192797b14df4" /><Relationship Type="http://schemas.openxmlformats.org/officeDocument/2006/relationships/slide" Target="/ppt/slides/slide24.xml" Id="R368d2150e0ff4a78" /><Relationship Type="http://schemas.openxmlformats.org/officeDocument/2006/relationships/slide" Target="/ppt/slides/slide25.xml" Id="R0bf90f172d6c4b49" /><Relationship Type="http://schemas.openxmlformats.org/officeDocument/2006/relationships/slide" Target="/ppt/slides/slide26.xml" Id="Rd879bd7b43d6436a" /><Relationship Type="http://schemas.openxmlformats.org/officeDocument/2006/relationships/slide" Target="/ppt/slides/slide27.xml" Id="R3899656b030d4b83" /><Relationship Type="http://schemas.openxmlformats.org/officeDocument/2006/relationships/slide" Target="/ppt/slides/slide28.xml" Id="Rf1d834d3e56a4ee6" /><Relationship Type="http://schemas.openxmlformats.org/officeDocument/2006/relationships/slide" Target="/ppt/slides/slide29.xml" Id="Rea4ac3fbf7cb469f" /><Relationship Type="http://schemas.openxmlformats.org/officeDocument/2006/relationships/slide" Target="/ppt/slides/slide30.xml" Id="Re5e4fea9e7ec4f17" /><Relationship Type="http://schemas.openxmlformats.org/officeDocument/2006/relationships/slide" Target="/ppt/slides/slide31.xml" Id="Ref73eb60195f4dc8" /><Relationship Type="http://schemas.openxmlformats.org/officeDocument/2006/relationships/slide" Target="/ppt/slides/slide32.xml" Id="R24b05fff82dc4072" /><Relationship Type="http://schemas.openxmlformats.org/officeDocument/2006/relationships/slide" Target="/ppt/slides/slide33.xml" Id="R8dd4090a8b144833" /><Relationship Type="http://schemas.openxmlformats.org/officeDocument/2006/relationships/slide" Target="/ppt/slides/slide34.xml" Id="Ra8d99c3ef6d84584" /><Relationship Type="http://schemas.openxmlformats.org/officeDocument/2006/relationships/slide" Target="/ppt/slides/slide35.xml" Id="Rdb2c8160e71b4fca" /><Relationship Type="http://schemas.openxmlformats.org/officeDocument/2006/relationships/slide" Target="/ppt/slides/slide36.xml" Id="R2596539e8f824319" /><Relationship Type="http://schemas.openxmlformats.org/officeDocument/2006/relationships/slide" Target="/ppt/slides/slide37.xml" Id="Red8593a021594b6b" /><Relationship Type="http://schemas.openxmlformats.org/officeDocument/2006/relationships/slide" Target="/ppt/slides/slide38.xml" Id="Rc8166ba46a53458b" /><Relationship Type="http://schemas.openxmlformats.org/officeDocument/2006/relationships/slide" Target="/ppt/slides/slide39.xml" Id="R4074207feda144a5" /><Relationship Type="http://schemas.openxmlformats.org/officeDocument/2006/relationships/slide" Target="/ppt/slides/slide40.xml" Id="R03a3fff2a3944abf" /><Relationship Type="http://schemas.openxmlformats.org/officeDocument/2006/relationships/slide" Target="/ppt/slides/slide41.xml" Id="R4b9d4f1c8aec4396" /><Relationship Type="http://schemas.openxmlformats.org/officeDocument/2006/relationships/slide" Target="/ppt/slides/slide42.xml" Id="Rda87178f3bac4843" /><Relationship Type="http://schemas.openxmlformats.org/officeDocument/2006/relationships/slide" Target="/ppt/slides/slide43.xml" Id="R6295c28ffd904625" /><Relationship Type="http://schemas.openxmlformats.org/officeDocument/2006/relationships/slide" Target="/ppt/slides/slide44.xml" Id="R08b3a73950ca46c2" /><Relationship Type="http://schemas.openxmlformats.org/officeDocument/2006/relationships/slide" Target="/ppt/slides/slide45.xml" Id="Rf53a077834844acd" /><Relationship Type="http://schemas.openxmlformats.org/officeDocument/2006/relationships/slide" Target="/ppt/slides/slide46.xml" Id="R36b5d9c34dca4051" /><Relationship Type="http://schemas.openxmlformats.org/officeDocument/2006/relationships/slide" Target="/ppt/slides/slide47.xml" Id="R5b007a159a094b48" /><Relationship Type="http://schemas.openxmlformats.org/officeDocument/2006/relationships/slide" Target="/ppt/slides/slide48.xml" Id="R66f43780c0e54891" /><Relationship Type="http://schemas.openxmlformats.org/officeDocument/2006/relationships/slide" Target="/ppt/slides/slide49.xml" Id="Rda244c34fc7e4fb1" /><Relationship Type="http://schemas.openxmlformats.org/officeDocument/2006/relationships/slide" Target="/ppt/slides/slide50.xml" Id="R99e3fd2db32a4fbb" /><Relationship Type="http://schemas.openxmlformats.org/officeDocument/2006/relationships/slide" Target="/ppt/slides/slide51.xml" Id="R80f01ecce6af4330" /><Relationship Type="http://schemas.openxmlformats.org/officeDocument/2006/relationships/slide" Target="/ppt/slides/slide52.xml" Id="Reb45b7609d1c4377" /><Relationship Type="http://schemas.openxmlformats.org/officeDocument/2006/relationships/slide" Target="/ppt/slides/slide53.xml" Id="Rf47d7f4ae4244d77" /><Relationship Type="http://schemas.openxmlformats.org/officeDocument/2006/relationships/slide" Target="/ppt/slides/slide54.xml" Id="R3347f977fdda4d41" /><Relationship Type="http://schemas.openxmlformats.org/officeDocument/2006/relationships/slide" Target="/ppt/slides/slide55.xml" Id="Rb0fd4b6a67da45b8" /><Relationship Type="http://schemas.openxmlformats.org/officeDocument/2006/relationships/slide" Target="/ppt/slides/slide56.xml" Id="R7946becf5fd24ad1" /><Relationship Type="http://schemas.openxmlformats.org/officeDocument/2006/relationships/slide" Target="/ppt/slides/slide57.xml" Id="Rf825bf1c464a4629" /><Relationship Type="http://schemas.openxmlformats.org/officeDocument/2006/relationships/slide" Target="/ppt/slides/slide58.xml" Id="R2dff3181155c40cc" /><Relationship Type="http://schemas.openxmlformats.org/officeDocument/2006/relationships/slide" Target="/ppt/slides/slide59.xml" Id="Re7661e5ab192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e31b090be4f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9483ca5ee34127" /><Relationship Type="http://schemas.openxmlformats.org/officeDocument/2006/relationships/notesMaster" Target="/ppt/notesMasters/notesMaster1.xml" Id="Redcfbfa3f79a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c1253754a34d2a" /><Relationship Type="http://schemas.openxmlformats.org/officeDocument/2006/relationships/notesMaster" Target="/ppt/notesMasters/notesMaster1.xml" Id="R061a41fbf5c5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a3fd2a7c3745ff" /><Relationship Type="http://schemas.openxmlformats.org/officeDocument/2006/relationships/notesMaster" Target="/ppt/notesMasters/notesMaster1.xml" Id="R1c626cb8befc41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6b16dc5a3437f" /><Relationship Type="http://schemas.openxmlformats.org/officeDocument/2006/relationships/notesMaster" Target="/ppt/notesMasters/notesMaster1.xml" Id="R33a8c6cd8e16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2063f32e1344a8" /><Relationship Type="http://schemas.openxmlformats.org/officeDocument/2006/relationships/notesMaster" Target="/ppt/notesMasters/notesMaster1.xml" Id="Rd8f7b5b59ee34b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fb3f76da9a460c" /><Relationship Type="http://schemas.openxmlformats.org/officeDocument/2006/relationships/notesMaster" Target="/ppt/notesMasters/notesMaster1.xml" Id="Rae602592f28247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e56a735fce44c3" /><Relationship Type="http://schemas.openxmlformats.org/officeDocument/2006/relationships/notesMaster" Target="/ppt/notesMasters/notesMaster1.xml" Id="R955d5b61d06c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46dfd921f543cc" /><Relationship Type="http://schemas.openxmlformats.org/officeDocument/2006/relationships/notesMaster" Target="/ppt/notesMasters/notesMaster1.xml" Id="R6b3f720ff1db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0e2c0f5bb94793" /><Relationship Type="http://schemas.openxmlformats.org/officeDocument/2006/relationships/notesMaster" Target="/ppt/notesMasters/notesMaster1.xml" Id="Ra3572f1dc54e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7080ccc65b45cb" /><Relationship Type="http://schemas.openxmlformats.org/officeDocument/2006/relationships/notesMaster" Target="/ppt/notesMasters/notesMaster1.xml" Id="R276d81d6b222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7214049bc4dfd" /><Relationship Type="http://schemas.openxmlformats.org/officeDocument/2006/relationships/notesMaster" Target="/ppt/notesMasters/notesMaster1.xml" Id="Racbfd11d89e248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cac6655ba94a6a" /><Relationship Type="http://schemas.openxmlformats.org/officeDocument/2006/relationships/notesMaster" Target="/ppt/notesMasters/notesMaster1.xml" Id="R7f95b5d7d8a849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67baae6ccb4e2b" /><Relationship Type="http://schemas.openxmlformats.org/officeDocument/2006/relationships/notesMaster" Target="/ppt/notesMasters/notesMaster1.xml" Id="Rdd1ddd98483f46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0d7c46cce646e1" /><Relationship Type="http://schemas.openxmlformats.org/officeDocument/2006/relationships/notesMaster" Target="/ppt/notesMasters/notesMaster1.xml" Id="R7221bc674af04b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650813c435498a" /><Relationship Type="http://schemas.openxmlformats.org/officeDocument/2006/relationships/notesMaster" Target="/ppt/notesMasters/notesMaster1.xml" Id="R6ebbff43f53246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90fe33c4504532" /><Relationship Type="http://schemas.openxmlformats.org/officeDocument/2006/relationships/notesMaster" Target="/ppt/notesMasters/notesMaster1.xml" Id="Rf25ed687f3e246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73718b0c4947cc" /><Relationship Type="http://schemas.openxmlformats.org/officeDocument/2006/relationships/notesMaster" Target="/ppt/notesMasters/notesMaster1.xml" Id="R4caad4139f3642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b54969aa6e4bb1" /><Relationship Type="http://schemas.openxmlformats.org/officeDocument/2006/relationships/notesMaster" Target="/ppt/notesMasters/notesMaster1.xml" Id="Rb1c4c62efb7641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5898d58af04da4" /><Relationship Type="http://schemas.openxmlformats.org/officeDocument/2006/relationships/notesMaster" Target="/ppt/notesMasters/notesMaster1.xml" Id="R722283c5d80a4c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feda323e9d48b4" /><Relationship Type="http://schemas.openxmlformats.org/officeDocument/2006/relationships/notesMaster" Target="/ppt/notesMasters/notesMaster1.xml" Id="Rdb1f4953049c42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cbc3f42cfd460e" /><Relationship Type="http://schemas.openxmlformats.org/officeDocument/2006/relationships/notesMaster" Target="/ppt/notesMasters/notesMaster1.xml" Id="Rffa8176aa4b64a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e26130953b42ef" /><Relationship Type="http://schemas.openxmlformats.org/officeDocument/2006/relationships/notesMaster" Target="/ppt/notesMasters/notesMaster1.xml" Id="Rb14d2f6e29214a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ac23c1761c4abf" /><Relationship Type="http://schemas.openxmlformats.org/officeDocument/2006/relationships/notesMaster" Target="/ppt/notesMasters/notesMaster1.xml" Id="R403da2e68aa74a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b6960170f64629" /><Relationship Type="http://schemas.openxmlformats.org/officeDocument/2006/relationships/notesMaster" Target="/ppt/notesMasters/notesMaster1.xml" Id="R3ef32e1e059943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c37f8f6dc94dd5" /><Relationship Type="http://schemas.openxmlformats.org/officeDocument/2006/relationships/notesMaster" Target="/ppt/notesMasters/notesMaster1.xml" Id="R29407def90a84b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329dc77d5e84791" /><Relationship Type="http://schemas.openxmlformats.org/officeDocument/2006/relationships/notesMaster" Target="/ppt/notesMasters/notesMaster1.xml" Id="R0f1821214f9b47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c388a00c5104519" /><Relationship Type="http://schemas.openxmlformats.org/officeDocument/2006/relationships/notesMaster" Target="/ppt/notesMasters/notesMaster1.xml" Id="Rf802f20580fd47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25bdda132742c0" /><Relationship Type="http://schemas.openxmlformats.org/officeDocument/2006/relationships/notesMaster" Target="/ppt/notesMasters/notesMaster1.xml" Id="Ra503ae52f7e44f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892ab8749e422b" /><Relationship Type="http://schemas.openxmlformats.org/officeDocument/2006/relationships/notesMaster" Target="/ppt/notesMasters/notesMaster1.xml" Id="R53812f5be91941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ca291b242b48e2" /><Relationship Type="http://schemas.openxmlformats.org/officeDocument/2006/relationships/notesMaster" Target="/ppt/notesMasters/notesMaster1.xml" Id="R92146f41094f40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33ba20c8bd4ee0" /><Relationship Type="http://schemas.openxmlformats.org/officeDocument/2006/relationships/notesMaster" Target="/ppt/notesMasters/notesMaster1.xml" Id="R8bae3a87d1434a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598f2485cd47a7" /><Relationship Type="http://schemas.openxmlformats.org/officeDocument/2006/relationships/notesMaster" Target="/ppt/notesMasters/notesMaster1.xml" Id="Rc44c4062200846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746b966189411e" /><Relationship Type="http://schemas.openxmlformats.org/officeDocument/2006/relationships/notesMaster" Target="/ppt/notesMasters/notesMaster1.xml" Id="R8f8325ccf9184f2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b69b9d0cbb64111" /><Relationship Type="http://schemas.openxmlformats.org/officeDocument/2006/relationships/notesMaster" Target="/ppt/notesMasters/notesMaster1.xml" Id="R39152744c5e1495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0920c5cdbc94d70" /><Relationship Type="http://schemas.openxmlformats.org/officeDocument/2006/relationships/notesMaster" Target="/ppt/notesMasters/notesMaster1.xml" Id="R1207da3a05ab44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1782c647a24367" /><Relationship Type="http://schemas.openxmlformats.org/officeDocument/2006/relationships/notesMaster" Target="/ppt/notesMasters/notesMaster1.xml" Id="R4240bacebff6426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2a6ca5ccce42a5" /><Relationship Type="http://schemas.openxmlformats.org/officeDocument/2006/relationships/notesMaster" Target="/ppt/notesMasters/notesMaster1.xml" Id="Ra740efdcaa4c404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8f7786b4c947d9" /><Relationship Type="http://schemas.openxmlformats.org/officeDocument/2006/relationships/notesMaster" Target="/ppt/notesMasters/notesMaster1.xml" Id="R216d4feff8944e9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9fd4a724db64437" /><Relationship Type="http://schemas.openxmlformats.org/officeDocument/2006/relationships/notesMaster" Target="/ppt/notesMasters/notesMaster1.xml" Id="R52ad81425b84456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68898f34bff4534" /><Relationship Type="http://schemas.openxmlformats.org/officeDocument/2006/relationships/notesMaster" Target="/ppt/notesMasters/notesMaster1.xml" Id="Rc0bc9e7d29f84ac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2694906d3d949a6" /><Relationship Type="http://schemas.openxmlformats.org/officeDocument/2006/relationships/notesMaster" Target="/ppt/notesMasters/notesMaster1.xml" Id="Re94bc562d28840b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2662e4e2277427e" /><Relationship Type="http://schemas.openxmlformats.org/officeDocument/2006/relationships/notesMaster" Target="/ppt/notesMasters/notesMaster1.xml" Id="R0ba60d4b9dc446a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78eef066b134fa8" /><Relationship Type="http://schemas.openxmlformats.org/officeDocument/2006/relationships/notesMaster" Target="/ppt/notesMasters/notesMaster1.xml" Id="R31f465e471774ef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f0c1e5bc8e04f48" /><Relationship Type="http://schemas.openxmlformats.org/officeDocument/2006/relationships/notesMaster" Target="/ppt/notesMasters/notesMaster1.xml" Id="Rdc1ce8f04b454e4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c4819d321ce4b62" /><Relationship Type="http://schemas.openxmlformats.org/officeDocument/2006/relationships/notesMaster" Target="/ppt/notesMasters/notesMaster1.xml" Id="R18d2cfdaf26c469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8b2b6c11e14421f" /><Relationship Type="http://schemas.openxmlformats.org/officeDocument/2006/relationships/notesMaster" Target="/ppt/notesMasters/notesMaster1.xml" Id="R6231755faf6447c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2b53033b57c4bbc" /><Relationship Type="http://schemas.openxmlformats.org/officeDocument/2006/relationships/notesMaster" Target="/ppt/notesMasters/notesMaster1.xml" Id="R875b24781893490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ffabe1d6ecd44c7" /><Relationship Type="http://schemas.openxmlformats.org/officeDocument/2006/relationships/notesMaster" Target="/ppt/notesMasters/notesMaster1.xml" Id="Rffed6ff220a04eb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f67528f2d9c45ba" /><Relationship Type="http://schemas.openxmlformats.org/officeDocument/2006/relationships/notesMaster" Target="/ppt/notesMasters/notesMaster1.xml" Id="R7d491bdf32a94bd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fb6422e09474285" /><Relationship Type="http://schemas.openxmlformats.org/officeDocument/2006/relationships/notesMaster" Target="/ppt/notesMasters/notesMaster1.xml" Id="R489c98ad8a394e6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2f76048ceb44c5f" /><Relationship Type="http://schemas.openxmlformats.org/officeDocument/2006/relationships/notesMaster" Target="/ppt/notesMasters/notesMaster1.xml" Id="R4dc3f1c5ac81478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9a625100d674a62" /><Relationship Type="http://schemas.openxmlformats.org/officeDocument/2006/relationships/notesMaster" Target="/ppt/notesMasters/notesMaster1.xml" Id="Rfade23d0480248b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b46adbc30164498" /><Relationship Type="http://schemas.openxmlformats.org/officeDocument/2006/relationships/notesMaster" Target="/ppt/notesMasters/notesMaster1.xml" Id="R2dbb0afd1ae2416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9fea878387c47d2" /><Relationship Type="http://schemas.openxmlformats.org/officeDocument/2006/relationships/notesMaster" Target="/ppt/notesMasters/notesMaster1.xml" Id="R649b31230e5f4f2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53b6b9114274871" /><Relationship Type="http://schemas.openxmlformats.org/officeDocument/2006/relationships/notesMaster" Target="/ppt/notesMasters/notesMaster1.xml" Id="R344032ba6ccb49c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0830f5820f0454d" /><Relationship Type="http://schemas.openxmlformats.org/officeDocument/2006/relationships/notesMaster" Target="/ppt/notesMasters/notesMaster1.xml" Id="R8e6f5f31458c4ac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d41cbe8604b412d" /><Relationship Type="http://schemas.openxmlformats.org/officeDocument/2006/relationships/notesMaster" Target="/ppt/notesMasters/notesMaster1.xml" Id="R780c07472cdf45e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141a44a46e74507" /><Relationship Type="http://schemas.openxmlformats.org/officeDocument/2006/relationships/notesMaster" Target="/ppt/notesMasters/notesMaster1.xml" Id="R0c866ffc7b574e6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f1ab86d66484df7" /><Relationship Type="http://schemas.openxmlformats.org/officeDocument/2006/relationships/notesMaster" Target="/ppt/notesMasters/notesMaster1.xml" Id="Re868a770e3ce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linking two ideas: quantum dots change properties by size; polymers change properties by chain structure.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mixes conceptual nanoscience with polymer numericals and applications.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repeated theme for quantum dots.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polymer properties are engineered by molecular architecture.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TV color dots or bio-imaging particles as familiar examples.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quantum dots are not just small particles; size changes physics.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smaller dots usually require more energy and emit shorter wavelength light.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dot emits higher-energy light.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capping agents are important in quantum dot synthesis.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band gap to color and solar-energy absorption.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properties tied to applications.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toxicity awareness briefly but keep scope to syllabus.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it is solution-based chemistry.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size is controlled by time, temperature and concentration.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each variable to final optical property.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write synthesis as controlled nucleation plus controlled growth.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examples aligned to smart systems.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dye-sensitized solar cell idea.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slide as a construction diagram in words.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every step from photon to electron flow.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Also mention stability and toxicity as practical concerns.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QDSSC as emerging energy technology.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nylon, PVC and PMMA as examples that appear later.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Set up Mn and Mw.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Mn is sensitive to the number of molecules in each fraction.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Mw emphasizes heavier chains more than Mn.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Mw is usually greater than Mn for a distribution.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Even if not in title, PDI is natural after Mn and Mw.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make a table to avoid arithmetic mistakes.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this is a template; students substitute actual exam data.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that polymer behavior is designed, not accidental.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amorphous and crystalline regions.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nylon as strong because of hydrogen bonding.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to rubber-like materials without leaving syllabus too far.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CPVC and PMMA later.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6,6 comes from six carbon atoms in each monomer.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removal of water drives polymer formation conceptually.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amide linkages with hydrogen bonding.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drying nylon before printing as a practical note.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chlorine substitution changes polymer properties.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synthesis at the syllabus level.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CPVC to smart-system infrastructure and device protection.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acrylic glass as the familiar name.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chain-growth polymerization at a high level.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PMMA to displays and smart devices.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revision slide.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ordinary polymers are usually insulators, but conjugated polymers are different.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the conduction mechanism conceptual.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PANI as the module's named conducting polymer.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ammonium persulfate as a common oxidant if faculty wants detail.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doping creates mobile charge defects.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applications to smart systems.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Prevent the misconception that conducting polymers conduct exactly like metals.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pre-exam protection.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works for QDs, QDSSC, nylon-6,6, CPVC, PMMA and polyaniline.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as quick viva.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student study list.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one quantum material and one polymer using the same structure-property logic.</a:t>
            </a:r>
          </a:p>
          <a:p xmlns:a="http://schemas.openxmlformats.org/drawingml/2006/main">
            <a:r>
              <a:t>Pause cue: pause after the formula/process/diagram appears and ask students to identify the controlling variable.</a:t>
            </a:r>
          </a:p>
          <a:p xmlns:a="http://schemas.openxmlformats.org/drawingml/2006/main">
            <a:r>
              <a:t>Pointing cue: point from size or structure to property, then from property to device application.</a:t>
            </a:r>
          </a:p>
          <a:p xmlns:a="http://schemas.openxmlformats.org/drawingml/2006/main">
            <a:r>
              <a:t>Question to ask students: Ask students to connect structure, size or molecular weight with the final material property.</a:t>
            </a:r>
          </a:p>
          <a:p xmlns:a="http://schemas.openxmlformats.org/drawingml/2006/main">
            <a:r>
              <a:t>Animation instructions: Fade title; appear cards one by one; wipe arrows in process order; highlight keywords such as quantum confinement, band gap, Mn, Mw, crystallinity, nylon-6,6, CPVC, PMMA and polyaniline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2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2 topics include Quantum Dots and Polymer Nanocomposites, Parameswaranpillai, Das and Ganguly, CRC Press, 2022; Green Carbon Quantum Dots: Environmental Applications, Vijay Kumar et al., Springer Nature Singapore, 2024; Conducting Polymers, Fundamentals and Applications, Prasanna Chandrasekhar, Springer, 2nd ed.,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def9843b742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3f20f14b348a1" /><Relationship Type="http://schemas.openxmlformats.org/officeDocument/2006/relationships/slideLayout" Target="/ppt/slideLayouts/slideLayout1.xml" Id="Rb76d05c65cf1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6d05c65cf1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a9c3cf02740f3" /><Relationship Type="http://schemas.openxmlformats.org/officeDocument/2006/relationships/notesSlide" Target="/ppt/notesSlides/notesSlide1.xml" Id="R23355dc78fcf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2b1c24b741c8" /><Relationship Type="http://schemas.openxmlformats.org/officeDocument/2006/relationships/notesSlide" Target="/ppt/notesSlides/notesSlide2.xml" Id="R28bbdb59dc0745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218eebff4a69" /><Relationship Type="http://schemas.openxmlformats.org/officeDocument/2006/relationships/notesSlide" Target="/ppt/notesSlides/notesSlide3.xml" Id="R7ab856a581ad43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02e6d91f14dd4" /><Relationship Type="http://schemas.openxmlformats.org/officeDocument/2006/relationships/notesSlide" Target="/ppt/notesSlides/notesSlide4.xml" Id="Rc7e706f912b6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cf9757f904bcc" /><Relationship Type="http://schemas.openxmlformats.org/officeDocument/2006/relationships/notesSlide" Target="/ppt/notesSlides/notesSlide5.xml" Id="Rae513575e3394b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27677fc9149c8" /><Relationship Type="http://schemas.openxmlformats.org/officeDocument/2006/relationships/notesSlide" Target="/ppt/notesSlides/notesSlide6.xml" Id="R188fd1f854a34c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e77a21ae2492f" /><Relationship Type="http://schemas.openxmlformats.org/officeDocument/2006/relationships/notesSlide" Target="/ppt/notesSlides/notesSlide7.xml" Id="R6923312c6d70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1d6afa64047e1" /><Relationship Type="http://schemas.openxmlformats.org/officeDocument/2006/relationships/notesSlide" Target="/ppt/notesSlides/notesSlide8.xml" Id="R473b30aa45864e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9d2f9e0c741ca" /><Relationship Type="http://schemas.openxmlformats.org/officeDocument/2006/relationships/notesSlide" Target="/ppt/notesSlides/notesSlide9.xml" Id="Rf7c6c5bdfb924f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0549930cb4575" /><Relationship Type="http://schemas.openxmlformats.org/officeDocument/2006/relationships/notesSlide" Target="/ppt/notesSlides/notesSlide10.xml" Id="Rfc3f1988e42f4a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31383c4a1481e" /><Relationship Type="http://schemas.openxmlformats.org/officeDocument/2006/relationships/notesSlide" Target="/ppt/notesSlides/notesSlide11.xml" Id="R8d9bda47b6c9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39766eb9e468f" /><Relationship Type="http://schemas.openxmlformats.org/officeDocument/2006/relationships/notesSlide" Target="/ppt/notesSlides/notesSlide12.xml" Id="Rd891b52c94814b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76ac258634407" /><Relationship Type="http://schemas.openxmlformats.org/officeDocument/2006/relationships/notesSlide" Target="/ppt/notesSlides/notesSlide13.xml" Id="Re32def728dfb43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a53d143174b29" /><Relationship Type="http://schemas.openxmlformats.org/officeDocument/2006/relationships/notesSlide" Target="/ppt/notesSlides/notesSlide14.xml" Id="R485978da97ed44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48372226a41ac" /><Relationship Type="http://schemas.openxmlformats.org/officeDocument/2006/relationships/notesSlide" Target="/ppt/notesSlides/notesSlide15.xml" Id="R7d66104cf70240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ed9cdb0ed4e02" /><Relationship Type="http://schemas.openxmlformats.org/officeDocument/2006/relationships/notesSlide" Target="/ppt/notesSlides/notesSlide16.xml" Id="Rd408139721c644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3e77f89f94734" /><Relationship Type="http://schemas.openxmlformats.org/officeDocument/2006/relationships/notesSlide" Target="/ppt/notesSlides/notesSlide17.xml" Id="Rdd687b9ea52546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a040ae294f0b" /><Relationship Type="http://schemas.openxmlformats.org/officeDocument/2006/relationships/notesSlide" Target="/ppt/notesSlides/notesSlide18.xml" Id="R6a4e90621ff940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2a4b7196f4433" /><Relationship Type="http://schemas.openxmlformats.org/officeDocument/2006/relationships/notesSlide" Target="/ppt/notesSlides/notesSlide19.xml" Id="Rbdfdde4cf30c4a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78d4a54845b1" /><Relationship Type="http://schemas.openxmlformats.org/officeDocument/2006/relationships/notesSlide" Target="/ppt/notesSlides/notesSlide20.xml" Id="Rca9f69bee32741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85800c7e04e63" /><Relationship Type="http://schemas.openxmlformats.org/officeDocument/2006/relationships/notesSlide" Target="/ppt/notesSlides/notesSlide21.xml" Id="R95dcd7dc145e48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76c3c77e4450" /><Relationship Type="http://schemas.openxmlformats.org/officeDocument/2006/relationships/notesSlide" Target="/ppt/notesSlides/notesSlide22.xml" Id="R2bfdb4fa895b42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e33361d70461d" /><Relationship Type="http://schemas.openxmlformats.org/officeDocument/2006/relationships/notesSlide" Target="/ppt/notesSlides/notesSlide23.xml" Id="R758e9bd64f9f4e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ef3f8d1442d2" /><Relationship Type="http://schemas.openxmlformats.org/officeDocument/2006/relationships/notesSlide" Target="/ppt/notesSlides/notesSlide24.xml" Id="Rd9c701548fee4a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11a778e1d4902" /><Relationship Type="http://schemas.openxmlformats.org/officeDocument/2006/relationships/notesSlide" Target="/ppt/notesSlides/notesSlide25.xml" Id="R0ff6a88033c842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4af82542b4956" /><Relationship Type="http://schemas.openxmlformats.org/officeDocument/2006/relationships/notesSlide" Target="/ppt/notesSlides/notesSlide26.xml" Id="Rf0a7664ad0934a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421ba73b4b30" /><Relationship Type="http://schemas.openxmlformats.org/officeDocument/2006/relationships/notesSlide" Target="/ppt/notesSlides/notesSlide27.xml" Id="Rc26ab1d24acb42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8993e53e34efe" /><Relationship Type="http://schemas.openxmlformats.org/officeDocument/2006/relationships/notesSlide" Target="/ppt/notesSlides/notesSlide28.xml" Id="R4b41794dc04640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ed2816004c8f" /><Relationship Type="http://schemas.openxmlformats.org/officeDocument/2006/relationships/notesSlide" Target="/ppt/notesSlides/notesSlide29.xml" Id="Rbd39d0c4c95b43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814cb43c949f1" /><Relationship Type="http://schemas.openxmlformats.org/officeDocument/2006/relationships/notesSlide" Target="/ppt/notesSlides/notesSlide30.xml" Id="R9bd3e310075e49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71065ef9746fb" /><Relationship Type="http://schemas.openxmlformats.org/officeDocument/2006/relationships/notesSlide" Target="/ppt/notesSlides/notesSlide31.xml" Id="Rd289dc63ab7244f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d226ade52446b" /><Relationship Type="http://schemas.openxmlformats.org/officeDocument/2006/relationships/notesSlide" Target="/ppt/notesSlides/notesSlide32.xml" Id="R4ee24f26d2c847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e82e6a3d542a1" /><Relationship Type="http://schemas.openxmlformats.org/officeDocument/2006/relationships/notesSlide" Target="/ppt/notesSlides/notesSlide33.xml" Id="Raffc936534b847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6978b1015467d" /><Relationship Type="http://schemas.openxmlformats.org/officeDocument/2006/relationships/notesSlide" Target="/ppt/notesSlides/notesSlide34.xml" Id="R655d7b83fe0549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13acdc734ad1" /><Relationship Type="http://schemas.openxmlformats.org/officeDocument/2006/relationships/notesSlide" Target="/ppt/notesSlides/notesSlide35.xml" Id="Rea671b6d3d3742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94476153d4902" /><Relationship Type="http://schemas.openxmlformats.org/officeDocument/2006/relationships/notesSlide" Target="/ppt/notesSlides/notesSlide36.xml" Id="R37329d07c67d479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779ab5bca4ca7" /><Relationship Type="http://schemas.openxmlformats.org/officeDocument/2006/relationships/notesSlide" Target="/ppt/notesSlides/notesSlide37.xml" Id="R0bbfbbed93de44b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57594efa44fd7" /><Relationship Type="http://schemas.openxmlformats.org/officeDocument/2006/relationships/notesSlide" Target="/ppt/notesSlides/notesSlide38.xml" Id="R9c4efdb942cb4f9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8b1123e5c4b9e" /><Relationship Type="http://schemas.openxmlformats.org/officeDocument/2006/relationships/notesSlide" Target="/ppt/notesSlides/notesSlide39.xml" Id="R0b5418850af248e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34a81539f4de1" /><Relationship Type="http://schemas.openxmlformats.org/officeDocument/2006/relationships/notesSlide" Target="/ppt/notesSlides/notesSlide40.xml" Id="R90b75edb715c42b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9d9f290a43c6" /><Relationship Type="http://schemas.openxmlformats.org/officeDocument/2006/relationships/notesSlide" Target="/ppt/notesSlides/notesSlide41.xml" Id="R9cbafd7ec4b74a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1cb983a094a9d" /><Relationship Type="http://schemas.openxmlformats.org/officeDocument/2006/relationships/notesSlide" Target="/ppt/notesSlides/notesSlide42.xml" Id="R1a070baaa1aa4de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1f60b39ad4272" /><Relationship Type="http://schemas.openxmlformats.org/officeDocument/2006/relationships/notesSlide" Target="/ppt/notesSlides/notesSlide43.xml" Id="Reb9df3a93329453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66b548e54297" /><Relationship Type="http://schemas.openxmlformats.org/officeDocument/2006/relationships/notesSlide" Target="/ppt/notesSlides/notesSlide44.xml" Id="R813c8c743dce4d6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a64c4161e48f0" /><Relationship Type="http://schemas.openxmlformats.org/officeDocument/2006/relationships/notesSlide" Target="/ppt/notesSlides/notesSlide45.xml" Id="Re064e0b2ae4d447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b6977d074822" /><Relationship Type="http://schemas.openxmlformats.org/officeDocument/2006/relationships/notesSlide" Target="/ppt/notesSlides/notesSlide46.xml" Id="R9f296b85dc57454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9600f1a84400" /><Relationship Type="http://schemas.openxmlformats.org/officeDocument/2006/relationships/notesSlide" Target="/ppt/notesSlides/notesSlide47.xml" Id="Rd5d9ff90b8f54c1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0c76521a43a0" /><Relationship Type="http://schemas.openxmlformats.org/officeDocument/2006/relationships/notesSlide" Target="/ppt/notesSlides/notesSlide48.xml" Id="R06dcae5a21d8433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59b872cf14a75" /><Relationship Type="http://schemas.openxmlformats.org/officeDocument/2006/relationships/notesSlide" Target="/ppt/notesSlides/notesSlide49.xml" Id="R0cf5de46389c473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76c035b624916" /><Relationship Type="http://schemas.openxmlformats.org/officeDocument/2006/relationships/notesSlide" Target="/ppt/notesSlides/notesSlide50.xml" Id="Rf402d925f11f447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48b277ae4a37" /><Relationship Type="http://schemas.openxmlformats.org/officeDocument/2006/relationships/notesSlide" Target="/ppt/notesSlides/notesSlide51.xml" Id="R4003c20b1616416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dd1ef29b9481b" /><Relationship Type="http://schemas.openxmlformats.org/officeDocument/2006/relationships/notesSlide" Target="/ppt/notesSlides/notesSlide52.xml" Id="Rf2a0327d7053494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38dada9424eb1" /><Relationship Type="http://schemas.openxmlformats.org/officeDocument/2006/relationships/notesSlide" Target="/ppt/notesSlides/notesSlide53.xml" Id="Rdebf1c7eb1ee417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8c22d832e44de" /><Relationship Type="http://schemas.openxmlformats.org/officeDocument/2006/relationships/notesSlide" Target="/ppt/notesSlides/notesSlide54.xml" Id="R6131f82f6f1645b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783f05243431f" /><Relationship Type="http://schemas.openxmlformats.org/officeDocument/2006/relationships/notesSlide" Target="/ppt/notesSlides/notesSlide55.xml" Id="R900e8d488fac474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d5a5695e4068" /><Relationship Type="http://schemas.openxmlformats.org/officeDocument/2006/relationships/notesSlide" Target="/ppt/notesSlides/notesSlide56.xml" Id="Rb619a2195c3340f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feca4045a47fb" /><Relationship Type="http://schemas.openxmlformats.org/officeDocument/2006/relationships/notesSlide" Target="/ppt/notesSlides/notesSlide57.xml" Id="R9e401048865e47c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ef893cdb461f" /><Relationship Type="http://schemas.openxmlformats.org/officeDocument/2006/relationships/notesSlide" Target="/ppt/notesSlides/notesSlide58.xml" Id="R24eebb73f0d6447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3302e8c54ddd" /><Relationship Type="http://schemas.openxmlformats.org/officeDocument/2006/relationships/notesSlide" Target="/ppt/notesSlides/notesSlide59.xml" Id="R0b7a7efbd1b542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CEB83-ACF9-4B4F-8F5F-2B47FBE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3420-1360-4149-B065-61900775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Quantum Materials and Polymers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04746-4992-4AD6-A188-9AD4667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Module 2 explains how nanoscale size and polymer structure create useful smart-system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849AE-00F7-4988-B49E-FDB603C1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C2968-D319-4300-9603-97CE521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6981-ABDE-48BF-B600-BF1E5C04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EEEE6-8EFE-4702-8263-81F90F0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18ED1-D132-43E5-A8AF-C79D1EB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03E30-F951-461C-8CC8-C207ADBA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Applied Chemistry</a:t>
            </a:r>
          </a:p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8B0FB-654D-4321-830B-8DE8C6B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C9D6"/>
                </a:solidFill>
              </a:defRPr>
            </a:pPr>
            <a:r>
              <a:rPr sz="1650">
                <a:solidFill>
                  <a:srgbClr val="B9C9D6"/>
                </a:solidFill>
              </a:rPr>
              <a:t>Quantum dots • QDSSC • molecular weights • structure-property relations • nylon-6,6 • CPVC • PMMA • polyaniline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DF01B-65B0-4BD0-9B42-C9F3145C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95400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154"/>
          </a:solidFill>
          <a:ln xmlns:a="http://schemas.openxmlformats.org/drawingml/2006/main" w="19050">
            <a:solidFill>
              <a:srgbClr val="2868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990A3-91F8-4899-8F17-866DBD8F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99264-816A-43FC-87BF-80551BBB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31D"/>
                </a:solidFill>
              </a:defRPr>
            </a:pPr>
            <a:r>
              <a:rPr sz="2250" b="1">
                <a:solidFill>
                  <a:srgbClr val="06131D"/>
                </a:solidFill>
              </a:rPr>
              <a:t>QD</a:t>
            </a:r>
          </a:p>
          <a:p xmlns:a="http://schemas.openxmlformats.org/drawingml/2006/main">
            <a:pPr algn="ctr">
              <a:defRPr sz="2250" b="1">
                <a:solidFill>
                  <a:srgbClr val="06131D"/>
                </a:solidFill>
              </a:defRPr>
            </a:pPr>
            <a:r>
              <a:rPr sz="2250" b="1">
                <a:solidFill>
                  <a:srgbClr val="06131D"/>
                </a:solidFill>
              </a:rPr>
              <a:t>POLYMER</a:t>
            </a:r>
          </a:p>
        </p:txBody>
      </p:sp>
    </p:spTree>
    <p:extLst>
      <p:ext uri="{BB962C8B-B14F-4D97-AF65-F5344CB8AC3E}">
        <p14:creationId xmlns:p14="http://schemas.microsoft.com/office/powerpoint/2010/main" val="635459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950F7-536F-49E2-AF17-1A0D6624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429E5-396D-4DEA-AA52-C46C9736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EABCF-A075-480B-BF08-D008B24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217DD-4E6C-40D8-98CC-B1CB3C37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F92BE-CB6C-4154-9649-3EDB446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920D9-D038-470E-A260-6650761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CACEE-6878-47C0-B388-F2C6E47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78C13-EDAE-4029-BA89-9AA97EE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BD5A7-13DF-4A65-BA4C-7C54839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4441F-C404-448E-A06F-7553B6C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43DD8-C239-4036-AFDF-ACCEE16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quantum dots and size-dependent properties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EC9F3-D340-4FAE-86E7-EA606A9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57956-B0ED-4CC9-9A32-51C70B4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A2A37-33C0-44B8-BDD9-6A0E1D4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quantum confinement, surface-to-volume ratio and band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D000C-FE3A-48EA-9F2E-E9382A5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D836-6CC3-4884-9CAA-1CAF87D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B8DE1-F6EB-4D3D-B49C-6397784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Cd-Se quantum dot synthesis by wet chemical 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FEEF0-1610-4224-8AA9-E4E3E180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04931-E33F-433A-8E0E-C4678A9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7E05A-42E4-479D-8504-212DAEA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construction, working and applications of QDSSCs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F553A-55BF-4C9A-865D-A31079C4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E6F99-198C-4351-ADBE-48D2D0DA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B2CE9-5A97-40B5-8CF5-F3ACEEE1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Solve number-average and weight-average molecular-weight problems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4DCE2-0E4A-4C04-9052-C631BB8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7F2EC-56FE-49D6-836F-1984429E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C41C3-7772-491B-ADBC-84A1A2D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polymer structure-property relationships and engineering polymers</a:t>
            </a:r>
          </a:p>
        </p:txBody>
      </p:sp>
    </p:spTree>
    <p:extLst>
      <p:ext uri="{BB962C8B-B14F-4D97-AF65-F5344CB8AC3E}">
        <p14:creationId xmlns:p14="http://schemas.microsoft.com/office/powerpoint/2010/main" val="1208908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0A96C-DACB-4B60-9B2D-529F4EA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A1D9-C04B-45D9-A647-8A9F6833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story of 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E25D6-3796-420C-874E-1EA3748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core material-design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EE910-968A-4F00-83FA-5CA698A5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18F61-A86D-4955-A6C3-84D35F13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68E0-4B37-42FA-9DBD-02FB271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78EC6-BC56-403F-B170-EE19C6C5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229B9-08E7-44A6-A270-63AF7E2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7EC6D-7C2F-4041-AB62-6AB1DEC5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E4AE2-DE65-490F-A11B-1E41D83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Nanoscale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1FDA-8A8B-49B7-B848-CA6E5210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E5F67-01D7-48E0-9E25-24210F06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20278-531F-4489-9006-DF10B10B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Quantum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16D37-2B79-4C28-9F7A-24C2063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353D5-F16E-4010-B370-7B81DBA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E1644-4846-431C-A681-D30065E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Tunable 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2A904-C571-4549-8848-68E8BEA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11412-2FC7-4ACF-978C-E8F83DD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DAFDD-060C-411C-AAD6-8EEA6D0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Device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05F6D-560C-4806-9EDF-2D4852F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0BA0E-01A8-463D-B75C-0A548FD7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6D0CF-3DDD-4519-AF25-D9B6B57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Smart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22630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04834-E68B-4CAC-8DA8-3302F2F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18E8-747A-4FD1-82EF-14FF7A1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Polymer story in one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D8B40-B486-4D62-9B13-19C962A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polymer logic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377F6-2332-4226-AC4F-A94728D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2F614-7DEB-45CC-A00D-7B3186D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C5727-6FFF-44C8-A10D-82F49C1B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B62FA-D881-4797-B7C7-21E04769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EF336-DFF6-4F6A-94C2-093A21B6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DF4F1-3653-4C5C-AAA0-54B3D1A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8E2ED-5A24-4563-B980-A3F8D5D8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Monomer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39C3-2FF9-4853-978B-61F397D5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245E4-1A03-47D9-8E91-4480E6FA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08E8-CC84-4632-8E2C-58EB344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Chain length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6D098-D0BE-4238-A7E1-59D6FF2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80224-CDF4-4F95-8C2B-EB26345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1B9D5-DD30-4D44-8DC0-F7A6BE17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Intermolecular forces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B6022-9814-46F2-B8DC-3D63E5F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D37A2-4BB5-40B4-82B1-5259BDD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8D8B-927C-4E5D-956C-B3A232BB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Structure / crystallinity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9D299-0764-4080-9DF1-52EE20F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FBC8A-856C-4651-A870-48305E2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06CEA-7C5C-4979-B20F-8C13415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Mechanical and chemical behavior</a:t>
            </a:r>
          </a:p>
        </p:txBody>
      </p:sp>
    </p:spTree>
    <p:extLst>
      <p:ext uri="{BB962C8B-B14F-4D97-AF65-F5344CB8AC3E}">
        <p14:creationId xmlns:p14="http://schemas.microsoft.com/office/powerpoint/2010/main" val="310810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6BE91-C869-459D-A0EC-B6FEEA0B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080AB-7FFB-4D57-9820-1807A4C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are quantum dots?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CA591-B342-4FEC-A882-0D31AB3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quantum dots.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31FB2-3634-4936-A2CF-64881FE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96AB4-5B1B-4BB4-9955-1C44813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3FD5-57DD-487C-A5C4-B1AA487C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1FECE-2AB0-4462-AA3C-F112914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77979-7E2A-4B95-997A-47E18A86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5DD6F-260E-40C2-AD04-CC471CC0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Quantum dots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8F3AA-B135-4FEE-A824-1AEB3294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Quantum dots are semiconductor nanocrystals so small that charge carriers are confined in all three dimensions, giving size-dependent optical and electronic properties.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F4FA0-F955-4FBC-8A1E-5F790F4F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C5E3E-8096-4CF1-9D13-0CF6C01C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Nanocrystal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AE8F0-9064-4157-B3A2-EF936583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84AF9-1E99-4672-B93A-E4B4B4C6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5D034-E685-4419-BD1B-82E58ED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Semiconductor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208F6-0C38-4DE0-89E8-7D992B7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6B70D-1530-4128-A2FC-7691ACBF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65206-73D0-429B-9D80-CBE17CF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3D confinement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138FD-5545-4149-8330-88A1DA0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4ECC9-283D-4CB5-B1C2-E69D65CD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270B3-6DAA-4FCF-97E2-11E24A7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Tunable color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9E6B6-4ACC-44F3-8675-BB85EF83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ED2D9-143D-4DE8-A8BB-EEE30AF0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D29FF-F74A-483B-B64B-26DD3F37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Band gap</a:t>
            </a:r>
          </a:p>
        </p:txBody>
      </p:sp>
    </p:spTree>
    <p:extLst>
      <p:ext uri="{BB962C8B-B14F-4D97-AF65-F5344CB8AC3E}">
        <p14:creationId xmlns:p14="http://schemas.microsoft.com/office/powerpoint/2010/main" val="52627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DD6D5-FDB8-4D5B-98E5-976DA0E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4D83-3699-4FA0-95F6-E5F22FD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quantum dots behave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1323E-1334-4DA5-B9AB-B3F4DAA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nanoscale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232F5-DA52-45B4-840B-C89807A4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7EDD4-3558-4582-B991-6EFE6D8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BF61-2E02-4E0D-853D-8186A0A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DC45A-3370-42DA-9E77-BCCC50C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58C8E-5D18-4D3E-9232-5B1E70E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4123B-E754-46AA-856A-62C60F1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8BFE7-4059-4F85-8D3D-7DBB4BA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A565C-F89F-4EFE-9E35-D950C5F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Tiny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70E91-0802-4CA9-975A-DBC3543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Their diameter is comparable to exciton Bohr radius.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488D9-9A77-40F7-BFE4-8BD6CF5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2892E-787C-45AB-85D7-C1E2538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F0A75-A214-40E4-8A0D-79BB808F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Discrete energy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7A64A-5ED6-411A-8292-B5C4209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Electrons and holes cannot move as freely as in bulk.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E3F6-DFEB-41A8-8D45-E38AFD90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23603-B373-449C-9E99-D80C686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B86DA-7BA0-4DFE-9D8A-BC5946C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Tunable emission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EBC50-B391-44C5-B575-5F6C67A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Changing size changes absorbed/emitted wavelength.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B97E0-39A0-4CD1-B4A7-C9601E89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1D4B3-3CF9-4B2B-80A7-2C886BAD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E84D0-16C9-45A9-8779-4358B02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Large surface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8D233-8978-439F-8E42-AD8EEC0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Many atoms lie at or near the surface, so surface chemistry matters.</a:t>
            </a:r>
          </a:p>
        </p:txBody>
      </p:sp>
    </p:spTree>
    <p:extLst>
      <p:ext uri="{BB962C8B-B14F-4D97-AF65-F5344CB8AC3E}">
        <p14:creationId xmlns:p14="http://schemas.microsoft.com/office/powerpoint/2010/main" val="1287084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CAE02-C752-4E6E-BF7A-409C8BAF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0954E-0C01-47D8-A84E-7258E8C8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Quantum confinement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9C9B5-109B-46AD-AE7C-FE9B07E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quantum confinement.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78C92-6509-45D9-90FA-A81EFDC6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A234A-C025-4AA4-AE58-C6B2E42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DAFD0-AA50-45D2-99A8-AD946190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EACF6-CFF8-40E7-9820-585A14F7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80AE6-DEFE-439E-887A-D262D65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F310D-50C0-4BA0-86C8-177BE320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Quantum confinement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67B3-93D1-4CF9-B8ED-4124D38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Quantum confinement occurs when a particle is small enough that electron and hole motion is restricted, causing energy levels and band gap to depend on size.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86EE5-9960-4261-A509-AEBDD75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12723-DDCA-4C24-90E2-F671401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Restricted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B0826-99F7-4063-BE7B-0A1EF90D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E8852-FFF2-43C4-8E00-A6BE79C7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24DB2-A462-47B9-B792-D6837528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Discrete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D80A0-4D93-4A1D-BAA8-ADB8A36F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D86B8-CE31-4416-B45D-1EC2807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9A417-6A2D-4182-8777-20A1B9B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Smaller dot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A2531-9391-4A1D-BEA3-59A294D4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1841F-AA73-4D16-85EB-437B49C5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7FD8D-35F4-48BF-A1BF-C4F0100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Larger band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6041C-5013-40FA-9FA5-61BD0B7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42E3F-D208-485D-B4D9-CD8DA6A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2E9D3-3ABC-41F8-9D14-256BC9BC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Blue shift</a:t>
            </a:r>
          </a:p>
        </p:txBody>
      </p:sp>
    </p:spTree>
    <p:extLst>
      <p:ext uri="{BB962C8B-B14F-4D97-AF65-F5344CB8AC3E}">
        <p14:creationId xmlns:p14="http://schemas.microsoft.com/office/powerpoint/2010/main" val="31979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455BD4-0581-4E32-8486-80C6B2D2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098E3-9009-4095-9606-E0DA55D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Size controls color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08F79-562A-431B-AB67-3FD49E1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Make the color-bandgap link memorable.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C55CE-9C6B-477F-A754-4473A58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9822B-7B84-4ECE-BAFE-03925F9E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D6A9B-AF5E-4592-88F2-1F87ADD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9B4C0-8659-4FBA-A587-00CD2F17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893F5-5826-47C0-8F4B-F8C7F78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591CA-A0A6-478D-BD79-442F7D8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8F2D2-C98A-4E16-90A3-85FA41CD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5CD35-7243-4F3B-91C1-8685D7A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Smaller quantum dot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21DC3-3FE1-40E0-BCF9-8490735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582F1-0B7B-4FDC-8C0A-B8AABC8D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DE395-F94A-4203-987F-11E9744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E4F80-5595-4875-B6B8-A76A97A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Larger quantum dot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7D0A7-2842-4BA1-8CF0-0F3D19AA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909E0-161A-4E14-877E-99071FD4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A92C1-5478-42D2-B9A9-F8B6FFE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5DD35-03CC-49C0-BA40-7A08003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Stronger confinement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5FA48-803D-43E8-A7C5-DF6B9AE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C067E-E336-419C-B682-ED64A765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34BDF-1558-47AB-BCD9-C47EE532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Larger band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F5A43-3F1C-44A9-B926-D43C067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35782-92B6-407F-8F94-252BB7F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ECB1D-4F5B-46E5-90E8-FACC721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Higher-energy emission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D9025-A757-4C8A-8E2D-A6BCADA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B79AE-55D8-484B-B117-E675996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DDDF8-306B-467E-BD89-714B9B4C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Blue/green shifted color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66AF6-01A0-44A0-8E3F-F3FD70C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ADC8F-A629-4446-BDA0-F45A6C97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D29E5-6B85-4D29-8FC6-F000767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Weaker confinement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4A5A9F-7A83-4377-91FF-D57903A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F5145-97AB-431B-80DB-91777CA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78889-DA3E-4FF5-BB9D-87CA6F9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Smaller band gap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D7D9A7-46BF-4078-B646-DAA2FA6E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FCB11A-5C9D-4BC6-8FBB-398F201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0F074B-BE93-488F-A399-09C3238D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Lower-energy emission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BEDDDC-0FB1-4DF0-A35B-513B5C5C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3FF4A-E4FF-40C5-927C-EE08C9E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18906F-D713-4D94-A074-2ABA7CB6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Orange/red shifted color</a:t>
            </a:r>
          </a:p>
        </p:txBody>
      </p:sp>
    </p:spTree>
    <p:extLst>
      <p:ext uri="{BB962C8B-B14F-4D97-AF65-F5344CB8AC3E}">
        <p14:creationId xmlns:p14="http://schemas.microsoft.com/office/powerpoint/2010/main" val="889903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86910-7155-4B34-858D-DEE662E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A5583-01FC-49EB-A191-4A135021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Surface-to-volume ratio increases sharply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99E4A-FAEA-4B5E-939D-5017AF32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surface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78F70-05DE-4695-9823-46FBEED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7E3EA-3BFF-4666-A966-49237F87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7AEAD-8569-46DF-91D2-7E22965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62E9C-4A68-4DB6-8047-179DCDB1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6F69E-B97A-4AAE-8F07-81EE1E9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F0673-3090-45FE-9F2B-FC8BD211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Surface-to-volume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219B-67E9-46BB-99C3-85B80FA6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As particle size decreases, the fraction of atoms at the surface increases, making surface chemistry strongly influence reactivity, stability and optical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36525-86DD-4302-BB66-F011476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37FFF-FE6F-4B82-9DDB-4DF02EA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Small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101C8-1B5D-4899-ACFD-F053DDB8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36CA0-F30B-462D-BC1C-1ACE2C8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2AB13-56EB-4008-9F9D-D932695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More surface atoms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A93AD-3A02-49AF-86AD-A132FC6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6566D-F36E-4E0A-8DD6-3F06FFF1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F2522-324D-4460-9B73-37D6B17A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Surface traps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D48B7-6133-4240-AF6C-8D43437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C60B-B016-44BC-8F86-918DFD9D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B7B8F-5C15-4B97-89D7-06257562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Passivation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D9629-D01B-4DC1-BFF6-69D7D36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A0761-3BEA-40B7-8303-6D30932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4C828-BEA3-4DE2-8BA6-A5DDC040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Reactivity</a:t>
            </a:r>
          </a:p>
        </p:txBody>
      </p:sp>
    </p:spTree>
    <p:extLst>
      <p:ext uri="{BB962C8B-B14F-4D97-AF65-F5344CB8AC3E}">
        <p14:creationId xmlns:p14="http://schemas.microsoft.com/office/powerpoint/2010/main" val="1214569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DF867-8E1E-444C-AC3E-C31A07F3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BE54-0C10-457C-A226-0E4A57B6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Band gap is size dependent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5D225-CA17-44F8-9D2D-863C371F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band gap connection.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E3BE4-8E9E-4DC1-82FC-ACB9CEE2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D2A8-CD25-452A-95FA-EC00F336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B1BA1-60BC-4CB2-BC24-A95F27F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7BEF4-8669-45CA-A4D0-79C94204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79F08-226D-4A1E-8C33-82B7B966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91587-2944-480B-9184-DF90122E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AF9CA-8C4B-4FB2-B668-3A8A173D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Bulk semiconductor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8B36A-7B87-454D-B29B-F9F379B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6889C-15B8-4808-A80B-9D12167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F4D94-496E-41D6-9C6D-32F4899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Reduce crystal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625E9-29B3-48E1-8B3A-EFCE9841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E1E98-4A78-4F6A-AA2D-87E69E8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9E30E-E2F3-44BC-9B28-B67D4D3E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Quantum confinement rises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7305B-9B4A-40A3-BF45-3A114CE6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5F4FD-64BA-4C31-8545-8C05D8B9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53D45-0C5B-493D-BD87-E837BB8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Band gap increases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A38F1-74DA-4FB4-9E91-2F6AC06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45A59-33DD-4EDE-819C-8991ED7D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F6EA4-71E4-483C-BAF8-6430DD13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Absorption/emission shifts</a:t>
            </a:r>
          </a:p>
        </p:txBody>
      </p:sp>
    </p:spTree>
    <p:extLst>
      <p:ext uri="{BB962C8B-B14F-4D97-AF65-F5344CB8AC3E}">
        <p14:creationId xmlns:p14="http://schemas.microsoft.com/office/powerpoint/2010/main" val="1224020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CF565-DAB1-4A55-8098-450AC2A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17A0-928C-4DF3-9DF2-BD8E206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Quantum dot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291F9-9121-41E0-873C-41A71EAB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Summarize exam-ready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2BA77-37A8-4546-ADC1-487D4176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EB82A-E0BD-4BB6-9C9D-4435E16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3446D-E606-42B3-8DE3-FE53426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9B2B6-5875-4793-92E3-C7DA314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Quantum Dots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63C08-12D5-4D9B-9C88-35EE600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076C0-E3AA-4C86-A517-05FCF469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33536-E9B3-4F70-9AA2-325DA79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69CFE-2D9C-4F04-9FA9-5EE4CC9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Optical tunability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B4D69-4719-4BEA-843B-C1534DD3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Color changes with size/composition.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647B3-1BF9-415F-B88C-FD45B395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7AEAA-B4FC-41E9-A991-3CDF948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38DDC-A072-4C1D-8A51-E53A5813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High brightness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5C0C2-6D93-494A-9C1E-C30F4A6B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Strong absorption and efficient emission are possible.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5C298-37BA-4DC5-B0FD-C0B54906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0B0-16DC-435E-86F4-D8CBE04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EAF44-BACB-4D50-8E90-505F617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Surface activity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699B-25E8-4D2E-9599-ECD1FA9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Surface ligands control stability and compatibility.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EEE46-4B50-404C-B7FB-543FD86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78673-D4F7-4AFC-BBAA-CDFC1E5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964B6-5BAB-4452-9F9F-D1A40802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Semiconductor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570A6-67D0-43B5-A21B-E08A7992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in LEDs, sensors, imaging and solar cells.</a:t>
            </a:r>
          </a:p>
        </p:txBody>
      </p:sp>
    </p:spTree>
    <p:extLst>
      <p:ext uri="{BB962C8B-B14F-4D97-AF65-F5344CB8AC3E}">
        <p14:creationId xmlns:p14="http://schemas.microsoft.com/office/powerpoint/2010/main" val="2037364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B5AF9-9356-451E-AFCF-2DFDA45E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D7F2B-333B-44C2-8C94-7D038BD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Cd-Se quantum dots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DD83C-059A-44DD-A369-E944C6EA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Cd-Se as syllabus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13A1-6409-4573-A830-663C908A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C1A89-7BE8-490B-9519-1057FB1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DF8ED-70CF-4E13-8E99-6C5A74F0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CF6F0-BABF-4902-AB33-2B13C5F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6DD8B-C1AF-4F3A-AB5F-E4757E6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97C9D-D5EE-459B-BB96-5C823BC3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Cd-Se QDs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08B11-45D4-4381-BEE3-A546F53E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Cadmium selenide quantum dots are II-VI semiconductor nanocrystals widely used to demonstrate size-tunable optical properties.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1F1AE-042A-4E2E-A5BF-0805C7B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7A0E4-7199-426B-A5A6-1FD0BAA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CdSe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32A48-7F70-49A2-ABF7-CAD24CC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4E988-BD22-4BA2-A60E-3C4CF0D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DADDA-1561-4D06-ABE6-68033B1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II-VI semiconductor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EDF93-B5DA-4BC1-85D1-1F6069CC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F91C0-F6BD-40A7-91A5-58BC945A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66332-6D68-4E1F-B8D5-28F5444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Nanocrystal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C4E35-53C9-473A-A6DF-226EF3D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8F227-CC68-43FE-A59D-84A16F34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228DA-7FD2-4134-A2AB-CF64EE0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Size-tunable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E333A-DA90-438D-9086-4FAE99E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9140-10DE-4926-B9A5-74E0F697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C9E74-5F52-4762-928A-0593FE3C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Photoluminescence</a:t>
            </a:r>
          </a:p>
        </p:txBody>
      </p:sp>
    </p:spTree>
    <p:extLst>
      <p:ext uri="{BB962C8B-B14F-4D97-AF65-F5344CB8AC3E}">
        <p14:creationId xmlns:p14="http://schemas.microsoft.com/office/powerpoint/2010/main" val="18248442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0C777-BBB8-4874-ABEB-7AFDF52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85BDB-E44B-4619-AB7D-B6C331A0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Wet chemical synthesis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9BFD-F632-40C4-9216-EEB0654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wet chemical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0E359-7DD5-4666-8626-848E0FCF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3BF9E-2647-4306-98ED-D88781C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B54E0-0F7C-4899-A96D-8530544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627AA-C1F9-4106-A7BD-7FA9695B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29B6F-83C0-438C-B992-A2F99F5B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BD6B2-1AA5-40FA-B2D6-6669460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Wet chemical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AF9BF-8C80-4C4A-9C0A-DA115F21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Wet chemical synthesis forms quantum dots by reacting precursor chemicals in solution under controlled nucleation and growth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CFA8-AA0E-40EC-BC9A-0483CFD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9C653-C074-42FD-8076-6451BC60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Precursors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742E8-99BB-4042-A62F-D37A88C3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C0146-42DF-423A-BE09-EFCB1FCE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D869C-9887-4790-99CC-C990A008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Solvent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8F696-D392-4A6C-ADBB-AD19A4A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8A79A-8534-4F25-8358-E9D13A3F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BEC6F-9668-4BDC-8FD6-00A31385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Nucleation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DC039-8F76-4EB3-87EA-D2AF3F3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D6321-0549-43F2-9142-EAA2FBF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9B19C-A3FA-45D6-BC21-8F973AD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AD126-C7A2-4333-ABD0-0C08C7E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012A3-A7A2-49D4-8C13-ABF64F5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654CB-1D6D-42EB-A273-7752E9B7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Capping agent</a:t>
            </a:r>
          </a:p>
        </p:txBody>
      </p:sp>
    </p:spTree>
    <p:extLst>
      <p:ext uri="{BB962C8B-B14F-4D97-AF65-F5344CB8AC3E}">
        <p14:creationId xmlns:p14="http://schemas.microsoft.com/office/powerpoint/2010/main" val="14041258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6CB68-200E-4581-9922-C3842DC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28AA-70ED-4C86-A8D6-14EDA9B7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Cd-Se wet chemical synthesis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2288C-FD86-47D6-87FA-0BC60D1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25038-5066-46C7-88DF-675FFC0E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0278A-6CAE-4531-8163-05971D44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136BF-EBF7-4E16-BA6B-1FF29E5C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5C95B-B4E9-487F-B6C7-58C0858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C21B6-9A8D-4E62-921D-F8CB773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D6F83-A1BC-4CBC-BCFD-6F4AF325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91338-DFE7-4C6E-A21E-1937BE1C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Prepare Cd precursor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F4A04-2BE6-4A58-8303-185D730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1BC68-C07F-4E99-834D-106C444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1E67D-2375-4E83-BD12-88BE91A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Prepare Se precursor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004FC-B852-4671-B1B2-BDA2E597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74C4B-D0D9-4707-AC8A-B01EBBA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EEAE3-0D02-4E2C-978D-CED5EFB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Inject / mix in hot solvent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87A86-B79A-4B51-909E-B9B4ECC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3AE8A-4150-4780-9C03-3FDE3AA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FD82F-6257-4DED-BADE-C8F5A25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Nucleation and 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54F5E-977D-4B4C-B3C2-DB28693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D228B-852A-460C-A654-0CEA1CDC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B33A3-17AC-4C78-870C-D93FAD8D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Cap, purify and collect QDs</a:t>
            </a:r>
          </a:p>
        </p:txBody>
      </p:sp>
    </p:spTree>
    <p:extLst>
      <p:ext uri="{BB962C8B-B14F-4D97-AF65-F5344CB8AC3E}">
        <p14:creationId xmlns:p14="http://schemas.microsoft.com/office/powerpoint/2010/main" val="829733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C529B-3AA2-45CD-BC6F-CE3A0D61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D9D0-FB24-4382-A2D4-F152469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Controlling Cd-Se quantum dot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C2E0B-DE62-4D1E-B439-2992535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synthesis control variables.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74DB7-C5A6-45C1-94FD-94164C9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1D740-C642-42A4-B0EB-B2AD7648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52A20-E82E-4C7E-8D1F-92B59FD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A0972-E8B6-43D5-845E-F62081C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9C164-8521-435F-A5EC-3155130D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3D877-8F78-4765-9E59-66B985A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55FAC-7159-4195-9028-3FF1BB05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E4472-5DEC-4FB1-9AE2-884F2D39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2A01-E58F-4ECB-B0E1-4C14196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Higher temperature can speed nucleation and growth.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E4354-EA11-4EF8-AEED-424474CB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C7B0A-5026-4089-85CB-0002567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561D6-ECC9-4D4A-8780-56BC14D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Reaction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50468-8C3E-47B3-B70E-5CEC2E2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Longer growth generally increases particle size.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7CA0-D85C-479E-9A65-190BB063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3A794-3F99-43DC-8A78-F6102A2E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4EAA6-7543-431D-96D5-20B4CE14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Precursor concentration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A343D-7524-45CF-A4B0-E63C7A5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Controls supersaturation and nucleation rate.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D502E-59C9-40C6-A4A2-C46C28A4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B678C-2ACD-4AA2-B722-83B3606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DE0C3-5253-4F4C-851B-024A9EE2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Capping ligand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1F655-2A76-4654-8BBC-1A7156D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Stabilizes surface and limits uncontrolled growth.</a:t>
            </a:r>
          </a:p>
        </p:txBody>
      </p:sp>
    </p:spTree>
    <p:extLst>
      <p:ext uri="{BB962C8B-B14F-4D97-AF65-F5344CB8AC3E}">
        <p14:creationId xmlns:p14="http://schemas.microsoft.com/office/powerpoint/2010/main" val="9735930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FAB99-E6DB-4B4E-9EAF-20F7369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4BD4A-1E26-4567-9658-1651A75B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Cd-Se synthesis memory trick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6398E-7EC2-440A-AC61-4BC8CC4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Make steps memorable.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61A37-3136-48E9-A1CD-08AED2A5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3D161-5D01-4828-A418-D86DB4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4F95C-9967-4E84-B917-8F3964F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37829-0FC7-46B3-B13B-44629A4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C40D7-F8AE-476F-BD96-7C6CC62A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74533-C68F-4282-ABB1-ED3C86F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782B6-CD2C-46B0-8EA5-94A7FDC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Mix precursors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FE8FE-F2A7-4B20-88B2-FCBEFCFE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7A3D8-0B93-4C00-8265-7E87855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F69D4-D8F6-4515-BE25-9599169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Make nuclei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DFCE9-E6FF-45A3-9A29-680D6C73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1E224-0156-42F9-9F97-BAD60EA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4CCAE-E2D0-40DA-B6E7-5E4789C3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Grow particles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51FB9-9E66-4B1F-AD1C-B2DD5211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2109D-925A-4F11-BAE4-4B0E15E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CEE4A-74CD-465C-A0BD-F1AA336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Cap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EAA78-970B-4706-A3F4-278704B3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361D1-1355-4A9E-9EB5-D06C95C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DF1A1-AD31-46BB-8E7C-808B59C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Purify product</a:t>
            </a:r>
          </a:p>
        </p:txBody>
      </p:sp>
    </p:spTree>
    <p:extLst>
      <p:ext uri="{BB962C8B-B14F-4D97-AF65-F5344CB8AC3E}">
        <p14:creationId xmlns:p14="http://schemas.microsoft.com/office/powerpoint/2010/main" val="14762862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546DC-CF1F-4B79-9E84-7CEF79A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1DC3F-C1F5-499D-A21A-4DD7344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of quantum dots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5F35-A7EB-44FC-8232-1725DCF6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broad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74686-FE55-42B6-8F92-78AE5A0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B7305-16E3-4C31-AF3A-36B3AADF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A1010-117E-4957-9057-E47BBE3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8F444-A4CC-40EB-A996-F3E72F1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Cd-Se QDs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04EA9-C76A-490D-915F-FC2EAC62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FC954-0EAF-4E53-83D8-B5E9C49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B58FF-C8B1-4C34-B2BD-8429A4A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B6C17-D723-40D1-B742-D45CF6F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Display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E2E83-40DF-4B71-8FD5-E6C9F13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Quantum-dot color conversion for high color purity.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4798D-57D7-49B5-B1BA-F17CFDF7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C1197-AB39-4A87-8365-E78694E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340C9-7369-43BB-893C-A65B571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Solar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1DA41-2BCC-4AA2-BC44-A7FE8C2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absorption and sensitization in QDSSCs.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0BAEC-F4B5-4F82-A983-98265E5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80899-891B-446D-901A-DBFF0B1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2AF45-711D-4D47-8ACD-0F4DAB9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Sensors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4B9A4-0E2F-4481-9F5B-9BFE22F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Optical response changes with environment or analyte.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A746B-B921-4FF5-B751-8CACA53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DC28A-B875-4BE6-9843-18C539B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79A5B-0101-4852-B63F-1DD64FE8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Bio-imaging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A2264-3C5D-4DFF-83FA-EECD7391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Bright nanoscale labels, with toxicity/biocompatibility care.</a:t>
            </a:r>
          </a:p>
        </p:txBody>
      </p:sp>
    </p:spTree>
    <p:extLst>
      <p:ext uri="{BB962C8B-B14F-4D97-AF65-F5344CB8AC3E}">
        <p14:creationId xmlns:p14="http://schemas.microsoft.com/office/powerpoint/2010/main" val="7890284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18AA4-3E52-43FF-A83C-5191BBCF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38029-1D11-4BA7-9D15-4FC3407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QDSSC?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B77D2-39F1-4F24-AA57-E8E0600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quantum-dot sensitized solar cell.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4294D-BEF3-421A-B2B2-3D3DF8C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5BD5C-AA02-4E97-ACE8-D61E43C0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76C94-BB1B-458B-8261-A91842B5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BCAD5-BCB4-4255-A206-E697177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QDSSC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4D2D1-EA6B-44A7-A1DC-EA57C868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DCCCC-2C7D-4C3D-88E2-6BBC41D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QDSSC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086B6-9BE6-480B-B3DF-939FC1F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quantum dot sensitized solar cell uses quantum dots as light absorbers attached to a wide band-gap semiconductor such as TiO2 to generate electrical energy.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A569A-9B67-4BF1-8557-6C12B218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0401B-6EFC-4E7C-9DDA-AA227338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Quantum dot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B1987-E491-443B-B874-8A7CA61C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73AD7-394C-409A-A653-323602A3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5DF5B-C9F3-45A0-A116-540BD8A4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Sensitizer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EE458-90AE-44BD-B20B-2FA2C2EC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CF899-543D-461B-BB86-ED142E1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4547D-00E4-459F-96C2-59FCEC8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TiO2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83CCB-79AC-4F53-8321-3C8DC06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33A87-AB99-4A7C-B9E5-55B9B2C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8D78C-5346-4C0C-BDE9-382C83A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Electrolyte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1D7ED-287A-40F8-ADDB-8F07D31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36608-FF30-486F-AD2C-8E0D24F6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E0425-EA1B-4752-B734-247BA88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Solar cell</a:t>
            </a:r>
          </a:p>
        </p:txBody>
      </p:sp>
    </p:spTree>
    <p:extLst>
      <p:ext uri="{BB962C8B-B14F-4D97-AF65-F5344CB8AC3E}">
        <p14:creationId xmlns:p14="http://schemas.microsoft.com/office/powerpoint/2010/main" val="2078267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5D72E-D962-4EE2-802D-A1FCAF0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90BD7-5A6E-485D-9AB0-A525595D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QDSSC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6A642-1ABB-40C8-92C6-CC0BF744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the cell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FCD5F-F254-4AD1-9BAB-8F800FC6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31AEB-5588-47DA-AEED-2A71B3B8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BA830-D9B9-45B8-8ED2-174D7CF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E8255-DC11-4BA8-8042-9249794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QDSSC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464C3-FACA-41DC-9854-6935136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0F725-D79E-44D9-9BDA-B66A52B2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35DE2-6412-4255-B906-6B6E57C4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114BB-A21E-4747-A813-5BC0CA1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Photoanode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264A8-16DB-46D4-91B4-CFA036B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Transparent conducting glass coated with TiO2 and quantum dots.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EF6A1-FDE2-4DA0-82A8-3FED739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BCD2B-6E2D-407E-ACD5-FA721F34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E42E5-15BB-42D3-90CA-C4808BD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Quantum dots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872F2-C444-43F3-975B-975E9E3E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Absorb light and inject electrons into TiO2.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12441-20BA-47CE-B9C7-84F3FC93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E468C-31B6-4FD3-A74A-455F499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C4D69-7166-404D-84FB-DD96DDF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Electrolyte / hole conductor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90099-2056-466E-81C3-3AAD678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Regenerates the oxidized quantum dots.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21C02-6BB6-40C1-B01B-BBBBB97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82626-6B1A-4D40-9967-DF5AE0B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DC0E0-D53D-4B09-8793-04756B16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Counter electrode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7F20C-F238-478D-B03A-29829A67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Completes electron transfer in the external circuit.</a:t>
            </a:r>
          </a:p>
        </p:txBody>
      </p:sp>
    </p:spTree>
    <p:extLst>
      <p:ext uri="{BB962C8B-B14F-4D97-AF65-F5344CB8AC3E}">
        <p14:creationId xmlns:p14="http://schemas.microsoft.com/office/powerpoint/2010/main" val="13704176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E1631-B213-4D2B-A347-4FE195C7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BB903-30B8-4C95-A0E4-611864D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QDSSC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5C10C-B069-4E18-90F0-2F279B46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energy-conversion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22345-3F81-4352-95AB-A45B247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B18E1-AE48-491E-9719-04D9818F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A9270-F6B8-4523-8F96-A13DF4D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6E406-2C5D-4803-B5DA-15B9158A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QDSSC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90926-EB4E-4F0D-B6E2-D10EE962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CB856-37CD-4A38-AC73-63D2F341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14C39-2BEB-48AB-B2B6-7BEE4AC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Light absorbed by QD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2DF66-5B8F-461D-9E3D-FD9D72E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D7F5F-6842-4E07-ACA0-B3A8F431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62622-1986-4C79-BC26-49CDCF46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 excited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A4921-087C-46FB-8955-D83B13E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3B44D-44CA-420F-9BE5-160EB22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B4CC1-01BA-4796-9943-B1CD9E16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 injected into TiO2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1B233-394F-4DFF-80E2-F97FE54F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0BA36-9546-4A91-8BD9-6C6A48C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7064D-379F-4549-90B7-8C25767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Current flows externally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B58A3-DBA9-46B6-AD9D-A75C589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D59A8-3C24-4B3E-84CF-6E90729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299E9-F59F-4D2A-9828-4DD84BE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Electrolyte regenerates QD</a:t>
            </a:r>
          </a:p>
        </p:txBody>
      </p:sp>
    </p:spTree>
    <p:extLst>
      <p:ext uri="{BB962C8B-B14F-4D97-AF65-F5344CB8AC3E}">
        <p14:creationId xmlns:p14="http://schemas.microsoft.com/office/powerpoint/2010/main" val="8405962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83303-FD54-48B0-806F-0C7CC4EA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F0267-C830-4B4D-8756-E818572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quantum dots help solar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5F41F-C012-4864-BBD6-01B85673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advantages.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19D63-2BB9-43E9-B0AB-221F78C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93B1C-C2C0-42A7-BC70-D97A58E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DCAD7-2485-4A4D-BADC-15F6E4CD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FC840-1913-4A44-B49B-9799EB32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QDSSC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C7233-C8D0-499E-A0B8-6380283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3BA0A-2E41-4617-A770-23C119C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2B988-EA74-4691-ABD5-40FECDF5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B73A0-F646-48E1-A4B9-E240228D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Tunable band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F1433-93DD-4AEB-A57F-4D5FF96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tune absorption by dot size.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AE517-6914-44F6-83BD-502AD80A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1F82B-C487-45F1-AA14-C85CE71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8F251-9984-4125-9472-4018209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Strong absorption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6DE71-0C91-4ECA-A369-7C37C17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Nanocrystals can harvest light efficiently.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58098-B8DA-48DB-9DE4-6C636EA8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1695A-64BB-4079-9253-62FEC360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B06CC-F7F9-4C00-9AD7-29CA514D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Multiple materials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CB748-0B04-4489-92F5-39A40A1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Different QDs cover different spectral regions.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C8C0E-F42C-4259-8EA6-BF2AC215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92A57-1F1E-47B3-8E3A-8302263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BB3C-F2D3-4BA7-8AEC-0A87760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Low-temperature 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7F078-F7A4-43EA-8EF3-E91F1A7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Solution methods can support low-cost fabrication routes.</a:t>
            </a:r>
          </a:p>
        </p:txBody>
      </p:sp>
    </p:spTree>
    <p:extLst>
      <p:ext uri="{BB962C8B-B14F-4D97-AF65-F5344CB8AC3E}">
        <p14:creationId xmlns:p14="http://schemas.microsoft.com/office/powerpoint/2010/main" val="9624326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5090F-E46F-4499-9505-B37FA7A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F2490-C7EF-4FDE-84D9-46E88D4B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of QDSSCs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10389-B03C-437D-AE44-E7B6E330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to energy devices.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BF67B-59DE-4F6E-84D1-A8F1B07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3DAD-32D1-4CF0-B34A-8A1C24B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3149E-7944-49AE-8D7E-D560FA2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2913-5897-4EC3-AF4E-EAB2F1C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QDSSC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7B722-647B-430C-A985-B850629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D6154-5D13-4657-9AE5-5A71350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B4CEE-B7D8-4421-BF36-5B267FB4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91A78-BBA4-4CA4-BBF0-E444601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Next-generation photovoltaics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47BC5-9BDB-46AD-9EAF-E8FDD6C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Research platform for tunable solar absorbers.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D9758-BFC8-4E31-87C3-8FDEEC9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E7730-C424-4365-B2EE-9111E9A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27531-9CED-449E-8C8D-E004CAF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 solar devices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40560-5D0C-44E3-B863-D6EB69B6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Potential for lightweight and bendable substrates.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A0139-9F7C-4F25-8F94-BAE67C8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6DBB0-F876-4429-A8E5-A71B23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18CC5-63BC-4785-8F70-620703D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Indoor/low-light harvesting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0852F-CE47-4504-A4DF-ACBE015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low-power smart sensors.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FAA8F-48C6-48A1-B6DF-87340FD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5126D-6327-4490-9648-A16B5096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F89D3-26D5-44C3-B5AB-12A0494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Education and labs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B0C0E-983F-458F-8E4F-6430E13D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Demonstrates nanomaterials in energy conversion.</a:t>
            </a:r>
          </a:p>
        </p:txBody>
      </p:sp>
    </p:spTree>
    <p:extLst>
      <p:ext uri="{BB962C8B-B14F-4D97-AF65-F5344CB8AC3E}">
        <p14:creationId xmlns:p14="http://schemas.microsoft.com/office/powerpoint/2010/main" val="1172642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29C30-22CB-48EC-8312-5EC4E3C6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6F1FE-2410-4481-8261-11EEDD3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polymer?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E0E07-8447-414F-9163-66797AB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polymer.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230E1-26E7-4103-846D-B8D23F71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25220-AF40-40E0-8B25-CEB6CD8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7E8E9-12C0-440E-8DE6-87B9053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C379F-42FF-4488-8733-B5D990EC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9B038-0873-4A71-BF97-FE27C5B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9EA7A-EA75-450F-A728-D2213E3D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Polymer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45372-181D-48F4-9F0A-B6A25DCD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polymer is a high-molecular-weight macromolecule formed by repeated linking of small units called monomers.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AD595-A936-4555-8CE8-7B5CD93F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51D30-C490-4C94-B5E0-DC9A544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Monomer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CB909-91FB-4061-8D08-8997D51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0E300-6F57-4127-A60B-F3269E37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82AB6-CCDB-4BC3-B6F8-9B4BE3DB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Repeat unit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47D42-C9D6-449F-92F7-59F093E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CED3A-C83D-4CC6-AA62-12D91AA9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161F3-F2CD-411F-AE33-B76A816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Macromolecule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F3DA1-A7F9-4F07-A91E-0E631BD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0155E-F1BE-4532-A89D-79A44A03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FDD18-A680-458C-B679-2C91D8D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83262-CFAA-4C15-B692-27DB965D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FF83B-061E-4619-92B5-4E959B1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180E3-0E29-4823-B233-5F9947CD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Molecular weight</a:t>
            </a:r>
          </a:p>
        </p:txBody>
      </p:sp>
    </p:spTree>
    <p:extLst>
      <p:ext uri="{BB962C8B-B14F-4D97-AF65-F5344CB8AC3E}">
        <p14:creationId xmlns:p14="http://schemas.microsoft.com/office/powerpoint/2010/main" val="9179024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5761D-DBC2-46B6-A802-8FED8B34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AF63D-027A-45DA-BEB6-A1C75DC7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polymer molecular weight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95103-746F-4D4C-80E5-751E449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chain length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6E318-ED68-4420-AF62-F014E308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D389-CBEF-4157-B64E-AD3720A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5E731-800B-45B1-B494-C6A0FFC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8760F-4A2B-4E8D-9DC0-CB7642D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8AD5E-D430-452D-93A1-7E8C677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338DA-B58A-4BCB-9156-7A5788D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63791-8AF8-4B50-8445-D4D0C9A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918FD-A990-49F2-9321-6C4BB4F4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Longer chains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E6038-538F-4E5E-8AB6-FFF22122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Usually improve strength, toughness and viscosity.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45ED-0AB5-48F8-86C1-7A63B6C6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9AEE7-8F3C-439B-B58D-47D07134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CAD6A-34BB-495A-95E4-CB3AA15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1E8E7-31BE-4B7A-8A85-A6EE0CB9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Real polymer samples contain many chain lengths.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51087-FBDC-44F8-BF1A-82D82153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4431E-96E5-4EE8-87A6-F132908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15F98-2608-4B57-B521-DBEC0A0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ADAD8-5C5B-4FE2-8E4B-5CBDFD98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Molecular weight affects melting, flow and shaping.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479EA-6C04-4A97-9537-FAD1CE22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3E362-54EC-475A-A45A-B10B07B0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2C09C-FE13-4D9F-918B-A33E455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Properties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42F8C-4185-40F8-A1F9-8DED133A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Mechanical, thermal and chemical behavior depend on chain size.</a:t>
            </a:r>
          </a:p>
        </p:txBody>
      </p:sp>
    </p:spTree>
    <p:extLst>
      <p:ext uri="{BB962C8B-B14F-4D97-AF65-F5344CB8AC3E}">
        <p14:creationId xmlns:p14="http://schemas.microsoft.com/office/powerpoint/2010/main" val="16660918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DA35F-E0E0-486A-9B80-557AF8D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D15EB-3F6D-4650-B24E-2C5F722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Number-average molecular weight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ED30-CCAA-4E1D-B998-1AAD2E3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Mn.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880D4-5E3E-40C4-B776-C7DC18EC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514A8-9967-4143-8765-56CEA082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88709-5A8B-4B81-816F-0ECFF56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3E9E1-02EC-4B35-8DA7-7127D8A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7A9C-394D-4EB0-BBBB-90FEBD52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0E80F-E357-4F8A-AA15-ABBA7F4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514E1-C3CD-4A80-AF9F-C014EAD0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5619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Mn = Σ Ni Mi / Σ 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Ni = number of molecules of molar mass 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Counts every molecule equally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C288F-0808-4000-A250-6886E94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76C74-514A-40C3-905C-81AAE38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0A23B-5453-455E-B35C-77613CE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03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Number 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0F371-C0AB-4137-871C-66E8542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8130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 the formula as a marks anchor: define symbols, substitute carefully, show units where needed, and interpret the result.</a:t>
            </a:r>
          </a:p>
        </p:txBody>
      </p:sp>
    </p:spTree>
    <p:extLst>
      <p:ext uri="{BB962C8B-B14F-4D97-AF65-F5344CB8AC3E}">
        <p14:creationId xmlns:p14="http://schemas.microsoft.com/office/powerpoint/2010/main" val="16811833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BBCBB-EC8A-48E1-8BF7-84ED6D49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116FD-56DF-4457-83F9-90D2E52B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Weight-average molecular weight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D992-0520-4A0F-9BCD-DFBC246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Mw.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9DD1F-9EF7-4723-A1A7-090C957E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E125C-BC93-4D74-BB04-05172B1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65A3-7869-450E-9F1E-0168E16A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6EA68-74C6-4DE4-A9F5-C2A8A90A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B8C9D-1252-44F6-BD73-1D44DF7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9D05C-2D98-4849-9B70-FD201D58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FF7DE-4524-48D8-8DAA-B3B45DE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5619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Mw = Σ Ni Mi² / Σ Ni 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Large molecules contribute more strongly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because mass weighting is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BDC88-32EC-4B47-B2CE-2B0AAB6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F7AEA-E1B2-49F7-AB7F-0AA95739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66BD0-CD41-458C-BD88-E0FFDBC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03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Weight 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E682E-B8C6-4D88-B495-AD439174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8130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 the formula as a marks anchor: define symbols, substitute carefully, show units where needed, and interpret the result.</a:t>
            </a:r>
          </a:p>
        </p:txBody>
      </p:sp>
    </p:spTree>
    <p:extLst>
      <p:ext uri="{BB962C8B-B14F-4D97-AF65-F5344CB8AC3E}">
        <p14:creationId xmlns:p14="http://schemas.microsoft.com/office/powerpoint/2010/main" val="21105878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F7A0A7-9A85-4584-80DD-6271FCF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A88A3-8847-4EE6-A1CA-E309C3BE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Mn vs Mw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2EBB-D64A-4470-BF2B-320862D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Separate the two averages.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45C6A-8F16-4726-B7D6-E48F4DEC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D4F74-F3CE-4800-8AB0-36D8882E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CB28-0086-4B02-9B72-D88F6711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70EDB-E37B-4484-8015-20070DE8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BF7C8-B449-4A2D-8E4F-B0498066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7C489-55F9-4686-B42A-69A04BB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1235A-F8D0-4B32-B1E9-D2A60541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86915-C06D-4290-94A7-2A6C94C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5C2D5-E7E3-4972-90E0-5E2286A0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4A2AF-61FF-4723-B341-F0B4D7D2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FDBDB-76FE-4AFA-8C98-5101DCF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AD2DB-126E-4FF2-B40D-0BDF5AE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082B0-D084-4820-ADBF-54076040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96298-1414-4F9D-912F-CA2AF6A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46FD2-A650-46A4-9FC0-CAD6D777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6FE1D-906E-4636-862C-9D9B761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Number-based average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10CC4-4FA3-40BB-A050-AA641935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E9D44-B6DB-4318-BA5F-8AA9305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140A3-406C-4DED-80E1-C170454D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Every chain counts equally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F4DE6-1C97-42D1-B176-7CEE33D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5C5CC-04E9-4D3B-8C67-09328E9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5B991-8EB8-4BE0-955B-263D2DB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Lower than or equal to Mw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91255-06A3-4B35-842C-8B133309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17EA0-D42E-4F80-ADBC-7D6F52F7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6D073-4842-43BD-B0BF-A1F3A71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Useful for counting molecules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D8200-7553-47D4-BC0E-A17CC8E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AAC1B-F5E6-433A-801B-4280F98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D0F40-77B4-411C-AF35-654E9F56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Mass-based average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D1725-6DF5-4EB9-871F-CF10CA9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D35A8-2158-444E-9AF3-B613ED9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46004D-F40D-4EDB-8926-C8539B0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Heavy chains influence result more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DCC1A-A314-4EBF-94AC-E438C107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EDCCB1-8455-460B-8E2D-0007A15E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714239-470F-43C8-AF46-BE193F1A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Indicates property impact of large chains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4488B-B720-4F14-BA60-0451DA0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3EE49-B709-4D1C-AD9B-974EA99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A0134-0391-44CC-93F6-EB6F8792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Used in polydispersity</a:t>
            </a:r>
          </a:p>
        </p:txBody>
      </p:sp>
    </p:spTree>
    <p:extLst>
      <p:ext uri="{BB962C8B-B14F-4D97-AF65-F5344CB8AC3E}">
        <p14:creationId xmlns:p14="http://schemas.microsoft.com/office/powerpoint/2010/main" val="5625278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984BE-BC7C-4548-8775-A36DC32A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AB224-326D-4846-960B-04C2558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Polydispersity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1016B-EF0D-4B5E-B2BF-0EA6C45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Add a useful numerical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51AB4-7BA9-4F32-85CF-813785D3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B580C-57EE-43F5-9392-C2D99434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11748-CA3D-4FCD-99D0-09CAE265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CFF1-DBFD-4CD7-A02E-1FC89C9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191BC-A293-4948-9F76-D9350AF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E8E6F-2AF2-4BCB-885C-6E7609E1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PDI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19626-7C01-481C-AB9A-48075AD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Polydispersity index is Mw/Mn; it indicates how broad the polymer molecular-weight distribution 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E9FFF-52AB-4143-8B3E-96988BFD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41335-D84D-43EA-966C-CE56D16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Mw / 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B9EA4-B0C3-49F0-8759-9892F6F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923FD-8D38-4B5E-92C8-32F16BC7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33715-F94B-4E20-86B4-9EA13F6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4EE89-E965-4923-8E1C-3240FB3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3C1C8-73B1-4113-9554-A2420AD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AEBDB-05F4-4957-9764-F85C173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Uniformity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1465E-2DA6-4800-A535-619BA7B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14382-EFB9-49E2-BBA7-CCBAF5CB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8233A-1945-4F28-BEA4-A0DB39FC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PDI ≥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170C5-ECCB-4614-A512-0AAF0AB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BF8FD-391A-4E79-BE4F-E652C8B1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DD41A-4607-40F5-BEBB-824B7E7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Polymer sample</a:t>
            </a:r>
          </a:p>
        </p:txBody>
      </p:sp>
    </p:spTree>
    <p:extLst>
      <p:ext uri="{BB962C8B-B14F-4D97-AF65-F5344CB8AC3E}">
        <p14:creationId xmlns:p14="http://schemas.microsoft.com/office/powerpoint/2010/main" val="21460613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4A891-5062-470F-BB1D-C37C305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EE7A0-F271-4388-BA41-5A4304E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Numerical template for polymer averages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697DC-8AAE-4840-9773-C0FEAB9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problem-solving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CA651-CF0A-4C4A-9BA2-9C3E553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B02DD-71CC-426D-8031-522AC98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9A277-68A1-4BD8-998A-B6A0693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FA12F-3669-4F5E-9520-9B01F21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E2216-0564-4D15-BB06-204C153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2AB6D-3204-4902-9392-B6A2561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7D20D-9FE7-4A65-9345-7347F96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List Ni and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EF62C-B245-45BD-95B9-F1DA60A7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372EF-C473-4523-AC8C-F5B6758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4BF51-DB4A-49CB-9B71-E596B80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Compute NiMi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AE265-C4F9-496B-AA2E-D1B2E88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D187A-AECE-404A-BA41-F116A3B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8D6C4-07B9-4BEC-9DE3-56704AB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Compute NiMi²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9117D-77B2-4398-BEDB-EDFDC42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46010-9558-4DB3-808A-4E96C8D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A5C09-C87B-40DD-BBA0-2CC7BA9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Find Mn and Mw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F5F10-C4EB-4943-96D9-4780CBA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2089D-31E5-4FBB-B44B-579A8A8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10239-16B2-4D50-A070-A3B0D4A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Report PDI if asked</a:t>
            </a:r>
          </a:p>
        </p:txBody>
      </p:sp>
    </p:spTree>
    <p:extLst>
      <p:ext uri="{BB962C8B-B14F-4D97-AF65-F5344CB8AC3E}">
        <p14:creationId xmlns:p14="http://schemas.microsoft.com/office/powerpoint/2010/main" val="9620397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4AC0E-E17E-4FF0-8A8C-D5E648F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809C5-E2BE-4A9D-B7FC-5EB7D75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numerical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6D560-A06B-42C0-83B2-E4E1EB8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a compact sample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C1B2-BC0C-40A0-96F0-964B63B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E4117-5A8B-45E6-BBEB-0DDE5482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D67AA-46D6-49BE-BCDC-E2B41A3A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485FE-7D1B-4C57-B2C8-94718CD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Molecular 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F80CA-6CF6-4189-A3B9-BD5E699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B0D27-581C-43CD-8EA9-E813DA1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1412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3B526-BA25-4B58-967F-71E4EA0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950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Fraction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2AA9-7A0B-46F8-95DC-8ED28B0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1638300"/>
            <a:ext cx="21412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B5099-C903-462F-AB0D-B0E7FDF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762125"/>
            <a:ext cx="1950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3D2D3-836F-43B0-9097-D0B1AE4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638300"/>
            <a:ext cx="21412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ACC60-A0EB-4353-B9A2-A3DD9367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762125"/>
            <a:ext cx="1950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1741C-660A-4516-96ED-893AF13D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10" y="1638300"/>
            <a:ext cx="21412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F2CD4-C426-40A2-B8AD-04485A2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762125"/>
            <a:ext cx="1950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NiMi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C3B6D-8FAF-4886-A83B-FDC77004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1638300"/>
            <a:ext cx="21412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7253F-FB52-4DBE-A49B-9A0CEB39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1762125"/>
            <a:ext cx="1950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NiMi²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648C3-CADC-4239-9A11-F282415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86DE4-DCA9-4F8D-ACF6-4143004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37DDE-827B-43F8-BD01-BE6A2F66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1526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E3C3B-007C-45DA-BB84-056157F7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2383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6E830-F6B2-48D5-BB52-192F32FB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1526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D7B9E-8665-4752-A309-B86472F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2383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10,000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3558D-EC8E-49DB-83E0-B8E502C6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10" y="21526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2874B-AB43-4A76-B2E8-DA92E9E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2383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20,000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2F9BF-99C5-4150-8C64-9F621B6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1526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4CB67-9A96-4722-A124-8EDD59C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22383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200,000,000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3C835-4F65-48A4-B56B-0EE79D7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29958-429B-4B93-867C-E088C88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9F35E-751E-47DF-B8C6-F1E0745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70510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698F4E-B86E-48F8-871C-4BB73DE7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79082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CB380-F0A3-4D79-BBDF-CF9926CA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70510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A22C2-523D-4B9A-B0C0-8E770A5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79082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20,000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C2D33-0532-479F-8699-A95F7C7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10" y="270510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3CBFC-C5E0-413D-8415-3861122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79082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15182-51F3-4545-85B7-7B029995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70510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DC512-9554-4BB7-934E-C9145076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279082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1,200,000,000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BA9788-6D5F-41AC-BCB5-305B653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FD7C0-5E0E-4814-BE37-EBBA924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5CA922-B2DA-4475-B712-D9DE457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2575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282CF-E6E0-4D79-8E56-12F0A2A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33432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ΣNi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02925-09BE-4045-8422-0426FACF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32575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8B54B6-3BEA-4FC2-B563-B4AF600D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3432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ΣNiMi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B49D08-34B2-4666-A055-B6093FE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10" y="32575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EAE516-A117-4AEF-855B-5FDB5556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3432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ΣNiMi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393960-B672-4F55-91C4-DD3D55B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3257550"/>
            <a:ext cx="21412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9FFF82-6C05-42EB-B34E-ABED601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3343275"/>
            <a:ext cx="19507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ΣNiMi²</a:t>
            </a:r>
          </a:p>
        </p:txBody>
      </p:sp>
    </p:spTree>
    <p:extLst>
      <p:ext uri="{BB962C8B-B14F-4D97-AF65-F5344CB8AC3E}">
        <p14:creationId xmlns:p14="http://schemas.microsoft.com/office/powerpoint/2010/main" val="20648782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CA102A-7C04-4ADE-A1C4-556C8E3D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73E86-8487-497D-80A5-83F3868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Polymer structure decides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39A6-5D5C-411A-B1E8-0C542CF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structure-property relation.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0881C-1ADF-4B08-8F55-6D9D8CD2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755C-5DFE-4799-A19E-1B071A8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51C9B-F14D-4289-969B-CCF6D18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A0B7F-4207-439F-B04B-A810A0A0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Structure-Property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20E30-2958-49E3-854B-FF0499D4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629DB-E710-4D29-AEC3-A778D268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DCA4-3761-4545-8CFD-21A981F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39757-8FBF-4015-8E88-D028E09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8232A-304A-45E6-8311-40642E7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8F302-8094-4166-9AD9-BC41F32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Crystallinity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FC28E-6E26-4C40-BDA4-724F6576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Chain packing.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C8978-2D4C-47AE-B9F8-36972F8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D611B-CD89-43C6-BC39-705984E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1A7F4-24BB-4088-8F16-230E193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Strength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94645-716C-4997-9927-2DD00DCE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Bonding and chain length.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E47A9-4965-429E-9C5C-703C1A6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A2663-DCD2-4E6A-B439-B5CF77D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BD407-3877-4C5B-BBF0-4A306D70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Elasticity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75599-1C3E-4154-AC19-D7626851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Chain flexibility.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F674E-7CBE-406D-A3A0-F838BC6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E2AB3-BAB4-49B9-A2BE-D56BDD7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93946-B27A-401F-95C8-D137533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Chemical resistivity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CEF88-7BF2-4C22-A71D-4597A51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Polarity and stability.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16670-E22A-4E71-B3B7-25FCD625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E2AA6-8733-4515-B2F9-E4189C8E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7ADEB-1FDF-4881-A85C-122CF54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Processing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92DD7-E0ED-44FA-9D3B-4E702070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Thermal 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4A873-1AAE-4BAD-A1BB-CB3EE7AF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75519-E24C-4F2D-BE6D-68D0518B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C930A-6863-4FE1-AD8A-49AFA143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Applications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AE3DC-9BDC-40C0-9209-CE09955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Device suitability.</a:t>
            </a:r>
          </a:p>
        </p:txBody>
      </p:sp>
    </p:spTree>
    <p:extLst>
      <p:ext uri="{BB962C8B-B14F-4D97-AF65-F5344CB8AC3E}">
        <p14:creationId xmlns:p14="http://schemas.microsoft.com/office/powerpoint/2010/main" val="6687661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AE58E-677D-4CD5-B453-2CCBDEA5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A4E78-EC97-4899-AD6C-CCD835CD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Crystallinity improves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9F20-169E-421B-8566-CFBE42E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crystallinity.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E3F6-8F68-4D34-926F-C5E2B3B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38165-2395-4964-902C-485C9483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25E96-1324-4929-835A-7DD7686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0DAD3-638C-4F81-84C5-BE8A518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Structure-Property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43410-901B-487B-91C1-E421B6F7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2C120-4A4A-4FFB-9455-A0DDB2C7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Crystallinity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A6DC7-8092-4D99-ADAF-16E09854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Crystallinity is the degree of ordered packing in polymer chains; higher crystallinity generally increases density, strength and chemical resistance.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1009E-B9A4-45EC-8DE1-37794CC1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B12B1-B006-43A8-9FB5-6F61784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Ordered chains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A3DBD-2CCF-4CA4-9763-080BB23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87AD2-4B12-41D8-8EDD-D13D5C8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FC9DD-28E2-4EB3-865B-0CEF9EF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9B861-5D92-4FA4-8211-3D638501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C6FBB-6ED2-409F-9611-3AE1D47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D9340-26C7-4D22-95DF-8D00438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5A148-4F7D-41EE-A9DD-30FF7DC2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0779B-3492-4C79-88E4-3578EEA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78544-DF00-4FE1-A049-956B986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Strength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51236-156C-4167-8F12-EE74EEE1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FC64F-FEEB-4A6D-B999-468C5C8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2AF8F-01EC-425B-9743-136B1DC2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Melting behavior</a:t>
            </a:r>
          </a:p>
        </p:txBody>
      </p:sp>
    </p:spTree>
    <p:extLst>
      <p:ext uri="{BB962C8B-B14F-4D97-AF65-F5344CB8AC3E}">
        <p14:creationId xmlns:p14="http://schemas.microsoft.com/office/powerpoint/2010/main" val="21235825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E9699-5A3C-470E-B931-3AB4F9C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C131C-EB3D-4134-9701-0984A66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Strength depends on chain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F8E26-6AB8-4C0F-A95D-8C38A7D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strength factors.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9F943-AC61-48D2-9A48-CA1D0FA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0C8C9-A82B-4D75-A050-30E579E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DA9D5-3113-47D0-8CD1-607097A2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B85A0-108E-4F44-9998-01FB585F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Structure-Property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5F18-7DD7-434F-B167-4951ADB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55F6A-FA45-445D-AD88-DDB2D2A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09C74-FA96-40F5-BFBA-E5DAE5BA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015F8-281F-4628-AB42-62A1A313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Molecular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7A9A4-7761-4007-A912-D187907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Longer chains can entangle and resist pulling.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AC461-3FF7-4299-960A-35760EBE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00141-8BC2-48C1-B7D1-CE5F816B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13EB4-7113-4663-B01C-A44F9EE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Intermolecular forces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88506-B89B-4A9F-A25D-CD01CC33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Hydrogen bonding and polarity improve attraction.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F9968-9B49-4DE4-986F-60C5BABD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F23F3-479D-4E72-AE25-B397F786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76722-55F8-43EF-95D9-1DD428F4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Crystallinity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9A6F8-5F7C-4726-9D3C-6715231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Ordered regions can reinforce the material.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6F72D-2DF8-44AC-9A21-6DF5ABD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72E18-CEE9-4987-AE78-2FD9D33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8F92C-4DC2-4894-94F4-F63C21A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Crosslinking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9387F-6974-467B-B7B6-132409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Network structure can increase rigidity and thermal stability.</a:t>
            </a:r>
          </a:p>
        </p:txBody>
      </p:sp>
    </p:spTree>
    <p:extLst>
      <p:ext uri="{BB962C8B-B14F-4D97-AF65-F5344CB8AC3E}">
        <p14:creationId xmlns:p14="http://schemas.microsoft.com/office/powerpoint/2010/main" val="2946436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2FCBC-D455-46EC-8F6E-8465502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CC4B2-D216-4B02-8D71-6F93DBB5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Elasticity depends on chain mobility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6C262-1AE2-44E7-AD81-8AEC74DF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elasticity.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F5E06-C592-42B8-9EE1-461F3822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A7559-1F42-4068-ACDC-3B9D6B8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D8D9C-A3DC-469D-9A97-7A4E0CD9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BDEBC-B78A-479F-B180-436677E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Structure-Property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873EC-ADB4-49A6-BBE7-F567C4B4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721D6-E2CC-4B3E-AF01-A9E5621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AFC4B-E6F8-4051-81D8-A67BD6CB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5BB7D-8C15-4B69-A4FC-1560DB2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Flexible chains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6E50B-C88C-4B08-B058-0F62281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uncoil and recoil under stress.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E160B-03AD-475D-8E1E-2A9DF8E4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49D7-C20F-44F4-8F26-2E82B2B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938CE-C667-42BB-8F67-820795B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 crystallinity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C504B-AAF6-4E3B-BBA3-50167D3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More amorphous freedom can increase flexibility.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7E02E-0902-4F59-A59F-41D27E2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EB41A-52E7-4115-A5E6-CDB48086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B2EE6-9EA0-4485-8960-DE529D7A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Crosslink density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F841D-732E-4312-B2A9-574F353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Moderate crosslinks help recovery; too many make brittle material.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6239-155C-4050-B620-A067E18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ADD12-FD56-49AC-8454-7496754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866C8-828F-45D4-A84C-6439A53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Temperature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66812-145D-480A-ACBF-0493EFD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Above glass transition, chains move more easily.</a:t>
            </a:r>
          </a:p>
        </p:txBody>
      </p:sp>
    </p:spTree>
    <p:extLst>
      <p:ext uri="{BB962C8B-B14F-4D97-AF65-F5344CB8AC3E}">
        <p14:creationId xmlns:p14="http://schemas.microsoft.com/office/powerpoint/2010/main" val="11635077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70A31-C7D6-4B15-8856-4C0E9F4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78D8-4F5B-47A9-B231-DBA2EBE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Chemical resistivity depends 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EA725-0572-430C-ABA3-A00C6006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resistance.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4D082-595D-4EF9-A9C9-1D3EEAF7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3C5D4-6B3C-4637-B7D2-5EE4F2B7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89F0C-DA14-42B9-B4C1-81D14BC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D9614-B258-4837-AE56-D9800382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Structure-Property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1AE77-589A-4BBE-B51A-0389771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0ECBE-4868-4889-979D-C3C3472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7C7BE-389E-4307-A730-863DB28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0E579-578D-4B14-8396-5554AAF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Strong bonds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AAD4E-4B94-4DB7-B4DB-18B2569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Stable backbones resist chemical attack.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D54C2-BB52-4986-A819-85BD453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1EDAA-AE2C-4A68-BFAF-2E458250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67067-DFEF-422B-BCF6-667E28D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Polarity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257BC-1C89-4A76-9E30-1F2175F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Controls interaction with solvents and chemicals.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E5EE6-5616-46BF-82C5-8CCA6514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1B8C6-5612-4D88-AB1F-4B5FCDE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85A63-B54D-48A2-9807-54B2985B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Crystallinity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4966C-4EFE-4ABA-8B14-119D88A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Tight packing reduces penetration of chemicals.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82E9B-6F50-4B8F-9E6A-07FEF08D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75317-E519-4B9E-A62B-16E272E7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4475A-532C-48D3-8D55-75AA4FA8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Substituents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23EAB-3CA8-4D0F-BCF4-53908E67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Chlorine, ester or amide groups change resistance.</a:t>
            </a:r>
          </a:p>
        </p:txBody>
      </p:sp>
    </p:spTree>
    <p:extLst>
      <p:ext uri="{BB962C8B-B14F-4D97-AF65-F5344CB8AC3E}">
        <p14:creationId xmlns:p14="http://schemas.microsoft.com/office/powerpoint/2010/main" val="8736199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E3FD0-436B-4A64-932C-330850B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87DA-E230-4D7A-AC3C-0E8B745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Nylon-6,6 is a condensation polymer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8938-A93F-4D1A-AB60-BD0CE76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nylon-6,6.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7DCC1-D396-49D8-A782-45780CD6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AC8B4-6F31-435D-A70F-472DA851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589B7-03C4-4AF4-99A6-973297C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740-AF93-44F1-8543-EE9E03F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Nylon-6,6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64653-8F44-4D76-AC68-197670F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F0FC0-0EC2-4847-A591-7D12B95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Nylon-6,6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3B685-306A-429F-98EB-3CB210F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Nylon-6,6 is a polyamide formed by condensation polymerization of hexamethylenediamine and adipic acid, with amide linkages in the chain.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3560E-D3F8-484A-BAC5-D66548D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8ED9C-B338-4C6D-9105-03EC3A6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Polyamide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84AD5-D1C1-422B-BE1C-DC479C5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DEC80-6399-45E4-9C2D-09F686A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59933-1154-48AD-BBCD-F49905A2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Condensation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1B22C-D9FA-430D-9A44-3D5BCF0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C37CF-8FF1-4E73-81BE-1A3CBB7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C92CB-44B2-406B-9CDA-58BA6DF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Adipic acid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260E3-B6ED-474A-BAB3-8F305C0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7267F-1AC7-4F83-83A4-28EA1CB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15C3B-2895-401B-9157-C16D4318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Hexamethylenediamine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9F789-64BF-4CDC-96BE-1D8EE90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3F8A5-6AAA-4F0B-8E28-885AB97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9503C-29DC-4D16-A7AE-9DFF6FC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Amide linkage</a:t>
            </a:r>
          </a:p>
        </p:txBody>
      </p:sp>
    </p:spTree>
    <p:extLst>
      <p:ext uri="{BB962C8B-B14F-4D97-AF65-F5344CB8AC3E}">
        <p14:creationId xmlns:p14="http://schemas.microsoft.com/office/powerpoint/2010/main" val="20109276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60AA1-B5D5-4B78-A8ED-E54FDFF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8DA27-68B9-4CCD-B33D-83951862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nylon-6,6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D51F8-A43D-4DC9-89D9-F0060CB1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08BFF-189E-4A40-A0C6-91FD2524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0DDE6-9CE9-4F1C-AE27-19F2A59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61493-75DB-4F88-AB37-778B847D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FDAA6-ACD6-4A3C-ADAE-DD9FA127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Nylon-6,6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E1107-14AB-4037-A966-5DFF7E5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1F626-8BD9-4084-8614-0F3ADCD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4A1FE-F4CB-43E2-A112-10A0FEF7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Adipic acid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691DA-C589-4228-89FA-00D8BBF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FC1D6-88B2-462B-8F0C-658A45F8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0412E-621D-4668-82FE-8531CB9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Hexamethylenediamine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3D750-2AA6-4EBE-8586-573553C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5B1B2-8B3E-457B-9635-DB89CEA9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109C7-E860-405F-AEED-B369A4E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Condensation reaction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2D9C3-9418-46F4-A27C-A48E461B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CC861-1392-45C4-8D74-A752223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DC982-B8E5-402F-9FB4-F0C3502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Amide linkage forms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B522B-51A3-49DF-8AB6-561F027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B9516-31CA-443A-9150-8387B0A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B831-DB6C-4FEE-A826-3DDD2B2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Nylon-6,6 + water</a:t>
            </a:r>
          </a:p>
        </p:txBody>
      </p:sp>
    </p:spTree>
    <p:extLst>
      <p:ext uri="{BB962C8B-B14F-4D97-AF65-F5344CB8AC3E}">
        <p14:creationId xmlns:p14="http://schemas.microsoft.com/office/powerpoint/2010/main" val="3357784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39EC0-C191-49BA-95EF-A3DEA5BE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A5949-91F4-4335-8A46-22B935C4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nylon-6,6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605C-4265-4DD2-A5EC-348DE59C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E5BB4-5AA9-45A8-92C6-2517D40A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F9A46-93CE-4C0D-9927-17BBDEF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88C93-F3F7-4436-AF09-0C3DD9A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3DB6F-C172-42F2-B09E-EE39130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Nylon-6,6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48D9F-D0E1-4F76-ADD5-4CB52BF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3EF6-0601-47FF-A00E-4D531C4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243D6-9831-4A65-9421-4776CB3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CA044-8365-42ED-ADDA-A52E2B5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strength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CF889-F604-454C-B789-FDE62245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Chain packing and hydrogen bonding improve mechanical strength.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ECD44-E7A1-4DE9-A3AB-05490D5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13361-F69A-4333-9EAA-45C422B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34FE3-AF8A-48E8-AABF-D68A85F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Abrasion resistance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8DC4D-D8EE-44A2-B549-0EE6B646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in fibers and engineering parts.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BEF47-C377-4836-9A93-09AE3BAE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98588-45D8-4365-AF39-4E0875D5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482F8-55D8-444E-A0CF-391B27C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Thermal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07DF2-200F-4BDC-9D5C-99D0342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Suitable for many molded components.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BEC8B-4542-4BBF-B8F2-6FF88BC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FD06D-E61E-4C9A-A2A0-96F3BE08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34FE7-25A1-4A94-89AA-D15CD88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Moisture absorption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5BEA5-3C58-478E-8070-5F21D7E3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Amide groups can interact with water.</a:t>
            </a:r>
          </a:p>
        </p:txBody>
      </p:sp>
    </p:spTree>
    <p:extLst>
      <p:ext uri="{BB962C8B-B14F-4D97-AF65-F5344CB8AC3E}">
        <p14:creationId xmlns:p14="http://schemas.microsoft.com/office/powerpoint/2010/main" val="8058968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31CC3-611E-4EF7-9993-1DA7BF7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BAF3-FE70-4C3E-924B-9B32764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Nylon-6,6 in 3D printing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D5A7-036C-49DD-9E60-439B48D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advantage in additive manufacturing.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CCDA-B799-47B9-9912-06C492A2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0D38-0C91-4EB5-909B-7F5CDCA3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9DB0F-98D4-4C1C-84F3-B651F31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F9D95-6DEA-4969-8375-15E2535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Nylon-6,6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FDF8C-914A-4748-BF3C-E512F4A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BAFD1-7A8B-4D7C-9951-DC8B12B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385E3-5FFF-4F05-A412-44AF156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2E02F-A4BE-4644-B8A3-83A46EC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Tough parts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4AFCC-0C76-4AEC-9A57-A0986ED7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where printed parts need impact resistance.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B618C-3683-4B75-BDD1-3853F6D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33B70-1D9E-4D8F-A77E-50BC839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A1799-F762-4D30-9452-E1EED19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Wear resistance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62D33-A73A-4ECC-9BD0-E2242C7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Good for gears, fixtures and moving components.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79E3A-F34B-48C6-9C07-34AC561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B0B28-4111-48DB-8CA3-72C11FD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7A5F0-20BE-45DC-A92F-9189A2A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Engineering polymer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AD2D2-E2A9-4B02-8841-730115E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Better mechanical performance than many simple plastics.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98C65-7145-4ACB-ABA6-0E3BE1E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D208C-967E-4732-870D-680D9643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5BABD-11A2-48AA-98C7-3C286D89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flexibility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C6B54-99E3-4733-8422-8F26C8F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3D printing can form complex nylon components.</a:t>
            </a:r>
          </a:p>
        </p:txBody>
      </p:sp>
    </p:spTree>
    <p:extLst>
      <p:ext uri="{BB962C8B-B14F-4D97-AF65-F5344CB8AC3E}">
        <p14:creationId xmlns:p14="http://schemas.microsoft.com/office/powerpoint/2010/main" val="4602965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A00A8-1544-49D6-9580-F8C9102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A42ED-15EC-4626-B172-2AC6235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CPVC improves PVC heat resistance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35307-9376-4BA8-82E3-32F52203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CPVC.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2B874-A89E-4D10-A157-89E4F8A9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EE80C-E59C-4E61-BCA1-A81B2E0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59A9F-E2E6-49CC-87C2-EB31130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65996-B469-4EAE-875B-8CFBC096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CPVC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FE429-EBD0-4F2B-9FE3-5671C175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AE7BE-F488-4431-8444-1E51D97B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CPVC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8BEC8-BC49-4FED-8D61-A1D1681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Chlorinated polyvinyl chloride is PVC with increased chlorine content, improving heat and chemical resistance compared with ordinary PVC.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A805-B923-483C-9685-03CE67B5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DBE00-F399-4BCB-A5A4-E121A417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PVC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B860D-8B89-4ADD-AE31-78CA007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E0A4A-4F10-4FBC-90C0-283915F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6F29A-FBFE-428C-B254-967D26D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Chlorination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6C9A8-8CDB-4ADF-B68A-8F662AF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B2B2A-10DD-4E55-9DE9-C782ADF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42771-429C-466B-9B40-26547BB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Heat resistance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47299-300B-47C6-BA0E-A1019B33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2C983-620A-4338-BE13-712D4FD5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A2830-F68D-47C4-9FD0-8876BEF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Chemical resistance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11DAF-CB13-4DEC-B800-1085C04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A6C52-30D2-4444-84E6-EDCDDA9F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31200-5CF8-4D58-BA34-157069B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Device use</a:t>
            </a:r>
          </a:p>
        </p:txBody>
      </p:sp>
    </p:spTree>
    <p:extLst>
      <p:ext uri="{BB962C8B-B14F-4D97-AF65-F5344CB8AC3E}">
        <p14:creationId xmlns:p14="http://schemas.microsoft.com/office/powerpoint/2010/main" val="15640125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2DE9D-CFEA-4965-AA15-2B95F363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84290-7CCA-4DBE-8D9F-7EEC9AA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CPVC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60A0C-8380-4A3F-9F76-6387563C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E86A0-C7AD-4164-8C6E-7DF7497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0EE9E-AC29-4E32-B668-A7A7105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45B5D-A5DE-4330-8EFE-C7F41F39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B633D-761C-410E-99F6-333D6462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CPVC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9BD5-8D0E-4F53-9B68-E5557A1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4D1C0-ADE2-43AE-9266-6B17C20D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A6374-14BB-4E7D-857F-B56CBAFE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PVC polymer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74EF6-86AB-4BD5-9F44-7E24F62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9705E-1DF1-410B-8799-B22CA58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B7060-2465-4E9D-8D02-38E2E63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Chlorination reaction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EE1B4-9623-466C-A45F-F5AD7D0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32367-E9CA-414D-9B1D-54FD225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4BB84-E27D-468D-958C-D2C1CE21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Higher chlorine 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A48D8-8670-4F9D-8E01-234ABCCF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D6A0E-520D-417E-81CA-1C528D0D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189B7-177F-4B31-A68B-03044EFD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CPVC 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C6BE3-F192-4B71-A687-3589814D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2C959-A923-412C-9927-3869DB72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F9ADE-59C6-4BE3-ABCA-3C80FCF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Improved thermal/chemical behavior</a:t>
            </a:r>
          </a:p>
        </p:txBody>
      </p:sp>
    </p:spTree>
    <p:extLst>
      <p:ext uri="{BB962C8B-B14F-4D97-AF65-F5344CB8AC3E}">
        <p14:creationId xmlns:p14="http://schemas.microsoft.com/office/powerpoint/2010/main" val="112266880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BAF7F-93E0-4776-B530-3ACA6B36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4DE06-BF41-4D26-A19F-011D924B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and device uses of CPVC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5D792-6766-42AB-8DC2-DA1D996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886F9-1C84-4E62-B019-1CFF772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806EF-4FA1-4BAB-A497-881CC7C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0BF0-16A0-4CA9-A2CB-0EB0BB4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52775-33A6-4C34-8A33-9199572A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CPVC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46FA7-58A5-47DC-BE96-5852D01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FC007-E8AE-407B-B9C7-786048C7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2A703-03D6-4F1C-AD61-8D9EA69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99EB3-A176-4FC5-8051-B4F0A65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Heat resistance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EE18C-AFE3-4572-9FD4-905ABA0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hot-water and warm-service parts.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EFEF-6E76-4E3C-8732-05BCC15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156B0-7895-4A04-B86D-770FEDB9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BF56C-1D53-4F22-8D55-8E1C771D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Chemical resistance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29354-C151-4E97-8E60-A0212EF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Resists many acids, bases and salts.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87261-5133-4FAD-8AC3-E5EE461C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B2940-D769-4746-B20F-10BCFA1B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0D26A-BE61-46D2-9C68-E169BFBA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Flame resistance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C6B95-6D3F-4894-A6A8-D455CE71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Chlorine content improves flame-retardant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4F25E-1B61-458D-B746-A55CD567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31C6A-B7E4-4263-8C0A-176432A9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8FD40-B2F7-4584-AA9C-76305293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Device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ECDD8-4D9A-47B6-A975-A9DB15FC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housings, pipes, insulating parts and chemically exposed components.</a:t>
            </a:r>
          </a:p>
        </p:txBody>
      </p:sp>
    </p:spTree>
    <p:extLst>
      <p:ext uri="{BB962C8B-B14F-4D97-AF65-F5344CB8AC3E}">
        <p14:creationId xmlns:p14="http://schemas.microsoft.com/office/powerpoint/2010/main" val="4380592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EE387-90F0-4ABA-976B-6F014BF8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956BB-912E-4B99-BBEE-85BE7BE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PMMA is a transparent engineering polymer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1B614-8D12-4F70-B0A1-9299309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46EF-BDE4-422B-9755-74B892F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121D2-B625-4D32-BDF4-38F6D45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97D2C-F6C7-4C88-8DB3-B8EDDEC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2B083-B2C5-4185-88ED-5D43EF6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E96AB-36CD-4E25-A655-A2585E6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0441B-0BB5-4BCB-A9E5-9EE8B37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PMMA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E69F8-0DED-4B2F-8A81-AF00766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Polymethyl methacrylate is a transparent thermoplastic known for optical clarity, light weight and weather resistance.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33AE4-D286-48DF-9CFA-0064C63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CB412-5F8A-4D8D-AEDD-CEAA2AB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Acrylic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B54C2-FB30-437A-BF89-311F809C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3F369-51BF-4CCD-A693-C0FD671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B57CC-2B5B-4D44-88E6-45627DC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Transparent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F5A50-2DD1-45FE-9CF5-E981BC26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D004F-4450-4076-BD60-EC0FDF5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B61D9-F7F0-48FB-8EFA-C266CEB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Thermoplastic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0E63E-3835-42E5-86F3-87DC4CE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A3555-9916-46B5-8C8F-6E9214E9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0D5CD-77F5-4E91-9DAA-2D4A99F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Optical clarity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C55AF-A849-40AB-B904-DDC904F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29992-2323-436E-A03C-8994A42D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6AFFD-04E6-4831-8F0F-6447C1FE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Lightweight</a:t>
            </a:r>
          </a:p>
        </p:txBody>
      </p:sp>
    </p:spTree>
    <p:extLst>
      <p:ext uri="{BB962C8B-B14F-4D97-AF65-F5344CB8AC3E}">
        <p14:creationId xmlns:p14="http://schemas.microsoft.com/office/powerpoint/2010/main" val="127512349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2EF71-3148-4717-AD20-B8AC88C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86E68-6B0B-4C88-963C-34A9102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PMMA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02EBC-C043-4C78-A694-A429174F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E5C86-57BA-4396-81EB-04DDB3C0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68EDA-C9B5-4D40-AC60-FC1C13A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CC53A-2A16-44E9-BE96-8D142D7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20D1F-8111-4A91-AC56-C6AE670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4B09D-2ACD-4789-875F-293EB437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74DBA-7D2D-478D-894B-3537974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9647A-2ADA-42EF-8D5D-B9BAF2CC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Methyl methacrylate monomer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7F416-90C1-4EC9-926A-72CE8A0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37525-9BA4-49DF-8F52-A0774681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55A0A-4C4D-4E44-B923-6ADBBBF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Free-radical polymerization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26FA9-CAA9-4076-8029-059E086F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8EE5D-3B0F-42AA-A653-89E84C4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E5723-C617-4D57-9BE8-38C0F830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Chain 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14A90-B123-4BCF-BBDE-A5F4640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1EF63-318C-4011-9D1E-5791140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3627C-5689-41BD-9806-6317BE04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PMMA polymer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7AA02-603C-4519-ADB5-3C53EFFD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955BF-715F-4240-AF29-A4BAB02C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A5DDD-25A9-4913-BBA6-6E2E30D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Transparent thermoplastic</a:t>
            </a:r>
          </a:p>
        </p:txBody>
      </p:sp>
    </p:spTree>
    <p:extLst>
      <p:ext uri="{BB962C8B-B14F-4D97-AF65-F5344CB8AC3E}">
        <p14:creationId xmlns:p14="http://schemas.microsoft.com/office/powerpoint/2010/main" val="211939822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2E869-13A1-4317-8621-138BF530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6A369-B67B-4109-870D-8008E22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PMMA properties and device 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A1DB7-3270-4F03-92C6-92390A8F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PMMA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46532-8E76-4BFB-A16E-A1EE35FC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AFD3-4C5F-4BDC-8BFF-3AB8A66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212E5-143C-4195-AC60-494E641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45720-E584-4507-A140-B1F1B32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E7C6A-5A9E-47EB-8657-BDFEC6D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87686-3AE3-4616-A3F0-818D3894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B144F-C9DC-4269-8CB6-2D8528F4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71FC-CAF8-4CEA-A86D-1EA70055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Optical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C93C9-6ECD-4BD4-92A7-61FD7FD0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lenses, covers and display panels.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4C16A-345E-4879-9CC6-38C97C9C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D0333-AF9E-4438-9DE7-D1C8804A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F8C7E-62BF-4C28-AA66-F68AD1FB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Light weight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6F345-5145-4AAE-B330-A3F7D84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Alternative to glass in many applications.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04010-F2F6-4CD1-ADAE-FB1C1DE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6F646-10A3-4B24-BC4E-D73FF480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6445-2C8C-428B-A30F-A3741B0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Weather resistance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68037-68B4-41C9-8B75-295A229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Good outdoor durability.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832FA-6B66-4F57-B411-5A14D3E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C5F91-479F-4896-B6B7-17CBB420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81EFB-D604-481A-B66B-304CE9C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Device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91137-DE11-449D-B093-AC754DB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Touch screens, optical windows, display covers and protective panels.</a:t>
            </a:r>
          </a:p>
        </p:txBody>
      </p:sp>
    </p:spTree>
    <p:extLst>
      <p:ext uri="{BB962C8B-B14F-4D97-AF65-F5344CB8AC3E}">
        <p14:creationId xmlns:p14="http://schemas.microsoft.com/office/powerpoint/2010/main" val="15320611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17638F-1D13-4B4C-9E9F-1B9DCD9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D7828-AD6C-47AD-93D8-D5C5C48E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Nylon-6,6, CPVC and PMMA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E4D-9F1A-4DDE-AE79-BC2B9DCC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Help students separate polymers.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8D72E-738C-4436-84F6-653CCE7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45ADF-5C8E-44AC-9362-8FD2373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CDB13-BC9F-45AB-B565-76E9798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D0075-5161-48DD-8182-703D1ACC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Polymer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33FCC-EB70-420D-ACF4-EBBB4405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B78F-EC88-41B7-8DAD-2861669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676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FE41-20F7-4BA7-B1D6-C0288492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Polymer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7F875-1FEF-48C8-9BB2-DB90FB6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38300"/>
            <a:ext cx="2676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3FE92-2E7F-486B-A932-4ABF0F71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621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Key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C8F8D-C73C-4EFF-8893-9EBB12A3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2676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60241-296B-4B6B-8A76-9281676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Main property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428F5-60D2-4F4F-B976-B9201708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638300"/>
            <a:ext cx="2676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D6245-9ABE-4400-B4EE-A510D8CA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621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Device/application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9CB13-08FE-4001-9890-2ED49C65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26602-2A1D-40F1-AE9F-EED0F34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Nylon-6,6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1D44B-DC8E-45F0-931E-D82654B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526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81ED7-B05E-4251-B095-5935BCA3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38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Polyamide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68C4B-C4F0-4789-8529-15240E83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16AAE-5BD6-42BC-AE10-434E54B5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Strength and wear resistance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F02AE-51FD-4E1A-8E4B-D81C133C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526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19341-B35D-42B0-900D-EB0BA82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3D printed engineering parts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FCF2A-C878-42CD-9B70-C69B630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1C7D3-B8AB-4529-9320-F4B7A80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CPVC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E9BB6-5BEC-4CCB-B63C-245AEA9F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0510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B90F7-6B36-4563-A430-E14765D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90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Chlorinated PVC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E0094-1CDF-44EC-A6BB-E8679399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E13FD-45F4-4803-92CC-608281D3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Heat and chemical resistance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6467B-ABE0-4DFC-981C-19F1E49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0510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23D6C-6F03-4760-9FB6-32EBB7C9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90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Protective/infrastructure parts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80845-A7AF-4584-867E-4AE3B5D2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D1B2FB-D9BF-4188-A808-ADAD576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PMMA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342A27-A2AF-48F4-A3AC-F83B44A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575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34167-3E16-4FB7-AE47-D841BE2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432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Acrylic thermoplastic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668FC8-9E90-4B99-B59F-77FF7522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7241AB-1C11-41B5-9AE0-2E9C0628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Optical transparency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30F5B3-9041-4B50-9386-7BADDE4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2676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DC8908-CE99-4912-82C5-0C9A125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432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Touch screens/display covers</a:t>
            </a:r>
          </a:p>
        </p:txBody>
      </p:sp>
    </p:spTree>
    <p:extLst>
      <p:ext uri="{BB962C8B-B14F-4D97-AF65-F5344CB8AC3E}">
        <p14:creationId xmlns:p14="http://schemas.microsoft.com/office/powerpoint/2010/main" val="5754867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5BAB5F-46A4-4CCE-9BB5-6E1CF483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ABC46-17FF-4231-9C75-42B0954C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conducting polymer?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4C5B6-E25F-4522-A56A-5B53984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conducting polymers.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7F986-3EF5-48D0-8186-5225E1F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777D0-040B-4FF6-A1AC-E0D21142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DFC1-E4E6-4F0D-A413-A8ACC06D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866FC-D4B4-458F-B260-B4472387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Conducting 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75340-CA14-407C-8D7D-542D11D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608B7-7DA7-42B0-86D4-DE676D2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Conducting polymer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B9EE3-4AD4-4F45-BF46-1C029623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conducting polymer is an organic polymer with a conjugated backbone that can conduct electricity, especially after doping.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DF5DE-F24D-4843-BF82-1F9BDE68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C6AD5-8000-4127-8EBA-B2A5609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Conjugation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A7485-75A0-461F-A001-6D1BC9B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18827-0B22-4094-9CCE-00E5F1C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4D60E-595C-4B95-A59D-9973F05D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 electrons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674F9-2146-4C89-B459-08734C9E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FD552-45F0-43B0-9119-2875E77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513F5-0C13-4565-8D50-224521A5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4494C-BCB7-4686-9253-E862C1E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843CC-C70F-42E5-AF63-E257F32D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0B90C-B50C-4873-8F29-47848F5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Charge carriers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98775-0D62-4547-BD29-5C40504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0E6CB-6A67-4919-B175-B6B3A25B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F7B1F-5204-4653-AFB9-080BFA3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Conductivity</a:t>
            </a:r>
          </a:p>
        </p:txBody>
      </p:sp>
    </p:spTree>
    <p:extLst>
      <p:ext uri="{BB962C8B-B14F-4D97-AF65-F5344CB8AC3E}">
        <p14:creationId xmlns:p14="http://schemas.microsoft.com/office/powerpoint/2010/main" val="162187371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66874-139F-40A3-9F61-45DA82F1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4FA7C-B3DA-401E-9B26-107EDA65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conjugation enables conduction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F712-4474-4BB2-A9F6-A370E426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conduction basis.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81E97-E579-4FD4-9D28-D97A5146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B602-0310-403D-8E57-FF87362D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1D7B-7BE1-4761-8375-7A0E9FDC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9D271-0465-4D69-BC2E-EB72F4D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Conducting 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63611-CDB0-4860-8828-07794C3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75F55-0632-4F8D-9477-94ED98A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E934B-F359-44FD-8BDE-CF5CBB6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Alternating single/double bonds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65873-D83B-45BB-89BB-18C919E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7154F-CC8B-4260-8B45-D8A3278B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F94DB-0D34-4D95-AA5F-E81CDBD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Delocalized pi electrons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96DF6-55BF-430F-8ADD-63A9C2AB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EC5D8-051F-4849-A221-036DB38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CB930-FCE6-4124-8B04-0619A1F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Doping creates charge carriers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21E03-FDC1-48E9-990C-3DDFBAF0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C2D8D-F3C5-438A-8F0A-15A510E0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62B9E-1F12-4B74-AF46-E9542B26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Carriers move along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F08BE-73D1-4032-AEDB-B5C0375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B5237-66F2-4BC1-96FC-FF3EBD3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ABDBB-2AB7-4B93-93EC-D607664E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Electrical conductivity rises</a:t>
            </a:r>
          </a:p>
        </p:txBody>
      </p:sp>
    </p:spTree>
    <p:extLst>
      <p:ext uri="{BB962C8B-B14F-4D97-AF65-F5344CB8AC3E}">
        <p14:creationId xmlns:p14="http://schemas.microsoft.com/office/powerpoint/2010/main" val="114646426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D31E6-3111-44A3-BA65-5308AB5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F2D2E-5BED-4906-8983-86F1C53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Polyaniline is a key conducting polymer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369BD-7D5B-45CB-B451-CEEA396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PANI.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5B731-A20F-4E15-BCE7-1E33F46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FB1CD-C508-4A96-874E-F764A3B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6B1FA-2702-4587-9105-1BB1946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C2AB1-85F2-42EE-94B3-F2A669B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Polyaniline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FE015-9F3A-4A7C-BE1F-3A699C5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C9482-3384-4BFC-A230-CF896F59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Polyaniline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74D1B-D21F-4A4E-92CA-1C62AA13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Polyaniline is a conducting polymer obtained from aniline; its conductivity depends strongly on oxidation state and protonic doping.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59E13-B035-42C5-94C4-8370A4C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169BE-895E-4E2F-BDC8-C06FD861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Aniline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49BA4-4411-41F6-84D2-4CDF90C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AC5AF-3B7D-4979-BCED-F9DEFD21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ACB06-87C0-450C-9369-74339A06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Oxidative polymerization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B9E5A-A416-46F9-9F4E-D3805CDF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C845B-B2E0-4D12-A31B-1D58C145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D3B87-73FA-4345-A130-BDA4EF9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Emeraldine salt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20E30-DEFC-4FB4-A277-F03D1D5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C44E9-3E28-48CE-B2D9-ADD80F1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D7BE2-DB39-485D-91A7-5D0E50CF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1423D-9FCE-44AC-A6D7-A1665CF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41BF6-D703-445D-870D-F3EF474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9F2DB-9F3D-4EC8-839E-0F18DFC2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Conductivity</a:t>
            </a:r>
          </a:p>
        </p:txBody>
      </p:sp>
    </p:spTree>
    <p:extLst>
      <p:ext uri="{BB962C8B-B14F-4D97-AF65-F5344CB8AC3E}">
        <p14:creationId xmlns:p14="http://schemas.microsoft.com/office/powerpoint/2010/main" val="26895140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502E2-F57B-4959-98DC-115E187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47A6-5446-4590-AAF1-08BF359B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polyaniline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5F4E7-5F02-41DD-B66D-A7A1796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249A1-5D12-4F02-8645-551B76C2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97FAC-0519-4CB8-98E8-5DC72D9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CD3FB-8B9A-4217-B8F4-18B9701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E156D-BD94-41E2-BC0A-8A569CC2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Polyaniline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2B6AD-BB11-4E57-9271-E45134A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07BD1-CF05-4640-9F70-E38735F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37DC2-2E6E-4EF1-A325-2B2B357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Aniline monomer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E9BD1-E9EA-4AFE-8F48-36CD712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33F2-1581-4B66-B47C-3C74CAC9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4118C-B5B7-4374-A88C-D21C7D59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Acidic 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5713-3594-44AC-B595-6D99F17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F14EE-627B-44A2-A53F-C0E5EB78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61EC9-E505-42DE-86A7-EEAD66E6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Oxidizing agent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74AC8-FD7D-492B-A6B8-D365F8C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3A365-064A-471C-A394-2238848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85D7B-B530-485D-98A0-8615166D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Polymer chain forms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B1226-88FB-4C8F-9332-3F73EDE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60B12-A833-4345-881E-826C74F2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C2E47-5381-467C-91F1-3D19257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Doped polyaniline obtained</a:t>
            </a:r>
          </a:p>
        </p:txBody>
      </p:sp>
    </p:spTree>
    <p:extLst>
      <p:ext uri="{BB962C8B-B14F-4D97-AF65-F5344CB8AC3E}">
        <p14:creationId xmlns:p14="http://schemas.microsoft.com/office/powerpoint/2010/main" val="517008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99BD7-52ED-42C0-8F03-E2AE6FB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9AC50-DF37-4382-B887-C095C6D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Polyaniline conduction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CB9A-F5C2-470F-8D38-213F3C4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PANI conduction.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270B9-FB2A-45E3-B1BB-F06C35A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0BD7-3D18-409C-AA39-3E39B5C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483AD-8A52-47E5-BA32-7F543602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5338B-5C5E-44AB-BE76-0A1E8A74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Polyaniline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89C94-4B92-44C0-8E6D-5A31B1EB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C0083-BBB4-441B-AD57-A9B798E4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9F678-22F9-4A5E-8F70-C3D29BD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Conjugated backbone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287B4-4F50-4308-A018-56FCCE94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9EE64-995B-432B-9B2A-D9785D35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A62A6-3E6B-4E03-97EF-98A88D83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Protonic acid doping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32D79-F231-4B75-94EA-BBE9354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3AD7C-2579-4425-A84A-EEB08961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5FA45-6388-492C-996F-E96CEF8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Polarons/bipolarons 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36EE1-999E-4337-98C7-3E9ACBB4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9BFE9-B817-41A2-BE18-81AD8A7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FD2A8-216A-4830-9D2E-F1A5F38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Charge moves along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2CA38-F076-4720-ABEB-5992F2F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1DE48-C48B-40D5-BCB9-BE711786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36A93-1EF0-4F6D-8DFE-EA2C6981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Conductivity observed</a:t>
            </a:r>
          </a:p>
        </p:txBody>
      </p:sp>
    </p:spTree>
    <p:extLst>
      <p:ext uri="{BB962C8B-B14F-4D97-AF65-F5344CB8AC3E}">
        <p14:creationId xmlns:p14="http://schemas.microsoft.com/office/powerpoint/2010/main" val="47372648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312B5-E3E9-4769-8F38-57A56F0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270A-B3CD-4D88-B60B-A555FBE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Engineering applications of conducting polymers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015B-4F08-4C3F-B5E5-80C7B704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7BFE6-F394-4707-ADC1-C41B074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651B0-EA20-4F55-97DF-09AE54F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947BF-50D4-468F-9148-BBA4BD77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6169-65BF-4747-A263-99CCD0A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Polyaniline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7AFE5-F1BF-42E6-9F7F-E421BDE5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D20E2-12BD-42A6-BF0B-D764DB49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2B720-1916-4141-AA98-6D7AFE0A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AF1C8-2DB6-4DCE-A42E-6749178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Antistatic coatings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4398C-2597-4EC6-AA23-20F4507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Dissipate charge on surfaces.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4E113-80EC-47E3-9027-E30B51F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1B557-1391-49D3-AEB6-5C588DBA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95EFA-453E-44C0-A407-E7DFAC5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Sensors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56D2B-75D7-415D-AD4F-F457F09A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Conductivity changes with gases, pH or analytes.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22288-3CC9-4751-B233-C078EA4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6A8EC-5995-4C8C-B7F1-59A69C5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EEBD2-4FAD-4309-97DC-C4D91CC4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Energy 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62BF5-F509-49EA-A055-257C2AC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Used in electrodes for batteries and supercapacitors.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9B285-F338-43FD-9704-E5BA4F1F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39727-1D1F-44EA-B9BF-70ACE155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6D51C-8524-4E40-B6D1-1530C239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 electronics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B1056-C55D-4B16-8799-98CB16B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Organic conductive layers for bendable systems.</a:t>
            </a:r>
          </a:p>
        </p:txBody>
      </p:sp>
    </p:spTree>
    <p:extLst>
      <p:ext uri="{BB962C8B-B14F-4D97-AF65-F5344CB8AC3E}">
        <p14:creationId xmlns:p14="http://schemas.microsoft.com/office/powerpoint/2010/main" val="1711655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7E0B97-EA0C-492E-AD4E-E71308F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B47E7-D834-4C44-AB18-0BCCFC8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Conducting polymers vs metals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FF939-FE7C-4A13-8854-17DA4C4B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094CF-A1AC-4BFE-A4DC-56AEBFE6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A0BDF-027B-4636-9B25-5F01D04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CBBBC-2149-4F38-87A4-F30DE8E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3940C-DEEE-433D-8090-524B3AC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Conducting 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E8DFD-F63E-4102-88F2-0E3A43E3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EE8FF-A24E-4036-9A46-EBFF477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9525F-57F9-4B8E-90E5-3AEDA23F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1978C-6DCD-41B6-8B10-9DD3C08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Metals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75250-FD0D-4090-B6DD-F728795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EC73C-4716-4224-9210-97B7254A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D36CE-904F-4B23-B8D1-F004854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9367D-F72E-404D-8360-1585043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Conducting polymers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8BE76-6439-4011-A386-E9C754BF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1543E-A294-4C9B-BE6E-57F8AF33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C94F6-BD35-4968-BA8E-18D6B36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341CE-4465-47AE-AF14-AF56EEF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Free-electron conduction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05E5E-A350-465A-ADB6-66D356D7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24276-59E3-4271-8D32-1EAC5C4C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5F255-F820-4252-94ED-E0B169C0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 conductivity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4AF85-4899-4501-8C2E-EA6B543F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03256-53B0-4311-AB22-B04D711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3AEE8-817F-4638-86B1-ADCE9C8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Rigid and dense in many forms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2CC5E-25B4-4FE5-8292-854A090E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979FB-F9D8-4D47-9180-71B1CE8F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B8451-6547-42F1-B315-9A45438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Mature electrical materials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F259B-A2AA-46F7-9445-01A68A5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CF002-4188-4594-966B-9C12B4E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3BBF6-2321-4880-934C-6B26EAF5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Conjugated-chain conduction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41DA5-1ADA-4D20-AB6B-BE1E818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FE6E7-C6BA-4D9E-BB89-37EAF00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F0625F-9D73-45C1-A9C6-655FC65D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Conductivity enhanced by doping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F97C5-C10E-4DEB-A0C0-B783540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9A8946-8EDB-4732-B88A-C635CDA8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2F0E77-5E04-447C-A043-DF28CF3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Lightweight and processable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EE813B-1B63-4C15-A59C-593A081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7094F5-A0C6-4537-95E7-7B8C09CD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F7ED-E5A0-45BB-8C27-C5F8D6D3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Useful in flexible/sensor devices</a:t>
            </a:r>
          </a:p>
        </p:txBody>
      </p:sp>
    </p:spTree>
    <p:extLst>
      <p:ext uri="{BB962C8B-B14F-4D97-AF65-F5344CB8AC3E}">
        <p14:creationId xmlns:p14="http://schemas.microsoft.com/office/powerpoint/2010/main" val="151171718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FCE6B-0CC5-4395-8C37-DEBBAB5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BF1AF-7E10-46D7-87B4-4A013F54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mistakes in 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FA81-4FF3-4E26-9249-84A8E475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likely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80636-34D3-49A5-9DF8-76F4B96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72067-251A-4F4B-A502-DE374B6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BA89E-F0E1-4A3F-87F0-D2B08F5E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C8828-ACC3-4325-BE2E-481450C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EED4-039F-4B75-A801-1CB44A7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7DC8-E606-4F5C-9A3D-F5979504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4177-2559-4EE6-A9DA-D7C18B6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1FB9-7B64-4417-AB28-44EF8F2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Saying all nanoparticles are quantum dots; QDs need quantum confinement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8BE4-AB14-441E-9AF1-60E0588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932D0-3CDC-4515-BF2C-82C3C30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4F787-4064-4A85-8282-3E128010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smaller QDs usually have larger band gaps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F73D5-358A-4421-BAE5-E0EA76D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B7A61-5CD2-4FE7-BA5D-23F208C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31644-6F6A-4FB2-84E7-EFD54E5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Mixing Mn and Mw formulas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52A11-5562-47B9-913C-BE735FE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4A7AC-57EE-494D-A756-A9D4D68A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A103D-5EDA-4983-9905-C376EF66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Writing polymer uses without structure-property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6D003-870C-4821-82E1-C1F5344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94F4C-8361-4A1B-A62B-D207C15C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0EABC-8257-47BD-A834-84DEB302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Confusing nylon-6,6 condensation with PMMA chain-growth polymerization</a:t>
            </a:r>
          </a:p>
        </p:txBody>
      </p:sp>
    </p:spTree>
    <p:extLst>
      <p:ext uri="{BB962C8B-B14F-4D97-AF65-F5344CB8AC3E}">
        <p14:creationId xmlns:p14="http://schemas.microsoft.com/office/powerpoint/2010/main" val="54410066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9EC34-D25F-4D88-BDEA-E691662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A624-C607-4FAB-9B6F-80C8CC52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material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A5C85-D9B7-42D6-BB29-EDDE1529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answer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2E6C5-73E0-40A6-966F-0F5ADBA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4C2FD-F112-4ECA-9784-8240F9F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5927A-54C7-43A6-A270-FD41EAA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3AB01-71D1-46E7-82CD-0D01C1C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DA8D3-F7B8-44BE-853E-C86216E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3933A-2EDF-4718-A139-10B5E82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15E33-084A-4040-A5A9-9250585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F156B-47D1-4BAE-AE35-FB3A92AC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5CE7D-ED1A-4C60-875C-632D14C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D48F9-9015-4DBD-BFB6-BA13F43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Structure / synthesis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DA8CD-8FF6-4F87-A374-FA4A894E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07DB2-3D64-46F4-804C-14F4BB57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AB8FB-B4CF-42E6-880E-EE840E6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Key 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00A4-7764-4F8D-8C9E-0EFED92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956DC-E53D-493F-8160-0EA5627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D236C-5D95-4B8D-8CA8-15D1D43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Working / mechanism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26449-5731-498E-9AF0-ED3B25C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8FC04-1617-4095-A13B-3E0FF95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A7A74-6845-49EB-9DB1-5E2592C1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20209713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35E66-A3D5-43EC-8432-AF335925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ED893-BB49-4ADE-840B-8EBC11F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1047F-831D-484E-AEF9-7BD3E7A5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51E0B-44C2-4454-A0B0-79CC7F9C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65812-7624-45BB-A4DC-3A563285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C3665-E8F2-45CA-A5E7-6249E48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A7934-1E40-44BF-86B0-46D2751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ACAE8-46FF-4851-9543-B174F19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36F2-8AA5-4EBC-86C7-3207A9B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16CB5-11F3-4407-B090-18E260B1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D9EDC-D344-45B4-8CAA-10287AE2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57001-A6F9-4E57-8B2E-D17E0C06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089EE-2393-400D-BF1D-B20A6432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Quantum dots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E7E2E-6FF8-45B2-BB1F-5A5353FF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Size effects.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A461F-DB3C-4AD8-A4EB-1EDE6CB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4EED0-E344-4C30-9190-DF32228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E97A2-7D53-4B83-B312-359FC81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Cd-Se QDs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C0F0F-6DF2-43D9-B8AB-24C9C18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Wet synthesis.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0EB96-E86A-4FA6-9661-F1A4ECEA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1D8DF-A0ED-455C-BA27-6D1DCC6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6DA37-F914-47AB-A7DA-6C8C74D9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QDSSC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CB775-2DF6-474C-BB5E-5AAE65F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Solar device.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FFE49-9340-4106-BCC1-E91077A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E7037-7C77-46A5-ABA3-58C3463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4F2B4-B207-494D-9E8C-0CABD669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Molecular 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059F2-2BB4-4D44-95EC-03092681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Mn and Mw.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5FF28-3AF9-4B69-9554-F9B42988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A412B-B78B-43AC-BE0A-5C177058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EE565-7C71-48BE-A28E-02F1294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Polymers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AD775-D23F-438A-BA8D-5D0F17C0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Structure-property.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2B0B5-CEBB-4068-8640-FF7A0B4F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270B-BB9F-409E-A0AD-7CC5971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6CA1C5-2C2F-4ED4-862B-6F3B0FF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PANI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D2BFD7-4633-4884-B74B-073B1CB8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Conducting polymer.</a:t>
            </a:r>
          </a:p>
        </p:txBody>
      </p:sp>
    </p:spTree>
    <p:extLst>
      <p:ext uri="{BB962C8B-B14F-4D97-AF65-F5344CB8AC3E}">
        <p14:creationId xmlns:p14="http://schemas.microsoft.com/office/powerpoint/2010/main" val="164983157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5CF05-05AE-4C5C-86E2-CDA4DEF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4446E-C3CB-45AA-8719-E61D68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634BB-C271-48EC-9087-01D1985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7DAE9-FEB8-4DAB-B1DC-56EF895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35150-6B2B-4DF7-900E-F1E752BA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9C358-BEFF-445C-84E7-A2A8550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2892A-F178-447D-AF7E-C426E54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24675-A8CA-4B5A-BFF6-3209DB4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61210-D2B9-4BB4-A27B-62352C17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quantum dot?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9532C-08CB-4C3F-84C0-8C5BFD2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quantum confinement?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5292E-6439-4CFB-B4A8-21F6A3C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Smaller QD band gap?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740B7-6CD3-4A2B-9F81-D5C63E0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surface-to-volume ratio?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222E3-6D83-4BD7-85E4-5BD7081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Cd-Se QD?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6F37-4790-46F5-AAC5-EE265BD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Wet chemical synthesis steps?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5B80B-52B9-4809-8C3D-2FE615F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What is QDSSC?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519A7-8321-4EE4-98E6-1CC3C6A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QDSSC working?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04ED9-2456-442F-84C3-9CDD7FE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Define polymer.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8A601-D512-40F3-BC85-9848FC4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Define Mn.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91D5D-3EC0-4F3A-BEB0-D11CE074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Define Mw.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AC847-1EED-4BA9-B29E-0213137B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What is PDI?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960CE-92B5-484C-A6B9-22C6963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What is crystallinity?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198B8-D397-405F-B725-D53179B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What affects polymer strength?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E541F-006F-44D7-B93E-50E287C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What is nylon-6,6?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558F6-5F92-44A6-82CA-BB728B53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Uses in 3D printing?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FD85B-46EA-4643-9F0F-11128D65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CPVC?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3CFBD-FF85-46F3-8E4D-9501F11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PMMA?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23695C-9D20-4985-BCEF-36DF38CE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conducting polymer?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15E8C-D715-41C3-A07A-992BBEE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What is polyaniline?</a:t>
            </a:r>
          </a:p>
        </p:txBody>
      </p:sp>
    </p:spTree>
    <p:extLst>
      <p:ext uri="{BB962C8B-B14F-4D97-AF65-F5344CB8AC3E}">
        <p14:creationId xmlns:p14="http://schemas.microsoft.com/office/powerpoint/2010/main" val="32266469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C74FC-E179-4C39-B39F-E81D9A50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8F03-4760-4F8D-887C-6519E27D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exam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B26AC-2884-4B40-AAD1-C79B365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practice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9004-DB70-4246-9E85-61AA68D8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E3E8-2581-44D9-8B82-F51A262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CC412-D83A-4882-9405-2BF9BB02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54812-CF8E-4755-8840-3583C6CF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64138-9641-4CA0-99E5-6CF8135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78B33-5EAE-4450-AD78-249FA04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quantum dot.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D3CB7-14A9-4054-9EB2-C66FA46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What is quantum confinement?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F7B15-1E47-4707-9205-C4A117E0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Define Mn and Mw.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31051-E3BE-44D3-9858-DA29FF02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Define conducting polymer.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1B3DE-F7B8-4EE3-A351-37180876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What is PMMA?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0D697-C52E-4110-8DD5-3A26FC2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size-dependent properties of quantum dots.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1D3DA-8B96-4EAE-BB1C-64146DE2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Cd-Se QD wet chemical synthesis.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BF3E7-D454-47F2-8FC6-298A3A07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QDSSC construction and working.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AC431-745B-48BD-80C0-3424A404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polymer structure-property relationship.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54A2C-C119-45D4-9CEC-85686E5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synthesis and properties of nylon-6,6.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B5484-1EE8-443A-BD90-110FB5E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quantum dots, properties and applications.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CDEC6-7EFC-4738-A12D-07AE92B9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QDSSC with construction and working.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C01DA-9A84-49E9-8208-4B5467D3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Solve polymer molecular-weight numerical problems.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288D1-D303-4A72-A77B-53DD05A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Explain CPVC, PMMA and nylon-6,6 with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2AEAA-0246-4AD2-82A2-C18D9BC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10M: Explain synthesis, conduction and applications of polyaniline.</a:t>
            </a:r>
          </a:p>
        </p:txBody>
      </p:sp>
    </p:spTree>
    <p:extLst>
      <p:ext uri="{BB962C8B-B14F-4D97-AF65-F5344CB8AC3E}">
        <p14:creationId xmlns:p14="http://schemas.microsoft.com/office/powerpoint/2010/main" val="174634501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C0962-1F21-4754-8C90-D788DE9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9A3BE-4DCA-411B-958B-A0D5E69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AE1A4-F02C-4075-81CD-606D62D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F3E81-C7F0-4A8A-A276-A218F1E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07972-51F8-4110-86CB-17742A8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D2700-966E-4937-A022-36A9F6F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A6DC5-7DEC-46FC-9BDB-228004E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582F7-CECC-4B76-B8B8-7E845109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2310A-EC89-43BA-A1E7-68815594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0B91A-519E-4B99-9B65-D7AC85CC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493A2-5DBE-4468-B565-C45F533B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FDBF6-C561-4E32-9DB3-C1430448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Quantum dot; nanocrystal; quantum confinement; exciton Bohr radius; surface-to-volume ratio; band gap; blue shift; red shift; Cd-Se; wet chemical synthesis; precursor; nucleation; growth; capping ligand; QDSSC; photoanode; TiO2; electrolyte; counter electrode; polymer; monomer; repeat unit; Mn; Mw; PDI; crystallinity; strength; elasticity; chemical resistivity; nylon-6,6; adipic acid; hexamethylenediamine; polyamide; CPVC; chlorination; PMMA; methyl methacrylate; conducting polymer; conjugation; doping; polyaniline; emeraldine salt; polarons.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54C4F-74C1-4A00-A352-3ECBEDF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8C847-D58C-4917-ABF4-47EC18D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613F5-D79A-4BF9-ADF5-184DA3F3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16966-C185-4784-ABB0-F57FF35C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For every Module 2 answer: start with definition, show synthesis or formula, explain structure-property relation, and finish with applications tied to smart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145CB-A110-4FF9-ADA0-7E9AA483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772F8-BD7B-4A80-A326-8F6AE580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F530A-A88B-4150-B52A-E0B3D10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4ACD8-9BCC-4BC1-919C-E5FFB3EC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Size controls quantum dots; chain structure controls polymers; doping controls conducting polymers. Keep linking structure to property.</a:t>
            </a:r>
          </a:p>
        </p:txBody>
      </p:sp>
    </p:spTree>
    <p:extLst>
      <p:ext uri="{BB962C8B-B14F-4D97-AF65-F5344CB8AC3E}">
        <p14:creationId xmlns:p14="http://schemas.microsoft.com/office/powerpoint/2010/main" val="89064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2026-08-12T04:31:06.4790000Z</dcterms:created>
  <dcterms:modified xsi:type="dcterms:W3CDTF">2026-08-12T04:31:06.4790000Z</dcterms:modified>
</coreProperties>
</file>