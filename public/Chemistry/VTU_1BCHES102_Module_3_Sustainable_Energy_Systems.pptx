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adbb04193488b" /><Relationship Type="http://schemas.openxmlformats.org/officeDocument/2006/relationships/extended-properties" Target="/docProps/app.xml" Id="Rcaed6302e4a54b26" /><Relationship Type="http://schemas.openxmlformats.org/officeDocument/2006/relationships/officeDocument" Target="/ppt/presentation.xml" Id="R514d60d14420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e9308afd884a63"/>
  </p:sldMasterIdLst>
  <p:notesMasterIdLst>
    <p:notesMasterId xmlns:r="http://schemas.openxmlformats.org/officeDocument/2006/relationships" r:id="R5a3ebcc6022e42ae"/>
  </p:notesMasterIdLst>
  <p:sldIdLst>
    <p:sldId xmlns:r="http://schemas.openxmlformats.org/officeDocument/2006/relationships" id="256" r:id="R27dda60b2d384331"/>
    <p:sldId xmlns:r="http://schemas.openxmlformats.org/officeDocument/2006/relationships" id="257" r:id="Rd39f3af0a46a49d6"/>
    <p:sldId xmlns:r="http://schemas.openxmlformats.org/officeDocument/2006/relationships" id="258" r:id="R5e7bace989554151"/>
    <p:sldId xmlns:r="http://schemas.openxmlformats.org/officeDocument/2006/relationships" id="259" r:id="R345cf96134774df4"/>
    <p:sldId xmlns:r="http://schemas.openxmlformats.org/officeDocument/2006/relationships" id="260" r:id="R982645acddc34772"/>
    <p:sldId xmlns:r="http://schemas.openxmlformats.org/officeDocument/2006/relationships" id="261" r:id="R5a09549d91f74aea"/>
    <p:sldId xmlns:r="http://schemas.openxmlformats.org/officeDocument/2006/relationships" id="262" r:id="R69cc50d021ce4042"/>
    <p:sldId xmlns:r="http://schemas.openxmlformats.org/officeDocument/2006/relationships" id="263" r:id="R2b3d80c9df0741c0"/>
    <p:sldId xmlns:r="http://schemas.openxmlformats.org/officeDocument/2006/relationships" id="264" r:id="Rf53aa2932a324a8f"/>
    <p:sldId xmlns:r="http://schemas.openxmlformats.org/officeDocument/2006/relationships" id="265" r:id="Rf17b3c481e044ed6"/>
    <p:sldId xmlns:r="http://schemas.openxmlformats.org/officeDocument/2006/relationships" id="266" r:id="Ra6945f1985454646"/>
    <p:sldId xmlns:r="http://schemas.openxmlformats.org/officeDocument/2006/relationships" id="267" r:id="R53cbfb9554544520"/>
    <p:sldId xmlns:r="http://schemas.openxmlformats.org/officeDocument/2006/relationships" id="268" r:id="Rc5f6ead369e3405e"/>
    <p:sldId xmlns:r="http://schemas.openxmlformats.org/officeDocument/2006/relationships" id="269" r:id="R48b7cfc97f844076"/>
    <p:sldId xmlns:r="http://schemas.openxmlformats.org/officeDocument/2006/relationships" id="270" r:id="R3947fcb6c4b74a64"/>
    <p:sldId xmlns:r="http://schemas.openxmlformats.org/officeDocument/2006/relationships" id="271" r:id="R2916202838674f07"/>
    <p:sldId xmlns:r="http://schemas.openxmlformats.org/officeDocument/2006/relationships" id="272" r:id="Red96df90a3bd41b0"/>
    <p:sldId xmlns:r="http://schemas.openxmlformats.org/officeDocument/2006/relationships" id="273" r:id="Rb9f745645e1e4844"/>
    <p:sldId xmlns:r="http://schemas.openxmlformats.org/officeDocument/2006/relationships" id="274" r:id="R05a00a3cbc574048"/>
    <p:sldId xmlns:r="http://schemas.openxmlformats.org/officeDocument/2006/relationships" id="275" r:id="R76ddae8f66014f68"/>
    <p:sldId xmlns:r="http://schemas.openxmlformats.org/officeDocument/2006/relationships" id="276" r:id="R09ea6d33757f49e1"/>
    <p:sldId xmlns:r="http://schemas.openxmlformats.org/officeDocument/2006/relationships" id="277" r:id="R6922d09048b94b66"/>
    <p:sldId xmlns:r="http://schemas.openxmlformats.org/officeDocument/2006/relationships" id="278" r:id="Ra3b0caaaab8649e9"/>
    <p:sldId xmlns:r="http://schemas.openxmlformats.org/officeDocument/2006/relationships" id="279" r:id="Re9091eeda2654e93"/>
    <p:sldId xmlns:r="http://schemas.openxmlformats.org/officeDocument/2006/relationships" id="280" r:id="R693f6785fc774c47"/>
    <p:sldId xmlns:r="http://schemas.openxmlformats.org/officeDocument/2006/relationships" id="281" r:id="Rc74241564aaf4b10"/>
    <p:sldId xmlns:r="http://schemas.openxmlformats.org/officeDocument/2006/relationships" id="282" r:id="R5dda4448115e4a01"/>
    <p:sldId xmlns:r="http://schemas.openxmlformats.org/officeDocument/2006/relationships" id="283" r:id="R7543d267c12c4964"/>
    <p:sldId xmlns:r="http://schemas.openxmlformats.org/officeDocument/2006/relationships" id="284" r:id="R4c825aac77154900"/>
    <p:sldId xmlns:r="http://schemas.openxmlformats.org/officeDocument/2006/relationships" id="285" r:id="R9e16f31046a54bdb"/>
    <p:sldId xmlns:r="http://schemas.openxmlformats.org/officeDocument/2006/relationships" id="286" r:id="R602721a7dd674d41"/>
    <p:sldId xmlns:r="http://schemas.openxmlformats.org/officeDocument/2006/relationships" id="287" r:id="Ra31fc41374c44b7d"/>
    <p:sldId xmlns:r="http://schemas.openxmlformats.org/officeDocument/2006/relationships" id="288" r:id="Rdd04ee999b92446e"/>
    <p:sldId xmlns:r="http://schemas.openxmlformats.org/officeDocument/2006/relationships" id="289" r:id="R89d124a6e09c4b36"/>
    <p:sldId xmlns:r="http://schemas.openxmlformats.org/officeDocument/2006/relationships" id="290" r:id="Rc5e5e54f387a4417"/>
    <p:sldId xmlns:r="http://schemas.openxmlformats.org/officeDocument/2006/relationships" id="291" r:id="Rb2f4fbfd229e4a25"/>
    <p:sldId xmlns:r="http://schemas.openxmlformats.org/officeDocument/2006/relationships" id="292" r:id="Rfd4057562f1042b7"/>
    <p:sldId xmlns:r="http://schemas.openxmlformats.org/officeDocument/2006/relationships" id="293" r:id="R8cfb39e5878a4681"/>
    <p:sldId xmlns:r="http://schemas.openxmlformats.org/officeDocument/2006/relationships" id="294" r:id="R008236cebe764e33"/>
    <p:sldId xmlns:r="http://schemas.openxmlformats.org/officeDocument/2006/relationships" id="295" r:id="R51d0be6aa8124984"/>
    <p:sldId xmlns:r="http://schemas.openxmlformats.org/officeDocument/2006/relationships" id="296" r:id="R99d712a5f24444a1"/>
    <p:sldId xmlns:r="http://schemas.openxmlformats.org/officeDocument/2006/relationships" id="297" r:id="Re132eac74ad749b6"/>
    <p:sldId xmlns:r="http://schemas.openxmlformats.org/officeDocument/2006/relationships" id="298" r:id="R145a0e5a7ad34918"/>
    <p:sldId xmlns:r="http://schemas.openxmlformats.org/officeDocument/2006/relationships" id="299" r:id="Rcd201882082942fd"/>
    <p:sldId xmlns:r="http://schemas.openxmlformats.org/officeDocument/2006/relationships" id="300" r:id="R2e82efee60e245b4"/>
    <p:sldId xmlns:r="http://schemas.openxmlformats.org/officeDocument/2006/relationships" id="301" r:id="Rf4174d9d5e9244e9"/>
    <p:sldId xmlns:r="http://schemas.openxmlformats.org/officeDocument/2006/relationships" id="302" r:id="R5ad90f105016472d"/>
    <p:sldId xmlns:r="http://schemas.openxmlformats.org/officeDocument/2006/relationships" id="303" r:id="R7d9d9a3abcf849a2"/>
    <p:sldId xmlns:r="http://schemas.openxmlformats.org/officeDocument/2006/relationships" id="304" r:id="R0cfa6b4296c549d8"/>
    <p:sldId xmlns:r="http://schemas.openxmlformats.org/officeDocument/2006/relationships" id="305" r:id="R76604df54246448c"/>
    <p:sldId xmlns:r="http://schemas.openxmlformats.org/officeDocument/2006/relationships" id="306" r:id="R957df9f06f8740fa"/>
    <p:sldId xmlns:r="http://schemas.openxmlformats.org/officeDocument/2006/relationships" id="307" r:id="R87f1ce5cd0284fce"/>
    <p:sldId xmlns:r="http://schemas.openxmlformats.org/officeDocument/2006/relationships" id="308" r:id="R2ba843faf3db45e2"/>
    <p:sldId xmlns:r="http://schemas.openxmlformats.org/officeDocument/2006/relationships" id="309" r:id="R524152a3c4094975"/>
    <p:sldId xmlns:r="http://schemas.openxmlformats.org/officeDocument/2006/relationships" id="310" r:id="Rf43311b172e94cfa"/>
    <p:sldId xmlns:r="http://schemas.openxmlformats.org/officeDocument/2006/relationships" id="311" r:id="R696d5af29b2547df"/>
    <p:sldId xmlns:r="http://schemas.openxmlformats.org/officeDocument/2006/relationships" id="312" r:id="R5ce3b6f08774430b"/>
    <p:sldId xmlns:r="http://schemas.openxmlformats.org/officeDocument/2006/relationships" id="313" r:id="R201eb75971714f65"/>
    <p:sldId xmlns:r="http://schemas.openxmlformats.org/officeDocument/2006/relationships" id="314" r:id="R014caa7022a541e8"/>
    <p:sldId xmlns:r="http://schemas.openxmlformats.org/officeDocument/2006/relationships" id="315" r:id="Rcaa5387009ce4dcb"/>
    <p:sldId xmlns:r="http://schemas.openxmlformats.org/officeDocument/2006/relationships" id="316" r:id="R6fdd3fd149364b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3370d77d74787" /><Relationship Type="http://schemas.openxmlformats.org/officeDocument/2006/relationships/slideMaster" Target="/ppt/slideMasters/slideMaster1.xml" Id="R53e9308afd884a63" /><Relationship Type="http://schemas.openxmlformats.org/officeDocument/2006/relationships/notesMaster" Target="/ppt/notesMasters/notesMaster1.xml" Id="R5a3ebcc6022e42ae" /><Relationship Type="http://schemas.openxmlformats.org/officeDocument/2006/relationships/presProps" Target="/ppt/presProps.xml" Id="R48161042afb443d7" /><Relationship Type="http://schemas.openxmlformats.org/officeDocument/2006/relationships/tableStyles" Target="/ppt/tableStyles.xml" Id="Rae5c74cb2b5e4551" /><Relationship Type="http://schemas.openxmlformats.org/officeDocument/2006/relationships/slide" Target="/ppt/slides/slide1.xml" Id="R27dda60b2d384331" /><Relationship Type="http://schemas.openxmlformats.org/officeDocument/2006/relationships/slide" Target="/ppt/slides/slide2.xml" Id="Rd39f3af0a46a49d6" /><Relationship Type="http://schemas.openxmlformats.org/officeDocument/2006/relationships/slide" Target="/ppt/slides/slide3.xml" Id="R5e7bace989554151" /><Relationship Type="http://schemas.openxmlformats.org/officeDocument/2006/relationships/slide" Target="/ppt/slides/slide4.xml" Id="R345cf96134774df4" /><Relationship Type="http://schemas.openxmlformats.org/officeDocument/2006/relationships/slide" Target="/ppt/slides/slide5.xml" Id="R982645acddc34772" /><Relationship Type="http://schemas.openxmlformats.org/officeDocument/2006/relationships/slide" Target="/ppt/slides/slide6.xml" Id="R5a09549d91f74aea" /><Relationship Type="http://schemas.openxmlformats.org/officeDocument/2006/relationships/slide" Target="/ppt/slides/slide7.xml" Id="R69cc50d021ce4042" /><Relationship Type="http://schemas.openxmlformats.org/officeDocument/2006/relationships/slide" Target="/ppt/slides/slide8.xml" Id="R2b3d80c9df0741c0" /><Relationship Type="http://schemas.openxmlformats.org/officeDocument/2006/relationships/slide" Target="/ppt/slides/slide9.xml" Id="Rf53aa2932a324a8f" /><Relationship Type="http://schemas.openxmlformats.org/officeDocument/2006/relationships/slide" Target="/ppt/slides/slide10.xml" Id="Rf17b3c481e044ed6" /><Relationship Type="http://schemas.openxmlformats.org/officeDocument/2006/relationships/slide" Target="/ppt/slides/slide11.xml" Id="Ra6945f1985454646" /><Relationship Type="http://schemas.openxmlformats.org/officeDocument/2006/relationships/slide" Target="/ppt/slides/slide12.xml" Id="R53cbfb9554544520" /><Relationship Type="http://schemas.openxmlformats.org/officeDocument/2006/relationships/slide" Target="/ppt/slides/slide13.xml" Id="Rc5f6ead369e3405e" /><Relationship Type="http://schemas.openxmlformats.org/officeDocument/2006/relationships/slide" Target="/ppt/slides/slide14.xml" Id="R48b7cfc97f844076" /><Relationship Type="http://schemas.openxmlformats.org/officeDocument/2006/relationships/slide" Target="/ppt/slides/slide15.xml" Id="R3947fcb6c4b74a64" /><Relationship Type="http://schemas.openxmlformats.org/officeDocument/2006/relationships/slide" Target="/ppt/slides/slide16.xml" Id="R2916202838674f07" /><Relationship Type="http://schemas.openxmlformats.org/officeDocument/2006/relationships/slide" Target="/ppt/slides/slide17.xml" Id="Red96df90a3bd41b0" /><Relationship Type="http://schemas.openxmlformats.org/officeDocument/2006/relationships/slide" Target="/ppt/slides/slide18.xml" Id="Rb9f745645e1e4844" /><Relationship Type="http://schemas.openxmlformats.org/officeDocument/2006/relationships/slide" Target="/ppt/slides/slide19.xml" Id="R05a00a3cbc574048" /><Relationship Type="http://schemas.openxmlformats.org/officeDocument/2006/relationships/slide" Target="/ppt/slides/slide20.xml" Id="R76ddae8f66014f68" /><Relationship Type="http://schemas.openxmlformats.org/officeDocument/2006/relationships/slide" Target="/ppt/slides/slide21.xml" Id="R09ea6d33757f49e1" /><Relationship Type="http://schemas.openxmlformats.org/officeDocument/2006/relationships/slide" Target="/ppt/slides/slide22.xml" Id="R6922d09048b94b66" /><Relationship Type="http://schemas.openxmlformats.org/officeDocument/2006/relationships/slide" Target="/ppt/slides/slide23.xml" Id="Ra3b0caaaab8649e9" /><Relationship Type="http://schemas.openxmlformats.org/officeDocument/2006/relationships/slide" Target="/ppt/slides/slide24.xml" Id="Re9091eeda2654e93" /><Relationship Type="http://schemas.openxmlformats.org/officeDocument/2006/relationships/slide" Target="/ppt/slides/slide25.xml" Id="R693f6785fc774c47" /><Relationship Type="http://schemas.openxmlformats.org/officeDocument/2006/relationships/slide" Target="/ppt/slides/slide26.xml" Id="Rc74241564aaf4b10" /><Relationship Type="http://schemas.openxmlformats.org/officeDocument/2006/relationships/slide" Target="/ppt/slides/slide27.xml" Id="R5dda4448115e4a01" /><Relationship Type="http://schemas.openxmlformats.org/officeDocument/2006/relationships/slide" Target="/ppt/slides/slide28.xml" Id="R7543d267c12c4964" /><Relationship Type="http://schemas.openxmlformats.org/officeDocument/2006/relationships/slide" Target="/ppt/slides/slide29.xml" Id="R4c825aac77154900" /><Relationship Type="http://schemas.openxmlformats.org/officeDocument/2006/relationships/slide" Target="/ppt/slides/slide30.xml" Id="R9e16f31046a54bdb" /><Relationship Type="http://schemas.openxmlformats.org/officeDocument/2006/relationships/slide" Target="/ppt/slides/slide31.xml" Id="R602721a7dd674d41" /><Relationship Type="http://schemas.openxmlformats.org/officeDocument/2006/relationships/slide" Target="/ppt/slides/slide32.xml" Id="Ra31fc41374c44b7d" /><Relationship Type="http://schemas.openxmlformats.org/officeDocument/2006/relationships/slide" Target="/ppt/slides/slide33.xml" Id="Rdd04ee999b92446e" /><Relationship Type="http://schemas.openxmlformats.org/officeDocument/2006/relationships/slide" Target="/ppt/slides/slide34.xml" Id="R89d124a6e09c4b36" /><Relationship Type="http://schemas.openxmlformats.org/officeDocument/2006/relationships/slide" Target="/ppt/slides/slide35.xml" Id="Rc5e5e54f387a4417" /><Relationship Type="http://schemas.openxmlformats.org/officeDocument/2006/relationships/slide" Target="/ppt/slides/slide36.xml" Id="Rb2f4fbfd229e4a25" /><Relationship Type="http://schemas.openxmlformats.org/officeDocument/2006/relationships/slide" Target="/ppt/slides/slide37.xml" Id="Rfd4057562f1042b7" /><Relationship Type="http://schemas.openxmlformats.org/officeDocument/2006/relationships/slide" Target="/ppt/slides/slide38.xml" Id="R8cfb39e5878a4681" /><Relationship Type="http://schemas.openxmlformats.org/officeDocument/2006/relationships/slide" Target="/ppt/slides/slide39.xml" Id="R008236cebe764e33" /><Relationship Type="http://schemas.openxmlformats.org/officeDocument/2006/relationships/slide" Target="/ppt/slides/slide40.xml" Id="R51d0be6aa8124984" /><Relationship Type="http://schemas.openxmlformats.org/officeDocument/2006/relationships/slide" Target="/ppt/slides/slide41.xml" Id="R99d712a5f24444a1" /><Relationship Type="http://schemas.openxmlformats.org/officeDocument/2006/relationships/slide" Target="/ppt/slides/slide42.xml" Id="Re132eac74ad749b6" /><Relationship Type="http://schemas.openxmlformats.org/officeDocument/2006/relationships/slide" Target="/ppt/slides/slide43.xml" Id="R145a0e5a7ad34918" /><Relationship Type="http://schemas.openxmlformats.org/officeDocument/2006/relationships/slide" Target="/ppt/slides/slide44.xml" Id="Rcd201882082942fd" /><Relationship Type="http://schemas.openxmlformats.org/officeDocument/2006/relationships/slide" Target="/ppt/slides/slide45.xml" Id="R2e82efee60e245b4" /><Relationship Type="http://schemas.openxmlformats.org/officeDocument/2006/relationships/slide" Target="/ppt/slides/slide46.xml" Id="Rf4174d9d5e9244e9" /><Relationship Type="http://schemas.openxmlformats.org/officeDocument/2006/relationships/slide" Target="/ppt/slides/slide47.xml" Id="R5ad90f105016472d" /><Relationship Type="http://schemas.openxmlformats.org/officeDocument/2006/relationships/slide" Target="/ppt/slides/slide48.xml" Id="R7d9d9a3abcf849a2" /><Relationship Type="http://schemas.openxmlformats.org/officeDocument/2006/relationships/slide" Target="/ppt/slides/slide49.xml" Id="R0cfa6b4296c549d8" /><Relationship Type="http://schemas.openxmlformats.org/officeDocument/2006/relationships/slide" Target="/ppt/slides/slide50.xml" Id="R76604df54246448c" /><Relationship Type="http://schemas.openxmlformats.org/officeDocument/2006/relationships/slide" Target="/ppt/slides/slide51.xml" Id="R957df9f06f8740fa" /><Relationship Type="http://schemas.openxmlformats.org/officeDocument/2006/relationships/slide" Target="/ppt/slides/slide52.xml" Id="R87f1ce5cd0284fce" /><Relationship Type="http://schemas.openxmlformats.org/officeDocument/2006/relationships/slide" Target="/ppt/slides/slide53.xml" Id="R2ba843faf3db45e2" /><Relationship Type="http://schemas.openxmlformats.org/officeDocument/2006/relationships/slide" Target="/ppt/slides/slide54.xml" Id="R524152a3c4094975" /><Relationship Type="http://schemas.openxmlformats.org/officeDocument/2006/relationships/slide" Target="/ppt/slides/slide55.xml" Id="Rf43311b172e94cfa" /><Relationship Type="http://schemas.openxmlformats.org/officeDocument/2006/relationships/slide" Target="/ppt/slides/slide56.xml" Id="R696d5af29b2547df" /><Relationship Type="http://schemas.openxmlformats.org/officeDocument/2006/relationships/slide" Target="/ppt/slides/slide57.xml" Id="R5ce3b6f08774430b" /><Relationship Type="http://schemas.openxmlformats.org/officeDocument/2006/relationships/slide" Target="/ppt/slides/slide58.xml" Id="R201eb75971714f65" /><Relationship Type="http://schemas.openxmlformats.org/officeDocument/2006/relationships/slide" Target="/ppt/slides/slide59.xml" Id="R014caa7022a541e8" /><Relationship Type="http://schemas.openxmlformats.org/officeDocument/2006/relationships/slide" Target="/ppt/slides/slide60.xml" Id="Rcaa5387009ce4dcb" /><Relationship Type="http://schemas.openxmlformats.org/officeDocument/2006/relationships/slide" Target="/ppt/slides/slide61.xml" Id="R6fdd3fd14936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708fed084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803789b5e4f48" /><Relationship Type="http://schemas.openxmlformats.org/officeDocument/2006/relationships/notesMaster" Target="/ppt/notesMasters/notesMaster1.xml" Id="R106c82a944a5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0a0ef204445ca" /><Relationship Type="http://schemas.openxmlformats.org/officeDocument/2006/relationships/notesMaster" Target="/ppt/notesMasters/notesMaster1.xml" Id="R2da1b3628bf04a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9de39254924e26" /><Relationship Type="http://schemas.openxmlformats.org/officeDocument/2006/relationships/notesMaster" Target="/ppt/notesMasters/notesMaster1.xml" Id="Rff25cbf6b6b7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e55d6d57d84957" /><Relationship Type="http://schemas.openxmlformats.org/officeDocument/2006/relationships/notesMaster" Target="/ppt/notesMasters/notesMaster1.xml" Id="R6ae0122b3a69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d08739ca324220" /><Relationship Type="http://schemas.openxmlformats.org/officeDocument/2006/relationships/notesMaster" Target="/ppt/notesMasters/notesMaster1.xml" Id="R04fc2c495996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6490b2ee8e4c6b" /><Relationship Type="http://schemas.openxmlformats.org/officeDocument/2006/relationships/notesMaster" Target="/ppt/notesMasters/notesMaster1.xml" Id="Rcd49ea0b61ab43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3113f96b0f4582" /><Relationship Type="http://schemas.openxmlformats.org/officeDocument/2006/relationships/notesMaster" Target="/ppt/notesMasters/notesMaster1.xml" Id="Ra80f15d93f49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6cafdaba9240f2" /><Relationship Type="http://schemas.openxmlformats.org/officeDocument/2006/relationships/notesMaster" Target="/ppt/notesMasters/notesMaster1.xml" Id="R6ec3e85d75574c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32fd7ccead417a" /><Relationship Type="http://schemas.openxmlformats.org/officeDocument/2006/relationships/notesMaster" Target="/ppt/notesMasters/notesMaster1.xml" Id="R4be3d65a01be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61b347e37149e1" /><Relationship Type="http://schemas.openxmlformats.org/officeDocument/2006/relationships/notesMaster" Target="/ppt/notesMasters/notesMaster1.xml" Id="R80e588a282fe4c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2b881cf5bf4400" /><Relationship Type="http://schemas.openxmlformats.org/officeDocument/2006/relationships/notesMaster" Target="/ppt/notesMasters/notesMaster1.xml" Id="Rfb45d9dfa9d2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7213cd07604fe7" /><Relationship Type="http://schemas.openxmlformats.org/officeDocument/2006/relationships/notesMaster" Target="/ppt/notesMasters/notesMaster1.xml" Id="Ra9c5ab4daa1d4a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dcfdd0e2984c0b" /><Relationship Type="http://schemas.openxmlformats.org/officeDocument/2006/relationships/notesMaster" Target="/ppt/notesMasters/notesMaster1.xml" Id="R08474683fe4242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fd283fcc7c46c8" /><Relationship Type="http://schemas.openxmlformats.org/officeDocument/2006/relationships/notesMaster" Target="/ppt/notesMasters/notesMaster1.xml" Id="Rcdf5ddef3e0541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a515532f384787" /><Relationship Type="http://schemas.openxmlformats.org/officeDocument/2006/relationships/notesMaster" Target="/ppt/notesMasters/notesMaster1.xml" Id="R8ebef855bd1846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373226f4024f44" /><Relationship Type="http://schemas.openxmlformats.org/officeDocument/2006/relationships/notesMaster" Target="/ppt/notesMasters/notesMaster1.xml" Id="R10478bf3185244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911547203c485d" /><Relationship Type="http://schemas.openxmlformats.org/officeDocument/2006/relationships/notesMaster" Target="/ppt/notesMasters/notesMaster1.xml" Id="R7e6c23c533f74e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59048a3aaf421c" /><Relationship Type="http://schemas.openxmlformats.org/officeDocument/2006/relationships/notesMaster" Target="/ppt/notesMasters/notesMaster1.xml" Id="Rc3000f5f28734b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5e4ec174b748fa" /><Relationship Type="http://schemas.openxmlformats.org/officeDocument/2006/relationships/notesMaster" Target="/ppt/notesMasters/notesMaster1.xml" Id="R5c07bd4d8dc144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ba5eca6dc34401" /><Relationship Type="http://schemas.openxmlformats.org/officeDocument/2006/relationships/notesMaster" Target="/ppt/notesMasters/notesMaster1.xml" Id="R62ea37a40d8249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9ab0ee3dce45e0" /><Relationship Type="http://schemas.openxmlformats.org/officeDocument/2006/relationships/notesMaster" Target="/ppt/notesMasters/notesMaster1.xml" Id="Rdcb608ab004542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ff3637932c4d37" /><Relationship Type="http://schemas.openxmlformats.org/officeDocument/2006/relationships/notesMaster" Target="/ppt/notesMasters/notesMaster1.xml" Id="R88d7aebbad424a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b0e3958d87467a" /><Relationship Type="http://schemas.openxmlformats.org/officeDocument/2006/relationships/notesMaster" Target="/ppt/notesMasters/notesMaster1.xml" Id="Rcb7ba414d69147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1dab909c444b06" /><Relationship Type="http://schemas.openxmlformats.org/officeDocument/2006/relationships/notesMaster" Target="/ppt/notesMasters/notesMaster1.xml" Id="R3ce12d00816740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25f9ad52e44c4d" /><Relationship Type="http://schemas.openxmlformats.org/officeDocument/2006/relationships/notesMaster" Target="/ppt/notesMasters/notesMaster1.xml" Id="Rcc57ca968cd343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ef4bb9ce4f4bd5" /><Relationship Type="http://schemas.openxmlformats.org/officeDocument/2006/relationships/notesMaster" Target="/ppt/notesMasters/notesMaster1.xml" Id="Rd8fe9b770c164b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45bcb20c334a09" /><Relationship Type="http://schemas.openxmlformats.org/officeDocument/2006/relationships/notesMaster" Target="/ppt/notesMasters/notesMaster1.xml" Id="R7f1d8ed9b53a4bc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c2e13955434948" /><Relationship Type="http://schemas.openxmlformats.org/officeDocument/2006/relationships/notesMaster" Target="/ppt/notesMasters/notesMaster1.xml" Id="Rce14604096e441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685c4977974217" /><Relationship Type="http://schemas.openxmlformats.org/officeDocument/2006/relationships/notesMaster" Target="/ppt/notesMasters/notesMaster1.xml" Id="R5625dc94f74843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6c269063ce544b8" /><Relationship Type="http://schemas.openxmlformats.org/officeDocument/2006/relationships/notesMaster" Target="/ppt/notesMasters/notesMaster1.xml" Id="R6b375fabb3c24f4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f99e4262474984" /><Relationship Type="http://schemas.openxmlformats.org/officeDocument/2006/relationships/notesMaster" Target="/ppt/notesMasters/notesMaster1.xml" Id="R99543a6b5d8b491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5032e588474889" /><Relationship Type="http://schemas.openxmlformats.org/officeDocument/2006/relationships/notesMaster" Target="/ppt/notesMasters/notesMaster1.xml" Id="Rbdea3ff95f1e47f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82953c6d4e49f8" /><Relationship Type="http://schemas.openxmlformats.org/officeDocument/2006/relationships/notesMaster" Target="/ppt/notesMasters/notesMaster1.xml" Id="Rfda166b4d0df4d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0260e92d794dce" /><Relationship Type="http://schemas.openxmlformats.org/officeDocument/2006/relationships/notesMaster" Target="/ppt/notesMasters/notesMaster1.xml" Id="Rd9b3bc59692346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ab8ad911e1b495d" /><Relationship Type="http://schemas.openxmlformats.org/officeDocument/2006/relationships/notesMaster" Target="/ppt/notesMasters/notesMaster1.xml" Id="R03f3341f13f34ef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217bc6dc12e48a9" /><Relationship Type="http://schemas.openxmlformats.org/officeDocument/2006/relationships/notesMaster" Target="/ppt/notesMasters/notesMaster1.xml" Id="R05c0018899e94bd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4760eb79c5c47a0" /><Relationship Type="http://schemas.openxmlformats.org/officeDocument/2006/relationships/notesMaster" Target="/ppt/notesMasters/notesMaster1.xml" Id="R0896a2d9db604e6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5d60d0a42f4edf" /><Relationship Type="http://schemas.openxmlformats.org/officeDocument/2006/relationships/notesMaster" Target="/ppt/notesMasters/notesMaster1.xml" Id="R826bcbe3e9aa40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7af0bcc5a5647c1" /><Relationship Type="http://schemas.openxmlformats.org/officeDocument/2006/relationships/notesMaster" Target="/ppt/notesMasters/notesMaster1.xml" Id="R16a27296135d4da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aa2b390441f4e41" /><Relationship Type="http://schemas.openxmlformats.org/officeDocument/2006/relationships/notesMaster" Target="/ppt/notesMasters/notesMaster1.xml" Id="R0c9489e59b28476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428ad8a4a854011" /><Relationship Type="http://schemas.openxmlformats.org/officeDocument/2006/relationships/notesMaster" Target="/ppt/notesMasters/notesMaster1.xml" Id="Rf21ffbb607bf420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753eb85e43f45cb" /><Relationship Type="http://schemas.openxmlformats.org/officeDocument/2006/relationships/notesMaster" Target="/ppt/notesMasters/notesMaster1.xml" Id="Rbf3deda4c8694cc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f0c58a73a594f72" /><Relationship Type="http://schemas.openxmlformats.org/officeDocument/2006/relationships/notesMaster" Target="/ppt/notesMasters/notesMaster1.xml" Id="Raa1d14b5a45b4e7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7cf76c8e6964c19" /><Relationship Type="http://schemas.openxmlformats.org/officeDocument/2006/relationships/notesMaster" Target="/ppt/notesMasters/notesMaster1.xml" Id="Rd6e8cfad3daa4fa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0c46e0a39cd4fb7" /><Relationship Type="http://schemas.openxmlformats.org/officeDocument/2006/relationships/notesMaster" Target="/ppt/notesMasters/notesMaster1.xml" Id="Rce848800c07745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2ad579d67414095" /><Relationship Type="http://schemas.openxmlformats.org/officeDocument/2006/relationships/notesMaster" Target="/ppt/notesMasters/notesMaster1.xml" Id="R8e4c2a8cf2ce42a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2113f9b71fb4edf" /><Relationship Type="http://schemas.openxmlformats.org/officeDocument/2006/relationships/notesMaster" Target="/ppt/notesMasters/notesMaster1.xml" Id="R44fbbc11300240d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a0b2842346b4045" /><Relationship Type="http://schemas.openxmlformats.org/officeDocument/2006/relationships/notesMaster" Target="/ppt/notesMasters/notesMaster1.xml" Id="Ra7235a12f3af466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5ee387a189a44cb" /><Relationship Type="http://schemas.openxmlformats.org/officeDocument/2006/relationships/notesMaster" Target="/ppt/notesMasters/notesMaster1.xml" Id="Rbf77fc1d72cf4af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1f6fb24780d4403" /><Relationship Type="http://schemas.openxmlformats.org/officeDocument/2006/relationships/notesMaster" Target="/ppt/notesMasters/notesMaster1.xml" Id="Rfc52615abcf1427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3dab345b39f4a5c" /><Relationship Type="http://schemas.openxmlformats.org/officeDocument/2006/relationships/notesMaster" Target="/ppt/notesMasters/notesMaster1.xml" Id="R36d0142645ba434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83b27ba50b24fab" /><Relationship Type="http://schemas.openxmlformats.org/officeDocument/2006/relationships/notesMaster" Target="/ppt/notesMasters/notesMaster1.xml" Id="R0099dfd972904e1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287efbe0c674133" /><Relationship Type="http://schemas.openxmlformats.org/officeDocument/2006/relationships/notesMaster" Target="/ppt/notesMasters/notesMaster1.xml" Id="R4809662fdc1e462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cee0f8a5bca41df" /><Relationship Type="http://schemas.openxmlformats.org/officeDocument/2006/relationships/notesMaster" Target="/ppt/notesMasters/notesMaster1.xml" Id="R23bbe5346092479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894932ad31547d1" /><Relationship Type="http://schemas.openxmlformats.org/officeDocument/2006/relationships/notesMaster" Target="/ppt/notesMasters/notesMaster1.xml" Id="R1745573c0e44410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2ad88f60c9045ff" /><Relationship Type="http://schemas.openxmlformats.org/officeDocument/2006/relationships/notesMaster" Target="/ppt/notesMasters/notesMaster1.xml" Id="Rf85966c486c144f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6a8add7bb824bf9" /><Relationship Type="http://schemas.openxmlformats.org/officeDocument/2006/relationships/notesMaster" Target="/ppt/notesMasters/notesMaster1.xml" Id="R0a28168729b141d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211ba0691b745fb" /><Relationship Type="http://schemas.openxmlformats.org/officeDocument/2006/relationships/notesMaster" Target="/ppt/notesMasters/notesMaster1.xml" Id="R93c2c188a054410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1c4bb7a50254112" /><Relationship Type="http://schemas.openxmlformats.org/officeDocument/2006/relationships/notesMaster" Target="/ppt/notesMasters/notesMaster1.xml" Id="Rc0595392352a447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ee555a816d4443c" /><Relationship Type="http://schemas.openxmlformats.org/officeDocument/2006/relationships/notesMaster" Target="/ppt/notesMasters/notesMaster1.xml" Id="R432e2c95c989493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ac296278d764c52" /><Relationship Type="http://schemas.openxmlformats.org/officeDocument/2006/relationships/notesMaster" Target="/ppt/notesMasters/notesMaster1.xml" Id="R03a08959fd8b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modern smart systems need energy that is portable, efficient and sustainable.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students how each topic builds toward sustainable energy devices.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mental model for cells, batteries and fuel cells.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where they used stored electrochemical energy today.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3 focuses on electrochemical and sustainable devices.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Separate electron flow from ion flow.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Nernst converts chemical concentration into electrical potential.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Ecell, E°cell, R, T, n, F and Q.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left to right through the table.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voltage comes only from concentration difference.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E° becomes zero when electrodes are identical.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word equalization carefully: it is the thermodynamic tendency.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anode, cathode, salt bridge and external wire.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Remind students: anode is oxidation, cathode is reduction.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left side is conventionally the anode.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keep the concentration ratio greater than 1 for positive 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clear this is a template; actual values may change.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the definition to the earlier redox model.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crisp for two-mark questions.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these only as overview categories.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mobile devices avoid very heavy batteries.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at separator as the safety-critical component.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State that ions and electrons take different paths.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discharge and charging direction.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 as a transition metal in lithium metal oxide cathodes.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thermal management and safety monitoring.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Encourage balanced answers.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sodium-ion as related to Li-ion but not identical.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Na+ is larger than Li+, affecting materials.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compare with Li-ion working.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Avoid overclaiming; say emerging and application-dependent.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revision/comparison slide.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with batteries: supercapacitors store energy differently.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smartwatch/sensor node examples.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asymmetric means electrode materials/functions are not identical.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electrolyte and separator as central layers.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it stores energy by charge separation and surface reactions.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to syllabus phrase IoT/wearable devices.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Transition from storage devices to cleaner generation devices.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Say it behaves like a cell but reactants are supplied from outside.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a fuel cell can operate continuously.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ceramic electrolyte as the key identifier.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solid electrolyte separates gases and conducts ions.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hydrogen or hydrocarbons may be used as fuel depending on design.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applications practical.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likely a five- or ten-mark component.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is a direct light-to-electricity device.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p-n junction as the active region.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a simple conductor cannot act like a PV cell.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Link PV cells to sustainable but variable energy generation.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hydrogen is an energy carrier, not a primary energy source.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the chemistry conceptual and visually stepwise.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from light to catalyst to products.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efficiency improvement remains a research challenge.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the content portion by stressing sustainability plus engineering constraints.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slide before practice questions.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works for Li-ion, sodium-ion, supercapacitors, SOFCs and PV cells.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overview.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this as a quick end-session viva.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study checklist.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one storage device and one conversion device using the same framework.</a:t>
            </a:r>
          </a:p>
          <a:p xmlns:a="http://schemas.openxmlformats.org/drawingml/2006/main">
            <a:r>
              <a:t>Pause cue: pause after the diagram/process appears and ask students to predict the next movement of ions or electrons.</a:t>
            </a:r>
          </a:p>
          <a:p xmlns:a="http://schemas.openxmlformats.org/drawingml/2006/main">
            <a:r>
              <a:t>Pointing cue: point from electrode to electrolyte to external circuit, then link the path to the application.</a:t>
            </a:r>
          </a:p>
          <a:p xmlns:a="http://schemas.openxmlformats.org/drawingml/2006/main">
            <a:r>
              <a:t>Question to ask students: Ask students to connect the construction to the direction of ion/electron movement.</a:t>
            </a:r>
          </a:p>
          <a:p xmlns:a="http://schemas.openxmlformats.org/drawingml/2006/main">
            <a:r>
              <a:t>Animation instructions: Fade title; appear construction labels one by one; wipe process arrows in order; highlight keywords such as Nernst equation, concentration cell, Li-ion, sodium-ion, supercapacitor, SOFC, PV cell and green hydrogen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3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syllabus-listed references for energy-device background include Engineering Chemistry, Satyaprakash and Manisha Agrawal, Khanna Book Publishing,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3b2b7f66b44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c096776074896" /><Relationship Type="http://schemas.openxmlformats.org/officeDocument/2006/relationships/slideLayout" Target="/ppt/slideLayouts/slideLayout1.xml" Id="Rd036c6bbfab5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6c6bbfab5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460306b9c4171" /><Relationship Type="http://schemas.openxmlformats.org/officeDocument/2006/relationships/notesSlide" Target="/ppt/notesSlides/notesSlide1.xml" Id="R330ad960f2a6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56e1771a543c2" /><Relationship Type="http://schemas.openxmlformats.org/officeDocument/2006/relationships/notesSlide" Target="/ppt/notesSlides/notesSlide2.xml" Id="Rf4fba5441d80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b773be4d845db" /><Relationship Type="http://schemas.openxmlformats.org/officeDocument/2006/relationships/notesSlide" Target="/ppt/notesSlides/notesSlide3.xml" Id="R2d50be5e65c346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c83f9a2bb425a" /><Relationship Type="http://schemas.openxmlformats.org/officeDocument/2006/relationships/notesSlide" Target="/ppt/notesSlides/notesSlide4.xml" Id="R404eba46f036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636279054b1b" /><Relationship Type="http://schemas.openxmlformats.org/officeDocument/2006/relationships/notesSlide" Target="/ppt/notesSlides/notesSlide5.xml" Id="Re77a20fa63d24d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ec19b72984e9e" /><Relationship Type="http://schemas.openxmlformats.org/officeDocument/2006/relationships/notesSlide" Target="/ppt/notesSlides/notesSlide6.xml" Id="Red9ec9f9ddee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ed4062b30481e" /><Relationship Type="http://schemas.openxmlformats.org/officeDocument/2006/relationships/notesSlide" Target="/ppt/notesSlides/notesSlide7.xml" Id="R1837b9c5e353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42bcc3b404d11" /><Relationship Type="http://schemas.openxmlformats.org/officeDocument/2006/relationships/notesSlide" Target="/ppt/notesSlides/notesSlide8.xml" Id="R8ae7709d45fb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997c1a364448a" /><Relationship Type="http://schemas.openxmlformats.org/officeDocument/2006/relationships/notesSlide" Target="/ppt/notesSlides/notesSlide9.xml" Id="R4e788d1636fe47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3eaa9b1a0487a" /><Relationship Type="http://schemas.openxmlformats.org/officeDocument/2006/relationships/notesSlide" Target="/ppt/notesSlides/notesSlide10.xml" Id="R2d748afa80e849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f5629f15242ac" /><Relationship Type="http://schemas.openxmlformats.org/officeDocument/2006/relationships/notesSlide" Target="/ppt/notesSlides/notesSlide11.xml" Id="R0a533e419a3a40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685750bcb4f46" /><Relationship Type="http://schemas.openxmlformats.org/officeDocument/2006/relationships/notesSlide" Target="/ppt/notesSlides/notesSlide12.xml" Id="R3b5c794bef0749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96fa8c1444be" /><Relationship Type="http://schemas.openxmlformats.org/officeDocument/2006/relationships/notesSlide" Target="/ppt/notesSlides/notesSlide13.xml" Id="R36e66f6eb1b140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67073b4947d9" /><Relationship Type="http://schemas.openxmlformats.org/officeDocument/2006/relationships/notesSlide" Target="/ppt/notesSlides/notesSlide14.xml" Id="Rf1eea17b32cf47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54764c30841d2" /><Relationship Type="http://schemas.openxmlformats.org/officeDocument/2006/relationships/notesSlide" Target="/ppt/notesSlides/notesSlide15.xml" Id="R7107701b809445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6b6fe63394059" /><Relationship Type="http://schemas.openxmlformats.org/officeDocument/2006/relationships/notesSlide" Target="/ppt/notesSlides/notesSlide16.xml" Id="R9878406b33ad42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732e4520b4138" /><Relationship Type="http://schemas.openxmlformats.org/officeDocument/2006/relationships/notesSlide" Target="/ppt/notesSlides/notesSlide17.xml" Id="R8ddc366811ad47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1b602a2034049" /><Relationship Type="http://schemas.openxmlformats.org/officeDocument/2006/relationships/notesSlide" Target="/ppt/notesSlides/notesSlide18.xml" Id="Rd01d23205b3042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b7e9de8e4718" /><Relationship Type="http://schemas.openxmlformats.org/officeDocument/2006/relationships/notesSlide" Target="/ppt/notesSlides/notesSlide19.xml" Id="R420572cd308e4e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f7dbb447d407f" /><Relationship Type="http://schemas.openxmlformats.org/officeDocument/2006/relationships/notesSlide" Target="/ppt/notesSlides/notesSlide20.xml" Id="Rd7e26912b0fa42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72d26dbf2402e" /><Relationship Type="http://schemas.openxmlformats.org/officeDocument/2006/relationships/notesSlide" Target="/ppt/notesSlides/notesSlide21.xml" Id="R7e1d72ff621440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7973bb2f24081" /><Relationship Type="http://schemas.openxmlformats.org/officeDocument/2006/relationships/notesSlide" Target="/ppt/notesSlides/notesSlide22.xml" Id="R61626a9bc55340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b75b4e1934f7d" /><Relationship Type="http://schemas.openxmlformats.org/officeDocument/2006/relationships/notesSlide" Target="/ppt/notesSlides/notesSlide23.xml" Id="R99897016f69244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c98101ba54c50" /><Relationship Type="http://schemas.openxmlformats.org/officeDocument/2006/relationships/notesSlide" Target="/ppt/notesSlides/notesSlide24.xml" Id="R54444a8284234a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0f09565df4d9f" /><Relationship Type="http://schemas.openxmlformats.org/officeDocument/2006/relationships/notesSlide" Target="/ppt/notesSlides/notesSlide25.xml" Id="R99a151a171c04a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028bac274b32" /><Relationship Type="http://schemas.openxmlformats.org/officeDocument/2006/relationships/notesSlide" Target="/ppt/notesSlides/notesSlide26.xml" Id="R398cd6e3704e4a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d445e909f4793" /><Relationship Type="http://schemas.openxmlformats.org/officeDocument/2006/relationships/notesSlide" Target="/ppt/notesSlides/notesSlide27.xml" Id="R372094a5c22444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6df59f8d44f6b" /><Relationship Type="http://schemas.openxmlformats.org/officeDocument/2006/relationships/notesSlide" Target="/ppt/notesSlides/notesSlide28.xml" Id="R991224214fb442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ba58adc824309" /><Relationship Type="http://schemas.openxmlformats.org/officeDocument/2006/relationships/notesSlide" Target="/ppt/notesSlides/notesSlide29.xml" Id="Rff9a3e7a765848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c02f2cb9a49ec" /><Relationship Type="http://schemas.openxmlformats.org/officeDocument/2006/relationships/notesSlide" Target="/ppt/notesSlides/notesSlide30.xml" Id="R2ad279ba4a65428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4c66d50f54bbf" /><Relationship Type="http://schemas.openxmlformats.org/officeDocument/2006/relationships/notesSlide" Target="/ppt/notesSlides/notesSlide31.xml" Id="Ra65b0b88abfd40d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5160394c4de7" /><Relationship Type="http://schemas.openxmlformats.org/officeDocument/2006/relationships/notesSlide" Target="/ppt/notesSlides/notesSlide32.xml" Id="Raf5a7c0b7e0f48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f8dbabe4e4186" /><Relationship Type="http://schemas.openxmlformats.org/officeDocument/2006/relationships/notesSlide" Target="/ppt/notesSlides/notesSlide33.xml" Id="R1b3a508347624e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bb34baf304161" /><Relationship Type="http://schemas.openxmlformats.org/officeDocument/2006/relationships/notesSlide" Target="/ppt/notesSlides/notesSlide34.xml" Id="R82c7275a491245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43a49a6a4c2a" /><Relationship Type="http://schemas.openxmlformats.org/officeDocument/2006/relationships/notesSlide" Target="/ppt/notesSlides/notesSlide35.xml" Id="R7d06308866a548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402e6dca24092" /><Relationship Type="http://schemas.openxmlformats.org/officeDocument/2006/relationships/notesSlide" Target="/ppt/notesSlides/notesSlide36.xml" Id="Rc817dd38db1043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1287f6474c84" /><Relationship Type="http://schemas.openxmlformats.org/officeDocument/2006/relationships/notesSlide" Target="/ppt/notesSlides/notesSlide37.xml" Id="R3119c89cba6a43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61073a0734238" /><Relationship Type="http://schemas.openxmlformats.org/officeDocument/2006/relationships/notesSlide" Target="/ppt/notesSlides/notesSlide38.xml" Id="R9af0477be4c444b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5c24ed3424caf" /><Relationship Type="http://schemas.openxmlformats.org/officeDocument/2006/relationships/notesSlide" Target="/ppt/notesSlides/notesSlide39.xml" Id="Rc74bb6e18aa6474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ed71684de4ef1" /><Relationship Type="http://schemas.openxmlformats.org/officeDocument/2006/relationships/notesSlide" Target="/ppt/notesSlides/notesSlide40.xml" Id="Rd2b6c67dabe847d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e9c82a5b24d28" /><Relationship Type="http://schemas.openxmlformats.org/officeDocument/2006/relationships/notesSlide" Target="/ppt/notesSlides/notesSlide41.xml" Id="Raf3524ae470a45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ad4cc0f774996" /><Relationship Type="http://schemas.openxmlformats.org/officeDocument/2006/relationships/notesSlide" Target="/ppt/notesSlides/notesSlide42.xml" Id="Rde1ff2aaf1764e3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11eb15e3341ea" /><Relationship Type="http://schemas.openxmlformats.org/officeDocument/2006/relationships/notesSlide" Target="/ppt/notesSlides/notesSlide43.xml" Id="Rb10b31a56e2742c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2267bc084f1e" /><Relationship Type="http://schemas.openxmlformats.org/officeDocument/2006/relationships/notesSlide" Target="/ppt/notesSlides/notesSlide44.xml" Id="R286a29234df74dd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f2e104448451c" /><Relationship Type="http://schemas.openxmlformats.org/officeDocument/2006/relationships/notesSlide" Target="/ppt/notesSlides/notesSlide45.xml" Id="R3d592a88d0934e8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725e1e9114365" /><Relationship Type="http://schemas.openxmlformats.org/officeDocument/2006/relationships/notesSlide" Target="/ppt/notesSlides/notesSlide46.xml" Id="R79f963a8e2b24c0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51cbd1e14614" /><Relationship Type="http://schemas.openxmlformats.org/officeDocument/2006/relationships/notesSlide" Target="/ppt/notesSlides/notesSlide47.xml" Id="R4f7ed70d4ab841c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370d8b4b4a4b" /><Relationship Type="http://schemas.openxmlformats.org/officeDocument/2006/relationships/notesSlide" Target="/ppt/notesSlides/notesSlide48.xml" Id="Rd83698934c12448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b1d75ba42463e" /><Relationship Type="http://schemas.openxmlformats.org/officeDocument/2006/relationships/notesSlide" Target="/ppt/notesSlides/notesSlide49.xml" Id="Reae84aa894574a8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c59269e1440d" /><Relationship Type="http://schemas.openxmlformats.org/officeDocument/2006/relationships/notesSlide" Target="/ppt/notesSlides/notesSlide50.xml" Id="R33bee2028258450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d70484e24254" /><Relationship Type="http://schemas.openxmlformats.org/officeDocument/2006/relationships/notesSlide" Target="/ppt/notesSlides/notesSlide51.xml" Id="R3501d68925984cf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82e82ebe94cd2" /><Relationship Type="http://schemas.openxmlformats.org/officeDocument/2006/relationships/notesSlide" Target="/ppt/notesSlides/notesSlide52.xml" Id="R87475b1fa714459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42221cf5b49c3" /><Relationship Type="http://schemas.openxmlformats.org/officeDocument/2006/relationships/notesSlide" Target="/ppt/notesSlides/notesSlide53.xml" Id="R947ca864d665412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a9640086f4f9b" /><Relationship Type="http://schemas.openxmlformats.org/officeDocument/2006/relationships/notesSlide" Target="/ppt/notesSlides/notesSlide54.xml" Id="R0e4b9a07434e4c5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fba5d2b6f42aa" /><Relationship Type="http://schemas.openxmlformats.org/officeDocument/2006/relationships/notesSlide" Target="/ppt/notesSlides/notesSlide55.xml" Id="R645efb36c330400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dda7bdc864b9d" /><Relationship Type="http://schemas.openxmlformats.org/officeDocument/2006/relationships/notesSlide" Target="/ppt/notesSlides/notesSlide56.xml" Id="Rd513b542540841a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6c589c38c435e" /><Relationship Type="http://schemas.openxmlformats.org/officeDocument/2006/relationships/notesSlide" Target="/ppt/notesSlides/notesSlide57.xml" Id="Rca604c8e413a43a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d088ae3ea40fb" /><Relationship Type="http://schemas.openxmlformats.org/officeDocument/2006/relationships/notesSlide" Target="/ppt/notesSlides/notesSlide58.xml" Id="R3422caf8b68a478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9e31798b49fb" /><Relationship Type="http://schemas.openxmlformats.org/officeDocument/2006/relationships/notesSlide" Target="/ppt/notesSlides/notesSlide59.xml" Id="R77bcfe5eaf464c8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02c8c0db6483e" /><Relationship Type="http://schemas.openxmlformats.org/officeDocument/2006/relationships/notesSlide" Target="/ppt/notesSlides/notesSlide60.xml" Id="R3603f127ec584f5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30e504a7431b" /><Relationship Type="http://schemas.openxmlformats.org/officeDocument/2006/relationships/notesSlide" Target="/ppt/notesSlides/notesSlide61.xml" Id="R929c40ddb8af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AA480-E029-4F57-8245-24885EA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ADDE5-B265-4488-BA20-FF8BF7F6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Sustainable Energy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679C6-D997-4B76-9C39-34375A76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Module 3 explains how chemistry converts, stores and delivers electrical energy.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0B8F7-B44B-4063-B91F-2EC011A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3FF17-B290-4DB5-9FB7-EEA73330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1A7E8-C515-48E2-B23D-3051F16E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5A7A-3103-4412-8546-416730ED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48706-C0C9-427A-BF3C-3E04590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EEC1D-50C5-404F-B1AD-57C4739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Applied Chemistry</a:t>
            </a:r>
          </a:p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Module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4DBDD-FDD7-4BFB-B74C-97530C31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C9D6"/>
                </a:solidFill>
              </a:defRPr>
            </a:pPr>
            <a:r>
              <a:rPr sz="1650">
                <a:solidFill>
                  <a:srgbClr val="B9C9D6"/>
                </a:solidFill>
              </a:rPr>
              <a:t>Nernst equation • concentration cells • batteries • Li-ion • sodium-ion • supercapacitors • SOFC • PV cells • green hydrogen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74BFD-5856-4D84-BE20-74EBA55D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154"/>
          </a:solidFill>
          <a:ln xmlns:a="http://schemas.openxmlformats.org/drawingml/2006/main" w="19050">
            <a:solidFill>
              <a:srgbClr val="2868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093FF-4E8B-4621-9C41-FEFC4F1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45F41-1E12-43CE-85F8-C299492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ENERGY</a:t>
            </a:r>
          </a:p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336362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88CA4-CBC3-4946-8F40-DFA6625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64EEE-0393-4452-A607-B507CDD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574F7-6533-4917-A922-EED0E51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Use the VTU syllabus as the complete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E4B3C-5EBA-4E15-B429-50267AE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F3AF4-844B-4C15-BD40-7DED112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96037-9C3F-49D2-90AD-C9E2543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435CA-0483-423B-B60D-5938DDF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48AEF-204A-456D-AD75-29D8EE1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D18C-3D07-48D1-A55C-ECFC11DA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14426-5DBC-4BCC-B963-19D14B75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F356A-D194-4325-B24C-69C3FFB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energy systems and electrochemical energy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B4119-DF72-4888-8A65-289EA70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7B45C-39C9-46E7-B7B4-BD83DF5B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2E026-1AFE-462C-97F5-8068E07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Use the Nernst equation and solve concentration-cell numericals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5BFE9-3877-4235-9070-60998FB0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9A3F2-66FF-448A-A7F2-17DA144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0A074-43C3-493E-90D9-DE78DE6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construction and working of concentration cells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4B57E-F931-4D79-8A1C-D1F15F0D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D528-DA65-4BCC-AFE0-CC9B26EF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F5A56-1AFD-4994-8A02-A04CA3D9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Classify batteries and explain Li-ion batteries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B40C0-11F4-47CE-9D49-2780F116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A14A8-99CA-4617-93DC-CD9774A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0A9F6-D40C-489D-A089-B38724E0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sodium-ion batteries for EV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D54F3-7D58-4478-BFB7-634B7131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B100C-B63E-4BBE-89AC-899E28AF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2623A-9FF9-4BCC-A944-426B4A53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asymmetric supercapacitors for IoT and wearable devices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1E655-9C87-4C09-B349-521A1A1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60374-60A2-4651-9CF9-2CADB1C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963AC-B6DB-41E9-B579-BABD8682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SOFCs, PV cells and green hydrogen production</a:t>
            </a:r>
          </a:p>
        </p:txBody>
      </p:sp>
    </p:spTree>
    <p:extLst>
      <p:ext uri="{BB962C8B-B14F-4D97-AF65-F5344CB8AC3E}">
        <p14:creationId xmlns:p14="http://schemas.microsoft.com/office/powerpoint/2010/main" val="375271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1FEAB-65E1-4BCA-9556-C183DA9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9227C-4368-4C67-AC9D-F2A8639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energy-device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07A96-1EF0-4F03-B490-21AC146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every topic through one repeated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1B0C-A134-4A9A-989D-C09CF187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21393-0B96-402B-B29C-375EBF2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748E4-941B-468F-AA7A-12586B6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50C27-DFC2-4503-9DDA-A2CD865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4DF81-1468-4447-B88F-46B00AD7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F752D-8522-4E86-B1C2-1A969CD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B3A21-4BA5-4BE8-B161-44E225D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Chemical potential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8FF78-A23C-47B8-BF21-59C22954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B8AF9-E482-4279-82E2-1748A37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881B7-ACB6-4328-924C-C48017E9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reaction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57108-14D7-4F7C-9055-C911D7B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F5311-D518-4DE7-B4EF-BFD949E0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FCDBA-D2C2-4ADB-B6D4-3C6A61BA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 movement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5FD90-2833-40FF-9751-F1D3AD24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A922-8AEC-47C6-A15C-D1CB028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D16B1-6717-49AE-BFA2-FE2C7B48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40DE5-9DF2-4027-8B94-06C708F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D53E3-2ABF-4E9E-907C-6C8AAC1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B1F25-A2A0-4002-8513-E1855FC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Useful energy</a:t>
            </a:r>
          </a:p>
        </p:txBody>
      </p:sp>
    </p:spTree>
    <p:extLst>
      <p:ext uri="{BB962C8B-B14F-4D97-AF65-F5344CB8AC3E}">
        <p14:creationId xmlns:p14="http://schemas.microsoft.com/office/powerpoint/2010/main" val="16298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DC615-2766-4443-9BBC-05A15C21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9D0A0-5F08-41F8-925F-91EA0B3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sustainable energy systems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A7AC2-91BF-468C-AEC2-9D0E8BE5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Start with the real-world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D2799-0BEB-4B01-AD19-F00DC4C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20A46-1787-41AF-906F-934FAD89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B6E0-3946-4C6D-B28F-0770561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00018-58EB-4C90-87F3-2BCD0C62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46EEB-4344-404C-A4DB-F0109D20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49A0-58E5-4A8B-A5D2-846F816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E7016-24BC-4065-A2B2-82A33AA2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969B1-16EE-4AC0-93AF-274FA04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Portable electronics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4500C-B07B-4FAC-BBE5-E97C3188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Phones, laptops and sensors need high energy density.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967F8-4F5A-4AF5-A830-55CFE789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FB0BF-A026-4BF4-AF22-1EC8FE55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9DAC0-5736-4C8A-A9B9-3368A01E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Electric vehicles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406E8-E4F7-42F4-BF83-ECA7D0E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Batteries must be powerful, safe and affordable.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E78BC-6A8E-4AD0-8BD4-B299B72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3E3C-5058-4DA7-A85A-07F4B11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C726F-2C06-4854-AD46-08B93A6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IoT and wearables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C7200-4643-4B8F-93CA-B052739A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Tiny devices need fast, compact energy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E6D4F-71AB-48E6-A606-A0C4EB2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996A4-4BA8-449E-99E6-E9A09CF7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62BB1-9962-40E0-A16D-792169C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Clean energy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B3703-2DA4-4DAD-9135-1A74F05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Solar cells and green hydrogen reduce fossil-fuel dependence.</a:t>
            </a:r>
          </a:p>
        </p:txBody>
      </p:sp>
    </p:spTree>
    <p:extLst>
      <p:ext uri="{BB962C8B-B14F-4D97-AF65-F5344CB8AC3E}">
        <p14:creationId xmlns:p14="http://schemas.microsoft.com/office/powerpoint/2010/main" val="1798433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16704-4716-4BC0-AB5B-46BBC3D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2CDD-A104-4E9E-A05A-D1A0F222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an energy system?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E3FA6-9A8E-4E12-B13A-EC66BFA7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energy systems in simple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2C55B-59FC-42DB-A19F-3933F9B9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46FF7-5C71-46C9-9511-FBA3DB0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BC52A-62D5-4B56-8744-1439753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01E34-CEB1-45A4-B7DB-105E355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Energy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A5433-3D1F-47DD-8EF0-71972E22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8F54A-837F-4016-9480-259089B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Energy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BA770-E636-4F8C-9A64-D190397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An energy system is an arrangement that converts, stores or supplies energy for a useful purpose, often by chemical or electrochemical processes.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8847D-7582-4F89-8ED6-5BC1D237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FD064-7909-4DD2-BDC4-A6018A5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E6D93-A3A6-4CE5-A9B0-F9EA0847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65D8A-D9FA-4109-93B8-EA063F3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72761-2BC7-49F7-BF1F-C89F180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2ECF6-16DB-4687-9E1E-FC6CC90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E4B61-EF56-44CB-8EAC-D7BB457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EFB1F-EAE0-40A3-9F51-27C20BEF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40F87-AAD9-4BAC-ADC4-CC83E6C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B8E86-5923-497C-BBF6-8F20EB4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0C7A0-4604-4B91-9349-7765E0D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Efficiency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9ACA6-295F-4A41-9021-53249CF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3E7DA-2AC3-4B6C-A9C0-D2C038A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F2E35-F68B-4B95-9BAE-CC0D173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31340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5D13F-D9EC-408E-BB9C-05CE4136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D9FD9-144A-40A3-AD12-4E0B7279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Electrochemical energy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9B97F-34C1-4E6E-8ADE-F5FC214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core idea behind cells and batteries.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AAF3D-747F-4AE4-BCBE-A5ECA64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9439-7406-4484-9087-0E7F70B3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35CC7-AE96-4EB9-954B-DF70794A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8C66-CC6F-4567-B921-D8D98D25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Energy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D233B-FB1D-4AAC-9190-4BA1908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560E-38B1-4319-AD4C-9ABF0466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CB205-91CD-4F71-8BC3-9FC83E0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Redox reaction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10B6F-2198-4FFF-AF9B-39CB911B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B195E-6D45-4C7B-912C-A9628BB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5BE06-FCD0-4C0B-9A3D-7AD9E35A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potential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B287D-4773-49B7-AC75-2BF747F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B4E37-7168-463F-A7D5-2B447B0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2C05-6D2B-4CAB-BA53-871D301D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move externally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BFB61-F910-4437-9206-BDCEFA1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3727A-D0D5-461E-B91E-F529867C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C0F48-AD0F-457E-9C69-E3C06D2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 move internally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CC7DC-45B5-4761-9565-9E6C3425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46536-BDB0-4067-B551-7D3C616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31FF3-CCC3-4E53-9685-716B8F5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Electrical work is obtained</a:t>
            </a:r>
          </a:p>
        </p:txBody>
      </p:sp>
    </p:spTree>
    <p:extLst>
      <p:ext uri="{BB962C8B-B14F-4D97-AF65-F5344CB8AC3E}">
        <p14:creationId xmlns:p14="http://schemas.microsoft.com/office/powerpoint/2010/main" val="194119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95BBE-FF15-49A5-A1E3-624EFB3B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FD71D-812F-4DE9-AE1B-209C3A8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the Nernst equation is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B9A78-3144-4E44-BCBD-129EEAA1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problem before the formula.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97E7-EFBA-47A1-AB3E-C0D247C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136B1-F87E-4F1B-AD09-BE30CC9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3C3FC-CBAB-465F-A737-8D043C8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76752-3A86-4DE0-90CB-E06C258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Nernst Equation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5D842-9919-4E56-98CB-3A0A7322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780BA-859B-47DB-AEBF-0B556CC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56FE8-CDD0-421E-9DA9-E104BF9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7A507-4135-407C-9902-2F341814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Cell voltage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726E0-BDE0-417A-990C-E4EE7852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Potential is not fixed when concentration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3490B-3AC7-436E-9E53-2B9AF6D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69316-524A-42C9-849F-5148302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F6E6C-65C0-4925-9CF5-21EF19F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Real cells are non-standard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31949-B9EF-49D7-8446-0BB0992B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Practical devices rarely operate at exactly 1 M and 1 atm.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FE245-E7ED-44DB-97CD-F56EB0F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A83A1-136A-4F87-B668-A709670C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8AE60-0A08-4636-BCC1-4BD5844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Predict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5B64D-4BD4-415F-8B99-B0369CB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The equation helps decide spontaneity and voltage.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A2938-2C5A-4B30-9EF3-9C1164E3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BEF8E-6338-474C-B147-28F09562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CE88E-8C96-4194-80B9-C291D41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Solve numericals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CED32-4CBC-41E7-A2CD-BA3C0C7D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VTU problems often use concentration-cell data.</a:t>
            </a:r>
          </a:p>
        </p:txBody>
      </p:sp>
    </p:spTree>
    <p:extLst>
      <p:ext uri="{BB962C8B-B14F-4D97-AF65-F5344CB8AC3E}">
        <p14:creationId xmlns:p14="http://schemas.microsoft.com/office/powerpoint/2010/main" val="1689800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CD2AB-53AA-44F1-9CD0-B2B352E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37F17-A4EC-4C8F-AD98-D298DA7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Nernst equation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40A08-71BB-45BC-8BA3-ECFDD3F3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the general equation.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2F38-CBEE-4DC4-8D27-674DD3B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28D47-119E-4B6C-8064-E6E997B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F8C1A-2029-4100-AB89-6F64F865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17FC2-BADE-4481-BD3E-59C7A71C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Nernst Equation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7E99B-00F2-4318-8597-336A52A4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4DCD2-20DC-4D49-9BF1-C3822CD3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73F74-0FC5-4C08-8DFA-BCE387E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Ecell = E°cell - (RT / nF) ln 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At 298 K: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Ecell = E°cell - (0.0591 / n) log 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6BB26-BAF4-4AF7-9FC6-594C909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6F595-39A4-4791-9AEF-FAE85FB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3E0D5-B1DC-4BBF-B4C6-9A9AB18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Nernst 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3FC33-8E3F-4105-9EF0-90EF09B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every symbol, substitute values with units, then state what the answer means for the cell.</a:t>
            </a:r>
          </a:p>
        </p:txBody>
      </p:sp>
    </p:spTree>
    <p:extLst>
      <p:ext uri="{BB962C8B-B14F-4D97-AF65-F5344CB8AC3E}">
        <p14:creationId xmlns:p14="http://schemas.microsoft.com/office/powerpoint/2010/main" val="132933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F54533-893E-4F4A-92E9-B2E7474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EB9E-5213-43FC-8965-359482A5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Meaning of each Nernst term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0F34F-93E2-4132-9F9D-B271FA6B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Make the formula less intimidating.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79660-BCA8-492A-93A6-D7AA010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0289D-E1BA-49AC-816D-07A768C4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C796F-0EFE-4A63-8136-67AA2CB0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147E1-00D0-452C-889C-BBFC230A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Nernst Equation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84D94-A56F-4720-B3FF-82EE2E8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39057-4F01-47B0-BEDA-CA1FE46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EFDCA-2676-479D-9AC3-6D52AD2B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A429-0736-4BBE-8435-D186B5E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022D-894F-4AE6-881F-A8A5282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73BE0-938E-4636-A15E-AB4CE59E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0DC5B-6A14-4BA9-AA04-64C9D16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Exam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EA944-759F-4822-AD9E-E34B159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BB20F-2A6C-4B52-B834-41D0BF7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Ecell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EEC8E-4E38-4E26-8454-A43F5A1A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23625-CEEA-4CC8-8B41-EC5618C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Actual cell potential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50C67-4CA6-4562-A922-4F6A29B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2C0D3-A719-4F48-9E6E-E394F373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Depends on concentration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4CEDB-289D-494C-8811-F674817B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04958-7E7D-4256-B1C6-E80EE1E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E°cell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33C40-9513-49C6-8869-23FA5FD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A2BA9-9F0F-4F8C-BB1A-EA2D592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Standard cell potential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05FBB-386A-4B1E-9EE4-21920905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B4860-CA93-4271-AA81-32D48FB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Measured at standard conditions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A7AB3-C977-4482-A2B1-794B5B3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A3DCB-E2A0-4799-BBCA-3480793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9C3D1-DEBE-40E8-91C7-BA26CB5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F91081-6A25-467E-B8D6-78F68FE3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Electrons transferred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EB883-E733-4E15-980E-C47EC116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CCA120-8C3E-4362-BC60-98EB552B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Use balanced redox reaction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37635-A0BF-452C-835C-ED4B4119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45035-2C66-45F0-A8C5-A769DD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Q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DAE3F-6B50-44AB-9695-C6A8F51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140B56-00DD-43D5-B8D3-7A7064EB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Reaction quotient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1634C-DE5B-4592-9880-060AE77A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4B06EE-E05E-4229-9271-5113E0A0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Products over reactants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3FF7D8-E06A-4D31-A319-2A90063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A360C0-9285-4BDF-B9D8-BDEBAEDC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0.0591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5E3F6A-AE61-400C-BD45-6340FAE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D4D10C-9770-4470-A8AC-1A6CEFB8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298 K constant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44045-D8A8-4656-90B9-C42CC92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7FB7BD-FDCD-4A99-98D6-090C403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Use only at 25 °C</a:t>
            </a:r>
          </a:p>
        </p:txBody>
      </p:sp>
    </p:spTree>
    <p:extLst>
      <p:ext uri="{BB962C8B-B14F-4D97-AF65-F5344CB8AC3E}">
        <p14:creationId xmlns:p14="http://schemas.microsoft.com/office/powerpoint/2010/main" val="1231216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A44DC-694E-422F-BB5C-E4B0879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2DF93-F92E-4986-A4AA-B2A29AA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Nernst equation for concentration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B13F0-4E3E-47E3-A10F-E2195E90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Specialize the equation for same-electrode cells.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6582A-C418-4E8E-996D-D739D9C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6AFD4-C319-4CC9-8D7C-A53DEF31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3B61F-253C-4F9E-B969-5BEB353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C0519-D490-4BD0-B8A9-5813702F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Nernst Equation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1468F-AB37-474C-9C27-3A2FD24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AF252-FC2F-4E94-A255-EF3EA42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3CE14-9851-48E7-A167-F92DFE8C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For a concentration cell: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E°cell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Ecell = (0.0591 / n) log(Ccathode / Canode)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Higher concentration side acts as cathode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BAA28-766B-41C8-82C3-49A7040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463E8-6654-46AB-82D7-C8AE606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6E3F5-6B78-47B9-AE07-E79DB44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Concentration-cell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BFD82-95A6-4225-89E0-841AA8CE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every symbol, substitute values with units, then state what the answer means for the cell.</a:t>
            </a:r>
          </a:p>
        </p:txBody>
      </p:sp>
    </p:spTree>
    <p:extLst>
      <p:ext uri="{BB962C8B-B14F-4D97-AF65-F5344CB8AC3E}">
        <p14:creationId xmlns:p14="http://schemas.microsoft.com/office/powerpoint/2010/main" val="658917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7CE21-6507-462F-892F-007B6FF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FA2E7-510B-425C-A284-F2CED877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concentration cell?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76426-D3BB-4C4A-89E7-A48FE66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concentration cell.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E809D-6691-4C31-8BD3-B47DA7FD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8A202-5BBA-4210-A47A-3D127A38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4B29D-4643-48CD-BE7B-4B82447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AEB6F-A339-465B-8EF6-79EE12F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DE8DC-3FEA-48B4-8FDC-0AE933A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F7BB1-F9E3-47CC-9BD9-0DDD7A9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Concentration cell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C80C-B776-4483-9155-B11448F1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concentration cell has identical electrodes and electrolytes of different concentrations; the concentration difference produces the cell potential.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6ACA-B705-48BD-A38F-3783FA1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BA7EE-69CB-40AC-A7B3-ACEF732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Same electrodes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14D61-D2C9-4B22-A4EC-0D539B1E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37DC3-C30C-46A3-9BD9-98F942EB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F9885-721B-4EE8-A920-8426C450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Different concentration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D0FB5-BDDA-41EE-A971-AA8F98E2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2AA63-2358-402E-9DDE-899B096E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8C711-B95C-4B34-9FE3-B16F7AC6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Salt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1C8B2-4154-4198-9B58-A3E2FBC5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DA80D-302B-4B1F-8049-83DA8607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270CF-282C-4BFA-A4F9-445536F0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6D7A5-E115-42BA-861C-F168965C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690B3-7761-4550-B984-722C90D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EB0E2-4D74-4DC2-A2A6-1AC69188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</a:t>
            </a:r>
          </a:p>
        </p:txBody>
      </p:sp>
    </p:spTree>
    <p:extLst>
      <p:ext uri="{BB962C8B-B14F-4D97-AF65-F5344CB8AC3E}">
        <p14:creationId xmlns:p14="http://schemas.microsoft.com/office/powerpoint/2010/main" val="1045278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13418-CB9C-4536-971A-98ED473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894F4-F06F-41B4-93A9-A4847DE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concentration cells produce voltage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72052-ECBB-4F6F-8C92-9BAE486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driving force.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BAAEC-6D62-4C43-AF0D-F80A4A0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D934F-06C5-4F82-8929-557FD9B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C0326-D59F-4C2C-8BE4-C001CCF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F85DD-6B7F-4485-8C5E-A87B840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9DA38-52A7-4B7F-9B2C-B19EA6E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83CB3-3FEF-4E2D-910F-235EA54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0A96A-23ED-49F4-BDA5-6F9745A4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Two half-cells differ in concentration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3EEE1-F38F-4F68-A869-373F1EA6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D5A27-6D46-49A2-B152-A289859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8679A-E524-481B-8D75-FDDBC696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System tends to equalize concentration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68C1A-24B0-4DB9-9929-F67E29F2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F9817-913F-4210-AA52-12B4EED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37968-5BBB-4F7B-8792-8590069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Oxidation occurs at dilute 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9ACCA-24E6-4D6F-A60B-7AD67AE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68A3E-F826-4209-95FC-141C8EFF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B18B6-3B79-4CE4-8691-1665CFE1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Reduction occurs at concentrated side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73A1A-1E47-423F-88E6-EE2AED36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E31B6-3CED-42BD-8F77-60C804F3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C4FB0-7B94-4ACC-A5F7-D078C4B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 flow gives voltage</a:t>
            </a:r>
          </a:p>
        </p:txBody>
      </p:sp>
    </p:spTree>
    <p:extLst>
      <p:ext uri="{BB962C8B-B14F-4D97-AF65-F5344CB8AC3E}">
        <p14:creationId xmlns:p14="http://schemas.microsoft.com/office/powerpoint/2010/main" val="9314739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4852D-A533-4278-ABC4-BB07A697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A3E8-CFFA-4F60-BE8D-B56FCF6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concentration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F67FA-128D-407D-B470-A23D24E4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the physical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EA00D-224C-49D1-93A8-2E5FAB4F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3CA0-E72D-4BC5-8A0C-16B752A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88030-64BC-44C6-B76C-EC206174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6F101-39DE-4CB0-93DC-AABB841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381F9-FCA9-475D-A865-CAFC9FA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9C405-8B98-4D5F-AB81-B28DA075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6BA59-F9B2-41B7-BFFC-2D4858F6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B7F86-50A2-470E-B106-56660353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Concentration cell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D4D92-9A36-4842-A5D4-748A749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Two identical electrodes are dipped in solutions of the same ion at different concentrations. A salt bridge completes the internal circuit and an external wire allows electron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77EF2-CA30-4ED3-9CAA-2EA1C224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F6654-8288-4117-A090-692ADC90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1E7A2-DC20-4730-ABC4-EC34838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E4D74-E68A-494B-9169-250A640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C5DE3-88EE-4267-A35E-D9EDC788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731FC-5512-4891-8C4D-41A2AC10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F028D-EBF6-49BE-A10A-3F9FA9AB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47429-036B-4B57-A460-E3BA516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EFC8-101A-4A38-883C-23F46E6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07D84-9E4F-45B6-8009-ACAC27F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2DF86-FC75-48CD-8EA1-792F0CE1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98BE8-591B-4480-AB3E-F7DE6683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92F62-02E8-46B7-A8FB-65899C2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A9902-ADF1-4438-B179-9C45133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408AF-A864-4A32-9A41-F186D949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Dilute half-cell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77DA7-8FEE-4172-9454-70BFB30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E873C-38B3-4748-BE94-FD2C870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DE0F8-775D-489F-89EC-796F257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520CB-5F7F-4770-921B-0D7BF742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0B18E-F31A-4955-8FAF-33DF76ED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8211CB-B8CB-4896-84FF-DB81514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 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6F931-785F-458F-881B-D3E9185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C67CFE-D9F8-437E-B223-AB8BBA78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525829-03CE-4FE0-9046-3F74003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0F6D9-90B4-45A4-A5AA-A3BBFAC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405D84-FE72-4E49-BDBE-A4B86B7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B02072-8FE8-4A0F-963D-EA2778F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Concentrated half-cell</a:t>
            </a:r>
          </a:p>
        </p:txBody>
      </p:sp>
    </p:spTree>
    <p:extLst>
      <p:ext uri="{BB962C8B-B14F-4D97-AF65-F5344CB8AC3E}">
        <p14:creationId xmlns:p14="http://schemas.microsoft.com/office/powerpoint/2010/main" val="1126517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E27F0-F4B3-487F-B874-7170B47D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49D98-E9E2-42C3-8917-C4A2469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of a metal-ion concentration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F91D-B7C7-4D2B-8570-A0F31F8F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operation step by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50335-E910-4B58-A75C-7B28181C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26D43-3B37-45C3-A7A6-80CA84B0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A271F-7A9F-470F-8D58-2B74D96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C2A24-3BD5-418D-96DF-A6AE5E8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5AC97-E66D-4013-BB77-D9B3325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E61BF-AFB1-4938-B7D8-52D50AB6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2390-49F1-4CFB-BE58-0246FFF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Dilute side becomes anode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AA2D4-52BA-479D-AFCD-E9073BF3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D9AFC-FDFE-45DC-B6E4-97DBC30F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D1143-1685-40B8-A91F-EE7C848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dissolves as 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0B488-370F-4C03-BE49-32210D9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9B332-F536-4FF7-B9A2-7B6893E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DC733-38C7-4E65-A691-8B483481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travel externally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4EF9D-10C8-4E32-90DC-A77704C2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46B68-1E1B-4694-BB49-E430E0C3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80A62-7AE0-44F2-8003-B98985AD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 migrate through salt bridge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2E5D5-BC16-431A-AF49-D5EBFC9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76C6C-59B2-4941-BCA0-517A3B7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85147-4975-427A-ADF9-69C5FF5B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Concentrated side gets reduced</a:t>
            </a:r>
          </a:p>
        </p:txBody>
      </p:sp>
    </p:spTree>
    <p:extLst>
      <p:ext uri="{BB962C8B-B14F-4D97-AF65-F5344CB8AC3E}">
        <p14:creationId xmlns:p14="http://schemas.microsoft.com/office/powerpoint/2010/main" val="18632371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3B07D-18B7-4291-A530-D561A849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0C338-ED26-43FA-84B5-01C763BF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Cell notation for concentration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1637-EC8B-40E9-A4BD-1DAD59C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how to write notation.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1B26-8257-4F49-ADFF-598E64EC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52542-6192-4B11-9814-46BC059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86BC8-8E3B-47F0-8C80-DC85375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4C9DF-9EB5-42D0-9666-AD81170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9B21D-396C-4D99-BD1C-28135A05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EE93-1FC6-4C8E-8605-FA5F1DC1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128B5-C83B-43FA-9243-02EFC962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M | Mⁿ⁺(C1) || Mⁿ⁺(C2) |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If C2 &gt; C1: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Anode: M | Mⁿ⁺(C1)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Cathode: Mⁿ⁺(C2) |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BF862-E17D-409C-84D7-C466F31E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F94CB-357F-4A00-989A-EB3BB333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83429-ADFB-4772-BC75-D66F4C0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Cell notation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D114D-882B-493A-8D55-14759C1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every symbol, substitute values with units, then state what the answer means for the cell.</a:t>
            </a:r>
          </a:p>
        </p:txBody>
      </p:sp>
    </p:spTree>
    <p:extLst>
      <p:ext uri="{BB962C8B-B14F-4D97-AF65-F5344CB8AC3E}">
        <p14:creationId xmlns:p14="http://schemas.microsoft.com/office/powerpoint/2010/main" val="876524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FBE82-1491-4344-9F50-9D4FF8C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2D68F-DEEC-4A0D-A55D-850DE51C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Numerical method for concentration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160DB-FB08-4BF6-955C-C9D935B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the problem-solving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545F6-27BF-4DFF-994F-764FC8B5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6980E-7AFB-4A11-8C1E-0E5B7FA6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AEB1A-55EA-4AE9-B151-7EDF3EA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9879-68DA-401F-8922-F386CEE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079A7-9983-4532-B888-880133F0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252A9-2EED-400A-ACD7-9CD3BDB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3BEC4-DDE3-4BC9-87CA-9A74EEA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Identify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1D8DE-FF2F-4F48-BB99-56E9EC7A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E3E9F-AD10-4BC8-9BA0-242736C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BEEE6-0AE2-441E-B09A-FCF9313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Find dilute and concentrated sides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4DF91-D5AD-476A-B6BF-D7A34BE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1EE8A-F28A-41F1-85C8-B830FE74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4C21B-B0C0-4416-8E79-E349895F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Write E = 0.0591/n log(C2/C1)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3CDA9-4F7A-4D2F-B8D1-CA99B3E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28A8C-A2EE-4BFF-819D-0E3CEBD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FBE47-45B8-48FB-BC68-61E3923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Substitute concentrations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5D372-83DA-4F59-AE2C-A0BC991A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82798-62E5-4B5A-A7C2-5F265F08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CB8F3-1417-4668-BCFA-2ABC6071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Report cell potential in volts</a:t>
            </a:r>
          </a:p>
        </p:txBody>
      </p:sp>
    </p:spTree>
    <p:extLst>
      <p:ext uri="{BB962C8B-B14F-4D97-AF65-F5344CB8AC3E}">
        <p14:creationId xmlns:p14="http://schemas.microsoft.com/office/powerpoint/2010/main" val="11134680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9E632-C455-4D5B-B9A1-28A20D0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36884-36D2-4990-8803-75B12A87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numerical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700B9-7F25-4BAB-807F-419E6AF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an exam-ready calculation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78487-8AD7-4383-ABA9-9F55A74B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968AF-D6CC-49B1-9686-5743710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7C96B-D5FA-4A73-9D25-76B97595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5B99C-7A44-4FAF-92EE-1EC1ADA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Concentration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70692-E6E3-4E99-93A8-2740E1F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9F276-2142-4C2A-A790-BC16665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28A51-C750-480A-9680-E46A576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Example pattern: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C1 = 0.01 M, C2 = 1.0 M, n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 = (0.0591/2) log(1.0/0.01)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 = 0.02955 × 2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E = 0.0591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A8B9E-2430-4987-BE1A-64CB44D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0F39F-B223-4144-9C5C-B3F26748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6FA78-A0E4-4447-B12E-CBE994BA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Concentration-cell numerical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D24EA-4E87-4854-9C7D-F2EBA89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every symbol, substitute values with units, then state what the answer means for the cell.</a:t>
            </a:r>
          </a:p>
        </p:txBody>
      </p:sp>
    </p:spTree>
    <p:extLst>
      <p:ext uri="{BB962C8B-B14F-4D97-AF65-F5344CB8AC3E}">
        <p14:creationId xmlns:p14="http://schemas.microsoft.com/office/powerpoint/2010/main" val="7160373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CB722-C7D8-4A07-A2BD-37436FC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8964-F994-4B4E-BA47-FF48DE28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battery?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C6049-27A5-41F8-ADBA-6547C31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battery.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08CDC-1A37-4A85-88D4-70ACA15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72087-163C-499E-8C35-6B61BD1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21C88-F694-446A-86BC-A3F69280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8B23A-74E6-42E9-B525-4D45D692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Batteries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B811A-7056-48CA-B346-46042523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05DA1-B2C6-425C-9533-6160133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Battery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40D32-43C3-4C42-A03C-CCA808A5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battery is an electrochemical device that converts stored chemical energy into electrical energy through redox reactions.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F41E5-19D8-493F-85F3-A31B7BD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9023-D8A3-42E2-8035-E1ACCFC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Chemical energy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73BC6-014D-4D3E-BB9E-C4A013C8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74076-21B3-4277-8E07-3E928EC6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5EC24-A00C-4969-8A2B-2FC39D3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Electrical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3CAC1-C108-45AD-A9CF-804EBE2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2449E-7335-4255-82FA-6B06BF7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BE6D9-00F0-4AE0-9DE1-9792530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B77D9-161B-4589-B6F4-3C849B6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1FD2A-EB2F-4804-A8A9-82452C4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DDD0C-61FA-4BDA-AE50-E18F1BE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CC5F8-2443-4603-A29A-0382809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EB03B-337C-4485-83C9-B71B041A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56147-C3B2-4579-9F63-C148B1F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</a:t>
            </a:r>
          </a:p>
        </p:txBody>
      </p:sp>
    </p:spTree>
    <p:extLst>
      <p:ext uri="{BB962C8B-B14F-4D97-AF65-F5344CB8AC3E}">
        <p14:creationId xmlns:p14="http://schemas.microsoft.com/office/powerpoint/2010/main" val="1731844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416CAB-8C0E-48C9-8314-5AC327A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F71E8-FE4A-4722-8A4B-1E4A9C91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Battery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21972-CA68-489A-90B8-C38D575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Classify batteries as per basic chemistry.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CC1E3-D1CE-45A9-8DDD-A19CB37A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C58FA-142C-4F34-8C21-DDC9C54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9DFE2-7365-4D5B-9C33-B6AFFA7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FF6DB-AD52-42DA-99E5-F77EACB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Batteries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0DB39-FBBA-4B68-9602-8EE5CE2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36180-E0B9-4995-AD24-ECA26F4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FDDEC-9F59-4CC9-A06E-98432745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4EE05-868C-4E9D-AD98-9F2B0F0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Primary batteries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DCA6B-FA0F-44AB-9150-A675A886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39B28-5BCB-4967-9027-6FAD0CF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95B9B-761D-443C-85D4-D7B6501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114C3-7540-4792-893A-EC1ECBE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Secondary batteries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6AC84-8044-40C5-BCBA-6EF2D7BE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99987-8E02-477A-B21B-A107D7F7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04B1C-5A59-4DDE-8131-0EA1AA7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75701-7E09-4780-B5F3-7A221DF5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Non-rechargeable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61FDF-A6D4-4B49-B2EB-EC2B9D7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0CE49-FBCB-450D-A7CF-FB9DAE6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A995F-0D72-42B6-89AF-66A8E66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Reaction not easily reversed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C3947-BAFF-4F0E-9731-EDF9A5D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CBCBD-474C-4B0A-BF24-7AA4B15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B7D95-B8D6-495E-9ED7-718936B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Used once and discarded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B9ED0-15C5-465C-9C35-AB503FEB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2BD91-CBB6-4038-B88E-A53A89A9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189DC-E4E4-485E-85E9-30749BF3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Examples: dry cell, alkaline cell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381F0-E3FA-4E2D-98FB-065AF4B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BC5CF-D637-470B-8301-993BFE6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2717D-C170-4EC3-9E33-E6D7F6D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Rechargeable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CC984-B728-457C-BF4B-FD5F959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7D341-2738-4AB7-95CF-88364168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32B93-D62F-4029-8A86-E033C85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Reaction can be reversed by charging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289FA-9E8B-45D9-B80A-276F150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B3742-9559-47EB-972D-AD55E54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96AADC-1B1F-4359-A442-12FB944C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Used for many cycles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96073-054F-4261-8643-E8C52846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A89FFC-6763-4704-BE90-5C1E444E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292A66-3803-49E3-A43B-A093BB90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Examples: lead-acid, Li-ion</a:t>
            </a:r>
          </a:p>
        </p:txBody>
      </p:sp>
    </p:spTree>
    <p:extLst>
      <p:ext uri="{BB962C8B-B14F-4D97-AF65-F5344CB8AC3E}">
        <p14:creationId xmlns:p14="http://schemas.microsoft.com/office/powerpoint/2010/main" val="18406229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B31B3-A694-4093-B128-93F513A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733C1-FF4A-435E-A9B5-ECC517E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Other useful battery categories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0F7F2-91CF-46A7-990D-52A6BAB4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Extend classification for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9A8BE-7428-4CA6-95C3-A3C18F30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2145F-1EF0-4CD8-B55E-9F432F5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C0C69-680F-482C-945A-BDD78C6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BDF37-7CF9-4A86-B51E-BA5D662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Batteries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2AE9-4320-4990-A322-541117B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09DC1-6447-47D9-9848-15DBA732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119E8-1D0B-46F0-8ABE-F30C7DD9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10270-2629-439B-870F-3D9EAFD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Reserve batteries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1F28C-6348-4B17-A7F1-7FE4A97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Activated only when needed; useful for special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28FA4-CA1B-48AC-85CE-4BE6EEC6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8BE32-0BEB-4DB8-AD0D-79407AAF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4737A-D025-4275-BD50-95669912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Fuel batteries/cells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E22B4-5C80-4BD1-A15B-A78F9BA4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Reactants are supplied continuously rather than fully stored inside.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8550E-5893-4976-BB52-CF40AED5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1F74D-508F-4867-8D92-1F09841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A579D-4C0F-46BE-B356-83BB2A8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Flow batteries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5FB01-2540-4628-B698-BA7772AA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Electrolytes are stored externally and pumped through the cell.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DEC07-5E5D-46D1-AA6F-08F5D4DB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39EFF-D40F-4020-8529-903AAF4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BA6E8-063A-4420-8FFC-EE4B6540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Solid-state batteries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1DA32-91E2-4AF1-B0D5-AF247D1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 solid electrolytes for safety and packaging advantages.</a:t>
            </a:r>
          </a:p>
        </p:txBody>
      </p:sp>
    </p:spTree>
    <p:extLst>
      <p:ext uri="{BB962C8B-B14F-4D97-AF65-F5344CB8AC3E}">
        <p14:creationId xmlns:p14="http://schemas.microsoft.com/office/powerpoint/2010/main" val="11708883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145D6-38A0-4AD6-8D04-F561E8B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37B5B-3AF5-4592-AB7A-7123B90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Li-ion batteries dominate devices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C13B-344C-44BE-B21C-1628EBB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real-world importance.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12FBA-2B6C-4C51-92EF-D1994F1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27FAF-FD3C-488A-9288-57C4A030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91D0B-6D08-4DBF-B78F-BCCAD7A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06DEE-93F5-4968-95CC-20F8D5FE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A93CA-DC79-4855-80B5-FD6638F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76435-F803-4708-9BE6-3BDE100E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7F28A-B5EA-4738-AEC2-48E821E5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CDDAD-F87D-4AE0-A03B-4C18A1CF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energy density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599A3-F028-490C-8867-2C2CD70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Stores more energy per unit mass than many older batteries.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088A5-9F1D-4C33-A3FA-A255099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3935F-E168-4686-9DEE-EC2BDCC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D9252-6FE4-4254-B5BA-1C49F403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Rechargeable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63969-E0D5-4160-86FF-429B34DF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Lithium ions shuttle during charge and discharge.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96B6B-3B5A-4509-98C8-431B2D3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357D4-AE36-4C31-83F9-FF9F5AD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55093-6800-44A3-8EC6-09169148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Lightweight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00B7D-00C9-4E41-BDE5-473241C6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Important for phones, laptops and EVs.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D5FA1-0A0E-41CF-9004-E734EE7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C85D1-C53D-4074-9400-98DB766C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4124C-B7F6-41C4-B85C-819B6F5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Commercial maturity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CF19D-607B-436A-B58C-A579F17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Widely used with battery-management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14561815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D2EF16-8941-49C7-8BBA-F92B7582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834D7-AC16-4C08-81BE-9C413C7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Li-ion battery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8F64-79EB-4317-BA21-F1B6E12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major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A439A-A85A-4C79-886E-0C9CAFE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DC80B-B3FE-42A3-8A56-C117DD78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28F0A-75C4-45C0-8F9C-C0DABC7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6BE68-B246-4770-ACB1-8C4B7CCA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B9DA-DE9F-4DA5-8430-951C094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C3A62-F4BF-4C0D-8D9A-8DE9056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2377E-D7A7-4677-99D0-0D284C1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D8B38-31E3-493A-A8DA-F55AECE4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Li-ion battery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ACE74-CED4-4B98-B179-A9CDF119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typical Li-ion cell contains a graphite anode, lithium metal oxide cathode, organic electrolyte with lithium salt, separator and current collectors.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94383-0DCE-46F8-AB5F-AE3DCF63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066C8-B7BB-40FF-80DA-1938F53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39A59-FB73-425A-BF47-119B7AB2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1DBCD-4E2B-4ADB-838A-B50297B1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611EB-BB4C-4465-ABBE-AB649C4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C38C4-DE3F-4F63-BDA3-9BBE1B9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4D77F-FF03-4C4D-8DE6-6E29B048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7E15D-EE3D-4D6D-A6DC-AFC8868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7DB98-9980-4233-9A81-9EB574C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B25B5-277D-4127-A925-742D0802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1C1F1-247F-464F-A8E3-57D941A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C3140-49AE-40A2-A9D8-CC4E346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6CECF-E14B-4E2D-9B22-2036E56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1FEE5-7912-4927-8366-020C453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921BE-51C7-4E8F-B56D-A017D56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08171-3251-4632-B479-431DA43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14308-DA62-450E-916A-1528861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09443-4A63-4AB1-A029-148F4657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Li+ through electrolyte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FF8C1E-5C48-4A91-AE30-63BC035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F88176-63B7-4F68-845E-C1F5F7DB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2D87F-4045-4372-95E3-865EA301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5C1B4-4D1C-4A86-8834-235DA6F5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B66F1E-D622-4F92-881A-A3C7F3FA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304377-DB11-4CA8-AF0F-6AE6419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electrons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DE4529-5172-43BB-BFF9-4EFEAA0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6ABC7E-23FD-4024-AD9F-CE25E690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5BCC7-2DA9-42A2-A827-47A9896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20329579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0B7C1-4EC7-4EE3-A5D0-C89F01E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AE7A2-B399-4599-88BC-96F93D2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during discharge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12B23-FE66-42E9-A8E4-93F3B22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Li-ion discharge.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C4237-83E1-4270-8C27-70621425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A488D-174D-4B5A-B85C-4C4E755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5F5EF-9B62-4BCD-B417-6C3B92C2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DD89D-C30A-4C44-80FE-EFD0237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047BD-8334-4385-8B91-E25B17F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4CE19-2DA5-4F93-963B-139610D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1D9F-881C-497F-B02B-9445C5DF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 leaves graphite anode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D5420-9E28-4DFC-80A9-1643244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49D6E-1A9A-47DE-AF9C-D892A13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C2CAA-6A28-492C-B030-8E04B33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Li+ moves through electrolyte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251BF-16A2-4B3A-BE04-93DFA30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8ED28-FEE7-400D-A782-B56A66AD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081DC-C8FB-4FA7-B1D5-36F62D0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move through external circuit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02F4C-EA93-41CA-95D1-A7F1374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A6B7E-0AAC-4D1A-ADBA-3360C19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7416B-D543-46B7-90D0-FAD5904B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Li+ enters cathode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6B151-3977-4AEE-B381-0DF25CF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9BFEB-5571-4858-B6BF-852357E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7821A-ECAA-439F-BB64-5C2E320C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Device receives power</a:t>
            </a:r>
          </a:p>
        </p:txBody>
      </p:sp>
    </p:spTree>
    <p:extLst>
      <p:ext uri="{BB962C8B-B14F-4D97-AF65-F5344CB8AC3E}">
        <p14:creationId xmlns:p14="http://schemas.microsoft.com/office/powerpoint/2010/main" val="14758978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CCDED-576A-4B60-9827-64D77591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01B21-3C57-4A5C-ABD3-A9DFE0E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during charging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DBEEB-F498-4D63-932B-0DEEE111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reversal during charging.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68067-7BEF-4FFB-8759-35CC4683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6046-E86F-491D-BE63-91FC8B4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55DAC-9761-4712-8DC4-C151711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A24AE-73B3-49E7-99FE-859A2612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15AB1-A405-47D7-8AFA-F1D84FFF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CF68C-10F7-45AB-8700-B3A39FAD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BFEA8-20BB-47A5-AEAC-34E002C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charger applies 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6D706-97B5-4A7A-8F69-D3E4CF4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212AE-9E08-4E11-8FA8-BA5A2E41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95603-0F42-48CE-8E1E-12A52FC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Li+ leaves cathode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454E7-9F10-48F2-A265-3158B24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8078C-08AC-40CE-8F3B-CF42FEB4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77CE2-6167-4542-A621-CE459EFD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Li+ moves to graphite 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78E9A-91A7-4C24-8522-3FC7D15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0CA90-B266-49E7-9E27-E0224B2E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69A58-25FF-44AD-86BE-D7AA1F53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supplied externally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3BB4B-9226-4FF5-B333-97B21702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B14A3-07D6-4BC4-B8D4-0E50D1C0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1B545-4F22-4CA0-8781-730AE4B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Energy stored chemically</a:t>
            </a:r>
          </a:p>
        </p:txBody>
      </p:sp>
    </p:spTree>
    <p:extLst>
      <p:ext uri="{BB962C8B-B14F-4D97-AF65-F5344CB8AC3E}">
        <p14:creationId xmlns:p14="http://schemas.microsoft.com/office/powerpoint/2010/main" val="16785565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FB8E1-D0DF-45AE-B909-214F497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D3357-5A64-41CD-BB6E-20B54A8F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Li-ion battery electrode reactions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C4750-724D-4D12-A219-22A60CE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symbolic reaction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B8255-71E3-4851-B577-88C6CDE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E1EAD-F8F2-4E40-960F-2D9B0B83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AE2FD-9586-4F24-B67C-7D62A34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A6C8-C073-47BA-A075-2F16DE6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E1028-A714-414E-B3F5-5FA81A44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42640-D094-4EF6-8DB9-07ECFD84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CFD04-9772-4417-ADB6-EF29D9AB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Discharge idea: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Anode: LiC6 → C6 + Li+ + e-</a:t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Cathode: Li1-xMO2 + xLi+ + xe- → LiMO2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FFBF69"/>
                </a:solidFill>
              </a:defRPr>
            </a:pPr>
            <a:r>
              <a:rPr sz="2250" b="1">
                <a:solidFill>
                  <a:srgbClr val="FFBF69"/>
                </a:solidFill>
              </a:rPr>
              <a:t>Overall: Li ions shuttle between host 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CA944-1DB4-4FA8-830D-9F188856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9B67C-6216-4CA2-8C1D-209BE7B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77714-4F37-4963-B3F7-9D3A222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Intercalation reactions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BBB8D-650D-4143-8022-13EA3886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every symbol, substitute values with units, then state what the answer means for the cell.</a:t>
            </a:r>
          </a:p>
        </p:txBody>
      </p:sp>
    </p:spTree>
    <p:extLst>
      <p:ext uri="{BB962C8B-B14F-4D97-AF65-F5344CB8AC3E}">
        <p14:creationId xmlns:p14="http://schemas.microsoft.com/office/powerpoint/2010/main" val="1659920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66C39-040A-4027-ABD9-EB5EBAE5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0EDDA-FB4A-4895-AB58-46DD61FD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of Li-ion batteries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F5514-030D-4A61-B4D5-7353CCB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construction to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E72A0-95FD-42A7-B6B6-E7B55C1B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2376E-BFD4-49EE-B1C9-368CA8A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0139-B8CD-4AB9-AFA4-0E5F508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5F0E5-EB16-4E64-832F-5453815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23AE3-365D-481E-9CB8-276538D0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D31D-9AF6-4F7F-A177-0DE139FA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39981-DA7A-4FCD-9B11-2FF88AF0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F6E3A-8209-4794-9FDA-533FFA7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Smartphones and laptops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3F0A1-A1C2-423C-BD33-EC50E3C8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Portable high-energy storage.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8779F-ED41-4119-B3CD-FB1095B6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4C351-6D87-4CAF-9B4F-5BF1563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F6341-43B3-4392-B3C0-397B5D93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Electric vehicles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2F7D0-D8F2-4689-B92B-41AE225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Large battery packs for traction power.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95AA9-0065-438B-AA9A-2AE6F5D5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2B4FE-55CE-49B4-A9D0-B11534B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C695C-ED0C-4474-BA1F-1EFD1FA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Medical 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5CC77-1441-496A-9C69-B1860B2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Reliable rechargeable power sources.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36D21-D84F-46BE-92E5-025EDD0D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7EFD1-626A-4125-AC44-2DD5383E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F68B7-D4AC-4C5D-B77D-64956CB4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Grid and renewable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4CAD3-A3BA-43DC-80CC-976309B7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Energy storage when managed safely.</a:t>
            </a:r>
          </a:p>
        </p:txBody>
      </p:sp>
    </p:spTree>
    <p:extLst>
      <p:ext uri="{BB962C8B-B14F-4D97-AF65-F5344CB8AC3E}">
        <p14:creationId xmlns:p14="http://schemas.microsoft.com/office/powerpoint/2010/main" val="17432010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8E2FF8-B375-4970-8A35-528570AF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3D55A-7760-4D32-A101-D419B47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Li-ion 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57EF3-9C36-449E-82F4-B62F012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exam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649F-CDB7-427B-ADEE-0CC9CA0B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00FE-3FEE-41A5-9967-E431CBE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CED0A-40D4-49CF-B132-5F5FDFE8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67BDE-863D-4DD7-8A38-61858D76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01349-013D-4C2D-95D7-7724E55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7EA24-C3D4-4269-8C7C-F391E53F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E1F0E-1D9F-4911-8D30-77C899C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5EF43-C419-4389-8803-621DCA9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3DB81-6D80-4EFE-B2F9-EAEFE7E4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79F5E-EF3D-449D-BDB7-024D46DA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9C036-9DC6-4BF0-A88C-C604D2F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191EA-B767-4698-BC29-07201DC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55375-AF67-40E3-92ED-437BD79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1E7D4-B3E8-4547-8049-F9C38FEC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FC7EA-7FE7-4BC0-B686-76ADD5B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D28B4-7CB0-48A5-88D1-B569588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High energy density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416D7-736F-441F-B40B-E26DA40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CA06B-7A8B-40B5-9E0E-ABA685C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C0963-3CF7-4DAF-93DE-DEADC4E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Rechargeable with high cycle life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42162-C6F6-4340-B3D3-AAF26F6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10F43-43ED-472D-8D12-4CB156C1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867D1-3CF7-4F36-8EBD-125FBF65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Low self-discharge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E2132-1872-4226-B14B-ED45474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3288D-5873-423C-9C5E-8A92AC4E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16DBE-198B-44D1-B2B0-06F2A9D8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Compact and lightweight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A18F7C-B55B-405A-881A-43631797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4B7E8-3A71-4DC8-A65D-E142ED6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B38EB-F409-4E0B-82EE-5B760FA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Thermal runaway risk if abused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D7279B-07D8-43E7-AB8D-18B2C6F7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DAB23-ABEE-4975-84B3-6159551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BA6DAD-0CFA-4C44-9728-072B3394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Needs protection circuitry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A0020-C5A3-4061-8BE6-E9913A92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EC83BF-489F-4A52-9A14-05589F88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759DAB-F082-4AE7-B063-A4D1E841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Lithium/cobalt supply concerns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8898F-A115-40D1-A543-48970B8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6506EE-EF38-4F8F-8161-EF6930A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E6516-40C7-401F-BD86-088BCC5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Capacity fades with cycles</a:t>
            </a:r>
          </a:p>
        </p:txBody>
      </p:sp>
    </p:spTree>
    <p:extLst>
      <p:ext uri="{BB962C8B-B14F-4D97-AF65-F5344CB8AC3E}">
        <p14:creationId xmlns:p14="http://schemas.microsoft.com/office/powerpoint/2010/main" val="5221329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737CA-0DD9-4971-B298-B448338B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DF0B0-586D-40FF-B524-5C498D6E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sodium-ion batteries are emerging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8A32E-A7A3-488A-8B1F-10D78959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next-generation device.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785E4-52A2-4660-AD5C-7DDBCB3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72F40-3B58-4FF7-B40B-14A212F3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88ACD-0B5C-481B-8D54-C18F7F7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2F07C-8172-4650-A28C-8178497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Sodium-ion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B4DD4-56B0-46FD-9EBC-B4F82D5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95968-4F2E-4085-89B3-070C6188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A9354-2186-4074-AD09-0A56B56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C8273-F489-4175-929D-622474A9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Abundant sodium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53865-9FA8-4552-9497-670B56F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Sodium resources are more widely available than lithium.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058E3-9A0F-4264-BBE9-D6791B96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16AA3-50CD-4347-8DBD-9B53214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2A0E0-92C7-443B-8781-00AEA1A4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Lower material cost potential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97DB7-D74F-4F69-BACB-CF4819A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Attractive for large-scale storage and affordable EVs.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BBBFA-78C6-4F2E-A540-03ADF42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62DE3-F0C8-4C27-9249-9923272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AFAA0-5BCF-491F-8680-5A6037B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Similar rocking-chair 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897C1-9201-45D0-A2A6-5F0BD51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Na+ ions move between host electrodes.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FBD16-0793-4110-8586-A23FA5E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E4595-B839-4635-B047-049D28B3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2019E-4404-4FB1-B72E-32A0510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EV relevance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054CE-B05B-49A3-ACA2-4EF2396D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where cost and resource security matter.</a:t>
            </a:r>
          </a:p>
        </p:txBody>
      </p:sp>
    </p:spTree>
    <p:extLst>
      <p:ext uri="{BB962C8B-B14F-4D97-AF65-F5344CB8AC3E}">
        <p14:creationId xmlns:p14="http://schemas.microsoft.com/office/powerpoint/2010/main" val="2842224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8F9F4-9C7D-44BF-BE38-66CC49E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D4D35-4A8E-43BC-994E-EED1B051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sodium-ion battery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AECCB-3578-48E2-B337-3C0E117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components for EV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16EA4-629C-48DB-A1CD-DCA850A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0B312-D00F-457A-827F-14A959A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56A80-7F0E-409D-AA66-02049BA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F46FB-88C4-4E6B-905F-F3C8C323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Sodium-ion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A8C3A-209B-4195-8A1D-B6E0853D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0C2ED-00F0-46C5-97D0-8A57824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E205-C55B-45A3-9F24-D788988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134C2-4BE6-4667-A705-BE6E4FA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Sodium-ion battery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D10C8-502D-4515-BDD4-FA40435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sodium-ion battery uses a sodium-hosting anode, sodium-containing cathode, separator, electrolyte with sodium salt and current collectors.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24861-A0A9-4F54-A16C-EF10C7E4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B21B7-346F-40F5-9C4C-691CA00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B6CE5-57E8-4AB1-B3B3-5648DB8F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CA462-8D0D-4E0C-AC55-913EBAB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778E3-9EE0-4EA5-AE24-670B03A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D1BE0-65C1-4901-9213-23538F4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ED881-3007-4921-A98F-9A8D722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6F05F-5AD1-4FBF-BEFC-5980A866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65C57-4110-4001-8689-FC0D597F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B01E4-08FF-47FC-9229-62DED7E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A1C4C-6D25-406A-A548-D1847294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2BB21-A5A0-4319-946B-2729B87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3EAEF-97C6-423D-8414-5C314FB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446A9-A949-4774-98FC-B99293EF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A7ED4D-07A2-43C1-ACDB-098FD9D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 host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29D6F-4C2C-4DAD-871C-DF1449A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2ACA7-E993-4E22-8DB7-D2EBCA53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A8F77-4035-4439-A0CE-FED6BFFC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Na+ through electrolyte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063A7-8EB9-4BED-8694-179EB72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80EC7-E5F2-4AE9-837A-3C3D80C7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6E434-20FF-40EB-B564-4AB551C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 host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11AC7-5D4A-4ADF-AA75-0BADD2C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5B294-0302-4BE6-AC82-81969CBE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31B141-A4A6-4190-BE61-07B721B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electrons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9C7EB-E946-4750-8848-801DE533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0A517-3797-4D37-8A85-3FFFF0D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C62C5A-A424-42A0-BCAF-C8A0C554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EV load</a:t>
            </a:r>
          </a:p>
        </p:txBody>
      </p:sp>
    </p:spTree>
    <p:extLst>
      <p:ext uri="{BB962C8B-B14F-4D97-AF65-F5344CB8AC3E}">
        <p14:creationId xmlns:p14="http://schemas.microsoft.com/office/powerpoint/2010/main" val="2176970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139CD-BF47-4D92-82D0-B50D55E1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615D7-9897-4550-A622-6E6FF583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of sodium-ion battery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54AFA-AE67-4E3F-B454-BD948DC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Na-ion charge/discharge.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B44D-731C-4C38-9DC0-7D11C20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B5DD-D399-4342-A760-C7F1EF91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ADD5A-FBD8-4519-9050-87FB8AB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2BD46-709E-49BB-83DD-43DEF255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Sodium-ion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1A2C6-DECA-425B-899F-15132F5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38D72-8C04-4434-88F0-FD768542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F18BC-4E47-47DE-A0C5-03E14F0D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During discharge Na+ leaves anode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4D46C-721C-4200-A7AA-45703EC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653B1-1997-4E51-85BF-A31E2B7A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ADC17-4EE4-4BF0-9879-8368AEF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Na+ migrates through electrolyte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905E3-9868-43AF-93D0-2A3BA06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19544-0A6E-4631-97DC-92192DE4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47A7D-421A-43DE-993B-1362152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power EV circuit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54698-5E23-403A-A65A-3F330BA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7C3E9-DA0D-4E4F-B6B1-E3AE0BE0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D4B05-BDC8-451D-A743-059F1C1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Na+ inserts into cathode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B6147-CC28-437E-AFFA-76DC2E47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D595D-BEB0-4A48-8B59-57DE6812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3DB34-A94E-4FCA-9022-9A57D2F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During charge the direction reverses</a:t>
            </a:r>
          </a:p>
        </p:txBody>
      </p:sp>
    </p:spTree>
    <p:extLst>
      <p:ext uri="{BB962C8B-B14F-4D97-AF65-F5344CB8AC3E}">
        <p14:creationId xmlns:p14="http://schemas.microsoft.com/office/powerpoint/2010/main" val="10012898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9B32F-C4F2-46AA-8A2F-6C74321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7169F-A647-421C-9437-98BB3D6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Sodium-ion battery for EVs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D2C24-C8D3-4859-AE0D-CA5B3F7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EV-focused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313A6-4D35-444B-ACDE-68C43CA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F5F42-20CE-416A-B388-CF4C5A4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89A6-C721-45F5-BDF8-D30EA98C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0724F-45A7-4DEF-ADCD-29FB5774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Sodium-ion Battery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FAB3-3649-4861-AAD9-F1AA1F9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DF6D0-D196-4D05-A1B5-7BD75C6F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37A3F-B323-405D-9D6A-90749075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665C1-BB63-4C2B-A5E2-4A013BDC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Cost-sensitive EVs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4C322-8943-440D-8912-3E0A8C0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May reduce dependence on expensive lithium materials.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6ED46-8B2F-4EDF-8AC7-91CF7C4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D9BD6-E025-404F-BBBA-9A9D56D8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E5EC1-3219-4481-A7EA-2E4AAF29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Urban mobility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04859-5F06-437B-AD40-BF3FEE11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where moderate range and affordability matter.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8AB15-D839-49F6-A825-F5AA666D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281C4-7445-4998-B43F-E733E50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EFE30-8EFF-4E06-92B8-4CCA459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Stationary backup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85D8F-8B97-4925-BFDC-8C161B1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support charging infrastructure and grids.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46034-2059-42C1-830A-ED58DCF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6F484-7792-441A-8F43-0DCE4E9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97396-4E2F-4F28-8401-2C4A3986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Safety engineering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B0CE1-303C-463A-94A6-B2673C3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Cell chemistry still needs careful thermal and battery management.</a:t>
            </a:r>
          </a:p>
        </p:txBody>
      </p:sp>
    </p:spTree>
    <p:extLst>
      <p:ext uri="{BB962C8B-B14F-4D97-AF65-F5344CB8AC3E}">
        <p14:creationId xmlns:p14="http://schemas.microsoft.com/office/powerpoint/2010/main" val="16550913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B8091F-6809-4601-9B81-747B3D63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7D739-0B9F-47AE-99C4-3DFF6C5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Li-ion and sodium-ion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7B4F5-1A4B-4CFF-B9FC-8CEEBF0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Help students distinguish the two.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40A42-0F50-40A0-BBB0-56BD1B68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B1B8A-F683-4DE1-B0DB-54EF0B7E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68202-CB5F-460C-A34E-9958B92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DBBC-E5E1-413C-8ECF-FB36F56C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Li-ion vs Sodium-ion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67E3B-290B-4210-A418-19E9A25D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2EEE0-C193-47B2-804C-D0B57EB8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B9217-BCAD-4E60-8676-5EC517A5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AF555-8399-4573-8E6D-9DA2BC7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2B93-616F-4739-B568-D548373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Li-ion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B39CF-7043-4153-B79A-FF511D12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D3781-39CE-4F26-9D89-897E5B6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Sodium-ion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7593E-9257-4E6F-B633-FF87E07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79CDB-2DDA-4BB6-9702-0482BF6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Charge carrier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BF7D1-CD9C-422B-A0C2-47463CD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CDC09-15D3-4D20-95C9-C64486E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Li+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EDA7D-494B-4676-856B-4A0422B1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AEE14-FBE2-4384-A17C-58D858B9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Na+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89286-2FC2-4581-828C-CE066CED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61467-DDFF-4718-9103-4B24324D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Resource 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788DB-9CF3-4F86-8E37-64369D60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17CE9-27DE-4EC9-9217-A551936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Higher supply concern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4E45D-AEBC-49FF-9D68-DF2989DF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88A1D-1027-4727-88B8-799F6C18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More abundant sodium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769EE-3422-4CAF-B63A-06D15A1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3AFFB-1C53-4567-8107-84BFE0F0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Energy density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BFB8F-70AC-45D0-82E6-48DE671C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1E6A80-6FA3-4FB2-B8FC-92D6977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Generally higher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C9F8F-BB39-4450-BD9B-00B49D1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A5C5C-6896-4C4D-A5E6-D1F8D68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Usually lower at present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9EA1A-4B6D-4459-83DB-62339EDA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BC34A-00AA-45B7-A362-0B6DE09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Cost potential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C58604-083C-48DD-B91E-CB281DD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6A846-7E9D-491A-9F0A-76A5A8A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Higher material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1D005-A441-4A46-BA86-DFA8AFD5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5A8FA-77D4-48F1-82F4-11D28A6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Lower cost potential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C83FFE-D2D8-4EDA-8045-EB29F5C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84A4FA-BAE9-4164-BE9C-036863CA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EV role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38D91-2BCF-4561-9056-7212653A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D0CB56-EF03-45C2-BFC0-818FB0B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Mainstream today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62C350-82F7-489E-9A06-5BE0E821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C58AE-FAD6-44D6-988A-62BAC99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Emerging alternative</a:t>
            </a:r>
          </a:p>
        </p:txBody>
      </p:sp>
    </p:spTree>
    <p:extLst>
      <p:ext uri="{BB962C8B-B14F-4D97-AF65-F5344CB8AC3E}">
        <p14:creationId xmlns:p14="http://schemas.microsoft.com/office/powerpoint/2010/main" val="2326801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D450E-1AE5-4286-988F-CDE8D95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72EA-6E87-47E8-981D-2C6F29E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supercapacitor?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C5B99-AE6C-4CC7-90AB-5F6CFEB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supercapacitor.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1B98-FFE2-4EE3-BCD8-6986DAB7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A4E1D-04C2-431B-A35C-C02F7C75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3F2D2-CEBD-4F41-AE71-852B4825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CE10E-3D43-4162-8B41-09C7A11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D952E-74A6-4275-BE29-CE5EE91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6AF64-EFC7-41B1-9B86-066644A7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Supercapacitor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9FA4D-E637-4253-A8FD-E54AFA1D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supercapacitor is an energy-storage device that stores charge at electrode/electrolyte interfaces or through fast surface redox reactions, giving high power density.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F6B0C-078F-4A45-B7EF-A27E8BE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C2284-4374-4288-B966-4EDB7DF5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Charge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AE8B7-AF44-42E3-8CA6-F1257DD1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34A2F-3B16-4F21-9760-665D561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05475-3EEE-44D8-8761-737034A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High power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10DD1-BF1C-4036-8E82-3D5618DE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20454-8DC9-4882-8C04-C991541E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A9158-2B90-436C-8263-EC78B9D3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Fast charging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A35AB-1AE7-470A-B439-967D7386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1B02B-C36E-4E9F-9DCF-175BB1E6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59693-A283-4563-9CAE-4D7D0A1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surface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FDD6E-6054-4AC1-9DB1-0BFA1C3C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5A8E9-4B5C-468B-BF1F-523D957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30215-0D1B-4CEA-8D9A-9E3292B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Cycle life</a:t>
            </a:r>
          </a:p>
        </p:txBody>
      </p:sp>
    </p:spTree>
    <p:extLst>
      <p:ext uri="{BB962C8B-B14F-4D97-AF65-F5344CB8AC3E}">
        <p14:creationId xmlns:p14="http://schemas.microsoft.com/office/powerpoint/2010/main" val="20422802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0743E-BC10-4360-A52F-07D178C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C5248-E221-41C6-81A0-D90EFC02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supercapacitors suit IoT and wearables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889B3-3CB9-4B0C-9F44-7D313DA8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6E8E4-4A03-467D-BEBA-85351299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393E1-91E6-46A5-8A9B-5B2F683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18443-2A86-4DF5-905F-D68588D2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1D2DC-7D14-4FD1-AD99-B6312F0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7CC5-6173-47E9-B761-5E19286D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10105-90B7-4BFF-830A-9DB976A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7AD08-4E8A-4CA9-82E5-DE7D5EB8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C05D6-159A-4292-B8D4-0CE9937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Fast charge/discharge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D95C-B80B-45D3-9BF1-7707248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sensors that need quick bursts of power.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D2403-B0E7-4454-9D2A-0BBC635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FEC4C-B4CC-4E73-ADC5-16D98A5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2FD75-BAF9-4EFB-AC4E-171C5CA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Long cycle life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452CB-DA16-4935-8959-55305EC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Suitable for repeated wearable 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42FAD-BE50-440B-889A-E8D88E7E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D1B9C-4969-4951-920A-89E29D52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E6F94-7DF7-4D8F-B719-0D970F3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Small form factor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69B7F-8EFB-478C-A0B6-7063B2B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Important for compact connected devices.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6D67B-2B56-4052-99FF-3B4A209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9DF79-D9AD-4900-94D7-8A049B8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857E2-0B45-439C-8E20-C4E351D7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High power density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93D3A-61C1-455B-9132-3FF80787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short high-current events such as wireless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411104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C94C3-49C9-4A39-B094-66A0B6CA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0AFA9-65C6-404D-8247-0247585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Ultra-small asymmetric supercapacitor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EA937-B7CD-4D40-9A8A-EA00092C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asymmetric 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03BE8-60E8-4015-9E3C-BB44A47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B924-CC19-471F-9EBE-CB02387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A57C6-0AAC-4ECE-8A68-61B7737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23883-3C57-40EB-BA99-BB30FFF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D4637-D96D-40DD-82C3-95DFDCA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87ED3-0B7E-483C-8F22-9711D53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Asymmetric supercapacitor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4BBDE-61FA-4F5A-82AE-26E2F47A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An asymmetric supercapacitor uses two different electrode materials so that the positive and negative electrodes store charge by different but complementary mechanisms.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8C7E4-08D8-46A0-81B8-F700975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2987B-73EC-4066-9700-2BFD667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Two different electrodes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7A601-F73B-4F4D-8256-CCA110B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7F905-B3BB-4883-A1B6-687B758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6AC47-B06D-49D5-975F-14C8ACE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Wider voltage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E27F9-D4BA-4739-A3F4-D05E7526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D14A3-66E2-408A-9133-85808AA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AD66D-EDBC-4B98-9C2A-E1622466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High power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3D8DB-0E5C-4DB2-86A0-2BA198E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CFBCB-86E3-4827-B544-FE639C9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B0F04-914C-4C6D-92BB-7347CF4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Compact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F17D6-7106-4926-B247-0E15906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3817D-EB05-446A-8456-3501F987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70F2D-25FC-4D84-B89D-8D20477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Wearables</a:t>
            </a:r>
          </a:p>
        </p:txBody>
      </p:sp>
    </p:spTree>
    <p:extLst>
      <p:ext uri="{BB962C8B-B14F-4D97-AF65-F5344CB8AC3E}">
        <p14:creationId xmlns:p14="http://schemas.microsoft.com/office/powerpoint/2010/main" val="1744590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C35029-C7DD-4708-9210-80CCC89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CF2D-B0C4-44B9-8CF4-65636C15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ultra-small asymmetric supercapacitor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ACE1-97EF-4F28-8FDF-513AE97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DA916-D089-4526-B435-B9D96C3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73AA9-AEF4-443A-9669-4BA91BD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6667E-1171-474D-8BB9-897C5DD7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E91C7-39AA-4DCE-AAA2-462F4E7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B1C6D-1B81-4274-AA0E-C1ED1A83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02EF0-0A0F-4607-8419-D38B3044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619F-E7D8-456C-93C2-69551EA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10947-49EA-45E9-B579-F499C50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Ultra-small asymmetric supercapacitor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6F279-CF3A-4D82-8820-B04CB52F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It contains a positive electrode, negative electrode, ion-conducting electrolyte, separator/current collector and compact packaging for miniature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B47D6-8D03-421E-9108-22F6505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6478D-BE19-4803-B47E-90552A90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3F2B0-534A-4471-8A0E-6BED7678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6C150-569D-45EB-B8A7-8C41655C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2CCD4-1303-4B38-ABC5-7218F71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EAC41-8EF4-4ADD-83F0-99AB8EB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22F85-C640-4380-AF7F-B03A6DF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06258-CC81-4727-A8EE-D32BF61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6C1FD-68FF-4475-8E4E-2245311C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6C458-0AB1-4FD6-9A4B-8C38DFE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41359-AB76-4889-BDCD-27A8232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3080F-DF26-414F-95A6-CFE5FE2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F24D6-210C-489B-9D91-36AF945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B7CF8-6BB5-4DBE-A0D3-650669D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BE79C-5100-46FA-A895-E13B34D2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Positive electrode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BE304-D2FC-4143-A20A-C436883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EE5AB-2991-4A42-A44D-247C1A7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E986A-55C4-4B6B-86E9-3E9D901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 move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72CE41-4BD5-49BC-B1FC-387A1D98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A8D277-420E-4752-94F0-E700376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48C916-FE67-4A50-8432-E8C406D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Negative electrode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2133F-C3C0-415F-94EF-0CAFC88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BBEFA8-D7B8-442F-BA43-60F01CD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2E6B2B-1FFA-4424-94A9-F278181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circuit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92C78-5128-464C-BF9C-04374B3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4CE5E-6B5A-4C11-84FC-252BD7D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516604-BB32-4F38-BB38-A3B8459B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IoT load</a:t>
            </a:r>
          </a:p>
        </p:txBody>
      </p:sp>
    </p:spTree>
    <p:extLst>
      <p:ext uri="{BB962C8B-B14F-4D97-AF65-F5344CB8AC3E}">
        <p14:creationId xmlns:p14="http://schemas.microsoft.com/office/powerpoint/2010/main" val="14673929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38B8C-BFD5-46AC-8FEA-5B0769F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11D6C-B92D-4EAC-8905-EA8673F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of asymmetric supercapacitor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7DDCD-0D73-480E-88BE-059C8DA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charge storage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48236-E7F4-4294-9DC5-F3D5F054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132F8-E76A-4269-805E-C4ED584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29E45-7385-44DA-968D-7632FE0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CE55-306D-4199-B4E5-8057C22A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9CF77-5E57-48F5-B05D-8932966B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40EF0-7620-4954-99C8-C35D5E3E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14622-8DF4-42E3-A9EE-41901A5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Voltage is applied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F83FF-CE13-4BD3-83BD-BB1A9D22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5550D-D791-4391-A459-64832292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E1748-9629-41A5-AC63-D2EDD6B3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 migrate to electrode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9229D-40D5-4C64-848A-6CFBE1F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2C264-EC2C-4AF5-AE90-2698F33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84C76-29BB-407F-84E7-D3FF917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Charge separates at interfaces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51A58-E024-4FCA-BB7D-670B1541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4F230-DEDE-4C37-9046-0B02193C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76219-E791-4C8E-97F9-CB6B8F91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Fast redox/storage occurs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FEA06-AF07-4BD7-82F5-829BC52E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50849-691E-4792-85BB-89841C6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77917-D041-4B2B-B40C-3B2AFEE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Device discharges rapidly when connected</a:t>
            </a:r>
          </a:p>
        </p:txBody>
      </p:sp>
    </p:spTree>
    <p:extLst>
      <p:ext uri="{BB962C8B-B14F-4D97-AF65-F5344CB8AC3E}">
        <p14:creationId xmlns:p14="http://schemas.microsoft.com/office/powerpoint/2010/main" val="8005885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A9051-5505-49CD-9070-DB3BBEA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E8192-FC73-4395-9E8E-3D969C0F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in IoT and wearable devices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45C3A-C57C-495A-BE74-2D44B46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List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18C77-FC9D-4988-A647-95AC5DFA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B5B02-9AF1-4261-8B18-BCA1F4B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2A2C6-AAD4-4F2C-BCDF-7C28EDF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5A30-41CF-4E33-ADA6-014BD543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Supercapacitors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AB8D1-459F-4A98-A976-CF53A42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B4D81-CDF8-4DEB-A94C-3A6A76C7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B6D54-93A9-4FE0-85CA-5A37895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AC60A-A97D-4F01-88A5-B447A3AC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Wearable health 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5D7C5-C2ED-4185-9967-393511F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Short bursts for measurement and wireless data transfer.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D5420-DFE2-4BB3-945D-F3500F3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4C03-E650-4109-8677-7013D821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9B4F3-B5B2-43A2-ADD7-64CB3CB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RFID and sensor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039B8-4054-463D-ABAC-6A292AE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Quick energy delivery for low-power electronics.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9E0C9-D984-4CC5-B7EB-2676E6D8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C0988-0F44-498D-9076-D6D5E424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F99EE-68D7-42A6-9AB4-4D7BC30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Microdevices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551FF-5BC7-49AB-97B2-B4031A6C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Compact energy buffer for tiny circuits.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335E4-2C4B-4400-8E96-1912BC9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3BF20-CC21-417B-9F05-F0EB1FB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914EB-58D0-4809-ACEE-9452EB5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Hybrid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CE117-517B-4A43-BB85-8C88F1D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Works with batteries or energy harvesters to handle peak loads.</a:t>
            </a:r>
          </a:p>
        </p:txBody>
      </p:sp>
    </p:spTree>
    <p:extLst>
      <p:ext uri="{BB962C8B-B14F-4D97-AF65-F5344CB8AC3E}">
        <p14:creationId xmlns:p14="http://schemas.microsoft.com/office/powerpoint/2010/main" val="17052769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CFD3B6-5227-4755-8936-82E768C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BF966-CDD3-4A7A-B525-5521561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Sustainable energy devices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832D2-3FE0-4028-99AE-EB025877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the final block.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C6122-B407-46FC-9DB0-FEC0901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F30A0-E49D-4643-B380-961283C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4FB7B-2BD9-4F51-9237-CB792E9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5F0DC-969E-47B1-9C04-755E467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Sustainable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D343D-2F1A-458C-9E72-6A2C67F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1596C-DC8E-4929-927E-D8ADA1A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9509C-C79A-48EC-ADFA-FB9B7F4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Sustainable Devices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0AE3-566C-4188-8AB8-A61C7FE0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4CDF9-1618-4940-B004-6237318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8A399-2DFF-49F3-812B-6EC9C6B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Fuel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F10C8-D563-4D3F-86F7-A72E4E59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Chemical to electrical energy.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ECAF9-5694-4464-88F7-A9B3F15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09F21-9F3F-440B-A8DA-9D830A2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60F0D-2E4A-49E2-A842-072EB00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SOFCs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109B4-4970-4676-86B3-E2DA1BA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High-temperature ceramic cells.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2126E-B06A-4202-96D6-0716FD8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CC0CC-83EF-46F4-B0A6-382B463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1FDB3-79A1-451B-95B7-9774551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PV cells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717BD-4E95-4F1F-AADA-3DF2CAE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to electricity.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73F44-7A3A-4820-B607-BCB8340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C9D90-B0A8-4F7F-AC6C-C9BDB4D8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E2D99-90BC-442A-A701-AC9B4E1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Green hydrogen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BFA5B1-2078-4913-92F8-20C570BA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Clean fuel route.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30803-E099-4EEE-91E2-C499CD9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5EDE0-8BA9-45B1-BEEE-8EFB34B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DD49E-F2C3-43FF-97B3-E44545D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TiO2 catalyst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E718D3-656E-4A85-9121-230440A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816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Photocatalytic splitting.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864BE-6364-42CA-870D-0B751AE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1363A-C1E6-4D8C-B818-94324DAB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B1B291-7072-4C62-AAE8-B7898B4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Limitations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09519C-58BF-4E7C-8C2C-C72DE19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Cost, durability, materials.</a:t>
            </a:r>
          </a:p>
        </p:txBody>
      </p:sp>
    </p:spTree>
    <p:extLst>
      <p:ext uri="{BB962C8B-B14F-4D97-AF65-F5344CB8AC3E}">
        <p14:creationId xmlns:p14="http://schemas.microsoft.com/office/powerpoint/2010/main" val="1460322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C1294-BE07-4295-829E-1A8D388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A8920-E06E-4C75-9B45-07A10788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fuel cell?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03087-9708-4C51-A8E7-1B3017F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fuel cell.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EE87E-4D19-44E2-A840-E022B417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81CB9-1B6F-434A-985D-57B0228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E3D25-7D8D-499D-9DFE-59B347D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916F6-6D0E-4746-9ACF-08F85E9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Fuel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F0F91-F123-4D98-91D5-9DBA204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367F4-E9FF-479E-8BB4-787A12B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Fuel cell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BC60-033E-45ED-9D82-E0BA006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fuel cell converts the chemical energy of continuously supplied fuel and oxidant directly into electrical energy through electrochemical reactions.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B76B4-1221-49AB-9506-FF72C64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37C6E-2C17-4131-9194-A33B62F0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Fuel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4F9ED-83E1-4FE8-8129-9F6D230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DE2E-4B2C-465B-8A78-85F1DE6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D0329-042D-4532-8F19-8872644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738CE-3E27-43ED-9BD4-EE7183F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FBE90-FE0C-49C1-A782-CF006E8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6E807-85D5-4FE8-B53F-BE8CBF0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Electrochemical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8667A-EDCD-4287-A9F5-D5B65CE5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C2270-45BD-49F0-A643-1B179459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19253-939C-4DFC-B677-C061D80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Continuous supply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9FAD2-8495-429A-8C05-AFD46A7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30750-6244-41F7-9BA4-39258548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400D9-BDB7-49CD-BBB8-0DEC7BE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Electricity</a:t>
            </a:r>
          </a:p>
        </p:txBody>
      </p:sp>
    </p:spTree>
    <p:extLst>
      <p:ext uri="{BB962C8B-B14F-4D97-AF65-F5344CB8AC3E}">
        <p14:creationId xmlns:p14="http://schemas.microsoft.com/office/powerpoint/2010/main" val="6074196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1E28A-FB9E-434C-A454-EA38244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48765-E6C3-458C-A57D-16A88D01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Fuel cell vs battery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9C2B-7B09-4A95-ABE0-2CA0F15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a common exam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28348-94AB-4BAB-BB32-4898C8A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CBE26-0367-4147-A475-E5668CE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D36ED-6C58-44A1-87D8-27505B6D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34560-6A08-4900-8393-8751E5B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Fuel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87CF-988E-4C35-84DC-7AEBF0E5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3577F-187C-4A91-942E-4914C12E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90F27-ECC9-4482-9B58-A02A7B6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ADF06-6180-4856-A101-FE19C4C7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Battery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16584-1773-4D1F-A263-0673086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B2704-F80A-4C5C-94C9-71C987C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FB894-0416-4E83-B958-987802DD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80108-9BE3-4184-A797-43957D8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Fuel cell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80D92-7D89-4D28-A3D5-AF96068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98FF9-7269-4596-B1AF-4085692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A7695-2D2B-4519-B79F-38D8DA9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F54E2-7DF8-4F7F-8D80-EC13E1F9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Stores reactants inside the device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8244-C55A-4F32-901B-951AF13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41ACB-3B2C-4FF2-80D6-F2897BA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F4E55-77E8-463A-B02A-E1EC885F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Delivers energy until discharged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60096-6B7A-4632-A6F9-1766E4D1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DA04F-088A-40DA-8CD6-3070027B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68B7B-7EB3-435F-9A24-2935FF7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May be primary or rechargeable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FE5F0-1211-4CA8-BBA3-96FC38B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B1FE3-ADCB-4ABC-BBAC-D19CEC5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633A0-8BE6-48A2-A110-9346A142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Energy capacity tied to cell mass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D8303-2377-458A-AB7C-77F6D8FB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20C5E-2188-4E94-AEBF-EA2FA87A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830FE-8636-4372-B6BB-B31E8CF2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Fuel and oxidant supplied continuously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984D84-7C0B-4F87-BA29-B124A14B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A17E03-3781-4A68-B8BF-81CB9EA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4EB63-8F22-42E1-884C-29B78E0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Operates while reactants are fed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63645-F7F0-404F-B5D5-17940E8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14C631-22DD-424C-A9B3-9C3DA1D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9F884-A016-49FC-AD09-BF60CF7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Produces electricity and reaction products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B37DD-BDE0-4334-9415-C9D7E36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E71481-0EDD-4A9B-A1E1-C4DFACF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7A13C8-B1CD-4CD4-AD32-A668982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Useful for clean power systems</a:t>
            </a:r>
          </a:p>
        </p:txBody>
      </p:sp>
    </p:spTree>
    <p:extLst>
      <p:ext uri="{BB962C8B-B14F-4D97-AF65-F5344CB8AC3E}">
        <p14:creationId xmlns:p14="http://schemas.microsoft.com/office/powerpoint/2010/main" val="9155633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EAB5E-9A8D-4337-B94A-28F2AB1A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3F596-5813-40C9-9DDC-0C9DF47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solid-oxide fuel cell?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50848-52CD-4075-9F17-02A3081C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SOFC.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59A33-7D9F-4491-BAC6-692CB50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031DC-B091-46F3-91F7-3328ACB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C43C-300D-44FF-AE5A-7D6A196D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6D9BB-841B-4F00-8F63-4D72295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91821-C26D-4253-8A6A-0C961674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3C239-BC2C-4CF3-AC39-223AC3BB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SOFC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CFC1-7625-495E-B5CA-EC1B947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solid-oxide fuel cell is a high-temperature fuel cell that uses a solid ceramic oxide electrolyte to conduct oxide 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B9944-BD46-4529-84A3-8A94FFE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7AC6B-1B95-4E78-8F0A-05C08AA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Solid oxide electrolyte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126C9-4F2A-4926-83D3-A2DB6399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FD34D-87D5-4AC9-AA5B-C5C8329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5B918-E41C-4019-836F-85DCA7C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High temperature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EDF0F-A1AB-425C-ADB3-B906DCE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E8AC1-F556-48C4-8775-69DB430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99FD6-52A6-4FA4-BC22-10923228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Fuel electrode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E9D91-4CA6-455D-9623-47597D39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9EB54-3E64-4EF4-A101-DB41532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0F744-70A5-4BAD-B19C-C8367A6F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Air electrode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8D505-1563-4C93-9F74-27D4466C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EC17B-5A72-4158-9C39-A77930D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9AE28-DBEC-4449-A6B3-F047FF98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Oxide ions</a:t>
            </a:r>
          </a:p>
        </p:txBody>
      </p:sp>
    </p:spTree>
    <p:extLst>
      <p:ext uri="{BB962C8B-B14F-4D97-AF65-F5344CB8AC3E}">
        <p14:creationId xmlns:p14="http://schemas.microsoft.com/office/powerpoint/2010/main" val="12341306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7E32E-BF07-4155-A2B6-44C9B99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8E5D-A25C-4660-BADA-E68DF0C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SOFC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15A4D-D192-446F-B1A6-E73F891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SOFC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AECAE-DEBC-43AA-90FB-8ED55AB4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BF854-8516-4FDA-AF53-0007599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4C7C4-9C47-4513-B742-1442048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5DFD0-F9C1-45CE-835D-81A4B20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1DFCF-E7A5-4CDA-A73E-20B4C6C3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60656-6EFC-4065-8399-C0243BF0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61982-545E-4903-98BC-6D0B72AA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D952-1838-46D1-8498-0D06AEB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SOFC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71E14-B14B-4EE7-A611-F072EC74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SOFC construction includes a porous anode, dense solid oxide electrolyte, porous cathode, fuel supply, air/oxygen supply and external circuit.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FA22C-F865-4DF0-B6E0-F67292EC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345D9-E37D-4218-885E-543977E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EB1E-F558-405F-B6F4-ECBDD17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84520-00A6-429B-B62A-FA802B6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B4074-BAAD-4491-81DD-42BAFDE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275BC-BA2A-414E-B765-A6798CE3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9D172-0006-432D-9DBA-A68911C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A941C-16D6-441A-BF6B-054F242D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04E3F-37EA-4D14-B243-E8C98CC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FC5D1-64BB-4A4A-B665-4062F46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40076-4EC8-44ED-9FC9-9FC8CCA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8BC88-3F0B-41DA-89A1-D582E1B6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CB6D-28EA-48BF-B241-14EF531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C26F2-5F3E-40D4-A4FA-6ECC5530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755C0-E059-4D18-AD1B-5FF8E2D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Fuel anode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B5A00-5839-41E5-A649-3EF0D16D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127FE-AF07-4A38-917D-FA94640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AF3AB-5E40-45D9-B720-2BA297DC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O2- 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E9680-DD78-424E-A26A-AC0702C5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E4559-E6C1-41C7-821B-C8A1AF9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8F8A83-5368-4B91-9CA6-E62A63DA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Air cathode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7FDF4-67EB-4299-9CC5-CF87F53D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73526-4177-49CF-BBE0-7AE6DFE7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9A691-7B56-4242-B9F2-A129CEC5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electrons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BE02A-EFC7-4C8B-9C4F-699CC43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00F954-EC16-41D1-A9BD-79EF4C7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61807-CFBF-4738-825E-FE439486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Power output</a:t>
            </a:r>
          </a:p>
        </p:txBody>
      </p:sp>
    </p:spTree>
    <p:extLst>
      <p:ext uri="{BB962C8B-B14F-4D97-AF65-F5344CB8AC3E}">
        <p14:creationId xmlns:p14="http://schemas.microsoft.com/office/powerpoint/2010/main" val="28528055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7EDD8-2E5E-4D7B-A38D-3CEFBBEE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21674-DAC8-4CAB-968A-1069223E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principle of SOFC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0F405-4D9B-4D78-8450-E97BA15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SOFC operation.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5CB46-69F4-46D1-B8FD-99B4DB56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1B351-1F79-45A5-8FBF-63F0DCA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4EA83-B821-4F47-9B48-EAE1D58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C496-36F6-4EFA-8E62-018AABB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7063F-9FA0-4CFD-9811-B929D13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7545-1009-461D-BDA6-0B846526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5BA17-F82A-4B36-ADB3-1D74BDB1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Oxygen is reduced at cathode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4C87D-A8AE-4D11-A2D3-C8E6DE62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8B968-4BDF-48C9-9F2B-C166EF3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EB3B3-1AE2-42F0-9DB8-E0E6C6F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Oxide ions move through ceramic electrolyte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D6D07-1B79-48F8-A74D-0E382EDC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8622C-8F12-4469-B33B-A5CE312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F14C4-8075-4BA8-9B4C-FC9E74C4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Fuel is oxidized at 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F220F-FBF2-4F36-A71A-C4EC3D73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E12E4-6E17-465C-815F-78484C9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1B4CB-4DBC-485D-8BB0-F779ECF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travel externally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A73CA-6BAD-43A5-B898-F9DE069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86E7A-46D4-456A-8791-7BF93413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38FD9-096C-4E64-BBEC-85906BA8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Electricity, heat and products are formed</a:t>
            </a:r>
          </a:p>
        </p:txBody>
      </p:sp>
    </p:spTree>
    <p:extLst>
      <p:ext uri="{BB962C8B-B14F-4D97-AF65-F5344CB8AC3E}">
        <p14:creationId xmlns:p14="http://schemas.microsoft.com/office/powerpoint/2010/main" val="4836608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F0CE7-B7E7-4594-BE88-1D38062E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F6A9E-4855-4CE1-BBF9-C38DB01F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SOFC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7C937-80EE-484F-B558-F65539F9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engineering 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635E5-B0A9-4BBA-965B-BE3234C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3E4F0-4DA9-4EA6-B97F-556332F3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B5FFC-F5F7-41D4-93E1-9AE25E66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FF84C-3BFF-4060-BBD8-1305D99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EF2EC-B8A5-4A9A-B50E-DEE949A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82ACE-3245-4672-A83C-4B90EF7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4C31B-42FC-45D1-98FA-30B5C2C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D3DDA-74F7-4AC8-86C8-D521DCA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Stationary 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C5396-7345-4328-AEB6-5017FC91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Efficient distributed power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63502-879A-48FD-926E-1487C806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B79CD-BC10-44BA-9432-35217C0B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9FC66-0692-42D1-968B-ACBEAF1E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Combined heat and power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FE898-C13D-4AE7-90E3-14D39F2D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High-temperature exhaust can be useful heat.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F0B00-DF7B-4115-A760-DAF3DC7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CB615-F563-4258-9957-02445B5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E9E6C-D051-48EA-8E75-D875B60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Auxiliary power units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3CFA9-72FA-4336-BDD7-4645FD0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Power support for specialized systems.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5D14E-8C61-4E63-B2D5-E170CA9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37025-19D2-475A-A3FF-314BA5E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50441-FB22-4F37-A980-5462BAD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Hydrogen energy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B5DA7-8592-4C09-941E-E2B86BA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Works naturally with hydrogen-based fuel supply.</a:t>
            </a:r>
          </a:p>
        </p:txBody>
      </p:sp>
    </p:spTree>
    <p:extLst>
      <p:ext uri="{BB962C8B-B14F-4D97-AF65-F5344CB8AC3E}">
        <p14:creationId xmlns:p14="http://schemas.microsoft.com/office/powerpoint/2010/main" val="5314542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647056-B5E4-4941-9B18-2240B59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202C-FFE1-4D26-AFE1-CAE09247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SOFC 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55A2C-BCAD-4AE8-82A3-4EC0190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453D4-C108-46B7-8EB9-C151FA64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120D5-AB1A-4390-BC65-81E29591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4DB9A-59AB-4BDD-ABC8-B217649F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93622-2608-4C1D-90B3-4A04D01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SOFC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81F76-7BD6-4B58-A535-A647302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9B23A-4835-4D42-B282-B8E3555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F91D5-A8EB-47D5-A73A-63CF75AB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B66F0-BCB7-4658-922B-4C80FAEF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69950-3F1E-48AF-B8B1-F1C06CA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006B8-15E8-4C80-93A8-F8B5C179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D041E-FEDE-4706-922B-9AA716E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79AD8-6C9D-4F06-80E7-61A38864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3202D-44D3-4CE3-BF2D-15550B3D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F564D-D145-4090-BE2A-1005D03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96DB4-41D9-4FBF-8721-B1685BD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2978C-2171-4A86-B551-DCB233D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High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31528-DAFA-41DC-B9BA-77BA9FC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A9504-0132-4409-A82A-30EC234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DCE25-27E6-4AE2-9A05-0BD1FC5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Fuel flexibility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D785E-AF55-4296-A541-0BFC9284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30392-E1BB-4E78-9E27-DFDE4E9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2FF7F-E2EB-4D49-9C87-964E80E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Low emissions with clean fuels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7384E-26B0-4471-885E-A9A0E0F0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81427-CD51-4C9E-845C-31BD531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D6157-ABE2-453B-AEC8-98368A7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Useful waste heat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CB2647-EBAD-48E1-87FB-6A40F17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424EE0-E881-4F14-A242-0BD0C09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84C89-499B-4AAF-92F6-70724937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High operating temperature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4FBD6-A129-48EB-8C23-845B22E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A377A-C243-4C83-8A23-E0C8761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4EBD4-CCB2-4A24-AF21-23E07516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Material durability challenges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47172-3D77-4F7F-98CF-9D5FD97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75D21C-36D9-4461-A0B1-B0F724B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840A86-02AF-48DE-AA0B-AF00B7F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Slow start-up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7D2A35-CAEA-4617-8690-B9C8CD1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19893-72A5-4444-8030-77CD66F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4C3332-FC89-46D5-A008-F1019704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Cost and sealing issues</a:t>
            </a:r>
          </a:p>
        </p:txBody>
      </p:sp>
    </p:spTree>
    <p:extLst>
      <p:ext uri="{BB962C8B-B14F-4D97-AF65-F5344CB8AC3E}">
        <p14:creationId xmlns:p14="http://schemas.microsoft.com/office/powerpoint/2010/main" val="144803114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8AABD-0889-4DBC-8BCB-278062F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D3B50-0F47-4107-9D01-2BF71E4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solar photovoltaic cell?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4D61F-A9BE-45AD-BF71-75A57131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PV cell.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AB2F8-B236-4775-8940-85465C8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75F5E-EF5C-49FC-8D5E-9CB5F0D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469DF-FA48-4A16-B12A-82A385C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129E-65B6-4F9F-A32F-F4C4EA0C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PV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C964F-E3C7-49F0-A97A-2917BAD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732B6-4CA9-4EE4-A743-15044C6F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PV cell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5C9D0-8286-4820-B2B9-394DF2B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photovoltaic cell converts sunlight directly into electrical energy using the photovoltaic effect in a semiconductor junction.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0808A-2147-4518-9B7E-DC88D71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26F45-8E9D-42AB-BAF3-2782EC7A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Sunlight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A8CD5-713D-4B81-AF1E-279EFB7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7FAA4-8EDE-49F2-9D33-850EBA22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A18A7-B74D-407E-BFFE-049E824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Semiconductor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08DB3-8E37-4F94-8BB4-9C436AFA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C091D-1A2E-4AEA-995D-84F23E3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14945-1EFB-49A5-8A38-99AD24B7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p-n junction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6BF90-F626-4051-B288-E08F852B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4C295-22C3-49E7-A8AC-B945ACA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2E525-170B-4F7B-8C12-8DD8225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Electron-hole 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CD551-3269-4E52-8211-1A82FA4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88B5D-3717-4091-9BA3-A863236D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0CC63-539A-47BC-8DF5-F41221EA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 current</a:t>
            </a:r>
          </a:p>
        </p:txBody>
      </p:sp>
    </p:spTree>
    <p:extLst>
      <p:ext uri="{BB962C8B-B14F-4D97-AF65-F5344CB8AC3E}">
        <p14:creationId xmlns:p14="http://schemas.microsoft.com/office/powerpoint/2010/main" val="184779963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3973DD-6CF5-4A3A-9428-E56C0626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AEE81-9F76-41CB-87DA-68B1D47F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a PV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7FF39-A9D7-42CD-A659-5C0DA15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9DC2-5C22-4350-8DE2-88E3556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BBC5-0983-44A5-8B31-9F1217E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FCA69-6946-4F57-95FB-2144831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A351A-3CEE-4090-BAB8-1C53A9A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PV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414B-C7AC-4484-B3A9-49E2AC55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AAA22-9947-4738-9622-A17DCA31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FB56C-15C1-4049-8B90-5563367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A0A70-DF36-496B-8F67-8002DF02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Solar PV cell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C6021-ACF4-47BA-A3D2-A80C0A3A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PV cell contains a p-type and n-type semiconductor junction, front metal grid, back contact, anti-reflection coating and protective glass/encapsulation.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5D6A2-979B-4D81-8AAC-0F1C8D5C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EB33F-9DFF-44BF-9154-A23353E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FF3DC-7E39-4D04-84B7-798ACCE0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C807A-500A-4E9A-A856-DB7FA25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6B206-9273-45FC-BD8E-4FCDFE73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BB8B2-226F-466E-9B15-2290A80F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4B39C-B5E5-4DA0-BDD2-58827524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Electrolyte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C17F3-77CE-4CAB-9A0E-3AB040C0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BD23E-6E6C-458D-AF13-89E27CF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C203F-F09C-411A-A560-D0B1A2F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Cathode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8488E-E375-41C4-83F4-30E563DB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54A65-215E-471A-B3BA-D74D5DB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AE3A1-3D2F-4EC8-89E0-C319B3C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Circuit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B416A-C1AD-44E2-A4FE-80D4E769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A46BC-039A-47A0-9B4B-A7AD2E1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n-type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68D11-FB48-40C2-AC36-9264EC57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A3A41-30CC-4DA4-A410-4C6074B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57ED9-BCA0-4DE8-96B3-477CC7E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Depletion region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6CE6A-3A80-4F9F-91F2-9FA328D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C73E16-E846-4336-892D-BD38DD86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7D7BD-5A12-42E5-BD28-B430EC03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p-type layer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831402-BF4A-481D-B7AC-98C4C85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27012-B4BC-4C20-A979-5B1C225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47A9E4-5DF1-4968-872A-C567E029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External load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39C80-3705-466C-B28A-65123BA5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18A9A-F8A5-4841-B3A0-6F3E17A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88620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D2558B-F87F-4D36-879E-D3454D4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3860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Sunlight</a:t>
            </a:r>
          </a:p>
        </p:txBody>
      </p:sp>
    </p:spTree>
    <p:extLst>
      <p:ext uri="{BB962C8B-B14F-4D97-AF65-F5344CB8AC3E}">
        <p14:creationId xmlns:p14="http://schemas.microsoft.com/office/powerpoint/2010/main" val="6505536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F809B-8570-4783-B0E9-18906FE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2AA5C-6B9E-4EC0-875D-9EAD69D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principle of PV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29D86-BBA4-45CD-A13B-5CEDC3C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photovoltaic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EC89B-DD99-44B9-A1D4-98FB04C8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65609-54F0-4612-9AD1-1D37FA7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F85CB-4DEB-4D15-A85F-2FE88FC5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E5C9-8C66-4000-AC40-616018E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PV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4B027-DEF8-41AC-9528-66C13AEF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40FED-0B55-4A29-B8DC-0DBA66FB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912ED-549F-4066-88ED-76F7FEEE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Photon enters semiconductor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69A16-D268-4C9A-BC3E-BE46794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72BCE-9156-4573-AAE7-CFF9F41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4600F-A4A2-4088-AE92-6A8964A7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Electron-hole pair forms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0B3E6-6218-4A12-BD93-1DD6B19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D25AD-C9AE-42E9-A350-5F4136C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F1189-C061-4AEB-B8B2-884F00B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Junction electric field separates charges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5508F-61EC-49DB-B584-383F9C7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B8009-2EB0-482E-852F-B55DD8C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4C068-263F-4FFA-9F74-15028A9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flow through external circuit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DE5CA-163A-4729-BC43-AB55085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07231-DC86-4381-B9B1-48F8E3E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5BCD8-D23A-4F2A-8586-C316A40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Electrical power is delivered</a:t>
            </a:r>
          </a:p>
        </p:txBody>
      </p:sp>
    </p:spTree>
    <p:extLst>
      <p:ext uri="{BB962C8B-B14F-4D97-AF65-F5344CB8AC3E}">
        <p14:creationId xmlns:p14="http://schemas.microsoft.com/office/powerpoint/2010/main" val="2099547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B26975-230C-49CB-98EA-3697456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8516E-E017-424E-BD75-9CC0DB3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and limitations of PV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4A9AA-5155-4EBE-8308-2ECC87B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usage and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9F985-C20E-4086-B47B-73E0571F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46501-3094-4970-9D36-D436109F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8C979-5C11-464C-BE29-8922A5A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C0B17-D55A-4668-8820-4FA96E5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PV 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9E1C8-9612-428B-82AD-020C7AB8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64B3B-B0AB-4824-87C5-6276EC3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3497E-4C57-449D-91F1-D64D93F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0917B-801B-4C14-8CCD-ED50D00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5B8FE-71FC-44FA-A954-EE5066A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F67F2-9B88-492D-AB6C-BE293169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773F9-4909-48F5-BF10-D0B1956D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6C9D0-EE25-4C80-B2A9-49DD278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8AD20-52CF-4C1B-8C99-2C0516D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F720-672C-4212-BA2F-B97DDE3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3F51D-D009-4DD7-AE4C-6F256DAD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CD9F4-E720-4D0A-8587-F1B8993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Rooftop solar systems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B912-B7E3-443E-BD3C-6018A01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ACB9D-7D4F-4592-A71C-DE2463A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1307F-6140-4695-9964-648D8BC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Solar farms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D2950-9514-4785-9839-A43580A7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B419A-F5B2-4161-8DB0-5ADFDBBB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035F1-F8F8-4F83-9B13-63FA141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Satellites and remote sensors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1DC4A-D705-4850-8C30-5A45CE90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A12A7-6BF0-4EEC-8B3E-9082E2F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85D9A-F441-4B9E-9F52-55CCF5F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Portable chargers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22A8A-1177-4E38-9531-912D814E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5F39A-05CD-4974-9AC8-F3452E3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47377-EBE8-4FA4-9944-DDD594F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Intermittent sunlight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1BBFC-C875-4834-8708-7CB181AF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75280-277B-432B-90B3-A687DA00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57D95-DC58-4177-8C5F-2ED66C2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Efficiency losses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DD632-EB21-4966-9732-0D22259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9DAD07-3E78-4BBD-9E43-C5A1DDA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83C8FA-B2B7-4B9C-853D-0BE53268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Needs storage or grid 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33BED6-C717-47CC-ACC2-5AE177F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AB0BDA-AF47-41C5-B497-EC0978B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7F93FA-AD21-480B-8470-720410B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Manufacturing and recycling concerns</a:t>
            </a:r>
          </a:p>
        </p:txBody>
      </p:sp>
    </p:spTree>
    <p:extLst>
      <p:ext uri="{BB962C8B-B14F-4D97-AF65-F5344CB8AC3E}">
        <p14:creationId xmlns:p14="http://schemas.microsoft.com/office/powerpoint/2010/main" val="148339967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D3EF0-406A-4487-845A-ACD0CBB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F0FF2-A6CC-4F3F-A324-8CA0B6A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green hydrogen?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D823-1F99-486B-A461-F1347B26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green hydrogen.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B6E75-A970-4440-B569-0C599DC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0A2EE-FF11-4F0B-8E4D-97D8A01D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55D3A-D760-4E90-A8CA-C05EF08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DD59F-5E9D-4497-B8BC-7B0DE05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Hydrogen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B9814-9847-4989-85E1-BD54E3D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736FE-A0E8-4276-9243-EA21D08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Green hydrogen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AF0C0-285D-4457-9196-C148D8B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Green hydrogen is hydrogen produced using renewable energy or clean pathways so that carbon emissions are minimized during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8BBFE-062E-4CAD-A0F1-57B707D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FB6B3-0CC3-4D93-A5C7-DC6C4DA6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Hydrogen fuel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3AD9F-1231-4543-9E11-5281123E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596A-C967-4DA1-8D4B-E33A279B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C8498-48C5-44C3-A269-ED11C2F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Renewable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BE076-64E8-4EA1-A11B-52E4BDD6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1EF0C-856D-4EB7-8BC2-307864E8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4396B-FB99-44ED-AD8A-E1E30220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Low carbon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C4D2B-AF54-4FA9-B3CD-C8A900D0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CA2A2-54E4-49A5-855A-E809F8C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BD2B0-F848-4374-B37A-981A99D8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Water splitting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42A66-481C-49CD-AB22-5E13A4D5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CBFC1-B440-43B2-BB70-9A27F5D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A6805-0E61-431D-9CF8-B978E864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Clean carrier</a:t>
            </a:r>
          </a:p>
        </p:txBody>
      </p:sp>
    </p:spTree>
    <p:extLst>
      <p:ext uri="{BB962C8B-B14F-4D97-AF65-F5344CB8AC3E}">
        <p14:creationId xmlns:p14="http://schemas.microsoft.com/office/powerpoint/2010/main" val="129373341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809CB-63B0-4E0D-A6B6-9731E5A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94810-FC84-4EFE-A6E6-10167136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Photocatalytic water splitting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C044-C9E2-44C8-B113-4AD50E0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the TiO2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9413-1D5A-47BE-A548-F661F3E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947DE-36C7-4B0D-83DE-2F13EE03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370D4-B6C0-4E04-AB42-FA93771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A94A0-69B3-44E3-AE94-D3613E3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Photocatalysis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79F8-F869-41B2-A5DF-DE5F72C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F041E-CB8B-4D4A-8749-6DB50A9B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Photocatalytic splitting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97659-3E4F-4DFB-88B7-ABF8160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Photocatalytic water splitting uses light-activated TiO2 to generate electron-hole pairs that drive water oxidation and reduction to form oxygen and hydrogen.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73F55-3D52-4A14-935A-1EE25A7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9B514-4BCB-4C3A-AD02-22C03F5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TiO2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2F428-82BE-4D3B-8AD1-CB616AB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B7C4A-1107-4522-9E0B-394C0586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837A9-798E-4F69-BCE5-B452249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Light absorption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71171-AE75-4395-9134-C5C3B7C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78954-DF3F-4D77-B163-CB85E949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C87BC-10F1-4F5A-9157-6250CC7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Electron-hole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D0456-DCC1-49F3-9F4A-F4C89EA0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CE9D1-6A5A-4413-9B21-BB3F3D8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315C6-3276-4146-89EC-A2F7EBCA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6F296-B2CE-4D6A-8254-8ED1BFC9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03D00-93BA-4E6F-9FBC-2F53FE6B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0215B-C5F1-4DED-B53B-750D02B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51194959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A808D-82FB-472C-BAFF-D7D597D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6424-9537-4D64-80CF-A93533BB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hydrogen by TiO2 catalyst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E0D4E-57F4-4170-9963-306E188C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production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F8122-1346-4140-92BD-EB8E41B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BCE2B-826B-4E75-A253-D4FAE72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88E6-7C8F-4F32-A6EA-A6EDA65F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69615-ECB3-4777-A133-0175F3B6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Photocatalysis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87129-AF86-4662-B5E1-92695FD5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ADE7F-41E8-4481-8B28-85A33B38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F6FD0-3EA0-45F9-9117-1C7D76B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Light strikes TiO2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BE586-9445-4DCB-9E70-CD95259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88C24-BFF9-4DDE-A9E8-AC9696EF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2E98C-FCC5-4CD8-A763-BA9981D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Electron-hole pairs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2F3D2-DC29-48D9-B2D1-13E265E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50480-880B-4D6E-AD69-DF71C4F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5943F-4254-4405-8B5A-FE42786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reduce H+ to H2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BF72F-11D1-44A8-A9F0-7EF7D0D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4724F-639E-490A-B5B2-F594EA7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358E9-4198-4835-ADFD-469D6A8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Holes oxidize water to O2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A2126-262C-4BE5-AC81-5BDEC9B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1C8BF-6200-461F-8744-0DE6099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151EE-9E42-45BB-9C1C-F071232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Hydrogen is collected</a:t>
            </a:r>
          </a:p>
        </p:txBody>
      </p:sp>
    </p:spTree>
    <p:extLst>
      <p:ext uri="{BB962C8B-B14F-4D97-AF65-F5344CB8AC3E}">
        <p14:creationId xmlns:p14="http://schemas.microsoft.com/office/powerpoint/2010/main" val="107087228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5B09E6-B4B4-4086-8D04-9AFC67C1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1A6EC-8E9B-4B35-AD3C-4FC1D20D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Advantages of TiO2 photocatalytic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93A77-D742-4D51-AC04-E9631A1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why TiO2 is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9E123-3F4D-4A46-8B67-6B27062F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54CF0-BC0E-4007-80E3-8D675A5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4D5E-51DD-464C-8AB0-A998070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9B00B-6BB7-4833-966F-8EBE5B8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Hydrogen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3E0F3-F544-4339-87C4-6234D5C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78854-CBB9-4622-835B-BDC796D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B7728-1A00-4E24-BAB3-31C7617F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E0B6-AD9B-4328-BB4B-DC9FC27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Stable 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EBC8F-3871-4DFE-A442-61A35873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TiO2 is chemically stable under many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39AA0-5FA9-42A8-A1AA-E5F2D8E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65EDD-97BE-4FDA-81F3-DCA39873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BFBE7-E83B-4452-95E4-1FEFF767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 toxicity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CDF1A-F9E9-4465-8CF2-69AD978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Safer than many heavy-metal catalysts.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0A9B0-560F-4BCD-801F-74E9F26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65A7F-638F-4857-97B5-8BAA475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15B20-4530-4537-B0DC-4227D3EA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Uses sunlight conceptually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7D9E8-8907-4C04-97BC-5BA99DA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link solar energy with hydrogen production.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3496A-62D9-49B6-BAFB-6A76E7E6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E0B97-3E42-4A4D-B479-6022825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8BD5E-B2EB-4DBE-BDCC-96B5583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Clean fuel product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1F3DC-909E-4967-9BED-AC3BC11C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Hydrogen can power fuel cells with water as product.</a:t>
            </a:r>
          </a:p>
        </p:txBody>
      </p:sp>
    </p:spTree>
    <p:extLst>
      <p:ext uri="{BB962C8B-B14F-4D97-AF65-F5344CB8AC3E}">
        <p14:creationId xmlns:p14="http://schemas.microsoft.com/office/powerpoint/2010/main" val="84287210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774CF-6F77-402B-A399-9913E62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42EDD-45EF-4045-9232-FB070A9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hydrogen applications and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49804-126D-4E4A-854E-096080EF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promise and barriers.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65639-2227-45D3-92B9-B150159F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DFCF-087C-4CB4-9742-B42376D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7CC26-11CA-4D17-AB69-E5414A5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1CDA6-10DC-4765-9F15-96C4292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Hydrogen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9872D-AB4B-4B19-B8A5-70BEEF6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A97BB-E45E-44E7-9938-7E13EB0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6CF3-0912-40DF-A044-59937F8D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E89BB-89BC-4CD2-97F6-8ECE963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55C67-4F10-478E-9BEC-002D4F3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74A02-33A4-4956-9220-BE9E3F0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022FB-C803-458D-A74E-10A3CD58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EBD34-A999-493C-9741-AA6AB29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Challenges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D9BCD-3B20-4357-929B-78F5059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4A74E-13EF-4DBD-A571-250E8BC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933E1-5B05-4F95-85F4-16914D1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B9563-D0CB-4BA4-A90A-ADF7835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Fuel cells and clean power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49612-DCA4-48E4-9E4B-66479720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D909C-DCB7-40A9-84B6-64646CE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68E0E-43CC-4BAB-A25F-B2DCDF11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Energy storage for renewables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DA35E-3097-4775-9A36-F0CB149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DA947-AFEE-4A0D-8CC4-CF8D8BD7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4A4EE-4CF9-4689-8070-C897ADA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Industrial hydrogen supply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87327-9BFA-442E-9EFF-7E310E6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BF429-4D9D-4BCB-9CA7-0EDDE76C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876CB-DAEC-4DB0-90F8-AE58F0BB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Transportation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A32DC-008B-48ED-B642-E4AEB39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51690-8ADA-4903-8B59-3596F88E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D4019-4D92-42C6-899A-7830A4B0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Low conversion efficiency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EB584-2751-4613-AB3A-552C6FE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216F0-1F7D-4F45-9A3A-54755DCC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F7B0E-8486-4126-9756-4BAB05B4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Catalyst band-gap limitations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83ACDD-9648-4ED3-A3ED-500641A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5DD87-2307-4A0B-8AE2-DBC5E3AC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46980-3A03-4BC4-8EF6-561644F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Hydrogen storage and transport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FB64DE-F242-4C2F-A0DA-0551796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C037E-FE1D-44C2-9516-AD67845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88B81D-85D4-4566-B53A-1D46B651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Cost and infrastructure needs</a:t>
            </a:r>
          </a:p>
        </p:txBody>
      </p:sp>
    </p:spTree>
    <p:extLst>
      <p:ext uri="{BB962C8B-B14F-4D97-AF65-F5344CB8AC3E}">
        <p14:creationId xmlns:p14="http://schemas.microsoft.com/office/powerpoint/2010/main" val="6068798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E982A-9E34-486D-9F29-16202D1E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B192C-D483-47EA-BA88-9958F4C4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mistakes in 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0123A-D8A5-44CB-87A3-FC613B9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likely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DACD4-10BA-4BA0-9460-D2E9A93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A4B0C-1E20-4E5B-8516-C4FE8ED9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01C9-54DB-4B9F-BDF7-D4D5BB34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2E842-8779-435E-919A-E3DCAD4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01EDE-854E-4E84-A618-F322FF5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92D05-9FD9-4E7D-9336-1DC9E91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E6B4C-934C-422A-B0BD-3341FF0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1856B-209B-4BD3-9CE0-C310D2F7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Using standard cell equations for concentration cells without setting E°cell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20EA1-A6EC-41F0-A50D-DAC87BF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4EB48-6188-423B-87F5-E8AFBA3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7E7C7-6BB0-40C5-B5A1-BAF4ABB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Forgetting concentration ratio order in Nernst numericals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1D8D2-B296-40B5-B346-DD5CF08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14BBB-C918-4CAF-B8D8-7E8636C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671E5-06F3-426F-A7FD-1BD67D0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Mixing electron flow with ion flow in batteries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0F382-3480-499E-8CFC-61036EB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9D46A-3C2E-4D0D-8BC9-A8482BD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33472-AFF3-4DBF-BFAF-3E8E71E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Writing supercapacitors as if they are ordinary batteries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A2674-F604-4854-81DC-4DBEBF7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AE03C-C435-4C11-85AA-3EA0749A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FB667-494E-4A4C-997E-B2F38CB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Confusing fuel cells with batteries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AB0C6-D351-4BDA-B16F-851B402F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FD263-4C93-4B87-B89B-49EF6CA7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EFEDF-667A-4571-AFEF-84358BAC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Explaining PV cells without the p-n junction field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7D422-DF1F-4493-85F7-9E6F29C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9C9AE-F7A1-4ADC-9F6E-F252B6D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4D738-DE8F-4AD7-82AE-A53A5EE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Calling all hydrogen green without checking production route</a:t>
            </a:r>
          </a:p>
        </p:txBody>
      </p:sp>
    </p:spTree>
    <p:extLst>
      <p:ext uri="{BB962C8B-B14F-4D97-AF65-F5344CB8AC3E}">
        <p14:creationId xmlns:p14="http://schemas.microsoft.com/office/powerpoint/2010/main" val="94016469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12762-556A-4811-AC1B-86BC6CDD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BE1BE-2F6A-4373-9995-B0BE662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energy-device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6CB4-3C40-4C3D-BA18-F2E8469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24F61-FBB9-41BC-90A5-C8DF33CF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68B63-EB8E-458E-BEE5-F0199D3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3D776-9166-46B1-BDCF-FB79D84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5BD6A-9B6B-483B-B969-489FA00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AB345-012C-420C-940D-3087958F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04EAD-34FF-4831-B7F3-6346D1A7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25F6A-DD3C-43E5-9305-693E6313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0EA89-A47B-4D9C-94C0-3FB50CC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9F20A-D8D3-44E6-8F2F-DD2EC026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497BF-504D-4431-8295-2EA9397D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Construction diagram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97B21-80F1-4032-BBFA-9B7E5E2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FA811-C049-49FE-AA2F-A77BCB3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B6797-C6B6-4697-BB5B-3C6B249F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44ED2-3676-43A8-BCA3-F85A631C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A88D9-6309-45EB-A0F2-4C3D753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A6AFF-64FD-450A-9B7C-5D3BC05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Reactions / equation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10FC1-E63F-4149-972E-3838ED0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82E18-7CA7-45D8-A0E9-CDA9F1C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D2B31-8B3F-444F-B65E-2F5E450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Applications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5604089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A9DBE-F9C4-4DC1-9A2E-95902A5D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321E-6633-4132-BF82-2DF85820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3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DC49B-E1A1-454C-90F6-611DCB4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syllabus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E798B-C5DE-497A-903A-18173749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15C02-F255-48AC-9E1A-FFA7D37B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4A316-65F9-4284-85A8-53ADFFFA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A84DB-F195-40E6-8001-5978D76B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043ED-69F8-4724-9050-2326FDC1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F1660-1E39-40C6-90C6-ADFB2F0A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1E081-776C-436C-983A-A5807E6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2E93C-5A70-44BC-9118-5FEC0B5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21673-892C-4783-9F0A-0EF8F926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4B26E-868E-4E32-B96E-FC89EBBA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Nernst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D62F8-B0B3-442D-BBC5-D283E14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Cell potential.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F1D19-3A26-4C4E-A2B7-C619D1F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C9B3-C827-41E7-B4E6-5B9D5B08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FB46D-DD3A-46D8-A2D8-400971F3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Concentration cell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21575-9AFF-449E-9D64-2DF3EEC2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Different concentrations.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94635-AEDA-4ECC-A1E6-49647CF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4935C-0B1A-49F3-8434-89B0E23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431CC-BCD3-408F-8D70-1D784D91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Batteries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B5A1E-7AB9-4E4A-940E-26824C8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Li-ion and Na-ion.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E08E1-0254-4CF4-862E-CE43CF7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D2AD2-75F6-4175-B75C-3D42424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48113-E40D-43E9-9E33-2F92C935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Supercapacitor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6D2C0-4D32-4DE3-B9F0-142FFCA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Fast compact storage.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42212-866B-46FA-9531-FCB5FB6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B7FC5-C9A5-4734-8389-CD9EE1A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83AB9-1A9A-4C45-B460-930BF3B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SOFC and PV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C402F-E8B5-4D5B-9712-1B762B37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816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Clean conversion.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DBFB0-2951-4185-8EFC-9BA5B6C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25E0B-C5E5-44E3-8071-CEED98D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EEB88-B67F-44D3-B035-30685D1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Green hydrogen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8C5DD-A172-478D-9E47-F5FA3177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TiO2 water splitting.</a:t>
            </a:r>
          </a:p>
        </p:txBody>
      </p:sp>
    </p:spTree>
    <p:extLst>
      <p:ext uri="{BB962C8B-B14F-4D97-AF65-F5344CB8AC3E}">
        <p14:creationId xmlns:p14="http://schemas.microsoft.com/office/powerpoint/2010/main" val="136099265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28FFD-43F1-4036-9924-206CC39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4337F-FE40-4C1F-B4B5-F865D6B0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F356D-0EF4-4154-BD68-2EA6E27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0377F-D3DE-4315-9166-D6DA335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B59C9-9AEE-4FFC-A6C9-FA32E7F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C839F-8480-4B07-9095-F91D6979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DC93B-1E53-48D9-A0EA-EC10CB4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C9465-7CFA-4FE6-8CD6-7347BB2C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2993-68CD-4EB5-A9B7-B47ABB8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1. What is an energy system?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84695-292C-46E9-B1EB-65FE43C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2. State the Nernst equation.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BCE1F-3FD5-41B1-9CC0-6AF84BF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3. What is Q in Nernst equation?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A43EE-D7F8-4E69-A3E6-25081CA0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4. What is a concentration cell?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C57DB-2F92-47A7-AD94-AF41A3F8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5. Why is E° zero in concentration cell?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4E030-07AB-4801-AA91-900F39D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6. Which side is cathode in concentration cell?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A1791-CCB9-453F-B64E-AC94AE2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7. Classify batteries.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837B9-CD69-4D99-92E5-AC87E71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8. What is a Li-ion battery?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5AB45-7AB0-4EE1-892B-B2DEE561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9. What is intercalation?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096D9-98D0-45EC-A127-7355AD9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10. Give Li-ion applications.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314DC-F7A1-42F3-BAA8-A39D158B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11. What is sodium-ion battery?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C2FFA-834C-4D13-B563-9F6E711D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12. Why is sodium-ion useful for EVs?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7ECEB-29B8-4EF9-9DD3-56F83D66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13. What is a supercapacitor?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48A97-B5B1-4799-B4B1-8BAA8F0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14. What is asymmetric supercapacitor?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12964-2AA8-458B-A48E-B1B37FD2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15. Define fuel cell.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64A5E-008E-4F7D-83ED-222BAA37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16. Difference between fuel cell and battery?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D08D7-DE3C-4598-BB0D-33CD336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17. What is SOFC?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4FBDD-CAE6-44EA-8D0B-B4C9843D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18. What is PV cell?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86B60-2F33-4CCA-ACD7-1E24883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19. What is green hydrogen?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B3E44-413E-4BA6-B93D-95ED96A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20. Role of TiO2 in water splitting?</a:t>
            </a:r>
          </a:p>
        </p:txBody>
      </p:sp>
    </p:spTree>
    <p:extLst>
      <p:ext uri="{BB962C8B-B14F-4D97-AF65-F5344CB8AC3E}">
        <p14:creationId xmlns:p14="http://schemas.microsoft.com/office/powerpoint/2010/main" val="208909109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5DE66-5C97-4D52-A46D-324801B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F8198-0A3E-4DE5-B83F-1A3C8990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exam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71FFF-7615-4744-9267-49F8688B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practice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E7EBF-D821-414A-8CCB-B840745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475D7-2EEC-4F9C-A69B-C0F3BF7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3FC0A-0830-41A1-8E06-3461717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A921E-B5F9-4027-AF4E-7CDD4DFF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F12B6-BB25-4E0B-A7DC-338730E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5CDAC-D8CA-4ED8-9230-5DB6E852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2M: State Nernst equation.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1E070-3A7F-4096-9FBC-CF55237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2M: Define concentration cell.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8C20F-B356-4CCC-BBC6-D3EF9A3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2M: Classify batteries.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6693A-4999-4ACA-ACF4-C20ADCBA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2M: Define fuel cell.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6FF4C-C46F-4E13-8ED9-67C5B047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2M: What is green hydrogen?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CB06B-7938-4969-ACA0-10FEF33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5M: Explain concentration cell construction and working.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7EC89-9E05-44E8-A43B-AF3C19C6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5M: Solve a concentration-cell numerical problem.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7A4FB-C94E-4A67-83E9-A553E39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5M: Explain Li-ion battery construction and working.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156E2-27C2-4019-9E0B-0213BFA5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5M: Explain sodium-ion battery for EV applications.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FF5C6-7FCD-43FE-BBDC-61ACE97E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5M: Explain ultra-small asymmetric supercapacitor.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70649-CACA-45FE-80C4-67DC4FC9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10M: Explain Nernst equation and concentration-cell numericals.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8C240-24B1-431A-9AC1-DF9DA1ED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10M: Explain Li-ion and sodium-ion batteries with comparison.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DD930-0F72-4E57-99EF-0C5B9FFC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10M: Explain SOFC construction, working, applications and limitations.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4362F-1F6F-4BF7-AD5B-A456953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10M: Explain PV cell construction, working and limitations.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48FA8-240A-45B7-869B-62656C7D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10M: Explain green hydrogen production by TiO2 photocatalytic water splitting.</a:t>
            </a:r>
          </a:p>
        </p:txBody>
      </p:sp>
    </p:spTree>
    <p:extLst>
      <p:ext uri="{BB962C8B-B14F-4D97-AF65-F5344CB8AC3E}">
        <p14:creationId xmlns:p14="http://schemas.microsoft.com/office/powerpoint/2010/main" val="25449555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DCDD0-4EB4-4649-96FC-5F8563F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DB669-7635-4A56-B3E6-977D0D3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E0DCF-4A33-4B18-9F5B-652F71C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End with compact keywords and answer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0F73E-B4C3-4E53-B83B-2CF23CD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A1EAB-DF74-440D-97A1-42637C2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2C00C-2CB6-4B34-B251-7B1B9654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570D-AC9D-4449-86AF-19FD15F5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F329C-20B8-41AF-8299-D14286C2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E98F6-845F-4195-8158-529E4DA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706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6CB40-745E-4A9A-B525-45113E4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F35AF-4310-4C9D-A788-D005C54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B7057-D384-445D-A960-4115123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034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Energy system; redox reaction; electrode potential; Nernst equation; Ecell; E°cell; reaction quotient Q; n; concentration cell; dilute side; concentrated side; salt bridge; anode; cathode; battery; primary battery; secondary battery; Li-ion battery; graphite anode; lithium metal oxide cathode; separator; intercalation; sodium-ion battery; EV application; supercapacitor; asymmetric electrodes; IoT; wearable device; fuel cell; battery comparison; SOFC; solid oxide electrolyte; oxide ion conduction; PV cell; p-n junction; photovoltaic effect; green hydrogen; TiO2; photocatalytic water splitting.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CFA7F-7A3C-4570-84B6-40E75753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EA6B1-148D-4A3A-9DE7-18AE470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5A26E-E9AE-4179-872A-780994D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1143B-10F4-463B-834A-EABDDDE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For every Module 3 device answer: draw labelled construction, explain ion path and electron path, then write applications and limitations.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69052-B24C-44C6-9CD3-AF99166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F3B3C-EA68-4973-B221-36DBDED0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F4879-3351-413C-8F53-CBED8EC7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2B0DD-D7C9-4359-A62E-9017D16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34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Energy devices are easiest when you track three paths separately: electron path, ion path and energy-conversion path.</a:t>
            </a:r>
          </a:p>
        </p:txBody>
      </p:sp>
    </p:spTree>
    <p:extLst>
      <p:ext uri="{BB962C8B-B14F-4D97-AF65-F5344CB8AC3E}">
        <p14:creationId xmlns:p14="http://schemas.microsoft.com/office/powerpoint/2010/main" val="1819112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2026-08-12T04:38:34.7420000Z</dcterms:created>
  <dcterms:modified xsi:type="dcterms:W3CDTF">2026-08-12T04:38:34.7420000Z</dcterms:modified>
</coreProperties>
</file>