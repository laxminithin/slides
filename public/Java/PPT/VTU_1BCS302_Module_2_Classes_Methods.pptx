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53b3a467b34704" /><Relationship Type="http://schemas.openxmlformats.org/officeDocument/2006/relationships/extended-properties" Target="/docProps/app.xml" Id="Rd7ffbb57cc4245b5" /><Relationship Type="http://schemas.openxmlformats.org/officeDocument/2006/relationships/officeDocument" Target="/ppt/presentation.xml" Id="R2ee726b08b5048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4948800e104647"/>
  </p:sldMasterIdLst>
  <p:notesMasterIdLst>
    <p:notesMasterId xmlns:r="http://schemas.openxmlformats.org/officeDocument/2006/relationships" r:id="R8b292ad6db39496a"/>
  </p:notesMasterIdLst>
  <p:sldIdLst>
    <p:sldId xmlns:r="http://schemas.openxmlformats.org/officeDocument/2006/relationships" id="256" r:id="R3e48637d585d4bc7"/>
    <p:sldId xmlns:r="http://schemas.openxmlformats.org/officeDocument/2006/relationships" id="257" r:id="R86a2c7187227412d"/>
    <p:sldId xmlns:r="http://schemas.openxmlformats.org/officeDocument/2006/relationships" id="258" r:id="R7cb1035335a149ce"/>
    <p:sldId xmlns:r="http://schemas.openxmlformats.org/officeDocument/2006/relationships" id="259" r:id="Rd154c386c31d4426"/>
    <p:sldId xmlns:r="http://schemas.openxmlformats.org/officeDocument/2006/relationships" id="260" r:id="Rb321a1fbdf144158"/>
    <p:sldId xmlns:r="http://schemas.openxmlformats.org/officeDocument/2006/relationships" id="261" r:id="R0d5aea4b8b684af7"/>
    <p:sldId xmlns:r="http://schemas.openxmlformats.org/officeDocument/2006/relationships" id="262" r:id="Rdded4da93bc44763"/>
    <p:sldId xmlns:r="http://schemas.openxmlformats.org/officeDocument/2006/relationships" id="263" r:id="Rb6909d6d318342d8"/>
    <p:sldId xmlns:r="http://schemas.openxmlformats.org/officeDocument/2006/relationships" id="264" r:id="R67a0f449e946463e"/>
    <p:sldId xmlns:r="http://schemas.openxmlformats.org/officeDocument/2006/relationships" id="265" r:id="R6df76c7904734657"/>
    <p:sldId xmlns:r="http://schemas.openxmlformats.org/officeDocument/2006/relationships" id="266" r:id="Rd6fde37d376e47cf"/>
    <p:sldId xmlns:r="http://schemas.openxmlformats.org/officeDocument/2006/relationships" id="267" r:id="R6e854213056a44ce"/>
    <p:sldId xmlns:r="http://schemas.openxmlformats.org/officeDocument/2006/relationships" id="268" r:id="R90c2324052364c1c"/>
    <p:sldId xmlns:r="http://schemas.openxmlformats.org/officeDocument/2006/relationships" id="269" r:id="R0e9a8229ef3941db"/>
    <p:sldId xmlns:r="http://schemas.openxmlformats.org/officeDocument/2006/relationships" id="270" r:id="R37f19414fd5c42ae"/>
    <p:sldId xmlns:r="http://schemas.openxmlformats.org/officeDocument/2006/relationships" id="271" r:id="Rdeeab2b66d624e2e"/>
    <p:sldId xmlns:r="http://schemas.openxmlformats.org/officeDocument/2006/relationships" id="272" r:id="Rfab5fe1a684744a2"/>
    <p:sldId xmlns:r="http://schemas.openxmlformats.org/officeDocument/2006/relationships" id="273" r:id="R76825328b56f4eb9"/>
    <p:sldId xmlns:r="http://schemas.openxmlformats.org/officeDocument/2006/relationships" id="274" r:id="R90ddf4de9f6b467c"/>
    <p:sldId xmlns:r="http://schemas.openxmlformats.org/officeDocument/2006/relationships" id="275" r:id="R3a5798d6e9e44e6b"/>
    <p:sldId xmlns:r="http://schemas.openxmlformats.org/officeDocument/2006/relationships" id="276" r:id="R79935d73277a4729"/>
    <p:sldId xmlns:r="http://schemas.openxmlformats.org/officeDocument/2006/relationships" id="277" r:id="Rfc38d856c7b04397"/>
    <p:sldId xmlns:r="http://schemas.openxmlformats.org/officeDocument/2006/relationships" id="278" r:id="Re33e32e0b42245c9"/>
    <p:sldId xmlns:r="http://schemas.openxmlformats.org/officeDocument/2006/relationships" id="279" r:id="R5e584a2ff9d848bd"/>
    <p:sldId xmlns:r="http://schemas.openxmlformats.org/officeDocument/2006/relationships" id="280" r:id="R472148a94dd34a33"/>
    <p:sldId xmlns:r="http://schemas.openxmlformats.org/officeDocument/2006/relationships" id="281" r:id="R9a63db1f90824004"/>
    <p:sldId xmlns:r="http://schemas.openxmlformats.org/officeDocument/2006/relationships" id="282" r:id="R81b48b5d115e4220"/>
    <p:sldId xmlns:r="http://schemas.openxmlformats.org/officeDocument/2006/relationships" id="283" r:id="R769e14c9677a4c62"/>
    <p:sldId xmlns:r="http://schemas.openxmlformats.org/officeDocument/2006/relationships" id="284" r:id="Rf0f8302b14e74298"/>
    <p:sldId xmlns:r="http://schemas.openxmlformats.org/officeDocument/2006/relationships" id="285" r:id="R4a4d6aae6b3f4f1f"/>
    <p:sldId xmlns:r="http://schemas.openxmlformats.org/officeDocument/2006/relationships" id="286" r:id="Rf1a8caca7cd24dd2"/>
    <p:sldId xmlns:r="http://schemas.openxmlformats.org/officeDocument/2006/relationships" id="287" r:id="R30c65be4ede64cea"/>
    <p:sldId xmlns:r="http://schemas.openxmlformats.org/officeDocument/2006/relationships" id="288" r:id="Rd7b1c0f7cfbf4b34"/>
    <p:sldId xmlns:r="http://schemas.openxmlformats.org/officeDocument/2006/relationships" id="289" r:id="R55d5433922e8455c"/>
    <p:sldId xmlns:r="http://schemas.openxmlformats.org/officeDocument/2006/relationships" id="290" r:id="R847e80b47b9545aa"/>
    <p:sldId xmlns:r="http://schemas.openxmlformats.org/officeDocument/2006/relationships" id="291" r:id="R6d5ff75f02124913"/>
    <p:sldId xmlns:r="http://schemas.openxmlformats.org/officeDocument/2006/relationships" id="292" r:id="Rb9e687e8d4104f96"/>
    <p:sldId xmlns:r="http://schemas.openxmlformats.org/officeDocument/2006/relationships" id="293" r:id="R8a3449cb7ccc48b6"/>
    <p:sldId xmlns:r="http://schemas.openxmlformats.org/officeDocument/2006/relationships" id="294" r:id="Rb43b914a9db14d42"/>
    <p:sldId xmlns:r="http://schemas.openxmlformats.org/officeDocument/2006/relationships" id="295" r:id="R0a85159f666b48ea"/>
    <p:sldId xmlns:r="http://schemas.openxmlformats.org/officeDocument/2006/relationships" id="296" r:id="R24f9bf934158454a"/>
    <p:sldId xmlns:r="http://schemas.openxmlformats.org/officeDocument/2006/relationships" id="297" r:id="Ra4e15bd532c3441b"/>
    <p:sldId xmlns:r="http://schemas.openxmlformats.org/officeDocument/2006/relationships" id="298" r:id="R7c979e5c60e842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920039a25c4f77" /><Relationship Type="http://schemas.openxmlformats.org/officeDocument/2006/relationships/slideMaster" Target="/ppt/slideMasters/slideMaster1.xml" Id="R5f4948800e104647" /><Relationship Type="http://schemas.openxmlformats.org/officeDocument/2006/relationships/notesMaster" Target="/ppt/notesMasters/notesMaster1.xml" Id="R8b292ad6db39496a" /><Relationship Type="http://schemas.openxmlformats.org/officeDocument/2006/relationships/presProps" Target="/ppt/presProps.xml" Id="Rad402bde58f34827" /><Relationship Type="http://schemas.openxmlformats.org/officeDocument/2006/relationships/tableStyles" Target="/ppt/tableStyles.xml" Id="Rfc0082133bd44631" /><Relationship Type="http://schemas.openxmlformats.org/officeDocument/2006/relationships/slide" Target="/ppt/slides/slide1.xml" Id="R3e48637d585d4bc7" /><Relationship Type="http://schemas.openxmlformats.org/officeDocument/2006/relationships/slide" Target="/ppt/slides/slide2.xml" Id="R86a2c7187227412d" /><Relationship Type="http://schemas.openxmlformats.org/officeDocument/2006/relationships/slide" Target="/ppt/slides/slide3.xml" Id="R7cb1035335a149ce" /><Relationship Type="http://schemas.openxmlformats.org/officeDocument/2006/relationships/slide" Target="/ppt/slides/slide4.xml" Id="Rd154c386c31d4426" /><Relationship Type="http://schemas.openxmlformats.org/officeDocument/2006/relationships/slide" Target="/ppt/slides/slide5.xml" Id="Rb321a1fbdf144158" /><Relationship Type="http://schemas.openxmlformats.org/officeDocument/2006/relationships/slide" Target="/ppt/slides/slide6.xml" Id="R0d5aea4b8b684af7" /><Relationship Type="http://schemas.openxmlformats.org/officeDocument/2006/relationships/slide" Target="/ppt/slides/slide7.xml" Id="Rdded4da93bc44763" /><Relationship Type="http://schemas.openxmlformats.org/officeDocument/2006/relationships/slide" Target="/ppt/slides/slide8.xml" Id="Rb6909d6d318342d8" /><Relationship Type="http://schemas.openxmlformats.org/officeDocument/2006/relationships/slide" Target="/ppt/slides/slide9.xml" Id="R67a0f449e946463e" /><Relationship Type="http://schemas.openxmlformats.org/officeDocument/2006/relationships/slide" Target="/ppt/slides/slide10.xml" Id="R6df76c7904734657" /><Relationship Type="http://schemas.openxmlformats.org/officeDocument/2006/relationships/slide" Target="/ppt/slides/slide11.xml" Id="Rd6fde37d376e47cf" /><Relationship Type="http://schemas.openxmlformats.org/officeDocument/2006/relationships/slide" Target="/ppt/slides/slide12.xml" Id="R6e854213056a44ce" /><Relationship Type="http://schemas.openxmlformats.org/officeDocument/2006/relationships/slide" Target="/ppt/slides/slide13.xml" Id="R90c2324052364c1c" /><Relationship Type="http://schemas.openxmlformats.org/officeDocument/2006/relationships/slide" Target="/ppt/slides/slide14.xml" Id="R0e9a8229ef3941db" /><Relationship Type="http://schemas.openxmlformats.org/officeDocument/2006/relationships/slide" Target="/ppt/slides/slide15.xml" Id="R37f19414fd5c42ae" /><Relationship Type="http://schemas.openxmlformats.org/officeDocument/2006/relationships/slide" Target="/ppt/slides/slide16.xml" Id="Rdeeab2b66d624e2e" /><Relationship Type="http://schemas.openxmlformats.org/officeDocument/2006/relationships/slide" Target="/ppt/slides/slide17.xml" Id="Rfab5fe1a684744a2" /><Relationship Type="http://schemas.openxmlformats.org/officeDocument/2006/relationships/slide" Target="/ppt/slides/slide18.xml" Id="R76825328b56f4eb9" /><Relationship Type="http://schemas.openxmlformats.org/officeDocument/2006/relationships/slide" Target="/ppt/slides/slide19.xml" Id="R90ddf4de9f6b467c" /><Relationship Type="http://schemas.openxmlformats.org/officeDocument/2006/relationships/slide" Target="/ppt/slides/slide20.xml" Id="R3a5798d6e9e44e6b" /><Relationship Type="http://schemas.openxmlformats.org/officeDocument/2006/relationships/slide" Target="/ppt/slides/slide21.xml" Id="R79935d73277a4729" /><Relationship Type="http://schemas.openxmlformats.org/officeDocument/2006/relationships/slide" Target="/ppt/slides/slide22.xml" Id="Rfc38d856c7b04397" /><Relationship Type="http://schemas.openxmlformats.org/officeDocument/2006/relationships/slide" Target="/ppt/slides/slide23.xml" Id="Re33e32e0b42245c9" /><Relationship Type="http://schemas.openxmlformats.org/officeDocument/2006/relationships/slide" Target="/ppt/slides/slide24.xml" Id="R5e584a2ff9d848bd" /><Relationship Type="http://schemas.openxmlformats.org/officeDocument/2006/relationships/slide" Target="/ppt/slides/slide25.xml" Id="R472148a94dd34a33" /><Relationship Type="http://schemas.openxmlformats.org/officeDocument/2006/relationships/slide" Target="/ppt/slides/slide26.xml" Id="R9a63db1f90824004" /><Relationship Type="http://schemas.openxmlformats.org/officeDocument/2006/relationships/slide" Target="/ppt/slides/slide27.xml" Id="R81b48b5d115e4220" /><Relationship Type="http://schemas.openxmlformats.org/officeDocument/2006/relationships/slide" Target="/ppt/slides/slide28.xml" Id="R769e14c9677a4c62" /><Relationship Type="http://schemas.openxmlformats.org/officeDocument/2006/relationships/slide" Target="/ppt/slides/slide29.xml" Id="Rf0f8302b14e74298" /><Relationship Type="http://schemas.openxmlformats.org/officeDocument/2006/relationships/slide" Target="/ppt/slides/slide30.xml" Id="R4a4d6aae6b3f4f1f" /><Relationship Type="http://schemas.openxmlformats.org/officeDocument/2006/relationships/slide" Target="/ppt/slides/slide31.xml" Id="Rf1a8caca7cd24dd2" /><Relationship Type="http://schemas.openxmlformats.org/officeDocument/2006/relationships/slide" Target="/ppt/slides/slide32.xml" Id="R30c65be4ede64cea" /><Relationship Type="http://schemas.openxmlformats.org/officeDocument/2006/relationships/slide" Target="/ppt/slides/slide33.xml" Id="Rd7b1c0f7cfbf4b34" /><Relationship Type="http://schemas.openxmlformats.org/officeDocument/2006/relationships/slide" Target="/ppt/slides/slide34.xml" Id="R55d5433922e8455c" /><Relationship Type="http://schemas.openxmlformats.org/officeDocument/2006/relationships/slide" Target="/ppt/slides/slide35.xml" Id="R847e80b47b9545aa" /><Relationship Type="http://schemas.openxmlformats.org/officeDocument/2006/relationships/slide" Target="/ppt/slides/slide36.xml" Id="R6d5ff75f02124913" /><Relationship Type="http://schemas.openxmlformats.org/officeDocument/2006/relationships/slide" Target="/ppt/slides/slide37.xml" Id="Rb9e687e8d4104f96" /><Relationship Type="http://schemas.openxmlformats.org/officeDocument/2006/relationships/slide" Target="/ppt/slides/slide38.xml" Id="R8a3449cb7ccc48b6" /><Relationship Type="http://schemas.openxmlformats.org/officeDocument/2006/relationships/slide" Target="/ppt/slides/slide39.xml" Id="Rb43b914a9db14d42" /><Relationship Type="http://schemas.openxmlformats.org/officeDocument/2006/relationships/slide" Target="/ppt/slides/slide40.xml" Id="R0a85159f666b48ea" /><Relationship Type="http://schemas.openxmlformats.org/officeDocument/2006/relationships/slide" Target="/ppt/slides/slide41.xml" Id="R24f9bf934158454a" /><Relationship Type="http://schemas.openxmlformats.org/officeDocument/2006/relationships/slide" Target="/ppt/slides/slide42.xml" Id="Ra4e15bd532c3441b" /><Relationship Type="http://schemas.openxmlformats.org/officeDocument/2006/relationships/slide" Target="/ppt/slides/slide43.xml" Id="R7c979e5c60e842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3fa33eed7449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2a844fcf514858" /><Relationship Type="http://schemas.openxmlformats.org/officeDocument/2006/relationships/notesMaster" Target="/ppt/notesMasters/notesMaster1.xml" Id="R1944cfdbe24c4d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2ca4beab554186" /><Relationship Type="http://schemas.openxmlformats.org/officeDocument/2006/relationships/notesMaster" Target="/ppt/notesMasters/notesMaster1.xml" Id="R6ea24092b8cd45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319453efc54629" /><Relationship Type="http://schemas.openxmlformats.org/officeDocument/2006/relationships/notesMaster" Target="/ppt/notesMasters/notesMaster1.xml" Id="Rde6d1601c3bc4e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07dc4fb715481c" /><Relationship Type="http://schemas.openxmlformats.org/officeDocument/2006/relationships/notesMaster" Target="/ppt/notesMasters/notesMaster1.xml" Id="R581dbd6623ab4c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3dd1c166eb463f" /><Relationship Type="http://schemas.openxmlformats.org/officeDocument/2006/relationships/notesMaster" Target="/ppt/notesMasters/notesMaster1.xml" Id="Rcea558b538524f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1008706bb245d5" /><Relationship Type="http://schemas.openxmlformats.org/officeDocument/2006/relationships/notesMaster" Target="/ppt/notesMasters/notesMaster1.xml" Id="R6f3b18a7488b41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55b8b5a7314f29" /><Relationship Type="http://schemas.openxmlformats.org/officeDocument/2006/relationships/notesMaster" Target="/ppt/notesMasters/notesMaster1.xml" Id="Rb1d9752d43a34a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c6bb7cb42b4fb3" /><Relationship Type="http://schemas.openxmlformats.org/officeDocument/2006/relationships/notesMaster" Target="/ppt/notesMasters/notesMaster1.xml" Id="R4665a971beb142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b477813c6e465c" /><Relationship Type="http://schemas.openxmlformats.org/officeDocument/2006/relationships/notesMaster" Target="/ppt/notesMasters/notesMaster1.xml" Id="R06cdb751cc5c40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7b8affe21b47af" /><Relationship Type="http://schemas.openxmlformats.org/officeDocument/2006/relationships/notesMaster" Target="/ppt/notesMasters/notesMaster1.xml" Id="R44e5103c526248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ce7453fb494f75" /><Relationship Type="http://schemas.openxmlformats.org/officeDocument/2006/relationships/notesMaster" Target="/ppt/notesMasters/notesMaster1.xml" Id="Rc27260293c2e4c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ad7b2a668f44ac4" /><Relationship Type="http://schemas.openxmlformats.org/officeDocument/2006/relationships/notesMaster" Target="/ppt/notesMasters/notesMaster1.xml" Id="R2554b0439fb648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14bbe2ff8b4f2c" /><Relationship Type="http://schemas.openxmlformats.org/officeDocument/2006/relationships/notesMaster" Target="/ppt/notesMasters/notesMaster1.xml" Id="R8da5eab879c448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d86779e4e54363" /><Relationship Type="http://schemas.openxmlformats.org/officeDocument/2006/relationships/notesMaster" Target="/ppt/notesMasters/notesMaster1.xml" Id="R9699212b5e0344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308f1fd36d46b6" /><Relationship Type="http://schemas.openxmlformats.org/officeDocument/2006/relationships/notesMaster" Target="/ppt/notesMasters/notesMaster1.xml" Id="R545114f9eb6645e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195739fa9f843e1" /><Relationship Type="http://schemas.openxmlformats.org/officeDocument/2006/relationships/notesMaster" Target="/ppt/notesMasters/notesMaster1.xml" Id="Re77ad23cf96245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2a8b75fbf0f43bd" /><Relationship Type="http://schemas.openxmlformats.org/officeDocument/2006/relationships/notesMaster" Target="/ppt/notesMasters/notesMaster1.xml" Id="R3bbf3df9f37f46e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06cceaf83ab4b65" /><Relationship Type="http://schemas.openxmlformats.org/officeDocument/2006/relationships/notesMaster" Target="/ppt/notesMasters/notesMaster1.xml" Id="R7c25d625d6de448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c583c7b01dd4ae0" /><Relationship Type="http://schemas.openxmlformats.org/officeDocument/2006/relationships/notesMaster" Target="/ppt/notesMasters/notesMaster1.xml" Id="R8c47a8321ae64ce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1b7916a7bdf4f7f" /><Relationship Type="http://schemas.openxmlformats.org/officeDocument/2006/relationships/notesMaster" Target="/ppt/notesMasters/notesMaster1.xml" Id="R40f26a50dc634cc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dbdd2057e784449" /><Relationship Type="http://schemas.openxmlformats.org/officeDocument/2006/relationships/notesMaster" Target="/ppt/notesMasters/notesMaster1.xml" Id="R8ba13a1b31c74f4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fd757ab16424bb5" /><Relationship Type="http://schemas.openxmlformats.org/officeDocument/2006/relationships/notesMaster" Target="/ppt/notesMasters/notesMaster1.xml" Id="Radca0554a93547d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624d98fab27424a" /><Relationship Type="http://schemas.openxmlformats.org/officeDocument/2006/relationships/notesMaster" Target="/ppt/notesMasters/notesMaster1.xml" Id="Red14dd038bdf4b5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8baeb9606174ff8" /><Relationship Type="http://schemas.openxmlformats.org/officeDocument/2006/relationships/notesMaster" Target="/ppt/notesMasters/notesMaster1.xml" Id="R83a3c352b40d4dd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73da0b7942544aa" /><Relationship Type="http://schemas.openxmlformats.org/officeDocument/2006/relationships/notesMaster" Target="/ppt/notesMasters/notesMaster1.xml" Id="Rfdc2d5b82ee7459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2d74d9026384b40" /><Relationship Type="http://schemas.openxmlformats.org/officeDocument/2006/relationships/notesMaster" Target="/ppt/notesMasters/notesMaster1.xml" Id="Rebea56f4ec9a4ef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fdf40e34d924ab6" /><Relationship Type="http://schemas.openxmlformats.org/officeDocument/2006/relationships/notesMaster" Target="/ppt/notesMasters/notesMaster1.xml" Id="R7a722998cc83455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cbcd03782bf4c27" /><Relationship Type="http://schemas.openxmlformats.org/officeDocument/2006/relationships/notesMaster" Target="/ppt/notesMasters/notesMaster1.xml" Id="Rd539ab4d95624f0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f9d6177a7434b12" /><Relationship Type="http://schemas.openxmlformats.org/officeDocument/2006/relationships/notesMaster" Target="/ppt/notesMasters/notesMaster1.xml" Id="Re1616ec8db1e48b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2ed252d26d84c79" /><Relationship Type="http://schemas.openxmlformats.org/officeDocument/2006/relationships/notesMaster" Target="/ppt/notesMasters/notesMaster1.xml" Id="R432258f166854b4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fbd5e4c8d534b5a" /><Relationship Type="http://schemas.openxmlformats.org/officeDocument/2006/relationships/notesMaster" Target="/ppt/notesMasters/notesMaster1.xml" Id="R7dcb8e675f5340a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91a68db16924978" /><Relationship Type="http://schemas.openxmlformats.org/officeDocument/2006/relationships/notesMaster" Target="/ppt/notesMasters/notesMaster1.xml" Id="R2ade0164308c4ac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803618591894dec" /><Relationship Type="http://schemas.openxmlformats.org/officeDocument/2006/relationships/notesMaster" Target="/ppt/notesMasters/notesMaster1.xml" Id="R6a80daafc9c64c5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50828d36abc4059" /><Relationship Type="http://schemas.openxmlformats.org/officeDocument/2006/relationships/notesMaster" Target="/ppt/notesMasters/notesMaster1.xml" Id="R989a2fd2453144b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c664b7e31ea4fcc" /><Relationship Type="http://schemas.openxmlformats.org/officeDocument/2006/relationships/notesMaster" Target="/ppt/notesMasters/notesMaster1.xml" Id="R5ceceb090b10420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474ff8f50d94cc2" /><Relationship Type="http://schemas.openxmlformats.org/officeDocument/2006/relationships/notesMaster" Target="/ppt/notesMasters/notesMaster1.xml" Id="R4a29feb44f1e4e5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e95c3bc7f944670" /><Relationship Type="http://schemas.openxmlformats.org/officeDocument/2006/relationships/notesMaster" Target="/ppt/notesMasters/notesMaster1.xml" Id="R2f9e0338bb67455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0a7b7792bab4ae2" /><Relationship Type="http://schemas.openxmlformats.org/officeDocument/2006/relationships/notesMaster" Target="/ppt/notesMasters/notesMaster1.xml" Id="R38be6f811bba4b2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718f0f9c1574810" /><Relationship Type="http://schemas.openxmlformats.org/officeDocument/2006/relationships/notesMaster" Target="/ppt/notesMasters/notesMaster1.xml" Id="Rb424b32d9f1942c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d6d5420de184b16" /><Relationship Type="http://schemas.openxmlformats.org/officeDocument/2006/relationships/notesMaster" Target="/ppt/notesMasters/notesMaster1.xml" Id="Rf3ad62523cf3424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57a08a3dada431b" /><Relationship Type="http://schemas.openxmlformats.org/officeDocument/2006/relationships/notesMaster" Target="/ppt/notesMasters/notesMaster1.xml" Id="Rc25244aab61748d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7d59789c7eb4eeb" /><Relationship Type="http://schemas.openxmlformats.org/officeDocument/2006/relationships/notesMaster" Target="/ppt/notesMasters/notesMaster1.xml" Id="R3032546be693478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96468a7a14f446d" /><Relationship Type="http://schemas.openxmlformats.org/officeDocument/2006/relationships/notesMaster" Target="/ppt/notesMasters/notesMaster1.xml" Id="R4bb750267cd948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by saying Module 2 is where Java becomes truly object-oriented.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Preview class design and object behavior.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blueprint, instance and reference as three separate ideas.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Student or Box as example.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to fields and method.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declaration alone does not create object.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Warn that object reference assignment does not copy object data.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volume method.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formal and actual parameters.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constructor name must match class name.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out no return type.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this resolves name conflict between parameter and field.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Stress Java frees unreachable objects automatically, timing is not controlled by programmer.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add(int,int) and add(double,double).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return type alone cannot overload a method.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parameter holds reference to another object.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prevents a very common misconception.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returned reference points to a new object.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factorial as the simplest example.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Trace fact(3) on the board.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encapsulation is enforced through access control.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main is static because JVM can call it without an object.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every object shares count.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Module 3 revisits final with inheritance.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iterator/helper object analogy.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These are textbook Chapter 7 extras useful in labs.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Link directly to syllabus lab programs.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Stack or Student class as the running example.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garbage collection is automatic but not immediate.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one of the most important Module 2 explanations.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before the overloading example.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Clarify pass-by-value with object references.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why constructor choice affects object creation syntax.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this(...) must be first statement when used.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Make the stack behavior visible and less magical.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Turn access control into design guidance.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Counter.count and individual Box.width.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helps students answer why nested classes exist.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how access control protects stack internals.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final overview.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code syntax matters here.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rapid viva.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Close with keyword revision.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2 checklist; Herbert Schildt and Danny Coward, Java: The Complete Reference, 13th ed., McGraw-Hill, 2024, chapters 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af5415233f4a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5ff802e39c4161" /><Relationship Type="http://schemas.openxmlformats.org/officeDocument/2006/relationships/slideLayout" Target="/ppt/slideLayouts/slideLayout1.xml" Id="R07c588245db44a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c588245db44a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0eb3c2a59422f" /><Relationship Type="http://schemas.openxmlformats.org/officeDocument/2006/relationships/notesSlide" Target="/ppt/notesSlides/notesSlide1.xml" Id="R1f604143e4b643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4cdfad1064621" /><Relationship Type="http://schemas.openxmlformats.org/officeDocument/2006/relationships/notesSlide" Target="/ppt/notesSlides/notesSlide2.xml" Id="Re5e04d55a07345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5713a76de4802" /><Relationship Type="http://schemas.openxmlformats.org/officeDocument/2006/relationships/notesSlide" Target="/ppt/notesSlides/notesSlide3.xml" Id="R18d4132e8db045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362442cca4911" /><Relationship Type="http://schemas.openxmlformats.org/officeDocument/2006/relationships/notesSlide" Target="/ppt/notesSlides/notesSlide4.xml" Id="Rf3bdd575ccbc41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fb1701e4e4b48" /><Relationship Type="http://schemas.openxmlformats.org/officeDocument/2006/relationships/notesSlide" Target="/ppt/notesSlides/notesSlide5.xml" Id="R3fe28366e5c441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12ebf09764b4d" /><Relationship Type="http://schemas.openxmlformats.org/officeDocument/2006/relationships/notesSlide" Target="/ppt/notesSlides/notesSlide6.xml" Id="R8dc26c4533bd43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8689cedfa4c55" /><Relationship Type="http://schemas.openxmlformats.org/officeDocument/2006/relationships/notesSlide" Target="/ppt/notesSlides/notesSlide7.xml" Id="Ra8dfacfb435747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620489646441b" /><Relationship Type="http://schemas.openxmlformats.org/officeDocument/2006/relationships/notesSlide" Target="/ppt/notesSlides/notesSlide8.xml" Id="Rf6d0088460a944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cd7b6dc774b17" /><Relationship Type="http://schemas.openxmlformats.org/officeDocument/2006/relationships/notesSlide" Target="/ppt/notesSlides/notesSlide9.xml" Id="R004d6d286f8e40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23c4b919d4a2b" /><Relationship Type="http://schemas.openxmlformats.org/officeDocument/2006/relationships/notesSlide" Target="/ppt/notesSlides/notesSlide10.xml" Id="R92f33faf7c2343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b3f6994ff475f" /><Relationship Type="http://schemas.openxmlformats.org/officeDocument/2006/relationships/notesSlide" Target="/ppt/notesSlides/notesSlide11.xml" Id="R2923de5f813641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7419d980942df" /><Relationship Type="http://schemas.openxmlformats.org/officeDocument/2006/relationships/notesSlide" Target="/ppt/notesSlides/notesSlide12.xml" Id="Rfeb0b17f81d047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275f051ac4e46" /><Relationship Type="http://schemas.openxmlformats.org/officeDocument/2006/relationships/notesSlide" Target="/ppt/notesSlides/notesSlide13.xml" Id="R385ba4d0ea3a4e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ddc3ef6c348da" /><Relationship Type="http://schemas.openxmlformats.org/officeDocument/2006/relationships/notesSlide" Target="/ppt/notesSlides/notesSlide14.xml" Id="Rcc3761b07e17405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04de0740840d2" /><Relationship Type="http://schemas.openxmlformats.org/officeDocument/2006/relationships/notesSlide" Target="/ppt/notesSlides/notesSlide15.xml" Id="Rf97a324ef7d44d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3c4694b8b4b06" /><Relationship Type="http://schemas.openxmlformats.org/officeDocument/2006/relationships/notesSlide" Target="/ppt/notesSlides/notesSlide16.xml" Id="R3821346c60e14f9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11a32d1244a19" /><Relationship Type="http://schemas.openxmlformats.org/officeDocument/2006/relationships/notesSlide" Target="/ppt/notesSlides/notesSlide17.xml" Id="R247d6a2a3c4842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77191bc974841" /><Relationship Type="http://schemas.openxmlformats.org/officeDocument/2006/relationships/notesSlide" Target="/ppt/notesSlides/notesSlide18.xml" Id="R58043a7650cb429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ecff7493a493a" /><Relationship Type="http://schemas.openxmlformats.org/officeDocument/2006/relationships/notesSlide" Target="/ppt/notesSlides/notesSlide19.xml" Id="R4dc0af3c15c7484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207be1f1f4dee" /><Relationship Type="http://schemas.openxmlformats.org/officeDocument/2006/relationships/notesSlide" Target="/ppt/notesSlides/notesSlide20.xml" Id="R850fe03e076e400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bf3a04a3d4798" /><Relationship Type="http://schemas.openxmlformats.org/officeDocument/2006/relationships/notesSlide" Target="/ppt/notesSlides/notesSlide21.xml" Id="R6d5c244a9ad444f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9935d5cf84f5b" /><Relationship Type="http://schemas.openxmlformats.org/officeDocument/2006/relationships/notesSlide" Target="/ppt/notesSlides/notesSlide22.xml" Id="R416f0cd2d0014c6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d98fb02e74a4c" /><Relationship Type="http://schemas.openxmlformats.org/officeDocument/2006/relationships/notesSlide" Target="/ppt/notesSlides/notesSlide23.xml" Id="R5e28058a4001424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568dc976c4f40" /><Relationship Type="http://schemas.openxmlformats.org/officeDocument/2006/relationships/notesSlide" Target="/ppt/notesSlides/notesSlide24.xml" Id="Ra29edd6f1a5d417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cc09c18d548b1" /><Relationship Type="http://schemas.openxmlformats.org/officeDocument/2006/relationships/notesSlide" Target="/ppt/notesSlides/notesSlide25.xml" Id="R24e3eca5923b48f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37baf9205443b" /><Relationship Type="http://schemas.openxmlformats.org/officeDocument/2006/relationships/notesSlide" Target="/ppt/notesSlides/notesSlide26.xml" Id="R1c1f3916618f4d8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8f8caca7a4a4c" /><Relationship Type="http://schemas.openxmlformats.org/officeDocument/2006/relationships/notesSlide" Target="/ppt/notesSlides/notesSlide27.xml" Id="Ra84a308e281244d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57163ad774677" /><Relationship Type="http://schemas.openxmlformats.org/officeDocument/2006/relationships/notesSlide" Target="/ppt/notesSlides/notesSlide28.xml" Id="R04d9807be9cf428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3f8cdbb63479d" /><Relationship Type="http://schemas.openxmlformats.org/officeDocument/2006/relationships/notesSlide" Target="/ppt/notesSlides/notesSlide29.xml" Id="R35562cb77a084fc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7b7b2c1994ff6" /><Relationship Type="http://schemas.openxmlformats.org/officeDocument/2006/relationships/notesSlide" Target="/ppt/notesSlides/notesSlide30.xml" Id="R0ca59ad4829a4f2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fa50a0fad42bb" /><Relationship Type="http://schemas.openxmlformats.org/officeDocument/2006/relationships/notesSlide" Target="/ppt/notesSlides/notesSlide31.xml" Id="Rd38ed8ed9eec4ed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de89b0ec84ba5" /><Relationship Type="http://schemas.openxmlformats.org/officeDocument/2006/relationships/notesSlide" Target="/ppt/notesSlides/notesSlide32.xml" Id="R8470d0ab8b9b437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385782f544452" /><Relationship Type="http://schemas.openxmlformats.org/officeDocument/2006/relationships/notesSlide" Target="/ppt/notesSlides/notesSlide33.xml" Id="R31e45eeed7ac465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6031a22e945ff" /><Relationship Type="http://schemas.openxmlformats.org/officeDocument/2006/relationships/notesSlide" Target="/ppt/notesSlides/notesSlide34.xml" Id="R64cd8c311e144a1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5c26c03664429" /><Relationship Type="http://schemas.openxmlformats.org/officeDocument/2006/relationships/notesSlide" Target="/ppt/notesSlides/notesSlide35.xml" Id="R16f50c16cb7b432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7ec43b96e44b1" /><Relationship Type="http://schemas.openxmlformats.org/officeDocument/2006/relationships/notesSlide" Target="/ppt/notesSlides/notesSlide36.xml" Id="R978c4437154a44e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870c30cbe4e87" /><Relationship Type="http://schemas.openxmlformats.org/officeDocument/2006/relationships/notesSlide" Target="/ppt/notesSlides/notesSlide37.xml" Id="Rf64f198a9ea34fd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61ed16bc8463a" /><Relationship Type="http://schemas.openxmlformats.org/officeDocument/2006/relationships/notesSlide" Target="/ppt/notesSlides/notesSlide38.xml" Id="R61a3665135054fe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0d97c693d4319" /><Relationship Type="http://schemas.openxmlformats.org/officeDocument/2006/relationships/notesSlide" Target="/ppt/notesSlides/notesSlide39.xml" Id="R8da38631443748a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40c86809c4393" /><Relationship Type="http://schemas.openxmlformats.org/officeDocument/2006/relationships/notesSlide" Target="/ppt/notesSlides/notesSlide40.xml" Id="R1c9a0b1d714f443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db9f76c2045e2" /><Relationship Type="http://schemas.openxmlformats.org/officeDocument/2006/relationships/notesSlide" Target="/ppt/notesSlides/notesSlide41.xml" Id="R53aa8cfb9a8d40e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d55f55bb140c3" /><Relationship Type="http://schemas.openxmlformats.org/officeDocument/2006/relationships/notesSlide" Target="/ppt/notesSlides/notesSlide42.xml" Id="R1e1f649ee238495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b3e88560c419d" /><Relationship Type="http://schemas.openxmlformats.org/officeDocument/2006/relationships/notesSlide" Target="/ppt/notesSlides/notesSlide43.xml" Id="Rb210629c5d744a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F8C63-71F3-4BD9-AF9E-AF696763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893E7-A16C-467A-9DAE-07552DF7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Classes, Objects and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48DA4-EB32-44BB-86EF-1C9221C1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Module 2 teaches the core mechanics of Java object construction and class design.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9ECE9-38DC-4646-AC1F-CC082C48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17091-B50B-48C1-AD30-CE5F82A2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F1550-B1EA-4849-8515-863A2A79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7F85C-D1A4-42AA-9345-C9E71273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E7F1B-2A75-4C02-BC14-2AAB0494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4DA23-BE67-4B19-B53A-E38D30A8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6096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8FBFF"/>
                </a:solidFill>
              </a:defRPr>
            </a:pPr>
            <a:r>
              <a:rPr sz="4350" b="1">
                <a:solidFill>
                  <a:srgbClr val="F8FBFF"/>
                </a:solidFill>
              </a:rPr>
              <a:t>Java</a:t>
            </a:r>
          </a:p>
          <a:p xmlns:a="http://schemas.openxmlformats.org/drawingml/2006/main">
            <a:pPr>
              <a:defRPr sz="4350" b="1">
                <a:solidFill>
                  <a:srgbClr val="F8FBFF"/>
                </a:solidFill>
              </a:defRPr>
            </a:pPr>
            <a:r>
              <a:rPr sz="4350" b="1">
                <a:solidFill>
                  <a:srgbClr val="F8FBFF"/>
                </a:solidFill>
              </a:rPr>
              <a:t>Module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10BEE-97AC-4D0C-AC95-2DB5529F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7D9"/>
                </a:solidFill>
              </a:defRPr>
            </a:pPr>
            <a:r>
              <a:rPr sz="1725">
                <a:solidFill>
                  <a:srgbClr val="B8C7D9"/>
                </a:solidFill>
              </a:rPr>
              <a:t>Classes • objects • methods • constructors • this • access • static • final • nested classes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CD9F3-3845-4BBA-96EB-5A0307E0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763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19050">
            <a:solidFill>
              <a:srgbClr val="2C6C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31547-C16B-491E-9C24-2B73A1B6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C1535-BE5A-4669-910C-8EF7F9D3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7111F"/>
                </a:solidFill>
              </a:defRPr>
            </a:pPr>
            <a:r>
              <a:rPr sz="2325" b="1">
                <a:solidFill>
                  <a:srgbClr val="07111F"/>
                </a:solidFill>
              </a:rPr>
              <a:t>CLASS</a:t>
            </a:r>
          </a:p>
          <a:p xmlns:a="http://schemas.openxmlformats.org/drawingml/2006/main">
            <a:pPr algn="ctr">
              <a:defRPr sz="2325" b="1">
                <a:solidFill>
                  <a:srgbClr val="07111F"/>
                </a:solidFill>
              </a:defRPr>
            </a:pPr>
            <a:r>
              <a:rPr sz="2325" b="1">
                <a:solidFill>
                  <a:srgbClr val="07111F"/>
                </a:solidFill>
              </a:rPr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11125820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C5DC61-B18C-451D-A51C-16E64DCD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19493-4672-412F-A900-88630658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2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43648-6C6A-4B10-9E8C-300EAD33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the syllabus as the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7CBC7-DC15-4FAA-96CD-C2F33BFC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951AD-4912-4992-A765-9080B018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DE159-3FEF-44C1-BAA1-CDB858AF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9E37B-C43C-4830-9580-080134AC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927BD-7DD8-4C74-AF0D-14B9272A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147BD-91D4-4BB4-B2DB-9353321E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8F87D-6291-402D-BB5A-AC81B5D0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B2D93-A0DA-4CB1-AF77-40A692D7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class fundamentals and object declaration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AF80E-9C2E-49CA-9506-3BA7D7B4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0BAFC-5AFD-4C27-8CB7-5AA3F83E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AEA331-4844-49CC-A1CD-38F67DEA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Assign object reference variables and understand garbage collection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E9963B-2733-4B24-8DAB-3A880EE1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9D5F9-3EF1-43C1-8D78-F21821BA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73760-FDA0-4869-9FD8-C1E5CE53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Write methods, constructors and use this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AFCC2E-49F3-4D86-855C-D3C203AE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F580CA-2E3D-43C5-9629-DE4224EE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40807-818F-4594-876B-64D95AE5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Overload methods and pass/return objects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D6633D-2FD1-4979-A076-4B8E6ED1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ADB84C-7405-4D40-961F-797D00AA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601693-0DB6-45A4-A2E4-6697099B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Use recursion, access control, static and final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830464-479E-4890-AA7E-6D955A27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61769A-0744-4086-BFBE-C5D6C35F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05C1EC-B4A6-4360-A07F-7DAFDE88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767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Use nested and inner classes</a:t>
            </a:r>
          </a:p>
        </p:txBody>
      </p:sp>
    </p:spTree>
    <p:extLst>
      <p:ext uri="{BB962C8B-B14F-4D97-AF65-F5344CB8AC3E}">
        <p14:creationId xmlns:p14="http://schemas.microsoft.com/office/powerpoint/2010/main" val="5365946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B444D9-8EED-48A3-B100-6B78A28F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54B40-813C-4525-B152-C3C34E0F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Class, object and reference work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61CE0-CB69-4562-BD3F-D5D16262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Visualize the core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0EAF5-0619-4281-B4A1-1EC6104D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00536-869F-4931-8BC1-78192999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88A32-90EE-4236-AF70-CFEE6341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3DAC0-584D-45F3-B415-CD66153B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Classes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10C86-73AD-4740-9FBE-E8C5EB7B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9972E-09D7-44F9-A39E-DE1AC7AD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0C625-5413-4FE3-94B6-5689C81D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0F957-BD09-4B99-BEAD-8F1848FC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28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Class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2E8B4-F9D6-4399-A935-44C38693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2495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Blueprint: fields + methods + constructors.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92865-4E78-4E16-B3D3-B4E710B2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52552-7717-4957-9755-E5CE2DEE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71BF5-A1A6-4FC0-A58F-33F2C101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28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Object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0EE5A-F323-4D1A-8502-F22B23D5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09850"/>
            <a:ext cx="2495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Runtime instance created with new.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AD6FB-1CC6-4E65-8EF6-1D0EFEC6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2DE64B-A401-4180-9B8C-D064AA5A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9FA85B-06D6-49D9-A378-98F5BE58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28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Reference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42BF67-0ED1-4AB9-A748-4E0E4CC5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9850"/>
            <a:ext cx="2495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Variable that points to an object.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91EA83-6F72-48D1-A582-159B05E6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16230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8FA169-E25A-438F-A5ED-21FA3173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57725"/>
            <a:ext cx="13944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Declare class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B8187A-E02D-47EA-A1C2-5E479BFD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47815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0E4384-5E01-40A9-AD72-ECA669B9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360" y="4476750"/>
            <a:ext cx="16230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022ED8-D8FE-48CF-8CF5-BA897663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660" y="4657725"/>
            <a:ext cx="13944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Create object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C521FC-5343-451B-B33F-861B9BA9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0" y="47815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633752-9D1F-4809-BF70-8A398D5A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4476750"/>
            <a:ext cx="16230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ADFF1C-EB7A-454C-A923-EDFE6429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770" y="4657725"/>
            <a:ext cx="13944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Call method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323A99-CC60-4380-ADD9-EAB2D7BC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30" y="47815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01443A-7290-4E4E-BB2B-4C0D7AEE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476750"/>
            <a:ext cx="16230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D63F22-3BDD-4106-85A2-8F359860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4657725"/>
            <a:ext cx="13944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Update state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71466B-2165-4B4B-9F62-C94ECD24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815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B783E8-1B0E-4C72-8E12-2BC40500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0690" y="4476750"/>
            <a:ext cx="16230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22AB3A-2B06-480E-8DB8-85A24F73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90" y="4657725"/>
            <a:ext cx="13944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Collect garbage</a:t>
            </a:r>
          </a:p>
        </p:txBody>
      </p:sp>
    </p:spTree>
    <p:extLst>
      <p:ext uri="{BB962C8B-B14F-4D97-AF65-F5344CB8AC3E}">
        <p14:creationId xmlns:p14="http://schemas.microsoft.com/office/powerpoint/2010/main" val="5031737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B24303-02C6-4CD9-956D-B5549F41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40E97-EDCB-4166-84EF-A18A63A6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Class fundamentals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6EF60-E59F-429A-B5B0-A5055AA8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class.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BA3D8-5608-4BE2-AEA3-6B7B9C02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E07C5-DD82-445B-9197-B39A805F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B9A75-0CE8-4A0B-9F0F-DA486487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F7986-38D5-41DD-BA22-7628C85C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Classes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693AD-343F-4E6D-854E-2C5F0867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24047-070E-4DB1-A58A-659C8310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Class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2D717-A56F-4264-BB93-031ADCE4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class is a blueprint that defines data fields and methods for objects of the same kind.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CE5BE-6BBE-4631-B415-8E18E2D0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2CABF-2FD7-4B26-A26C-613F79DD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Fields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42238-4B87-40E8-970B-034C8981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B5CE5-CE11-44F9-AEC3-0CAD0A96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7D54D-E9E9-41AB-B9CE-7D0BCBC2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Methods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F67579-76D0-410A-A9DA-F6BFB7AD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0BE85-7BF2-4B26-B1F6-20AE2703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D8BCBD-64ED-4DD9-8AB1-47158BD5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Blueprint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466275-AF8B-46E5-BFCD-69344CCA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54CE69-2355-4F64-86D4-3234E3C6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C0AA2C-EA24-47D3-BE1D-10D890E3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Object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F9142D-5BF3-4C65-9D11-F721AC51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0A5885-2FB0-4A16-B29F-A3E1BDA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FCF9FE-F45B-4B28-B40C-1972B978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8231284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DF1A6-CE62-4F65-8C80-C1D06379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1FAAD-18F0-4957-A6A6-8EE32F41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General form of a 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06A4E-E83E-427A-8B9E-407928BD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basic class syntax.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228D8-188F-4C95-B794-EEAE05E7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575B3-DFFF-4829-B2BA-0E9CC77D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4A0E4-6D6E-4BD1-9468-0F512F53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7E4CC-28ED-4253-A8A2-8F4C08DD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Classes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1294E-AC28-4E3B-8871-C1AE6267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EB119-B988-40AD-8933-79E3315C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2F848-BB1E-43AC-9141-F147D5D5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class Box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double width;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double height;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double depth;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double volume()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    return width * height * depth;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19545-C12D-4C86-A28E-D101F112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FB80A-A805-4D86-B523-BF2A9BC8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A6259-D2A3-4D5A-A8B5-9E420266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Class syntax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E53BC-719B-48FB-9559-38FF3FF6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49837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1D561-6F1B-4AA4-B88D-C72C3287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1F334-6A7C-4489-BB6E-043FEEE7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Declaring and creating objects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9B082-0075-4547-849E-268791B2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reference and new.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9364C-A87F-40DF-B408-102630DE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B8EAE-F63A-4D07-8DE5-F1A3791B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B4772-DD49-4395-8B22-93AF98DF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DFCB2-C79C-4875-A213-BBFCF7C3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Objects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593FC-657A-41FA-B234-2812118A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A0300-7C21-44C1-B9BB-BD480888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020D0-EB02-477E-917D-8F49D1C8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Box b;          // declares reference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b = new Box();  // creates object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b.width = 10;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System.out.println(b.volume());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747BC-D472-41C5-AD25-E4565F26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FAFE2-5342-4C7A-9FF2-13EE1CBB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D5F57-46F8-41FC-8F27-45B387B9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Object creation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824260-FB49-4370-A2DB-9011E489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21155454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1D3F4F-466F-4EFC-8C2E-8AAB53EF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9362E-C5C1-4257-8970-711437F0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Object references can share an object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C2BB2-23ED-4284-9FBE-EA011A24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reference assignment.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8D6F9-2B85-4438-87EA-2835D77C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DCB42-857E-4FBA-8161-0E4FEAC4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CF1FC-2F18-48DD-8063-FAA1133C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01409-0332-426C-A82D-8BCC2644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Objects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20050-1666-4478-A1D2-0F5DC913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38210-FE63-4145-A0B6-E55F043B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2B346-9158-4532-A48C-E8D79A78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Box b1 = new Box()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6051A-8E53-40D8-877D-D85EA997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30419-D84F-412F-AADC-D8B95A48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2E04E-7399-4B0C-AFA2-18EBEE13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Box b2 = b1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81DE8A-4B0B-458D-9FB5-916D6917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3955D-BFA3-4EB2-87DB-E7338E14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9A671-BA01-452F-9C54-94382D02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Both point to same object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68EA11-89F2-4294-9571-94AEFD2D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5E642-35CD-445C-96D7-71125409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421A6-5007-4D5A-9098-F78178EC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Change through b2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D8BD56-986B-4E80-91BD-D46824F9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074F61-5E14-4D35-8D4A-97354DCA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871581-F988-4EDC-820D-867068FA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b1 sees same state</a:t>
            </a:r>
          </a:p>
        </p:txBody>
      </p:sp>
    </p:spTree>
    <p:extLst>
      <p:ext uri="{BB962C8B-B14F-4D97-AF65-F5344CB8AC3E}">
        <p14:creationId xmlns:p14="http://schemas.microsoft.com/office/powerpoint/2010/main" val="20874798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6310FB-166D-4995-B30C-C9B61100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879BC-6852-42B7-8D0C-8C889DD8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Methods define object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5865C-338D-4A9C-8D69-46A3282B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methods.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EDB9E-DC1E-488B-A998-2310621C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5DEBE-D40A-402F-9E1E-DBAD9A08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D98D8-D901-4510-8422-371D432D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E58B4-79AF-4A13-87D5-B4F86709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Methods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828E8-F554-4EDF-98DB-AEE07FF6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5DE26-7EF1-4687-841F-59DCEA5D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F9E8F-D59D-40A4-951C-E2FB9598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method is a named block of code inside a class that performs work and can use parameters and return a value.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AF7B0-F05B-476A-B25E-84772DC3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B7696-1DC3-45CA-B50D-AB64BD5B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94C423-230C-4500-BE8C-A64E2CB8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B98AC-7323-4DDB-86D5-28D72ACA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476D4-7183-41F3-9E44-13ED3784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Parameters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A33733-EC0F-493F-9C29-5A29ACA2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42C11-EF7E-4F5B-9634-1E357116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715E7-0A8A-415F-8E71-239E532A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Return 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1730CF-1DD6-4076-ACE2-19FA650C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71FA5-AF9E-41B3-9938-B32A33FF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AAE32C-69CA-4E2B-BFA2-EE354F57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Body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DC4A95-E986-426A-AF7A-7B549383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993AE8-1713-4883-9FAB-62CDAFFC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FF3C84-9951-428D-9D47-62DD847F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Behavior</a:t>
            </a:r>
          </a:p>
        </p:txBody>
      </p:sp>
    </p:spTree>
    <p:extLst>
      <p:ext uri="{BB962C8B-B14F-4D97-AF65-F5344CB8AC3E}">
        <p14:creationId xmlns:p14="http://schemas.microsoft.com/office/powerpoint/2010/main" val="19437314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D8465-6965-4722-B6BF-6418684A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34D78-4F27-470A-8D32-7D970AA6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Parameters carry data into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7EEAB-E3CC-4A0C-86E8-6C200C95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method with parameters.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B6925-FFD3-495E-A6EA-F868C65A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B3BF4-8AA1-48FB-B234-C47FC27B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76929-85AC-4A5C-A0B3-6606542D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CBF1C-CFA9-4E2C-84A1-13C1CFA8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Methods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937D8-299B-4569-843E-183DFC87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A79B8-9E50-4207-BC36-C6B648FD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8720C-A554-405B-80DB-4AE980C4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void setDim(double w, double h, double d)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width = w;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height = h;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depth = d;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b.setDim(10, 20, 15);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CCF50-F905-42B5-B289-F582F11B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24302-08D5-4D48-9D51-B4194DB0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95F96-BDFE-44D5-B700-2BF11543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Method parameters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CCBEA-2665-4379-A3C4-2D7D468B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3850941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38CDB0-0BAA-45EF-B400-53216D38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8B732-3B93-4DE9-979E-C9C08867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Constructors initialize objects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995D1-9F4D-473A-B53E-4E15BE45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constructors.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951BE-140C-4ED9-9A52-A6DE6D95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F0329-14D1-4C5C-92F3-FF602EDC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D32F6-F410-4C7E-851F-73B04316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19603-35A7-4090-937C-C9088420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Constructors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7CE9B-0CF0-4E2A-8AE6-A32FD051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BF2F2-ACBA-4ACD-80EE-E9BAAA5A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Constructor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E22D2-F288-44BA-B5C0-D5E81B74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constructor is a special member that runs when an object is created and initializes the object's state.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AC1E0-4C07-4608-88BB-A1F72ED8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2B862-CB2F-4F11-A075-58CFC3E8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Same name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FF446-2E50-4282-8D5F-679DA831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33EBC-90D6-4A3B-9D8B-03955400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D67517-0F5E-4F92-AACE-E3EE8D7A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No return 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36CFD-36E7-450B-B891-D77F2433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0300C-5227-4D04-8183-BB32D81B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653E0-596B-4B78-A3A0-DF89B2FB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271304-9E1B-4F2F-8A1F-D636661C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6D3C81-1BB9-4209-AF2C-EB008C9E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8A9F54-08AE-4CF3-82E5-C9208BA2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Initialization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338669-961F-42E5-9C1D-0F3B474A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0EF6E0-93C9-410E-A468-0E4C42EA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2692FA-8B30-4FF1-BDC2-8DFE0CE2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Overloadable</a:t>
            </a:r>
          </a:p>
        </p:txBody>
      </p:sp>
    </p:spTree>
    <p:extLst>
      <p:ext uri="{BB962C8B-B14F-4D97-AF65-F5344CB8AC3E}">
        <p14:creationId xmlns:p14="http://schemas.microsoft.com/office/powerpoint/2010/main" val="5877154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A7ED0-E6BD-416F-9167-CB361369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5075A-173E-466E-8ADE-D51AF6CF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Constructor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D6BF2-AEC9-4212-BA44-8041A1D9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constructor syntax.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8F2EF-068D-4FCE-8F35-322245E4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B8724-BC81-4709-B0BF-0EFADC7D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EF6B2-4938-49B0-B027-3C01A32B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165AA-45E6-4C0E-92BC-93E8873A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Constructors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B1F4D-3936-4544-A6B6-BCE20288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B436B-534E-4087-B538-70D4B25C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EADFB-E5E4-44E8-8FC3-8C0EA431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class Box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double width, height, depth;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Box(double w, double h, double d)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    width = w;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    height = h;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    depth = d;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EE900-0A52-4344-91DC-EF02CDAF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489DC-1873-41C0-BC5D-89685686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D8B1C-4CB6-4B76-B074-5B481099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Constructor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CC225-F6F6-4707-9B2D-D0721CED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9679088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02F02-C11D-4A45-B839-8061868D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CC096-8D74-444F-9351-7247D365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this names the current object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34A88-2BA5-4BAB-ACE0-DFACF87E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this keyword.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27DA2-74C5-47D7-95E9-F52F0AA6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36F4C-BE63-4138-BFEC-D8C5A22B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E9B2-B6B0-4926-A256-98400175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C70D4-0D2F-4A23-8341-D7EB1298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23AC1-CE5C-4FCB-AC1B-3A70C673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98C33-3A35-436B-AFAF-53E9FA35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F631B-A96C-4189-BCFD-8F8CBE42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class Box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double width;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Box(double width)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    this.width = width;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56982-733E-4A22-9724-AE93F284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F706B-C3D4-4B8B-A4AF-C1BFD8D2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EC5C0-42FF-43EF-B129-1F755CF7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this keyword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CBD0A-5385-4C2F-A274-370C53A9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8238898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0B3C4D-8B98-44A3-B397-589F4A71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76036-357C-4F39-98F9-4C1E2ADD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Garbage collection reclaims unused objects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78B80-3A25-4084-BAFE-E944BF89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automatic memory cleanup.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90AAF-1942-4CC2-995B-6CC79605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15C55-09B3-4313-967C-9F0A53F4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5F5B2-3743-445A-8397-D6804038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7A197-C2DB-4AB9-87D1-AF45E8AB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Garbage Collection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8EB0C-497F-4D58-BBFC-822FAAC2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BDD03-D37C-4AC9-927C-56F5F987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54309-B355-48AB-BFF5-8156A9AA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Object created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68F8C-D303-468F-8ED8-8F849D0B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7138D-E9EB-4E46-B192-5082FFE7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5A66A-175D-4FCA-9413-7D0E1E8C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References point to 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3A4DD-DE33-4457-843F-E3267FF0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A6B0BC-2757-4C2C-80A4-001F858B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A5EC5-4614-4E23-B4C1-BEB3F332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References removed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8EE171-C514-46F3-9BD0-C22B9006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7A0639-F4D3-4E8C-AA34-ED431BE0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3A2640-2D61-41E1-825B-92FC2272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Object becomes unreachable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4E4D8B-C001-40CA-9BD9-72321CC8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E563F4-8040-4177-8450-A8A85096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439D13-3E24-441C-AFD5-C2292392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Garbage collector may reclaim memory</a:t>
            </a:r>
          </a:p>
        </p:txBody>
      </p:sp>
    </p:spTree>
    <p:extLst>
      <p:ext uri="{BB962C8B-B14F-4D97-AF65-F5344CB8AC3E}">
        <p14:creationId xmlns:p14="http://schemas.microsoft.com/office/powerpoint/2010/main" val="11309878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8A4F8A-8478-42E8-AEE0-BC438C65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D2B41-E09A-4377-AF88-983EE1E3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Method overloading gives one name many forms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86EE4-5963-40BE-822D-8E1E4C1B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overloading.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E67DD-A526-4DF2-8A69-2D96C9D0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65B37-432F-49AC-B6E7-E7AB76E0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E3F39-F026-43E6-B973-155E5246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C8D67-C7A4-4703-A213-DC34F80F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Overloading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F1BF9-D026-4F42-A2D4-03E4579B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83D23-82BF-4F55-92A1-18B0A8CF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Overloading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67CA9-820B-4E7F-87C9-FBD5237C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Method overloading lets a class define multiple methods with the same name but different parameter lists.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3F7EF-DEB4-406B-A3A3-F6418A5C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A910B-DDA2-4FA8-8FD0-F37D1F0B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Same name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F7E8B-3E8C-457E-819D-83B79E12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AC384-9E92-4E54-A9AB-E7D50B54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8A187-6066-46ED-891E-96B6A547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Different parameters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70B83-3E32-48F5-9F31-4C2AD041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95CE5-BC75-4EBB-B77E-CEF288C2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0EB24-CA6F-40BE-A61C-607D28FB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Compile-time choice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6D858E-D620-43B2-A352-E68BDB00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B2C95D-2819-418E-AC6C-D873391D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5B2592-B5E0-4CA9-92B3-BC34CF84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Readability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00DC1-6B2A-4FE0-867D-9D3B7793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83B6B9-ABC5-4A96-820B-123D3B72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568049-4E57-4288-901F-E563DD9B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17498290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E6BB9-201E-497E-9A20-1630AD54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50362-F909-4468-B6BD-53309222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Overloading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91559-0753-4FC6-85E0-28B651E6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overloaded methods.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A1FED-5F52-49E0-AEEF-1B696055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3337A-B533-489A-9334-669142C2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C8756-1732-49F6-B26C-427C248F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AA291-2B8E-4D5F-A734-B9987B7A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Overloading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E68E4-6319-4928-B76A-C6ED17D6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C79D2-CB87-445A-8079-4CAB2F22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7EA3F-CFFB-4121-89B9-41ACD98E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 add(int a, int b) { return a + b; 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double add(double a, double b) { return a + b; 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 add(int a, int b, int c) { return a + b + c; 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3B1A8-6D43-4E69-AFAF-0D63FE49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EA8A7-A62A-4C84-A572-78CD3055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75F32-E5E2-41C8-AD95-A0077825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Overloaded methods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5C02D-5DE3-4829-91F1-C4C436D8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21220612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517F16-72CA-4705-8726-731031D8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56AF7-5BD2-4C3E-894E-BDB2CAC2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Objects can be method arguments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3C56D-BA20-49E0-ACB8-4923BC88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object parameter passing.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20E24-5072-49BD-96F8-609BB299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C8874-FC05-4051-9D46-5BC916B9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55339-1210-4825-9101-FABA185F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33151-D4F8-4387-9649-1FA7D19B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Objects as Parameters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13B7F-BFA9-48C0-B76A-CF19C045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8EDB9-53BD-4E25-BD87-95F86B12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5818B-7F15-4410-BF6D-3F32F388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boolean sameBox(Box ob)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return width == ob.width &amp;&amp;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       height == ob.height &amp;&amp;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       depth == ob.depth;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886B5-EFA8-45CB-8E8A-F94C8934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BD47B-A161-4FD6-8EB3-3C3F95A6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6B524-3DF8-4655-B507-AE117E79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Object parameter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15E81-742E-4AFA-87D8-9D9949A1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327104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D2CBD1-2FC7-4436-9618-B3F8AAE1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D8FA1-CBE6-46E2-86D0-E8B95D85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Java passes arguments by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4256F-ACD9-4858-8F0D-056D1627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Clarify primitive vs reference behavior.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912DD-7F06-42E0-85D9-18AB0A01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E078C-78A6-413D-AFCD-CE91947F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678AF-100B-40EF-AEA3-A8934CBD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F3E3B-0CFB-4C08-8BE3-651AD239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Argument Passing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E8A11-5F4A-4B08-A15B-46440611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E2343-AB70-4949-87D1-AD7C51C4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C57EA-8D88-49EE-8CDB-89B7A62F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2AAAA-22B7-46CA-A671-184BC5C9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Primitive argument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18185-8271-4D78-82DD-28CAD408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CD974-6A28-4558-8BFA-CBD3B2DB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3134E-3F7C-45AA-B9A4-7A9F6572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6CD43-7A64-46D9-815B-4221D270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Object reference argument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55BEB-71A1-4D32-B64B-CB01B0BB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1D8E7-1A95-4289-8C04-5AAC1184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35BAF9-2C5D-48F8-A30A-86CF5FB8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BB21E6-E89E-4EF7-BD35-71891F0F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Value is copied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40353-C1A6-49E4-9BCD-54F61366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5D4984-A5C3-46D3-848D-2F0581B8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B9ADFB-0484-4F13-9747-DA985DF7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Method cannot change caller variable directly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90E0C2-E34A-4DF3-9671-12D88076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DFD593-7C84-4F3A-8F69-87069DC0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A18084-8F52-475F-BB45-BACFDCB9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Example: int 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7E51A9-4443-4AED-BA3B-C61EC406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6821BA-48C1-449C-9FF7-DC3098F1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343B01-B426-4C8B-906A-5B436302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Reference value is copied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FF267A-5B50-4F0E-8685-0A769B02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3D48EB-7CAB-4E93-9C69-B252BF17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9115B6-001F-45DB-9ACD-F253B301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Method can change object state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237613-ED0B-473D-BAB8-54CA701D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843403-7509-45AB-887C-485D63C7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ABEDCC-D159-409A-9251-6004B301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Reference variable itself is still passed by value</a:t>
            </a:r>
          </a:p>
        </p:txBody>
      </p:sp>
    </p:spTree>
    <p:extLst>
      <p:ext uri="{BB962C8B-B14F-4D97-AF65-F5344CB8AC3E}">
        <p14:creationId xmlns:p14="http://schemas.microsoft.com/office/powerpoint/2010/main" val="8133771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0916C-81CA-40B5-BC7C-CDDE3B6F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6F370-1EE3-4888-B48A-09B705A6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Methods can return objects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52BFD-942A-4115-800C-8FF32150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object return pattern.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4A0B0-C516-43F5-97CA-E322ECD5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F6DF4-E71D-4127-B867-938643D7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62A62-4D65-414F-9B75-D31C8C18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140D4-9662-47F2-86DD-23D1AB0C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Returning Objects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B1411-9379-4494-8A28-73BEDC1A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F0784-F422-46CA-9ECE-8F36BB1E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FD039-84C6-466C-9890-C0C5137D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Box bigger()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return new Box(width * 2,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               height * 2,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               depth * 2);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C432B-6C64-4BF3-AEC2-2F05E302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46998-5DCB-4CB1-9A73-0D686F82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8FB8C-7945-4F7E-A301-BD46A5C8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Return object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63D43-7B03-411A-A4EE-75A6CC48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0763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980943-AA69-474B-93DB-9D59D3F7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C4BAB-E779-4AC8-802E-82607D74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Recursion solves a problem by calling itself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FD059-F383-4F22-8C3B-0D9E971F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recursion.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45806-1631-4683-9500-44B10C72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435E6-6843-4E2F-A182-7CC5AE2D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07411-677B-4917-8E5F-4DF4B64F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A8D30-EFF7-438E-B78E-AEA1CEA1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Recursion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1A9B7-E0CD-44E9-8834-F26ECDD9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69505-0A4D-40E4-80E4-53BF8D7A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Recursion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8D485-931A-4994-9270-547BB156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Recursion occurs when a method calls itself, using a base case to stop and smaller subproblems to progress.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77C0A-C363-4C6F-A43C-434A4B76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B4B50-3BD5-49C5-BCFD-9096CBAD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Self-call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A317C6-37E8-48C8-9550-2A579649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B46F1-76F0-4C68-ACE8-0513F20D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A87588-347E-496B-90CE-D63CC4D5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Base case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6844FD-BD5F-4C24-98D7-7FB93746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E4659F-C7A2-4813-936A-777C2E25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73841-DD44-420F-8F76-1DED9F88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Progress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10E25D-051B-44C0-9130-7B9EFF99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593EF4-94CE-43CF-BB86-C5D26F99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A55837-CDDB-4E99-B6FB-4D099F49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Stack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BE2A3A-6833-4D22-ACAA-7AFB9890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84482C-4F3A-4888-B301-91ACF2BB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ACFEFA-EC6A-47CB-8E4E-FAFAB388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Subproblem</a:t>
            </a:r>
          </a:p>
        </p:txBody>
      </p:sp>
    </p:spTree>
    <p:extLst>
      <p:ext uri="{BB962C8B-B14F-4D97-AF65-F5344CB8AC3E}">
        <p14:creationId xmlns:p14="http://schemas.microsoft.com/office/powerpoint/2010/main" val="160113967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821BD-75F8-4CAB-929C-24E7C1E6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76008-5DBE-4611-A15D-BD714473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Recursive factorial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68179-57FA-47E8-865C-4F8DA2A0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recursive method.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7A02E-85D2-461B-A271-9E6E069A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32DD2-6E3C-46C9-93B1-95D5F8C5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7AAB6-F22C-441B-A0AE-DC7B1108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7D47E-DDAA-425C-92EA-2E21B27D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Recursion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DEC96-D611-4C25-9179-1FF795FD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023BD-8E7C-4B60-97B6-A378064B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4BEE2-AC29-4529-B55B-65D8CAA4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 fact(int n)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if (n == 0) return 1;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return n * fact(n - 1);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08679-98EC-499D-9A07-1123FCB8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E881E-38CB-4F84-BD51-EB523F3A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DD770-A372-4F1B-A78C-8ECEE04B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Recursion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3530A-0E06-4EE4-B703-EB711155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0960955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A21ED3-19CC-44FC-983C-082632E9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7F14E-D801-4C93-A8F1-1C13D531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Access control protects class members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469EA-D941-4C17-B06D-316E4176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access modifiers.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52B35-51B1-4753-9C1E-97D8CB97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28E7B-882A-4080-B5C2-C55D2DC3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0098A-ABCF-4A1E-A6AE-D9ACE439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020AB-89EF-4C32-89C4-DF760ADB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Access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AB0DF-71FF-4962-A526-CA12CDAB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2CFAD-5645-4075-9CB1-D8B23DDF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353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2838A6-7D94-4BFD-88CE-DEB2B337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334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Modifier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7E124-077C-4BBB-A607-5C5FA530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666875"/>
            <a:ext cx="353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89A79-30F9-4DFF-A0B4-04D0AC50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1790700"/>
            <a:ext cx="334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Access 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76100-9D5B-44DB-881A-6F703F53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1666875"/>
            <a:ext cx="353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1B5C2-8465-43B9-B2C4-B2C6800C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1790700"/>
            <a:ext cx="334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Typical 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BC881-A897-4DD6-B651-D36F9374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14201-77D4-4E11-B613-12A5F986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764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private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5740ED-3FC9-41F9-8BC8-2F8C4632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1812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9619C-860C-4526-AC6B-35708FAB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2764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Only inside class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2BBE46-D536-405B-9B46-CC4D4412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1812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4FD21-A04B-4714-B25D-B4B08E35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22764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Internal fields/helpers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0DF830-9DF1-4E48-8A95-4BFC1139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E39CCA-ED15-4BB0-B8D2-321EC75E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6702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default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F99BB7-ABBB-4A16-861E-8540E4AC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77177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EC2531-004B-475F-864D-58BA209C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86702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Package access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6704D6-D796-4537-A48E-B2E25142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77177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6423F4-CC9F-4630-AEC4-E4154DEE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286702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Package-local collaboration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6B0EC9-EFB9-4B96-B8DE-25C1ECCD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1F41B3-0242-4905-B57F-0CDB2559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protected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8EC62A-A9EF-4897-AECB-07E00F99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33623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790D5E-A02D-4015-9C8B-D41BBBB0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4575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Package + subclasses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BE5A32-0CA9-4B54-8433-F233419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3623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A6F3FB-A39A-4B15-A06C-2D1E86CF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34575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Inheritance support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8F4503-F80D-4653-8A8E-674B977F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59ACCF-F316-4187-96E9-BE5B9B08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public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F6EEE7-B9BC-4263-B262-DA833B33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395287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97F5B8-5251-4DD1-ADFF-102992FA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404812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Everywhere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DF553B-DB41-4F76-A3F2-75CF4F89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95287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930218-C2DB-4319-B2C3-0E606E8C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404812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Class API</a:t>
            </a:r>
          </a:p>
        </p:txBody>
      </p:sp>
    </p:spTree>
    <p:extLst>
      <p:ext uri="{BB962C8B-B14F-4D97-AF65-F5344CB8AC3E}">
        <p14:creationId xmlns:p14="http://schemas.microsoft.com/office/powerpoint/2010/main" val="165883621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615476-9303-45A7-B065-D0A1F76D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EF223-F229-436A-8D30-3351C381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static belongs to the 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8617F-8413-4770-94BD-5EAB079E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static.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93C74-E139-43EA-890A-0BDF42E9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F9DBA-616F-49FA-9EF1-44288926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7F4FE-3A09-4028-958C-74A8FCC9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97C0A-8481-453C-9701-C57ACC9B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static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CA0FE-201A-497F-A632-8B41E9F0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EB413-0F0D-4591-B994-E9829B9C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static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6A760-6219-4645-99E7-5E4F151B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static member belongs to the class rather than a particular object, so it can be used through the class name.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D810B-3E28-4478-AB7F-BBE1AC86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DDF021-8BCD-4174-B9D2-C38634CD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Class-level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BBC93-1DB4-49C7-8684-C9197653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30A7F-8C1E-4A88-A661-942CA488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B18A33-9F13-4680-AA49-BAFC98BD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Shared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55DD4-98CF-436C-BC73-41F56AF8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10B236-8182-4EFA-9C0A-757B9B48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290B30-F51C-4149-B782-1C9F4A9D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No object required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9C29D-6849-4E79-9294-14DF964C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478DE4-60C9-4E82-9AE9-9B913107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267520-3650-4073-94D0-BF3DC7E5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Utility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F88CD1-E7AF-4180-8840-6A2CF4B7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2148E4-9D4B-4FF7-9A7B-5B5A62C6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E419B7-B581-43D4-AD1D-101F8CD2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main</a:t>
            </a:r>
          </a:p>
        </p:txBody>
      </p:sp>
    </p:spTree>
    <p:extLst>
      <p:ext uri="{BB962C8B-B14F-4D97-AF65-F5344CB8AC3E}">
        <p14:creationId xmlns:p14="http://schemas.microsoft.com/office/powerpoint/2010/main" val="201142851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8FD4B-72F5-43AE-A7FA-44D0E38A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DD557-16A5-4D57-A175-A131E649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static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2BAB3-550A-4286-BB8E-2353C6E0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class-level member.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E5442-AF08-49B2-AA77-09222A8A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A81FD-3F84-4FBF-8A55-6AFC96DF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A71BD-06CE-4527-8DDB-00C3DA59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88761-7590-4B83-A496-1538A654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static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54E5B-0F6E-458A-B2CF-741D4391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14421-30AA-4075-8F53-0EBECF55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D3F5B-6C9D-4F01-A8FE-951C9238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class Counter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static int count = 0;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Counter() { count++; 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System.out.println(Counter.count);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DDFB6-E99D-4C4D-9D58-89FC4EA8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534C0-A409-40FE-ACBE-2DA05BB3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29028-1B43-4612-8517-CFB84B53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static member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CB2CB-DA96-4EC7-BFAB-FCA11AD6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45807030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2C9BD3-57EE-43BF-976F-CDE06403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81580-4353-4C2A-A04A-15AD5643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final prevents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F79E8-3E43-49D1-83B9-4A9557CD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final 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39646-C830-46DC-A0DE-F515AF5B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AC629-6CC1-4489-8374-D3A03023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4B9DF-FA68-4442-8E29-8A7F424D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E49CC-993E-4C03-B614-145DC236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final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1E2AB-1ED9-49F2-88C0-7D1C56B7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42F10-E9F7-466D-BC98-427BA746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9690D-0FD2-4C5A-AB5C-FAAA6786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245E2-EEA7-4882-8D1F-67156DEB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final variable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B2D67-423B-43ED-A17F-71D07B70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Value cannot be reassigned after initialization.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330BA-458F-47DF-B315-1A30D21D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F01550-41B0-4408-A00D-A68FC67D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0C5157-0477-49C9-86CB-A5629D76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final method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21CA8E-2287-4F0E-BE2B-D699C170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Cannot be overridden in subclasses.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13D95-7147-4D98-95BE-42750548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FA7F2-274B-45AF-BA36-834E48C2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AE796F-99BC-4D0B-B9B5-7B3224EE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final class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F83FD7-6425-4C1C-AD03-D936B83B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Cannot be extended.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04567A-93AB-4BC3-A298-250F0B0C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4DA112-8F06-49B9-83FC-39E71960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EEB20-1A9A-49A9-A95E-2C1E1D30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Design use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272D4F-91B8-4E90-AC54-020935DE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Express constants, safety and fixed behavior.</a:t>
            </a:r>
          </a:p>
        </p:txBody>
      </p:sp>
    </p:spTree>
    <p:extLst>
      <p:ext uri="{BB962C8B-B14F-4D97-AF65-F5344CB8AC3E}">
        <p14:creationId xmlns:p14="http://schemas.microsoft.com/office/powerpoint/2010/main" val="15219271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727707-01A7-48A6-A249-D79BA866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AC059-97F0-4620-B4E2-B724DECE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Nested and inner classes localize helper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D4B5F-0C18-4F4A-B200-B95D485F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nested classes.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63F74-BC54-4E98-A2E4-9701B7F0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CBD45-8B97-495D-93C9-E92EC631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A9426-0445-4E9B-9C6A-C977C544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C8F8A-A898-4211-92A7-B3EB9909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Nested Classes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CCC51-B541-4401-9303-43B85E1A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EC549-92D4-425E-8BCB-04095703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4B79D-7227-49A2-9730-A23A91EF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787AB-9207-4B20-AE24-44B8731B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Nested class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3F310-4E3F-44CB-AD26-026D1A58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 class declared inside another class.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2C3FE-C4E0-4FD4-9B8D-AC44537E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68A65-9B9E-426B-BFF0-946B1CBD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9B8C5-50B9-464B-83A1-71789A54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Static nested class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2F2758-173A-483B-B9D5-060A5684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Does not require outer object.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EA1F5-A8A6-4F02-882A-7BAF939E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DC270-C826-495B-8613-C2BE0D98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04D9C5-5F3C-43BE-BCB0-B3F696F6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Inner class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B919A-CE3E-4F82-BBFE-A4784480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Associated with an outer object.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4E6B70-3210-40E0-8F6A-AEE5C154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7B312D-FA27-4E44-912C-0D73DA1E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77CCD4-F4F6-4E8A-83AF-1DF56A8E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Benefit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47E909-AB18-46D1-9EFB-C42A838E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Keeps closely related helper code near the class it serves.</a:t>
            </a:r>
          </a:p>
        </p:txBody>
      </p:sp>
    </p:spTree>
    <p:extLst>
      <p:ext uri="{BB962C8B-B14F-4D97-AF65-F5344CB8AC3E}">
        <p14:creationId xmlns:p14="http://schemas.microsoft.com/office/powerpoint/2010/main" val="89260398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C741BA-F928-4B17-A201-869DC187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2EE40-F427-4D27-94F3-FF0A818A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Useful nearby class topics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9B890-74CB-40C7-82DA-4B7C7C78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textbook chapter extras.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7C136-8134-4380-BB94-82F6A38F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79FF4-9389-4A40-B741-7C09E112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2E7EF-7516-4ADB-A7B7-F4653269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D66BB-454F-4BC7-B776-3B441B78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Strings and Arguments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E8D54-0C4A-4F21-9921-91652555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E182C-8E8C-4019-8560-D9E71855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29A01-CD66-4647-B900-254973BF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946C5-8EBA-4D57-BAB7-CB3BEF1E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String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CCE71-3C82-4CE9-B6A6-CF186AF5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Immutable text object used heavily in Java programs.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24A0B-BF0A-45D2-B734-8E9E9CC7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3583B-3A55-446B-8A0D-00173441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88257-9873-451E-88B7-DDCDBC30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Command-line arguments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62C566-2603-4996-A64E-64156571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main receives String[] args.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4CD28-FCB2-43EE-9872-FA2BA8F6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E91F47-D8E5-4617-9907-A2F14264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EC1F8E-BDF7-42F9-A4D8-BDA4AFDE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Varargs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77FC7F-6B87-4BF2-840B-4456375B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Methods can accept variable number of arguments.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97CBFC-A70D-4476-9571-23E3ECC0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C4C1C1-04D7-4CEE-9F42-51F46710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3F65F3-B98B-47F8-B481-6109D582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Local var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ED8581-2DD6-4456-97BF-0247C0B4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var can infer local reference types when initializer is clear.</a:t>
            </a:r>
          </a:p>
        </p:txBody>
      </p:sp>
    </p:spTree>
    <p:extLst>
      <p:ext uri="{BB962C8B-B14F-4D97-AF65-F5344CB8AC3E}">
        <p14:creationId xmlns:p14="http://schemas.microsoft.com/office/powerpoint/2010/main" val="55765970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83DB7E-0333-4AC5-8069-B357E41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9A0EF-B633-44C9-859B-44417AD1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2 lab connection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18DA8-94C2-4085-A8D0-654925BD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Map classes to practice.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79911-6CBF-4299-9536-8432FEF3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01D71-CECF-4946-8468-7F595D96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A5F89-F71B-4D8D-AC44-550DDA10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ED7F4-8819-473D-9111-95BC904C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Lab Link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B1AD1-8E36-484D-AD46-CB54A956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E3B43-149C-408B-8928-ECED2A46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C4F2C-8779-4999-AA7C-EEEA2AAF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52038-6CD4-4E0C-802E-A50D648E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Stack class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57B9F-8916-4899-96D3-1C85B2CE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Uses fields, methods, constructor and access control.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867FF-D331-4354-A033-5F44271B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2D32F-F25D-4081-9B80-1844B5AD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4FB53-5A44-45FF-A79E-D42E9055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Student class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E6A97-D9D3-4426-9D70-338139A6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Uses object arrays and member variables.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6FC2C-974B-4C82-85A0-83FC2AE0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7B427D-3284-4F01-B055-7B5019C9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8BCFD-2ECF-472A-A573-A0DFAC80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Testing objects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DCBB74-26B6-4F1C-90D7-CBDE96B7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Create several objects and call methods.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7E9060-2D85-4898-A480-CBB718E5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4F019-D198-45BB-92BF-C504A8F1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2AD3DE-CFCB-47C1-994C-67783C87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Common error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C080EF-6379-486A-987C-4917678B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Using object reference before new creates NullPointerException.</a:t>
            </a:r>
          </a:p>
        </p:txBody>
      </p:sp>
    </p:spTree>
    <p:extLst>
      <p:ext uri="{BB962C8B-B14F-4D97-AF65-F5344CB8AC3E}">
        <p14:creationId xmlns:p14="http://schemas.microsoft.com/office/powerpoint/2010/main" val="120585898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7C1E69-24E7-49CF-B54A-700623DA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7711C-C59C-4471-9BE3-8618278D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 class separates state from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DCCBB-B374-4ACC-8BEE-F100B3B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Make class design more readable.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E4314-2B54-4A83-8FF6-102BBDE1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E798F-9369-4461-8FBC-5A12561A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8BA4B-08BF-4DBB-9D2E-DEDF7435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CBAC3-D27C-46DF-A2DB-BAC28871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Classes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98D40-04BA-4937-A191-F85CFFE9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C02E2-37F9-4413-826E-DE71CA3B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BDE7D-924A-4A1E-AA09-BC75664B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2B95A-F8E8-4411-AAED-BA85BEE3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E31D3-900E-4B46-91B2-03B32F5A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Fields store what an object knows.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B679F-D621-4B26-A7C1-7F7B8809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F814E-53FD-4D60-9B9A-58ADE1AA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54D79-6B4A-4F2D-A5E6-A64AF82A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1CF558-E3E7-4EAF-B79E-C83FA0A2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Methods define what an object can 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CD62D-2AC8-4177-899B-47BFC3A1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1E0A04-D551-4802-9AFA-4454FC59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81D1F-5903-4E3C-AB71-08E5EAC4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Constructor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29668-1110-44C0-9127-ECAB6C4D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Puts the object into a valid starting state.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614E6-C6CA-442E-AE72-E8ADF687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24443-A468-4E3D-B3AC-21C3406F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BCD8F-1C49-4F57-8EE2-7EBFE5A4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Encapsulation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4EA92D-80D2-4D73-AC2A-679B7EF2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Access control protects the state from careless changes.</a:t>
            </a:r>
          </a:p>
        </p:txBody>
      </p:sp>
    </p:spTree>
    <p:extLst>
      <p:ext uri="{BB962C8B-B14F-4D97-AF65-F5344CB8AC3E}">
        <p14:creationId xmlns:p14="http://schemas.microsoft.com/office/powerpoint/2010/main" val="80170766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434509-1F27-4833-B1A7-A6E0AADA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87C0A-AEB0-47E1-9634-10DAA979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Object lifecycle from new to garbage collection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AC205-C4D9-4855-B11A-3C2555C5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the lifetime of an object.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74864-38C3-4AE4-9403-D01AC186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B8E87-EE99-4877-9CAC-5AAC31A8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2069F-2BA3-4355-B154-BB836209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325A7-9E58-4227-8AB5-FCC5C2C0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Objects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C5399-0247-4778-806D-7436095B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FDEB4-2542-476D-A5C3-039046D7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57984-7AF5-44C5-9194-FF401A4E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Reference declared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9912A-4B2F-4140-91D4-0F611C09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96FD7-532E-4239-A1AF-DF47E927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C69C4-6A1D-46AB-A1D2-4E26645A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new allocates object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E7072-01E8-460B-BDF9-495205F2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DE809-0B42-41DF-A9DD-AF282AF4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83EF0-D453-4444-AEA0-E028250C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Constructor initializes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F758E-BF54-4A2C-84E7-D62E682F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4FA2F7-8818-40C1-BA4C-1E47C730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59A6C-3426-4C1E-8118-AACB7176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Methods use object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E966B-A15F-46D8-82C9-AD5E7374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F90C1-A897-4939-9821-33FDBC15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FBF948-8AE2-49F8-B394-343799DB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Unreachable object collected</a:t>
            </a:r>
          </a:p>
        </p:txBody>
      </p:sp>
    </p:spTree>
    <p:extLst>
      <p:ext uri="{BB962C8B-B14F-4D97-AF65-F5344CB8AC3E}">
        <p14:creationId xmlns:p14="http://schemas.microsoft.com/office/powerpoint/2010/main" val="187781889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B78F2E-CD22-42C6-BD8E-4D9430DB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7933B-9309-4EE2-97EF-5B832669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Common reference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C109B-A66F-4496-9B77-E07B0307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Prevent object-reference misconceptions.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655D8-B10D-4024-B4D7-726499DA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AC9C3-F80E-4906-8E72-FB50263E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7F306-70E3-4C4C-A586-DE7A0029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841AC-E82E-420C-A61A-60FD15E8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Objects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E2B45-AF48-414A-A6DB-237F15E4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FE393-B2E2-4443-A365-C66D0D8F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C43D4-EA6C-4B70-879E-DFACBFB5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531C4-E30F-4DD2-AE67-A6E9D45D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Declaring a reference is not creating an object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7DB60-B77D-4375-B9EF-BE7CF7F2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38CD8-74A6-4C45-9DF8-7D3F2FBC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0365B-9B88-479B-8189-FD440114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Two references can point to the same object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B480E-73FD-48DA-85D6-FE39B2E4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B2362-6AF2-42B8-A675-83A33B4B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0EE109-5B5C-479E-B9B3-1E42E9C5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Changing through one reference changes the same object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5353D-EC13-4D2E-BC23-A4F28E7F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938BFA-3341-444E-9861-C242F7C6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5EDC5B-AEAB-497F-BEA9-FD0C631C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A null reference cannot call methods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4792D4-C7A5-4BD5-90BF-98FA11E9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49A564-AF9F-46F2-ABFF-5E4F253A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BC5F8-C5C0-4A21-A425-59710836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Assignment copies references, not object contents</a:t>
            </a:r>
          </a:p>
        </p:txBody>
      </p:sp>
    </p:spTree>
    <p:extLst>
      <p:ext uri="{BB962C8B-B14F-4D97-AF65-F5344CB8AC3E}">
        <p14:creationId xmlns:p14="http://schemas.microsoft.com/office/powerpoint/2010/main" val="127481576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0EE974-0DCC-47EA-8473-142401EF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59EC4-975B-4DF0-AF21-6E08F5A8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Method signature decides overloading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C8D3D-94DB-4ABD-9301-FC2D0DC3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what the compiler checks.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745E2-A96A-4C47-B9E7-E54D8F6A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CFBF4-5FD1-4045-A27D-C04A2457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4FF8D-576C-4DD5-ADBF-46F4C729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448CB-CDD6-4D9A-9967-F656FFA2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Methods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14E8F-AE88-4BB2-92D3-B985750B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166B6-005D-4538-9A0A-997516AF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7EE57-2DDA-4DD0-AF5C-B0BA0E57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94FCF-FE2F-48CE-ADB8-7A6EE8F3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Signature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E580A-499C-4B9E-8ED8-0B5340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Method name plus parameter list.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58640-1E6C-48BF-80C0-A5C49993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5092E-8155-49DE-896D-EBB604CA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289E1-4692-487C-B812-D891960D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Not signature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381DC-3B81-4A86-8AEA-E0BC8CA6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Return type alone is not enough for overloading.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96E453-E4B2-47FB-9374-78D02295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4B2CFF-43E4-45B1-AB03-D445E52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201BC-4075-4ACD-9AD4-C2790CEF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Resolution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2DED54-289C-46A2-A634-16D5D435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Compiler chooses the best matching method call.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D66509-DBBA-49F1-A0D2-77A67F71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C07C36-65D8-4AA2-A3E2-442DDE86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85515-DE2A-4907-B6F2-1ABE438C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Promotion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E71288-D6E8-44F8-84DF-D1538B55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Java may promote argument types to find a match.</a:t>
            </a:r>
          </a:p>
        </p:txBody>
      </p:sp>
    </p:spTree>
    <p:extLst>
      <p:ext uri="{BB962C8B-B14F-4D97-AF65-F5344CB8AC3E}">
        <p14:creationId xmlns:p14="http://schemas.microsoft.com/office/powerpoint/2010/main" val="121564003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1C4A99-18D7-432C-AF77-BD0C277A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7780E-B8E7-4BAD-A788-F587E544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Worked example: object as parameter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5821E-8F24-4F4E-8A02-26829004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Trace reference passing.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8669C-1C7A-488E-AFF3-7D0E132C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17EEE-41A3-4700-B1EA-74E35C50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CA04B-8AC3-4EDF-B475-C0740CA2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81D5E-A09A-4C3D-99C0-1C9DCAA0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Methods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64A14-4EB9-4B56-9A08-8E95BD08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5CDFB-543C-4E53-B505-01EEAB00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5AE0E-D4A6-44E7-AE7B-5A59DC11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Caller has Box object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D9E97-10EC-4743-8922-39A4A172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C7BCD-3E17-4149-808E-6AB6A91A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2CAA2-942D-4498-94FD-E95069FC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Reference value copied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E3BB6-498F-40F0-B792-F923D36B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9F9D0-5E6B-4CE0-89C0-A1E0132C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88EC1-B930-40F6-BAA7-2BCE9499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Method parameter points to same Box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C72544-932D-4BF9-9410-FDC52C05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8D678-FC10-40CC-8F47-B2529A05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ED573A-049D-424C-89B2-A24E66E2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Method reads/changes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4FFE9A-01D4-42A6-A03F-00BF88D2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AC90F8-749C-4741-AC2B-FA8EFC93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879088-2A61-4A27-A973-DE09F774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Caller sees changed state</a:t>
            </a:r>
          </a:p>
        </p:txBody>
      </p:sp>
    </p:spTree>
    <p:extLst>
      <p:ext uri="{BB962C8B-B14F-4D97-AF65-F5344CB8AC3E}">
        <p14:creationId xmlns:p14="http://schemas.microsoft.com/office/powerpoint/2010/main" val="196848518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72E31D-2B46-4AEC-8064-6DB0BE0A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DA8F1-4771-467B-B537-931585BC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Default vs parameterized constructors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711A0-7313-4CCD-B2D7-9B0BA7A6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initialization styles.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C6E83-006F-402E-9AE9-CEBEE665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8F6C1-90AB-4187-B877-9ED9F422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F79AA-347B-4ECD-BEA8-B245F73A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9F2F3-D444-4FB7-9AAD-8D279CB6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Constructors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CD821-1CD8-4A7F-869E-4809188B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7BF17-BD92-476F-B144-BAE425C5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F149E-1EC0-424D-A45F-FD73F02A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6FF62-3C8E-4E18-BE77-58A0302B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Default constructor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42366-7AFA-417F-A0E3-6AE3FD0F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9EAD7-06D4-44C4-9444-8AA29A40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093C8-84DE-434C-AEEB-12B22870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E6C99D-377B-4603-B1A2-693F592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Parameterized constructor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9BFFF-DFFB-41EB-B38F-CB56A307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46C31C-0990-4067-9049-4257D029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0E64BA-4989-4C9D-A866-99AA90BA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A77C3A-5749-4223-89CB-4649B4F2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No arguments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9F985-EE6A-44BC-ADA5-903901AD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C275F3-ED1E-4AD2-8D00-42F66BCD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3FB719-C733-4095-8E8F-82F428BF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May be supplied by compiler if none exists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98367-94CF-4A6B-B5A6-FB26D66A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41BD50-C7A3-46C6-8EEF-BD285620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804C1D-D579-4D4D-952A-6609502B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Often sets default values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7A97E8-F065-46D6-A7B3-0C84FE7C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1FB5DA-1E1D-4484-8E60-548A620F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52F44C-239C-4B05-9881-8F9D7B3C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Accepts values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F6DDE8-40A7-40AE-94C1-B6246E50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3ED3A9-98F8-4A80-84F5-1FCAE35F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C4A5B4-2198-4D72-A761-118730B9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Builds customized object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934379-07F9-40FF-9A31-41DEC4E5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8085A1-2BDD-4AD5-A94C-ED148DB2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1F0C53-D77F-470C-B095-8B6A135E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Compiler default disappears if you define one</a:t>
            </a:r>
          </a:p>
        </p:txBody>
      </p:sp>
    </p:spTree>
    <p:extLst>
      <p:ext uri="{BB962C8B-B14F-4D97-AF65-F5344CB8AC3E}">
        <p14:creationId xmlns:p14="http://schemas.microsoft.com/office/powerpoint/2010/main" val="128376777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E0D9F9-83B2-4B15-BE2A-0D20A056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969FA-2DFD-4880-B015-2FD59D54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this is useful beyond name conflicts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18861-CCFE-4F99-B969-6A339AFA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Expand this keyword use cases.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8AAF9-F425-4B50-89AF-38688190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B4F08-9FFA-4FFF-B8CB-4700AAFA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6F838-5E89-4B60-AAB4-38FC5673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C3128-FE23-4B2F-8874-D70DA5E9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7C06C-3DBD-4427-A4A6-3BC96128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28362-A4D4-4F6B-82AE-29F93895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284EB-1001-413D-9D28-8550C154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22516-03FC-4CC1-9A2D-016442A9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Field disambiguation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E39BE-590A-474A-8999-C42179FC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this.x separates field from parameter x.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90EEA-42E7-41FD-864F-71AAAB56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4E663-1790-462F-AC69-92EF643A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38FA5-A3A2-4299-9148-8DB7E70A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Constructor chaining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37D1DB-C270-4D65-9744-8AD6DB3E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this(...) can call another constructor in same class.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031AC-3EDE-4B3E-9C63-AEC96A30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5A1478-0F6E-4F71-9858-C296300B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5F0F33-34B3-4134-A4C9-872AA901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Current object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A914C9-3E91-48EB-B3B5-CAA6118C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Can pass current object to another method.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8B13C9-3B11-4A82-A01D-09840F24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8DFC1C-C6D2-4C25-A1F8-FFF8AE43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D2145F-5707-4ED8-BBD9-1D0EC421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Readable code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D9E60F-10CA-4BEB-B656-66117F76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Makes object ownership explicit.</a:t>
            </a:r>
          </a:p>
        </p:txBody>
      </p:sp>
    </p:spTree>
    <p:extLst>
      <p:ext uri="{BB962C8B-B14F-4D97-AF65-F5344CB8AC3E}">
        <p14:creationId xmlns:p14="http://schemas.microsoft.com/office/powerpoint/2010/main" val="177746447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DFDF7E-4E89-4E9E-954D-945359C2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43928-8898-41AF-85DC-01011172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Recursion uses the call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74AB4-8594-443C-BDE7-C838E64F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runtime behavior.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7CDF7-9632-4A0F-9074-CC672834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3CA64-ABF6-4296-AFBF-8AF3CA8B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4D59F-0DCE-4C94-B05C-EF49AA4F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A7756-5D96-4A0F-8053-74492E01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Recursion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6C270-4E12-4A31-B1F5-59030106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7F784-1EDF-423F-B71A-EA86589F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B4400-F2EC-4F0C-96E5-D68D54EB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fact(3)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0B7F4-4C05-46FE-BE6C-6E18D476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3C018-488F-49DE-A155-67C985F3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3988C-CDEC-4A5E-98A9-77B84C5D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waits for fact(2)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2B01E-F532-4F48-9988-86E0EB13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7F53F-98E2-4114-AA0D-74A47ABA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45B42-8597-4CF6-BAD5-74B006A1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waits for fact(1)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2359A0-3747-44DF-836C-D917F0E5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8D66F-259D-45A7-9A08-0C8AED8A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84C581-C625-4AB0-965A-16282362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base case returns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77429E-118E-48C8-8D41-DA4F3FBC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DAEFA7-5C2F-43D2-BA94-702C4366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A21755-90D4-43A1-BA3A-D4C4A169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pending calls finish</a:t>
            </a:r>
          </a:p>
        </p:txBody>
      </p:sp>
    </p:spTree>
    <p:extLst>
      <p:ext uri="{BB962C8B-B14F-4D97-AF65-F5344CB8AC3E}">
        <p14:creationId xmlns:p14="http://schemas.microsoft.com/office/powerpoint/2010/main" val="212736274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EF548F-8ADE-48EC-9F51-49011EEC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9AAA3-865C-419F-B5BB-CD00306D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Encapsulation design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52F03-FC49-4197-8761-B55AEC0F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practical modifier advice.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5D19E-0ECD-46C4-B7B7-36B10222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F3D20-1033-4C23-83F5-3DB64688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2E4D3-39B4-422B-BB3E-5E385E99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0215F-2EE2-4AF4-9616-DC9E4B7D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Access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6C330-CA74-4110-9C94-08EF5A1D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2257B-B1A5-4222-AC2B-10B46EC0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EEC6F-9AA2-4AA2-8102-95E91DC6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DDF8C-B0CC-49A6-87CB-B45A87B2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Keep fields private unless there is a strong reason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91762-34AD-4CCD-ADFF-624D1A8A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BB8FE-6892-4168-91CB-3801A38D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BFE21-877C-41CD-8E94-61533F22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Expose behavior through public methods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AC9AC1-271D-4E63-A897-1B447110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27AC1D-5CA5-4179-9F22-0CD21B10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D80E8-A8CD-474A-BEF2-F0746D7F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Use constructors to create valid objects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50BD26-E82E-4DDE-BC69-967001FE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EDD55F-79A1-4420-8A25-E35E3C8E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FCEA57-8220-4B4F-B266-ED9996EB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Use static for class-wide data or utilities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6369F1-4045-4397-9375-05AEBC68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1DDF7A-C211-4CEA-B4E6-FCDC1192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9CF0B-F515-42C1-B6C5-5E982921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Use final for constants or fixed behavior</a:t>
            </a:r>
          </a:p>
        </p:txBody>
      </p:sp>
    </p:spTree>
    <p:extLst>
      <p:ext uri="{BB962C8B-B14F-4D97-AF65-F5344CB8AC3E}">
        <p14:creationId xmlns:p14="http://schemas.microsoft.com/office/powerpoint/2010/main" val="161410890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971CD6-49DD-491D-8479-E389DD05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04177-29E6-4F0F-99D5-6CAEF1A6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static vs instance members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DA7FC-3855-4FF2-99AD-6625C1B1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ownership.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08AEC-6328-4928-B4F6-0D4F0CA5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3FADB-CA7F-4B34-8EAD-F2C2FA1D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D2549-470F-4064-90D7-E3589205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FAC96-B7EB-42B8-9B73-229F6249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static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A8A40-244E-4CAC-90FB-6C1DA6E6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2E8F9-B85C-41B1-8819-FA7B8534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26F3D-B389-4D75-9DA8-2B0993E4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18C38-1CDC-410A-BC1C-D6821CF5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Instance member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6B21C-CEE5-4F3E-8AD4-FEC48C3C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3EDF93-30FC-4BFD-8F86-DE98CC77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619E7-D6AB-47FA-B037-2E1B2FF0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614EFB-47D6-4B91-B343-CD26B4EC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static member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49E32-FE29-49B9-B168-39D5550D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FF537D-C935-4164-8D3D-7811BD9A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E8FA0B-FEB6-4475-9A25-AC99663C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C4442E-F640-49E3-8CD0-E47D6BE6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One copy per object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905F12-BA47-4126-AFE0-CB0CB558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6AF33B-F64E-4209-931A-A0EFD6F0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01FBC3-37F6-4081-B01F-57A709E1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Accessed through object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FD2AF2-59CC-433B-B9BA-294B3E24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EA845F-B8F6-4758-B954-615CDFBF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9437F5-9E63-401E-A49D-AA92EA60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Represents object state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385CA5-CD2F-4754-B537-FEF134C5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143505-3104-4BFB-B711-0BF6757A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2CF830-E99A-4955-B33B-4E36B96B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One shared class-level copy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8909F1-66C6-4E91-A18B-AABB8942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1F86B6-07B8-4C7B-9F00-9BDF5E89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9CE04F-C00F-4307-8E25-16561D04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Accessed through class name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53A9E2-5389-465E-9894-BB484AD6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86F551-53CA-4769-8ED2-81281424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8497C4-8AD6-43FC-A7BC-CBFDB55B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Represents shared state or utility</a:t>
            </a:r>
          </a:p>
        </p:txBody>
      </p:sp>
    </p:spTree>
    <p:extLst>
      <p:ext uri="{BB962C8B-B14F-4D97-AF65-F5344CB8AC3E}">
        <p14:creationId xmlns:p14="http://schemas.microsoft.com/office/powerpoint/2010/main" val="79901219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E0F74-CF74-434F-9E6F-2D9D927B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8FD04-774F-4345-ADEE-377DEEA7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When nested classes make sense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4A6B0-6F02-45A8-A468-F44808C0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the design purpose.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ABDC4-A6C6-4567-9D96-90C5301B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FC4B7-E39C-4796-8F5A-B071A187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3352F-A04C-45CD-BA9D-26529B97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AC3AF-4043-4D5C-B1B2-DECA8FED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Nested Classes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83AE1-3BE3-443A-8C33-865F5351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710E0-C501-4592-847E-A9B2FBD4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B7F62-184F-4CD7-B218-341415E4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4DBD1-C89A-4815-8B50-DCDA0F20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Helper object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60BFD-2FD0-43A6-AD74-8A1ABA12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 helper used only by one outer class can stay inside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17591-3707-48F3-87CB-C13BA048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5C01A-0500-4EFE-8ED4-E14715F8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C4B7F-0EB0-4B43-93D6-596A3B33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Better grouping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06D1B-7959-42CF-B595-569261CD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Keeps related implementation details together.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8C040-527D-4A74-BEEE-2DC03149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6A4B5-0414-4F09-9017-9F8479EB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9A46E3-0808-4A77-83D2-80E2704C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Inner access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F1761C-A741-4867-A46E-CA1B2A02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Inner classes can access outer object members.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B4BF9E-D2CD-43E3-BAB3-86D4A7B0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E8BD74-85F0-4A14-88DD-C8BCD987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27087D-634B-483A-B390-D5F2D5D4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Avoid overuse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9566D9-ABE8-41D9-9D72-FB1E51A7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 nested classes only when it improves clarity.</a:t>
            </a:r>
          </a:p>
        </p:txBody>
      </p:sp>
    </p:spTree>
    <p:extLst>
      <p:ext uri="{BB962C8B-B14F-4D97-AF65-F5344CB8AC3E}">
        <p14:creationId xmlns:p14="http://schemas.microsoft.com/office/powerpoint/2010/main" val="182558855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B967DC-4BED-4E25-8F51-6225985D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20DE5-0A49-450F-B490-B31B6BCB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Worked lab plan: stack 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27814-0CAF-41FD-9789-80D40EFC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Break the stack lab into design steps.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8ECDF-5E80-44D0-80F0-74FECAFF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4F163-69F2-4155-84B0-C5233874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1DA53-D575-4BC2-A90D-45F088D2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350C8-B87A-4CF4-9283-BBC2CA6F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Lab Link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75E8B-2D95-4271-8799-FB9D51E1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4EE73-822A-423C-AF59-C6359540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1DA73-3BDF-45F2-92FC-3D1FD948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private int[] stack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F053C5-CF83-4AA2-89E4-3B006DD0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328E7-84BE-49AB-8DFB-9793938D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DCD21-D39D-4AA3-A4D1-6F92205B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top index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65170-358C-4DAE-B95D-895BCD47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38D40-BCF3-4668-B919-525A228C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DE112-FE0F-4240-8091-27D8E124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push method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842862-E4D5-48D7-9B04-FEB85B22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E5F8F1-AEAE-425D-BF77-B8B95F7C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B57D17-F9BC-4FA2-A8B3-290567B1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pop method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23D9D-5765-4559-94B7-2541684F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938B1C-790B-4171-82BE-B1116BA8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9CDF0F-843C-4411-BA68-5756E074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display/test in main</a:t>
            </a:r>
          </a:p>
        </p:txBody>
      </p:sp>
    </p:spTree>
    <p:extLst>
      <p:ext uri="{BB962C8B-B14F-4D97-AF65-F5344CB8AC3E}">
        <p14:creationId xmlns:p14="http://schemas.microsoft.com/office/powerpoint/2010/main" val="171151572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B25B1B-A7D1-46FF-A128-28F0F0A5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0E413-490E-4036-BB0B-4B6A7A4E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2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6E526-84F5-487F-8F27-78141722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all major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90F95-C6FA-4FA4-AD4D-38C42EEB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B0F43-FA93-49E5-A211-47C2F7A1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AA442-4F69-4117-9B5F-B45CB0DC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66C50-39A0-47F8-83CA-BFE0D541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58FF4-8E88-4753-8EC2-A76CDE99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BBF3E-0235-4ABD-A67C-21847CFC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09B26-E1D0-471A-83F6-DCC668D8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Module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6D4A8-DA6C-46FD-AE3C-7E0F7C82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9DDB5-45FD-4907-AA54-D0DA0CD0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9087D-5FF1-4A6D-AFC9-EB52256B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Class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B5A0A-760D-4161-9BAB-7DB110CE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Blueprint.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07C77F-7C51-4D46-B00F-DAB63396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0D290-0185-4CED-A21A-B860A283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8403BC-E43C-4D53-B6D7-AB89363A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Object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DA596-4F70-4687-91CF-4A86097A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Instance.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8A0B3-A4ED-489B-B03F-11CD3DDB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62644E-2E49-4A8F-B568-227B1590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83DC2C-AE1D-4665-A1CE-A6FD87DA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Methods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450D33-A070-48F4-9DCB-CAB25AD6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Behavior.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D67F63-4273-459E-AC05-3F1302A4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2A0D87-58D9-41B0-8520-BBC35CA2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B0FFED-9D21-427B-B046-229F8199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Constructor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94506A-F68B-4789-AB4E-C0FA9CEB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Initialization.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2B76D5-DD10-4FA2-B716-6AC571D8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723A04-89C0-4D38-B250-EF462941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A1B1FA-FFCF-4A55-8F6D-09041FE5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Access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EC7935-6CBC-480C-BA5C-55D5CEB3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Encapsulation.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157342-ADEC-4E83-B2B3-6B4CE2AF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C40712-3E95-49EF-8A1D-714BB29C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B4A99D-820C-4FCE-AD30-8A60C27F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static/final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17AE8A-4E4D-415D-8D78-B2A80E42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Class-level and fixed.</a:t>
            </a:r>
          </a:p>
        </p:txBody>
      </p:sp>
    </p:spTree>
    <p:extLst>
      <p:ext uri="{BB962C8B-B14F-4D97-AF65-F5344CB8AC3E}">
        <p14:creationId xmlns:p14="http://schemas.microsoft.com/office/powerpoint/2010/main" val="134602462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19657C-B571-4EF2-AC35-AB94BE54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77326-956C-4B6D-9DF8-082D1C3D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Viva and exam focus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CA318-3E20-4A82-A512-E8EB8DD3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Convert content into marks.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6D43D-07E5-4A80-9D9A-AA092668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4FD02-EC0D-4F2E-B80F-D1690A7C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1EA33-E5DA-4608-9084-10F2F1F8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4B020-43A2-4150-BD78-B6021B14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114C3-8524-4BE5-8167-A53832A2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F53F1-928D-44F2-BB2F-96512CCD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11231-B670-46EF-BA0C-39E7122D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E1524-0D60-43B8-86B3-51F4A4CD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Draw class-object-reference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AF11C-08F9-4DDE-ADED-67B79E49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D22DF-F365-4949-B0E2-6BF443D1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B52F9-5342-4D97-98D1-582B582D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constructor and this using 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F4B8B-A611-4A91-A181-F50C5651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8FD58-5C9E-47DB-A46E-43A3BA84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05ECC-53B8-429F-985D-54588AF2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Differentiate method overloading and argument passing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CCDC4-B717-4A7F-9D94-19B49E6B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DA7B1-8A91-4D00-998F-887B78A8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060311-18CE-43E4-969A-BB491A02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Use access modifiers for encapsulation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67D03B-EBBF-4DE9-948C-1C890DCD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E2067-F687-499B-B78B-5FFCBE97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416757-4837-4E03-BE35-81BC2751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Write Stack or Student class-style lab answers cleanly</a:t>
            </a:r>
          </a:p>
        </p:txBody>
      </p:sp>
    </p:spTree>
    <p:extLst>
      <p:ext uri="{BB962C8B-B14F-4D97-AF65-F5344CB8AC3E}">
        <p14:creationId xmlns:p14="http://schemas.microsoft.com/office/powerpoint/2010/main" val="194192423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477C8C-AC11-42A9-B185-435055CB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44930-988A-40C8-84AB-9B1CE5F8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9EB7B-C3AD-4743-A87C-02005AD7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A1C95-0292-4AE4-9EF0-C9585FD3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A4180-0BA1-402C-A024-76993659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B51B3-7544-40B0-9B35-2DCA7C9F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5BC53-DAC0-4C68-A903-8FDE146D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2EFBA-5D2B-4D3F-9BE2-920AEA65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6D75D-CAE2-43A8-B876-83C6D0D2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1. What is class?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56EC0-F542-4084-AAE1-0F6D3B27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2. What is object?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F89BE-5A5A-4E79-8C4C-38A0CA11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3. What is reference?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160AB-0CA0-4617-B0A8-0B3F1F0A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4. What does new 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36815-85D3-4C5C-82ED-013A7280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5. What is method?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A4C31-8496-49FB-A97C-56B6B902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6. What is constructor?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C172E-B6BC-4D0F-8055-C8F7E8A3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7. Constructor return type?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9C3598-88BD-4B46-9236-485F8343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8. Use of this?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5DD3E9-83D4-42C8-BDEB-2E36B21D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9. What is garbage collection?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72D5B-EB8C-4C7A-8438-FDF338FC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10. What is overloading?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9173A6-5568-4560-95E7-5138DBCF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11. Can return type alone overload?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4FBDEE-4AAF-47EB-841F-25F986FB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12. Object as parameter?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EBC793-1A18-4F98-B994-38A6AD6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13. Java pass by value?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71702-C03A-405F-85A7-1DE6934A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14. Return object?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6DC431-F87A-4B53-90EF-D768DDFA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15. What is recursion?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2B74C8-9EA2-43DA-BEB2-AF98BCE0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16. What is private?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0172FE-F663-4090-B94F-C062B1AE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17. What is public?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2DE3B2-BA5C-4B6B-BD98-966AA1C2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18. What is static?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25AC43-396F-4FE5-9C8A-79A9A891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95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19. What is final?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9BAF5A-3A6A-46D6-BE45-1C488EE6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24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20. What is inner class?</a:t>
            </a:r>
          </a:p>
        </p:txBody>
      </p:sp>
    </p:spTree>
    <p:extLst>
      <p:ext uri="{BB962C8B-B14F-4D97-AF65-F5344CB8AC3E}">
        <p14:creationId xmlns:p14="http://schemas.microsoft.com/office/powerpoint/2010/main" val="18713275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69B985-55F8-42DE-BC51-8A69AD1E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EDECD-C3E5-4E92-A9C3-7EE92988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One-page revision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DDB4C-6073-4165-B62B-82B7A45B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End with compact keywords.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08BF1-157E-439C-AC2D-760A3A73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6A3E6-A71B-4BE8-99A1-C96C4ECC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BD3C9-62A7-46B9-B180-EA7E4AAA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907C5-47E6-4DB5-BF27-3A3A717A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4EC58-67C4-4E54-B9C7-F8BE41DF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4E9E3-4954-4209-B098-A0D6E7A6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7061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E3E47-0AA0-40AD-87AB-8ACFDAE4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0AFE2-F919-43ED-914E-73AD3F46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DEAB6-DF28-4CE0-8DA0-BF375E9D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34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Class; object; reference; new; field; method; parameter; return; constructor; default constructor; parameterized constructor; this; garbage collection; method overloading; object parameter; pass by value; return object; recursion; base case; private; default access; protected; public; static; final; nested class; inner class; String; args; varargs.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FEA27-3497-4EB8-ACD1-9BB9D4BE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7061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72FB0-A325-4CA4-B6C2-7FB76E2E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3024F8-C03B-4F67-8E25-41906E23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Exam answer 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C0899-68AB-47E2-BA3A-6A60E7BD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034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For Module 2 answers: draw class/object memory idea, write a small class, show constructor/method calls, then explain access/static/final rules.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5B7BB-3B25-4541-BE6F-CFA5C1B1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0706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5346DB-79AF-4F98-AFDB-1B95753A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3DE35-63BA-455F-A02F-A9EC66B3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Lab memory trick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8B8A42-44BE-467A-BF48-5E880281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034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Write the smallest working program first, compile, predict output, then add one feature at a time.</a:t>
            </a:r>
          </a:p>
        </p:txBody>
      </p:sp>
    </p:spTree>
    <p:extLst>
      <p:ext uri="{BB962C8B-B14F-4D97-AF65-F5344CB8AC3E}">
        <p14:creationId xmlns:p14="http://schemas.microsoft.com/office/powerpoint/2010/main" val="19220068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2026-08-08T04:20:43.8900000Z</dcterms:created>
  <dcterms:modified xsi:type="dcterms:W3CDTF">2026-08-08T04:20:43.8900000Z</dcterms:modified>
</coreProperties>
</file>