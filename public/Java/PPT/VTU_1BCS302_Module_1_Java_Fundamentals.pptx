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12c9030624fd1" /><Relationship Type="http://schemas.openxmlformats.org/officeDocument/2006/relationships/extended-properties" Target="/docProps/app.xml" Id="Rd36d008269c74a97" /><Relationship Type="http://schemas.openxmlformats.org/officeDocument/2006/relationships/officeDocument" Target="/ppt/presentation.xml" Id="R5220da764e5e49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e717bab5774f63"/>
  </p:sldMasterIdLst>
  <p:notesMasterIdLst>
    <p:notesMasterId xmlns:r="http://schemas.openxmlformats.org/officeDocument/2006/relationships" r:id="R20e405550249493f"/>
  </p:notesMasterIdLst>
  <p:sldIdLst>
    <p:sldId xmlns:r="http://schemas.openxmlformats.org/officeDocument/2006/relationships" id="256" r:id="R7717f9bba4024c3e"/>
    <p:sldId xmlns:r="http://schemas.openxmlformats.org/officeDocument/2006/relationships" id="257" r:id="Rd01f4ab88fd94815"/>
    <p:sldId xmlns:r="http://schemas.openxmlformats.org/officeDocument/2006/relationships" id="258" r:id="Rabe49d058fb346cf"/>
    <p:sldId xmlns:r="http://schemas.openxmlformats.org/officeDocument/2006/relationships" id="259" r:id="Rfc46110ff67d48ad"/>
    <p:sldId xmlns:r="http://schemas.openxmlformats.org/officeDocument/2006/relationships" id="260" r:id="R7e06259e6b414607"/>
    <p:sldId xmlns:r="http://schemas.openxmlformats.org/officeDocument/2006/relationships" id="261" r:id="R2ba2e995304d4161"/>
    <p:sldId xmlns:r="http://schemas.openxmlformats.org/officeDocument/2006/relationships" id="262" r:id="R5e029e07332d42cd"/>
    <p:sldId xmlns:r="http://schemas.openxmlformats.org/officeDocument/2006/relationships" id="263" r:id="Rf8777485635a4294"/>
    <p:sldId xmlns:r="http://schemas.openxmlformats.org/officeDocument/2006/relationships" id="264" r:id="R9016b5e4eef24fb0"/>
    <p:sldId xmlns:r="http://schemas.openxmlformats.org/officeDocument/2006/relationships" id="265" r:id="R9127d1e462a54fba"/>
    <p:sldId xmlns:r="http://schemas.openxmlformats.org/officeDocument/2006/relationships" id="266" r:id="Rcea03d8abb1a4586"/>
    <p:sldId xmlns:r="http://schemas.openxmlformats.org/officeDocument/2006/relationships" id="267" r:id="R244e7f0a0b40490d"/>
    <p:sldId xmlns:r="http://schemas.openxmlformats.org/officeDocument/2006/relationships" id="268" r:id="R73111f2d4204433d"/>
    <p:sldId xmlns:r="http://schemas.openxmlformats.org/officeDocument/2006/relationships" id="269" r:id="R1c9f56ce0cfe442a"/>
    <p:sldId xmlns:r="http://schemas.openxmlformats.org/officeDocument/2006/relationships" id="270" r:id="R7fdb28634be64565"/>
    <p:sldId xmlns:r="http://schemas.openxmlformats.org/officeDocument/2006/relationships" id="271" r:id="R341504afdf754bfe"/>
    <p:sldId xmlns:r="http://schemas.openxmlformats.org/officeDocument/2006/relationships" id="272" r:id="Rf5b8c8ad6ea04f7a"/>
    <p:sldId xmlns:r="http://schemas.openxmlformats.org/officeDocument/2006/relationships" id="273" r:id="Rf4cbe1dd2cb048b9"/>
    <p:sldId xmlns:r="http://schemas.openxmlformats.org/officeDocument/2006/relationships" id="274" r:id="R49ef21f9f4be4e55"/>
    <p:sldId xmlns:r="http://schemas.openxmlformats.org/officeDocument/2006/relationships" id="275" r:id="R7bdc5658de1f48cd"/>
    <p:sldId xmlns:r="http://schemas.openxmlformats.org/officeDocument/2006/relationships" id="276" r:id="R24eb57b3d1c24b78"/>
    <p:sldId xmlns:r="http://schemas.openxmlformats.org/officeDocument/2006/relationships" id="277" r:id="R5bbcb7c77e014a8e"/>
    <p:sldId xmlns:r="http://schemas.openxmlformats.org/officeDocument/2006/relationships" id="278" r:id="Ree6f865747ab448b"/>
    <p:sldId xmlns:r="http://schemas.openxmlformats.org/officeDocument/2006/relationships" id="279" r:id="Re4df616767e24689"/>
    <p:sldId xmlns:r="http://schemas.openxmlformats.org/officeDocument/2006/relationships" id="280" r:id="Rb483a29229d44b28"/>
    <p:sldId xmlns:r="http://schemas.openxmlformats.org/officeDocument/2006/relationships" id="281" r:id="R2dea8f6ba56347bf"/>
    <p:sldId xmlns:r="http://schemas.openxmlformats.org/officeDocument/2006/relationships" id="282" r:id="R2dff9175dcb646e2"/>
    <p:sldId xmlns:r="http://schemas.openxmlformats.org/officeDocument/2006/relationships" id="283" r:id="Rfadb3c5ec09e4b16"/>
    <p:sldId xmlns:r="http://schemas.openxmlformats.org/officeDocument/2006/relationships" id="284" r:id="R9baabb2c545b453d"/>
    <p:sldId xmlns:r="http://schemas.openxmlformats.org/officeDocument/2006/relationships" id="285" r:id="R4084a83b49894d52"/>
    <p:sldId xmlns:r="http://schemas.openxmlformats.org/officeDocument/2006/relationships" id="286" r:id="R33d404e654cd45f8"/>
    <p:sldId xmlns:r="http://schemas.openxmlformats.org/officeDocument/2006/relationships" id="287" r:id="R572a1fd680664270"/>
    <p:sldId xmlns:r="http://schemas.openxmlformats.org/officeDocument/2006/relationships" id="288" r:id="R9736127762164c33"/>
    <p:sldId xmlns:r="http://schemas.openxmlformats.org/officeDocument/2006/relationships" id="289" r:id="Rf0c4759665544703"/>
    <p:sldId xmlns:r="http://schemas.openxmlformats.org/officeDocument/2006/relationships" id="290" r:id="R8e18c01841ed47cb"/>
    <p:sldId xmlns:r="http://schemas.openxmlformats.org/officeDocument/2006/relationships" id="291" r:id="Rb7aa5360a6ba4af7"/>
    <p:sldId xmlns:r="http://schemas.openxmlformats.org/officeDocument/2006/relationships" id="292" r:id="R9b594a0eccb349f9"/>
    <p:sldId xmlns:r="http://schemas.openxmlformats.org/officeDocument/2006/relationships" id="293" r:id="R5de658cb0ca74caf"/>
    <p:sldId xmlns:r="http://schemas.openxmlformats.org/officeDocument/2006/relationships" id="294" r:id="R3b006a4863af4e5b"/>
    <p:sldId xmlns:r="http://schemas.openxmlformats.org/officeDocument/2006/relationships" id="295" r:id="R79e3284f97a64fcb"/>
    <p:sldId xmlns:r="http://schemas.openxmlformats.org/officeDocument/2006/relationships" id="296" r:id="R8afe7a81bda04f6a"/>
    <p:sldId xmlns:r="http://schemas.openxmlformats.org/officeDocument/2006/relationships" id="297" r:id="Rce54c29e50e04c28"/>
    <p:sldId xmlns:r="http://schemas.openxmlformats.org/officeDocument/2006/relationships" id="298" r:id="Redb20ff3e63a4148"/>
    <p:sldId xmlns:r="http://schemas.openxmlformats.org/officeDocument/2006/relationships" id="299" r:id="Ra8ccef5dddf54d64"/>
    <p:sldId xmlns:r="http://schemas.openxmlformats.org/officeDocument/2006/relationships" id="300" r:id="Ra2809f8d57c44cdd"/>
    <p:sldId xmlns:r="http://schemas.openxmlformats.org/officeDocument/2006/relationships" id="301" r:id="R1da2331a57c24eec"/>
    <p:sldId xmlns:r="http://schemas.openxmlformats.org/officeDocument/2006/relationships" id="302" r:id="R83b475599264443b"/>
    <p:sldId xmlns:r="http://schemas.openxmlformats.org/officeDocument/2006/relationships" id="303" r:id="Rda70a4e089094c3a"/>
    <p:sldId xmlns:r="http://schemas.openxmlformats.org/officeDocument/2006/relationships" id="304" r:id="R3fa36ce5f2a3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422d6bd7a4ca3" /><Relationship Type="http://schemas.openxmlformats.org/officeDocument/2006/relationships/slideMaster" Target="/ppt/slideMasters/slideMaster1.xml" Id="R0ce717bab5774f63" /><Relationship Type="http://schemas.openxmlformats.org/officeDocument/2006/relationships/notesMaster" Target="/ppt/notesMasters/notesMaster1.xml" Id="R20e405550249493f" /><Relationship Type="http://schemas.openxmlformats.org/officeDocument/2006/relationships/presProps" Target="/ppt/presProps.xml" Id="Raca6b707cfbc4443" /><Relationship Type="http://schemas.openxmlformats.org/officeDocument/2006/relationships/tableStyles" Target="/ppt/tableStyles.xml" Id="R613a6456fe0b4179" /><Relationship Type="http://schemas.openxmlformats.org/officeDocument/2006/relationships/slide" Target="/ppt/slides/slide1.xml" Id="R7717f9bba4024c3e" /><Relationship Type="http://schemas.openxmlformats.org/officeDocument/2006/relationships/slide" Target="/ppt/slides/slide2.xml" Id="Rd01f4ab88fd94815" /><Relationship Type="http://schemas.openxmlformats.org/officeDocument/2006/relationships/slide" Target="/ppt/slides/slide3.xml" Id="Rabe49d058fb346cf" /><Relationship Type="http://schemas.openxmlformats.org/officeDocument/2006/relationships/slide" Target="/ppt/slides/slide4.xml" Id="Rfc46110ff67d48ad" /><Relationship Type="http://schemas.openxmlformats.org/officeDocument/2006/relationships/slide" Target="/ppt/slides/slide5.xml" Id="R7e06259e6b414607" /><Relationship Type="http://schemas.openxmlformats.org/officeDocument/2006/relationships/slide" Target="/ppt/slides/slide6.xml" Id="R2ba2e995304d4161" /><Relationship Type="http://schemas.openxmlformats.org/officeDocument/2006/relationships/slide" Target="/ppt/slides/slide7.xml" Id="R5e029e07332d42cd" /><Relationship Type="http://schemas.openxmlformats.org/officeDocument/2006/relationships/slide" Target="/ppt/slides/slide8.xml" Id="Rf8777485635a4294" /><Relationship Type="http://schemas.openxmlformats.org/officeDocument/2006/relationships/slide" Target="/ppt/slides/slide9.xml" Id="R9016b5e4eef24fb0" /><Relationship Type="http://schemas.openxmlformats.org/officeDocument/2006/relationships/slide" Target="/ppt/slides/slide10.xml" Id="R9127d1e462a54fba" /><Relationship Type="http://schemas.openxmlformats.org/officeDocument/2006/relationships/slide" Target="/ppt/slides/slide11.xml" Id="Rcea03d8abb1a4586" /><Relationship Type="http://schemas.openxmlformats.org/officeDocument/2006/relationships/slide" Target="/ppt/slides/slide12.xml" Id="R244e7f0a0b40490d" /><Relationship Type="http://schemas.openxmlformats.org/officeDocument/2006/relationships/slide" Target="/ppt/slides/slide13.xml" Id="R73111f2d4204433d" /><Relationship Type="http://schemas.openxmlformats.org/officeDocument/2006/relationships/slide" Target="/ppt/slides/slide14.xml" Id="R1c9f56ce0cfe442a" /><Relationship Type="http://schemas.openxmlformats.org/officeDocument/2006/relationships/slide" Target="/ppt/slides/slide15.xml" Id="R7fdb28634be64565" /><Relationship Type="http://schemas.openxmlformats.org/officeDocument/2006/relationships/slide" Target="/ppt/slides/slide16.xml" Id="R341504afdf754bfe" /><Relationship Type="http://schemas.openxmlformats.org/officeDocument/2006/relationships/slide" Target="/ppt/slides/slide17.xml" Id="Rf5b8c8ad6ea04f7a" /><Relationship Type="http://schemas.openxmlformats.org/officeDocument/2006/relationships/slide" Target="/ppt/slides/slide18.xml" Id="Rf4cbe1dd2cb048b9" /><Relationship Type="http://schemas.openxmlformats.org/officeDocument/2006/relationships/slide" Target="/ppt/slides/slide19.xml" Id="R49ef21f9f4be4e55" /><Relationship Type="http://schemas.openxmlformats.org/officeDocument/2006/relationships/slide" Target="/ppt/slides/slide20.xml" Id="R7bdc5658de1f48cd" /><Relationship Type="http://schemas.openxmlformats.org/officeDocument/2006/relationships/slide" Target="/ppt/slides/slide21.xml" Id="R24eb57b3d1c24b78" /><Relationship Type="http://schemas.openxmlformats.org/officeDocument/2006/relationships/slide" Target="/ppt/slides/slide22.xml" Id="R5bbcb7c77e014a8e" /><Relationship Type="http://schemas.openxmlformats.org/officeDocument/2006/relationships/slide" Target="/ppt/slides/slide23.xml" Id="Ree6f865747ab448b" /><Relationship Type="http://schemas.openxmlformats.org/officeDocument/2006/relationships/slide" Target="/ppt/slides/slide24.xml" Id="Re4df616767e24689" /><Relationship Type="http://schemas.openxmlformats.org/officeDocument/2006/relationships/slide" Target="/ppt/slides/slide25.xml" Id="Rb483a29229d44b28" /><Relationship Type="http://schemas.openxmlformats.org/officeDocument/2006/relationships/slide" Target="/ppt/slides/slide26.xml" Id="R2dea8f6ba56347bf" /><Relationship Type="http://schemas.openxmlformats.org/officeDocument/2006/relationships/slide" Target="/ppt/slides/slide27.xml" Id="R2dff9175dcb646e2" /><Relationship Type="http://schemas.openxmlformats.org/officeDocument/2006/relationships/slide" Target="/ppt/slides/slide28.xml" Id="Rfadb3c5ec09e4b16" /><Relationship Type="http://schemas.openxmlformats.org/officeDocument/2006/relationships/slide" Target="/ppt/slides/slide29.xml" Id="R9baabb2c545b453d" /><Relationship Type="http://schemas.openxmlformats.org/officeDocument/2006/relationships/slide" Target="/ppt/slides/slide30.xml" Id="R4084a83b49894d52" /><Relationship Type="http://schemas.openxmlformats.org/officeDocument/2006/relationships/slide" Target="/ppt/slides/slide31.xml" Id="R33d404e654cd45f8" /><Relationship Type="http://schemas.openxmlformats.org/officeDocument/2006/relationships/slide" Target="/ppt/slides/slide32.xml" Id="R572a1fd680664270" /><Relationship Type="http://schemas.openxmlformats.org/officeDocument/2006/relationships/slide" Target="/ppt/slides/slide33.xml" Id="R9736127762164c33" /><Relationship Type="http://schemas.openxmlformats.org/officeDocument/2006/relationships/slide" Target="/ppt/slides/slide34.xml" Id="Rf0c4759665544703" /><Relationship Type="http://schemas.openxmlformats.org/officeDocument/2006/relationships/slide" Target="/ppt/slides/slide35.xml" Id="R8e18c01841ed47cb" /><Relationship Type="http://schemas.openxmlformats.org/officeDocument/2006/relationships/slide" Target="/ppt/slides/slide36.xml" Id="Rb7aa5360a6ba4af7" /><Relationship Type="http://schemas.openxmlformats.org/officeDocument/2006/relationships/slide" Target="/ppt/slides/slide37.xml" Id="R9b594a0eccb349f9" /><Relationship Type="http://schemas.openxmlformats.org/officeDocument/2006/relationships/slide" Target="/ppt/slides/slide38.xml" Id="R5de658cb0ca74caf" /><Relationship Type="http://schemas.openxmlformats.org/officeDocument/2006/relationships/slide" Target="/ppt/slides/slide39.xml" Id="R3b006a4863af4e5b" /><Relationship Type="http://schemas.openxmlformats.org/officeDocument/2006/relationships/slide" Target="/ppt/slides/slide40.xml" Id="R79e3284f97a64fcb" /><Relationship Type="http://schemas.openxmlformats.org/officeDocument/2006/relationships/slide" Target="/ppt/slides/slide41.xml" Id="R8afe7a81bda04f6a" /><Relationship Type="http://schemas.openxmlformats.org/officeDocument/2006/relationships/slide" Target="/ppt/slides/slide42.xml" Id="Rce54c29e50e04c28" /><Relationship Type="http://schemas.openxmlformats.org/officeDocument/2006/relationships/slide" Target="/ppt/slides/slide43.xml" Id="Redb20ff3e63a4148" /><Relationship Type="http://schemas.openxmlformats.org/officeDocument/2006/relationships/slide" Target="/ppt/slides/slide44.xml" Id="Ra8ccef5dddf54d64" /><Relationship Type="http://schemas.openxmlformats.org/officeDocument/2006/relationships/slide" Target="/ppt/slides/slide45.xml" Id="Ra2809f8d57c44cdd" /><Relationship Type="http://schemas.openxmlformats.org/officeDocument/2006/relationships/slide" Target="/ppt/slides/slide46.xml" Id="R1da2331a57c24eec" /><Relationship Type="http://schemas.openxmlformats.org/officeDocument/2006/relationships/slide" Target="/ppt/slides/slide47.xml" Id="R83b475599264443b" /><Relationship Type="http://schemas.openxmlformats.org/officeDocument/2006/relationships/slide" Target="/ppt/slides/slide48.xml" Id="Rda70a4e089094c3a" /><Relationship Type="http://schemas.openxmlformats.org/officeDocument/2006/relationships/slide" Target="/ppt/slides/slide49.xml" Id="R3fa36ce5f2a3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30ffdd1aa94a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384241879471e" /><Relationship Type="http://schemas.openxmlformats.org/officeDocument/2006/relationships/notesMaster" Target="/ppt/notesMasters/notesMaster1.xml" Id="R6ec375880169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71b275022a4c86" /><Relationship Type="http://schemas.openxmlformats.org/officeDocument/2006/relationships/notesMaster" Target="/ppt/notesMasters/notesMaster1.xml" Id="R0362593683df4f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cbc4a63b15450a" /><Relationship Type="http://schemas.openxmlformats.org/officeDocument/2006/relationships/notesMaster" Target="/ppt/notesMasters/notesMaster1.xml" Id="R242699ff8fc94e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dd481c8e354e50" /><Relationship Type="http://schemas.openxmlformats.org/officeDocument/2006/relationships/notesMaster" Target="/ppt/notesMasters/notesMaster1.xml" Id="R5523a4ca894040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e5a87ba2264f64" /><Relationship Type="http://schemas.openxmlformats.org/officeDocument/2006/relationships/notesMaster" Target="/ppt/notesMasters/notesMaster1.xml" Id="R8ea68b50a06641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faa08bdd24934" /><Relationship Type="http://schemas.openxmlformats.org/officeDocument/2006/relationships/notesMaster" Target="/ppt/notesMasters/notesMaster1.xml" Id="R90c3d667e32d41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81956c0c1b4840" /><Relationship Type="http://schemas.openxmlformats.org/officeDocument/2006/relationships/notesMaster" Target="/ppt/notesMasters/notesMaster1.xml" Id="Rc8382d31066d4f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f11a6ddfc04cf9" /><Relationship Type="http://schemas.openxmlformats.org/officeDocument/2006/relationships/notesMaster" Target="/ppt/notesMasters/notesMaster1.xml" Id="R1486e6055f504d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e02ec6b6ae43cc" /><Relationship Type="http://schemas.openxmlformats.org/officeDocument/2006/relationships/notesMaster" Target="/ppt/notesMasters/notesMaster1.xml" Id="R435691d198bd46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273a5bba524085" /><Relationship Type="http://schemas.openxmlformats.org/officeDocument/2006/relationships/notesMaster" Target="/ppt/notesMasters/notesMaster1.xml" Id="R10266ee5b14742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8d1c87b8a4434b" /><Relationship Type="http://schemas.openxmlformats.org/officeDocument/2006/relationships/notesMaster" Target="/ppt/notesMasters/notesMaster1.xml" Id="R2e7a2ce0fe284f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117000528f428e" /><Relationship Type="http://schemas.openxmlformats.org/officeDocument/2006/relationships/notesMaster" Target="/ppt/notesMasters/notesMaster1.xml" Id="R0713de29c58345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caff0e199b4916" /><Relationship Type="http://schemas.openxmlformats.org/officeDocument/2006/relationships/notesMaster" Target="/ppt/notesMasters/notesMaster1.xml" Id="R5834bfb9e40743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94a1d7f2d14f58" /><Relationship Type="http://schemas.openxmlformats.org/officeDocument/2006/relationships/notesMaster" Target="/ppt/notesMasters/notesMaster1.xml" Id="R1db59c6d267c44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44050828f64df2" /><Relationship Type="http://schemas.openxmlformats.org/officeDocument/2006/relationships/notesMaster" Target="/ppt/notesMasters/notesMaster1.xml" Id="R84dafad155f046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64cca13c7b4194" /><Relationship Type="http://schemas.openxmlformats.org/officeDocument/2006/relationships/notesMaster" Target="/ppt/notesMasters/notesMaster1.xml" Id="R91dc80d2f90546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306c96085a4acb" /><Relationship Type="http://schemas.openxmlformats.org/officeDocument/2006/relationships/notesMaster" Target="/ppt/notesMasters/notesMaster1.xml" Id="Rbf2bcd84700445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5972ddba25407f" /><Relationship Type="http://schemas.openxmlformats.org/officeDocument/2006/relationships/notesMaster" Target="/ppt/notesMasters/notesMaster1.xml" Id="R993b7e7a602c41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765b0e4562404f" /><Relationship Type="http://schemas.openxmlformats.org/officeDocument/2006/relationships/notesMaster" Target="/ppt/notesMasters/notesMaster1.xml" Id="Rd058e1d600084d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65aa6825b1457a" /><Relationship Type="http://schemas.openxmlformats.org/officeDocument/2006/relationships/notesMaster" Target="/ppt/notesMasters/notesMaster1.xml" Id="R7b295f5afa5a4e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835934ab00422f" /><Relationship Type="http://schemas.openxmlformats.org/officeDocument/2006/relationships/notesMaster" Target="/ppt/notesMasters/notesMaster1.xml" Id="R07b6cdf831b148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7cbb50f04e408a" /><Relationship Type="http://schemas.openxmlformats.org/officeDocument/2006/relationships/notesMaster" Target="/ppt/notesMasters/notesMaster1.xml" Id="R2d11b995e18146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fad509703b4358" /><Relationship Type="http://schemas.openxmlformats.org/officeDocument/2006/relationships/notesMaster" Target="/ppt/notesMasters/notesMaster1.xml" Id="Ra8c3487fada94ea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b190f2b86564894" /><Relationship Type="http://schemas.openxmlformats.org/officeDocument/2006/relationships/notesMaster" Target="/ppt/notesMasters/notesMaster1.xml" Id="Rd59259e3196f42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609a85b3bf44c9" /><Relationship Type="http://schemas.openxmlformats.org/officeDocument/2006/relationships/notesMaster" Target="/ppt/notesMasters/notesMaster1.xml" Id="R705fc1ff805f4d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048178403f45ba" /><Relationship Type="http://schemas.openxmlformats.org/officeDocument/2006/relationships/notesMaster" Target="/ppt/notesMasters/notesMaster1.xml" Id="R3de2e06a6f61442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b5cac73b642409a" /><Relationship Type="http://schemas.openxmlformats.org/officeDocument/2006/relationships/notesMaster" Target="/ppt/notesMasters/notesMaster1.xml" Id="R4baf4723cfa3475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b86648fdee4439" /><Relationship Type="http://schemas.openxmlformats.org/officeDocument/2006/relationships/notesMaster" Target="/ppt/notesMasters/notesMaster1.xml" Id="R88aca05d7b874f6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e4bd5b64e94660" /><Relationship Type="http://schemas.openxmlformats.org/officeDocument/2006/relationships/notesMaster" Target="/ppt/notesMasters/notesMaster1.xml" Id="R28175a52f30d47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7b66cc21ea34c22" /><Relationship Type="http://schemas.openxmlformats.org/officeDocument/2006/relationships/notesMaster" Target="/ppt/notesMasters/notesMaster1.xml" Id="Ra314021edf8b4d7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d3d9728d5b143cb" /><Relationship Type="http://schemas.openxmlformats.org/officeDocument/2006/relationships/notesMaster" Target="/ppt/notesMasters/notesMaster1.xml" Id="Rab93c2e2cda84e4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5d4c99f1d6a4252" /><Relationship Type="http://schemas.openxmlformats.org/officeDocument/2006/relationships/notesMaster" Target="/ppt/notesMasters/notesMaster1.xml" Id="R84c5793bf74c456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9592be372484bb8" /><Relationship Type="http://schemas.openxmlformats.org/officeDocument/2006/relationships/notesMaster" Target="/ppt/notesMasters/notesMaster1.xml" Id="R65c3b6e46efd40f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56e2c4391214845" /><Relationship Type="http://schemas.openxmlformats.org/officeDocument/2006/relationships/notesMaster" Target="/ppt/notesMasters/notesMaster1.xml" Id="Re0fd293af2e9476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749aebb7f3140e1" /><Relationship Type="http://schemas.openxmlformats.org/officeDocument/2006/relationships/notesMaster" Target="/ppt/notesMasters/notesMaster1.xml" Id="R9ce5564caed542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a62fe0bb4c4f99" /><Relationship Type="http://schemas.openxmlformats.org/officeDocument/2006/relationships/notesMaster" Target="/ppt/notesMasters/notesMaster1.xml" Id="R176fdd665394441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f133fea6f8f4b0d" /><Relationship Type="http://schemas.openxmlformats.org/officeDocument/2006/relationships/notesMaster" Target="/ppt/notesMasters/notesMaster1.xml" Id="R060d8b7ce295476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2288bd2bca940b7" /><Relationship Type="http://schemas.openxmlformats.org/officeDocument/2006/relationships/notesMaster" Target="/ppt/notesMasters/notesMaster1.xml" Id="R78479939874a435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0ca35d2b93414d" /><Relationship Type="http://schemas.openxmlformats.org/officeDocument/2006/relationships/notesMaster" Target="/ppt/notesMasters/notesMaster1.xml" Id="Rcb89dd26117440d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3c227316dc34f1b" /><Relationship Type="http://schemas.openxmlformats.org/officeDocument/2006/relationships/notesMaster" Target="/ppt/notesMasters/notesMaster1.xml" Id="Rea3f777e0d2c49e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255a27c6ca40aa" /><Relationship Type="http://schemas.openxmlformats.org/officeDocument/2006/relationships/notesMaster" Target="/ppt/notesMasters/notesMaster1.xml" Id="R65e0f8740db14ca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3622134b2254791" /><Relationship Type="http://schemas.openxmlformats.org/officeDocument/2006/relationships/notesMaster" Target="/ppt/notesMasters/notesMaster1.xml" Id="R49c85af0f588497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72028260d3845ac" /><Relationship Type="http://schemas.openxmlformats.org/officeDocument/2006/relationships/notesMaster" Target="/ppt/notesMasters/notesMaster1.xml" Id="Rafc77f12829c4e2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1cd5b08ed8d4dbd" /><Relationship Type="http://schemas.openxmlformats.org/officeDocument/2006/relationships/notesMaster" Target="/ppt/notesMasters/notesMaster1.xml" Id="R60c60041a66c415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a1a279500494809" /><Relationship Type="http://schemas.openxmlformats.org/officeDocument/2006/relationships/notesMaster" Target="/ppt/notesMasters/notesMaster1.xml" Id="Ree860b951909448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6c011b802a54d6f" /><Relationship Type="http://schemas.openxmlformats.org/officeDocument/2006/relationships/notesMaster" Target="/ppt/notesMasters/notesMaster1.xml" Id="R4fd91a5aad9d414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34305f9107240ca" /><Relationship Type="http://schemas.openxmlformats.org/officeDocument/2006/relationships/notesMaster" Target="/ppt/notesMasters/notesMaster1.xml" Id="R45f39042416749d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ea46a9181674e68" /><Relationship Type="http://schemas.openxmlformats.org/officeDocument/2006/relationships/notesMaster" Target="/ppt/notesMasters/notesMaster1.xml" Id="R56159b4c3d2f4fd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0a166e23efe433f" /><Relationship Type="http://schemas.openxmlformats.org/officeDocument/2006/relationships/notesMaster" Target="/ppt/notesMasters/notesMaster1.xml" Id="R664e985c056b45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this module teaches how Java code is written, stored in variables, evaluated, and controlled.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the module as the grammar of Java programs.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Java programs are built around classes and objects.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Student object with name and marks as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car controls or scanner.nextInt as examples.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these three ideas return in Modules 2 and 3.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the braces and explain scope.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compiler reads tokens, not visual paragraphs.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readable naming is part of good programming.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identify tokens in a small statement.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primitive variables hold values directly.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range and precision without overwhelming numbers.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char grade and boolean passed.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Read each declaration as type, name, optional initial value.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variables declared inside blocks are local to that block.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narrowing from 10.75 to 10 as example.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byte/short/char often promote to int in expressions.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marks[0], marks[1], marks[2].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length and zero-based index.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the lab program for matrix addition.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operators are the verbs inside expressions.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common mistake: = vs ==.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short-circuit behavior at a high level.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ternary is compact if-else expression.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2 + 3 * 4 vs (2 + 3) * 4.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selection changes which statements execute.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conditions are boolean expressions.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case, break and default.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when do-while is useful: menu input.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index loop vs value loop.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directly to lab matrix addition.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search loop with break.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the lecture feel immediately useful for lab.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student-record program to show why objects are not just theory.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lexical issues matter because the compiler first recognizes tokens.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quick rules so students know what to choose in lab programs.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Trace why 3.0 gives a double result.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casting double to int truncates the fractional part.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valid indexes are 0 to length - 1.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ArrayIndexOutOfBoundsException as the visible symptom.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compute output before explaining.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decision rules for lab coding.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matrix addition to show row-by-row processing.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are the errors students often see during debugging.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 matrix lab can be built from Module 1 constructs only.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 summary.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Module 1 is output-prediction heavy.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code or diagram appears; ask students to read it from top to bottom before revealing the rule.</a:t>
            </a:r>
          </a:p>
          <a:p xmlns:a="http://schemas.openxmlformats.org/drawingml/2006/main">
            <a:r>
              <a:t>Pointing cue: point first to the keyword or operator, then to the data flow, object relation, or runtime behavior.</a:t>
            </a:r>
          </a:p>
          <a:p xmlns:a="http://schemas.openxmlformats.org/drawingml/2006/main">
            <a:r>
              <a:t>Question to ask students: Ask students to predict the output or identify the Java rule used here.</a:t>
            </a:r>
          </a:p>
          <a:p xmlns:a="http://schemas.openxmlformats.org/drawingml/2006/main">
            <a:r>
              <a:t>Animation instructions: Fade title; appear bullets/cards one by one; wipe arrows in process order; highlight code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1BCS302 Object Oriented Programming with Java syllabus PDF, Module 1 checklist; Herbert Schildt and Danny Coward, Java: The Complete Reference, 13th ed., McGraw-Hill, 2024, chapters 2-5.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2635a992e4c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75f619609e445b" /><Relationship Type="http://schemas.openxmlformats.org/officeDocument/2006/relationships/slideLayout" Target="/ppt/slideLayouts/slideLayout1.xml" Id="Ra7739804406b4d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739804406b4d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23c2cbf694caa" /><Relationship Type="http://schemas.openxmlformats.org/officeDocument/2006/relationships/notesSlide" Target="/ppt/notesSlides/notesSlide1.xml" Id="R778edf7fb629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7582ecc8844e6" /><Relationship Type="http://schemas.openxmlformats.org/officeDocument/2006/relationships/notesSlide" Target="/ppt/notesSlides/notesSlide2.xml" Id="R8fb78fea1a734b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182948fc64252" /><Relationship Type="http://schemas.openxmlformats.org/officeDocument/2006/relationships/notesSlide" Target="/ppt/notesSlides/notesSlide3.xml" Id="Rda6b8e2b798149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df218fb04450f" /><Relationship Type="http://schemas.openxmlformats.org/officeDocument/2006/relationships/notesSlide" Target="/ppt/notesSlides/notesSlide4.xml" Id="Rd4f91a980c8549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b00b25e074a03" /><Relationship Type="http://schemas.openxmlformats.org/officeDocument/2006/relationships/notesSlide" Target="/ppt/notesSlides/notesSlide5.xml" Id="Re95a22cf5fe44e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9dc2d4f954b2f" /><Relationship Type="http://schemas.openxmlformats.org/officeDocument/2006/relationships/notesSlide" Target="/ppt/notesSlides/notesSlide6.xml" Id="Rd5610fc208e145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9ee1ef9bc42b6" /><Relationship Type="http://schemas.openxmlformats.org/officeDocument/2006/relationships/notesSlide" Target="/ppt/notesSlides/notesSlide7.xml" Id="Red91603db93344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58f092ab8462f" /><Relationship Type="http://schemas.openxmlformats.org/officeDocument/2006/relationships/notesSlide" Target="/ppt/notesSlides/notesSlide8.xml" Id="R309ef158fb7349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67a091b6848f3" /><Relationship Type="http://schemas.openxmlformats.org/officeDocument/2006/relationships/notesSlide" Target="/ppt/notesSlides/notesSlide9.xml" Id="R749b2f204e0447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071d1ac464b4f" /><Relationship Type="http://schemas.openxmlformats.org/officeDocument/2006/relationships/notesSlide" Target="/ppt/notesSlides/notesSlide10.xml" Id="Rc8e402767abd46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b05d6fdc344fb" /><Relationship Type="http://schemas.openxmlformats.org/officeDocument/2006/relationships/notesSlide" Target="/ppt/notesSlides/notesSlide11.xml" Id="Rea48e6c9ed0947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428d217524f7e" /><Relationship Type="http://schemas.openxmlformats.org/officeDocument/2006/relationships/notesSlide" Target="/ppt/notesSlides/notesSlide12.xml" Id="Re72abe120e0043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8cca5822e4ac8" /><Relationship Type="http://schemas.openxmlformats.org/officeDocument/2006/relationships/notesSlide" Target="/ppt/notesSlides/notesSlide13.xml" Id="Rb7b940b22c114e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9e914265245ae" /><Relationship Type="http://schemas.openxmlformats.org/officeDocument/2006/relationships/notesSlide" Target="/ppt/notesSlides/notesSlide14.xml" Id="R60259f0cc44940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5fa92f43b4392" /><Relationship Type="http://schemas.openxmlformats.org/officeDocument/2006/relationships/notesSlide" Target="/ppt/notesSlides/notesSlide15.xml" Id="Rf7e4ffcfc71843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5b236aee645ae" /><Relationship Type="http://schemas.openxmlformats.org/officeDocument/2006/relationships/notesSlide" Target="/ppt/notesSlides/notesSlide16.xml" Id="R98a5b87595bf4e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047ab22194819" /><Relationship Type="http://schemas.openxmlformats.org/officeDocument/2006/relationships/notesSlide" Target="/ppt/notesSlides/notesSlide17.xml" Id="Re2ffff4f91ac40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14f556ab649d0" /><Relationship Type="http://schemas.openxmlformats.org/officeDocument/2006/relationships/notesSlide" Target="/ppt/notesSlides/notesSlide18.xml" Id="Rfa50f030131449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b67b8e1e9481b" /><Relationship Type="http://schemas.openxmlformats.org/officeDocument/2006/relationships/notesSlide" Target="/ppt/notesSlides/notesSlide19.xml" Id="Ra2de3c2b155043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128b3fb8d4f00" /><Relationship Type="http://schemas.openxmlformats.org/officeDocument/2006/relationships/notesSlide" Target="/ppt/notesSlides/notesSlide20.xml" Id="R9268e18085d846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c17c236274587" /><Relationship Type="http://schemas.openxmlformats.org/officeDocument/2006/relationships/notesSlide" Target="/ppt/notesSlides/notesSlide21.xml" Id="R4d9b919941c141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33b36da8b4424" /><Relationship Type="http://schemas.openxmlformats.org/officeDocument/2006/relationships/notesSlide" Target="/ppt/notesSlides/notesSlide22.xml" Id="Rf220aaeaa14340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2796d0df04ac0" /><Relationship Type="http://schemas.openxmlformats.org/officeDocument/2006/relationships/notesSlide" Target="/ppt/notesSlides/notesSlide23.xml" Id="R6eea94b44fe448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0dbcf19824b18" /><Relationship Type="http://schemas.openxmlformats.org/officeDocument/2006/relationships/notesSlide" Target="/ppt/notesSlides/notesSlide24.xml" Id="Rf43831c77d8446e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c54d4052c47f1" /><Relationship Type="http://schemas.openxmlformats.org/officeDocument/2006/relationships/notesSlide" Target="/ppt/notesSlides/notesSlide25.xml" Id="Re778ed9843fc473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52c27ac484320" /><Relationship Type="http://schemas.openxmlformats.org/officeDocument/2006/relationships/notesSlide" Target="/ppt/notesSlides/notesSlide26.xml" Id="R967b94c3f0a6416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53673b444488d" /><Relationship Type="http://schemas.openxmlformats.org/officeDocument/2006/relationships/notesSlide" Target="/ppt/notesSlides/notesSlide27.xml" Id="R2decb0478d1e43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9091c1af6482d" /><Relationship Type="http://schemas.openxmlformats.org/officeDocument/2006/relationships/notesSlide" Target="/ppt/notesSlides/notesSlide28.xml" Id="R2f594a5e8d98428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b53f9eeef489d" /><Relationship Type="http://schemas.openxmlformats.org/officeDocument/2006/relationships/notesSlide" Target="/ppt/notesSlides/notesSlide29.xml" Id="Ra1f4441cc2c84f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d8d9e241144bc" /><Relationship Type="http://schemas.openxmlformats.org/officeDocument/2006/relationships/notesSlide" Target="/ppt/notesSlides/notesSlide30.xml" Id="R392f3f07e9944b0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876737f07433b" /><Relationship Type="http://schemas.openxmlformats.org/officeDocument/2006/relationships/notesSlide" Target="/ppt/notesSlides/notesSlide31.xml" Id="Rca8884ca7aa84c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4063028cb4f85" /><Relationship Type="http://schemas.openxmlformats.org/officeDocument/2006/relationships/notesSlide" Target="/ppt/notesSlides/notesSlide32.xml" Id="R2252598950c149f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5e1585ef45ac" /><Relationship Type="http://schemas.openxmlformats.org/officeDocument/2006/relationships/notesSlide" Target="/ppt/notesSlides/notesSlide33.xml" Id="R53172e6722424b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83a5898104144" /><Relationship Type="http://schemas.openxmlformats.org/officeDocument/2006/relationships/notesSlide" Target="/ppt/notesSlides/notesSlide34.xml" Id="Rbac084b03f734b4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23d4ec7be466a" /><Relationship Type="http://schemas.openxmlformats.org/officeDocument/2006/relationships/notesSlide" Target="/ppt/notesSlides/notesSlide35.xml" Id="R4c83fe5eb008434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ea406cacc403d" /><Relationship Type="http://schemas.openxmlformats.org/officeDocument/2006/relationships/notesSlide" Target="/ppt/notesSlides/notesSlide36.xml" Id="R56c67f4b96c04da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085dd55f64965" /><Relationship Type="http://schemas.openxmlformats.org/officeDocument/2006/relationships/notesSlide" Target="/ppt/notesSlides/notesSlide37.xml" Id="Raabab4d0f5644bb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8229c482f45b7" /><Relationship Type="http://schemas.openxmlformats.org/officeDocument/2006/relationships/notesSlide" Target="/ppt/notesSlides/notesSlide38.xml" Id="Rb32154aaee314c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94436fb154fa8" /><Relationship Type="http://schemas.openxmlformats.org/officeDocument/2006/relationships/notesSlide" Target="/ppt/notesSlides/notesSlide39.xml" Id="R5e5123e3f198424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dff1d25a14eaf" /><Relationship Type="http://schemas.openxmlformats.org/officeDocument/2006/relationships/notesSlide" Target="/ppt/notesSlides/notesSlide40.xml" Id="R8ffc47ba3f4e47e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f65b7604549f6" /><Relationship Type="http://schemas.openxmlformats.org/officeDocument/2006/relationships/notesSlide" Target="/ppt/notesSlides/notesSlide41.xml" Id="R3ac98ffd1445456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819a88bb048ce" /><Relationship Type="http://schemas.openxmlformats.org/officeDocument/2006/relationships/notesSlide" Target="/ppt/notesSlides/notesSlide42.xml" Id="Re7a21fa7504d48b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4ceb7eedb413c" /><Relationship Type="http://schemas.openxmlformats.org/officeDocument/2006/relationships/notesSlide" Target="/ppt/notesSlides/notesSlide43.xml" Id="R3a3cb1e38a9e479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6d1658e174dea" /><Relationship Type="http://schemas.openxmlformats.org/officeDocument/2006/relationships/notesSlide" Target="/ppt/notesSlides/notesSlide44.xml" Id="R36c998a01f644f0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2b1b38f1d483a" /><Relationship Type="http://schemas.openxmlformats.org/officeDocument/2006/relationships/notesSlide" Target="/ppt/notesSlides/notesSlide45.xml" Id="R4e9bee8ffc1c46e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5d4ea88d14907" /><Relationship Type="http://schemas.openxmlformats.org/officeDocument/2006/relationships/notesSlide" Target="/ppt/notesSlides/notesSlide46.xml" Id="R6a27346ac8454dc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2e025597c48d0" /><Relationship Type="http://schemas.openxmlformats.org/officeDocument/2006/relationships/notesSlide" Target="/ppt/notesSlides/notesSlide47.xml" Id="R02687ba9909b425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d944d0c2c41ac" /><Relationship Type="http://schemas.openxmlformats.org/officeDocument/2006/relationships/notesSlide" Target="/ppt/notesSlides/notesSlide48.xml" Id="R6475445c3a74472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5907f0c284238" /><Relationship Type="http://schemas.openxmlformats.org/officeDocument/2006/relationships/notesSlide" Target="/ppt/notesSlides/notesSlide49.xml" Id="R8c89280bf3ac46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9E87A-B391-4C59-B522-FF5E7A6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954B7-5E0F-46D0-AC22-7BB5B18A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Java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41FCF-39F1-42D5-B7BB-D8B01C51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1 builds the base: OOP ideas, syntax, data, operators and control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61BE1-9858-4026-BFD7-814E01F2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B1853-F9D9-4481-B8D6-BCA4D88A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FDDBC-878F-4750-8EB5-46117E2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9F90D-7E6D-4F74-98FD-C369158B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BE996-774D-44A3-838D-D976420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9A7EA-6748-4B02-867D-E182819D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Java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2156E-6ACE-406B-BD12-2DCCF997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OOP principles • lexical rules • types • arrays • operators • control statements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75E97-B84B-42F1-A0DC-CDB13A98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25D06-C7A2-459C-A1EA-F952DDA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36487-9E76-487D-8060-16CFDFB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JAVA</a:t>
            </a:r>
          </a:p>
          <a:p xmlns:a="http://schemas.openxmlformats.org/drawingml/2006/main">
            <a:pPr algn="ctr">
              <a:defRPr sz="2325" b="1">
                <a:solidFill>
                  <a:srgbClr val="07111F"/>
                </a:solidFill>
              </a:defRPr>
            </a:pPr>
            <a:r>
              <a:rPr sz="2325" b="1">
                <a:solidFill>
                  <a:srgbClr val="07111F"/>
                </a:solidFill>
              </a:rPr>
              <a:t>BASICS</a:t>
            </a:r>
          </a:p>
        </p:txBody>
      </p:sp>
    </p:spTree>
    <p:extLst>
      <p:ext uri="{BB962C8B-B14F-4D97-AF65-F5344CB8AC3E}">
        <p14:creationId xmlns:p14="http://schemas.microsoft.com/office/powerpoint/2010/main" val="1150812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E766B-D0DE-4C5F-8AA2-99DBA5EC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C3F67-F774-4552-AB32-842EA455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1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41A34-59AE-4316-AE12-4BD9C31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36796-C861-4609-BC99-649852BC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4AB0C-6607-4BD8-A86C-46E5E0D6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04E74-695A-4EBB-83C3-F9D539BB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2B4D3-0936-4843-AADD-AA6DED64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0DA5E-922C-415F-8612-58968996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23515-925D-43C5-B6E1-56DD26A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0A84A-9E26-4B1A-AAFC-162CB86C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D233B-B8D5-4DF1-9E3F-EDFD70E7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two programming paradigms and the three OOP principles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E9A82-53A2-4808-9933-0264D33C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EEFF2-BA63-420E-8E28-9324CD41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35F9F-B462-4C2D-9C64-D0CC59A9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blocks, lexical rules, identifiers, literals, comments, separators and keywords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97B09-4744-4B51-A2BF-47C51413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E84B9-1885-4C74-910E-580805F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5C755-37B9-4EBF-9D2A-583BEB08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primitive types, variables, conversion, casting, promotion and arrays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E5586-AF5E-46B9-B750-0A96C597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F826F-052A-429F-85F1-5545154E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3D21D-9CC7-42E4-9543-6E4EC72F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Apply arithmetic, relational, boolean, assignment, ternary and precedence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BF43B-A0B0-40E9-A0EA-9E490BAC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F2917-FCD5-4E24-8159-DA47ED11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033C5-4C8E-47A0-B4AC-AE09A38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selection, iteration and jump statements</a:t>
            </a:r>
          </a:p>
        </p:txBody>
      </p:sp>
    </p:spTree>
    <p:extLst>
      <p:ext uri="{BB962C8B-B14F-4D97-AF65-F5344CB8AC3E}">
        <p14:creationId xmlns:p14="http://schemas.microsoft.com/office/powerpoint/2010/main" val="2120517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49981-C65E-4067-BA0B-BF19B6B8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52B91-A02B-414C-A327-0D4FD021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Java combines structure with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059FC-6577-460A-8FFE-5582323C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Java's programming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706C9-2EA5-43BE-9E83-5768FD40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7DBA4-21AC-4747-A337-C5B6DFE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09675-8079-4182-B977-D24AB274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6ABB5-C121-4B10-8FFB-45F55657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OOP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EC18B-9EF9-4E0A-A149-2AC83E02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5431E-1D4B-4A3B-BCDF-65CD2AF6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27575-8D11-4769-AD95-B64B5583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F8AF7-3E23-4EFB-98C1-B16B7169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88B29-4574-4762-AEFB-267B24C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039F1-C28D-4FC9-BC40-ED3DA07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Data +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AE5F6-AC78-4CD8-B3F8-4A88EABF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9A823-76C3-4301-AA9A-E537285C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EE40F-421A-44A2-8E49-6AD5BFF9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A7BD6-8DDA-45E7-9CC5-D2A5CDD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58C5B-81DF-4FD9-A34A-907CFF9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C3A39-B859-4C3A-9B55-4E1ADBC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6E632-C654-41F3-959B-F148D7C0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35EE3-0CF0-4CEE-B3F7-9F64B3CD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DFC0E-BB29-41E1-B1AF-E563EF74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Reusable program</a:t>
            </a:r>
          </a:p>
        </p:txBody>
      </p:sp>
    </p:spTree>
    <p:extLst>
      <p:ext uri="{BB962C8B-B14F-4D97-AF65-F5344CB8AC3E}">
        <p14:creationId xmlns:p14="http://schemas.microsoft.com/office/powerpoint/2010/main" val="1149280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17CB20-5323-4777-B03B-DFDDC10F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54A7D-ACB4-40B9-9170-CE6F22FC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Two paradigms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B1DE6-F925-48E3-8AC9-D179D17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process-oriented and object-oriented thinking.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71B32-1E36-4A1C-A2C7-98492C99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91557-C2CB-4752-B2A4-051DFD18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59E65-2466-4F98-A4A5-025885BA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181B0-6E14-4315-ADDF-D3BC5774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OOP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CE286-C186-452F-9953-A10B18EA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08A3D-F8BA-4516-8DE3-12210C06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54935-9889-4E03-A2DB-5850E083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7F918-414C-4C96-B9DC-6B9CD488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Process-oriented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4EB5A-1FD5-40B2-B01D-8E6838E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52908-AE18-4A73-8C31-7FA8D60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D99A0-F52E-40A6-9815-81E0AC76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C6F73-2F46-46F7-9F70-6D6C8BBE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Object-oriented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D3CC5-F9DC-4AD0-8900-4B5A920D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165B9-D513-459A-B8F0-41556932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5AB65-FA59-44D8-BAD0-45F9F890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17705-0C45-4AC7-9934-44C69D9D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Program organized around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EDED2-CC92-4B25-A5A5-8B7A22D3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100C7-DAA6-41F0-A228-C1232FE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7A41B3-8A8D-4455-9F69-A377C2B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Functions act on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C2A4E-BBCF-4573-9921-77A39FC5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ABF0A-C574-42D6-B226-78E6B5E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C3824-CC6D-4895-BF71-5DC5501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Works well for small procedures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C54B7-3F6E-479B-BC5C-AE0C13A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FE00D-0B21-4946-88A1-6F221EC7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39B468-111E-4F8F-B8B8-999531B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Data can be scattered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8A5CA-D648-488C-B177-E39C8A6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3D6B0B-B3FF-4814-B8B0-70168E72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0F369-248E-4D41-B409-0B1D0CB5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Program organized around objects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3C8DE8-17A4-4759-9B5F-1DCFEE86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7B32A-1BE6-4609-8207-213F9AC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D7992-A5EB-4EDC-A7E1-C26584AA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Data and methods stay together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CF4039-B112-43ED-BD1C-43D1F19F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B0D09-B539-4FDB-ACC2-1345FC76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BDEBAE-981E-42D6-97E8-989C6FD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Models real-world entities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4302B-9E53-4C40-9A5B-4474B7F2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239821-479B-46FC-B5B0-6C3AEC5F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C6FCF9-6F6D-42D6-846A-DF4A1DE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Supports reuse and extension</a:t>
            </a:r>
          </a:p>
        </p:txBody>
      </p:sp>
    </p:spTree>
    <p:extLst>
      <p:ext uri="{BB962C8B-B14F-4D97-AF65-F5344CB8AC3E}">
        <p14:creationId xmlns:p14="http://schemas.microsoft.com/office/powerpoint/2010/main" val="831983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2352B4-0B19-43C9-9C42-DB0953E9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B143-3825-4922-B1AC-7BFB613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Abstraction hides unnecessary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27645-8CEC-49A5-AF58-9717A60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abstraction.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B235D-18C7-418D-8657-024C2CAF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C0250-901B-456B-BDCD-5A9BDA08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F341E-E968-49C9-ABED-843A72A2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6FD65-A54D-47B7-8416-65AD5127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OOP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70432-E906-4871-8412-A89E8C04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1E104-890D-43A3-BB64-9A74F564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Abstraction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4099-4854-4260-B4A2-D6A2690F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Abstraction represents essential features without exposing every internal detail of how the work is done.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347A1-BBDE-495B-82F8-F5ACD146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878C3-F601-4F76-9488-97E6CF67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Essential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D4CE4-E763-41B2-854F-1F9DD475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59903-093D-4826-A736-3FC327AD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32201-A6B6-4184-AB8D-E240AA57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Hide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EDC94-FB3C-4123-98AF-5986F12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3D0C3-84E0-4E24-9697-84A577C4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463F2-BEEC-4415-A64B-D835CF4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21275-D04F-4B71-9723-B00992AE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C4785-87B2-474D-817B-823B711B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73FA2-128C-4F0B-9BD2-A439208B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45533-CE9F-454C-9C36-1E7117A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8CC5A-4E35-400C-9BD4-F92459D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C1630-F9BB-423D-B034-96D1F6C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Clarity</a:t>
            </a:r>
          </a:p>
        </p:txBody>
      </p:sp>
    </p:spTree>
    <p:extLst>
      <p:ext uri="{BB962C8B-B14F-4D97-AF65-F5344CB8AC3E}">
        <p14:creationId xmlns:p14="http://schemas.microsoft.com/office/powerpoint/2010/main" val="1749556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654B6-1580-449B-A55F-0199DC4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F7787-D038-40F7-A69F-A84A96E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three OOP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DE701-DF0B-4D0E-9E1D-C4645D5F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encapsulation, inheritance and polymorphism.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8A92A-0C5C-4962-AFA6-26EE3F25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8C6B1-E291-4C04-A3DE-2CB9E1A1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9B390-3322-49AB-A53F-1581BBD1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DCB0B-D81D-416A-9BFD-4D81B655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OOP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CAA39-83C5-40A6-9273-E730BB72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5D109-A639-4EA9-AAB4-7FEDA0D6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775EA-4DA2-4693-ABFB-9C261B07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79612-3A02-4209-BEF9-7D8710E5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Encapsulation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35E9F-8E4C-4EEE-8749-BC33CB8A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Bind data and methods together and protect internal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AB8DA-2785-4907-9E34-F7A68E06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3251D-3F6C-45A8-9292-C61CA6A1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B0D06-9260-453B-96C6-7C51EFC4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Inheritance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FD02E-408A-48B3-B0EF-DB1F172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Create new classes from existing classes.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D6973-EBEB-4D46-A6D5-72E2050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1C0DD-8035-4D09-9F01-62D66910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690B4-54A9-4B65-86F3-5D8E3524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Polymorphism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CE119-67F2-4295-A9B5-AF509369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one interface for multiple behaviors.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C8DC3-94C4-4778-A69A-42FB9CD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D7A6C-9F93-4DA9-95CF-6F03657A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E59A5-4EB0-454D-8043-FB7C261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Design benefit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D5916-6F56-46CA-80B8-FD95121C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Programs become easier to extend, test and reuse.</a:t>
            </a:r>
          </a:p>
        </p:txBody>
      </p:sp>
    </p:spTree>
    <p:extLst>
      <p:ext uri="{BB962C8B-B14F-4D97-AF65-F5344CB8AC3E}">
        <p14:creationId xmlns:p14="http://schemas.microsoft.com/office/powerpoint/2010/main" val="1741809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10A83-B804-4B2D-9810-EED075F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92F4D-DBD9-4B61-9FBA-384FF97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Blocks group statements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F7422-C312-4BE3-ACC0-74A4063F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blocks of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58697-1B48-443F-BE3F-3A2E205B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8C840-E4C9-4F00-980B-D29FE20C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9B178-3676-4827-B009-979C71EB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B41F8-FD41-4A99-A3FD-8D15F7E7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Syntax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B83FD-FACF-46EC-AFB5-F6F57ED6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7B79E-E01F-4A7D-97CA-4550B28D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0F376-59C0-49C6-A5B4-74C416C2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if (marks &gt;= 40)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System.out.println("Pass");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grade = 'P';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A0538-24D5-41EF-B396-C51B961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6DBBA-57E9-4337-B119-CE96188D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680CB-91DF-4450-838A-3F05875D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CA374-B5AE-4180-BD9C-545B33C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293798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C5331F-5B2E-477D-AA5B-6A3E6F8F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295EA-FC10-4999-9888-3536B607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Lexical issues are Java's vocabulary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4BD39-08BC-462A-A3B2-C5E50578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lexical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34926-48EA-4D96-9F7E-4D5524FD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0A3AE-187C-42CD-99D5-DCD8A675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844C6-0523-40DC-B2EB-0A41446D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3046D-DF31-4A52-9B26-C7385B0E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Syntax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AB19E-9637-40C4-B375-0D6FE629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00CD1-6F32-4C32-9369-F62BFCA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1646A-29B3-4A55-BD57-E003D41F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Lexical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AB75A-73F4-4761-AB62-00EE2C76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884B7-8206-45A4-8FA5-1B2EE3D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7A36E-8AA0-4AA2-9D62-3373DEA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Whitespace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546C8-AE17-476B-A82E-28E36FA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Separates tokens.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61302-DFDE-4E85-97F5-01DA0701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6B50E-4C2B-4E5F-9C55-82E4C95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A5558-3473-45CC-80C2-5B41E46F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Identifiers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B6542-D0C1-42D0-9173-F007D10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Names for variables/classes.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C676A-1E1C-4E49-8C08-7F35D80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AA283-1E9B-449C-B409-0148DBE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3FD5C-1ECA-4DF2-83D0-9E35CC3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Literals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366E2-4471-4289-A0BB-82B175DB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Fixed values in code.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54CA6-2170-4B48-807D-77779DE2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505AA-F252-43F5-A5EF-4F9875E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F2077-8B1B-403B-A52F-0C5DA56C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Comments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68150-E66B-418B-AD2A-B5941500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Documentation for humans.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2C0A7-7FED-46B4-8F39-135B8691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6926C-185A-45D6-9F8E-4BC405A4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3DD71B-931B-40D9-A097-3FF59763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Separators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168D10-FA8B-4020-9E71-7C6C10CF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Punctuation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6ACB0-73C8-40E2-B00C-8DCD9C7A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EA9F53-754B-43FC-8413-20F2DA43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6AF7F9-84E5-454C-BDD8-AFBE4A0D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Keywords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DCC3B-7D47-4560-953D-D8C6DB06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Reserved words.</a:t>
            </a:r>
          </a:p>
        </p:txBody>
      </p:sp>
    </p:spTree>
    <p:extLst>
      <p:ext uri="{BB962C8B-B14F-4D97-AF65-F5344CB8AC3E}">
        <p14:creationId xmlns:p14="http://schemas.microsoft.com/office/powerpoint/2010/main" val="337788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10D33-1809-46AE-BAE3-0B0B4596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652B2-2ABD-465C-8804-BF3D8539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Identifiers and keywords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238B7-CCF7-4355-B8BB-60750BB8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naming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2E78D-60D7-48CC-A55C-82F4A95E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4F7CF-4024-4659-ABBA-CAF2B5D0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7FC25-48D7-4D95-A7F2-1C1E76B8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013AC-8D8A-4B0E-9697-9A056B4B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Syntax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96B2B-BAB0-472D-BDAB-9C513DC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F60E9-95AF-47A6-A023-9C1D710A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8E99F-6013-4D48-9FBD-7E099378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947AF-7F16-4F26-9D6F-418FB7E9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Identifiers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363F1-29C7-4108-8BF3-6266EA7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 contain letters, digits, underscore and currency symbols; cannot start with a digit.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E42E0-23CA-4A59-ADD1-E19037A7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4C23C-5DD5-4073-8FA6-0B019468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07CF4-AF97-4404-8430-32D06CA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Case-sensitive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B76FB-C2A0-4C82-B81E-A0AE0FD4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Total and total are different names.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01C98-DA6E-4627-8260-9F7BEE36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83681-9783-41E5-9C09-2F844BC5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890FA-5495-4B8A-A201-C1647C96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Keywords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AB883-DE9C-4F06-BEE2-00FE948D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Reserved words such as class, public, if, for and return.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00A73-2684-4335-8AC9-4331A2FF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20469-879C-4D62-ACCA-36A19A5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B328B-7714-4005-8706-BF219406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Convention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6A30A-58EB-4836-9163-72AD149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ClassName for classes, variableName for variables and methods.</a:t>
            </a:r>
          </a:p>
        </p:txBody>
      </p:sp>
    </p:spTree>
    <p:extLst>
      <p:ext uri="{BB962C8B-B14F-4D97-AF65-F5344CB8AC3E}">
        <p14:creationId xmlns:p14="http://schemas.microsoft.com/office/powerpoint/2010/main" val="172537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B2D99-A917-4D9F-897F-9D543A0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28443-9A07-4546-AD95-7E3A776E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Literals, comments and separators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474FC-EC1A-44CE-B900-319ECEC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remaining lexical pieces.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AA8CA-E7C1-4092-B083-F88DD63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27FF2-4F3E-4DBE-9F50-D38F88CF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CA9E3-D28D-45D8-BA3C-C9967B8D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39030-B8C0-46D9-9406-F766917F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Syntax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46855-AFAD-4E9A-B987-72D2AE16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AED0B-7878-43D8-A133-A5D97AC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D49B4-DD8D-44D3-B9BB-F2E6C51E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76692-360F-459F-9134-8AD60EB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Literals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80459-AADB-44C7-AB83-E5296F02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Examples: 10, 3.14, 'A', true and "Java".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6F184-C0D6-4F5D-96C2-1FC05AFA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17B92-6CEE-47C3-9A9D-B9DC431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CE58E-B9BB-407F-AE6B-CA71104C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1C544-D18F-44EB-B0ED-7A8FECA4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// single-line, /* block */, /** documentation */.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B8D3C-78CF-40F8-9B8C-4CA5072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04076-708E-46EC-B794-5BE7DC34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A7749-D204-48A2-8795-FB072FC3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Separators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4D309-D326-45F2-9752-309C0635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Parentheses, braces, brackets, semicolon, comma and dot.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88C48-CF0F-4591-BDD0-66A81CD9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1A10A-8872-451B-9466-CD1D229C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DF302-F8ED-4833-BA8F-ED16F39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Whitespace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AE803-A8D1-49C8-A203-D2A19EFA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Spaces and line breaks separate tokens but do not change most meanings.</a:t>
            </a:r>
          </a:p>
        </p:txBody>
      </p:sp>
    </p:spTree>
    <p:extLst>
      <p:ext uri="{BB962C8B-B14F-4D97-AF65-F5344CB8AC3E}">
        <p14:creationId xmlns:p14="http://schemas.microsoft.com/office/powerpoint/2010/main" val="75689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C12030-9AFE-4270-93EE-E3BDEBA7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FB494-100D-44CD-9A8B-04401402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Primitive types store simple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4DD5C-26BA-4C7B-AB30-6499BA8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primitive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A3010-F31D-4304-8554-B3D0634B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3AC9F-23F5-42D7-938F-BCDC698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0E15D-BC6A-4C55-8A89-FDFAA5BC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ECC2D-8DE6-4C47-9D20-D0AE397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98F9E-DACD-4779-8D56-CCA0440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8FE97-D1F5-44ED-A828-EDC0F02F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78C69-82B3-45D3-AEBE-3BAFFC34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Primitive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0CDFC-316E-4FFA-A192-15D90B26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15D75-6BFF-407B-91B1-B48FA64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B01C8-8E84-4A95-A1BD-B35C8A4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Integer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01164-CEA3-4F16-9142-BCB0C676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byte, short, int, long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8C97F-F9C9-41B1-8D1B-AED87C43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E0DD0-0B6A-43C1-A1BA-BCDC026C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B9975-63D3-4B55-B696-7E0D957D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Floating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A087D-AD94-443D-B31E-A1B1F3EF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float, double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4ABF2-E271-472B-9DB6-6D47B3D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81F73-5FDA-4C08-92E0-AC191156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52167-791C-4DA6-80CF-310E8A29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Character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C2F6E-B5B1-4941-84D7-40F5EF6F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char uses Unicode.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85608-E1BB-4964-B031-A3DC82D6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2544F-8E84-4DCF-A7F6-7AE1765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B9D0C-65BD-40DC-A6FF-5384748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Boolean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7CEF7-DEF0-402E-B4B3-B1D75CE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true or false only.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1CA8B-7103-4C0A-80AE-EA5C1E3F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B67C0-DADD-4F52-8169-05479DF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03B49F-A0FE-4A96-8036-8A4950F1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9BA98-926E-445B-A593-C8D1C34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Types define ranges.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0A099-A6F1-4C4C-B9DC-9A7B00A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2745D-17F1-4C4C-9BAA-3A2C6929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7D2D1E-9E8F-44B5-B3AC-80A963E3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979664-F4D5-4FF9-86D1-8363DACC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Promotions can occur.</a:t>
            </a:r>
          </a:p>
        </p:txBody>
      </p:sp>
    </p:spTree>
    <p:extLst>
      <p:ext uri="{BB962C8B-B14F-4D97-AF65-F5344CB8AC3E}">
        <p14:creationId xmlns:p14="http://schemas.microsoft.com/office/powerpoint/2010/main" val="21276162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7ADA0-6C9F-448E-9368-0909E7E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1B324-8772-42BD-8EB7-985D9D2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Integer and floating-point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6E4BB-1995-4293-B52D-ACCE5EE1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numeric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BCDA9-EF83-450F-820B-713E9EBF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49708-E46C-45C3-B06D-580A1892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F363F-2830-46CA-8233-9EE4FE5B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8AE7F-AF97-49D9-BB1C-8B9C663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BEFF9-D7B2-4B12-A5DA-5785EC83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5C417-D655-4E40-B1F7-F4DBB2F0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F8AC5-7943-4A16-8E0E-E34C61C0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D8D76-75BF-4F27-A3EE-FCA94F3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E0394-EE30-4C2B-8E26-81E0BCD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C9764-9C23-4C0E-B626-66FD820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B95E0-8366-4A25-8CDE-8DCE4BA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Typical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3DD18-FB32-4D31-B922-29AD9EC4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39BBA-A2E6-4EF5-9443-CD142DCA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Integer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4B38A-199C-4EA6-9AC3-244F19B6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5DDB5-A616-45DE-B440-DAD0EF6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byte, short, int, long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CAD52-6CB4-419E-AB7A-986B2FB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0FF3E-D7E8-4607-89AF-9D759C23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Counts, indexes, exact whole numbers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C7AD8-2600-4322-A2E3-9162FA29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48747-44BC-44F2-87F0-6B6B3F67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Floating 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2DC28-5CCE-417B-A644-FF920A37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05482-3012-4601-89FD-A9F6202D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float, double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BDD61-7247-4680-A0AB-B2F6EF6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3456C-0F2E-472B-8EAE-11B470C3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Fractions, measurements, scientific values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3482C-CAC0-43F6-92F2-4EDA640A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72593-4787-4E3C-81B9-8D30A7DA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Default choices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CBC5C9-D678-4FD4-BFC6-1240DBC5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B3602-3E43-47FF-9C8B-06B69F13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int and double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BE70C-E5B6-42FA-870F-E1491A7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0A02C-F0C9-47E4-959B-7CF66FC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Most common numeric starting point</a:t>
            </a:r>
          </a:p>
        </p:txBody>
      </p:sp>
    </p:spTree>
    <p:extLst>
      <p:ext uri="{BB962C8B-B14F-4D97-AF65-F5344CB8AC3E}">
        <p14:creationId xmlns:p14="http://schemas.microsoft.com/office/powerpoint/2010/main" val="140756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AE602-5D34-4E30-BE84-D59A9E9C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2796D-13D1-4241-A8B4-841AF04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char and boolean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6145B-E737-4A35-8BF5-BE54DAF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nonnumeric primitives.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3CA4C-AEEA-4A7E-84AD-D82A26DB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052B-8403-4DA8-A42A-EB755013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40081-DA1F-42E5-8F28-92A4B6CF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8B5B9-6ED4-4C3E-9388-76333D1B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B8CFB-6D12-49F4-AB9E-9C462E17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AD866-1708-4DAF-82D6-C91C780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C12BB-F11E-41C6-95B7-D71A5FC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5CA51-92DD-4A2E-8DC2-C1FC9EAF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char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C94DC-0C62-413A-8363-41FAD63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Stores a single Unicode character using single quotes.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CB4F5-3B1B-4A8D-8C77-ED3F6D11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DCAE9-C22B-4A55-8BE1-2FE585E5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E0AE2-9A3B-4021-8959-A3064FDD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boolean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45643-97FB-4067-BA6B-1C97E91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Stores only true or false.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3FC9E-1943-4F6A-B7C5-E62BC261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6335A-51A8-4305-BB93-8C1784DC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F9D7A-F4A7-4F32-B615-08696DBF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Not integers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DF9F0-57FC-425B-9853-33B62BAE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Java does not treat boolean as 0 or 1.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6D02F-49E3-4B68-B669-D1347A41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FEEE8-2FBE-4EA8-944D-A5C54826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BD634-ED7F-4770-A17C-B24DFF11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Use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4CB32-420E-4663-8FC6-B7138E46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Characters in text and conditions in control flow.</a:t>
            </a:r>
          </a:p>
        </p:txBody>
      </p:sp>
    </p:spTree>
    <p:extLst>
      <p:ext uri="{BB962C8B-B14F-4D97-AF65-F5344CB8AC3E}">
        <p14:creationId xmlns:p14="http://schemas.microsoft.com/office/powerpoint/2010/main" val="19574128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50931-FE08-4081-9725-C3351D35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2A917-FDF2-4823-92D2-715CEF8A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Variables name memory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20BC8-22B8-4908-A00D-208962F2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declaration and initialization.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864B7-E883-44D1-8B49-32D99F8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8FEF0-D4FA-4C4B-9B79-C1E5538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0B9C3-CAAC-4995-B430-C0619856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F2A8C-B541-4B03-837F-51987F33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6C928-FBB3-4D85-BB2F-E0EECFA8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8F345-3613-44BF-908C-581EB00F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7A183-AD8A-4D9C-BBB2-B0C5958F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count = 10;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double avg = 82.5;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char grade = 'A';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boolean pass = true;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96840-0C18-4C37-A4A2-8641AB92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FE690-B95D-4EC7-89F0-DAF69BD6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73F39-EDD8-4EDA-BB51-0FA62A36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Variable declaration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97A47-36CD-4B59-9A16-BA4F8946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8552155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FDBB8-51EE-4A6C-96E2-6AA40B4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FAEE6-67F3-4B2F-8FD7-6A9BED75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Scope and lifetime follow blocks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C7364-06B3-4FE7-9B58-5277C566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local variable visibility.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ED59D-7BAC-4B84-B85D-79BB10B6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2E2D6-2656-4820-B43D-2D17A23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76602-03D9-42D8-8787-0B906E05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47E87-2126-4FD7-8F37-EB55DC7E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64D5E-EDB2-41AF-B848-D9D7F95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05174-3BE1-421C-B919-AE91C4A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F34D4-BCF1-4FBC-8B3A-04981654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x = 10;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int y = 20;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System.out.println(x + y);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// y is not visible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3448F-3387-4A0B-9E90-802FBED0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0DA01-FABE-4548-BAE5-0B63CDB0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925DE-780B-4897-A75A-CE9D65D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B27DA-AD7F-4C71-A6F5-FFDA9B5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4344110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829D4C-45B3-43D5-B199-61AFFA42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E4982-F212-4C1A-B18F-DCC33F93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Conversion and casting control type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0CD5C-A6D5-4C3B-8B96-B78535AC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automatic and explicit conversion.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9EDB-18E6-4097-B241-238F3AAD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B7DEB-9B17-45F1-AB03-CAD96101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C17B1-D13F-4F7F-AD74-B30C71C7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866C5-203F-49E2-A45A-E60A35B5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E2ABF-1008-4F39-B068-56FB9B35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71ABE-E191-4595-B8E4-AF5545B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07A34-EC52-4844-B9AE-9ACAB1DF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7EA09-D0B7-488D-A6E2-E6CB8DDE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Automatic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B84F1-4CF8-450D-917A-7545E91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96F0C-B343-4BA8-AA21-0B318977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87890-8031-4AC9-9C0E-06558399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D2FFD-3B2C-43C6-A8BD-24EFF422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F5915-1986-4AC1-9C28-8B3D26C1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E1190-9C00-433A-9088-BD286883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F2179-7BBF-4BA8-B540-ABA1CBA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D7C85-9B94-4931-B14E-7D912E28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Widening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5A3ED-C495-49EB-A89A-D5663374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15148-0089-4EC6-BC41-8DB14BA6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36213-BEE6-49CA-8D96-E924B45B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information loss expected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3C296-43A1-45FD-BE52-674F6C27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E6218-02BC-4201-A284-A9CA574D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0D890-F833-4BA6-970C-4F2217E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int to long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C960F-9610-44AD-B265-76BC3F4D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45854-6C28-46E3-839B-D785F577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18D9A-FBE9-4EC2-93EA-63A4A5BC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Done by compiler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5D464-F9E5-4D25-96B9-DEA39051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C84D3-6A3E-49F9-8F89-7979B7DF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D3175-C7FD-4CA1-A5DE-AEA3B795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Explicit request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E65C2D-D669-4C65-AEB7-ABC5451B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27867-0DEB-43B2-9D0D-04709E66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ACB6F2-9253-4CE9-AA48-F1212FF0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May lose information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16B94A-0647-4E99-9841-5A27880B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F763E-1350-41E6-8FB4-AD72629B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0B1A0-9775-411D-AF64-107E4A0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double to 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E7C40C-AD93-4B62-8418-F4E16F06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81437A-736C-4149-8162-2D34C0B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35B99A-DE9D-490D-AD45-5B05722F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Programmer takes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323562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17FF3-F6B3-4ADE-B9EF-E083578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E6ECC-4766-41F7-A4BE-FC70191A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Promotion happens inside expressions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BE68C-805E-4565-AD84-5C9FC1C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expression promotion.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C5A8A-8DA9-4CF5-9CE0-37C3612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A637-B50E-4B0C-9BC0-10D31817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B9B7A-2FBD-420F-A94D-4C56E7C4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48DAD-3107-430F-A9A9-07AC205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0648E-162D-4F06-9C8B-2BCBAD4A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A367F-68E3-4092-8417-2830A235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31723-933D-4AF0-BBDE-C927EE41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Operands chosen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73D15-F323-45DE-98A3-506E5F18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EE04C-D9D9-4835-A1B4-207D6790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5130D-3F0B-45D4-923B-C6C162B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Smaller numeric types promote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3DDD8-E878-4BA2-BAD8-D60B30C1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AED46-0704-4812-A7F1-D5EC737C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FDF01-665A-4C3F-AC0F-6E28C2CF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Expression evaluated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08652-DCF3-4648-984A-8407C25B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EE781-95D9-45F8-B0C4-90A4C6B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6462C-1CAA-44B7-8C96-8BFEA752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Result type decided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34BAF-6132-49A0-A166-62810086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13BB0-AC4B-4848-9669-79BB607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61D99-6957-4677-AD30-2B47491B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Assignment checks compatibility</a:t>
            </a:r>
          </a:p>
        </p:txBody>
      </p:sp>
    </p:spTree>
    <p:extLst>
      <p:ext uri="{BB962C8B-B14F-4D97-AF65-F5344CB8AC3E}">
        <p14:creationId xmlns:p14="http://schemas.microsoft.com/office/powerpoint/2010/main" val="6935713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30457-E262-49B1-9476-E3684A2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A2C90-260B-4E38-8364-14050966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Arrays store indexed collections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25F95-4F1C-4D79-96C4-3CA05E77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arrays.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44683-1C9A-4C8E-AD21-C92E3A4D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3F945-4964-4D27-A5DA-438DD31F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4CA01-DF25-4DD6-966C-35534AA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91847-311D-4E42-B3D3-D66ACB4A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Arrays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F842E-3BC3-452B-95AF-F807E62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7E318-F02A-4FF5-8697-09F2992A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Array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1E776-985A-416C-9BC7-A176FFF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array is a fixed-size collection of values of the same type, accessed by zero-based index.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4C7B9-49E4-45A5-8107-6E6E25E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50452-6C6F-4E37-806B-B2C6493D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Same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2B138-F41A-4E24-AA43-C3846458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2FC46-F788-4464-A2BF-02632D0A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CD727-BA51-4AD7-8DB0-C450DEB8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Fixed length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139A0-1D68-4753-A304-7E6943C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C27D7-B6B1-468A-9D47-681B7F6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589A7-39EE-486E-B03C-494D716C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59747-8E24-4739-AC3E-2CA5E91B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AD092-141B-4381-8F9F-2B431DBE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CB479-E2B2-49F5-96FA-6584B559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length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EBC36-8FCC-4BAF-99D2-3559F813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67219-F42E-47C6-95A0-A7F647A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F3DF7-5EB6-49A1-8859-807039F8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415791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CBA11-9896-40E7-A7F0-18474055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D26AE-13BB-4D24-85E5-1759E6D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One-dimensional arrays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0E258-F218-4814-9C22-BAF9FF56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array declaration and traversal.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B500F-9B5F-4BDD-91F8-8028429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9AB68-BE4F-4A00-BD62-59DC3CE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617E3-5162-40A4-A501-26C05815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6573C-52B3-4073-914F-75DC1349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Arrays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8ABE3-5949-47CD-8118-EC3B0BA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6824E-35C4-4DEE-873A-DA8FFC63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D4394-1E8A-433A-82CE-AC726286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int[] marks = {80, 75, 90};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for (int i = 0; i &lt; marks.length; i++)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System.out.println(marks[i]);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DD43C-B7EF-4AFB-B717-8BBDF518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576B7-662A-4D74-9F49-3AB24396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5E605-15EA-4FCA-BC11-39C2EDA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1D array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D2B67-3DD6-49C5-80B5-C527A45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6905724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B8240-FA5B-469D-B03E-51C1C0D1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EDDAD-D954-4C4A-A15E-1A8569A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Multidimensional arrays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543F2-19E1-4282-AC79-AF87E892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matrix-style arrays.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A5E52-55F0-4908-8D1B-3879F98E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9A3CB-37E8-41B1-9F11-1D102766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352E7-FD97-4304-B5AA-895E7BE9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D2546-1D6F-428B-9375-D7A155E1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Arrays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7BCA4-FCAA-481A-A993-CC788DB3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C2958-2AD9-4DC8-A53E-B4C6EE66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AA98F-4517-4B9F-A3FE-7B9A44B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int[][] a =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{1, 2, 3},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{4, 5, 6}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System.out.println(a[1][2]);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0B016-B9C7-4DEC-8186-E844CFCE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0A634-5B57-4495-B378-D60EC4C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84338-F9FD-413E-A317-798BF313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2D array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9B3BE-EEBC-4326-8EDA-D182671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2966502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535DC6-9DCC-4DCB-904F-843A92BF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1F429-421A-49C7-B0CF-40556E57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Operators build expressions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19898-C807-4C9D-B267-7525BE40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operator categories.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E07E0-20B0-485E-8383-E16BC7CD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5D61D-6EB1-4A60-9A9B-3AA71BA1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77FF3-1EE6-466A-AE2C-1C29EC69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81B28-E00D-49C4-B581-B60088F0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E5222-40E0-4D8F-8E12-085F9CF4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9FA48-9A7B-4483-B0AF-1C24587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2D25F-864C-41B9-A499-6C803C23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Operators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0AFE9-CD1B-40A9-A4C2-D50D521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78298-6DB0-4EAE-A8B7-A013DE42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19083-428D-403E-9626-088C0964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Arithmetic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C8347-B798-42B5-A31C-AD73408C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+ - * /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472DE-5F09-4D33-B4FA-704E905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B160D-BA4C-4858-A02B-A945D184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A2FEC-E89A-47C9-A821-056C847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Relational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B9FF1-7F84-4FBD-8806-FAAD9D7F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&lt; &lt;= &gt; &gt;= == !=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5D096-146E-479F-885B-7B00C1A1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025AB-7A46-4331-84C4-804C4DE8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1F3DA-24C1-4205-9204-08A7C25C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Boolean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89BB8-689C-47AA-8C82-85CD26B8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&amp;&amp; || !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4971B-F38A-4753-ADDA-ED688AF5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F2E20-A6DE-4A85-9867-CC75C4CE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7B879-346B-4808-A835-9FFDFA30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Assignment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B079C-13A7-484F-BE17-600C2A8F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= += -= 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CF18C-006A-4B9E-B937-A54F44AD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82329-8821-4971-8B70-3A01CECE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050F43-4213-4393-9FE1-C64088E4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Ternary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0AFC0-C253-4BD3-9397-A5545863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condition ? a : 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C3D748-93EA-41CD-BCAD-812D1E9F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F0A985-CA2D-48D2-B150-97AD9F62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94C2F-2523-475B-AC4A-6238FB7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Precedence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FF26E-71BC-4F53-A5C0-D0721DB2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Evaluation order.</a:t>
            </a:r>
          </a:p>
        </p:txBody>
      </p:sp>
    </p:spTree>
    <p:extLst>
      <p:ext uri="{BB962C8B-B14F-4D97-AF65-F5344CB8AC3E}">
        <p14:creationId xmlns:p14="http://schemas.microsoft.com/office/powerpoint/2010/main" val="13997520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12C1E-AEFB-4166-B26A-7DB64901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72B5D-09AA-470F-93FC-8276DF81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Arithmetic and relational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EA080-CAD5-46CB-8F68-B7C7DD0B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value and comparison operators.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F9B57-B66B-4256-8F7C-67B27C8D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23F37-C644-482E-B240-EC70726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E4B0A-2EA4-4954-A64E-2D3C488F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D5B00-0276-43D3-A9CF-25C27427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E0256-9547-48BD-AECF-5209C44D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2FE3C-5553-4385-8974-E74F3DA3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B75DD-729E-459A-B0DD-3BAE2F5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033B4-51F8-437E-8E1E-A411C134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Arithmetic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CF935-CB29-43F9-AE90-88EFDA62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Compute numeric results using +, -, *, / and 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C0419-7EAE-4DA3-834B-4ECB526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D2E21-15A6-4BB0-89EB-0AC30C8A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E7AA0-F109-471F-B875-E787917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Increment/decrement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A600E-3FCB-4EEE-B9E4-93D02130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++ and -- change a variable by 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25D62-BCD8-44B7-9502-8D9B88AA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F9A32-88A6-4406-8400-CDD8BFA0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A75EE-D462-4086-9090-D2B5249A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Relational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02E5C-AFCD-4321-AB6B-7CA7DA9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Compare values and produce boolean results.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93CD9-5D05-4E2B-BB0C-D4888635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FEF4A-0254-4E58-A588-CA5E4C3C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0C6BB-CC4A-4A2A-A996-DCDC14C5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55EF8-6D0A-457F-B463-55D5F60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== and != carefully; assignment uses single =.</a:t>
            </a:r>
          </a:p>
        </p:txBody>
      </p:sp>
    </p:spTree>
    <p:extLst>
      <p:ext uri="{BB962C8B-B14F-4D97-AF65-F5344CB8AC3E}">
        <p14:creationId xmlns:p14="http://schemas.microsoft.com/office/powerpoint/2010/main" val="11461309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00BEE-0DD9-4255-9130-54FFEE18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D8C82-16D4-4AD5-82ED-5AC75C3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Boolean logical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64745-2CE0-4610-B47D-E065D63E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logical combination.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22AF5-1CA7-4D42-8CFD-DAC458C6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29F8C-40FA-4F1D-9660-47B9348D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15A58-4E3C-4FB8-B5FE-5DDA0C6C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6147-3440-4560-AB0A-34367CF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FDE30-B242-45C4-9885-2047195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B866C-8F7C-4135-B47A-8710000C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1823F-85B5-431C-B7A9-B59CEFB5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if (age &gt;= 18 &amp;&amp; hasId)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System.out.println("Allowed");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if (marks &lt; 40 || attendance &lt; 75)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System.out.println("Warning");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8F16A-3635-4A3A-ACC5-A0EC6530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6975B-C226-44FF-A2DE-471869BD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7F619-11DF-4183-8AD9-08DC2AF9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Boolean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588E3-0525-455A-B71D-92574C07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203082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07174-A95D-46D8-A6C2-D7D4E094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86CF4-9AB4-41B4-8FBD-78A1901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Assignment and ternary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633A8-D9D4-4D05-8ACC-1D19D526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concise forms.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E56C2-CD03-4095-B60D-079C1DFF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8B43E-0C13-4ED0-A8DC-029F2EB0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C715A-B6FD-4CDB-913E-C1D2A177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71B74-B11C-4A72-A020-CCBD1F9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C277D-1B6A-476B-81FE-77CF2D85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9C4C1-27D6-4567-B87E-7679FEAA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F140C-1EAE-4B00-8F30-7D741AE0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count += 5;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max = (a &gt; b) ? a : b;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status = pass ? "OK" : "Repeat";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26301-FB2E-4DB3-BFC5-4FD3407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98C32-47E7-4239-A469-7684F92E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C6A4D-4E64-4D1F-98DA-89B72C70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Assignment + ternary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0968A-C48E-427C-8C1C-29C452A9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010812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BB13D-2E4A-470B-B7E6-E8C044E3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437CD-B8F4-4895-9995-04561D4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Precedence and parentheses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43296-4299-4AFD-A3D8-6C9CD2E2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evaluation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BDD49-19B3-4221-B675-8935CE77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3D9BE-5FA9-4BB1-927F-605FA0C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FAFC0-6E3D-470A-9651-BDD5472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A1268-286C-4179-BE12-E349A1CA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657A7-78D4-40F7-9C87-51D2FA85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C202E-DDD6-4611-870C-9229DEB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7313A-8330-489D-B9F3-F6E47D61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57698-E329-4E7F-8EBB-0184BFB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Precedence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F998A-5FEA-4719-869E-18296009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Controls which operator binds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A7ECC-D021-4D7B-BA78-5EE11E4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30BC9-67AE-4E6D-ACEF-444ED5DB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0A0B2-E882-46D7-B57C-890BA1D5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Associativity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9E277-8028-40E3-BC08-7C0E2716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Controls direction when precedence is same.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D59A1-976F-4FF9-A15B-EF7136F9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37F15-FF64-4B80-9362-0B86FDE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CFF13-1E95-492A-8617-C1A0B3D3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Parentheses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19B1F-997E-495C-949D-008D693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Make intended order explicit.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DC750-07C5-4FA8-BC3F-50D85C91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167A7-6CD2-40D1-84B8-B56B3045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0DDA8-5E36-4E2A-BBA3-3659172A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Best practice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07CB1-7CEF-4C79-974B-206F55E2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parentheses when readability improves.</a:t>
            </a:r>
          </a:p>
        </p:txBody>
      </p:sp>
    </p:spTree>
    <p:extLst>
      <p:ext uri="{BB962C8B-B14F-4D97-AF65-F5344CB8AC3E}">
        <p14:creationId xmlns:p14="http://schemas.microsoft.com/office/powerpoint/2010/main" val="15632093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A0C0C-F832-4F72-A55D-66B2AEE7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5ACF9-1645-4DCF-86B9-30A270F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Selection statements choose a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32AFB-D991-49DA-8EEA-D3ECCE6F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if and switch.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E1A7C-E2CF-4CF2-AE9B-28E5BC3F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B0369-D1D0-4447-AE5A-6CE97BF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DCC16-68BC-4735-BAE5-3384DBFB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BB88E-C561-4AC5-ACFF-82AAA8CF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C87FC-BC70-4FFC-987A-FA7496C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9DDF5-C14E-4958-B9E9-F26FE6E9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57810-C666-45DD-96A3-06877DEE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46533-BCA1-4617-BECD-0CAC6F16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F442F-1B7F-4B72-AE35-B9277D8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A679A-E32B-45AF-BB2E-18B59BC0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true branch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81C11-988E-4C92-A1E5-F98CF8E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1234C-5050-4577-BC3B-BE36484F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986FC-A0CE-4110-85B5-0E9EE1D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false/default branch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76180-0BD4-45BE-B1EB-E06EADA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31B60-F688-43AD-8C9F-A50A9AD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2B291-B6F9-4E7B-9BE7-05030F1B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statement 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AA013-A5B7-4490-9594-C562EABF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54255-CF14-45B1-B510-8B99F948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B6F98-5A3A-4D22-8323-A78827ED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continue program</a:t>
            </a:r>
          </a:p>
        </p:txBody>
      </p:sp>
    </p:spTree>
    <p:extLst>
      <p:ext uri="{BB962C8B-B14F-4D97-AF65-F5344CB8AC3E}">
        <p14:creationId xmlns:p14="http://schemas.microsoft.com/office/powerpoint/2010/main" val="10665512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C0879-18E9-4BC2-947C-3F94DB41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ECBEB-9EBB-4FF8-9D8C-45FAC8C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if and nested if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84914-DC39-47A6-9AD5-63EE43DF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branch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EE04A-988F-489E-9CB1-0014E8BD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4EBB0-E6AC-4817-814F-499D3B36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74099-CFC1-4404-8112-C7243FC8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81BDC-14D2-4E02-9C63-32201659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60612-874C-407D-9724-3B030F7F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15D6C-027E-42E6-968D-D16FB192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07A0B-1446-4696-AD97-A207196A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if (score &gt;= 90)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grade = 'A';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else if (score &gt;= 75)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grade = 'B';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 else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grade = 'C';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FD8AF-14CB-445A-9779-3FD1521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67F21-A0DD-467E-8ED4-D8E36270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73189-7189-460E-85D0-03C4958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if / else-if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A26B4-CAAA-48E2-9354-4232FDEE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3373563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9431F-92AB-405B-B6AA-C4528463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09A6E-2102-4AF3-940A-6E42141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Traditional switch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54350-AB4A-4EDD-AC32-030A25E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multi-way selection.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B88AD-0524-42C3-AD87-228C3B3A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85320-7421-48F4-849C-5AC0A663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0C9FC-E41B-4CE7-BF21-1FBF0575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E50A6-BE89-43CF-A820-225240A3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AA891-FDCB-4231-A459-607FA3A9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106CC-0A01-4DC5-A033-6B71E29D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47B86-28C0-4A28-AB83-0A88C871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switch (choice)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case 1: System.out.println("Add"); break;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case 2: System.out.println("Delete"); break;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default: System.out.println("Invalid");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02A19-0F75-4C1B-B050-7C399B7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32243-E0CD-46FF-A004-1B18EBE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3F403-BF8F-4809-B885-EEA85523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switch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5A33D-7501-4B45-82EE-F9C21862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8227551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47343-93C0-4A92-8EDD-DF41AC4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91A70-9F39-4B9B-8B11-C4C496BA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Loops repeat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11791-6887-4FE5-89CE-088D58CC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loop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A7BDF-9712-45FA-940D-037F1635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F9FC6-F82A-4F5A-9427-59C1C586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A0788-B40F-488E-86D9-DD221DE0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93FA8-4512-4541-9DF4-D2CF51A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9CFBC-7128-4398-8FC4-69433478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21784-71D3-46A9-92B4-F6FFC137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C50FB-DF8F-4CC4-8685-2FEAA9F1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BE119-CA63-4B8B-B8EB-B84CBEB2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while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6742-8620-48A1-95EF-4AD305DC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Checks condition before each iteration.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BB861-B6DF-4BDC-98A6-0CC0154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1640B-0127-4EF0-AC97-06FBCCE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4E0F7-0A92-4ABB-9DD4-A93B1D0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do-while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09A5E-0536-477A-B758-8E678333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Runs body at least once.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E7503-7BE6-4B02-A6E8-4AA81368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610F3-E324-41A2-938E-C2F1BCB3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00B5A-A9DA-4E7B-8727-58FE0ED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for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9385F-C3B5-4F12-86E1-A2EC1C20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Compact initialization, condition and update.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C5AC6-098F-4237-9878-326811E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D8B59-0FCD-4FB6-ADE4-E50850B2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38D6A-39E8-41BF-8CCB-6630D4F8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for-each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5ADCE-9BEE-4DFC-8351-909AB3C8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Simpler traversal of arrays and iterable collections.</a:t>
            </a:r>
          </a:p>
        </p:txBody>
      </p:sp>
    </p:spTree>
    <p:extLst>
      <p:ext uri="{BB962C8B-B14F-4D97-AF65-F5344CB8AC3E}">
        <p14:creationId xmlns:p14="http://schemas.microsoft.com/office/powerpoint/2010/main" val="2974011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921E9-89EE-41BD-882B-2352867F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8E7F0-8A56-45D0-BDBC-AF85B5F9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for and for-each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E54EA-ADD9-4C23-AFE2-A90E8B37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count loop and traversal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B5E92-6327-4B06-8D73-0C6F3752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A2EAA-D537-408A-AD49-2B0F5BF9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821C4-1F28-4798-B806-42D61DF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40E0A-8D76-4318-82E5-78A46F9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0F220-A017-474D-8CF2-F52D3FC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02778-9BF0-47A0-971B-DDC96FC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0869B-E7A0-4B39-ABEA-21E5A166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for (int i = 0; i &lt; 5; i++)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System.out.println(i);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for (int mark : marks)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total += mark;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9A7C3-7D92-4F7A-81F3-A7FBFCD5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0ABF3-610C-4067-B266-BD9DC11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7A433-69A5-4434-905C-03AC56B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Loop patterns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9DA63-EF98-4711-90BC-C187F970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9488079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B533A-C6B4-496F-9141-412423F7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74129-EA70-42E1-AA9E-206EE0EB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Nested loops handle grids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021A7-EE3E-4CD6-AE9B-039626E9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loops to matrix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FE873-2AA3-452B-A77E-672A5017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C6CE8-6216-4EAE-B6CD-E7FF8C57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45B29-051C-4EAC-A0A8-59345DD9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923D9-4E96-4F44-835D-877A18FB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BB433-C746-44AA-84AF-AC8CFE33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6E363-B216-4DD5-8E0A-94D5B7FD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CF926-364F-494B-93AA-E01A65D8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for (int i = 0; i &lt; rows; i++)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for (int j = 0; j &lt; cols; j++) {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    c[i][j] = a[i][j] + b[i][j];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    }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C7DD1-07E6-4421-9678-16EABB3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56C11-F373-43F0-A9A7-DA9E3A12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6F293-5CD1-45C3-94E7-E9C555FE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Nested loops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695A9-7430-41D8-89B5-4587EC6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8931098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D6E91-3630-438E-9EB1-E77A0849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71E36-DC03-4BD5-A587-1C851305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Jump statements alter normal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C72D2-A122-4F60-B459-7D411850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break, continue and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59CC1-5DC2-4D07-86E1-2E00B9B8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E760F-717E-404E-8D3E-CC70C77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C094A-4BB8-498D-9C6C-86BCA0B1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10BEE-6061-4951-9D0D-C63EC8F9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341F2-DBAE-433B-9DCB-BE7D1DD2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2C9E7-BF08-4696-99C5-2E3B94C5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51FEA-881C-4129-8ADE-3A6927E1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21E66-C346-4D3A-BF88-76913D1C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break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2D388-C2A8-4AC0-8347-BEE4C259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Exit loop or switch.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386BA-9B0E-4AE0-8294-3920D97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97C2F-6417-41F5-B624-FA16996D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0C4E3-4BB9-41F0-826D-CC5D794E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continue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C2186-1C10-4307-B855-E95C124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Skip to next loop iteration.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05726-2C52-4265-A978-3E933480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DEC04-BCB8-4349-9902-6DFD86B2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68BD1-2641-4607-A9A3-33E60D8C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11400-F452-4956-A6D6-C5C94779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Exit a method, optionally returning a value.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644A9-4B01-4FC7-9F02-4E979D6E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CDEA5-CD9C-4365-8EC5-66E555FE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4ACA4-F683-4963-8497-2095F26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Use carefully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1834A-1C5A-468E-B94B-65607F07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Too many jumps can make code harder to trace.</a:t>
            </a:r>
          </a:p>
        </p:txBody>
      </p:sp>
    </p:spTree>
    <p:extLst>
      <p:ext uri="{BB962C8B-B14F-4D97-AF65-F5344CB8AC3E}">
        <p14:creationId xmlns:p14="http://schemas.microsoft.com/office/powerpoint/2010/main" val="20454402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E2E14-A6DA-4109-8D5B-4E92D4D2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3609A-AFC8-43AE-A917-B69EC81A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1 lab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DD4CC-F7AC-4869-A6B7-A100B9FF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Map fundamentals to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E4B2F-200C-48EC-8E3E-08BEBCE5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00AD-01F6-473E-8248-9A722DD3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605E5-0F61-4221-8474-7E348F8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81A55-F7F6-4BA9-B5E0-487E0F9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AE5CE-4D0C-4D12-96D7-59E3A04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3CC90-1EFA-4795-A420-96D9FBF4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FD857-15C6-4BEE-AD6E-B6E70ED5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0CF47-671E-4AB7-8F9E-2FA13B7D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Matrix addition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DC393-CE2E-4E7F-800E-352BEDEC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Uses arrays, nested loops and arithmetic operators.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C0484-1EC7-4C49-936A-DBD6C93C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6997B-B575-47F1-8978-BCC02A8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22901-0355-49D5-B601-3A921345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Input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51FF2-03EE-4537-A174-6D3F1D54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Uses if/switch and boolean conditions.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42A1E-2D80-4E50-BEBE-A38F0438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D0177-CF3E-4595-89BF-D3103670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9125B-0480-4F29-B8D4-BB548639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Debugging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C1005-0748-47C7-ABB9-D7E50CF0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Trace variables, indexes and loop bounds.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470F8-30B0-4858-85E8-A802DC1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BDF5C-FB0A-4D8D-AED9-65C6D11C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0FD38-66FE-4677-A58E-BA4849F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Common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2C947-D3C2-4987-A49A-4B763567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ArrayIndexOutOfBoundsException from wrong index.</a:t>
            </a:r>
          </a:p>
        </p:txBody>
      </p:sp>
    </p:spTree>
    <p:extLst>
      <p:ext uri="{BB962C8B-B14F-4D97-AF65-F5344CB8AC3E}">
        <p14:creationId xmlns:p14="http://schemas.microsoft.com/office/powerpoint/2010/main" val="66705545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0C1A5-8A01-4637-AB1A-30A0C2FF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58DAF-EE3A-4A17-B29A-D6BDBAE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OOP helps student programs grow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9366A-6BDF-443A-AF19-33E6F9B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practical need for OOP before syntax.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6E78C-D034-4658-B82D-119391C5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48091-2D32-4014-96A4-B27C65D2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F71E-0055-4935-B28C-AA8439F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E92F2-1C86-4DA9-902A-190C34BD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OOP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63673-544F-4181-A014-9E168F6C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CAB19-6AB4-48F5-B719-E3E94F6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92816-1170-4ECD-ACAE-2A039163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F04A4-244E-4BC2-A82B-6F2D91A0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Without objects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D4CD2-67F0-4DE4-BFA8-CDBE900A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marks program may scatter names, USNs, totals and grades across separate arrays.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15952-BBCA-4F7B-ADC5-70582200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33440-F741-4B97-B74D-487B7435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F9AF7-3AF4-4132-8C31-F76ABE71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With objects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E5690-E64D-4B23-A33F-6190BBA4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Student object can keep related data and behavior together.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BD3CE-735A-45CB-9ECB-A0B2B153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08E76-ABD2-4472-A1E4-11530065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56F40-9F52-4F68-A9EB-FCE590A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3E64C-4AB4-4389-B049-A1C904E7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Changing one concept is easier when its data and methods are grouped.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29524-7793-4431-B2E2-9B655231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8B119-0553-4234-A86E-3DC547D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9AA4C-101C-4507-B01B-88E4956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Exam idea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46DF8-5C1C-46E1-8FB4-A7704FC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OOP reduces complexity through abstraction and encapsulation.</a:t>
            </a:r>
          </a:p>
        </p:txBody>
      </p:sp>
    </p:spTree>
    <p:extLst>
      <p:ext uri="{BB962C8B-B14F-4D97-AF65-F5344CB8AC3E}">
        <p14:creationId xmlns:p14="http://schemas.microsoft.com/office/powerpoint/2010/main" val="13209298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79ED9-889A-43A6-B627-0DC060D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A6657-3E1F-45E0-B25F-956D240B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the Java compiler reads a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B08D9-F2E7-48EB-A874-E65829A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source code becomes executable bytecode.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F79B3-F530-4D72-AB7D-697D437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8DEE2-0F91-4B67-9762-AA9519F4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9C5E8-A048-4B09-8057-71550C16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EAB17-97F4-4B1C-9BC2-A0FC173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Syntax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CFCA6-ECC7-457C-BA2D-DCD05570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A2DA4-2662-4FD6-A4B4-91D75C99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D567D-1A67-4A79-A4D6-9A5FF820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 .java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434B4-23BB-40C4-99DA-93DD7E40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4F62D-9328-4089-B5AE-12F7B393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EAAFC-0A01-4A4C-BB5F-261531E2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Compiler tokenizes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BBF25-C926-4B60-973C-DD13B7BC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B45C9-C237-43CF-BC9D-E2D8FA68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EF54A-54B6-4D82-B064-A12DBDC8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javac checks syntax/types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BFFA6-3E55-42F5-9867-12307FE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2F5E7-6167-4396-81A6-B16373E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629BE-B824-4B26-B59C-17DF0D38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Bytecode .class created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6E72B-6843-4AFB-A3D4-C53A1A4F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0C841-DEE5-42CA-8CB1-E836D6E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D9C21-A33E-415C-8A24-DFA874C2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JVM runs bytecode</a:t>
            </a:r>
          </a:p>
        </p:txBody>
      </p:sp>
    </p:spTree>
    <p:extLst>
      <p:ext uri="{BB962C8B-B14F-4D97-AF65-F5344CB8AC3E}">
        <p14:creationId xmlns:p14="http://schemas.microsoft.com/office/powerpoint/2010/main" val="53156042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5D89A-ABD5-42C2-BCF3-A5C337A7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BB4A7-FD4F-4A3A-BE1D-967EBAB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Choosing the right primitive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3C59F-C6B5-455C-8A4E-010EAC09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student-friendly type selection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07763-1DCE-4C32-A134-8F750E55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FD1B1-675F-4E3E-AA76-61E35F45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C59C8-E698-49E4-AB8A-5BD05CBB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D6A27-0EC8-43FC-A816-56A737F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A3F56-1A59-4605-96BE-981AB352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9F947-C1C8-4872-9E59-991ABAA2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58D12-63A2-4C8C-96EE-E536620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CCE25-356A-4014-BEFC-2AD50DA1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05BB2-FC85-42DC-AD92-93BFBA0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Default choice for whole-number counters, indexes and marks.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7AF5C-11D9-4EF0-860D-2DC0AE2B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E2B25-0A4F-48D4-9458-D84949EB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C741C-7B66-4A37-8D27-16D54F63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CACA0-8380-4CB7-BFC6-73C6F95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Default choice for decimal calculations such as average.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631CC-509D-499C-9E3D-6A740BBB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6BB42-45F6-47F4-8774-AE5533FB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7AC48-7D73-45B8-A687-BEC109B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char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32D72-AED8-49B7-9292-FDC70014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for one character such as grade.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E9054-1A78-45F3-9610-9BFDED89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CCF84-94D4-492B-91AE-9EF8E3A7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35D3E-77AA-4075-BBAB-8978A14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boolean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EFB11-4B47-4967-843E-6ADD5006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 when the answer is yes/no or true/false.</a:t>
            </a:r>
          </a:p>
        </p:txBody>
      </p:sp>
    </p:spTree>
    <p:extLst>
      <p:ext uri="{BB962C8B-B14F-4D97-AF65-F5344CB8AC3E}">
        <p14:creationId xmlns:p14="http://schemas.microsoft.com/office/powerpoint/2010/main" val="16229272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FEE50-EEAF-49E0-976E-8B93D24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173C6-F5F6-4FE3-86EF-FCBD879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example: marks total and average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2B547-27F5-49F1-B852-65C0F75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primitive types with arithmetic.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D4CE8-67D9-438D-82C4-BDC5FF33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82F54-1C85-43BA-BE1F-0F43C4A1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5A357-446D-4D17-90E6-F8662FE3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B9CB3-8598-42C6-A140-2E75B706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6B203-FAAE-4F98-B7D4-4F709BF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EF030-78E9-449F-9C62-FBC44D8F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E7F88-BFED-4C25-95D9-FD0A85BA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m1 = 78, m2 = 84, m3 = 91;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total = m1 + m2 + m3;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double avg = total / 3.0;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boolean distinction = avg &gt;= 75;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System.out.println(total);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System.out.println(avg);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9F11A-738C-4245-A066-8A208222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2480A-3398-4B15-9A85-F3BEC0B5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1AF25-9BF6-4A42-AF08-62CFB247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Worked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9E62F-228A-46D0-852E-E35A3D99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9238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5E163-961E-435D-B185-391B14A1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5B3CB-0581-459B-9BE2-79526F4E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Casting can lose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7D749-D4CB-449F-BC54-28AC81B8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narrowing conversion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791EB-D91B-4B68-8C48-005C68D9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DFE04-8D2A-4C0A-9094-7FF205D0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D269E-D6E4-4028-AF22-9B3BAC9E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D01FC-0238-453A-A7C8-937E9BF5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1EB16-AB7A-4C08-82E4-87E06FC7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C5779-98AA-44BF-9C82-8DE4DDF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49258-4A81-4EF6-B51F-557F7DE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double value = 98.75;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roundedDown = (int) value;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System.out.println(roundedDown); // 98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BD965-76C8-4FBE-B102-D1F24A8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66A5A-9797-4D51-B81E-CA7CDD86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63D8E-C571-4298-956B-424C670D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Casting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8C2D9-6A48-4947-9650-BF031F4E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1615592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710B3-320D-4471-8082-79E2206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6C288-9B58-40D9-9BF8-E99B71F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Array memory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D096C-0514-4C8A-B576-95B3BB94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indexes using a visual mental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5CC56-D826-4FDC-9A07-582FE29B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7F71C-F6BA-4717-8B01-76B13FDC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E3955-2B41-4510-AA3B-726A8F3F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1350E-78B9-4E16-92E5-857DDC43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Arrays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CCB6E-F779-430E-8905-0128BDCC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3806F-8B79-43B0-B4D1-46A447BC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1A4DE-050D-43C6-8CF6-5AAA7D0D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367D-BC97-487C-98D5-43D2931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78D6F-17CB-4A9F-8DB4-817A9EF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9E5A1-6A13-408B-9527-91278C2F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marks[0]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929D1-D9A4-4A49-8C84-6876402E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617CB-C14F-4B6C-8490-D161C96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5B51E-362D-4EFB-946D-A04BF643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marks[1]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5ADEE-F2D2-4F92-9719-1D50298D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DDF59-2A28-41B9-974E-52DCB948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1AB19-071B-42C0-8741-AADED89B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marks[2]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56EB6-82EC-49EF-A2CA-1F80AFD9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8ED0F-4FA8-4BE9-92D1-5AE3F63D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50531-A425-4314-9175-09160C4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marks.length = 3</a:t>
            </a:r>
          </a:p>
        </p:txBody>
      </p:sp>
    </p:spTree>
    <p:extLst>
      <p:ext uri="{BB962C8B-B14F-4D97-AF65-F5344CB8AC3E}">
        <p14:creationId xmlns:p14="http://schemas.microsoft.com/office/powerpoint/2010/main" val="7322245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1F02A-90FA-445D-8064-0F8E972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62096-D2A1-49B2-92EC-DF91D482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array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51549-89F3-44E5-AC2A-9D233873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beginner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04A0B-F748-4614-B0C8-55A7D4F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0FC8E-292C-4169-90F9-A9E9DCCF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31DD2-BB79-4FD8-A25C-FACC1C27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057E0-103F-4CA8-8713-097CB1F1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Arrays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9B145-832D-4F28-BA43-C7C206B6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76A6-2BAF-42E3-A908-D212C5F2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33A7C-8B94-47BB-9332-1F8348D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C36ED-B332-48B6-A8F2-1A550A1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Using index equal to length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A3542-A6A7-4AC2-BE44-18547469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05730-41B9-4C63-A7B7-EA49A55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858E4-8574-44DB-B1EF-D365B33D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Forgetting arrays are fixed-size after creation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F73C1-E7A8-4C88-A9E3-774A2261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86E89-9940-45F5-B6FC-A055374B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BC850-B629-45F5-B9F7-A34A5237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Mixing row and column indexes in 2D arrays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C8F1D-703D-4D2A-9068-15788A27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5F441-39F5-40A3-851D-C3BF5B3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E9A33-5295-4843-9ADF-7E8B09F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Assuming for-each gives the 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5924E-1905-499B-B906-BD79648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01EB2-12C8-4065-9E3F-73FFC191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A7FCF-72F8-49F7-B1D9-E36D8165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Printing array reference instead of elements</a:t>
            </a:r>
          </a:p>
        </p:txBody>
      </p:sp>
    </p:spTree>
    <p:extLst>
      <p:ext uri="{BB962C8B-B14F-4D97-AF65-F5344CB8AC3E}">
        <p14:creationId xmlns:p14="http://schemas.microsoft.com/office/powerpoint/2010/main" val="94738334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AAFB3-EAAF-47F3-B8DF-54250690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9CAB-4ABF-42A9-8A3A-61026A5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Predict the output: precedence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DCCB4-410E-4EBD-9797-221AB10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Train output tracing.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6A2B6-8585-4775-94E7-E8FDFCE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6DE91-DEF3-41C8-B218-D530002F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BDBA1-A9E3-4667-92EE-9B80D61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88AF-1B69-421D-977F-F9C4F98E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26911-AFCE-4D3A-B0DD-795ED245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E9781-3D7C-46F1-881F-D94C9C1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2390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F4124-D6AB-4BD6-8E58-E4073488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66675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a = 2 + 3 * 4;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int b = (2 + 3) * 4;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boolean c = a &lt; b &amp;&amp; b == 20;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System.out.println(a);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System.out.println(b);</a:t>
            </a:r>
          </a:p>
          <a:p xmlns:a="http://schemas.openxmlformats.org/drawingml/2006/main">
            <a:pPr>
              <a:defRPr sz="1425">
                <a:solidFill>
                  <a:srgbClr val="FFBF69"/>
                </a:solidFill>
              </a:defRPr>
            </a:pPr>
            <a:r>
              <a:rPr sz="1425">
                <a:solidFill>
                  <a:srgbClr val="FFBF69"/>
                </a:solidFill>
              </a:rPr>
              <a:t>System.out.println(c);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E4743-513C-4A27-904E-0C9D2C78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0B178-5BE9-45EA-9DAF-2B131AA0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A0E9B-C3D6-4315-B25C-DAA4E54C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Output tracing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E088C-6BF1-4559-B6DB-B4BE03CB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code by finding the declaration, the key Java keyword, the runtime action, and the output or object state.</a:t>
            </a:r>
          </a:p>
        </p:txBody>
      </p:sp>
    </p:spTree>
    <p:extLst>
      <p:ext uri="{BB962C8B-B14F-4D97-AF65-F5344CB8AC3E}">
        <p14:creationId xmlns:p14="http://schemas.microsoft.com/office/powerpoint/2010/main" val="212910152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F248D0-5FC8-45F8-8D1E-7FB8BA03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FC445-B559-4A7B-BF2B-437B5D8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Choosing the correct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94054-F4DA-424A-97B7-F0A4487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Help students select loop forms.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0413E-6AAA-42A3-B164-38FBD15D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B1F56-FCEB-4CF6-B986-5EB53E80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79F7E-D7C0-4D84-AF21-E798443E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0FEF2-6828-4AFB-B059-6F6AAD3E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7B628-B879-4843-88B4-377E1CD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2D75-560E-4CC7-A322-0D29DA68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B4A7F-5E59-441A-8E12-ED48B860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Situation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70277-6BBA-4775-B872-D35F8ED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9940-D310-4A1C-9AE3-97EE8F5E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Best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85C5A-9610-4025-BC49-2887D9E2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715C5-74D3-4B58-B71A-3795110B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2B787-836A-41CD-A72D-4DC1624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A0B3C-93E6-4751-93F3-65C545CD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Repeat while condition is true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10093-9E8C-45CA-9EC2-E1CB5188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F5400-4E1C-43FC-B413-45312F0E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2C455-10A3-4568-BC9B-9A6A0D96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CF72E-32D9-4EA9-8063-17E2E35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Condition controls continuation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91AF6-0959-45EB-8DED-FDD81521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FB0CD-A690-48DB-8511-6841D359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Menu must run once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3A4B1-2A7C-4F65-B447-95425A3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BA89B-5759-4EEA-8CCC-F60BC494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do-while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B1457-76E0-4263-8ECA-710377F1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50424-8EE2-40D9-9F4A-78A99D3C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Body executes before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4AF250-08FE-4E1A-9C79-28AB73C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F5A76-837A-45C8-92E1-1F6F987B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Known count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57C13-4825-4A70-8B57-2955B06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A7DF3-AC69-4D98-B2F9-6F61B72A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for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A0518A-ECFD-435F-8837-FD643D3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E18B29-A596-4BA5-81D3-88326AA9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Counter logic stays together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3C9BA-CFB0-46D2-B950-687B6DFC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2EB567-A933-4EFC-9EE0-7B2FB495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Visit every array value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57F240-49C1-4116-A4D2-F471FF34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9528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A3A8F3-65BB-4367-B55B-41EE826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0481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for-each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443572-4D57-4340-8EB7-15A34A9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9528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CF2461-A105-4BE5-9323-FB03DE7B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40481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Cleaner traversal</a:t>
            </a:r>
          </a:p>
        </p:txBody>
      </p:sp>
    </p:spTree>
    <p:extLst>
      <p:ext uri="{BB962C8B-B14F-4D97-AF65-F5344CB8AC3E}">
        <p14:creationId xmlns:p14="http://schemas.microsoft.com/office/powerpoint/2010/main" val="171197932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C0EDC-8024-4271-95B9-5604495C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DFB61-3124-4F12-9276-E2E9425A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Trace nested loops slowly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50009-8964-4FE5-A401-DBD2509F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how nested loops execute.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FA829-7DEA-482C-BAF9-A8C2117D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4A269-F420-409E-9C45-45A9D2F5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37CA4-22CD-4F2B-BA8B-3D1354ED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C6E59-0D99-4A19-A21F-9918B21B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6FE7F-F41F-44B2-9814-BA49D2F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710C4-3169-4C83-9D01-2D684C3E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F818C-06CA-4D8F-A4C6-441FDD2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Outer i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CA5F7-E9A4-4032-AE5C-6675845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33D6E-36AA-4392-9A14-59B3E9B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961DD-9C95-4ECA-9164-2C3D4AD8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Inner j runs fully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34D79-5DF8-45AA-9EF8-937746A1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2C174-77BB-4100-80E5-6159EA4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71B46-E5D6-4E65-AC7B-1DD3EB0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Outer i increments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30428-F46C-4AF1-AADB-4F5F49A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38263-1672-4500-AC44-6CD7B741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CEA81-76BA-49C3-B269-7A200D1D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Inner j runs again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A68E5-6007-4527-8DA9-F7B9A3B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A20C2-086D-4D49-800F-F445C4B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0779B-9674-495A-89B9-1255A426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All cells processed</a:t>
            </a:r>
          </a:p>
        </p:txBody>
      </p:sp>
    </p:spTree>
    <p:extLst>
      <p:ext uri="{BB962C8B-B14F-4D97-AF65-F5344CB8AC3E}">
        <p14:creationId xmlns:p14="http://schemas.microsoft.com/office/powerpoint/2010/main" val="8026168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F0AAA-8445-4D69-8121-6A65D28B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47707-6B40-4826-B5CE-DE8A117F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control-flow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16573-B07F-4DD1-A718-76EA1850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misconceptions.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04ACB-B0D1-4A77-A90F-BF07442A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3D9D9-5D6F-4E0F-9742-91919038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A26DB-63BF-43A4-B79E-E9352253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924B6-5D00-472D-9500-5DA67CD9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78E10-E06E-42A3-9D8F-A77E2A29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F20BE-2A2F-40A8-BF03-A52D9A2D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DBE7-09BB-4FC8-9BF0-7E6EBD73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E7D06-BCFC-4D51-8E75-656EABAF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Putting semicolon immediately after if or loop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48C49-6D44-4811-A38F-21889835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18D43-09ED-4AE5-BFBA-2AE48F37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7D92A-3C14-4E0B-9C61-D62A71D1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Forgetting break in traditional switch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AA46C-C894-432D-9086-5862D168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5CF54-1913-4F1E-B252-8BA1F08A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FCB92-2A1D-40A9-93CB-5A70B72A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Writing infinite loops accidentally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ACB63-87E6-4E6B-86FC-9ADB284E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D9373-A287-4D33-83B5-C6BEE196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B6C97-649D-40F7-8541-341A9E5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Using continue when break is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48FE2-C456-4DA9-B8D4-CE5F86D4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71BDF-3493-47FD-804A-1789B1E4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B316B-E704-4093-9C98-5F6CD1E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Returning too early from a method</a:t>
            </a:r>
          </a:p>
        </p:txBody>
      </p:sp>
    </p:spTree>
    <p:extLst>
      <p:ext uri="{BB962C8B-B14F-4D97-AF65-F5344CB8AC3E}">
        <p14:creationId xmlns:p14="http://schemas.microsoft.com/office/powerpoint/2010/main" val="211200236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17B1C-DA06-4227-B7C9-88366232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7EEEA-FE28-420D-B329-C3F827CF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lab plan: matrix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05AAE-10C3-47AB-A4AB-FF8B90FB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Break the lab program into teachable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22CC0-7E80-4082-86F6-5920127F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EA38D-86D8-4918-971D-01F489E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47FEF-3447-4987-BA44-4305185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4FA14-6581-4350-8F00-984A6818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Lab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A8FF4-807D-46B4-915C-63BD8F16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BD750-59D8-4B74-8DFC-1AFC6A64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4643D-B8B9-48D1-989A-9CD30DF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 order 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EC532-65CF-4FC0-B757-A40CB9F8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DE97B-BEBC-4AB0-B5A4-A144D3D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50722-0686-4F02-8943-5D380DC6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Declare A, B,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11E50-CAA6-47D9-8955-79FBF0AC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433DD-6096-4314-B264-4599379B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3A234-8B48-4CDB-8DFC-548C9586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 matrix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19F5C-5011-4EF0-A38A-692F682B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1E1D4-8290-4270-A007-FBFAD6A0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3EA5F-744F-4FE8-914E-B3E9C364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Use nested loops to add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39FE3-F24B-4C3F-958F-A1456151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3A218-87B3-4039-9E4A-71074A2E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5489E-4F39-45FF-A8DA-52A04C42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Print result matrix</a:t>
            </a:r>
          </a:p>
        </p:txBody>
      </p:sp>
    </p:spTree>
    <p:extLst>
      <p:ext uri="{BB962C8B-B14F-4D97-AF65-F5344CB8AC3E}">
        <p14:creationId xmlns:p14="http://schemas.microsoft.com/office/powerpoint/2010/main" val="144860809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48503A-7742-4E0E-B9A6-6CF3C2D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B8474-A95C-42DD-B619-63D60339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1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A10E1-62D1-4C52-962A-9C9CC6EF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25ACF-8C71-49BA-A27C-0E42F319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8C07D-937E-4CB2-A849-F005F49B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0CC75-5804-449A-BADE-013F8EBB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33103-3A08-4496-9EBC-95845F8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78159-522E-4702-9A45-1492918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C777E-B4C9-4043-83A5-E00C8314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0DE99-B671-40C2-BD39-577EDCAC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21B7E-F8B9-4077-BC63-563AF4E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F39D6-8AD7-4E78-8A2F-6FC13041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D687C-EB0B-417A-971A-F99E77B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791E5-1132-4165-9FEE-36FA6CC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Abstraction and principles.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12F73-29BC-4A1F-96E2-32782EA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6F49E-5CC6-41D9-85D7-C7EF9EA8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CBA30-17A5-4432-8B8B-A723F3ED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Lexical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4F3D0-8911-4B33-B97A-34CB205C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Tokens and keywords.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F3742-80C2-4574-AB85-324F61EB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D2C76-ED0F-4511-9F06-C9A19EF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2217A-D1C8-4C4B-BCA8-91C5EC74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Types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5B170-8DB0-46EF-873E-D18486B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Primitive values.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A621AC-38E8-4604-9C49-4AEBFD78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42752-4752-4808-BDB0-0D65AE78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F6C4E-0387-4CFF-8941-5D3CCF0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Arrays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BBFFE-9FE2-47DF-B66D-4CFBBC1F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Indexed collections.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BB2DA-8E4A-4151-B275-BDF371A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FBD2B-940B-46BD-8066-1B9720DC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FC499B-5F8C-47AC-AF41-1FBEE11C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Operators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7D2675-855F-44C6-9E4F-B7C8CCE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Expressions.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BA449D-ECCC-4E5C-8FB5-E2620350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76FA05-603F-4744-B16B-B5EFE007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EE7528-041E-47E5-8B97-E581EA11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54F9DF-8D72-4E7A-8AD8-19F092D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Branches and loops.</a:t>
            </a:r>
          </a:p>
        </p:txBody>
      </p:sp>
    </p:spTree>
    <p:extLst>
      <p:ext uri="{BB962C8B-B14F-4D97-AF65-F5344CB8AC3E}">
        <p14:creationId xmlns:p14="http://schemas.microsoft.com/office/powerpoint/2010/main" val="50536049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E4AF4-79E4-4CD6-9593-A9E0218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3EB91-C6BC-4F05-A7AE-FBE05DB0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Viva and exam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B2D7B-8132-4ACC-8B2B-79CD6D4E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43366-F774-4E01-9B2A-975F6590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D98CF-4646-4A27-B0C8-C21D275C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8A369-39B6-44F4-9E82-75E9013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AEEA3-C8DD-4ACB-AC56-3ECC39A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846CF-B154-4B97-BCAF-AF8DAA47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52218-F5E5-4E89-B299-6906583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68757-55A2-4FF4-89E7-501D0F0E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09D39-2B05-4ADA-B412-C43D9C40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Differentiate OOP principles with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B557B-40FB-49AD-BE1E-80A7CB11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D4630-49EB-4362-A805-6440B0C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9B913-455B-4F34-8985-D3402769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Write valid identifiers, literals and comments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2BD69-7740-4D45-A338-038855BE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ACB62-DD71-4676-AB2F-0ACE513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15E0E-AB42-49BF-9152-F13571FD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primitive types and conversion/casting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CDB43-3B8C-4E04-9BEF-870A12E9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AF60B-139B-428D-8D3A-0BEC29E9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63AA4-A748-41AC-9AAE-B0BE7DC4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Trace array indexes and nested loops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E5E3D-179C-4AF3-ADEA-A76C2264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89FEB-A2E9-4CFC-A5B7-0D353917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FD04F-D88C-45F7-B164-D67D3C97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Predict outputs involving precedence, switch, break and continue</a:t>
            </a:r>
          </a:p>
        </p:txBody>
      </p:sp>
    </p:spTree>
    <p:extLst>
      <p:ext uri="{BB962C8B-B14F-4D97-AF65-F5344CB8AC3E}">
        <p14:creationId xmlns:p14="http://schemas.microsoft.com/office/powerpoint/2010/main" val="205842749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21D97-0F75-4015-80D8-337EFE2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B8FA2-5163-4C5F-98B5-998233ED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D2E7C-9BC0-414D-A5A7-56C1BC3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6E2DB-71F1-445D-9B49-B998948E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89C36-D1AD-49E1-A64A-77B7BA7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823D9-ED8F-416A-98D6-CAC99A3E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F08A-75A9-4848-A7D2-22330389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E494F-D419-494E-B776-77DA30B6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7F04A-D917-43B3-9BF1-75ADF9C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abstraction?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D312B-0D62-430A-A459-05371551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Name three OOP principles.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0DD8E-35B3-4750-B6A7-0283438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identifier?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616C2-F788-4C55-AC1B-103EFAB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is keyword?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229E3-260B-423B-95FC-A9C4517D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What is literal?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FAC99-F7FC-4FAF-A6F3-ED45235F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Primitive types?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F1FCD-3332-4A03-9D4D-134555B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What is char?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9AF79-DEC9-410D-87FA-44E44D4D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What is boolean?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36448-3083-431C-AFC0-B561E65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What is casting?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A5DEA-77B7-4CD3-8314-15C03BDB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What is type promotion?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85D98-D7A1-4E64-81EE-4DD2024C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What is array?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41855-0A19-4529-9448-C108702D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Array index starts from?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CF5DA-F029-44D4-9442-C3806028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Arithmetic operators?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FE74A-7295-4254-9B9C-48757A67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Relational operators?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4BD35-5F77-44E6-B07F-C0B86B5E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&amp;&amp; vs ||?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86C98-1DD3-4772-B9E1-518F63A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What is ternary operator?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36D84-5254-483C-8373-17D69AD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if vs switch?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888D7-98DE-42ED-8288-B3E42F18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while vs do-while?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69CCA-E5BB-43E8-9AEA-B7757060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for-each?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7D259-B32E-4344-8BC6-4F7E415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break vs continue?</a:t>
            </a:r>
          </a:p>
        </p:txBody>
      </p:sp>
    </p:spTree>
    <p:extLst>
      <p:ext uri="{BB962C8B-B14F-4D97-AF65-F5344CB8AC3E}">
        <p14:creationId xmlns:p14="http://schemas.microsoft.com/office/powerpoint/2010/main" val="97800006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D3287-94F7-4BFC-A5A8-5BF07B0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02807-BB2A-45C3-985E-2F5075AA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7F50B-9C2E-44F0-A68F-05F2DD7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59408-2766-42C1-866A-DB3893E4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7B03E-0AC8-45A0-94DF-0876D40B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A3557-6200-425C-A9FE-E10BBE59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1BCS302 Java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9FDCF-2ED8-4DFF-ACA7-969F598E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29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E8A97-74CA-4998-9A73-17BE524C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C55FE-B5B8-414B-A43F-EA0187CF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F4515-1D9E-4756-A516-28F378F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44DF3-4F56-4BAF-844E-4D412D7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85953-58B0-4C03-804E-D22794C8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Java; class; object; abstraction; encapsulation; inheritance; polymorphism; block; whitespace; identifier; literal; comment; separator; keyword; byte; short; int; long; float; double; char; boolean; variable; scope; conversion; casting; promotion; array; length; arithmetic; relational; boolean logical; assignment; ternary; precedence; if; switch; while; do-while; for; for-each; break; continue; return.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66039-1297-4E5E-9184-69030D03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B3283-5BBB-4998-A41F-0B28F0C7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FED81-67DE-4B54-BF2F-4E428C58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A739B-4DF9-49F7-9450-3087B3E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1 answers: define the construct, write syntax, trace one example, mention common error, and connect to a lab problem such as matrix addition.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6A53D-1FBD-4D89-918D-435182AB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9F6A5-D5AC-4C56-8C3A-8729C35F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A0FF6-CA0C-44B5-B82E-B579AA1E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Lab 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62FAA-1E99-448E-9B2A-31744F35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Write the smallest working program first, compile, predict output, then add one feature at a time.</a:t>
            </a:r>
          </a:p>
        </p:txBody>
      </p:sp>
    </p:spTree>
    <p:extLst>
      <p:ext uri="{BB962C8B-B14F-4D97-AF65-F5344CB8AC3E}">
        <p14:creationId xmlns:p14="http://schemas.microsoft.com/office/powerpoint/2010/main" val="761545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2026-08-08T04:20:41.9710000Z</dcterms:created>
  <dcterms:modified xsi:type="dcterms:W3CDTF">2026-08-08T04:20:41.9710000Z</dcterms:modified>
</coreProperties>
</file>