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853a9d92474ae1" /><Relationship Type="http://schemas.openxmlformats.org/officeDocument/2006/relationships/extended-properties" Target="/docProps/app.xml" Id="Rb0cad07e9ba24a61" /><Relationship Type="http://schemas.openxmlformats.org/officeDocument/2006/relationships/officeDocument" Target="/ppt/presentation.xml" Id="R41cafd7b4e5a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6bf82e7a545ed"/>
  </p:sldMasterIdLst>
  <p:notesMasterIdLst>
    <p:notesMasterId xmlns:r="http://schemas.openxmlformats.org/officeDocument/2006/relationships" r:id="R68b436a98001410c"/>
  </p:notesMasterIdLst>
  <p:sldIdLst>
    <p:sldId xmlns:r="http://schemas.openxmlformats.org/officeDocument/2006/relationships" id="256" r:id="Rf754fcf20de84edc"/>
    <p:sldId xmlns:r="http://schemas.openxmlformats.org/officeDocument/2006/relationships" id="257" r:id="R42248a05913940dc"/>
    <p:sldId xmlns:r="http://schemas.openxmlformats.org/officeDocument/2006/relationships" id="258" r:id="R05f20eac17e34688"/>
    <p:sldId xmlns:r="http://schemas.openxmlformats.org/officeDocument/2006/relationships" id="259" r:id="R1ee19fc105384430"/>
    <p:sldId xmlns:r="http://schemas.openxmlformats.org/officeDocument/2006/relationships" id="260" r:id="Rd5cd35faddb747ec"/>
    <p:sldId xmlns:r="http://schemas.openxmlformats.org/officeDocument/2006/relationships" id="261" r:id="R789970cbc6f44197"/>
    <p:sldId xmlns:r="http://schemas.openxmlformats.org/officeDocument/2006/relationships" id="262" r:id="R7af9de99242d4a34"/>
    <p:sldId xmlns:r="http://schemas.openxmlformats.org/officeDocument/2006/relationships" id="263" r:id="R01018e3e3ae649e6"/>
    <p:sldId xmlns:r="http://schemas.openxmlformats.org/officeDocument/2006/relationships" id="264" r:id="R19de4a67433946fe"/>
    <p:sldId xmlns:r="http://schemas.openxmlformats.org/officeDocument/2006/relationships" id="265" r:id="R26d8b0b7aaaf4e1f"/>
    <p:sldId xmlns:r="http://schemas.openxmlformats.org/officeDocument/2006/relationships" id="266" r:id="R14d5e68cbf1847bd"/>
    <p:sldId xmlns:r="http://schemas.openxmlformats.org/officeDocument/2006/relationships" id="267" r:id="R43003ca329414725"/>
    <p:sldId xmlns:r="http://schemas.openxmlformats.org/officeDocument/2006/relationships" id="268" r:id="R62dcb01ad7e44b13"/>
    <p:sldId xmlns:r="http://schemas.openxmlformats.org/officeDocument/2006/relationships" id="269" r:id="Rdd25a5f39a494624"/>
    <p:sldId xmlns:r="http://schemas.openxmlformats.org/officeDocument/2006/relationships" id="270" r:id="Rd7648a17b8cd4a74"/>
    <p:sldId xmlns:r="http://schemas.openxmlformats.org/officeDocument/2006/relationships" id="271" r:id="Rd184aeffaf7e434b"/>
    <p:sldId xmlns:r="http://schemas.openxmlformats.org/officeDocument/2006/relationships" id="272" r:id="Rca2918285dd448db"/>
    <p:sldId xmlns:r="http://schemas.openxmlformats.org/officeDocument/2006/relationships" id="273" r:id="Rf3413e26dc1f4e5f"/>
    <p:sldId xmlns:r="http://schemas.openxmlformats.org/officeDocument/2006/relationships" id="274" r:id="R9273563535964195"/>
    <p:sldId xmlns:r="http://schemas.openxmlformats.org/officeDocument/2006/relationships" id="275" r:id="Ra5cd4c2074034140"/>
    <p:sldId xmlns:r="http://schemas.openxmlformats.org/officeDocument/2006/relationships" id="276" r:id="Rd9f07e957219476b"/>
    <p:sldId xmlns:r="http://schemas.openxmlformats.org/officeDocument/2006/relationships" id="277" r:id="R7372e6fda9294fe6"/>
    <p:sldId xmlns:r="http://schemas.openxmlformats.org/officeDocument/2006/relationships" id="278" r:id="R670431af89364ccb"/>
    <p:sldId xmlns:r="http://schemas.openxmlformats.org/officeDocument/2006/relationships" id="279" r:id="R0201916eb3fe47ee"/>
    <p:sldId xmlns:r="http://schemas.openxmlformats.org/officeDocument/2006/relationships" id="280" r:id="R09e0376713e44e1f"/>
    <p:sldId xmlns:r="http://schemas.openxmlformats.org/officeDocument/2006/relationships" id="281" r:id="R3a115768af08408d"/>
    <p:sldId xmlns:r="http://schemas.openxmlformats.org/officeDocument/2006/relationships" id="282" r:id="R365815dc92bd4595"/>
    <p:sldId xmlns:r="http://schemas.openxmlformats.org/officeDocument/2006/relationships" id="283" r:id="Rc6d8f1370db143a8"/>
    <p:sldId xmlns:r="http://schemas.openxmlformats.org/officeDocument/2006/relationships" id="284" r:id="Rbf02a9a6de3343f0"/>
    <p:sldId xmlns:r="http://schemas.openxmlformats.org/officeDocument/2006/relationships" id="285" r:id="R0568d7dd3f1e4c85"/>
    <p:sldId xmlns:r="http://schemas.openxmlformats.org/officeDocument/2006/relationships" id="286" r:id="Ra8b76d0f750f408d"/>
    <p:sldId xmlns:r="http://schemas.openxmlformats.org/officeDocument/2006/relationships" id="287" r:id="R8d16dcedf0864585"/>
    <p:sldId xmlns:r="http://schemas.openxmlformats.org/officeDocument/2006/relationships" id="288" r:id="R1b76c181bf1d4ffe"/>
    <p:sldId xmlns:r="http://schemas.openxmlformats.org/officeDocument/2006/relationships" id="289" r:id="Ree3c91b192334a35"/>
    <p:sldId xmlns:r="http://schemas.openxmlformats.org/officeDocument/2006/relationships" id="290" r:id="R5a641dfbb3594448"/>
    <p:sldId xmlns:r="http://schemas.openxmlformats.org/officeDocument/2006/relationships" id="291" r:id="Rbc66eb6ac7a749c7"/>
    <p:sldId xmlns:r="http://schemas.openxmlformats.org/officeDocument/2006/relationships" id="292" r:id="R4400e445b4644cb3"/>
    <p:sldId xmlns:r="http://schemas.openxmlformats.org/officeDocument/2006/relationships" id="293" r:id="R365278ec30dc4dc7"/>
    <p:sldId xmlns:r="http://schemas.openxmlformats.org/officeDocument/2006/relationships" id="294" r:id="Rd939d16b75fb4faa"/>
    <p:sldId xmlns:r="http://schemas.openxmlformats.org/officeDocument/2006/relationships" id="295" r:id="R697862eaf5014074"/>
    <p:sldId xmlns:r="http://schemas.openxmlformats.org/officeDocument/2006/relationships" id="296" r:id="Rffec3bf7cf274a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a75745a9dd44ae" /><Relationship Type="http://schemas.openxmlformats.org/officeDocument/2006/relationships/slideMaster" Target="/ppt/slideMasters/slideMaster1.xml" Id="R8006bf82e7a545ed" /><Relationship Type="http://schemas.openxmlformats.org/officeDocument/2006/relationships/notesMaster" Target="/ppt/notesMasters/notesMaster1.xml" Id="R68b436a98001410c" /><Relationship Type="http://schemas.openxmlformats.org/officeDocument/2006/relationships/presProps" Target="/ppt/presProps.xml" Id="R5f58e7f8c0bf4c44" /><Relationship Type="http://schemas.openxmlformats.org/officeDocument/2006/relationships/tableStyles" Target="/ppt/tableStyles.xml" Id="R36119caf87224a9e" /><Relationship Type="http://schemas.openxmlformats.org/officeDocument/2006/relationships/slide" Target="/ppt/slides/slide1.xml" Id="Rf754fcf20de84edc" /><Relationship Type="http://schemas.openxmlformats.org/officeDocument/2006/relationships/slide" Target="/ppt/slides/slide2.xml" Id="R42248a05913940dc" /><Relationship Type="http://schemas.openxmlformats.org/officeDocument/2006/relationships/slide" Target="/ppt/slides/slide3.xml" Id="R05f20eac17e34688" /><Relationship Type="http://schemas.openxmlformats.org/officeDocument/2006/relationships/slide" Target="/ppt/slides/slide4.xml" Id="R1ee19fc105384430" /><Relationship Type="http://schemas.openxmlformats.org/officeDocument/2006/relationships/slide" Target="/ppt/slides/slide5.xml" Id="Rd5cd35faddb747ec" /><Relationship Type="http://schemas.openxmlformats.org/officeDocument/2006/relationships/slide" Target="/ppt/slides/slide6.xml" Id="R789970cbc6f44197" /><Relationship Type="http://schemas.openxmlformats.org/officeDocument/2006/relationships/slide" Target="/ppt/slides/slide7.xml" Id="R7af9de99242d4a34" /><Relationship Type="http://schemas.openxmlformats.org/officeDocument/2006/relationships/slide" Target="/ppt/slides/slide8.xml" Id="R01018e3e3ae649e6" /><Relationship Type="http://schemas.openxmlformats.org/officeDocument/2006/relationships/slide" Target="/ppt/slides/slide9.xml" Id="R19de4a67433946fe" /><Relationship Type="http://schemas.openxmlformats.org/officeDocument/2006/relationships/slide" Target="/ppt/slides/slide10.xml" Id="R26d8b0b7aaaf4e1f" /><Relationship Type="http://schemas.openxmlformats.org/officeDocument/2006/relationships/slide" Target="/ppt/slides/slide11.xml" Id="R14d5e68cbf1847bd" /><Relationship Type="http://schemas.openxmlformats.org/officeDocument/2006/relationships/slide" Target="/ppt/slides/slide12.xml" Id="R43003ca329414725" /><Relationship Type="http://schemas.openxmlformats.org/officeDocument/2006/relationships/slide" Target="/ppt/slides/slide13.xml" Id="R62dcb01ad7e44b13" /><Relationship Type="http://schemas.openxmlformats.org/officeDocument/2006/relationships/slide" Target="/ppt/slides/slide14.xml" Id="Rdd25a5f39a494624" /><Relationship Type="http://schemas.openxmlformats.org/officeDocument/2006/relationships/slide" Target="/ppt/slides/slide15.xml" Id="Rd7648a17b8cd4a74" /><Relationship Type="http://schemas.openxmlformats.org/officeDocument/2006/relationships/slide" Target="/ppt/slides/slide16.xml" Id="Rd184aeffaf7e434b" /><Relationship Type="http://schemas.openxmlformats.org/officeDocument/2006/relationships/slide" Target="/ppt/slides/slide17.xml" Id="Rca2918285dd448db" /><Relationship Type="http://schemas.openxmlformats.org/officeDocument/2006/relationships/slide" Target="/ppt/slides/slide18.xml" Id="Rf3413e26dc1f4e5f" /><Relationship Type="http://schemas.openxmlformats.org/officeDocument/2006/relationships/slide" Target="/ppt/slides/slide19.xml" Id="R9273563535964195" /><Relationship Type="http://schemas.openxmlformats.org/officeDocument/2006/relationships/slide" Target="/ppt/slides/slide20.xml" Id="Ra5cd4c2074034140" /><Relationship Type="http://schemas.openxmlformats.org/officeDocument/2006/relationships/slide" Target="/ppt/slides/slide21.xml" Id="Rd9f07e957219476b" /><Relationship Type="http://schemas.openxmlformats.org/officeDocument/2006/relationships/slide" Target="/ppt/slides/slide22.xml" Id="R7372e6fda9294fe6" /><Relationship Type="http://schemas.openxmlformats.org/officeDocument/2006/relationships/slide" Target="/ppt/slides/slide23.xml" Id="R670431af89364ccb" /><Relationship Type="http://schemas.openxmlformats.org/officeDocument/2006/relationships/slide" Target="/ppt/slides/slide24.xml" Id="R0201916eb3fe47ee" /><Relationship Type="http://schemas.openxmlformats.org/officeDocument/2006/relationships/slide" Target="/ppt/slides/slide25.xml" Id="R09e0376713e44e1f" /><Relationship Type="http://schemas.openxmlformats.org/officeDocument/2006/relationships/slide" Target="/ppt/slides/slide26.xml" Id="R3a115768af08408d" /><Relationship Type="http://schemas.openxmlformats.org/officeDocument/2006/relationships/slide" Target="/ppt/slides/slide27.xml" Id="R365815dc92bd4595" /><Relationship Type="http://schemas.openxmlformats.org/officeDocument/2006/relationships/slide" Target="/ppt/slides/slide28.xml" Id="Rc6d8f1370db143a8" /><Relationship Type="http://schemas.openxmlformats.org/officeDocument/2006/relationships/slide" Target="/ppt/slides/slide29.xml" Id="Rbf02a9a6de3343f0" /><Relationship Type="http://schemas.openxmlformats.org/officeDocument/2006/relationships/slide" Target="/ppt/slides/slide30.xml" Id="R0568d7dd3f1e4c85" /><Relationship Type="http://schemas.openxmlformats.org/officeDocument/2006/relationships/slide" Target="/ppt/slides/slide31.xml" Id="Ra8b76d0f750f408d" /><Relationship Type="http://schemas.openxmlformats.org/officeDocument/2006/relationships/slide" Target="/ppt/slides/slide32.xml" Id="R8d16dcedf0864585" /><Relationship Type="http://schemas.openxmlformats.org/officeDocument/2006/relationships/slide" Target="/ppt/slides/slide33.xml" Id="R1b76c181bf1d4ffe" /><Relationship Type="http://schemas.openxmlformats.org/officeDocument/2006/relationships/slide" Target="/ppt/slides/slide34.xml" Id="Ree3c91b192334a35" /><Relationship Type="http://schemas.openxmlformats.org/officeDocument/2006/relationships/slide" Target="/ppt/slides/slide35.xml" Id="R5a641dfbb3594448" /><Relationship Type="http://schemas.openxmlformats.org/officeDocument/2006/relationships/slide" Target="/ppt/slides/slide36.xml" Id="Rbc66eb6ac7a749c7" /><Relationship Type="http://schemas.openxmlformats.org/officeDocument/2006/relationships/slide" Target="/ppt/slides/slide37.xml" Id="R4400e445b4644cb3" /><Relationship Type="http://schemas.openxmlformats.org/officeDocument/2006/relationships/slide" Target="/ppt/slides/slide38.xml" Id="R365278ec30dc4dc7" /><Relationship Type="http://schemas.openxmlformats.org/officeDocument/2006/relationships/slide" Target="/ppt/slides/slide39.xml" Id="Rd939d16b75fb4faa" /><Relationship Type="http://schemas.openxmlformats.org/officeDocument/2006/relationships/slide" Target="/ppt/slides/slide40.xml" Id="R697862eaf5014074" /><Relationship Type="http://schemas.openxmlformats.org/officeDocument/2006/relationships/slide" Target="/ppt/slides/slide41.xml" Id="Rffec3bf7cf27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ed9a5319e48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53155b70504259" /><Relationship Type="http://schemas.openxmlformats.org/officeDocument/2006/relationships/notesMaster" Target="/ppt/notesMasters/notesMaster1.xml" Id="R95e205c23348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9f612536844b7f" /><Relationship Type="http://schemas.openxmlformats.org/officeDocument/2006/relationships/notesMaster" Target="/ppt/notesMasters/notesMaster1.xml" Id="Rb2e9f873eacb4d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feb17689284f80" /><Relationship Type="http://schemas.openxmlformats.org/officeDocument/2006/relationships/notesMaster" Target="/ppt/notesMasters/notesMaster1.xml" Id="R520903f97d8d4f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1cf59a4c04484f" /><Relationship Type="http://schemas.openxmlformats.org/officeDocument/2006/relationships/notesMaster" Target="/ppt/notesMasters/notesMaster1.xml" Id="Rad8663f8e85d41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a599176264fb1" /><Relationship Type="http://schemas.openxmlformats.org/officeDocument/2006/relationships/notesMaster" Target="/ppt/notesMasters/notesMaster1.xml" Id="R213d57a1eac443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387c3b94c74edc" /><Relationship Type="http://schemas.openxmlformats.org/officeDocument/2006/relationships/notesMaster" Target="/ppt/notesMasters/notesMaster1.xml" Id="Rc7c086803bec43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c5c7c8ebf84e90" /><Relationship Type="http://schemas.openxmlformats.org/officeDocument/2006/relationships/notesMaster" Target="/ppt/notesMasters/notesMaster1.xml" Id="R854d334dd5b647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252c8d21bb4dde" /><Relationship Type="http://schemas.openxmlformats.org/officeDocument/2006/relationships/notesMaster" Target="/ppt/notesMasters/notesMaster1.xml" Id="R5351422d685a4d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368a36501144f9" /><Relationship Type="http://schemas.openxmlformats.org/officeDocument/2006/relationships/notesMaster" Target="/ppt/notesMasters/notesMaster1.xml" Id="Re29624510ade48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f0efba91fc4f07" /><Relationship Type="http://schemas.openxmlformats.org/officeDocument/2006/relationships/notesMaster" Target="/ppt/notesMasters/notesMaster1.xml" Id="Rb67af81eaec245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2fc5f9b5e14bc6" /><Relationship Type="http://schemas.openxmlformats.org/officeDocument/2006/relationships/notesMaster" Target="/ppt/notesMasters/notesMaster1.xml" Id="Rcabf0fd4a39c45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d7c20f10b64948" /><Relationship Type="http://schemas.openxmlformats.org/officeDocument/2006/relationships/notesMaster" Target="/ppt/notesMasters/notesMaster1.xml" Id="R1906ac69f69a45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5793076ddc4ee0" /><Relationship Type="http://schemas.openxmlformats.org/officeDocument/2006/relationships/notesMaster" Target="/ppt/notesMasters/notesMaster1.xml" Id="R569191d4c00f42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02da8b459345e6" /><Relationship Type="http://schemas.openxmlformats.org/officeDocument/2006/relationships/notesMaster" Target="/ppt/notesMasters/notesMaster1.xml" Id="R1bfc9466a6ea44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36db6569114720" /><Relationship Type="http://schemas.openxmlformats.org/officeDocument/2006/relationships/notesMaster" Target="/ppt/notesMasters/notesMaster1.xml" Id="R08da1fa0a7a44e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a79d505e704cf3" /><Relationship Type="http://schemas.openxmlformats.org/officeDocument/2006/relationships/notesMaster" Target="/ppt/notesMasters/notesMaster1.xml" Id="R45f376c644364e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c0c339382944c3" /><Relationship Type="http://schemas.openxmlformats.org/officeDocument/2006/relationships/notesMaster" Target="/ppt/notesMasters/notesMaster1.xml" Id="Rb8269db223594c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d574e055c7446e" /><Relationship Type="http://schemas.openxmlformats.org/officeDocument/2006/relationships/notesMaster" Target="/ppt/notesMasters/notesMaster1.xml" Id="Rf830eae81b914e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7fa7f6863242b7" /><Relationship Type="http://schemas.openxmlformats.org/officeDocument/2006/relationships/notesMaster" Target="/ppt/notesMasters/notesMaster1.xml" Id="R93856f89a12544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f696820d404080" /><Relationship Type="http://schemas.openxmlformats.org/officeDocument/2006/relationships/notesMaster" Target="/ppt/notesMasters/notesMaster1.xml" Id="R093e310161e04a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1f40f66c5dd4051" /><Relationship Type="http://schemas.openxmlformats.org/officeDocument/2006/relationships/notesMaster" Target="/ppt/notesMasters/notesMaster1.xml" Id="R9d58e37bbad142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dfc9b41e6f40c2" /><Relationship Type="http://schemas.openxmlformats.org/officeDocument/2006/relationships/notesMaster" Target="/ppt/notesMasters/notesMaster1.xml" Id="R471d170d61544c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9b3ce156d24715" /><Relationship Type="http://schemas.openxmlformats.org/officeDocument/2006/relationships/notesMaster" Target="/ppt/notesMasters/notesMaster1.xml" Id="R9a97f06bc3544b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36c774d6bd940e2" /><Relationship Type="http://schemas.openxmlformats.org/officeDocument/2006/relationships/notesMaster" Target="/ppt/notesMasters/notesMaster1.xml" Id="R286b16ecdf9146c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11e219a19343f7" /><Relationship Type="http://schemas.openxmlformats.org/officeDocument/2006/relationships/notesMaster" Target="/ppt/notesMasters/notesMaster1.xml" Id="R720fa7d146a2449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8e3174745e4582" /><Relationship Type="http://schemas.openxmlformats.org/officeDocument/2006/relationships/notesMaster" Target="/ppt/notesMasters/notesMaster1.xml" Id="R491d1f06706b4f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f32036c66e46cc" /><Relationship Type="http://schemas.openxmlformats.org/officeDocument/2006/relationships/notesMaster" Target="/ppt/notesMasters/notesMaster1.xml" Id="R78b461ca738d429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0239e57f2c4df6" /><Relationship Type="http://schemas.openxmlformats.org/officeDocument/2006/relationships/notesMaster" Target="/ppt/notesMasters/notesMaster1.xml" Id="R1ef48cae21904d0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f61069ae1c4ff7" /><Relationship Type="http://schemas.openxmlformats.org/officeDocument/2006/relationships/notesMaster" Target="/ppt/notesMasters/notesMaster1.xml" Id="R518eaa06facd45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1f53a405d5418d" /><Relationship Type="http://schemas.openxmlformats.org/officeDocument/2006/relationships/notesMaster" Target="/ppt/notesMasters/notesMaster1.xml" Id="Ra7a9d03896e542a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ec52e6b8b804423" /><Relationship Type="http://schemas.openxmlformats.org/officeDocument/2006/relationships/notesMaster" Target="/ppt/notesMasters/notesMaster1.xml" Id="R40058230137349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4556b71b2c4f6f" /><Relationship Type="http://schemas.openxmlformats.org/officeDocument/2006/relationships/notesMaster" Target="/ppt/notesMasters/notesMaster1.xml" Id="Rcabbbf1e3f83408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f2b7da1e2a49e7" /><Relationship Type="http://schemas.openxmlformats.org/officeDocument/2006/relationships/notesMaster" Target="/ppt/notesMasters/notesMaster1.xml" Id="R84a2b50aa1bb4f9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ff08ad369a84d83" /><Relationship Type="http://schemas.openxmlformats.org/officeDocument/2006/relationships/notesMaster" Target="/ppt/notesMasters/notesMaster1.xml" Id="Ra6efb7d5bc85439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707e2c76ad4184" /><Relationship Type="http://schemas.openxmlformats.org/officeDocument/2006/relationships/notesMaster" Target="/ppt/notesMasters/notesMaster1.xml" Id="Rc60b631c08cd45e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a73ed8ae0334a23" /><Relationship Type="http://schemas.openxmlformats.org/officeDocument/2006/relationships/notesMaster" Target="/ppt/notesMasters/notesMaster1.xml" Id="R5d88f3ca295c4d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c7eda9873a049ac" /><Relationship Type="http://schemas.openxmlformats.org/officeDocument/2006/relationships/notesMaster" Target="/ppt/notesMasters/notesMaster1.xml" Id="R30337268e56f470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aadd72fb9bc42c3" /><Relationship Type="http://schemas.openxmlformats.org/officeDocument/2006/relationships/notesMaster" Target="/ppt/notesMasters/notesMaster1.xml" Id="R774031276b874af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7f0ae926dd64954" /><Relationship Type="http://schemas.openxmlformats.org/officeDocument/2006/relationships/notesMaster" Target="/ppt/notesMasters/notesMaster1.xml" Id="R98376b4588e546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e2be401dda46dc" /><Relationship Type="http://schemas.openxmlformats.org/officeDocument/2006/relationships/notesMaster" Target="/ppt/notesMasters/notesMaster1.xml" Id="R9b33a6de5ec345c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e6317925fd24ebf" /><Relationship Type="http://schemas.openxmlformats.org/officeDocument/2006/relationships/notesMaster" Target="/ppt/notesMasters/notesMaster1.xml" Id="Rf2801558667445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5 is about making Java programs type-safe and expressive.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constants, wrappers and generics.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 enum from lab.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enum constants are objects of the enum type.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 name input as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values returns an array of enum constants.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valueOf requires exact name unless input is normalized.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modern arrow switch but explain traditional case also works.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generics and collections need reference types.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Integer.parseInt for string-to-int.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valueOf returns wrapper; arithmetic unboxes automatically.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compiler inserts conversions.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method expects Integer, argument is int.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expression needs primitive arithmetic.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boolean unboxes in if condition.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gives practical caution.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collections storing typed objects.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compiler catches wrong type earlier.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T as a placeholder for the real type.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Pair&lt;String,Integer&gt; for name and marks.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type argument is supplied when object/reference is declared.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wrappers and generics.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as practical warning.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compiler infers right-side type arguments from left side.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labs 9 and 10.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departments, days, directions and status values.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valueOf is case-sensitive.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gently expands textbook context without overloading the module.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wrappers to generics in the same module.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directly to marks-as-strings lab.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makes autoboxing understandable instead of magical.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equals is the safer value comparison for wrappers.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Students often ask what T means; answer directly.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generics catch the bug before the program runs.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K/V to map-like data.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are practical warnings before lab and exams.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directly to syllabus practical 10.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as final overview.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Module 5 is syntax plus conceptual type safety.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5 checklist; Herbert Schildt and Danny Coward, Java: The Complete Reference, 13th ed., McGraw-Hill, 2024, chapters 12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aac47630241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7b26d3a32542a3" /><Relationship Type="http://schemas.openxmlformats.org/officeDocument/2006/relationships/slideLayout" Target="/ppt/slideLayouts/slideLayout1.xml" Id="R4c61d85892f84d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61d85892f84d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dbc84bb094863" /><Relationship Type="http://schemas.openxmlformats.org/officeDocument/2006/relationships/notesSlide" Target="/ppt/notesSlides/notesSlide1.xml" Id="Rdd18941969cf4f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e1643958c472a" /><Relationship Type="http://schemas.openxmlformats.org/officeDocument/2006/relationships/notesSlide" Target="/ppt/notesSlides/notesSlide2.xml" Id="Rb7246b7c8fd2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1e87ec9ad4a4e" /><Relationship Type="http://schemas.openxmlformats.org/officeDocument/2006/relationships/notesSlide" Target="/ppt/notesSlides/notesSlide3.xml" Id="R80cc837c4ce0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f8d160c694ec2" /><Relationship Type="http://schemas.openxmlformats.org/officeDocument/2006/relationships/notesSlide" Target="/ppt/notesSlides/notesSlide4.xml" Id="R0464475f352f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5abde96df4a71" /><Relationship Type="http://schemas.openxmlformats.org/officeDocument/2006/relationships/notesSlide" Target="/ppt/notesSlides/notesSlide5.xml" Id="R1c6193ea4693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e3385a4e84e2d" /><Relationship Type="http://schemas.openxmlformats.org/officeDocument/2006/relationships/notesSlide" Target="/ppt/notesSlides/notesSlide6.xml" Id="Rc13ee402df924c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76332f5914f8d" /><Relationship Type="http://schemas.openxmlformats.org/officeDocument/2006/relationships/notesSlide" Target="/ppt/notesSlides/notesSlide7.xml" Id="Rb4c141f97b6c48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72514ea0a4464" /><Relationship Type="http://schemas.openxmlformats.org/officeDocument/2006/relationships/notesSlide" Target="/ppt/notesSlides/notesSlide8.xml" Id="Re50ba8640ece49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bb5fd70b44de7" /><Relationship Type="http://schemas.openxmlformats.org/officeDocument/2006/relationships/notesSlide" Target="/ppt/notesSlides/notesSlide9.xml" Id="Rf0bcf7e07f1545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2807949894750" /><Relationship Type="http://schemas.openxmlformats.org/officeDocument/2006/relationships/notesSlide" Target="/ppt/notesSlides/notesSlide10.xml" Id="R937cbf75e38445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d13a75b0a4ad4" /><Relationship Type="http://schemas.openxmlformats.org/officeDocument/2006/relationships/notesSlide" Target="/ppt/notesSlides/notesSlide11.xml" Id="R7a4bf63601bb47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8c042babe4573" /><Relationship Type="http://schemas.openxmlformats.org/officeDocument/2006/relationships/notesSlide" Target="/ppt/notesSlides/notesSlide12.xml" Id="Rfb16d478bfb24c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984d667a54fcc" /><Relationship Type="http://schemas.openxmlformats.org/officeDocument/2006/relationships/notesSlide" Target="/ppt/notesSlides/notesSlide13.xml" Id="R5e183b8af7434d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61b09b7024426" /><Relationship Type="http://schemas.openxmlformats.org/officeDocument/2006/relationships/notesSlide" Target="/ppt/notesSlides/notesSlide14.xml" Id="R333727bae0194a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49ed617cd4716" /><Relationship Type="http://schemas.openxmlformats.org/officeDocument/2006/relationships/notesSlide" Target="/ppt/notesSlides/notesSlide15.xml" Id="R15a6ff34bedf42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165e0ddea4aee" /><Relationship Type="http://schemas.openxmlformats.org/officeDocument/2006/relationships/notesSlide" Target="/ppt/notesSlides/notesSlide16.xml" Id="Rcd207c6aa68744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33f2d86ef41b1" /><Relationship Type="http://schemas.openxmlformats.org/officeDocument/2006/relationships/notesSlide" Target="/ppt/notesSlides/notesSlide17.xml" Id="R1b55585201ad4d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6922bd8c24cd9" /><Relationship Type="http://schemas.openxmlformats.org/officeDocument/2006/relationships/notesSlide" Target="/ppt/notesSlides/notesSlide18.xml" Id="Re4756a6ca2c341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f4d943613405b" /><Relationship Type="http://schemas.openxmlformats.org/officeDocument/2006/relationships/notesSlide" Target="/ppt/notesSlides/notesSlide19.xml" Id="R82ec1a69b8f746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11b5fc3344a76" /><Relationship Type="http://schemas.openxmlformats.org/officeDocument/2006/relationships/notesSlide" Target="/ppt/notesSlides/notesSlide20.xml" Id="Rf7456c698f2c4d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2c4a4980d4323" /><Relationship Type="http://schemas.openxmlformats.org/officeDocument/2006/relationships/notesSlide" Target="/ppt/notesSlides/notesSlide21.xml" Id="R8d2454ccd23e48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8ca3d9f9e46c6" /><Relationship Type="http://schemas.openxmlformats.org/officeDocument/2006/relationships/notesSlide" Target="/ppt/notesSlides/notesSlide22.xml" Id="R50c9c6c959eb44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e1e658b9b40aa" /><Relationship Type="http://schemas.openxmlformats.org/officeDocument/2006/relationships/notesSlide" Target="/ppt/notesSlides/notesSlide23.xml" Id="R2629be32974142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46750f932478b" /><Relationship Type="http://schemas.openxmlformats.org/officeDocument/2006/relationships/notesSlide" Target="/ppt/notesSlides/notesSlide24.xml" Id="R71a8b2a0206b4fc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48748aefd4ac1" /><Relationship Type="http://schemas.openxmlformats.org/officeDocument/2006/relationships/notesSlide" Target="/ppt/notesSlides/notesSlide25.xml" Id="R2cfbf5cb678746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adb0e59614d7a" /><Relationship Type="http://schemas.openxmlformats.org/officeDocument/2006/relationships/notesSlide" Target="/ppt/notesSlides/notesSlide26.xml" Id="R318c4c58192943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eb5babdf5455e" /><Relationship Type="http://schemas.openxmlformats.org/officeDocument/2006/relationships/notesSlide" Target="/ppt/notesSlides/notesSlide27.xml" Id="Rf855d300a8ee4e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06885408748a2" /><Relationship Type="http://schemas.openxmlformats.org/officeDocument/2006/relationships/notesSlide" Target="/ppt/notesSlides/notesSlide28.xml" Id="Rdf617ef6d0164c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d04739e254f9a" /><Relationship Type="http://schemas.openxmlformats.org/officeDocument/2006/relationships/notesSlide" Target="/ppt/notesSlides/notesSlide29.xml" Id="R64b5570f187a460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cfa3be74b42ca" /><Relationship Type="http://schemas.openxmlformats.org/officeDocument/2006/relationships/notesSlide" Target="/ppt/notesSlides/notesSlide30.xml" Id="R64fec0d9bc8145a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2c7ca911d4188" /><Relationship Type="http://schemas.openxmlformats.org/officeDocument/2006/relationships/notesSlide" Target="/ppt/notesSlides/notesSlide31.xml" Id="R75f9525344c44b7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f3bc4a46046d7" /><Relationship Type="http://schemas.openxmlformats.org/officeDocument/2006/relationships/notesSlide" Target="/ppt/notesSlides/notesSlide32.xml" Id="Rb327ca2f49444bb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6c3bcdf0b497b" /><Relationship Type="http://schemas.openxmlformats.org/officeDocument/2006/relationships/notesSlide" Target="/ppt/notesSlides/notesSlide33.xml" Id="R8cf5eb1264cc4f7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c3415724d402c" /><Relationship Type="http://schemas.openxmlformats.org/officeDocument/2006/relationships/notesSlide" Target="/ppt/notesSlides/notesSlide34.xml" Id="R4318f636e98c4af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ce959e25d40af" /><Relationship Type="http://schemas.openxmlformats.org/officeDocument/2006/relationships/notesSlide" Target="/ppt/notesSlides/notesSlide35.xml" Id="R91ac4e56f649479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2944687024f67" /><Relationship Type="http://schemas.openxmlformats.org/officeDocument/2006/relationships/notesSlide" Target="/ppt/notesSlides/notesSlide36.xml" Id="Rc582ae275750461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f6c90b87941ae" /><Relationship Type="http://schemas.openxmlformats.org/officeDocument/2006/relationships/notesSlide" Target="/ppt/notesSlides/notesSlide37.xml" Id="Re896060bc39b46b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4689d6af14bba" /><Relationship Type="http://schemas.openxmlformats.org/officeDocument/2006/relationships/notesSlide" Target="/ppt/notesSlides/notesSlide38.xml" Id="R89d9896f21f041d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3bef9dae64229" /><Relationship Type="http://schemas.openxmlformats.org/officeDocument/2006/relationships/notesSlide" Target="/ppt/notesSlides/notesSlide39.xml" Id="Reefc7aea0d7c4a6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79935659142cb" /><Relationship Type="http://schemas.openxmlformats.org/officeDocument/2006/relationships/notesSlide" Target="/ppt/notesSlides/notesSlide40.xml" Id="R2dd5da06b5dc496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bb62735404ae0" /><Relationship Type="http://schemas.openxmlformats.org/officeDocument/2006/relationships/notesSlide" Target="/ppt/notesSlides/notesSlide41.xml" Id="R49b5bec86b5344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FBD0A-3CAC-4E91-BC14-A619BDE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F09C1-5C1D-4777-8D6D-F1960525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Enums, Wrappers, Autoboxing and Generics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52179-2271-48D5-ADE7-46590BAA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5 teaches type-safe constants, object wrappers and generic programming.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A6346-83C0-43FF-A1D2-1E61574A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A4D92-9A73-4A37-91CF-42CEAB22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CFD7F-CEEA-4FC2-B499-9BAE98CB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6E09D-C961-422C-B4AE-A7BEC0C1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2715A-B70E-449D-B9FA-CE92E58D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3CD59-BB6F-422E-86B8-EDA2E2D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Java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495C7-CEBA-4145-AF04-2FC20C97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Enumerations • values/valueOf • wrappers • autoboxing • generic 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2F7E0-EB35-4810-8ABA-B4BBDAE0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EEDDE-5FD2-4971-B599-2072C46B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0DF54-0441-4FF2-8BBB-45C4CEB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ENUM</a:t>
            </a:r>
          </a:p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&lt;T&gt;</a:t>
            </a:r>
          </a:p>
        </p:txBody>
      </p:sp>
    </p:spTree>
    <p:extLst>
      <p:ext uri="{BB962C8B-B14F-4D97-AF65-F5344CB8AC3E}">
        <p14:creationId xmlns:p14="http://schemas.microsoft.com/office/powerpoint/2010/main" val="442632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69188-3FAD-42C5-8F50-5F95EDC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8220A-EC10-4E32-BFBB-99236233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5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CF9B6-D477-4BCB-93E7-6A3C0D44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07A44-167A-48F8-A14B-A9F130A2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78E8C-5AEE-454D-B367-ED38345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B2E9B-E554-454F-BADF-AD26EB9F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FEC7C-DC44-425E-B4BA-C4E91AD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58A11-D66D-4779-88A6-EE4305B4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2D403-1D73-4417-B793-FE9795F0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796CF-3851-4F76-9C0B-A13729AE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C36B1-3051-4635-989D-7365755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enumeration fundamentals and enum constants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795CF-1287-45FC-96FD-79A2E32E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9ECA8-B9A7-4877-9F3B-C31616A1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2156E-D04C-4C25-B284-0D7E8B04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values() and valueOf() 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7A9BA-74D8-4D8F-8C96-3D6059C6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B8F1D-6C31-4A05-82D5-52327CE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E2F93-234E-4255-9443-83BB3C0E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Character, Boolean and numeric type wrappers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4F7CB-F2DB-4C6B-8F7B-5A217F2A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49F2E-DE14-4EE0-97E5-CEC49D3A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8C808-EC69-46F1-9227-E4F244A1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autoboxing and unboxing in methods, expressions and boolean/char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2F841-25A6-4C3B-A04F-555D7AFB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24C7E-1652-4C88-80F7-9EF76C07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0F2D2-67E1-403A-9A13-240FB9C0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a simple generics example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F4065-0C0E-43CE-8E66-99E8DB59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10724-33D9-4D9B-95B5-4875D6A4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EACC0-E6BC-4C91-9F53-2E897DC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Create generic classes with one or two type parameters and the general class form</a:t>
            </a:r>
          </a:p>
        </p:txBody>
      </p:sp>
    </p:spTree>
    <p:extLst>
      <p:ext uri="{BB962C8B-B14F-4D97-AF65-F5344CB8AC3E}">
        <p14:creationId xmlns:p14="http://schemas.microsoft.com/office/powerpoint/2010/main" val="847899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EC2E8F-3013-4145-AC09-5F4CF12C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4382B-F3E5-4EDE-825F-594FE290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Enums define named constant 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1052D-DE90-424B-9F92-8A1D94FC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enumeration.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FBEC4-7442-40B6-88F9-D966B5E7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A2129-856E-46F0-ADA6-9974C03E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B8564-39A6-4594-9FAD-2C8DCEB2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9A12E-98BC-472D-B2E0-A309535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0F65B-7CA0-4B69-8B11-4C606CC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1314A-EB71-40E8-B3BB-B996064B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enum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77C85-2758-4654-8265-4D8FAB78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enum is a type-safe set of named constants used when a variable should hold one value from a fixed 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AA4FB-57FB-43CF-8415-0D767657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5C070-0179-4950-B417-11CD97D0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Type-safe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894DA-A201-4D68-950A-ABF0FD66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5CA3-0C68-4F11-913E-3EC95D9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8307C-ABAD-4A00-B76F-12CC796B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Named constants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32560-8A0C-4EC4-9CF7-81D3524D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2EEBC-0328-4A0F-9E48-FB13B93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A2C39-D988-442A-A8F3-CB0F149F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Fixed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9F57E-BA25-4800-98D8-372F89C2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CFCB5-3ADE-4FAD-A3A4-3FF55EB9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F2823-73F9-460D-B008-FFE84775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switch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3C570-9E7C-4348-9DE2-3D0B7731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4209F-EC74-49B7-B4D3-168ADF2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A386E-9980-4E6C-B612-05269793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Readable</a:t>
            </a:r>
          </a:p>
        </p:txBody>
      </p:sp>
    </p:spTree>
    <p:extLst>
      <p:ext uri="{BB962C8B-B14F-4D97-AF65-F5344CB8AC3E}">
        <p14:creationId xmlns:p14="http://schemas.microsoft.com/office/powerpoint/2010/main" val="1945650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F169A-2929-4978-A200-A6921CB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E0DFA-D761-418B-BED1-D2C5247F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Enumeration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090CE-0C86-4A01-B086-FE1AF903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enum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D9877-2A76-4627-8AB3-C311759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4DA0B-C5FA-4A40-A668-4FB2491D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ACE6F-3533-4ACA-AE55-723EB201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8A5FE-76CA-4AC6-AB2B-66D8A5BA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5C885-32D9-4385-B9C9-5A4EC7C0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46595-70E9-49B1-8D36-F72A28F9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9602F-D643-4684-9CB0-A321542E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enum Department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CSE, ISE, ECE, MECH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Department d = Department.CSE;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CFB3A-CD2A-4939-BC59-70586447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A221C-9A7C-44F6-B2CB-B74A23A0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16B1D-AAAB-406E-9155-2D75C8CD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40B0B-0820-40D1-9BB9-F774DB85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226621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96294-A906-4A3F-999D-6A6DA255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618F2-C64C-4354-8907-5AECAB0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Enums improve code clarity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7BDEF-9054-4C73-8F02-EC0C54B9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strings and enum constants.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7CCBF-99E8-4FFC-A072-4B67BDB2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4D39B-A344-446C-B701-3A275F00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B3DB2-D203-45F6-B681-7A35A9D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5566-326E-462E-B47F-72BA6B7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FB9F3-008A-4577-AA23-70219DC7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453AE-3B02-4046-AF23-8F667EC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27174-BE08-4A9B-B9E8-01B878C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04321-F851-417E-89B2-B45A004B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String constants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E3B4B-633D-4853-8E46-702C9446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06A2A-319D-42D8-99F7-AB21647A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F3186-744F-4233-A346-C72C45A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691E5-F135-44BC-A158-56C1F5C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Enum constants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C239D-D56A-4561-B266-9846688D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80BB7-F796-4872-8A8E-0D06A3CF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83023-6626-4FD9-8EFB-DCE8C43A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E5558-CB23-4185-8F62-6A4622F3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Can be misspelled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93CC7-3263-4FDA-8605-ECDAB2D8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E6A23-C188-472A-A813-B3C2638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27198-2BA4-436A-AF66-C036BCDE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compiler checking for allowed 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181CD-63DD-45A2-91F7-A45463F4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83BC4-D258-4706-8448-0284079F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58F00-A19F-4147-9C71-C46BD98E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Comparisons can be fragile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1507B-33C0-44F3-98CB-EBCEC616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DA3F5-BEE1-4252-9884-3CC99790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C85A7-7813-4051-B554-87F6D3E0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Compiler checks allowed values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6B4A6-F986-4C0E-8B97-D3DB84E9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5E441-7406-4BC9-98FA-630FD6FB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5BB2EB-A880-43B6-8226-7D57E7F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Readable names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F36D42-CFE4-4FED-B963-6422764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0870A-D27B-4288-A165-06C1C21B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6B4F38-7D35-42AD-9787-C092BB61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Works with switch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89F98-88EF-4A5D-9274-6AA68492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9F4779-E784-4234-8103-AE901B7B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5E1873-4246-45FC-B4B3-3D48186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Can have methods and fields</a:t>
            </a:r>
          </a:p>
        </p:txBody>
      </p:sp>
    </p:spTree>
    <p:extLst>
      <p:ext uri="{BB962C8B-B14F-4D97-AF65-F5344CB8AC3E}">
        <p14:creationId xmlns:p14="http://schemas.microsoft.com/office/powerpoint/2010/main" val="1692585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4EB0D-33F3-463D-9DCC-FF91CB55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26726-7A68-4A87-9EDB-1D9EC93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values() lists all constants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98EEA-B5D4-4829-BAF5-12A905D6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values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9136E-A440-4BDA-BF7A-3F28FD94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C4CE7-4155-44F6-8CDE-7B5FCAC7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79729-6170-4370-8A10-3221CE36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2CE2F-563D-4E2E-BE98-8B043F49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CD8B1-1BF4-4279-8A07-CA6C1777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DEA5A-F503-4A07-93F0-EEDC24BF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33A65-33E6-4CCC-9E34-4EB7C57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for (Department d : Department.values())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System.out.println(d);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A522A-B16F-4087-AD9A-8522A53F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DC46F-ABE8-43B2-B695-E58C6C65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1D2F9-0F89-4116-BAEF-2F880D4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values()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2C293-28B6-4655-8854-9745B95E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346327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D2CDF-55C1-4407-BD9D-6B792D58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DB35A-441E-429A-976F-3185D1EE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valueOf() converts a name to enum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C88C7-0301-4FD4-B2BE-6CD83B6B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valueOf.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326CB-F7A8-48EF-A087-86617C17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57818-A03F-45F9-B4B5-74C310C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836DC-886F-4CB4-B1C2-85C1C338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8DF72-725C-4361-ACC0-6AEC59FF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E0234-A9D2-4A55-B59C-D1DE9CF7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C0F92-3CEF-4B98-A722-DF9A092F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D31F2-127B-4F39-A72B-E6128EBC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String input = "CSE";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Department d = Department.valueOf(input);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System.out.println(d);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1CA34-B77F-45DA-8CF4-ED44CAF2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6507D-EA09-4736-B4C2-9DB51D1B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CDD0A-AFE3-4773-82B2-732DCA47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valueOf()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0D39F-21B6-489C-B7D0-160C164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665277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C78BE-A806-41E9-88A8-89B5F65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24A9E-7A3E-4C4D-9275-6EC8493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Enums can be used in switch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EA335-3D09-4E44-BCFA-415E1116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enum switch.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53433-25FF-4A7A-B8E7-69BB9555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13539-4910-44C7-9708-64E8CACA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702A6-3F17-47D0-93AB-EF78A57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E03AC-262E-4AFF-B7C8-85168524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D1680-CFF4-4A1F-8158-7291480E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BFB04-CA03-4787-8ACE-FB8B0133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FEF5C-092E-43C0-8B5D-612B80B5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switch (d)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case CSE -&gt; System.out.println("Computer Science");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case ISE -&gt; System.out.println("Information Science");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default -&gt; System.out.println("Other branch");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0AFDC-65CE-453A-9161-1CC872EE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CB399-646A-43C2-B9C2-EC4926E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42D44-86B4-4B9D-B115-8797E053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enum switch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C7A97-E467-41BC-A022-BE34859D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590193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57B6D-BE27-4DAE-BEC7-C83D5281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EEBB3-2C80-40A8-90DB-13B9A9B9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Wrapper classes turn primitives into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54BC8-8FE6-4034-B25B-F7A93BAE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wrappers.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6EBAF-566E-4998-8AD7-57B49A5D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236C9-EA53-4B29-ADFC-12BC23A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616C7-5B3B-4AC8-9B97-C31BD0AA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E8372-9575-41C2-B5CA-4D786A6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Wrappers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D99D0-A7AE-4302-B5AE-125C413C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DCB14-7E24-419A-AABF-1F6B719F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Wrapper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412FF-BBD9-43FE-B2CC-85DA4389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wrapper class provides an object representation of a primitive value so it can be used where objects are required.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BF4E7-324B-42F6-A4A1-BB84EA31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73F26-57A9-4846-BB8A-CAD65782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Primitive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00BAA-7D10-44B9-B0BD-D5926ED5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37363-5AFE-4B9B-A515-4FB351C8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5D496-9865-48ED-B6ED-D378D816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A9004-31BA-448C-8965-318C31A6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14CA0-8254-4427-835C-A77FD599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F03FE-7A57-403A-B466-177036FF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CCB84-CC23-4CBF-BA7C-89C14D97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A09A5-1906-43D5-A2D0-E5B12AF2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B459E-E3EB-4725-AEAF-9E747BED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1ECF8-DB57-4784-BD24-9D2BA1A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237DE-13A3-4FDD-9816-B56CE9B4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A11AB-252F-41AF-ACB9-55CA0A00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Collections</a:t>
            </a:r>
          </a:p>
        </p:txBody>
      </p:sp>
    </p:spTree>
    <p:extLst>
      <p:ext uri="{BB962C8B-B14F-4D97-AF65-F5344CB8AC3E}">
        <p14:creationId xmlns:p14="http://schemas.microsoft.com/office/powerpoint/2010/main" val="4558830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E58A1-0B9A-45F4-ABB3-8FE53967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9CCA8-3351-4B6C-BF19-3AAE645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Wrapper class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C9422-437F-474A-990C-33E4F814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wrappers.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8A8EF-B51C-4706-AFF5-49B2EF2C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0F228-30D4-4DC4-9398-2C38309D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253A4-7604-4791-877F-9E13CAF5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5D9DF-5F4A-481D-8217-14617FBA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Wrappers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D5888-2916-4889-8E52-3625F138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238AD-C6CE-48A0-97A0-B6FFDAD1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B4013-3712-40F8-AD05-EFC55CD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B8BE3-C9A7-44DA-888C-F9F3FF75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Character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E378A-F361-49BC-B115-958F67C9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Wraps char values and offers character utilities.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5142A-A82C-4FCE-BC14-9A1B1A39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03211-FE36-46A8-9F80-84C1F6C0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2018B-CD70-49E8-8434-2F7FF14F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Boolean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D834E-E841-4284-A6E2-8548037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Wraps boolean values.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252D7-54E4-4C90-963F-11753DB2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7C710-56FC-46D2-877B-FA111EB0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CCFC4-E067-487B-A3B6-F2D1798E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Numeric wrappers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EC431-50DD-486F-B86F-E8FD9556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Byte, Short, Integer, Long, Float and Double.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8CF52-3649-4DD1-9127-85C6870D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57E95-7A18-45BE-97D0-C4BBC548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C6F0D-6C8A-4877-98B9-EB0CB76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Utility methods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A33A5-DE08-4D37-BD50-EC894FCA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Parsing, conversion and constants such as MAX_VALUE.</a:t>
            </a:r>
          </a:p>
        </p:txBody>
      </p:sp>
    </p:spTree>
    <p:extLst>
      <p:ext uri="{BB962C8B-B14F-4D97-AF65-F5344CB8AC3E}">
        <p14:creationId xmlns:p14="http://schemas.microsoft.com/office/powerpoint/2010/main" val="1080176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C7A2B-75CE-44A1-8206-85DB18C6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C8A66-F43E-48F3-AC26-C99D23D2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Numeric wrapper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4D200-1CCC-4D2B-B18E-9852588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wrapper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7B55-9B4E-48C9-B0ED-4C4F6BB1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4DF9F-00E2-43BA-9BE8-202EE9A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DB57E-59CF-4773-A3C8-B18D0659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30DF7-A0B5-4D02-A8C0-1D918C89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Wrappers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C16CF-F573-4393-8460-BFB61F15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EE689-2840-42BB-988E-CE902699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E5949-2968-4A10-A45F-90508DC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String s = "85";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marks = Integer.valueOf(s);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total = marks + 10;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System.out.println(total);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C9AC9-3194-4D1B-B3EA-B187E4F8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1520F-F541-4D6B-B18C-55EB9E9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E65A6-27EB-4D04-B18D-8A4E210A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Wrapper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399AB-AE0E-43C0-BECE-6CA2BA14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5958707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A72B2-9F8A-475F-ABE8-2134736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BA106-17C5-4B7F-BC07-A8F1330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Autoboxing reduces wrapper boilerplate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B837C-86FD-4978-AE71-FA45A82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autoboxing.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575C8-C9D0-48D7-B604-2A50BFF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5EBB4-9F03-4B3C-A287-E47E77E8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7A48C-50BD-46FC-9CC3-D71DE9E6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E699C-BBFA-4798-9F39-3DC549CA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Autoboxing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49754-EB46-497D-A39B-5AE25627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02091-4A5C-4877-BA29-6CACC5F5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Autoboxing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5C2B3-D5F5-4644-8F4B-689AF423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Autoboxing is Java's automatic conversion from a primitive value to its corresponding wrapper object; unboxing converts 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AFA18-2C37-4255-B0F9-0EAE8A39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0AC85-4531-4B9D-827F-FBD74185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Primitive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47D69-36A7-4680-B735-EA0B65F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A6F98-B802-4B11-909C-9CF82538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BD093-2F19-4567-BEDB-1B9D8E6E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Wrapper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B0C5B-696E-4D18-8340-6213EBF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8F22F-EB22-468E-90B9-5FE3E77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E7410-300B-41E8-94B2-D9CF350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Boxing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48BF5-969F-4A25-AED5-390FF1BB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53A29-F483-4CD4-8068-3DFEE64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6700F-4710-4D12-AF45-32FC724D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Unboxing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FAB9D-8C69-4125-B337-6B424D97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BFCA7-2D35-46B2-907C-90FCFE30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BD0D9-8A86-4EB7-90DF-966D75DC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Automatic</a:t>
            </a:r>
          </a:p>
        </p:txBody>
      </p:sp>
    </p:spTree>
    <p:extLst>
      <p:ext uri="{BB962C8B-B14F-4D97-AF65-F5344CB8AC3E}">
        <p14:creationId xmlns:p14="http://schemas.microsoft.com/office/powerpoint/2010/main" val="11153144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B2966-5D29-43E9-A195-DC2B614F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CF086-3343-485C-B654-0E09A080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Autoboxing with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FCDDB-0A85-4400-92DE-B1293D85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method parameter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6FDF8-238C-49D0-9E59-2810034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E6E83-E1DE-4F78-96D0-D74DE8CD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8AF43-4F2D-45C4-A244-53819748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671B8-8D95-4F8F-96B7-D69C9CA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Autoboxing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B67B3-A0B2-4C5C-9542-D9F25086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E493D-3B20-4C12-980E-1917007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D8200-4587-421E-BB79-932C72F4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static void show(Integer x)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System.out.println(x);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show(100);   // int autoboxed to Integer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6ADF5-57C1-45DE-BDB9-01E8C533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B37E5-CEBF-40C3-B5B4-3B6090B4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785C2-B2F4-4FC2-9FB7-603B4765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Autoboxing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D4E9B-1078-4BD4-831A-386E1DB0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7433666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69CD6-A8EB-4C3A-B359-ED930243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21445-C307-4D29-9AE5-E95198C0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Unboxing in expressions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B5961-CE48-4396-92B6-1E87E8D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expression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3C08E-392A-40FF-905B-D6A78FDC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214FF-975A-48D1-97D4-EA38203C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6B41A-CC44-4376-98BA-B18DE4BE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81356-B81F-4F4D-9B6C-F6334CAE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Autoboxing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A0FF4-1A89-44B1-9D73-20A81A6F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936E-6C25-4A98-A32A-6C253942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DCE8C-5152-46FC-80CE-8800D5D8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a = 10;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b = 20;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sum = a + b;  // a and b unboxed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System.out.println(sum);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B1554-81F1-43DE-B6FC-5D990744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61911-C8CA-4328-A211-A1C37CE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3F708-765F-412D-A840-9EE414EF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Unboxing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68A41-12F9-42E5-A7A8-B0C28E3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5642352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FF93A-9313-44C4-91B9-47E0885F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72082-D1D7-4536-924B-9AAF211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Boolean and Character autobox too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BAECE-F480-462F-A666-74CF597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nonnumeric autoboxing.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D2A10-016E-4739-B2FE-E98EE01A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B2869-1200-4A7C-827A-29FC11E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4EBD1-6741-428C-9F17-0A567D36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801B6-0CEE-4665-90BA-6ED06D5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Autoboxing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EA5C0-0F6B-42F4-9EA1-A363AFE1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608BF-9F92-4DD8-A179-45FE7BC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1ACF4-9ED8-4544-B83B-CA688D1E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Boolean flag = true;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if (flag) System.out.println("yes");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Character ch = 'J';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System.out.println(ch);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50D3D-3FC7-4542-A4F4-43A94AC2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D3CCF-B0B1-44CA-9111-9A3E5B8B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7C245-76AF-4B7C-80CA-86FB2F0B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Boolean / Character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221B5-40F0-4D3D-8A91-EF4B6F6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6001777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7E19D-2EC9-4FF0-8EC9-114F231B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EDFF9-AC4B-483B-8ECE-1190480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Autoboxing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BC48D-DF9D-49C0-9971-9208668D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misconceptions.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84CA9-CB3D-41EC-A68A-0B07C80D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00735-AD99-4BBF-A183-B029824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4D202-7A44-462B-AC7A-DEA26C6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36C84-B336-4EF4-AB6A-05F7D5C0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Autoboxing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F09CD-BEEC-443A-9F81-E304AF90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F4C11-BF07-4DF7-BA54-35C5274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B8055-2CC5-4658-ACDD-FB1B1B93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961DB-BE5F-4438-ACC1-9B252F73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Autoboxing does not remove the difference between primitive and object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80A80-5F8B-4C0E-8F54-8960B0D5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2D2DA-F1F7-47AA-805A-7904AC4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DF648-6C28-4668-86FF-3CED0FD4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 wrapper reference can be null; unboxing null causes NullPointerException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61DDB-8735-4B47-859B-231A1367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E7730-67F8-4C8E-B174-D25CAC5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EABC5-E0F2-4532-9D55-C01C497F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== carefully with wrapper objects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3A546-9E08-4F92-ADA5-C2CD8EB7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1BB46-B5CC-4316-9150-99DA4618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1D6CA-E390-41D8-8114-8EEEC33E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Prefer primitives for simple numeric loops when object behavior is not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7D3E7-489D-4E65-B669-FE0296BC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4BA04-DBCA-497D-BEF7-69AFD2C7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5C40F-A7A9-4259-AE5D-32C154F1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wrappers when APIs require objects or null is meaningful</a:t>
            </a:r>
          </a:p>
        </p:txBody>
      </p:sp>
    </p:spTree>
    <p:extLst>
      <p:ext uri="{BB962C8B-B14F-4D97-AF65-F5344CB8AC3E}">
        <p14:creationId xmlns:p14="http://schemas.microsoft.com/office/powerpoint/2010/main" val="16190951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DF42D-3862-47F9-A438-E6258E91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BD5ED-09C6-4FFB-8C66-EB64A652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Generics add type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71326-4604-4E71-8620-F3F13F56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generics.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A6EEE-43F5-4FB3-BB4B-41D3787E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0612F-004A-41E1-8C05-AE7AB095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0FD7A-4494-4AA3-90DA-5A9AD7A9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04E72-6A0F-4FAC-8388-5F84D009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1D6BF-EDE7-4BFF-9330-A3D9ED39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92B76-F5C3-4F13-B08B-849B22E8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Generics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BFD24-9D75-4FE8-943C-2A4FBA59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Generics let classes and methods operate on a type parameter, giving compile-time type safety without rewriting code for each 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006B8-DACF-4CF4-9912-9A242CCD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E657B-4061-4BC0-BD8B-43232104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Type parameter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25FE1-4C4E-4A70-A1C2-70D91C9E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77B3D-9363-468C-A910-0B31E13D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5C13D-A279-4928-BD07-A50C4C9D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Type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D17D1-2ED1-4995-BF11-A804659B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8249E-8C2E-4A0C-868B-41CB09B3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DF2F9-AC5E-4E7C-BD39-5F438187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Reusable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33A94-33EE-47A7-9BAD-323933AC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1DA59-92FB-4210-A64D-435AA153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6BF55-EE7F-4897-BE1D-4FFDE429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Compile-time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D2F7C-7113-4164-A8DB-4F537AF3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5FCCB-86E9-4C0E-B1B4-525BC66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B4B28-B002-4921-844E-74C7CF3D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Reference types</a:t>
            </a:r>
          </a:p>
        </p:txBody>
      </p:sp>
    </p:spTree>
    <p:extLst>
      <p:ext uri="{BB962C8B-B14F-4D97-AF65-F5344CB8AC3E}">
        <p14:creationId xmlns:p14="http://schemas.microsoft.com/office/powerpoint/2010/main" val="19374708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C0DBDC-6294-4987-B002-600BB701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13023-17F3-46C6-9653-32807F3A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generics improve type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7CB0F-D783-4596-A055-42B867F3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before and after generics.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064E6-A67F-4BE3-82AB-BA24D0A7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AC555-57D4-4655-885B-74CA8145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F3DFA-2DD4-48C7-B6DB-4582631E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974FC-2F1E-4B81-896E-AB82D22C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2BEF7-2D0C-4125-9F3F-CE85D94B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A5945-69B7-46F2-B62D-970987E2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05A23-5110-4EBC-A931-65E67EA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F9CAA-1E33-4A8E-9896-F8BACD08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Without generics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44D15-4F15-4557-8B62-4B44C9E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F67CC-111B-4A0A-9027-F2B5B154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B7C2A-949A-4CDF-811E-A6BE6EE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0E871-AD49-49A0-941E-7C189D9A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With generics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C9E57-AC00-478C-9DAA-E0383496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698BD-85FE-4877-854F-37A40DC4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E3D6E-A66B-40AA-BCC3-4F6E1D7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785BB-BD9B-47A1-A5CF-A9A0DD34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Uses Object references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1DA4C-5CDE-49A5-BA2D-9E08BD80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518AC-4395-4715-AF79-2D118033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38CB9-AC55-4CD1-ACF1-7D9A4A4C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Requires casts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7B817-919D-4FC4-AFE9-14907FF3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D1C16-5FC6-4C44-98A9-D8E004CE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3D404-62D6-4933-994C-E46DB3F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Runtime ClassCastException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18230-96CD-4F76-ABA4-E03F9FF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E5CBE-F4CA-4016-996F-1BAEFB5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3CB8B-F37B-4667-9458-C8E63E20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Less clear intent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D6D89-0AFA-4F99-934E-35E8B5A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67FA2D-730C-4A4F-A1DF-CB964D29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04503A-2E48-4630-B2B7-E7BE459B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Compiler checks type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90DF6-7811-4D28-BC85-546BC80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5F2621-FBD0-45CB-B5E3-E603EBCF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B5DDE9-4DD5-41E6-97D2-C1E54761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manual casts in normal use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FF2288-EBB3-4DCA-BB0E-727E8442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079C0C-C037-48B3-9678-EF1F0587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D36B8-437C-4F1F-841F-B1C4CA7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Reusable with many types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2E94A0-1CCB-483A-82A7-A7B499D0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B203DB-870E-4ED3-AA64-EE824BE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A06E19-9364-4FE2-BE56-DBD68BD9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Clearer API</a:t>
            </a:r>
          </a:p>
        </p:txBody>
      </p:sp>
    </p:spTree>
    <p:extLst>
      <p:ext uri="{BB962C8B-B14F-4D97-AF65-F5344CB8AC3E}">
        <p14:creationId xmlns:p14="http://schemas.microsoft.com/office/powerpoint/2010/main" val="5347279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FF5FA-7C06-443B-B56D-6C9FBAD2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A5A79-69FC-4ACE-9BDF-DBB49F5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 simple generic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CAC56-2114-4B5A-AD0D-9C01AE4F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one type parameter.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8F50B-7BDF-49B2-B059-E02C3B6B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2A628-6D4E-465E-9CD1-04CE05D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33E61-44A0-49EB-9672-9CF7838B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A3700-A46B-41E1-B836-05F39FED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777CE-5929-4145-8F65-8321A69E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87FA1-CEAB-45DA-85A6-A5B610B5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F2A24-A599-40E5-8466-189B9788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Box&lt;T&gt;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private T value;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Box(T value) { this.value = value;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T get() { return value;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Box&lt;Integer&gt; b = new Box&lt;&gt;(10);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5FF6E-6FC1-485D-BE83-D62892B7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75D5D-231F-45F9-8AC5-FB574C48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BD543-1AC6-4658-8807-88F77FD4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Generic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4E4CF-6ADC-460D-BB7C-B2DC34D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7318378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83233-FFD9-481F-9C91-177902E0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3CEC3-2D8E-4368-92E6-174BDEE2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Generic class with two type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F07DA-A13A-415D-8732-4542C3AA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two parameters.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BD959-607C-4DCA-9CA8-99BAF9A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DB645-CB7C-4EDF-872C-DD776FFB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D5ACE-E3C9-492F-9DF7-1DD28B6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AC108-98F1-4F0C-93C0-95314CB1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C170B-835E-42B8-93A9-C7B18A1C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0F24A-0152-44F6-89D6-11DE1A96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88D5A-6C3B-4760-9240-5F0714E0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class Pair&lt;K, V&gt;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K key;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V value;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Pair(K k, V v)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key = k; value = v;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18B47-3BB2-4A33-9F58-2A1C01B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87272-46FA-4AE5-B628-E639EDE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2CC5F-05E6-4822-83B6-B5CD039C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Two type 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589CB-D7BF-43E9-9E4D-747F4A6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8183457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DCC74-7E98-42F3-B90F-384B3AE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6BDE5-E822-49D1-9B4A-EA2AD8D7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General form of a generic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20E40-9ED3-4154-8EC7-B0351617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syntax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1FD9F-D62B-42C7-AA1D-A3686563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73C53-F0A0-498C-92CC-2D9859BB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71538-469E-4EE0-8E89-221D324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5F3E8-B540-4DF9-A1ED-FDAF0D8B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EA3B2-A01F-4220-97C5-10E2A99F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634EF-E494-4601-845B-EB3083A7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Generic 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DF10A-6550-4156-ABAD-D306927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generic class declares one or more type parameters after the class name and uses them as placeholder types inside the 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4EE0A-E59F-4ACE-A95A-5F8C8B49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12811-D57D-42E1-9B06-F8F518D5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class Name&lt;T&gt;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39C4C-2AF6-4D0A-A1E9-8141E4C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CE947-2FB1-48C0-B5C3-82833C3A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EAFFC-D44A-4259-A327-2F27ACA5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Type parameter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B8408-F624-4E9C-B7D2-323FE5C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E24B3-26D5-4C88-8877-79A8B7C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D566F-9A2F-49F8-9610-B02A93B8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Reference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15931-A1E2-49B9-8090-49A9F45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38690-5204-4F46-BE8C-26BF598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460DD-7C5F-4353-9226-65B7ED5E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Reusable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6D641-27BA-4434-8298-2E7356D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962CB-707D-45DB-9C5E-948F6859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88AAF-9578-4913-A161-4AF602EA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Type-safe</a:t>
            </a:r>
          </a:p>
        </p:txBody>
      </p:sp>
    </p:spTree>
    <p:extLst>
      <p:ext uri="{BB962C8B-B14F-4D97-AF65-F5344CB8AC3E}">
        <p14:creationId xmlns:p14="http://schemas.microsoft.com/office/powerpoint/2010/main" val="446404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5B125-4550-4553-A7E6-1D393759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79BEB-5D39-4875-BD20-CE24A369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Generics work with reference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57A4E-198A-431A-B09D-508275ED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primitive limitation.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F346-5831-4173-A482-E1D416EE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83D0C-154A-4E7D-8BAE-58C655FD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95993-7FF7-4732-97ED-6339F11D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D7BCD-F06C-4DE1-A3B9-13FD23B6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3DADC-A8EC-456E-85B8-D2F6B9E3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ED013-2072-4380-AE52-568357CE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2A475-A1FD-4016-89A3-E91D942D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B10E9-0AF3-40AE-AADF-17F087D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Allowed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2C1A1-65C8-431A-A64D-E0CA9928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Box&lt;Integer&gt;, Box&lt;String&gt;, Pair&lt;String, Double&gt;.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1C514-EB53-4B63-A4A5-58D62BC7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5843F-1BD1-4403-967A-DDE8019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BFAE3-4A45-4A17-BB76-1C9BB5B7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Not 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39744-3155-48C4-8CFA-58126638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Box&lt;int&gt; because type arguments must be reference types.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264F3-46B4-4F30-9D77-8DCB8452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D2BAB-C95E-4A61-87C2-4D84FB95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C0070-619D-4BCE-83C3-DA782EE5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Wrappers help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1846E-D87A-4F7E-B9BE-3CF50EE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Integer, Double, Character and Boolean.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15DCA-85E0-49FC-94D6-261BBD13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7DEE1-8471-44A9-8C2A-7F9C72B4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9660A-751E-4339-B1F5-49EB60F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Autoboxing helps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5E7698-A1F3-4E39-9BDC-A59FCE15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Primitive values can be boxed into wrapper objects.</a:t>
            </a:r>
          </a:p>
        </p:txBody>
      </p:sp>
    </p:spTree>
    <p:extLst>
      <p:ext uri="{BB962C8B-B14F-4D97-AF65-F5344CB8AC3E}">
        <p14:creationId xmlns:p14="http://schemas.microsoft.com/office/powerpoint/2010/main" val="10971143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0C9199-9CCE-4FA6-9C96-9B448042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FBC13-1567-4C34-90DA-24C679A7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Raw types should be avoided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7C7A-73CC-44E4-83BC-349A2B67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legacy compatibility.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4EBCA-BCC4-43FE-A836-026AEB1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727B7-7CD6-4090-B9C0-2E294328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36C49-7352-4CF1-AB4D-2A9915F9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7167C-1893-4A64-9290-301A532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BB9CA-4AC6-4A02-B7E5-98D21DF3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56BDC-BCC6-491A-966A-5B9EEE2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CCF28-8EFD-44C4-9789-70F71E3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73388-29E1-4621-8A31-B1592C2B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Raw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4D926-53E2-46C0-B98E-D18EFDFF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Generic class used without type argument.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A3528-DD3A-4574-8295-F7E7D77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F9996-D35B-48B9-9B57-0734677B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9AC06-CCF0-4E47-958E-2BB3D8E3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Why exists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12E46-1B05-440B-BD35-9C5C9B9B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Compatibility with older Java code.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EBA7B-F57E-424C-8D4E-D176DB7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7AAF1-1AEF-4410-A1F5-F7E28E14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3A76F-B65B-4C4E-A228-736690F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2D3C5-FE54-4D5C-8A2A-E27551D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Compiler loses type checking.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F7C45-02E2-4036-A483-D515A6F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D59C4-18CF-41EE-AD41-7013F67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EB9A7-26FD-45DE-BBD8-4D232BAB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Best practice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94EFE-0351-4786-ACEF-E2339949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parameterized types such as Box&lt;String&gt;.</a:t>
            </a:r>
          </a:p>
        </p:txBody>
      </p:sp>
    </p:spTree>
    <p:extLst>
      <p:ext uri="{BB962C8B-B14F-4D97-AF65-F5344CB8AC3E}">
        <p14:creationId xmlns:p14="http://schemas.microsoft.com/office/powerpoint/2010/main" val="12034816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A3951-BA1C-4E28-A906-B4C9E0E9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31939-8BA9-4760-BAF3-3867496B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Type inference with diamond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3D838-C603-4638-954F-C0F1476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&lt;&gt;.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9D908-1FED-445E-9BA8-8CE1755E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398FD-22F6-4801-BE62-0B76D73B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B7B0A-6DB9-42BA-81C6-4A65F8CC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6CC01-5265-444F-9256-175EE2CF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24486-80F0-483F-A6AB-3FD54E1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9A37-0611-4135-AA81-2A91B2F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DB71F-AE23-4C97-99E4-AADDC26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Box&lt;String&gt; nameBox = new Box&lt;&gt;("Java");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Pair&lt;String, Integer&gt; p = new Pair&lt;&gt;("CSE", 60);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16BAB-80C0-4A05-845B-C9E0CF7E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9B43E-EE09-463B-9886-911BC331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655F6-C87B-45A5-8538-9F2951FB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Diamond operator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49B5F-16FB-4DBC-80D6-4554D59B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6843570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99BB6-E219-4041-8E46-9A925B42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CA04E-5C6E-48BD-8F3E-B85304CA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5 lab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3BCB3-C0BE-4896-8B84-F80C027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Map concepts to practicals.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DDDA1-6B4C-4D7C-B2B8-A280CFD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3C8E1-7F00-450D-95AE-EA77241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9A671-9140-4D56-B120-4C40728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6734D-D625-42D6-BC6B-579F73F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7B26C-86BD-44B6-8FAE-0179A5F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43409-27F1-4AFA-A7B0-39CD3BC4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DE538-6F2B-497C-8196-5D370BA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0F952-436F-49EE-B1C7-51AC3DFF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Department 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C2A27-AD3E-4380-A3BF-13E28A5C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valueOf() to convert input to enum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F1C54-60E7-41AA-97CD-221303B1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B55B4-F019-4849-9DC6-A406DB3D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83D98-00F5-4D86-AC66-608EB40B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Marks as strings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A1B9C-93A0-487C-B367-D7952CAF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Convert with wrappers and calculate total/average.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4CF44-306B-46C8-8758-0E15702F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7390D-2291-4346-B401-30F634F9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B0A0A-E5E3-4C48-A893-CA7CCC74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Autoboxing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BAC4D-1F31-455D-833E-04604402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Wrapper objects can participate in expressions.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673F0-59FE-4948-B40B-78E7B630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EDF55-32B1-4908-8809-A29E661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1CC55-DCF9-4F9E-B8F1-26AC5D4E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Generics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F1A3C-E5F4-47F3-ABBD-AF9A10B5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 reusable Box, Pair or stack-style containers.</a:t>
            </a:r>
          </a:p>
        </p:txBody>
      </p:sp>
    </p:spTree>
    <p:extLst>
      <p:ext uri="{BB962C8B-B14F-4D97-AF65-F5344CB8AC3E}">
        <p14:creationId xmlns:p14="http://schemas.microsoft.com/office/powerpoint/2010/main" val="894239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88BCE-99E2-4E0E-8095-6DD4BBD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E3BEB-3D62-4527-AF70-BBB28BD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When to use enum instead of int or String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CFFBA-2C6A-479D-B9BB-0C11550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practical enum design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D27E9-AED2-4BBA-8F2B-796D9081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35CF6-B32A-440E-8B18-E9D197F2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9A7D8-70EF-401C-8432-BD04BDEF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6F6E9-B73D-43E8-A44D-858E5C79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1E1B8-100D-44B5-A0F7-31A6520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4FC75-3EB9-4B42-AD53-C5CAEAA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D3B80-4D3B-47D8-91C5-1A2BF8D0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36262-F21E-4AF4-9062-4343F8F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Use 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4C340-1F68-4E58-8614-BBB9314E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When values come from a known fixed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B9A79-74A1-433F-990E-064FC251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0819E-BDCC-480A-BB84-0C3DA310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F9A03-B405-4003-AA92-FADC4E62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Avoid raw 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D1159-27F5-4F86-B537-F6639ED4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Numbers do not explain their meaning.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45959-665F-46D7-9412-D3F68C22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90BD0-6B9E-45BD-AFAD-C8A736CE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60F01-B920-465E-BD33-7E33BB6C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Avoid free 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099B0-F076-4E0A-AF99-438BECBC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Spelling and capitalization mistakes become runtime bugs.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1208E-0107-473F-995B-08258CE1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55371-47B4-4769-9CC3-BF911CF8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3B360-7393-4645-8741-1E7532DD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Benefit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FBF89-1948-436F-AD05-A040A51B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Compiler protects allowed values.</a:t>
            </a:r>
          </a:p>
        </p:txBody>
      </p:sp>
    </p:spTree>
    <p:extLst>
      <p:ext uri="{BB962C8B-B14F-4D97-AF65-F5344CB8AC3E}">
        <p14:creationId xmlns:p14="http://schemas.microsoft.com/office/powerpoint/2010/main" val="15253697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E9E6B-8728-4E7D-9689-926BCD98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9C51E-AACF-4BC7-A717-C83096B4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valueOf input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54826-D860-4AB7-BA54-444AEC8A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valueOf runtime mistakes.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0B2B5-9524-4C55-81D2-510570B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153FB-0EA2-405D-BD30-28A9661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935F3-DC68-439C-9D21-958BF73A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25018-D850-4B36-9412-463FA60E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3AC32-5BA5-46B3-BFEC-651FF1EC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86B1E-93C3-4E2D-BFB6-E46D6A33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F270D-5E8D-43DB-A3AB-6077C34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String input = "cse";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Department d = Department.valueOf(input.toUpperCase());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Without normalization, "cse" fails.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433AA-1008-414F-A9D4-C725D6D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332A9-E7DC-4CF3-942B-BD8B85CD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F892E-B065-44A1-A65E-11272095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Safe valueOf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27CD2-B448-44B7-AED0-D04681D2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20877043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AAF09-39C7-45E5-9DAB-F93796A9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3CAE6-E712-48A0-ACCD-C9F3DD73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Enum constants can have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33EC0-C4C1-41AA-82F2-1D0F0779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enums as richer than constants.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AD153-AA73-4536-A59B-ABC9892F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C99D9-E6CE-4FF5-8068-6E750E3A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9AF77-D445-4EF0-89B3-B374C6CF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89D53-19AB-4616-B7ED-F1FC9A69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Enums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C469E-65FD-4D91-8AA9-ACACE671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BC11A-932D-4029-80BC-86D0F224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E5ACB-8D52-4829-82E9-7E8E73AB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21AAD-4673-452F-B6E7-7BF9F26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Enum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5EF76-0715-4739-B7C0-74FD88BE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An enum is a class-like 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3A6F3-F785-4858-94F0-B126FF2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7F53B-5A48-410F-B1C3-2BAB39CE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95CBF-144E-430B-9EC2-BCA54963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Methods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1CCFC-1185-41B2-BD98-B47B12B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Enums can define methods.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F27E6-F75F-4076-BA2D-48DB32EE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EE0FE-3DB2-473A-B925-B7EA117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33730-A927-451D-B66C-A1858387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Fields/constructors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9A2F5-D602-42DE-97AC-B01FADD5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Enum constants can carry extra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093AD-C694-44DF-8350-EF59804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BF08A-7A92-46E0-A327-4C4D62F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4B316-87BC-4C78-8AB9-8AE805E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Simple module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53AAB-7AA4-4906-964A-B41AFA61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Syllabus requires fundamentals, values and valueOf.</a:t>
            </a:r>
          </a:p>
        </p:txBody>
      </p:sp>
    </p:spTree>
    <p:extLst>
      <p:ext uri="{BB962C8B-B14F-4D97-AF65-F5344CB8AC3E}">
        <p14:creationId xmlns:p14="http://schemas.microsoft.com/office/powerpoint/2010/main" val="6108510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4AEC8-A74A-4C7B-9D70-5AE3FAD2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486DA-BBE3-48B1-9BCF-D8FC972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wrappers are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BE089-21CD-44ED-94E4-F93E8811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wrapper motivation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1BFBC-D952-4450-B656-D371FE25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E7292-772B-4445-85FF-26D4E105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FB4DD-55A6-4A38-B1B2-7697AAB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614F5-6367-4E5C-AF28-1B3F6463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Wrappers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E9D8A-BA8D-432C-8B90-5330E0BE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23E8A-052E-472A-9626-18F1F49F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5881E-F0E4-4919-91B7-681D0C73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Primitive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4C34A-8649-4DA3-96C7-4BB8ADC6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D1299-86D9-4842-B984-6A3480B0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7E93B-2C4A-46F2-B889-05ED4F90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Need object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D5A8F-6268-4B68-9CE0-F7E67F8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ED562-55AF-4D33-BC86-6E66BD2F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3DE07-4F0F-44BC-8E99-E1315535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 wrapper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600A6-6851-4700-B9A0-2856623E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E9D2A-FD4E-442B-8B40-A5201671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FA003-8348-414A-9E89-4F5C3026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Autoboxing reduces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170A1-F616-453B-8113-4B0815EB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1B768-D586-4840-8319-8D6D63E7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C7C6B-AE32-4046-B441-BC5AB29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Generic/collection APIs work</a:t>
            </a:r>
          </a:p>
        </p:txBody>
      </p:sp>
    </p:spTree>
    <p:extLst>
      <p:ext uri="{BB962C8B-B14F-4D97-AF65-F5344CB8AC3E}">
        <p14:creationId xmlns:p14="http://schemas.microsoft.com/office/powerpoint/2010/main" val="4731900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8539A-8801-45AB-9B29-0BD5639D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7B979-A7DC-47A1-B8EB-584F6024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Parsing strings with wrappers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FD9F2-505F-4AE7-A0CD-6594C345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lab-relevant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BB54A-A53D-4B4C-9BF7-4C666F6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CF30D-A027-4A3E-8B72-79653689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FE663-092A-44F2-98D8-4588A176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12AD6-84DB-4192-9A53-DBF0F065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Wrappers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5E352-38CB-4260-9609-1EA810C4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E6889-7489-440B-A040-0919D3E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85A42-4A14-4C08-92B5-BF271D09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String m1 = "85";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String m2 = "90";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a = Integer.valueOf(m1);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b = Integer.valueOf(m2);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total = a + b;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C6987-DC98-4B21-83BD-0CF44B8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2F63B-D3FC-4DCC-8B80-5912FC10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AD104-F628-44E8-B585-3D4B9177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String to wrapper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C4859-B2E5-41B5-8502-6107D685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89853773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209E4F-DCA5-4873-9690-5E68A902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C4D7-1363-4EE9-99AB-86D6715F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Autoboxing behind the scenes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9A257-4FC6-4E70-8BD1-D5DA791D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Reveal compiler-inserted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A5748-574D-4A7F-A993-E3818FB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45D87-6E71-4930-838C-CB6FE393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C8161-8E4C-4582-A2AA-15BC8BEC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3AEAF-34F4-4DD9-8FB0-8CAFFF9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Autoboxing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426AA-86F0-4F89-AC1F-8EC75EA4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874EE-9044-48E1-8738-52D498F6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05C12-0D68-44D5-A24B-D0E84C8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AC4DD-F2F0-497E-B1EF-02DD43E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What you 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62935-0C50-42D6-956B-93F7F1B5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5971E-2835-42D6-9623-32EA42C6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C1AFB-A1B9-4F66-AD08-A1579DB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E7A6A-3DC2-4F74-A4A1-2FF28E2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What it means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1CEA5-01E4-4BD6-8F41-728AE277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20954-1464-4ABF-A384-42E01C95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5AC89-5739-4153-9438-8FECC2B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00983-D56D-4682-989C-F97355A7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Integer x = 10;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64D59-35F4-43F1-9090-1393C33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ED443-D812-4C90-9CD5-DE9C6E9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041F90-DE06-4515-929D-0EB3C91D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int y = x + 5;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AE401-6C2D-4967-A358-BD7B9EA8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FDB72-87BA-4052-A94C-8F031FA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BA83D-7F20-49EC-9F21-D1D5A893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Looks automatic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FC089-C8B2-44B5-9C5E-EEAE89C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7C103D-4EB2-41BF-BCA1-0C87D0A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01A47-8DFE-4953-A29E-AD17B91D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Integer.valueOf(10)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78B218-8AFE-4FEF-849A-2BD2D770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A7B16-4C61-4774-8264-D281E5A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B4163A-22AF-49D6-96B8-181EBB35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x.intValue() + 5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58C5D7-EC69-4124-B54F-D57E41C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4D7ED9-6DCE-445A-B588-0FBCC313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3AFE22-1461-4D00-ACAB-D96FEA66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Compiler inserts conversions</a:t>
            </a:r>
          </a:p>
        </p:txBody>
      </p:sp>
    </p:spTree>
    <p:extLst>
      <p:ext uri="{BB962C8B-B14F-4D97-AF65-F5344CB8AC3E}">
        <p14:creationId xmlns:p14="http://schemas.microsoft.com/office/powerpoint/2010/main" val="14298627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75985-2E8F-4C88-8687-F6ADAE7D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42BA5-6650-4D88-8601-CF9B0161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Wrapper comparison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E551A-E78D-4A70-AE12-DF1AED14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== vs equals.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DD398-62C7-4575-9763-A0A80D24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F36EA-B94D-4FAC-8DA6-ABE9DAE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0A012-9326-41F9-8DD2-DFE3DBC0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7787B-65A2-4D90-98D7-35B03693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Autoboxing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26993-43DF-4FEB-8515-83F9624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93226-EDA5-4363-9C5F-6B89DB0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7CFE0-E0A1-4423-A0C1-46A2D11D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a = 200;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b = 200;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System.out.println(a == b);      // compares references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System.out.println(a.equals(b)); // compares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AD6CA-35DE-497C-9054-327DDCFF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9A1A7-2684-4554-9F07-3B95ECE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4B3DA-56CB-4F06-BFC7-DB52FCFF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Wrapper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6F4B9-411D-4F5F-90AE-8E0309C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6369886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C444A-A4A3-429B-AB6C-EFA90254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D40B6-A082-4A60-9C63-6EBC03B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Generic type parameter naming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091B2-7A95-42AA-9666-FD15FC02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common names.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195A1-0D26-4272-8E5E-1D28CB86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3B568-8EB7-49AC-9E65-D42B0475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7C907-59CA-49D0-99AD-351AC2B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4A8D7-4F6D-4FDC-A714-68DF9E46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3D4F1-A391-4515-9296-62D7F3E9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60B82-2917-49F0-A8E5-B685BFA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85CED-7BAC-4F6F-83CE-600B252C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8ADCA-9333-44B2-83D6-75612961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745EF-AC46-4307-9004-5542085F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7F018-1807-4ECC-987C-3852F8C1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2B729-2E39-47FC-B201-F064ED4D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94B9B-7F70-4DA7-BB88-DDB0C966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6DE3C-EA4A-4769-9B61-5C1AD45A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Element, common in collections.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E9F24-FD3F-4EB0-B289-F607438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7987D-72E8-495C-8515-FDF4A890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FA983-84B3-4A0D-A129-A136D02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A237D-3645-4D8F-9414-EE4F7309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A579B-8057-4288-9982-BFC5304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6EAF4-77BA-480E-BF95-C818FB04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2CD8C-D771-450B-AF98-58660F4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8C2AB-3B07-45F0-9321-5C7C3355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Value.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25CDC-BC1A-4312-AEBF-C7B4756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08C37-81C6-4AD6-A443-AC1EE0C6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3E7DE-973F-4C6B-BFC8-DEE3DB2B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Meaning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C2265-E522-4D09-82D5-F5CA9FD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Names are conventions; the compiler checks the actual type argument.</a:t>
            </a:r>
          </a:p>
        </p:txBody>
      </p:sp>
    </p:spTree>
    <p:extLst>
      <p:ext uri="{BB962C8B-B14F-4D97-AF65-F5344CB8AC3E}">
        <p14:creationId xmlns:p14="http://schemas.microsoft.com/office/powerpoint/2010/main" val="10220124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2E462-BEF6-4CC0-9D41-D57CEB88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D0669-5193-445B-B890-22EDC5C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Compile-time type safety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5BC6B-B81B-448C-B6E4-91A9B3EE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wrong type rejected.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95BD4-3792-4CCD-91DA-03097BE7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AA81E-166F-4E3E-A45E-442244F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1FDAC-93AE-4B93-8A09-8D6127D3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38FFC-AAAF-43EE-99EE-081C7D20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E0741-9F06-49F6-8597-69E4424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16028-D9F8-4D27-8F89-E38A36AD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E149D-5934-4410-A027-8DF4F479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Box&lt;Integer&gt; box = new Box&lt;&gt;(10);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box = new Box&lt;String&gt;("Java"); // wrong type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box.set("Java");              // compiler rejects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Integer n = box.get();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5E02B-4AA4-44F3-AB3B-BE40601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312D3-E950-4A6D-BB4F-324ACE5B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A877B-2430-4DC4-AB9B-B2B53094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Type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C6262-584F-4624-A3AA-7EC6ADA5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9961669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86818-B474-45E8-AFE9-90DECC76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69F44-D528-4BC4-99F2-90EECEA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Two-parameter generic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A9597-CF22-425F-99D1-E13B0EAD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Pair practical.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CC2B9-2045-4475-8E2B-278C897F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B4C2C-418D-4C5E-9602-B8BE1D76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2922A-BEDE-4B9A-A2FB-EDCEFAA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03240-D7B7-4F46-B963-16CBF38E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C9422-8492-4B60-8BA1-08E13388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AD434-8E90-49D8-8936-11B40EC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2E7E0-3F69-415A-93B8-000CBCF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Pair&lt;String, Integer&gt; record =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new Pair&lt;&gt;("CSE", 60);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K is String, V is Integer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Useful for key-value style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F0A74-DEE9-432D-B7CD-EB67916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623BA-B966-41C7-B5DE-B8323E30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7CB67-5FF4-40C8-BC90-ACF9F2F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Pair&lt;K,V&gt;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1E339-4F85-4EA6-89BD-E6FCDFB2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5975948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57F9B-F434-4791-96C3-BA005A09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180A5-6E8D-4C2B-B220-F61DD3D6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generic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0CEC4-E853-42F3-91F6-AAC00E47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syntax and concept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1133D-EFE5-4B11-9580-849ABA1F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8DBF-5969-4543-A0B2-D453CF8C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2A714-615A-4F51-AD4D-EC2F4481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FA549-C7F9-46CC-96D3-670C33F4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Generics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C1C66-8097-4B98-AF44-9D62C489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6FAF6-EF1E-4B9F-BD0D-5BE6F1DB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E2B93-EEDE-4CEB-817F-BDDB974D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4D56F-12E4-40FD-AF1E-9F58122F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Using primitive type argument such as Box&lt;int&gt;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A8656-D2C0-46C2-AAC8-B330826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2B51A-33D5-4E54-8CDC-C4242724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A7973-FAD6-4C69-B4AD-81D15F05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Forgetting the type argument and creating raw types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4368B-612E-491F-8B0B-2C0CD803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B3C6B-3CDF-4F51-9395-E0FE941B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1DAD5-0098-479D-ABE1-BED06D8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Assuming generics change runtime primitive 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BA2E4-86FC-4E02-AEF4-4C4F5463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953B3-FDF5-49E1-BC68-8747A3A9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8A0A2-310D-42B2-A573-9552EA60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Using unclear type parameter names in larger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CBC7E-A614-405B-A62D-940DD9E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92E76-E06E-4F9E-BA1A-486E7651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FF0B6-DD52-48A4-8A71-D82633D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Ignoring compiler warnings about unchecked operations</a:t>
            </a:r>
          </a:p>
        </p:txBody>
      </p:sp>
    </p:spTree>
    <p:extLst>
      <p:ext uri="{BB962C8B-B14F-4D97-AF65-F5344CB8AC3E}">
        <p14:creationId xmlns:p14="http://schemas.microsoft.com/office/powerpoint/2010/main" val="4329790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F4D38-D32E-4987-BF5C-9E6BF1BB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8592F-F3C0-41CC-94B2-24A87B32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lab plan: marks with wrappers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E5F36-68AE-408A-A7DD-411585D5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wrapper lab into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AA6A0-555B-495F-A256-9649F49D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37834-A67D-451C-8473-E328003F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C09B4-075C-4EF4-9469-0FFC7FD0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34902-853D-4A39-A281-F3BD7973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F2F69-CC98-4693-84A9-470872A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5FCD7-A06D-49BB-A224-BC913038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7D7D2-97EF-42D1-AA18-DE151BCF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 marks as strings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3D797-47DE-4632-94F6-71126D32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86200-0886-4087-A69E-D4132AB1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E8489-6686-441C-BB3B-87C878D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Convert to Integer wrappers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A44E5-F11F-443F-B883-1D4BB50A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E47F9-0AF0-42A9-8A1A-B698780F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41DCF-EE5A-4F5F-B3C7-45714E8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Unbox in total expression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791A5-B9C3-4266-90C2-39C52E93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B77DC-27C6-4818-9FE9-63DC0E3F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FEA2C-90B8-476E-B251-6256F7F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Compute average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947D1-F8BE-4B5F-BACF-8A96D352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FD83C-1E7D-4183-9899-CCD4CD00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F1784-EA63-42F2-9D84-4AA7B2A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Display result</a:t>
            </a:r>
          </a:p>
        </p:txBody>
      </p:sp>
    </p:spTree>
    <p:extLst>
      <p:ext uri="{BB962C8B-B14F-4D97-AF65-F5344CB8AC3E}">
        <p14:creationId xmlns:p14="http://schemas.microsoft.com/office/powerpoint/2010/main" val="145718549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5A34A-F665-4760-A654-3D1F72C8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95112-B508-4E17-B792-BA2B957A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5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AFBF8-DA06-4011-B042-37B6C25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0F176-8ED7-41D1-B7C2-22E042CD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196A3-EFD3-4070-91C5-F19E75C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37BE5-0901-40FE-B57F-8E2691A8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EC2CD-49C5-45F7-B721-F3EA3154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482FF-018E-4573-B646-C3AA7E59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006EA-EE04-4E4F-B5B1-AB1B7BFE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91FBE-556D-4FAE-A2F8-3AEE3051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155BC-0B3C-4FB7-8E25-D972ED8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B2B48-DAB0-41F3-B77C-F778115E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D5E30-39EC-4C9C-B2B3-93B4B834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Enums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64139-637F-4D30-B885-1345414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Named constants.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1D99C-D294-4B20-B413-78F33C62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40323-B417-4DE1-89D5-28559C49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5F831-D918-4D4E-8834-F60B0B01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values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C8F59-EEDC-48AA-B244-0073580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List constants.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089CE-7D50-4F54-88DD-3C83134D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22A16-A7A9-4809-A3E1-8D3C50C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5DDE0-AE6E-4F6C-A7B6-B6CE480B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valueOf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EAFC6-8108-4DA4-B584-24841D5C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Convert name.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D2F67-023E-436F-9796-69AA7D79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C7458-DD1D-4D9A-B54E-C7B00BFD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03CBE-337E-43A7-A413-DCBBFCF3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Wrappers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D3D08-E355-4584-B80A-FE98C127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Primitive as object.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29989-3157-4077-8670-E054F42F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311E8-FE6E-49FD-A2C2-39F694A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B9F81-58AA-4662-855C-E9667860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Autoboxing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6FF28-7275-4043-A505-6EA3B960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Automatic conversion.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36524-F446-4BFD-B966-B00A98B6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8D005-DA9F-4AB0-A6C3-F12E7445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0A3033-B747-4C7C-B3C6-70BFB5EB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Generics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1A7B36-3654-4E60-8C21-C2A9AE9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Type-safe reuse.</a:t>
            </a:r>
          </a:p>
        </p:txBody>
      </p:sp>
    </p:spTree>
    <p:extLst>
      <p:ext uri="{BB962C8B-B14F-4D97-AF65-F5344CB8AC3E}">
        <p14:creationId xmlns:p14="http://schemas.microsoft.com/office/powerpoint/2010/main" val="20384031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1C3A0-8440-4803-8CE6-A493089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F0DB2-4645-4E76-ADEB-AF4376EB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Viva and exam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CD5D3-42D4-4E03-90F2-4043D994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CA5D7-58D6-4035-98DF-E9786699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0D007-2597-446E-AE15-CF463A4A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216BE-AC90-447C-8430-5C857F6B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EA70E-5785-4BE6-93A5-E0C1FBE7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F538E-D685-4115-90A9-547866CE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752D0-D8FB-410C-AAB2-3C29E27B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EE71A-9BB1-49FF-8690-A0F13C8F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90B87-0748-4CCB-A867-549E42DB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enum syntax and use values/valueOf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C2F80-C17B-4BA2-BCFC-0452761A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1EB7E-AC6D-4EB0-A0AE-DB777A8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1B18A-1878-4060-8346-D03FF028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wrapper classes and why they exist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0B783-6D09-4881-AB2C-9EF0F33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49832-AC90-4B3B-B79C-D5DB3A28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D79F9-21DE-4768-ADA2-AB1CFBFF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Trace autoboxing/unboxing in methods and expressions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F25A8-3C91-49CF-A706-49F46CFD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C67EC-A579-4DC6-B92E-BACDE976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811DB-5398-4376-8D06-377C5888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a generic class with 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A1553-3ABB-4616-9D71-7A9ACAE8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AACF7-0F26-4DF0-90D9-C9CFFCD7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AB575-A5E4-43B8-92DD-54CF333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two type parameters and why primitives need wrappers</a:t>
            </a:r>
          </a:p>
        </p:txBody>
      </p:sp>
    </p:spTree>
    <p:extLst>
      <p:ext uri="{BB962C8B-B14F-4D97-AF65-F5344CB8AC3E}">
        <p14:creationId xmlns:p14="http://schemas.microsoft.com/office/powerpoint/2010/main" val="92368516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429C3-F3F2-4863-9197-27491EA7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8F528-3BDF-42AE-984F-7AFB19BB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6B873-C2D7-4397-8F86-5497577F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4D8EC-DE85-46ED-95FB-93D56592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69F98-2618-49AA-A4EE-44267947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56A30-44C3-4647-B6C4-FAC0F0C1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78F43-DAAA-4127-BF5A-F863AD6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09F82-5417-405B-9136-F9274DC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AB5C5-A58F-444E-B2D8-B9E857D6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enum?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CAAB0-A503-44FF-B267-C62351C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Why enum?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27831-10CD-44D7-9142-C96271A9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values()?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4A380-7B4F-4374-9531-D1E9B64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is valueOf()?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9DEFB-17AA-4DD6-A4BF-5772C8A9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Enum in switch?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07EC2-C91F-4358-ACC3-76700F4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What is wrapper class?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764B5-2EF8-49B2-AB99-C610F147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Character wrapper?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F554E-E3B4-4B81-BD09-02B25461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Boolean wrapper?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05B22-118B-4A2B-81C1-3A47EBA1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Numeric wrappers?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4C40E-C199-4ECE-A5FC-00A5F789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What is parseInt?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795F7-3988-4560-AE99-D1BD0958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What is autoboxing?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B1E80-84B8-48FD-B83B-460DB9E8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What is unboxing?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B6CEB-FD70-4E96-83B6-D082BF1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Autoboxing in method?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343B5-A8E9-4C87-8FE5-CFBFAF7B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Autoboxing in expression?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439B9-CF0D-448E-9234-AD54CDA9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Wrapper null risk?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52159-D77E-4503-9A2E-825932C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What is generics?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8F1B4-4261-47FD-BC5E-BCF4ED4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type parameter?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3A776-FC52-4D0A-BC0B-A8DA62F8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Box&lt;T&gt;?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02A32-540A-45F5-AA78-52A0FABE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Two type parameters?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7D7B63-6D68-4C6E-B287-AEA0FE27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Can generics use int?</a:t>
            </a:r>
          </a:p>
        </p:txBody>
      </p:sp>
    </p:spTree>
    <p:extLst>
      <p:ext uri="{BB962C8B-B14F-4D97-AF65-F5344CB8AC3E}">
        <p14:creationId xmlns:p14="http://schemas.microsoft.com/office/powerpoint/2010/main" val="4487874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66061-1CDD-44CC-B230-DDF4304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36B04-E098-4894-A6EA-0809B88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053E5-7145-4131-B127-F8916234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4F99C-D1F1-4197-B323-98D1F5C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A9931-C6F0-4CDE-9DA7-1903480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A1B2D-22CD-48E1-82D0-44FA576A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96C84-8E43-4ADF-9901-A6F9938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3F114-DDBD-4576-81A8-2BB95958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759E0-6E9D-4D1A-9E67-24CFF1CF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C9FDF-A71A-42CC-91E4-8CD8CDE8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79CD1-20FA-42ED-A908-C1BA97E2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337EE-36FB-431A-AEF5-307634FD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enum; enum constant; Department; values(); valueOf(); switch; type-safe constant; wrapper; Character; Boolean; Byte; Short; Integer; Long; Float; Double; valueOf; parseInt; autoboxing; unboxing; NullPointerException; generics; type parameter; T; K; V; Box&lt;T&gt;; Pair&lt;K,V&gt;; generic class; reference type; wrapper with generics; raw type; diamond operator.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9723B-F9B0-4825-86F4-8EED150E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06D1F-233D-47D9-BEB2-D1AEB7A8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DCD76-944B-43D6-B85B-6015D3F2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23199-5E9E-4CD6-B3A3-84ACE98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5 answers: define the type feature, write a compact code example, explain compiler type safety, then mention one common runtime or syntax mistake.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00F3A-8E99-4790-A398-707C6441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4E9F1-A1EA-420E-81BC-633BEA9B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C6B83-6B59-4C5B-BB0F-0D34EB26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Lab 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C40DE-286E-4609-A4A8-C251885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Write the smallest working program first, compile, predict output, then add one feature at a time.</a:t>
            </a:r>
          </a:p>
        </p:txBody>
      </p:sp>
    </p:spTree>
    <p:extLst>
      <p:ext uri="{BB962C8B-B14F-4D97-AF65-F5344CB8AC3E}">
        <p14:creationId xmlns:p14="http://schemas.microsoft.com/office/powerpoint/2010/main" val="1290018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2026-08-08T04:20:48.5230000Z</dcterms:created>
  <dcterms:modified xsi:type="dcterms:W3CDTF">2026-08-08T04:20:48.5230000Z</dcterms:modified>
</coreProperties>
</file>