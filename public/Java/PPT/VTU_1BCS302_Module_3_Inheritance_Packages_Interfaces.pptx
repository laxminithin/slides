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df887a21c4290" /><Relationship Type="http://schemas.openxmlformats.org/officeDocument/2006/relationships/extended-properties" Target="/docProps/app.xml" Id="Rb0c3fe0be4d1491e" /><Relationship Type="http://schemas.openxmlformats.org/officeDocument/2006/relationships/officeDocument" Target="/ppt/presentation.xml" Id="Rf8877cfa1cfa47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5675e054b4ff7"/>
  </p:sldMasterIdLst>
  <p:notesMasterIdLst>
    <p:notesMasterId xmlns:r="http://schemas.openxmlformats.org/officeDocument/2006/relationships" r:id="Rcfb224d5892345f4"/>
  </p:notesMasterIdLst>
  <p:sldIdLst>
    <p:sldId xmlns:r="http://schemas.openxmlformats.org/officeDocument/2006/relationships" id="256" r:id="Rd12dfb431d1240f3"/>
    <p:sldId xmlns:r="http://schemas.openxmlformats.org/officeDocument/2006/relationships" id="257" r:id="R3c14b1914db445ef"/>
    <p:sldId xmlns:r="http://schemas.openxmlformats.org/officeDocument/2006/relationships" id="258" r:id="Ra0edc7a74c9745d6"/>
    <p:sldId xmlns:r="http://schemas.openxmlformats.org/officeDocument/2006/relationships" id="259" r:id="R36561a040c264d0a"/>
    <p:sldId xmlns:r="http://schemas.openxmlformats.org/officeDocument/2006/relationships" id="260" r:id="R24423bb27f2c44f1"/>
    <p:sldId xmlns:r="http://schemas.openxmlformats.org/officeDocument/2006/relationships" id="261" r:id="R6094818ad59c412d"/>
    <p:sldId xmlns:r="http://schemas.openxmlformats.org/officeDocument/2006/relationships" id="262" r:id="R76015cfc54b64fcc"/>
    <p:sldId xmlns:r="http://schemas.openxmlformats.org/officeDocument/2006/relationships" id="263" r:id="R59e2aa27e30c44cd"/>
    <p:sldId xmlns:r="http://schemas.openxmlformats.org/officeDocument/2006/relationships" id="264" r:id="R32613c4946d543e5"/>
    <p:sldId xmlns:r="http://schemas.openxmlformats.org/officeDocument/2006/relationships" id="265" r:id="R5837ec0696414bde"/>
    <p:sldId xmlns:r="http://schemas.openxmlformats.org/officeDocument/2006/relationships" id="266" r:id="R7aa5aaa0a2324fc4"/>
    <p:sldId xmlns:r="http://schemas.openxmlformats.org/officeDocument/2006/relationships" id="267" r:id="Rcdf5b2c4e3e6407d"/>
    <p:sldId xmlns:r="http://schemas.openxmlformats.org/officeDocument/2006/relationships" id="268" r:id="R6b4e8864f9e44f30"/>
    <p:sldId xmlns:r="http://schemas.openxmlformats.org/officeDocument/2006/relationships" id="269" r:id="R16e96e1cffab4f1d"/>
    <p:sldId xmlns:r="http://schemas.openxmlformats.org/officeDocument/2006/relationships" id="270" r:id="R6326e84225fb451c"/>
    <p:sldId xmlns:r="http://schemas.openxmlformats.org/officeDocument/2006/relationships" id="271" r:id="R69ea50bd6672406b"/>
    <p:sldId xmlns:r="http://schemas.openxmlformats.org/officeDocument/2006/relationships" id="272" r:id="R29b230489d4540d4"/>
    <p:sldId xmlns:r="http://schemas.openxmlformats.org/officeDocument/2006/relationships" id="273" r:id="R0e075c774de2497b"/>
    <p:sldId xmlns:r="http://schemas.openxmlformats.org/officeDocument/2006/relationships" id="274" r:id="Rc0f6f58f153e483d"/>
    <p:sldId xmlns:r="http://schemas.openxmlformats.org/officeDocument/2006/relationships" id="275" r:id="R0c56998919da4bb5"/>
    <p:sldId xmlns:r="http://schemas.openxmlformats.org/officeDocument/2006/relationships" id="276" r:id="R3e81c441091c494f"/>
    <p:sldId xmlns:r="http://schemas.openxmlformats.org/officeDocument/2006/relationships" id="277" r:id="R0f2cecc1a5fe4e6c"/>
    <p:sldId xmlns:r="http://schemas.openxmlformats.org/officeDocument/2006/relationships" id="278" r:id="R735cad3e5c244cac"/>
    <p:sldId xmlns:r="http://schemas.openxmlformats.org/officeDocument/2006/relationships" id="279" r:id="Rbce264334e0b43d8"/>
    <p:sldId xmlns:r="http://schemas.openxmlformats.org/officeDocument/2006/relationships" id="280" r:id="Rf6e4a8704f004927"/>
    <p:sldId xmlns:r="http://schemas.openxmlformats.org/officeDocument/2006/relationships" id="281" r:id="R1a6bb101aa3e4dfc"/>
    <p:sldId xmlns:r="http://schemas.openxmlformats.org/officeDocument/2006/relationships" id="282" r:id="R8df8f19ba66a4e0b"/>
    <p:sldId xmlns:r="http://schemas.openxmlformats.org/officeDocument/2006/relationships" id="283" r:id="R36ee228ed75a48c7"/>
    <p:sldId xmlns:r="http://schemas.openxmlformats.org/officeDocument/2006/relationships" id="284" r:id="R5bb736347483419c"/>
    <p:sldId xmlns:r="http://schemas.openxmlformats.org/officeDocument/2006/relationships" id="285" r:id="Rd7367ef8ea48411f"/>
    <p:sldId xmlns:r="http://schemas.openxmlformats.org/officeDocument/2006/relationships" id="286" r:id="Rb22c19402d4145a5"/>
    <p:sldId xmlns:r="http://schemas.openxmlformats.org/officeDocument/2006/relationships" id="287" r:id="Re6251ac21fb74e50"/>
    <p:sldId xmlns:r="http://schemas.openxmlformats.org/officeDocument/2006/relationships" id="288" r:id="Rcffced49e34942e0"/>
    <p:sldId xmlns:r="http://schemas.openxmlformats.org/officeDocument/2006/relationships" id="289" r:id="R234aef4d223b4ed2"/>
    <p:sldId xmlns:r="http://schemas.openxmlformats.org/officeDocument/2006/relationships" id="290" r:id="R267397317b994b12"/>
    <p:sldId xmlns:r="http://schemas.openxmlformats.org/officeDocument/2006/relationships" id="291" r:id="Rcd660897c9dc4c85"/>
    <p:sldId xmlns:r="http://schemas.openxmlformats.org/officeDocument/2006/relationships" id="292" r:id="Rc5362703477649cc"/>
    <p:sldId xmlns:r="http://schemas.openxmlformats.org/officeDocument/2006/relationships" id="293" r:id="R87811e9a17474f75"/>
    <p:sldId xmlns:r="http://schemas.openxmlformats.org/officeDocument/2006/relationships" id="294" r:id="R45fbe2d8b9414335"/>
    <p:sldId xmlns:r="http://schemas.openxmlformats.org/officeDocument/2006/relationships" id="295" r:id="Re90eeac2050042f7"/>
    <p:sldId xmlns:r="http://schemas.openxmlformats.org/officeDocument/2006/relationships" id="296" r:id="Rad2ac8fae0ca4f42"/>
    <p:sldId xmlns:r="http://schemas.openxmlformats.org/officeDocument/2006/relationships" id="297" r:id="Rce1e6d4d2e8c457d"/>
    <p:sldId xmlns:r="http://schemas.openxmlformats.org/officeDocument/2006/relationships" id="298" r:id="R03a0c5cf113a4f70"/>
    <p:sldId xmlns:r="http://schemas.openxmlformats.org/officeDocument/2006/relationships" id="299" r:id="R23cf7bc1ddd84e17"/>
    <p:sldId xmlns:r="http://schemas.openxmlformats.org/officeDocument/2006/relationships" id="300" r:id="R1cbda2c07a9149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6d1bfcc85428e" /><Relationship Type="http://schemas.openxmlformats.org/officeDocument/2006/relationships/slideMaster" Target="/ppt/slideMasters/slideMaster1.xml" Id="R7bd5675e054b4ff7" /><Relationship Type="http://schemas.openxmlformats.org/officeDocument/2006/relationships/notesMaster" Target="/ppt/notesMasters/notesMaster1.xml" Id="Rcfb224d5892345f4" /><Relationship Type="http://schemas.openxmlformats.org/officeDocument/2006/relationships/presProps" Target="/ppt/presProps.xml" Id="R8e953966b1704370" /><Relationship Type="http://schemas.openxmlformats.org/officeDocument/2006/relationships/tableStyles" Target="/ppt/tableStyles.xml" Id="R4553b94accc540b7" /><Relationship Type="http://schemas.openxmlformats.org/officeDocument/2006/relationships/slide" Target="/ppt/slides/slide1.xml" Id="Rd12dfb431d1240f3" /><Relationship Type="http://schemas.openxmlformats.org/officeDocument/2006/relationships/slide" Target="/ppt/slides/slide2.xml" Id="R3c14b1914db445ef" /><Relationship Type="http://schemas.openxmlformats.org/officeDocument/2006/relationships/slide" Target="/ppt/slides/slide3.xml" Id="Ra0edc7a74c9745d6" /><Relationship Type="http://schemas.openxmlformats.org/officeDocument/2006/relationships/slide" Target="/ppt/slides/slide4.xml" Id="R36561a040c264d0a" /><Relationship Type="http://schemas.openxmlformats.org/officeDocument/2006/relationships/slide" Target="/ppt/slides/slide5.xml" Id="R24423bb27f2c44f1" /><Relationship Type="http://schemas.openxmlformats.org/officeDocument/2006/relationships/slide" Target="/ppt/slides/slide6.xml" Id="R6094818ad59c412d" /><Relationship Type="http://schemas.openxmlformats.org/officeDocument/2006/relationships/slide" Target="/ppt/slides/slide7.xml" Id="R76015cfc54b64fcc" /><Relationship Type="http://schemas.openxmlformats.org/officeDocument/2006/relationships/slide" Target="/ppt/slides/slide8.xml" Id="R59e2aa27e30c44cd" /><Relationship Type="http://schemas.openxmlformats.org/officeDocument/2006/relationships/slide" Target="/ppt/slides/slide9.xml" Id="R32613c4946d543e5" /><Relationship Type="http://schemas.openxmlformats.org/officeDocument/2006/relationships/slide" Target="/ppt/slides/slide10.xml" Id="R5837ec0696414bde" /><Relationship Type="http://schemas.openxmlformats.org/officeDocument/2006/relationships/slide" Target="/ppt/slides/slide11.xml" Id="R7aa5aaa0a2324fc4" /><Relationship Type="http://schemas.openxmlformats.org/officeDocument/2006/relationships/slide" Target="/ppt/slides/slide12.xml" Id="Rcdf5b2c4e3e6407d" /><Relationship Type="http://schemas.openxmlformats.org/officeDocument/2006/relationships/slide" Target="/ppt/slides/slide13.xml" Id="R6b4e8864f9e44f30" /><Relationship Type="http://schemas.openxmlformats.org/officeDocument/2006/relationships/slide" Target="/ppt/slides/slide14.xml" Id="R16e96e1cffab4f1d" /><Relationship Type="http://schemas.openxmlformats.org/officeDocument/2006/relationships/slide" Target="/ppt/slides/slide15.xml" Id="R6326e84225fb451c" /><Relationship Type="http://schemas.openxmlformats.org/officeDocument/2006/relationships/slide" Target="/ppt/slides/slide16.xml" Id="R69ea50bd6672406b" /><Relationship Type="http://schemas.openxmlformats.org/officeDocument/2006/relationships/slide" Target="/ppt/slides/slide17.xml" Id="R29b230489d4540d4" /><Relationship Type="http://schemas.openxmlformats.org/officeDocument/2006/relationships/slide" Target="/ppt/slides/slide18.xml" Id="R0e075c774de2497b" /><Relationship Type="http://schemas.openxmlformats.org/officeDocument/2006/relationships/slide" Target="/ppt/slides/slide19.xml" Id="Rc0f6f58f153e483d" /><Relationship Type="http://schemas.openxmlformats.org/officeDocument/2006/relationships/slide" Target="/ppt/slides/slide20.xml" Id="R0c56998919da4bb5" /><Relationship Type="http://schemas.openxmlformats.org/officeDocument/2006/relationships/slide" Target="/ppt/slides/slide21.xml" Id="R3e81c441091c494f" /><Relationship Type="http://schemas.openxmlformats.org/officeDocument/2006/relationships/slide" Target="/ppt/slides/slide22.xml" Id="R0f2cecc1a5fe4e6c" /><Relationship Type="http://schemas.openxmlformats.org/officeDocument/2006/relationships/slide" Target="/ppt/slides/slide23.xml" Id="R735cad3e5c244cac" /><Relationship Type="http://schemas.openxmlformats.org/officeDocument/2006/relationships/slide" Target="/ppt/slides/slide24.xml" Id="Rbce264334e0b43d8" /><Relationship Type="http://schemas.openxmlformats.org/officeDocument/2006/relationships/slide" Target="/ppt/slides/slide25.xml" Id="Rf6e4a8704f004927" /><Relationship Type="http://schemas.openxmlformats.org/officeDocument/2006/relationships/slide" Target="/ppt/slides/slide26.xml" Id="R1a6bb101aa3e4dfc" /><Relationship Type="http://schemas.openxmlformats.org/officeDocument/2006/relationships/slide" Target="/ppt/slides/slide27.xml" Id="R8df8f19ba66a4e0b" /><Relationship Type="http://schemas.openxmlformats.org/officeDocument/2006/relationships/slide" Target="/ppt/slides/slide28.xml" Id="R36ee228ed75a48c7" /><Relationship Type="http://schemas.openxmlformats.org/officeDocument/2006/relationships/slide" Target="/ppt/slides/slide29.xml" Id="R5bb736347483419c" /><Relationship Type="http://schemas.openxmlformats.org/officeDocument/2006/relationships/slide" Target="/ppt/slides/slide30.xml" Id="Rd7367ef8ea48411f" /><Relationship Type="http://schemas.openxmlformats.org/officeDocument/2006/relationships/slide" Target="/ppt/slides/slide31.xml" Id="Rb22c19402d4145a5" /><Relationship Type="http://schemas.openxmlformats.org/officeDocument/2006/relationships/slide" Target="/ppt/slides/slide32.xml" Id="Re6251ac21fb74e50" /><Relationship Type="http://schemas.openxmlformats.org/officeDocument/2006/relationships/slide" Target="/ppt/slides/slide33.xml" Id="Rcffced49e34942e0" /><Relationship Type="http://schemas.openxmlformats.org/officeDocument/2006/relationships/slide" Target="/ppt/slides/slide34.xml" Id="R234aef4d223b4ed2" /><Relationship Type="http://schemas.openxmlformats.org/officeDocument/2006/relationships/slide" Target="/ppt/slides/slide35.xml" Id="R267397317b994b12" /><Relationship Type="http://schemas.openxmlformats.org/officeDocument/2006/relationships/slide" Target="/ppt/slides/slide36.xml" Id="Rcd660897c9dc4c85" /><Relationship Type="http://schemas.openxmlformats.org/officeDocument/2006/relationships/slide" Target="/ppt/slides/slide37.xml" Id="Rc5362703477649cc" /><Relationship Type="http://schemas.openxmlformats.org/officeDocument/2006/relationships/slide" Target="/ppt/slides/slide38.xml" Id="R87811e9a17474f75" /><Relationship Type="http://schemas.openxmlformats.org/officeDocument/2006/relationships/slide" Target="/ppt/slides/slide39.xml" Id="R45fbe2d8b9414335" /><Relationship Type="http://schemas.openxmlformats.org/officeDocument/2006/relationships/slide" Target="/ppt/slides/slide40.xml" Id="Re90eeac2050042f7" /><Relationship Type="http://schemas.openxmlformats.org/officeDocument/2006/relationships/slide" Target="/ppt/slides/slide41.xml" Id="Rad2ac8fae0ca4f42" /><Relationship Type="http://schemas.openxmlformats.org/officeDocument/2006/relationships/slide" Target="/ppt/slides/slide42.xml" Id="Rce1e6d4d2e8c457d" /><Relationship Type="http://schemas.openxmlformats.org/officeDocument/2006/relationships/slide" Target="/ppt/slides/slide43.xml" Id="R03a0c5cf113a4f70" /><Relationship Type="http://schemas.openxmlformats.org/officeDocument/2006/relationships/slide" Target="/ppt/slides/slide44.xml" Id="R23cf7bc1ddd84e17" /><Relationship Type="http://schemas.openxmlformats.org/officeDocument/2006/relationships/slide" Target="/ppt/slides/slide45.xml" Id="R1cbda2c07a91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3bde5dff60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8c6462ef14a2f" /><Relationship Type="http://schemas.openxmlformats.org/officeDocument/2006/relationships/notesMaster" Target="/ppt/notesMasters/notesMaster1.xml" Id="Rcd526a9ef23148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ded5812fc474c" /><Relationship Type="http://schemas.openxmlformats.org/officeDocument/2006/relationships/notesMaster" Target="/ppt/notesMasters/notesMaster1.xml" Id="R87bbb2031f2b4d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e755d5ee2e4a33" /><Relationship Type="http://schemas.openxmlformats.org/officeDocument/2006/relationships/notesMaster" Target="/ppt/notesMasters/notesMaster1.xml" Id="R6d37012a0cc74f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e02ba90784400" /><Relationship Type="http://schemas.openxmlformats.org/officeDocument/2006/relationships/notesMaster" Target="/ppt/notesMasters/notesMaster1.xml" Id="R3b68aa5d4ed5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c9391de2d403f" /><Relationship Type="http://schemas.openxmlformats.org/officeDocument/2006/relationships/notesMaster" Target="/ppt/notesMasters/notesMaster1.xml" Id="Re83f128f605248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64fdd73f04e09" /><Relationship Type="http://schemas.openxmlformats.org/officeDocument/2006/relationships/notesMaster" Target="/ppt/notesMasters/notesMaster1.xml" Id="R420b954bb23149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73b1f1d0e43b9" /><Relationship Type="http://schemas.openxmlformats.org/officeDocument/2006/relationships/notesMaster" Target="/ppt/notesMasters/notesMaster1.xml" Id="R4b69a5488cd24a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778e62de254d3a" /><Relationship Type="http://schemas.openxmlformats.org/officeDocument/2006/relationships/notesMaster" Target="/ppt/notesMasters/notesMaster1.xml" Id="R8c8ea73b95ee4d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8e56791678491d" /><Relationship Type="http://schemas.openxmlformats.org/officeDocument/2006/relationships/notesMaster" Target="/ppt/notesMasters/notesMaster1.xml" Id="R12e9937aaf2646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a1328da99d49cd" /><Relationship Type="http://schemas.openxmlformats.org/officeDocument/2006/relationships/notesMaster" Target="/ppt/notesMasters/notesMaster1.xml" Id="R7ac91427083845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1cae4a3b3f478e" /><Relationship Type="http://schemas.openxmlformats.org/officeDocument/2006/relationships/notesMaster" Target="/ppt/notesMasters/notesMaster1.xml" Id="R72a23831b4b049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6d38cc14f3426a" /><Relationship Type="http://schemas.openxmlformats.org/officeDocument/2006/relationships/notesMaster" Target="/ppt/notesMasters/notesMaster1.xml" Id="R10b49fb3e5ce43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89e6b346be467d" /><Relationship Type="http://schemas.openxmlformats.org/officeDocument/2006/relationships/notesMaster" Target="/ppt/notesMasters/notesMaster1.xml" Id="Rdde65d05c1a948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690fde0768453d" /><Relationship Type="http://schemas.openxmlformats.org/officeDocument/2006/relationships/notesMaster" Target="/ppt/notesMasters/notesMaster1.xml" Id="R69c3813fc4304c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0d375234f14bbf" /><Relationship Type="http://schemas.openxmlformats.org/officeDocument/2006/relationships/notesMaster" Target="/ppt/notesMasters/notesMaster1.xml" Id="R7aac2c545aeb47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5038e9edc94d03" /><Relationship Type="http://schemas.openxmlformats.org/officeDocument/2006/relationships/notesMaster" Target="/ppt/notesMasters/notesMaster1.xml" Id="R840a77d2be6043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3d89a14dbc48ca" /><Relationship Type="http://schemas.openxmlformats.org/officeDocument/2006/relationships/notesMaster" Target="/ppt/notesMasters/notesMaster1.xml" Id="R18c98dc9faf743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2d3ce00fef4f2c" /><Relationship Type="http://schemas.openxmlformats.org/officeDocument/2006/relationships/notesMaster" Target="/ppt/notesMasters/notesMaster1.xml" Id="R83df0c90288f47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b3c65e991b44d8" /><Relationship Type="http://schemas.openxmlformats.org/officeDocument/2006/relationships/notesMaster" Target="/ppt/notesMasters/notesMaster1.xml" Id="Rf97652a67af749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4babe23e284f3d" /><Relationship Type="http://schemas.openxmlformats.org/officeDocument/2006/relationships/notesMaster" Target="/ppt/notesMasters/notesMaster1.xml" Id="R65d3adc86b554e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74c6f3adec4458" /><Relationship Type="http://schemas.openxmlformats.org/officeDocument/2006/relationships/notesMaster" Target="/ppt/notesMasters/notesMaster1.xml" Id="Re0498606169046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2f3b36d8fa4f9b" /><Relationship Type="http://schemas.openxmlformats.org/officeDocument/2006/relationships/notesMaster" Target="/ppt/notesMasters/notesMaster1.xml" Id="Rab7a10714a6c49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45eae1f0a94877" /><Relationship Type="http://schemas.openxmlformats.org/officeDocument/2006/relationships/notesMaster" Target="/ppt/notesMasters/notesMaster1.xml" Id="R1643be4d6d7643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70d4682f8b4df6" /><Relationship Type="http://schemas.openxmlformats.org/officeDocument/2006/relationships/notesMaster" Target="/ppt/notesMasters/notesMaster1.xml" Id="R6a01e7a0ba284d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21e718b5244694" /><Relationship Type="http://schemas.openxmlformats.org/officeDocument/2006/relationships/notesMaster" Target="/ppt/notesMasters/notesMaster1.xml" Id="R35b8c2f20c5344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00134cf2814b6e" /><Relationship Type="http://schemas.openxmlformats.org/officeDocument/2006/relationships/notesMaster" Target="/ppt/notesMasters/notesMaster1.xml" Id="Re792a82db4b04b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08897ab97d4520" /><Relationship Type="http://schemas.openxmlformats.org/officeDocument/2006/relationships/notesMaster" Target="/ppt/notesMasters/notesMaster1.xml" Id="R1854d77e55d440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f594d5f151410f" /><Relationship Type="http://schemas.openxmlformats.org/officeDocument/2006/relationships/notesMaster" Target="/ppt/notesMasters/notesMaster1.xml" Id="Rd7033d947c3840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cdb9a920974404" /><Relationship Type="http://schemas.openxmlformats.org/officeDocument/2006/relationships/notesMaster" Target="/ppt/notesMasters/notesMaster1.xml" Id="R5f039f2c599b4a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8f1e119dfbb4c13" /><Relationship Type="http://schemas.openxmlformats.org/officeDocument/2006/relationships/notesMaster" Target="/ppt/notesMasters/notesMaster1.xml" Id="R24f483d13a8646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843f0eb5e44415e" /><Relationship Type="http://schemas.openxmlformats.org/officeDocument/2006/relationships/notesMaster" Target="/ppt/notesMasters/notesMaster1.xml" Id="R4f032a23d9254e7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18ac81dfb64270" /><Relationship Type="http://schemas.openxmlformats.org/officeDocument/2006/relationships/notesMaster" Target="/ppt/notesMasters/notesMaster1.xml" Id="R015ddcb18a3c44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7cdc9407cd4cab" /><Relationship Type="http://schemas.openxmlformats.org/officeDocument/2006/relationships/notesMaster" Target="/ppt/notesMasters/notesMaster1.xml" Id="R88b91d185d46439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8eefecf1854ce2" /><Relationship Type="http://schemas.openxmlformats.org/officeDocument/2006/relationships/notesMaster" Target="/ppt/notesMasters/notesMaster1.xml" Id="Rae8afe02c29540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ddb47f59e047dc" /><Relationship Type="http://schemas.openxmlformats.org/officeDocument/2006/relationships/notesMaster" Target="/ppt/notesMasters/notesMaster1.xml" Id="Rbeae83689ef34d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8066a930294b46" /><Relationship Type="http://schemas.openxmlformats.org/officeDocument/2006/relationships/notesMaster" Target="/ppt/notesMasters/notesMaster1.xml" Id="Rddddd0256f6b4c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2de2d58d02d4e41" /><Relationship Type="http://schemas.openxmlformats.org/officeDocument/2006/relationships/notesMaster" Target="/ppt/notesMasters/notesMaster1.xml" Id="Rab4a8932b4e94e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6b84651bccd4a26" /><Relationship Type="http://schemas.openxmlformats.org/officeDocument/2006/relationships/notesMaster" Target="/ppt/notesMasters/notesMaster1.xml" Id="R2ca53d90d3ef484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cf16bf00ed442e" /><Relationship Type="http://schemas.openxmlformats.org/officeDocument/2006/relationships/notesMaster" Target="/ppt/notesMasters/notesMaster1.xml" Id="R623a67daa250404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c34ce9a96d14191" /><Relationship Type="http://schemas.openxmlformats.org/officeDocument/2006/relationships/notesMaster" Target="/ppt/notesMasters/notesMaster1.xml" Id="R0a161c0b81ae46d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f7d43feda9242bf" /><Relationship Type="http://schemas.openxmlformats.org/officeDocument/2006/relationships/notesMaster" Target="/ppt/notesMasters/notesMaster1.xml" Id="R63d63e04402b4e7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5d7eabce354a6c" /><Relationship Type="http://schemas.openxmlformats.org/officeDocument/2006/relationships/notesMaster" Target="/ppt/notesMasters/notesMaster1.xml" Id="Rdcc7dd1db1854f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fcd298f77d249d0" /><Relationship Type="http://schemas.openxmlformats.org/officeDocument/2006/relationships/notesMaster" Target="/ppt/notesMasters/notesMaster1.xml" Id="R4ac1193de8b54f0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f6439b4aa19405a" /><Relationship Type="http://schemas.openxmlformats.org/officeDocument/2006/relationships/notesMaster" Target="/ppt/notesMasters/notesMaster1.xml" Id="R59e08b0c07bb4ac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69a35730bc4aa7" /><Relationship Type="http://schemas.openxmlformats.org/officeDocument/2006/relationships/notesMaster" Target="/ppt/notesMasters/notesMaster1.xml" Id="R980bd9bcf66f44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3 turns isolated classes into extensible families and APIs.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reuse and abstraction.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inheritance means a subclass acquires members and can specialize behavior.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Shape -&gt; Circle/Square.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Circle inherits draw.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inherited does not always mean directly accessible.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constructor chaining.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base part must be initialized before derived part.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that deep hierarchies can become hard to understand.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draw() in Circle and Square.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@Override helps compiler catch mistakes.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reference type and object type can differ.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draw method runs each time.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abstract Shape with abstract draw.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subclass must implement abstract method unless it is also abstract.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abstract invites extension; final prevents it.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Object class practical.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var is for local variables only.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mypack lab program.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Package statement goes first in source file.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exam-ready table.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import saves writing fully qualified class names.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Resizable interface from lab.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implemented methods are public.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code can depend on capability instead of concrete class.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examples compact.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this is a modern Java feature.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frequent exam question.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lecture to lab list.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gives students a design rule, not only syntax.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upcasting is natural because every Circle is a Shape.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Constructor order is a common exam and output topic.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rules prevent many compile-time errors.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output is B, not 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this with interface later.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package declaration to directory layout.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the exact mistakes students hit in package labs.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Resizable lab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as a conceptual safety rule.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crisp exam comparison.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how this demonstrates dynamic dispatch.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final overview.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include code and output prediction.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3 checklist; Herbert Schildt and Danny Coward, Java: The Complete Reference, 13th ed., McGraw-Hill, 2024, chapters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f2f4520ad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5d884cc104158" /><Relationship Type="http://schemas.openxmlformats.org/officeDocument/2006/relationships/slideLayout" Target="/ppt/slideLayouts/slideLayout1.xml" Id="Ra67cfceaf01c4b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cfceaf01c4b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755f9f0ca4073" /><Relationship Type="http://schemas.openxmlformats.org/officeDocument/2006/relationships/notesSlide" Target="/ppt/notesSlides/notesSlide1.xml" Id="Rc140ded7dbc848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e1718e944ffb" /><Relationship Type="http://schemas.openxmlformats.org/officeDocument/2006/relationships/notesSlide" Target="/ppt/notesSlides/notesSlide2.xml" Id="Rff584ccbe515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41cc67f274db3" /><Relationship Type="http://schemas.openxmlformats.org/officeDocument/2006/relationships/notesSlide" Target="/ppt/notesSlides/notesSlide3.xml" Id="Rd2672c3fa908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445623ec6466a" /><Relationship Type="http://schemas.openxmlformats.org/officeDocument/2006/relationships/notesSlide" Target="/ppt/notesSlides/notesSlide4.xml" Id="Rc70faf048252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35c516b846fc" /><Relationship Type="http://schemas.openxmlformats.org/officeDocument/2006/relationships/notesSlide" Target="/ppt/notesSlides/notesSlide5.xml" Id="Rc0a823bd781543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2f709a624751" /><Relationship Type="http://schemas.openxmlformats.org/officeDocument/2006/relationships/notesSlide" Target="/ppt/notesSlides/notesSlide6.xml" Id="Re3d5ecb980d9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6b4deee524834" /><Relationship Type="http://schemas.openxmlformats.org/officeDocument/2006/relationships/notesSlide" Target="/ppt/notesSlides/notesSlide7.xml" Id="Rd20439654a39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d13a8a448400e" /><Relationship Type="http://schemas.openxmlformats.org/officeDocument/2006/relationships/notesSlide" Target="/ppt/notesSlides/notesSlide8.xml" Id="R57989b6e8f2b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844734bb4f9d" /><Relationship Type="http://schemas.openxmlformats.org/officeDocument/2006/relationships/notesSlide" Target="/ppt/notesSlides/notesSlide9.xml" Id="Rea654f89afd541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1c06eb50043d3" /><Relationship Type="http://schemas.openxmlformats.org/officeDocument/2006/relationships/notesSlide" Target="/ppt/notesSlides/notesSlide10.xml" Id="Rb897b1521b0c41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33d88b3dd467e" /><Relationship Type="http://schemas.openxmlformats.org/officeDocument/2006/relationships/notesSlide" Target="/ppt/notesSlides/notesSlide11.xml" Id="R2f66f39aceb446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29a318b9a4a39" /><Relationship Type="http://schemas.openxmlformats.org/officeDocument/2006/relationships/notesSlide" Target="/ppt/notesSlides/notesSlide12.xml" Id="R3e39425771a947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915fb5814c2f" /><Relationship Type="http://schemas.openxmlformats.org/officeDocument/2006/relationships/notesSlide" Target="/ppt/notesSlides/notesSlide13.xml" Id="R4eae6e40c3504f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b63143f04218" /><Relationship Type="http://schemas.openxmlformats.org/officeDocument/2006/relationships/notesSlide" Target="/ppt/notesSlides/notesSlide14.xml" Id="Rb689bc154b1f4f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9c01aab0c401e" /><Relationship Type="http://schemas.openxmlformats.org/officeDocument/2006/relationships/notesSlide" Target="/ppt/notesSlides/notesSlide15.xml" Id="Rbd9af4b1bee648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2c27716a04f6e" /><Relationship Type="http://schemas.openxmlformats.org/officeDocument/2006/relationships/notesSlide" Target="/ppt/notesSlides/notesSlide16.xml" Id="R4bf89496167841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e960067d04cf9" /><Relationship Type="http://schemas.openxmlformats.org/officeDocument/2006/relationships/notesSlide" Target="/ppt/notesSlides/notesSlide17.xml" Id="R66b20d76623146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80db7779f429a" /><Relationship Type="http://schemas.openxmlformats.org/officeDocument/2006/relationships/notesSlide" Target="/ppt/notesSlides/notesSlide18.xml" Id="R969e2f02af8e4c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daa43a5dc44c5" /><Relationship Type="http://schemas.openxmlformats.org/officeDocument/2006/relationships/notesSlide" Target="/ppt/notesSlides/notesSlide19.xml" Id="R9ab1bce5f4bd46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024a380348c2" /><Relationship Type="http://schemas.openxmlformats.org/officeDocument/2006/relationships/notesSlide" Target="/ppt/notesSlides/notesSlide20.xml" Id="R1771f39a971b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6e2a8af447d5" /><Relationship Type="http://schemas.openxmlformats.org/officeDocument/2006/relationships/notesSlide" Target="/ppt/notesSlides/notesSlide21.xml" Id="R063a2552502944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e108047ec4b5c" /><Relationship Type="http://schemas.openxmlformats.org/officeDocument/2006/relationships/notesSlide" Target="/ppt/notesSlides/notesSlide22.xml" Id="Rc1cedbfa863049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2ef006f24b0a" /><Relationship Type="http://schemas.openxmlformats.org/officeDocument/2006/relationships/notesSlide" Target="/ppt/notesSlides/notesSlide23.xml" Id="R5eea9ceb3e6544f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1cba6b31d44ce" /><Relationship Type="http://schemas.openxmlformats.org/officeDocument/2006/relationships/notesSlide" Target="/ppt/notesSlides/notesSlide24.xml" Id="Rcf067f12f44e4d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ce1c0c2f646a6" /><Relationship Type="http://schemas.openxmlformats.org/officeDocument/2006/relationships/notesSlide" Target="/ppt/notesSlides/notesSlide25.xml" Id="Rc90771e3443847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7f2472164a08" /><Relationship Type="http://schemas.openxmlformats.org/officeDocument/2006/relationships/notesSlide" Target="/ppt/notesSlides/notesSlide26.xml" Id="Ra5b7ea9be89941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0023b687e4b99" /><Relationship Type="http://schemas.openxmlformats.org/officeDocument/2006/relationships/notesSlide" Target="/ppt/notesSlides/notesSlide27.xml" Id="R87af1b67314848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ccfd4226d46ed" /><Relationship Type="http://schemas.openxmlformats.org/officeDocument/2006/relationships/notesSlide" Target="/ppt/notesSlides/notesSlide28.xml" Id="Ra1b1a1d8456c40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39327cff447d7" /><Relationship Type="http://schemas.openxmlformats.org/officeDocument/2006/relationships/notesSlide" Target="/ppt/notesSlides/notesSlide29.xml" Id="R438ad628bd2d4c4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15e0fe58248a2" /><Relationship Type="http://schemas.openxmlformats.org/officeDocument/2006/relationships/notesSlide" Target="/ppt/notesSlides/notesSlide30.xml" Id="Rc459ee9863214c7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5eed404b4b46" /><Relationship Type="http://schemas.openxmlformats.org/officeDocument/2006/relationships/notesSlide" Target="/ppt/notesSlides/notesSlide31.xml" Id="Rbcc41cca06354e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7801d96864a0e" /><Relationship Type="http://schemas.openxmlformats.org/officeDocument/2006/relationships/notesSlide" Target="/ppt/notesSlides/notesSlide32.xml" Id="R0a3c021b15c0477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fa8726c194a00" /><Relationship Type="http://schemas.openxmlformats.org/officeDocument/2006/relationships/notesSlide" Target="/ppt/notesSlides/notesSlide33.xml" Id="Rd02f67962e7545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f9b0921464587" /><Relationship Type="http://schemas.openxmlformats.org/officeDocument/2006/relationships/notesSlide" Target="/ppt/notesSlides/notesSlide34.xml" Id="Rd2f9e96967c74e5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f511753f14827" /><Relationship Type="http://schemas.openxmlformats.org/officeDocument/2006/relationships/notesSlide" Target="/ppt/notesSlides/notesSlide35.xml" Id="Rd40b0394540a4de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1564281a849b5" /><Relationship Type="http://schemas.openxmlformats.org/officeDocument/2006/relationships/notesSlide" Target="/ppt/notesSlides/notesSlide36.xml" Id="Rdd855252353f42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08c9cede9455e" /><Relationship Type="http://schemas.openxmlformats.org/officeDocument/2006/relationships/notesSlide" Target="/ppt/notesSlides/notesSlide37.xml" Id="Rc1a27e6c05fa493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ccc8a7f7b42ef" /><Relationship Type="http://schemas.openxmlformats.org/officeDocument/2006/relationships/notesSlide" Target="/ppt/notesSlides/notesSlide38.xml" Id="R909f77719bcf434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8ac3f92c49a5" /><Relationship Type="http://schemas.openxmlformats.org/officeDocument/2006/relationships/notesSlide" Target="/ppt/notesSlides/notesSlide39.xml" Id="Rb279b9219faf44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b80372c94b15" /><Relationship Type="http://schemas.openxmlformats.org/officeDocument/2006/relationships/notesSlide" Target="/ppt/notesSlides/notesSlide40.xml" Id="R50fd2f28c7144c9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24b0a98ef44e8" /><Relationship Type="http://schemas.openxmlformats.org/officeDocument/2006/relationships/notesSlide" Target="/ppt/notesSlides/notesSlide41.xml" Id="Rd85846b8f4ff47d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d957a958a4048" /><Relationship Type="http://schemas.openxmlformats.org/officeDocument/2006/relationships/notesSlide" Target="/ppt/notesSlides/notesSlide42.xml" Id="R059e8b1eb4744f4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5e87ddf342e0" /><Relationship Type="http://schemas.openxmlformats.org/officeDocument/2006/relationships/notesSlide" Target="/ppt/notesSlides/notesSlide43.xml" Id="R36420ea998df429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9ed1d1fea4944" /><Relationship Type="http://schemas.openxmlformats.org/officeDocument/2006/relationships/notesSlide" Target="/ppt/notesSlides/notesSlide44.xml" Id="Rb6e7533900cd452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464a33e6443d0" /><Relationship Type="http://schemas.openxmlformats.org/officeDocument/2006/relationships/notesSlide" Target="/ppt/notesSlides/notesSlide45.xml" Id="R172ff5abf34748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720E4-B847-4B73-806A-23FCA92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F1C3D-C118-4816-9178-5D29C046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Inheritance, Packages and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AA3ED-A2A2-496B-A2DC-9CDCCB6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3 teaches reuse, run-time polymorphism, packages and interface-based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648F3-A075-4914-9FB4-6888B14F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285B0-DCDE-4F37-B1A6-10D458F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A3533-FF33-47B7-9F93-261D73D3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0D365-DD36-4E21-A51F-5AD757B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86A16-E717-4692-92A9-C551083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3647D-CF26-4499-8CB7-D79A5DC6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Java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0005C-1147-4F49-8D51-78DC764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Inheritance • super • overriding • dynamic dispatch • abstract/final • packages • interfaces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6D8F3-133F-4695-83DC-15E1754F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DFFFB-428F-45C8-81F8-2E0C176C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A90B0-E6A6-4907-A1BD-DFEB5ED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EXTENDS</a:t>
            </a:r>
          </a:p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IMPLEMENTS</a:t>
            </a:r>
          </a:p>
        </p:txBody>
      </p:sp>
    </p:spTree>
    <p:extLst>
      <p:ext uri="{BB962C8B-B14F-4D97-AF65-F5344CB8AC3E}">
        <p14:creationId xmlns:p14="http://schemas.microsoft.com/office/powerpoint/2010/main" val="1830797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475C3-5A9C-4FED-B4EA-F32BC082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A7D58-A8C8-49C5-9AD8-F0EAD143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E21D6-E9B2-41FE-9FB5-8628D2C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8C583-BEF2-458F-96FD-C819C9F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9D3C1-7545-4E42-A55D-7474B388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C13C3-DCD9-4D41-8325-44C0059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D02C-D6C6-4971-B6D8-CD59BE6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91CAE-5102-4285-AF33-9D3E6C0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06FCA-BE8F-4619-AB54-153FACB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2168F-0D48-4F00-8E76-FF67908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19F41-3B4A-4F1A-B3EE-CD49EE0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inheritance basics and member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84068-7125-4507-B399-9AA274C7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FF101-C5C5-4BB5-8D9B-D712BE7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91479-DF92-4C8A-9125-0115831A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super, constructors, multilevel hierarchy and method overriding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678CA-31B3-485C-A4F8-431572D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6D863-744A-4563-B559-BCB60E44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15356-3DE2-47C4-AA5B-49FC7A78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dynamic method dispatch and abstract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90873-8E8B-4892-B677-48B41A5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0098A-FE39-40C0-A869-3125FAB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C8FFF-6AD2-44C0-A3A0-73BC7A3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final with inheritance and understand Object class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0FEC1-D43B-4F7D-8C9A-7F232A7B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70473-B478-4F38-8F39-E2BFC35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88872-6AAF-44F0-ACE3-671F4E7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Create packages, access members and import packages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4AB70-A8F6-4320-8D1D-C4B1EDBB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47F5D-C6E3-4336-8830-068D51B3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DEEAA-180D-4765-A801-01F13C5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Define interfaces, default/static/private interface methods</a:t>
            </a:r>
          </a:p>
        </p:txBody>
      </p:sp>
    </p:spTree>
    <p:extLst>
      <p:ext uri="{BB962C8B-B14F-4D97-AF65-F5344CB8AC3E}">
        <p14:creationId xmlns:p14="http://schemas.microsoft.com/office/powerpoint/2010/main" val="332569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91140-B2E3-4E26-953F-4BF81C84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C8167-0C3F-4731-A382-B92246D5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Inheritance models an is-a relationship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C0C1D-1C58-4405-BD9E-874EC236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superclass and subclass.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BDEB7-79CE-4579-B6B8-2929E67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4F52D-CA8B-4D02-9C79-B1837F8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1AF5-08F8-471F-A3E0-9FF0E7CB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86139-4169-4D42-870F-032C9C9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97B0-C023-49AC-9625-7FFAB99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D5D8-7E51-4291-9D25-4B1402D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573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EC2FE-D316-41B0-89F9-5D06AFD6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57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3B43-2967-4B9F-807F-8399B45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7907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Superclass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1F727-346A-4EBD-91BB-2A35FB8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71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General members inherited by subclasses.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BE76A-0F22-4529-AB4D-108A6F8D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57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CC385-915B-43AA-B467-34EA5C5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57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614C8-414A-49E4-A8AD-A5086836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9097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Subclass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BECD6-513F-4325-9591-36990AB3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71975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Adds or overrides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43BCC-6FAA-4DE2-8E80-A004C362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E9D2A-8353-478F-B265-A156BA16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E38C-FF00-42FA-9B67-C8D1BF3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9097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Subclass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F79CC-27DF-42E5-8B2A-0535FEE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71975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Shares base type, specializes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72A1A-8984-48EC-8894-705B4CC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57200" cy="704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D3B91-CACB-4AF7-8FAC-11BD1907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428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4A17-C1EE-4B47-968C-799832DC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1428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8182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7D225-660F-4C6A-AAB7-5F66B0A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8C3F0-8DA4-4BB8-882E-59CC2B7D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Inheritance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5D37B-6F45-431F-8865-D7BE63C7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inheritance.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ABEC9-131A-4756-B73B-CBB9B3C2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EACC8-2551-4F39-A008-9442BAB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354E-43BF-4725-AE47-BE75C46E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C893C-6015-48C0-B755-EF0F9AF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16B6-0D03-4077-AAEE-67B9F13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CCBD5-131E-4F33-A6D4-D16DA4F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Inheritance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C06CD-5FCB-46A9-9FEB-80AB355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Inheritance lets one class acquire members of another class, enabling reuse and specialization through superclass-subclass relationships.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6193D-F470-4362-934F-E7E5A73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D5E80-67B0-4684-9CC7-1DA0E97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B5DBD-6A96-455E-B597-3C44D0C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7D525-55D3-40D1-8FB2-BDFF64D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6EC73-F158-4AFF-B469-AA7F1969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Superclass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0AEC0-ECDB-4CB8-93CA-B93A8F5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9EF53-1B52-4F5A-B0C3-D4B15190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E8113-364E-4ED4-8593-9419385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28628-BB7C-470F-A053-81FA809E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2495A-2819-458A-8913-FE7DAE25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684F8-1C47-48D4-BBD6-66EAE96B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94B85-7A3E-44E3-A1CE-5D6E63CA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1132E-EACF-4BBB-BFE9-1820A17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C730F-FBC0-425C-A50D-5178969E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05012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960EE-47ED-4562-A9E5-6A29EFBB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95077-62A4-473D-AA76-8EC05DF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extends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3139A-6E54-44F9-8041-4BB867A5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simple inheritance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A36DB-4957-409C-B342-AB42851F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A7C82-4C7C-4019-BF08-67F584D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1B62-F7B9-4B26-AF13-4F2FE6F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F1055-D268-4059-95B0-DC57A87D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60168-94BE-417E-A365-3851C6A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9F0C5-5025-4965-B764-3DC8DE47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46BC6-3A02-4BEE-9CEF-24364E1A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Shape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void draw() { System.out.println("draw");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Circle extends Shape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double radius;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67E28-2B98-4E21-A6A9-2332FC7D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921BE-9415-40B9-A700-213F9E7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DD1E6-2319-460A-BBA9-A99C363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extends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F6001-5343-44EF-AA65-F0D49CB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718357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296F6-F9FD-4D5A-9E3C-9C3A34F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09177-A653-48B9-A5A0-AFF6ED5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Member access and inheritance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9E8BA-7520-4356-B259-278E98F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accessibility.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AD6B5-0650-413A-9C8C-042E50FD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B4913-633A-4B4A-BD84-468285F3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2F1A3-9990-465D-A888-9AD75B8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53FE3-3AED-4615-A15D-79767BE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DE4A2-13CD-4562-B842-E7392A7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5EAD-050E-4F2A-8313-2B0894E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025C-7624-427D-805A-365060E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CACD3-37BF-4D43-A5C4-0D08167F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private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9F28B-4ADE-4A77-A7EF-B7C107B1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Not directly accessible in subclass.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C01E1-F36C-46E5-9FED-4193F6B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EA90D-1FBA-4B54-ADE2-060D793F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C16CB-30F6-43AD-A5A3-898A28AC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040E5-6B8C-4094-8A20-025FF90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Accessible in same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E4EE5-B65D-4ADB-958C-11B516E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81F26-BD4B-44BB-B737-472933B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396BB-9614-46E4-A1CD-6540F45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protected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3940B-6BA2-46BB-B318-E488C89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Accessible in subclass and package.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B206F-E3D1-473C-A2FC-BFCC69B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9F288-831D-44A6-A536-F3FFEE4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28E70-F9BE-4AB1-9F6B-B0B687C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public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E9985-C55A-4F4B-917A-40804DA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Accessible everywhere.</a:t>
            </a:r>
          </a:p>
        </p:txBody>
      </p:sp>
    </p:spTree>
    <p:extLst>
      <p:ext uri="{BB962C8B-B14F-4D97-AF65-F5344CB8AC3E}">
        <p14:creationId xmlns:p14="http://schemas.microsoft.com/office/powerpoint/2010/main" val="695949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4DDDA-1D0E-43B1-9589-EFC4CE6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25F9A-420F-4BFC-9F38-51AFAC5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super reaches the superclass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4116-5147-48C3-876A-F3CAF6E1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super 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2D9A7-19E3-408F-B908-C1401B71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63729-941D-4826-A9CD-7DEDAFF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80AD8-5B4D-4543-93B4-AE200B16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B0E5D-5BCB-4B53-8B5A-FACBD7A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1AB2C-C129-4C80-82CD-C4EEC4E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3C0AC-8110-4E4C-A448-C1D9438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31B5F-F1BC-48B0-BEBC-886E7036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8E7AF-8037-446E-BDC3-0A29031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Call superclass constructor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2BAD8-5BAB-466D-950C-11D6C027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super(args) must be first statement in subclass constructor.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3ED1-D625-4AC0-8A88-39119800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D1E75-88D8-4205-A698-E06F8EFB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48496-E515-41C0-B1C9-8B49E62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Access superclass 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CC294-752D-4507-A910-FF948B7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super.method() or super.field when hidden/overridden.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9E015-C7FE-4FD5-BF03-E2DDCC5E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2C006-CB28-47AE-BAFF-E13010AA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77504-20C9-4216-B3A2-CBA2E17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Avoid duplication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88B79-8DD1-4F2C-A6D6-AD0A5BC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Reuse base initialization and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15728-BD06-4E27-953F-473A1623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8C4A4-09E3-4BC9-92D2-1EBC048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C4AC2-0578-4EDB-A9B5-AC5DCB8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Clarity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17E96-218F-47EC-9143-DF574A2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Makes parent-child relationship explicit.</a:t>
            </a:r>
          </a:p>
        </p:txBody>
      </p:sp>
    </p:spTree>
    <p:extLst>
      <p:ext uri="{BB962C8B-B14F-4D97-AF65-F5344CB8AC3E}">
        <p14:creationId xmlns:p14="http://schemas.microsoft.com/office/powerpoint/2010/main" val="737368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DC828-E156-459D-A3E8-D3A95E6A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80E72-B63E-494C-ABCF-19C80EE6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Constructor execution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080B-6B8B-4C32-9726-2383B9F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construction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3E3C3-81D6-4D22-A368-4BD553B1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C7C4F-3F5E-46D0-A2C3-652FDCC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00651-E83F-477A-BA2D-731E278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3F3D9-23CF-4DDA-BEA5-0D049836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07B16-AE81-4EDE-B5F4-BBA63F3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01D04-458A-4CB5-8E65-57593879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EF98C-FEE4-4AAD-B991-1B48719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creation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B959A-32B5-4F03-9626-671A16FE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A6FF3-CB8E-4E5F-9B12-6D8F765C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C1C36-DF6B-466B-8A5D-6F72887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Superclass constructor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462D7-3290-4D3D-B5DF-BB446BBF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764BC-B5B2-45CC-909C-3028BE8C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1BE45-0E37-497E-BF9C-460C8085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Subclass constructor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1564E-8B57-4967-AAD2-F3DA874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0D626-147A-4D74-89A7-61F7636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D38EB-2E29-4C61-958A-622B934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Fields initialized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0FEFD-EACD-4705-A3BB-9B1D177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3B0E2-B057-4829-8AA3-71183022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CD5B7-B4A6-4212-B33E-8EC4B0E4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ready</a:t>
            </a:r>
          </a:p>
        </p:txBody>
      </p:sp>
    </p:spTree>
    <p:extLst>
      <p:ext uri="{BB962C8B-B14F-4D97-AF65-F5344CB8AC3E}">
        <p14:creationId xmlns:p14="http://schemas.microsoft.com/office/powerpoint/2010/main" val="1466784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A0588-356B-4A18-9043-5A97789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99A6-BD91-49A5-8C2E-6C0449F8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Multilevel hierarchy extends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83C10-BB8E-4D1B-847B-A5D0CA5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deeper inheritance.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DF396-69E1-438C-B0F7-30480E25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E69AB-27BA-4D8E-BE38-824DB80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CB568-B87A-4665-8A6A-0E4CBCB5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A19C-6301-45ED-AFED-E60F21FD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Hierarchy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F05F-DD20-4538-A153-17668FC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F195B-C5D5-416B-BADF-4419CF8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0C929-59E7-4804-9783-77392E7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5A58F-935C-4F65-91C9-880EF20A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E87DA-58E1-41AB-B0D1-9D81FC5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48C09-B1D0-499C-B8E5-E7354EE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 extends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46854-9E8F-477D-9468-D5FAD92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0B78A-084F-431F-BA2E-E1D2A54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4C993-35E3-4E40-A6E0-4974A040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 extends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01FC5-E1F1-4A1E-A3E4-94536387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A3957-66F9-4F24-A43A-67443F7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8E4AF-68E4-4A47-93CB-2F047641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 gets usable inherited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E61E1-C757-459E-AB4C-83F7163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51F6C-859D-400F-91B1-EA04A1A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27C8D-BDAF-4462-8273-C7B55F2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 can specialize</a:t>
            </a:r>
          </a:p>
        </p:txBody>
      </p:sp>
    </p:spTree>
    <p:extLst>
      <p:ext uri="{BB962C8B-B14F-4D97-AF65-F5344CB8AC3E}">
        <p14:creationId xmlns:p14="http://schemas.microsoft.com/office/powerpoint/2010/main" val="721232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8DAC9-A8EF-4E4A-810B-9A4058DC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857D-5058-47FE-B9F7-15DDA407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Method overriding customizes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1B0B1-DA42-48AA-9FDB-D443574B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overriding.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9DD4C-13AE-41AD-9AB0-337214BC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10786-09FC-4494-A096-B6410A4E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A2FA-8142-46A6-8F93-AE67135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7C8FB-6203-44E1-9ACD-D6603FBE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Overriding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864DD-48CD-4288-8E0E-28EA1889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736B4-D6A6-4D26-B92E-EB3427F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Overriding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53591-6A87-416C-AFD8-F0F5FA49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subclass overrides a superclass method by defining a method with the same signature and compatible return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A055D-BE14-4D61-81A5-6A726B0D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1BDF6-7533-4F95-B7A8-54256C0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43279-3F99-47CE-A87D-A4E72AB0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B2435-A623-4101-AECE-7E4D421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25832-D702-4457-82C4-60CED8AF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2C84A-5CD2-496A-80A3-90680125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97630-07E6-4761-A0A8-36F5B751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1D447-85D3-43CF-B59F-DB6835A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Runtime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61AA8-6941-4482-804F-C60E6C1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953FE-0B55-4B9E-A810-01546017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2575E-78B2-4802-885B-07E386C7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Polymorphism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EFC9A-2FBA-4326-8391-34D15DB1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18973-39C3-4117-AB18-A71CBB3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4894B-9E29-4AD0-B41B-B4C1D2A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309128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72B8-6102-4E1D-BE6C-6CDD17D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23F2-CFB1-418F-9989-76B6B00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Overriding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B1E4B-A5AD-4A30-A050-9961950C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polymorphic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36D06-A066-4242-BE80-75E11006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117B-620A-4DED-8040-9558F17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247E1-00C3-43C7-9739-106EA19D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B435B-B0D2-4037-BC37-1739E92F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Overriding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370D7-12C5-445E-B44F-5128CF1D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71279-4204-4BAE-8BE6-B03619C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4FCFB-37BC-482D-A024-F4D77A7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Shape { void draw() { }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Circle extends Shape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@Override void draw()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System.out.println("Circle");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539CD-93AD-4A44-BBD7-1CEF093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AC2DA-7D16-4190-82B3-8AFC020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EB330-F827-4ED7-A923-7759730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Override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A5D1A-E3BC-49B1-AEFF-2B47663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815502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136EA-A889-4020-A6C8-4F73950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801B3-C51B-44A3-B4A7-AAF34E8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Dynamic method dispatch enables runtime polymorphism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35BEA-21B8-4CBD-B56A-2CC82CD0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dispatch.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58596-9A7B-4C77-9667-0D68D32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88501-693E-468B-86A4-BC554718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9F841-1E97-4004-80E6-D85A3BFE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BDA88-445F-43FE-827E-B3A28C4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1536A-0C7A-46B7-ABE8-AEBFC965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69D06-8422-42AA-BDFB-8A3A3296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CB0D1-9DB9-4A87-B40B-9CDE218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Superclass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3C36C-4CC6-44EA-8BCE-ABD63332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E1E22-E604-4168-A16B-72BA1955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5C7CD-114D-47E2-809A-641FA87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Subclass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070D5-3852-4FA1-9427-E2D93CA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61960-BB47-499C-A8DD-0C056A1B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DE7BB-8ABE-43D8-9A2C-DFD34A7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Overridden method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341E2-3BE6-4997-B3CF-99CA8F4E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3D838-57D6-4277-B503-5A3ACC6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65FBC-02F8-4714-BE29-25CF18D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JVM chooses actual object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49BF8-9041-4C7C-A781-901521D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60F16-E482-4E50-A36E-555171E7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0BC78-B84A-4763-8C6F-1B205AC8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Polymorphic behavior</a:t>
            </a:r>
          </a:p>
        </p:txBody>
      </p:sp>
    </p:spTree>
    <p:extLst>
      <p:ext uri="{BB962C8B-B14F-4D97-AF65-F5344CB8AC3E}">
        <p14:creationId xmlns:p14="http://schemas.microsoft.com/office/powerpoint/2010/main" val="23311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2D2D1-A2C9-4959-A02D-A5EF8DE6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3E966-675A-499E-8C0C-4F52374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Dynamic dispatch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902A6-BB71-4719-9CA0-FB01389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runtime binding.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DE8C-42AA-45D4-B075-49D3145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9B217-B0E5-4FAB-8346-FDDEE5A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2703C-246E-4368-B0E2-1E1D9AD7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9229A-8EF2-4995-9832-80E4F2A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0793-120C-4F71-AB45-DDB89CB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E78C0-4AA3-487B-8D25-2252A70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97E58-D71E-432E-9CDC-3DE03C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Shape s;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 = new Circle();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s.draw();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 = new Square();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s.draw();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61170-2099-4D24-A7E6-40E1E60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55FB7-E0F1-4D04-B49A-3FF5A5F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DDFB2-F6F4-4758-8582-4AAC89B6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Runtime 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FD566-A737-470A-B897-F92420F3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09817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A5D1D-FBC1-4A19-A8DE-9A76579A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2DD4E-26B3-4C13-83D1-72A98BF9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Abstract classes define incomplete templates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99C6-57CB-4824-AC91-9019A8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abstract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FCA0E-9C54-42B0-8441-28CA4B4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4D50B-8A2F-4B42-A97D-2161297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8BB8-BCCA-4A80-88C7-FAC02FFA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2E137-9B88-4D98-BD06-1595434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Abstract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6AA5-C606-4470-B958-14E9B79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C9FB9-3ECC-4C10-89CA-78358F5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Abstract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60DC2-FCD0-4D4A-9474-7F386FE6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abstract class can contain abstract methods and cannot be instantiated directly; subclasses complete the missing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AA742-EC08-463E-9424-2A36ACDA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D5D1A-F3C5-4070-9004-8D3F88E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abstract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4821D-BB87-48D6-ABC4-DCF63A8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A1CE5-4BE2-4F80-A3A7-FFE3E31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33DC6-CA3E-437D-A591-2A465B9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Template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CEB94-ACD7-4A84-8756-47A6B868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7B27E-18AF-45D4-9FE4-F0D1FD5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81314-9DFA-4E65-BD27-D7B821F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direct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007B6-E8E2-4B8A-9D60-A46ECF0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2AF25-4A18-4EBD-A088-2AE991E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586B2-2055-468E-8458-6C71A8B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Subclass completes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7190A-539E-4713-A3BF-C0FF69E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5DD60-754C-4B19-8DAD-E89806AF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A32A3-7343-431D-9B3B-30FAEC9F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Common base</a:t>
            </a:r>
          </a:p>
        </p:txBody>
      </p:sp>
    </p:spTree>
    <p:extLst>
      <p:ext uri="{BB962C8B-B14F-4D97-AF65-F5344CB8AC3E}">
        <p14:creationId xmlns:p14="http://schemas.microsoft.com/office/powerpoint/2010/main" val="1386465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76611-3357-4AC8-AC4F-37CBCAB0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A433-3F95-4745-BDD4-1A13BDD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Abstract class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A20FC-960C-4898-B6F9-4D4043D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F97C1-6644-4421-8E13-50DA3FBB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30C57-AE56-4967-96BC-ABC3E59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B0BE7-6F9C-4C8F-8C74-60BBF060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2E9BB-9640-4B46-8630-1C1896C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Abstract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8DA33-C98B-4C50-9EE0-323BDAE0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37C35-B3D8-4E30-9115-5F146B9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ADD36-CFAD-422B-9D1F-52ACA566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abstract class Shape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abstract void draw();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Triangle extends Shape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void draw() { System.out.println("Triangle");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5E41B-9083-4480-86EA-6BF23276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80D6C-3B91-475D-A88F-15A1F60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1B13-D152-4251-BA69-69EFC39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Abstract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9978A-CEAD-43F1-9A8E-245AC43F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467582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AEAF3-1D2C-45DD-BDEB-06FF3F8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A4F4F-5FBE-4F09-8162-3E32C4D2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final controls inheritance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1A013-E316-4A8F-97B2-BAA7DAB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final in inheritance.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5D83-03B8-4C5E-9FA5-8E05E27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C80E0-9D2D-4767-BFDE-B1250F44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30F0F-58F4-42A2-8109-E958EC6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4BB40-6C14-40DD-9D59-398D7E04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77216-314F-430E-AECE-EC5CCB31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26ECE-5C10-47CB-B6EE-502F4BD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C9268-5119-417B-BCD4-25BDF8B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0DCCB-4CCA-4DEA-A59F-6557AC75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final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03A9B-B307-4344-9159-9243C20D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Cannot be overridden.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DA269-FDDD-4B62-94E1-AB0DC6DB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68A58-AA55-4C7C-8F12-17482AF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F8684-6C3D-4E6A-AF62-C6795E5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final 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07B2B-1C87-4657-AE45-10E561E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Cannot be extended.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05B9B-2EC9-4E4C-AC08-B58D4BD2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7EE41-08AC-4B05-A93A-DB0BB869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56132-CD88-4068-9B99-7D4E5E25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final variable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D296B-8BE9-4FFF-AA3A-3ADCD56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Constant-like value after initialization.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B01B2-B660-4533-86F6-24B22926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C6144-ABD0-4CD3-B112-4AAECA9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0E79B-7F3C-4A84-968A-3070EAF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63998-981F-4E02-823F-3C42319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Protect behavior or prevent unsafe extension.</a:t>
            </a:r>
          </a:p>
        </p:txBody>
      </p:sp>
    </p:spTree>
    <p:extLst>
      <p:ext uri="{BB962C8B-B14F-4D97-AF65-F5344CB8AC3E}">
        <p14:creationId xmlns:p14="http://schemas.microsoft.com/office/powerpoint/2010/main" val="5191539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2B75C-478B-49A8-974D-216F49C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A32ED-0DA5-4A0F-9B19-85FAABCF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Object is the root of class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12903-BBF7-4216-A8D2-2A45B0AF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Object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6DAFE-4923-4BDF-95A9-3C365485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F5359-9276-42BF-A959-D23D902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7E593-D094-4E39-9A7F-D9C889FF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1874-D2F3-44DD-AAF4-BFA545B6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Object 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A1373-E3C4-4029-854C-FB06579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63B15-6D58-476C-BC9B-0516B349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C8F2A-BF38-4DF1-A102-6C3EE77C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2B094-29D6-4758-9D20-331A3C3C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Superclass of all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75CD1-CC1E-4594-919A-F501406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Every class ultimately inherits from Object.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C01B8-BE6F-43E1-BD47-EC6095C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E7F0E-D33A-4CCB-AA00-73842FA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491BF-F561-408E-A46B-A50E4BC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methods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24F26-ADC5-4C79-BE84-929855E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toString(), equals(), hashCode(), getClass().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BB12E-FBE9-4B5F-B58A-C13EFDE3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D9B34-CF55-4729-ACD1-6B7E68C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1B7BB-CD3E-459C-9C03-9CAF11F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Polymorphic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997FB-7BD7-442E-BFE0-5CF4FF3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Object references can refer to any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C59E0-7F24-438B-8BB3-F5A55AC6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31E8A-50F2-4ADD-BC19-461B743C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C70D8-947C-469B-8048-7AEEE27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Override carefully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8C4A3-5D95-4FF0-8570-E24A41A0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equals/hashCode should be consistent.</a:t>
            </a:r>
          </a:p>
        </p:txBody>
      </p:sp>
    </p:spTree>
    <p:extLst>
      <p:ext uri="{BB962C8B-B14F-4D97-AF65-F5344CB8AC3E}">
        <p14:creationId xmlns:p14="http://schemas.microsoft.com/office/powerpoint/2010/main" val="371088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342E3-2F15-41EB-81B9-44CFB57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54E29-714F-43A9-8A1B-AF3ECC7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Local variable type inference still has a static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0DE5E-5D2B-4956-9218-09DB86F0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var with inheritance.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410D3-3517-495E-A0BC-502886A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98C56-DEAB-438B-A149-EB80AC2B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FE3AD-C7CC-4E88-8AC0-2AAC0CF4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AB83E-1053-4E48-9FDE-0A53509C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 and 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55298-34A1-495F-91C4-42DCF1A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9030B-09AE-4FE1-A4E2-AEC3019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FD0B9-3D43-4FFC-B76B-803EBED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BEAA0-216D-4322-B8AF-78EA400D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FFA83-70FC-4731-888D-7EA5E4F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Compiler infers local variable type from initializer.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B7BEF-EE6A-4817-BCE8-A7005E16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49BEF-E930-4DB9-BEC6-4FE9D98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DC37F-ACCF-408C-9C60-CF8D286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Static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02733-B380-40DA-8350-42F033DC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Inferred at compile time, not changing later.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6976A-F62D-4516-9BF0-0487872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E3B18-5A7D-49E6-ACBE-A5117340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CA0D4-FFD3-45CD-B4E5-C8C1E1E8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Inheritance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07F5A-4BC4-47D8-9188-0261B37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Initializer decides whether type is Shape or Circle.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9D910-3554-4B88-93F3-1138F0F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25C83-4C3E-423B-BF63-C050069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7A895-7677-4CE8-9CEA-FB64AB7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12651-9F44-40EB-909C-4D0A288C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explicit type when abstraction matters.</a:t>
            </a:r>
          </a:p>
        </p:txBody>
      </p:sp>
    </p:spTree>
    <p:extLst>
      <p:ext uri="{BB962C8B-B14F-4D97-AF65-F5344CB8AC3E}">
        <p14:creationId xmlns:p14="http://schemas.microsoft.com/office/powerpoint/2010/main" val="20637836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CAAE8-2A38-475C-A192-0F51277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2DF46-6EAC-448C-ACC9-F2E60A5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Packages organize classes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2DA84-FA2D-424D-970C-280818CF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87279-DCF1-4C2A-B8A9-554B78E8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F7765-EE81-496C-9FA7-796BB6D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BEC3-6132-4382-8534-B9007E4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F2D95-6593-43C5-B363-04A0077F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3E666-3444-4638-8EC3-5909A07C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E1F55-8728-4500-9260-4C8D659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3300A-689C-437A-80D3-340C570F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package groups related classes and interfaces into a namespace that supports organization, access control and reuse.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96796-B911-4294-ABC9-307D9416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40F28-DDEB-4631-A1B4-5653575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Namespace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888DF-2673-422B-9252-092AA21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7EC90-111E-498E-937D-E643962E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2D4EB-F8EE-427C-856D-F7BD411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Directory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F3AC9-5121-4E66-AE43-3F900D69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E664F-D2B8-4CC7-BFE5-AC27908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6C301-3179-4B77-B00F-E4FDAE6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6AAAE-9364-439C-8997-4E10FF9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F881C-327C-48CB-A8CB-3812E22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7584C-6E83-4DA4-B504-EEF60C1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7C178-8918-4312-BFAA-C1E2217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7D1C3-062E-4795-8AB8-DECF8AF4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932F3-E5FE-4AAE-B416-6ED4094A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Import</a:t>
            </a:r>
          </a:p>
        </p:txBody>
      </p:sp>
    </p:spTree>
    <p:extLst>
      <p:ext uri="{BB962C8B-B14F-4D97-AF65-F5344CB8AC3E}">
        <p14:creationId xmlns:p14="http://schemas.microsoft.com/office/powerpoint/2010/main" val="2167530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27D0B-0137-4453-9B91-EC0A5D75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6420F-A397-42C1-946F-B4A03BCD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Creating a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52EF2-F141-4023-A1B3-EC1E83EB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package declaration.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9BA4E-0D16-42D6-8065-303A40E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BDF74-F120-4B4C-9E58-4261DA5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AEB4A-BABC-41C3-9136-E328F84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D289B-DD61-4828-A021-010566AE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EBCF8-E445-4BF8-A8A0-C60F2BE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098DA-6C56-4A7F-ABCE-D75A7D7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A76F0-800C-4836-99E0-B50EA2C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package mypack;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public class Message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void show()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System.out.println("Hello");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0832E-8710-467A-AAD4-BF54AA89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225A8-2FF6-4E08-846A-458737A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EFE9C-4045-439A-B19C-2DD4F27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16E27-1461-4E45-B1FC-6F32BB2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3521096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25A7C5-FAB9-4B2C-874A-E7E8ACC6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B6E67-1441-408B-9B29-F337299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Packages and member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E6E64-9082-4F25-AA57-E431C69A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access across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85D91-819E-496F-B8AF-78D83ED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0E717-6F75-4A41-A62D-C47D7D8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CE609-4D9F-4DBB-86E9-C6B55A1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E680F-B5A0-4F78-BC57-AD5F0ABB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2937F-1F4C-41E3-B13D-E28E331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C349F-1847-4B29-9F5A-64DBDADE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2118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0849F-0137-453C-AB1D-A81C4A3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9278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42EC2-27DD-4C67-8F53-EFC797A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666875"/>
            <a:ext cx="2118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A2144-E84B-48C1-9CC6-EAEC61A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1790700"/>
            <a:ext cx="19278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Same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284A-1488-40C6-A96C-57DCEFA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1666875"/>
            <a:ext cx="2118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6EB08-0FC0-4D54-9729-AC17CD8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1790700"/>
            <a:ext cx="19278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Same 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0E979-5796-4AC0-BA8E-39AB459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1666875"/>
            <a:ext cx="2118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27A20-9899-4FD6-B77B-DC93158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1790700"/>
            <a:ext cx="19278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Subclass outside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2192E-ED3A-4B00-943B-16978B9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1666875"/>
            <a:ext cx="2118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BF24C-C25D-45D9-B2CC-A2E2DB55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790" y="1790700"/>
            <a:ext cx="19278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World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F65BD-010C-404A-A992-546ACC90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916DA-B32E-464A-B924-78D6310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private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6A64D-D383-41F4-85AC-79DF62EA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1812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9BDA6-A4BE-49BC-A2BD-9C957B70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22764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F1000-CA97-4A3D-A89A-8FD8DB4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21812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EC3AC-DC7A-436B-BF91-5EF6F4E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2764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A752B-9263-40B9-8A15-F96A3E25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21812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D3A68-7CE9-4CFA-92F8-0ACEED7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764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F954CF-8BEE-4E79-A7DE-115144A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21812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F78E8-F05F-43E4-88A6-2A36248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2764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6A526-54C2-4635-AA38-EA17676F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61FCD-D5D3-48A9-ADFF-76493B53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default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4A74F-DA6D-4475-80DD-A4B63CE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7717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3EFD7-B0EB-4945-A7DF-E1F5DCA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28670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E165B-B684-4654-A29B-BEA4406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27717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4E7A-765F-480C-9B6D-A19223DE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8670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78671-3F20-4F06-81E5-541E1BC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27717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C7584-ED48-466E-8BA0-417763C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670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58A6A6-EE32-4084-B2AB-3EEDBC5C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27717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2A1C9-C8B4-4A21-8C65-C34A6A3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8670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9953A0-4851-43D8-AC8F-AD1F35D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E3AE16-B2FE-41A1-9B46-7524AE78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protected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D204E7-12E5-4854-8147-9456B2B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3623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BB6F91-B263-46B9-ACF2-6876D72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4575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087BA-1B82-4B34-BBEB-9058C260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3623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EB0704-F381-483C-970E-24B5B6F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4575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D87357-7701-4067-8D70-81AF4F68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33623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27F310-9C34-473B-9FFD-616D801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575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5A05D3-3344-4865-8F4D-47CB247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336232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66546E-9981-4F15-9011-088AC487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45757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E42321-D5FF-435D-A2AD-BBED1D5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D3258B-D913-411B-8E46-106FD6A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public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5C0F17-F4DF-4F35-9DAC-70F1A5A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9528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21D35-2451-40E8-AE45-254B0BC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0481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375DAF-6EB7-4018-A94F-1D422A5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9528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DF0E80-7A47-4EF7-84A0-20659345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0481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761115-6269-4967-82AB-606A18D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39528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AFD8D8-301F-48CC-AA34-0606D21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481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8B433-BD4E-48D9-B6C0-9447E033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3952875"/>
            <a:ext cx="2118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9CD1AA-A09D-4FA4-8471-D9D3C18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048125"/>
            <a:ext cx="188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2510011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379E0-C9CD-4CBC-AE6F-076C51E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4B44B-130B-4F82-A494-EC68BD2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Importing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42705-9DF8-4860-A109-AF0F40C8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import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9A7BD-E6F3-44AE-9655-6F10F772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8E8EE-9C50-4C8C-8FD9-B1938A4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FB482-8892-41B6-8D35-E065609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14965-6E77-45F5-9404-45D8D21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D100-4373-4B0F-AD66-26994FD6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2F6E5-4926-4075-87A7-E586ED5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E1AF8-B643-4CFA-839D-5ADA6A1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import mypack.Message;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Test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static void main(String[] args)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Message m = new Message();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m.show();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AD319-E7DF-49EC-B4AF-16D56AD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04203-D1D3-400D-B2EF-E49F6BC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E6DC2-0DE8-410C-BF6D-FFF859B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51C9C-52AA-4F3B-AF5C-C921605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5785012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C3D78-9B23-4CA5-8B58-A9237FFD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55751-AF63-44E5-AD8F-A93E73F6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Interfaces define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22B17-13FE-4251-80A4-DE00EFD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84639-4B71-4193-AF48-BB40A372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54B7-1A16-42A8-9080-81D8350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E4C82-6B28-495E-8C75-53ADD2F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08D29-B071-4883-BEC1-8B0A68E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3CD16-F5A0-4E96-B129-60F04CE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02185-2B4F-4A8B-A6E8-6B29A99D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B4F09-EA45-4F55-8B68-A43226A4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interface specifies a contract of methods and constants that classes can implement, enabling capability-based 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29D2E-4560-45F8-BDF8-B70C794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E424D-0001-42D4-9397-7899ACE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2CD1D-5A57-4EEF-A12A-9FC0B226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6E42B-078A-4E4F-9E9E-AA2FCAF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DCE79-76F9-4784-BB6F-F38002DF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implements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34439-C6CF-42BA-A6A6-F91DE8E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DC852-EF27-48A9-A14F-0A487B4B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A228C-C9E1-4241-9EB6-3AC1F499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Multiple 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B7F6C-E9EA-4BCE-9584-A298D57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7D288-DE2C-4674-8045-CF4988F3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055E2-47AE-4A41-9EC2-9E63D84C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FC8FA-F788-4299-B804-0C5FE963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7B306-EA8E-43BC-8F9A-651A6C3D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EBA86-B1F2-43A3-858C-F4D486C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0727396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13610-D9A4-4DE5-A920-C749D0C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64A77-306D-4487-AE1C-CE5DF762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Defining and implementing an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A2661-82ED-4131-824E-D8EC446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interface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DFD3B-353B-448A-8D9F-33F141E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26C8-7DB1-41EC-8C2C-9532EE26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03CDE-EE8B-43EA-B65C-1C11618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A4A80-006B-472E-B98F-FF1A5E2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B6D2-6BA5-49CD-8679-2B140F2B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5B241-B15A-486D-B410-67EA4F9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BB121-2AE1-474B-A088-CB533239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interface Resizable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void resizeWidth(int width);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void resizeHeight(int height);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Rectangle implements Resizable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void resizeWidth(int w) {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void resizeHeight(int h) {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0CAB2-337E-4A7A-BBE9-4ECF660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4FC37-862E-412C-9589-F2F4B63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D9792-7FB8-4CF3-A772-416D7205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B4E1F-71CF-414D-A64C-B704694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1588329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A64EB-9F88-4782-B197-D5A4FB1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302C2-6655-4D39-B599-74AE4F28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Interfaces support polymorphism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ED509-36CA-4192-B985-B933FF2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interface references.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C5149-0A33-4CBA-86AA-14C0D2D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C3609-A63E-4FCC-A2C9-682D1F69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55FF5-7450-4026-9205-3A876DF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81DE5-1607-42F3-A721-8128DE09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7A38-3E7E-4778-B142-439A10D6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53001-86B5-4475-9890-EF568C43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2435F-566B-44E3-8A7D-2FBB6A3C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Interface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1F390-2006-452D-8E4B-8D86CAB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4308E-7A75-4AC5-903A-C3CE9F2A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8BB4F-286B-40F1-B175-5017DAE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of implementing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A5304-3D60-470A-8E05-1038EEEC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D56B0-0A01-462B-91FC-FCC71F2C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5A7F4-4827-4258-B3A1-0B1BC055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interface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AC5A6-FE41-4071-9D55-4C4733CC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644FD-1EAF-4F17-BE04-32C4CE54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E092E-B0F7-40F6-8C61-2E9E0B8C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Runtime object executes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9DAFE-0478-4F32-B5BB-6F1EDA6E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77EB9-3EAA-4D8B-9EA4-9B66412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D80E2-F75A-4CCD-B517-77F05791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Loose coupling</a:t>
            </a:r>
          </a:p>
        </p:txBody>
      </p:sp>
    </p:spTree>
    <p:extLst>
      <p:ext uri="{BB962C8B-B14F-4D97-AF65-F5344CB8AC3E}">
        <p14:creationId xmlns:p14="http://schemas.microsoft.com/office/powerpoint/2010/main" val="1901273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EE374-7186-4038-B193-37C85F22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443F2-FC6A-469C-8243-172F946B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Default and static interface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D288-22CE-4D18-AA8A-083BF498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modern interface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5680-DB94-4C87-905F-0DD6FA9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6FA86-6F58-443D-BD91-A1B609C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8805E-90BB-459E-A812-B819BDCD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D153A-1A38-45DA-961F-36C4FF2C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47B37-FD8F-4D7B-B14F-0532D3E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88C30-DF50-4C7B-A536-8CC9886A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67506-6890-44A1-938C-7B14B4E8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825B1-711A-4FC7-A6DF-B1E6BD4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Default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378F5-EB8D-4263-94B7-BFD582AA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Has a body and can be inherited by implementing classes.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D022-7DB9-4CBF-A2C3-C00ED841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783FD-766F-432C-83C6-11D5DCA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780A7-DA6F-48ED-9D78-2586609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Why useful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6312F-8F06-4930-A82A-447F655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Add behavior to interfaces without breaking existing implementations.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1E5C5-3D3F-4A42-87A2-BD3F64CF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E8DEF-7CAD-4AF8-9E52-2FD38668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35A59-6D27-45A9-B810-30DEF951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Static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051BD-8B3E-4C3F-BCE1-8C84BA9E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Belongs to the interface and is called using interface name.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858C4-409D-427A-B782-9DF5419B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10E4C-43CC-4A17-8ACF-D8A12F2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63F51-56C3-47BF-AF9D-836EB5C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BF138-F88A-438C-A09A-7E4AB04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Static interface methods are not inherited like instance methods.</a:t>
            </a:r>
          </a:p>
        </p:txBody>
      </p:sp>
    </p:spTree>
    <p:extLst>
      <p:ext uri="{BB962C8B-B14F-4D97-AF65-F5344CB8AC3E}">
        <p14:creationId xmlns:p14="http://schemas.microsoft.com/office/powerpoint/2010/main" val="18044223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A1ADA-6F18-40F7-ADA0-1E387EC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1C77A-3244-42AD-A34C-79153A02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Private interface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45EE-6175-4D94-B90A-62E6AA3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helper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E57B3-9CC4-4C39-BBD9-31746D4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E9128-500C-44DA-98DA-53F6C85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9C5B9-B6E5-43AD-B945-23ECB64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B257D-435B-41F7-BC85-971ACDC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0E22-04EA-41C6-8F45-F9C9C7B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3ABF1-4FD6-4844-BE60-425C0D45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FFF60-B169-419F-98EC-1A3B1DF4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C74E9-B509-48DB-9B42-ABFA61A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Private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72B65-A552-48C8-9052-6994C251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Helper method inside interface for default/static method reuse.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3BDE4-FA6B-4F24-8163-9BFD1C1D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ECA4-BA6E-4CE0-8AB5-7FFF77BF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F3BED-18F8-4F58-881F-B347D3C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Purpose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3C7F2-7579-4304-8F56-BD097EE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Avoid duplicate code inside interface methods.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90C7A-3AD7-41C4-8FD7-E16F6F9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7DA96-5A41-4D4C-87FD-12273F53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9BB98-C88A-4EA9-B4C4-46A2272D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E6F09-E1FB-4A7D-835F-B8C7822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Not visible to implementing classes.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9DD7C-A65C-4E43-9BF7-433035F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67828-F5F9-4876-A67B-DFB74868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DAA03-0492-43AB-B692-07C36AD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7AE3D-4F64-480D-A1D0-CB32D698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interface internals tidy.</a:t>
            </a:r>
          </a:p>
        </p:txBody>
      </p:sp>
    </p:spTree>
    <p:extLst>
      <p:ext uri="{BB962C8B-B14F-4D97-AF65-F5344CB8AC3E}">
        <p14:creationId xmlns:p14="http://schemas.microsoft.com/office/powerpoint/2010/main" val="10787972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34F33B-5524-410A-8A57-673F98A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1B351-0524-4965-8131-7D43465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Abstract class vs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FBA7-E794-47F5-8706-688F37DE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abstraction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536C5-C88C-417E-82A1-8460D55F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EA607-46B7-427D-BB4C-305A26A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8EC54-CA50-4D6B-AE3D-01A0159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456FE-828C-4456-8061-5246820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7B2A8-CC65-4F9A-A8AD-E15953E3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9C6C5-467A-49BD-A70E-A9FBD7E9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2403D-4F20-4B9B-906C-3298391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3EBEA-1E0A-493E-804D-D39CBAA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Abstract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5FA0-6019-46BA-B7DD-050150CD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94291-365A-4E21-9429-B688843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2788C-281A-4706-BD38-44A96339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EEFE3-9A0D-41F9-ADAB-C07BE1E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C88CA-5AC6-475A-93FB-766C8B6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7A9A7-4CE7-42E1-B42F-675B2CA7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40BC4-7565-4E06-82A1-6664ADB6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17C4A-BA03-4C9E-8BD0-A95C0B16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 hold instance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3C4F4-118C-4638-83D4-F092498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76FDC-3A0F-4278-BAAA-9DAE1051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E9E77-D3D6-430D-9AB3-8062AC5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Single class inheritance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703B4-5556-4C19-9699-E887EE7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79F60-81A0-4EA2-BB7C-3417AFA7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FC908-7C45-43DE-BC84-C59D480B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for shared base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C5984-8357-4CB9-80B9-7FB299E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A950F6-EB8B-4426-A78C-6EFCBF6E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5C491-B0CE-47B6-9999-5D0C884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 for is-a family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EBD47-B68B-4AEE-B05A-9E6ED11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5D4E9-4985-4783-A550-980CB395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ED546-C417-434A-B74A-8E37BED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Defines capability 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1E537-7763-47E8-9B5C-FE4F525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D83F20-50E4-412D-974A-3F2AE60C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0D986-1A4A-40F9-9365-E44FACC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Multiple interfaces allowed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EE762F-5CE6-4171-82A0-48187AB6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DDEBA2-FDF3-4028-AF79-0FFBD60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E2F74-987E-4DE1-86F9-5505FA7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for plug-in behavior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133BA-3773-4420-839D-DD879BC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04BFEA-082A-430A-BDE8-73D39595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8ECFDC-D09F-46B6-AAAE-AC6F6C17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 for can-do role</a:t>
            </a:r>
          </a:p>
        </p:txBody>
      </p:sp>
    </p:spTree>
    <p:extLst>
      <p:ext uri="{BB962C8B-B14F-4D97-AF65-F5344CB8AC3E}">
        <p14:creationId xmlns:p14="http://schemas.microsoft.com/office/powerpoint/2010/main" val="16983878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15235-6E3E-43C0-9104-7D8E5BD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67800-5364-4E74-9866-9F0A15F6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lab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06088-3CA0-4F51-8C80-8BBAD5D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concepts to practicals.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7958A-2682-4EEA-BA9F-1CA4CC7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3CF2F-C7E9-40E7-BF37-083B040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E756C-BF9E-40A1-BFCD-5A24303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D1709-548C-40A6-AA08-1A68AC1F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3B13F-1737-447D-8C95-781D140F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7DFD-3204-4598-8542-FDAEB12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A68C4-D7E9-4571-B141-2D115B5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569CF-7F8A-4595-BA36-AC84AD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Shape polymorphism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9F57C-192C-41D4-A08C-B98BFD71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Circle, triangle and square override draw/erase.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E8D05-8925-4989-AD2E-EDA5FA83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5E557-BE3A-49DE-AA56-36B0094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B7230-4175-401C-897F-F1B80FF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Resizable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661CD-D095-4432-84E8-772FFFCD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Interface implemented by Rectangle.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9AB1C-1B5F-457E-83E0-373E786A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DC644-6F28-440C-9D81-E9009B8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8E3BF-613E-4C29-A698-14A9A88A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mypack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19686-94C6-4AD1-B4D5-44FBBB2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Package creation and import practice.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529C2-9E25-4DED-8600-207DBCA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AFA85-2FE0-4805-AFA9-50F573B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CBFD7-1BF8-4557-BDA2-D35FA6CD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ECE1A-0041-43C4-987E-7C522F7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Weaker access when overriding interface or superclass method.</a:t>
            </a:r>
          </a:p>
        </p:txBody>
      </p:sp>
    </p:spTree>
    <p:extLst>
      <p:ext uri="{BB962C8B-B14F-4D97-AF65-F5344CB8AC3E}">
        <p14:creationId xmlns:p14="http://schemas.microsoft.com/office/powerpoint/2010/main" val="12731197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5E3B6B-5704-4CDE-A385-372C2735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5B13E-ADD2-40A1-B55D-05EB366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When inheritance is appropriate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9988F-097F-4A35-84E0-ED644D6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overusing inheritance.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92541-A96C-4E15-9EA7-01F0A0F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1A9C-38DC-41C9-981E-0A5E4BA5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30145-C948-43C9-AB32-C769A4EB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E5131-DFFC-4E4D-8000-DEFD8760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5DE2D-E113-4B18-A4A1-297985EC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A07DE-02FB-4F22-9EBD-12DB4E2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BD9F7-BA78-4712-8A4B-751B4DC9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8DDBD-C747-47FB-BE25-10ACE848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Use inheritance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98D0F-8BC1-436B-B9C8-93C2069D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When subclass truly is a specialized form of superclass.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9FE29-599E-46E7-BF73-C00F655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3D00B-BC4A-45E2-8152-D5D7D3D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58D3C-06B9-4041-9515-3A135E6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Avoid inheritance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3E2C4-1CDA-4B03-A036-98356D3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When classes are merely using each other.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242E6-896D-4950-B514-5F1BB8D8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7EED2-BF48-4893-858E-65A15E02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48F1E-E938-4FF3-AAA4-9CEE92F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Prefer 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E74F0-9433-4CAC-AC59-C6F0523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When one object has another object as a part.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4F81C-4A51-470D-89D6-530D1AAC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102D4-D496-4F7D-8075-7AFE6AE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78045-B330-46A9-88D4-7F99067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Exam phrase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0DFE8-F261-4455-B883-556E84C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Inheritance models is-a; composition models has-a.</a:t>
            </a:r>
          </a:p>
        </p:txBody>
      </p:sp>
    </p:spTree>
    <p:extLst>
      <p:ext uri="{BB962C8B-B14F-4D97-AF65-F5344CB8AC3E}">
        <p14:creationId xmlns:p14="http://schemas.microsoft.com/office/powerpoint/2010/main" val="10869833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3E430-E58F-4628-A543-892BC5D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12AC1-E8B8-4654-ACE3-2E018A57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Superclass reference, subclass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6416E-E66C-449B-98AB-745AC2F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polymorphic reference assignment.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4B4B-F4CC-41F2-8B46-5E40D8EB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9876-AFB2-4C65-9900-3C025DD2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0077E-AB16-44B5-9115-6B7659A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B026-3BDF-4EAB-9FC1-061E3DF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Inheritance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56C84-A35C-471B-AF6A-BD22EAE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3DB3D-30F8-444D-93B1-A0993365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7BFE5-473D-47E5-81A1-FC85F058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Shape s = new Circle();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s.draw();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Allowed: Circle is a Shape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Not allowed without cast: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Circle c = new Shape();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BB14A-E38C-4F50-AB50-BC3A3EBA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85281-ABC9-4DA3-B4FB-299B601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BC8EE-C17E-41AA-84EF-F5A11B3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Polymorphic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4243-4023-4FA7-88E5-A00C7E14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1112015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E3799-A35F-4E36-AEA6-0490DAD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41BB8-645D-409F-B1E3-65603DC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super constructor call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C59CD-FC84-4E09-91CC-AAC2AA0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constructor chaining precise.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90D64-D5E6-4DF6-8F4D-081A793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3E80B-43B8-4AFC-98D2-6E031F86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3DD33-B43B-41BA-BC62-7B616349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17D9E-BCBB-447A-AD9A-EE59D198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DD597-3FB7-4E7F-80C5-5D12562F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0EF16-9BA5-4981-8C5F-0A03BAA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B2E4C-9582-44BB-848B-61AC3D0D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9497C-EC3B-48A0-9526-7A44719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super(...) calls a superclass constructor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BCA1B-448E-409D-976C-BFD2B4EC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EAED3-BE6D-4240-84C1-7DC2878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117D2-0859-498E-9D2E-27B479D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It must be the first statement in a constructor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E3ACE-6889-4250-B365-4C84A4F1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B9CF1-C218-476C-A0AB-DA79E4C7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7974D-AD9C-486C-BDC6-7FFB90B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If not written, Java inserts super() when possible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4F9AE-F879-48EE-B123-465F3EE0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5348A-9C41-46BD-B0D3-09491ED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9881E-A83A-4A17-9914-2B1B796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Superclass construction happens before subclass construction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92E20-479D-4D72-BD3B-7B96ED6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13206-2E5F-4622-926A-7F54E652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BFF20-6673-4556-8243-54F451F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super.method() to call overridden superclass behavior</a:t>
            </a:r>
          </a:p>
        </p:txBody>
      </p:sp>
    </p:spTree>
    <p:extLst>
      <p:ext uri="{BB962C8B-B14F-4D97-AF65-F5344CB8AC3E}">
        <p14:creationId xmlns:p14="http://schemas.microsoft.com/office/powerpoint/2010/main" val="8794242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F0F77-7349-4A43-8C79-BA3C3A8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3C4BE-D9DD-4EFC-86E2-353F780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Overriding rules students must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5FC8C-97B3-45F9-93D6-5F884E45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precise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990F-2A4D-47E0-A5C3-0A9F1A48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36A43-F1FB-47A5-BBFB-D5EB768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31D60-EC3F-4CF3-BA85-9D8287F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7E93D-AA7D-497C-9041-C984B205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Overriding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C54DB-9DB7-4457-AF02-CD055BAB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EE049-39AD-47DB-9049-A3BAF9AB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9251E-6C45-47AE-A60F-AF7E8E2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104A2-3350-4077-8D6B-6878202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Method name and parameter list must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C7A9E-E519-45A5-A7B0-214C8F7F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3319E-71AD-4296-99A2-EDDAF34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0BEE2-CE92-4B13-BBBA-CF5EAD9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Return type must be same or covariant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B8A8A-44FF-40FE-9F3B-EBC0DFB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03C13-227F-4B02-9FAA-4F6E68E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26839-0B1E-4D5E-AED4-D80D32F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Access cannot be more restrictive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F02CC-ED4D-4109-A7B4-FC93838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ADE41-AFE0-42B3-89C6-10278B2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4F883-25E8-468D-B4E2-FE15C0D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Static methods are hidden, not overridden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AA4A1-A4B6-46C0-B1D1-0DF0BA57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B19B6-829E-46D5-8100-4A5A24F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2591E-F234-4C28-A236-ABE88718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final methods cannot be overridden</a:t>
            </a:r>
          </a:p>
        </p:txBody>
      </p:sp>
    </p:spTree>
    <p:extLst>
      <p:ext uri="{BB962C8B-B14F-4D97-AF65-F5344CB8AC3E}">
        <p14:creationId xmlns:p14="http://schemas.microsoft.com/office/powerpoint/2010/main" val="1674305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B779C-3FDB-477D-BFB6-0D9D63DC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CF996-F135-4AC0-8B91-E89CE33D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Output prediction with dynamic dispatch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6892D-7C67-4957-AD89-9A667F55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Train runtime method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6445A-52FF-4D22-B11E-F147EF06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9D666-5BA2-4EE6-8A63-F251AC79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4049-E42D-4BD0-9FB2-1CFDE77E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A700-207F-436D-AC63-13F4FFA3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9F343-7421-4C82-925C-6BF079A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2B5F7-5427-4CF6-AF7B-04EEEF7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6E892-C577-4182-B17A-A73BC6A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A { void show(){ System.out.println("A"); }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B extends A { void show(){ System.out.println("B"); }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A ref = new B();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ref.show();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83A31-8144-4616-A716-59E7D26A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DA75B-29B6-44EA-8D4E-A7B15E67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2EB05-7670-4DEE-8135-62EC4A1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9B685-6CF7-424C-B62F-3261408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38518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B6CE9-A4D7-4BDF-86C2-E7F65727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690BE-1BF4-42BF-BC3E-A4AF747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Abstract class as a contract plus shared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4E006-C696-400F-8727-EC88E1BD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abstract classes exist.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72D53-A56B-44C9-87F9-2B77524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F71E0-3074-47C8-9172-403C1FED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8072A-C932-4588-83F6-8210107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1CD48-9366-4402-B035-EF15029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Abstract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28632-EEBD-4434-AC2E-3E239BB7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B4479-E458-401C-92F9-6F31D14E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F3FE8-DAE7-4B9D-A150-EDF5B625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A9936-B218-4624-8189-4CBFCC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Common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BB257-72E0-4EF7-B7A7-91E7760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Superclass can provide fields and implemented methods.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A1EE7-4348-4ED6-A84F-CD9602E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59B9C-4E6A-418C-80C3-AAB7937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16ADE-9DC4-4A10-8077-371186E5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Required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5462E-6CBB-4F6A-8FDB-39CB738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Abstract methods force subclasses to complete missing parts.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28B29-D902-4A21-B8D2-160F47E2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8D5E6-A13A-40D3-AAC2-65DF1C19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4C0CB-9D74-43DA-89E6-6AB153E8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 direct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F7233-801F-46BB-9E23-FD92778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Abstract class cannot be instantiated.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49835-C710-4A6F-ACF5-B4D6492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03EF5-1C39-4153-9323-EC72507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9F550-F479-4927-B738-B5DDA9C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15A55-1FC0-49C3-8BAA-95F53D05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Good when subclasses share identity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9214911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C84DC-D43F-4DAD-B1F1-549E0CC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1996F-7FD1-4578-85B1-3294D6FC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Package naming and folder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8612-4D5D-4213-9D97-4B84278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packages concrete.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394B-3AEF-4C78-AF28-DD882B0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8F614-4904-45A3-B01A-D9E5826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6DEA-838C-4E10-9465-883E4045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656AC-E6CC-46F9-B0C4-2410DB1F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B8ED7-7CF4-442E-B8B1-DDEF6BBD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33C3E-F2FA-44F5-BEE2-FD10F2C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A6374-D5FB-4558-901F-CA48B49B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package mypack;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B2AD9-49D8-4681-85A6-EB19948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6E2EC-8E4D-45DC-93D3-9E9E790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85530-B718-40D3-B608-9279B0F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Save in mypack folder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43D00-0337-4324-8D50-64DCB5F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AD8CB-10CF-4627-BC47-1DA0C3B6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2E72C-26A6-4725-8609-12AB1E6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Compile with package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FC6DD-1F29-48C1-B7BF-3F1F62B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F44F3-03A4-4B1E-87B2-C1B3DFF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EE355-A9A2-49D8-9CD3-142AECC5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Import in another 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E0228-0DC7-423A-94CB-759EDB63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7701D-28BB-4342-B8FC-31EC5B3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A8EE9-A983-43AA-AB40-B113127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 public class/methods</a:t>
            </a:r>
          </a:p>
        </p:txBody>
      </p:sp>
    </p:spTree>
    <p:extLst>
      <p:ext uri="{BB962C8B-B14F-4D97-AF65-F5344CB8AC3E}">
        <p14:creationId xmlns:p14="http://schemas.microsoft.com/office/powerpoint/2010/main" val="9178092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5A660-10E7-4E9F-A7BA-81C9289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8521C-4B1B-4D3C-96FF-FAC9112F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package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2DBB1-7856-4A17-A444-0720FE14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lab issues.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46422-1702-4773-9549-EA413F7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0D842-2FCE-4117-A5EA-2A08BA1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ED797-2677-4A5E-925B-8F7DF2B0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7B7A9-EDB9-4888-8672-6106D4B9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1987-2592-42B8-98F3-6EA7722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620CF-AC28-45EF-A130-CA27D03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E29D-9872-4880-9B0C-37C32B9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253EE-AAA6-41F6-9BF9-BA8C6559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package statement must be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AF339-7490-42AD-BED2-63335F18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29E86-A3DB-4F4D-809D-966D81E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B2CAB-9FF3-4915-981C-A60559F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Folder name not matching package name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6AA2A-F158-4A2A-8759-9513AC3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A3272-3B93-4A6E-8551-039035C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6ACE0-20F9-4004-A5C6-27D9051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Trying to access non-public class from another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F03C4-CF6D-4D29-BFBA-357B11C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E041E-1607-40EE-B0D1-12BC46F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81366-A5FA-4F43-A6BA-DB1003E8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public on methods used outside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2E878-CFFF-4C1F-81F6-5A4BC3A8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3AFB5-3706-42FB-B4BA-970E19C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555CA-5759-49DE-8F19-B15F9C9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Running from wrong classpath location</a:t>
            </a:r>
          </a:p>
        </p:txBody>
      </p:sp>
    </p:spTree>
    <p:extLst>
      <p:ext uri="{BB962C8B-B14F-4D97-AF65-F5344CB8AC3E}">
        <p14:creationId xmlns:p14="http://schemas.microsoft.com/office/powerpoint/2010/main" val="21371682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FBDD1-2DA1-4F75-8D57-0F398076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7C600-FFA0-44D3-B7C1-7FEE0DE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Interface reference enables flexible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61EAC-B06F-4BDA-9B5C-C54D53D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capability-based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36301-1BC6-4874-9262-48C669B7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D8A7A-0122-493F-94AA-01F8921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83CD3-D6B3-447D-970F-B8C0FA7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5255F-0FCE-46EC-8977-B2A604D9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23D0B-D4B0-4C27-B9B2-5DCDA30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44E63-5EF6-4E05-B229-820F8C3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CDF77-84A4-49F1-B893-E4665CB3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Resizable r = new Rectangle();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r.resizeWidth(200);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r.resizeHeight(100);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Code depends on capability,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not the concrete Rectangle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EB745-6A17-4E90-B80E-7A44221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4B96C-B034-4CE7-8D34-04B02C4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10055-C440-40E0-9E52-374676E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Interface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5C7FB-03AF-4A9D-8473-A0D3734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9767943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80DEB-346B-4917-B3A5-DDF9740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F94FC-6419-44FC-A967-D7BB7FC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Default method conflict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0EB9E-660B-4264-826F-77EE6EE4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multiple inheritance issue simply.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6E0F7-0D79-4A16-83C0-724FB7AC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1814-DD0A-4339-AADF-FFC73CC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C48EE-6DD4-43A6-A51D-6C13496E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118EF-0B58-45E5-8B04-B5BBB86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093BC-F027-4116-B59F-50755A2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C997D-07E4-44EA-A30B-81BF228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6F371-21CB-4AC4-A1C3-74A99AF1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7D139-9653-411A-8B02-4EE1DA86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One default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11879-CB46-42B2-992B-6E89AFA1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Class can inherit it if there is no conflict.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16259-58BB-4523-9A23-DA4834A0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5387D-C60F-4F24-9D34-65D081F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58531-A656-425D-908A-A5BD1E64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Class wins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99513-B919-46C7-A24E-2DC4BF0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class method overrides an interface default.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73B07-8C4B-4DCB-B438-AF41FFA1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F7DB1-E946-4A25-A4B5-9DB84782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C1C3E-EC3E-4C20-899C-AB0D7BF9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Conflict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F71B4-6E34-4E69-BAB3-14DA668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If two interfaces provide same default, class must resolve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1830E-8BD2-4AE2-B1EC-5816A85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3AB23-FCAD-4770-9451-D6C5277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8B5F3-2FDE-494E-9C4C-F07DB9AA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B3187-9668-409A-8F12-D0F0692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Prevents ambiguity in multiple interface inheritance.</a:t>
            </a:r>
          </a:p>
        </p:txBody>
      </p:sp>
    </p:spTree>
    <p:extLst>
      <p:ext uri="{BB962C8B-B14F-4D97-AF65-F5344CB8AC3E}">
        <p14:creationId xmlns:p14="http://schemas.microsoft.com/office/powerpoint/2010/main" val="13972948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9127DE-7466-431C-BED8-E717DAE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45C2B-5E5B-49BC-AB5D-892EA7B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extends vs implements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E688C-F776-43D2-B23B-5FB46104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syntax and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42C77-8F0E-4FB8-B4A7-E3C98733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24AA2-A6DA-45E5-B4FB-200FA11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D2C20-6B2A-4298-9E68-663183EC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AC496-4269-47D3-B8C2-C7475CB5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1E869-6E32-4F9A-9C3D-5C7545E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F5043-43AD-4C58-90C1-76BA65CB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6F284-9534-4965-B6ED-14EDC3AD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AE0AE-61F1-4A51-8F21-5754A48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extends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9ABAA-A396-44E3-8615-70553A0E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D0833-6B20-4EE8-AB95-FD4FC8E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169D-58D2-4D87-8914-9B09FFA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B4ED8-0202-42EB-9435-1BFCB5C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implements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B2EFB-B7D3-4120-869B-A67E8876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37302-109D-446B-AA60-B16015B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13707-4E26-4838-98C9-8888C88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CB0C7-26C2-4564-A6D8-127385A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Used for class inheritance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33958-F88C-45F3-B5C9-FAF15E8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98515-9326-4F1B-9B97-FB61FDC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FEB0F-340F-4803-A8A0-C2CDCC2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One direct superclass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049EE-4938-4C41-890C-E9E895C5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EA414-696B-4B15-A1A0-68A4F9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00250-4E81-479B-88A8-99264C1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Inherits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9E16E-7E4C-4022-AE6A-7A29214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77B83-45DE-47F1-A221-1C41C50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D6CDC-19C0-4C12-85FC-3191DEC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Models is-a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A2F8C-B5B8-4979-8793-6B40FA3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4F82F-C721-4CE8-A0B2-0D2F8E90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89636F-ED9B-4849-846F-60C30CB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Used for interfaces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6FD87-ADE7-490F-8B04-9BBC2097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4A43C-81EF-4A98-9120-7114475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DB7FE-DE00-408A-B914-FA3EC60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 implement many interfaces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A64340-C77A-4AA3-B9A7-1DCB79D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DC355-2760-4523-8522-1A1ECDCD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DE5AB-7708-432A-B301-4AFF773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Promises methods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59240-62F1-4517-9A53-FC4458A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C5775F-5A91-469E-A9EB-ED9C0FA7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8BC8E1-9F18-4900-960C-446F5190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Models can-do capability</a:t>
            </a:r>
          </a:p>
        </p:txBody>
      </p:sp>
    </p:spTree>
    <p:extLst>
      <p:ext uri="{BB962C8B-B14F-4D97-AF65-F5344CB8AC3E}">
        <p14:creationId xmlns:p14="http://schemas.microsoft.com/office/powerpoint/2010/main" val="7318204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845D2-91EC-454C-87E1-4F8B078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03317-1E43-472B-95A9-34EB338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Shape polymorphism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72DDE-74F4-4558-A9DF-0978B9E5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polymorphism lab into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F6B44-5328-48ED-8CD7-B14B8E3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F2F98-4181-47F8-92E6-1735479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1BB5C-E7F9-43A3-8848-E5808E6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235DC-310A-4ECA-8EA2-29E6B6F0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94D89-8EB4-4160-BC98-3B1A6A9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E1CA0-4BB5-42B3-A0B4-71AC546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62FFA-8DBF-418E-AFAD-633ACC5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Shape superclass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2AA32-D39D-4F02-B9E3-D15AC3D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CF32F-3502-4AE4-80E4-7D838662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38CCF-82F8-426C-826F-90509234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Circle/Triangle/Square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67E9D-47B4-41DF-8769-D74A5BD3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02F54-D1F4-4F61-A67A-2FBA2E95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A6F96-899F-4845-AFF2-B0183C4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Override draw and erase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B862C-DC0D-4C96-98AC-92F4E8EF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52A90-3223-427B-A1B9-5EB3501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FEBF4-AD5E-44B0-9D51-004DAB61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 Shape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DD99D-54D3-4025-9568-8B2F64E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8C570-58CD-4E59-94E2-77BE27BA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C73AF-F172-4840-ABB6-3ADAD40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methods polymorphically</a:t>
            </a:r>
          </a:p>
        </p:txBody>
      </p:sp>
    </p:spTree>
    <p:extLst>
      <p:ext uri="{BB962C8B-B14F-4D97-AF65-F5344CB8AC3E}">
        <p14:creationId xmlns:p14="http://schemas.microsoft.com/office/powerpoint/2010/main" val="16401818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B2FE2-E164-4FFF-AE0A-0B98F240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632B3-7655-441F-9FCD-F4B1A68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A36EE-51D2-4144-8240-301B346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30AE3-7CF3-4031-BADD-18770C0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1A80A-FCAC-455D-B357-2E36BA91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4C33-98A6-4085-BA59-B56D2B0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B7AC3-074E-46FE-A638-F804596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99EEA-2FAF-4967-8372-5F7C46D6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11F8A-AB71-43BC-A7D8-CEB42FA6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9CF7F-DBAA-4631-9840-8CA2DB85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FABC0-86E6-4044-8968-9EFEC745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6CF23-5C7F-45CF-B35B-2DD4B4E4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32AF5-CF33-4C4C-BFDE-C7D21408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Inheritance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48F78-63D9-4EC3-A4F6-757FB91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extends.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E01BC-3463-43B5-9543-76276B9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CFA7D-CE52-4052-A915-88A221B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CE510-B8FB-43CC-8946-052B7044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super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452C2-A3F0-43C3-933C-71A9905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Parent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E68A3-F7E7-4801-B29B-D8AA5C7E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78936-1499-4D4A-939F-161FDE9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16FFF-BE84-41DF-B103-F56DE3CF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Overriding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377B8-13F9-406E-98CE-3556383A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Runtime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A8481-2685-4204-9495-3EB81EB9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F3480-2A90-4207-924E-FD7E3B6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23796-0E3E-4F42-BEAE-B5A047B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Abstract/final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EA485-3768-4A74-8CD4-07759010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Extension rules.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14EB4-1BAA-4B4C-AE23-94BDC49A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D597E-4DD7-4633-A572-F7C6F319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9E1FC-DC45-44CA-BE74-411EA1A6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Packages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F6D27-0A60-4BD3-A654-3B8DA379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Organization.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2C496-B26D-4AF6-B08D-F011FA95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AEC17-FA96-4E97-B275-43C8590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3FB0D8-1842-4AC6-A1BB-6CF121B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Interfaces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67FD8C-CA57-495C-8607-D0A5931D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Contracts.</a:t>
            </a:r>
          </a:p>
        </p:txBody>
      </p:sp>
    </p:spTree>
    <p:extLst>
      <p:ext uri="{BB962C8B-B14F-4D97-AF65-F5344CB8AC3E}">
        <p14:creationId xmlns:p14="http://schemas.microsoft.com/office/powerpoint/2010/main" val="78885089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494BF-3FEC-49F4-A647-221ABCCB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8BF9-0482-4E5E-943D-AF01BD8B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Viva and exam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DB346-0B4A-4F7E-A5FE-F8FE1B2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FE642-B3CB-4412-B543-10FC945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BDF39-53D3-4192-8E46-1B259BD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17614-AAAF-433E-A24D-1BB5F67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CD236-5559-4BA3-9996-081D024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7FE00-7394-438F-BFA2-DE5AFD3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93E7E-7364-4BF4-9F79-CCD03B7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0D91D-1AE2-402B-B4C8-42410AD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BF786-A371-4D1A-8843-BB442CC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overloading and overriding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1E9D1-693A-4F0A-9AF5-A303DDF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8D3D2-564C-412F-8C69-22CDA13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21EBF-11DE-4298-A0F0-87BA92B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Trace constructor order with super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72D14-F07F-485D-9C7C-BF064D7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D312A-26AE-48DD-994D-54C8EAA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1625E-A683-4F02-8288-E3567E5E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dynamic method dispatch with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E90E6-AF37-4A93-B71A-574B887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4A71B-1B81-4D31-BFCB-E4D7DD98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4F8A8-EEB6-4B83-98D0-38165B9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Compare abstract class and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8CC11-9F88-4314-90DC-74561814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782DA-03C5-44F7-883C-D889D1B8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F522C-7687-42F1-8494-736D80F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package/import/interface implementation syntax</a:t>
            </a:r>
          </a:p>
        </p:txBody>
      </p:sp>
    </p:spTree>
    <p:extLst>
      <p:ext uri="{BB962C8B-B14F-4D97-AF65-F5344CB8AC3E}">
        <p14:creationId xmlns:p14="http://schemas.microsoft.com/office/powerpoint/2010/main" val="11759657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9BEBC-A2DB-4CED-B72F-3CE6D77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2471F-BE9E-4D86-992E-A41F853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6ADA1-0E97-4DA7-8368-4350B6D9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22AD9-6490-42C8-A3AD-A744F9C0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6E3D3-3DBC-4BFF-93B3-6FC74714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E830F-88B1-4878-99A7-699B2AFE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CF9A5-3C8F-496E-B722-CEB011E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53437-8EC6-4079-8817-C73D713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D21F1-2FF2-4041-982D-F9AE2A4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inheritance?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3B3CE-B156-4482-B49D-E09E8F33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extends?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6B97C-33B4-4929-996E-E35CC323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Superclass?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11912-8B35-4D9A-A816-93A274B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Subclass?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FD040-1046-4D31-ADEA-FDFD1CB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Use of super?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9A8EC-9864-4D2D-BC48-5A88CA4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Constructor order?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7BCA1-E4B4-45AC-A34A-FB25A01F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What is overriding?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91DEC-B6F8-4D4D-9464-73BDF6E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Overloading vs overriding?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62878-FB8E-4D0C-96CF-D35FD9F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Dynamic dispatch?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B47E6-1914-42DF-9C13-7DBD4A9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What is abstract class?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92A65-1B02-45D8-9278-82FFA09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Can abstract class be instantiated?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3543B-3BF7-42A1-8A5A-F0EB610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Use of final?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AAF4E-FB3F-41E6-A089-51D0154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What is Object class?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69016-824B-4D60-86EF-F87FE7C4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What is package?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DD3E2-A47A-4A21-9F18-A7AE704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Package declaration location?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6F02C-393D-4C36-898F-ADD93DD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import?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0A8E1-C91C-4DF1-8E1D-67F6DFE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interface?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98FD6-57C9-454C-B62B-DD6392C9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implements?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C1884-D25D-42EC-A85E-218F6C5E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Default method?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17DB8-2849-412E-9E49-3719B33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Static interface method?</a:t>
            </a:r>
          </a:p>
        </p:txBody>
      </p:sp>
    </p:spTree>
    <p:extLst>
      <p:ext uri="{BB962C8B-B14F-4D97-AF65-F5344CB8AC3E}">
        <p14:creationId xmlns:p14="http://schemas.microsoft.com/office/powerpoint/2010/main" val="13224441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518EB-E437-486A-B9AC-F73B373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787F5-A590-4139-BE64-32137450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FA0A-7A8D-44C5-8419-BD97B4B6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728A-0FF2-4A2B-8FFB-200615BB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7022C-9AF3-479C-BA6B-6405F14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6F926-60ED-4234-A34C-392120D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EBFC-DAAB-496D-90A4-DB6D1AB4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CA39F-992A-492B-BF36-3851A7D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2B46B-F52F-4AF7-A45E-3240852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F85D1-55E4-4294-AFE1-B7F8023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42E84-F989-46D5-9D2C-6A85D27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61DEB-BC27-4121-BE05-4CE97224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Inheritance; extends; superclass; subclass; protected; super; constructor chaining; multilevel hierarchy; method overriding; @Override; dynamic method dispatch; abstract class; abstract method; final method; final class; Object; toString; equals; package; import; access control; interface; implements; default method; static interface method; private interface method; abstract class vs interface.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7DA57-7E95-40D3-9B33-F6641B6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42616-34A7-40C4-BF0E-DD35286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E52C-A85D-4F76-8CF9-E6BEE0FB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F67F8-9D84-41F6-81BC-F9714DA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3 answers: draw the hierarchy, write extends/implements syntax, explain runtime dispatch, then compare design choices with examples.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C21E5-EEC4-44A7-9343-A1912053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14817-A730-4ECC-8C1D-D8E4BAA0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AB368-68E7-49BA-B475-1EC8D6BC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Lab 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57DA1-301F-4A69-B1B7-131305C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the smallest working program first, compile, predict output, then add one feature at a time.</a:t>
            </a:r>
          </a:p>
        </p:txBody>
      </p:sp>
    </p:spTree>
    <p:extLst>
      <p:ext uri="{BB962C8B-B14F-4D97-AF65-F5344CB8AC3E}">
        <p14:creationId xmlns:p14="http://schemas.microsoft.com/office/powerpoint/2010/main" val="1820680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2026-08-08T04:20:45.5950000Z</dcterms:created>
  <dcterms:modified xsi:type="dcterms:W3CDTF">2026-08-08T04:20:45.5950000Z</dcterms:modified>
</coreProperties>
</file>