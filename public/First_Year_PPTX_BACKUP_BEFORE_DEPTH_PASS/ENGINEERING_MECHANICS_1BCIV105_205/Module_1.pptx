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778884ed7c64eb2" /><Relationship Type="http://schemas.openxmlformats.org/officeDocument/2006/relationships/extended-properties" Target="/docProps/app.xml" Id="R2cbea1875a8c4a13" /><Relationship Type="http://schemas.openxmlformats.org/officeDocument/2006/relationships/officeDocument" Target="/ppt/presentation.xml" Id="R1526fc8402ac430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904ff719fdc4241"/>
  </p:sldMasterIdLst>
  <p:notesMasterIdLst>
    <p:notesMasterId xmlns:r="http://schemas.openxmlformats.org/officeDocument/2006/relationships" r:id="R8acdd821a0574ee7"/>
  </p:notesMasterIdLst>
  <p:sldIdLst>
    <p:sldId xmlns:r="http://schemas.openxmlformats.org/officeDocument/2006/relationships" id="256" r:id="Rd986769ab88f4b2e"/>
    <p:sldId xmlns:r="http://schemas.openxmlformats.org/officeDocument/2006/relationships" id="257" r:id="R6c13d95c73ba4f33"/>
    <p:sldId xmlns:r="http://schemas.openxmlformats.org/officeDocument/2006/relationships" id="258" r:id="R938674f1dfcf4328"/>
    <p:sldId xmlns:r="http://schemas.openxmlformats.org/officeDocument/2006/relationships" id="259" r:id="R2d0b5ab749d74dea"/>
    <p:sldId xmlns:r="http://schemas.openxmlformats.org/officeDocument/2006/relationships" id="260" r:id="R936f308939b44ae4"/>
    <p:sldId xmlns:r="http://schemas.openxmlformats.org/officeDocument/2006/relationships" id="261" r:id="R4d517195cd954ac0"/>
    <p:sldId xmlns:r="http://schemas.openxmlformats.org/officeDocument/2006/relationships" id="262" r:id="R50ac8dc3d7b44f33"/>
    <p:sldId xmlns:r="http://schemas.openxmlformats.org/officeDocument/2006/relationships" id="263" r:id="Rbb876f33b02e4c82"/>
    <p:sldId xmlns:r="http://schemas.openxmlformats.org/officeDocument/2006/relationships" id="264" r:id="R203a0d766880485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9efda967fc54535" /><Relationship Type="http://schemas.openxmlformats.org/officeDocument/2006/relationships/slideMaster" Target="/ppt/slideMasters/slideMaster1.xml" Id="R8904ff719fdc4241" /><Relationship Type="http://schemas.openxmlformats.org/officeDocument/2006/relationships/notesMaster" Target="/ppt/notesMasters/notesMaster1.xml" Id="R8acdd821a0574ee7" /><Relationship Type="http://schemas.openxmlformats.org/officeDocument/2006/relationships/presProps" Target="/ppt/presProps.xml" Id="R3bfe845a62984dca" /><Relationship Type="http://schemas.openxmlformats.org/officeDocument/2006/relationships/tableStyles" Target="/ppt/tableStyles.xml" Id="R5d81ec747d514cb3" /><Relationship Type="http://schemas.openxmlformats.org/officeDocument/2006/relationships/slide" Target="/ppt/slides/slide1.xml" Id="Rd986769ab88f4b2e" /><Relationship Type="http://schemas.openxmlformats.org/officeDocument/2006/relationships/slide" Target="/ppt/slides/slide2.xml" Id="R6c13d95c73ba4f33" /><Relationship Type="http://schemas.openxmlformats.org/officeDocument/2006/relationships/slide" Target="/ppt/slides/slide3.xml" Id="R938674f1dfcf4328" /><Relationship Type="http://schemas.openxmlformats.org/officeDocument/2006/relationships/slide" Target="/ppt/slides/slide4.xml" Id="R2d0b5ab749d74dea" /><Relationship Type="http://schemas.openxmlformats.org/officeDocument/2006/relationships/slide" Target="/ppt/slides/slide5.xml" Id="R936f308939b44ae4" /><Relationship Type="http://schemas.openxmlformats.org/officeDocument/2006/relationships/slide" Target="/ppt/slides/slide6.xml" Id="R4d517195cd954ac0" /><Relationship Type="http://schemas.openxmlformats.org/officeDocument/2006/relationships/slide" Target="/ppt/slides/slide7.xml" Id="R50ac8dc3d7b44f33" /><Relationship Type="http://schemas.openxmlformats.org/officeDocument/2006/relationships/slide" Target="/ppt/slides/slide8.xml" Id="Rbb876f33b02e4c82" /><Relationship Type="http://schemas.openxmlformats.org/officeDocument/2006/relationships/slide" Target="/ppt/slides/slide9.xml" Id="R203a0d766880485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e4907e4d55646d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65a7d32940248e7" /><Relationship Type="http://schemas.openxmlformats.org/officeDocument/2006/relationships/notesMaster" Target="/ppt/notesMasters/notesMaster1.xml" Id="R25b8eb7522f945b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e0c29cbfa2f4517" /><Relationship Type="http://schemas.openxmlformats.org/officeDocument/2006/relationships/notesMaster" Target="/ppt/notesMasters/notesMaster1.xml" Id="Rf6d5792c31bc40d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24380e1dd904dc6" /><Relationship Type="http://schemas.openxmlformats.org/officeDocument/2006/relationships/notesMaster" Target="/ppt/notesMasters/notesMaster1.xml" Id="R8d41c5f9d6b14ee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d3849ad1fa04437" /><Relationship Type="http://schemas.openxmlformats.org/officeDocument/2006/relationships/notesMaster" Target="/ppt/notesMasters/notesMaster1.xml" Id="R9e32f1d410444dd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3df8564c2704f9c" /><Relationship Type="http://schemas.openxmlformats.org/officeDocument/2006/relationships/notesMaster" Target="/ppt/notesMasters/notesMaster1.xml" Id="R915a594844704d4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4dc4a8a72124fc5" /><Relationship Type="http://schemas.openxmlformats.org/officeDocument/2006/relationships/notesMaster" Target="/ppt/notesMasters/notesMaster1.xml" Id="R41e09c0f4b5e496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d9fb69107d14d2d" /><Relationship Type="http://schemas.openxmlformats.org/officeDocument/2006/relationships/notesMaster" Target="/ppt/notesMasters/notesMaster1.xml" Id="R2e65f680e58b432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a60d40872a6428e" /><Relationship Type="http://schemas.openxmlformats.org/officeDocument/2006/relationships/notesMaster" Target="/ppt/notesMasters/notesMaster1.xml" Id="R6a40c2554c5649e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b6d6dc421354249" /><Relationship Type="http://schemas.openxmlformats.org/officeDocument/2006/relationships/notesMaster" Target="/ppt/notesMasters/notesMaster1.xml" Id="R6fb7417b9aec482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e72bf23de6141b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8a9a4db71a040f4" /><Relationship Type="http://schemas.openxmlformats.org/officeDocument/2006/relationships/slideLayout" Target="/ppt/slideLayouts/slideLayout1.xml" Id="Ra365f566eb6d418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365f566eb6d418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3e93654ca24810" /><Relationship Type="http://schemas.openxmlformats.org/officeDocument/2006/relationships/notesSlide" Target="/ppt/notesSlides/notesSlide1.xml" Id="R002427d6ddfb435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194eec93f146b8" /><Relationship Type="http://schemas.openxmlformats.org/officeDocument/2006/relationships/notesSlide" Target="/ppt/notesSlides/notesSlide2.xml" Id="R47a47d6d57ea4e5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9fc894f0ce463c" /><Relationship Type="http://schemas.openxmlformats.org/officeDocument/2006/relationships/notesSlide" Target="/ppt/notesSlides/notesSlide3.xml" Id="R3a4625a5cf9c428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6aa5fc2c7a4346" /><Relationship Type="http://schemas.openxmlformats.org/officeDocument/2006/relationships/notesSlide" Target="/ppt/notesSlides/notesSlide4.xml" Id="R2fa66ccface1409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8a4d128ffe4058" /><Relationship Type="http://schemas.openxmlformats.org/officeDocument/2006/relationships/notesSlide" Target="/ppt/notesSlides/notesSlide5.xml" Id="R245ae50c03b84a2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05c4ec48604664" /><Relationship Type="http://schemas.openxmlformats.org/officeDocument/2006/relationships/notesSlide" Target="/ppt/notesSlides/notesSlide6.xml" Id="R95e8f1bfb4d24e8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368e7ec16f48f0" /><Relationship Type="http://schemas.openxmlformats.org/officeDocument/2006/relationships/notesSlide" Target="/ppt/notesSlides/notesSlide7.xml" Id="R0eb1c5d5701947c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aff5359b994374" /><Relationship Type="http://schemas.openxmlformats.org/officeDocument/2006/relationships/notesSlide" Target="/ppt/notesSlides/notesSlide8.xml" Id="R3e613801717542e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75bcdd49714754" /><Relationship Type="http://schemas.openxmlformats.org/officeDocument/2006/relationships/notesSlide" Target="/ppt/notesSlides/notesSlide9.xml" Id="Re9013bb0b24645a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7FA5BB-F204-48AD-8459-64FFED47C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304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C89A01-9BCE-47BD-BA46-420ACCF1C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2033"/>
                </a:solidFill>
              </a:defRPr>
            </a:pPr>
            <a:r>
              <a:rPr sz="3000" b="1">
                <a:solidFill>
                  <a:srgbClr val="172033"/>
                </a:solidFill>
              </a:rPr>
              <a:t>Coplanar force system: Basic dimensions and units, Idealisation, Force, Classification of force system, principle of tra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6D6F28-9F83-4075-AD8C-359FC0D28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43250"/>
            <a:ext cx="4953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Subject: ENGINEERING MECHANICS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Code: 1BCIV105/205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Semester: I/II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Teaching focus: engineering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97FF4C-FDC0-4A04-9CA7-A140133AD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Coplanar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E40CF0-6AF1-406A-AF8A-38F545EFC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51EE9A-5AFA-4CB1-ABD3-EB2B61392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force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1A5BD8-841A-4FB5-BCD8-570050ED1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B549FE-F042-4B6D-93BA-93911C367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system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ABB25B-F430-4A01-A8F6-51CA066B3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8B9AD4-4C4B-441C-BA40-D34411AD6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Basic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1388EA-FF85-43C2-82F7-0C1D8F017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7CED1B-39F6-4EC9-BDC0-58004864C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dimensions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736FB3-2AA7-4A23-9230-064C484E9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9052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Use the model to explain the engineering decision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87827B-C387-46A7-9585-2FFABA5ED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ENGINEERING MECHANICS | 1BCIV105/205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E6884A-3B88-4187-834E-B21C6BCD4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1 | 1/9</a:t>
            </a:r>
          </a:p>
        </p:txBody>
      </p:sp>
    </p:spTree>
    <p:extLst>
      <p:ext uri="{BB962C8B-B14F-4D97-AF65-F5344CB8AC3E}">
        <p14:creationId xmlns:p14="http://schemas.microsoft.com/office/powerpoint/2010/main" val="210895998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BAE313-EA47-4266-B31E-4FDF91A7A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1BCIV105/205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CB4098-8E39-465D-BEBB-BEFF073DE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Learning route for this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55FD92-CD3B-4D60-9F5B-748BAC65B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65E13F-6068-4A4D-B492-5ED480C86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Motivation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DC4CD2-E4B8-487D-987D-A8A534FA3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005EC4-094C-4783-9442-A8E0339F5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Concept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3A7628-CCC4-4CDC-AB27-0B36F3517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9803E5-D100-426C-BC6E-D52CC16DC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Working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456C9F-850A-4128-B72F-E01165F2F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0F12E8-B4BA-4242-A531-52B9844D7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Application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7C9AA3-1426-44E9-BEF0-3C764A348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82D41F-4C49-453E-9ADE-C001FE069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Recap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8FE945-9538-4679-AA26-C881FD7FD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71950"/>
            <a:ext cx="9620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Coplanar force system: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Basic dimensions and units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Idealisation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Classification of force system, principle of transmissibility of a force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Composition and resolution of forces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106284-1A75-4BC5-9D10-150DE0728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ENGINEERING MECHANICS | 1BCIV105/205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4943A9-2714-4713-A198-5101D50C3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1 | 2/9</a:t>
            </a:r>
          </a:p>
        </p:txBody>
      </p:sp>
    </p:spTree>
    <p:extLst>
      <p:ext uri="{BB962C8B-B14F-4D97-AF65-F5344CB8AC3E}">
        <p14:creationId xmlns:p14="http://schemas.microsoft.com/office/powerpoint/2010/main" val="74917529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3D8A2B-2D13-471E-9DDA-830C03408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1BCIV105/205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C95943-6D11-4CA5-B73B-EB73F6BB3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Core concepts from the official syllabus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DA6595-3001-4E4C-A88A-907174C41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B996AA-D78A-477D-857D-E217AEE60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Coplanar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5F3506-FFA8-49D4-B341-BA8356617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force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84E10E-C246-4D26-BCED-F2DEBD1B4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system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97A028-E85D-4588-9572-2782E7907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Basic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2DF939-C61B-4AB5-932B-8EBBAB13D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dimensions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D84828-575F-4EED-AF09-F3759B34C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units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15AAE8-CEAF-40AC-8A8E-FE2E2D335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86300"/>
            <a:ext cx="9334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Free body diagrams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Resultant of coplanar concurrent and non -concurrent force system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Couple and Characteristics of couple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Varignon's theorem: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049B96-7603-4E0A-BB82-87CC65FA8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ENGINEERING MECHANICS | 1BCIV105/205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F9443E-95C7-4021-AB0E-F4E58729A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1 | 3/9</a:t>
            </a:r>
          </a:p>
        </p:txBody>
      </p:sp>
    </p:spTree>
    <p:extLst>
      <p:ext uri="{BB962C8B-B14F-4D97-AF65-F5344CB8AC3E}">
        <p14:creationId xmlns:p14="http://schemas.microsoft.com/office/powerpoint/2010/main" val="23083820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72D5DB7-E223-4885-9038-94885A815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1BCIV105/205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46C28F-8382-4CCB-948A-0028253E9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Concept explanation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251C0C-FB75-44AB-AC30-3E05E11FB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0C8108-AFDA-49CF-82CF-EB6528D04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81150"/>
            <a:ext cx="4953000" cy="350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Coplanar force system: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Basic dimensions and units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Idealisation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Classification of force system, principle of transmissibility of a force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Composition and resolution of forces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Free body diagrams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7C2BAA-6F8B-41DA-9320-5FFEAA580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91150"/>
            <a:ext cx="1524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Instructor move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F19CC2-857A-460B-90F7-499845C64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381625"/>
            <a:ext cx="657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Pause after each idea and ask students to connect it to the next step.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65FC5C-C633-4718-87E3-710AD359E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Coplanar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69EDE9-8843-411F-869C-70716B470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877004-35C9-4BA1-9895-EF3CE9AFE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force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078798-2E4B-4EED-B772-026F0C82C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700D10-9FA0-49C4-B11C-6822B223A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system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3472CD-CBBE-46A6-866F-AB4A3CDF4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D2B11D-3FB7-426E-903C-1DA26E441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Basic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43AD03-D360-47C5-9FE4-BC63E0283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7D3625-E5DB-4488-A797-5D4A9DA96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dimensions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150FA5-DD4F-4E74-BA0B-A0D0D2086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9052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Use the model to explain the engineering decision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BB0CFF9-4A70-4723-8D25-D1434BE98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ENGINEERING MECHANICS | 1BCIV105/205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9444DC4-1177-4745-A29D-33C8B0327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1 | 4/9</a:t>
            </a:r>
          </a:p>
        </p:txBody>
      </p:sp>
    </p:spTree>
    <p:extLst>
      <p:ext uri="{BB962C8B-B14F-4D97-AF65-F5344CB8AC3E}">
        <p14:creationId xmlns:p14="http://schemas.microsoft.com/office/powerpoint/2010/main" val="58903322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377253-F697-4824-80AF-00647F6A6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1BCIV105/205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2E2F64-1657-40C3-95C2-5B69BBF9B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Working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BDE58D-333D-4A59-A273-3E28100BD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07EDCA-5065-454E-8CB1-D212DC7D3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Input condition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179957-2CC6-42D7-8621-0A9ABEEC3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319856-E845-405A-A585-D68E03925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Principle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FACD1D-2425-461A-8938-76E4804B6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5A0889-C627-4982-A0B1-22DD32A15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Process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EFC84F-F5C2-4366-942A-197048575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4C04F1-AEC3-4D83-8F08-0D97EC544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Observation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753CD8-1C7A-4504-B93A-91E158627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7B2200-B446-4514-BD5F-87921DDC9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Interpretation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769678-50FE-4C14-ADD1-B443B99FF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24300"/>
            <a:ext cx="9334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Use the syllabus terms while solving; do not answer only with the final result.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Show intermediate reasoning so students can locate the step where mistakes enter.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Close the example by explaining what the result means in engineering or professional practice.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BCAA9F-4D23-485D-B422-F4305D16D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ENGINEERING MECHANICS | 1BCIV105/205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18FEF0-EEC3-4405-9E04-353CD98C3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1 | 5/9</a:t>
            </a:r>
          </a:p>
        </p:txBody>
      </p:sp>
    </p:spTree>
    <p:extLst>
      <p:ext uri="{BB962C8B-B14F-4D97-AF65-F5344CB8AC3E}">
        <p14:creationId xmlns:p14="http://schemas.microsoft.com/office/powerpoint/2010/main" val="201739665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397FC1-D340-4AAE-978F-93CE41182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1BCIV105/205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3334A1-F700-446B-B368-ACF52C95A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Classroom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9C37BD-ED1C-415B-B890-9F2284260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CC8784-32D9-444A-A4B0-7AE52198A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00200"/>
            <a:ext cx="2286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Example prompt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8BDA2C-9C05-4106-9656-D175C290A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56210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Coplanar force system: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97867C-7EB1-46B3-B307-58D5853F9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09850"/>
            <a:ext cx="8953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Identify the relevant concept: Coplanar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State the rule or principle using syllabus language.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Work through one small case visibly on the board.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Ask students which assumption would change the answer.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1ED63A-E932-436F-BACE-20FF1C15C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143500"/>
            <a:ext cx="876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Exam angle: a complete answer names the concept, shows the working, and states the interpretation.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13235D-507D-4B1C-A30C-A8CE4E015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ENGINEERING MECHANICS | 1BCIV105/205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E72F41-39B2-4C78-A12A-0DEC69872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1 | 6/9</a:t>
            </a:r>
          </a:p>
        </p:txBody>
      </p:sp>
    </p:spTree>
    <p:extLst>
      <p:ext uri="{BB962C8B-B14F-4D97-AF65-F5344CB8AC3E}">
        <p14:creationId xmlns:p14="http://schemas.microsoft.com/office/powerpoint/2010/main" val="61201177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3F63DF-5741-437D-A53D-8C5C34FAF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1BCIV105/205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D6F8F9-F985-4C68-A924-A4F42894B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Applications and common mistakes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449DFE-0696-4317-89A2-C3796AA24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70E870-AE18-4096-8EF8-6AF713B14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00200"/>
            <a:ext cx="2095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Applications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AC9D0D-8CCB-4C9F-B29F-B54B23B54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66950"/>
            <a:ext cx="4476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Resultant of coplanar concurrent and non -concurrent force system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Couple and Characteristics of couple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Varignon's theorem: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Numerical Examples.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4C5D96-A3F6-48E9-AFD5-6A56EF335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00200"/>
            <a:ext cx="2286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Common mistakes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71F49D-5498-41A7-8D71-3EE8A3FAB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266950"/>
            <a:ext cx="4286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Writing only definitions without explanation.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Skipping intermediate working or assumptions.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Mixing similar terms without a comparison.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Not linking the result back to the application.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CBEAE8-D4A1-475C-82B0-3B74E0228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ENGINEERING MECHANICS | 1BCIV105/205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FF449C-E641-4C4E-9594-80715DBB2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1 | 7/9</a:t>
            </a:r>
          </a:p>
        </p:txBody>
      </p:sp>
    </p:spTree>
    <p:extLst>
      <p:ext uri="{BB962C8B-B14F-4D97-AF65-F5344CB8AC3E}">
        <p14:creationId xmlns:p14="http://schemas.microsoft.com/office/powerpoint/2010/main" val="133973277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3D3E16D-A869-4F12-9ACD-45DEE6CBB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1BCIV105/205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ABCA95-3A79-408A-8959-C441005B4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Syllabus coverage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0F138F-7F75-4099-BAA3-E80622007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5D667C-FC93-4A48-B227-136223FA9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049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Syllabus topic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00BB3F-4F2C-4DD8-AB3C-77AAC8565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5049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Teaching treatment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E03F01-8895-497E-A205-804EDDD08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5049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Status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AF6237-F575-45ED-9215-51EB72B23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859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Coplanar force system: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E1A27A-BEF4-4417-9C51-4CF4DA9A7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8859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15FDC2-F840-47B5-A248-F384AB7F1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8859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82A7A4-ECBE-46B3-9316-8681F4D00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384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Basic dimensions and units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1F58DD-3EE0-4D2F-AEF0-EBD059E7F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4384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5B6288-BFC1-40BF-AECE-70AF18D8D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4384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D6C1A6-9093-468D-8B64-ED0F74BBE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908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Idealisation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DC8ED4-82A9-4D45-B3B8-F393FB9DF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9908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C4CEB1-8B14-43C4-8589-BBF4B7D02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9908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65495B-C548-4318-BD4C-5183CBA9B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433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Classification of force system, principle of transmissibility of a force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F077015-DA9A-48AB-9F60-9AAB5D17D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5433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6BAAC4F-4258-43F0-AEAA-A62CCFE39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5433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9F16085-4D03-4067-919B-E04CDA654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Composition and resolution of forces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57A3A90-62AF-4DC5-A809-F4BF41C6E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0957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75FD62E-0F93-4E2E-BB49-9D371A78B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0957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CE7DA3A-4FFB-45E9-9E7C-A19BD5634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482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Free body diagrams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F283CE9-A1AB-4B14-982D-F43F44549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6482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4777850-1070-48A7-8501-0B7DD1842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6482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47E825E-2536-40FE-A364-C029C60F7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006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Resultant of coplanar concurrent and non -concurrent force system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B607B74-03B8-4249-9B26-B2B364F17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2006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C2A88A9-D513-4D67-A113-FAA359F2A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52006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8637CBC-B961-4990-AAD5-040F37841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ENGINEERING MECHANICS | 1BCIV105/205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59A969E-DF29-456A-A35B-689BEF647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1 | 8/9</a:t>
            </a:r>
          </a:p>
        </p:txBody>
      </p:sp>
    </p:spTree>
    <p:extLst>
      <p:ext uri="{BB962C8B-B14F-4D97-AF65-F5344CB8AC3E}">
        <p14:creationId xmlns:p14="http://schemas.microsoft.com/office/powerpoint/2010/main" val="149062640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62D3B2-0021-4D5E-AAFC-669FC5DBA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1BCIV105/205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DE302B-CE17-4AB2-84A2-4511539BB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Module recap and exam preparation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68997E-DCB4-4008-935E-D2F1D7C9D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06186F-2C8B-4563-8967-49FFD79D6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19250"/>
            <a:ext cx="9525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Key definitions: Coplanar, force, system, Basic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diagrams: use a labelled flow, setup, circuit, graph, or concept map where relevant.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working: show cause, mechanism, result, and interpretation.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Common mistakes: avoid skipped steps, unsupported claims, and unlabeled diagrams.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Practice: prepare short-answer, application, and worked-example questions from the listed topics.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F72225-DC90-4AF0-B4B0-97AB48450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10150"/>
            <a:ext cx="2476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Previous VTU Questions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DFB50F-F11D-47C7-B571-910193D86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010150"/>
            <a:ext cx="670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No repository-verified previous VTU questions were found for this module, so none are fabricated here.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FF97D7-BE3D-460A-979F-9B46B5DA2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ENGINEERING MECHANICS | 1BCIV105/205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3F92F2-8FB8-4786-9906-95B720AFD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1 | 9/9</a:t>
            </a:r>
          </a:p>
        </p:txBody>
      </p:sp>
    </p:spTree>
    <p:extLst>
      <p:ext uri="{BB962C8B-B14F-4D97-AF65-F5344CB8AC3E}">
        <p14:creationId xmlns:p14="http://schemas.microsoft.com/office/powerpoint/2010/main" val="156530011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2026-08-24T06:38:43.9780000Z</dcterms:created>
  <dcterms:modified xsi:type="dcterms:W3CDTF">2026-08-24T06:38:43.9780000Z</dcterms:modified>
</coreProperties>
</file>