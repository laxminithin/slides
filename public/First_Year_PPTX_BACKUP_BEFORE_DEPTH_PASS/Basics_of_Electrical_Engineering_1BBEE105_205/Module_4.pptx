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b6d01d8abc4094" /><Relationship Type="http://schemas.openxmlformats.org/officeDocument/2006/relationships/extended-properties" Target="/docProps/app.xml" Id="Rff57bc4fe991443b" /><Relationship Type="http://schemas.openxmlformats.org/officeDocument/2006/relationships/officeDocument" Target="/ppt/presentation.xml" Id="R5b7cec74a39e4c01" /></Relationships>
</file>

<file path=ppt/presentation.xml><?xml version="1.0" encoding="utf-8"?>
<p:presentation xmlns:p="http://schemas.openxmlformats.org/presentationml/2006/main">
  <p:sldMasterIdLst>
    <p:sldMasterId xmlns:r="http://schemas.openxmlformats.org/officeDocument/2006/relationships" id="2147483648" r:id="Rd19b58bb1f274f82"/>
  </p:sldMasterIdLst>
  <p:notesMasterIdLst>
    <p:notesMasterId xmlns:r="http://schemas.openxmlformats.org/officeDocument/2006/relationships" r:id="R440f1465819647fd"/>
  </p:notesMasterIdLst>
  <p:sldIdLst>
    <p:sldId xmlns:r="http://schemas.openxmlformats.org/officeDocument/2006/relationships" id="256" r:id="R5434d5be8f7144a2"/>
    <p:sldId xmlns:r="http://schemas.openxmlformats.org/officeDocument/2006/relationships" id="257" r:id="R51b45586d5d24e7d"/>
    <p:sldId xmlns:r="http://schemas.openxmlformats.org/officeDocument/2006/relationships" id="258" r:id="Radc7bd35731340ad"/>
    <p:sldId xmlns:r="http://schemas.openxmlformats.org/officeDocument/2006/relationships" id="259" r:id="R9886c2f9a5a24131"/>
    <p:sldId xmlns:r="http://schemas.openxmlformats.org/officeDocument/2006/relationships" id="260" r:id="R4c595e2801e944f3"/>
    <p:sldId xmlns:r="http://schemas.openxmlformats.org/officeDocument/2006/relationships" id="261" r:id="Reda82db35d67474c"/>
    <p:sldId xmlns:r="http://schemas.openxmlformats.org/officeDocument/2006/relationships" id="262" r:id="R5cb72d7657be4e67"/>
    <p:sldId xmlns:r="http://schemas.openxmlformats.org/officeDocument/2006/relationships" id="263" r:id="Rb54a1eac817d4e79"/>
    <p:sldId xmlns:r="http://schemas.openxmlformats.org/officeDocument/2006/relationships" id="264" r:id="R6dd1e8382e704c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e48f3c7a664b4c" /><Relationship Type="http://schemas.openxmlformats.org/officeDocument/2006/relationships/slideMaster" Target="/ppt/slideMasters/slideMaster1.xml" Id="Rd19b58bb1f274f82" /><Relationship Type="http://schemas.openxmlformats.org/officeDocument/2006/relationships/notesMaster" Target="/ppt/notesMasters/notesMaster1.xml" Id="R440f1465819647fd" /><Relationship Type="http://schemas.openxmlformats.org/officeDocument/2006/relationships/presProps" Target="/ppt/presProps.xml" Id="R5803ac7edef64b40" /><Relationship Type="http://schemas.openxmlformats.org/officeDocument/2006/relationships/tableStyles" Target="/ppt/tableStyles.xml" Id="R0e42d2d66ac84fed" /><Relationship Type="http://schemas.openxmlformats.org/officeDocument/2006/relationships/slide" Target="/ppt/slides/slide1.xml" Id="R5434d5be8f7144a2" /><Relationship Type="http://schemas.openxmlformats.org/officeDocument/2006/relationships/slide" Target="/ppt/slides/slide2.xml" Id="R51b45586d5d24e7d" /><Relationship Type="http://schemas.openxmlformats.org/officeDocument/2006/relationships/slide" Target="/ppt/slides/slide3.xml" Id="Radc7bd35731340ad" /><Relationship Type="http://schemas.openxmlformats.org/officeDocument/2006/relationships/slide" Target="/ppt/slides/slide4.xml" Id="R9886c2f9a5a24131" /><Relationship Type="http://schemas.openxmlformats.org/officeDocument/2006/relationships/slide" Target="/ppt/slides/slide5.xml" Id="R4c595e2801e944f3" /><Relationship Type="http://schemas.openxmlformats.org/officeDocument/2006/relationships/slide" Target="/ppt/slides/slide6.xml" Id="Reda82db35d67474c" /><Relationship Type="http://schemas.openxmlformats.org/officeDocument/2006/relationships/slide" Target="/ppt/slides/slide7.xml" Id="R5cb72d7657be4e67" /><Relationship Type="http://schemas.openxmlformats.org/officeDocument/2006/relationships/slide" Target="/ppt/slides/slide8.xml" Id="Rb54a1eac817d4e79" /><Relationship Type="http://schemas.openxmlformats.org/officeDocument/2006/relationships/slide" Target="/ppt/slides/slide9.xml" Id="R6dd1e8382e704c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a15868fbd447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56a9d1ff0e4e63" /><Relationship Type="http://schemas.openxmlformats.org/officeDocument/2006/relationships/notesMaster" Target="/ppt/notesMasters/notesMaster1.xml" Id="Rbbe39e42a5f54b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8efb2ddb974a74" /><Relationship Type="http://schemas.openxmlformats.org/officeDocument/2006/relationships/notesMaster" Target="/ppt/notesMasters/notesMaster1.xml" Id="R992120619e784c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dbfc859f564b34" /><Relationship Type="http://schemas.openxmlformats.org/officeDocument/2006/relationships/notesMaster" Target="/ppt/notesMasters/notesMaster1.xml" Id="R23d26f00e42741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e9154edd6f4882" /><Relationship Type="http://schemas.openxmlformats.org/officeDocument/2006/relationships/notesMaster" Target="/ppt/notesMasters/notesMaster1.xml" Id="Ref9110f2f7b24f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61b413488c48bb" /><Relationship Type="http://schemas.openxmlformats.org/officeDocument/2006/relationships/notesMaster" Target="/ppt/notesMasters/notesMaster1.xml" Id="R059c1c04ea4745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397da6509046c0" /><Relationship Type="http://schemas.openxmlformats.org/officeDocument/2006/relationships/notesMaster" Target="/ppt/notesMasters/notesMaster1.xml" Id="R8eec939476cc48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722953724747e0" /><Relationship Type="http://schemas.openxmlformats.org/officeDocument/2006/relationships/notesMaster" Target="/ppt/notesMasters/notesMaster1.xml" Id="R60df54a8b64449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6a6901ba494cc9" /><Relationship Type="http://schemas.openxmlformats.org/officeDocument/2006/relationships/notesMaster" Target="/ppt/notesMasters/notesMaster1.xml" Id="R322bab2b998141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d1aabeb8ca48d1" /><Relationship Type="http://schemas.openxmlformats.org/officeDocument/2006/relationships/notesMaster" Target="/ppt/notesMasters/notesMaster1.xml" Id="Rf6ffa0f02d7743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55ec62e89e4c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95ea45e32a424d" /><Relationship Type="http://schemas.openxmlformats.org/officeDocument/2006/relationships/slideLayout" Target="/ppt/slideLayouts/slideLayout1.xml" Id="R2a55f966fee445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55f966fee445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b13311079947bf" /><Relationship Type="http://schemas.openxmlformats.org/officeDocument/2006/relationships/notesSlide" Target="/ppt/notesSlides/notesSlide1.xml" Id="Rf98f6bebcd6947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a70d19c60b2425e" /><Relationship Type="http://schemas.openxmlformats.org/officeDocument/2006/relationships/notesSlide" Target="/ppt/notesSlides/notesSlide2.xml" Id="R4344505f87c841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09cbb9475441ba" /><Relationship Type="http://schemas.openxmlformats.org/officeDocument/2006/relationships/notesSlide" Target="/ppt/notesSlides/notesSlide3.xml" Id="R3d8ef8339aa041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f9b32997b1409a" /><Relationship Type="http://schemas.openxmlformats.org/officeDocument/2006/relationships/notesSlide" Target="/ppt/notesSlides/notesSlide4.xml" Id="Rd868816fb55449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d377638ca44946" /><Relationship Type="http://schemas.openxmlformats.org/officeDocument/2006/relationships/notesSlide" Target="/ppt/notesSlides/notesSlide5.xml" Id="R493f8f99438148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72ce9939dae468c" /><Relationship Type="http://schemas.openxmlformats.org/officeDocument/2006/relationships/notesSlide" Target="/ppt/notesSlides/notesSlide6.xml" Id="Rdd6011e6c21b45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416b09bd864ea0" /><Relationship Type="http://schemas.openxmlformats.org/officeDocument/2006/relationships/notesSlide" Target="/ppt/notesSlides/notesSlide7.xml" Id="R8b28f69026f34e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d98b90a3ef14c70" /><Relationship Type="http://schemas.openxmlformats.org/officeDocument/2006/relationships/notesSlide" Target="/ppt/notesSlides/notesSlide8.xml" Id="R7b9f6ec66f314c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2ff3defe29549b6" /><Relationship Type="http://schemas.openxmlformats.org/officeDocument/2006/relationships/notesSlide" Target="/ppt/notesSlides/notesSlide9.xml" Id="R62981200cfe04341"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A34F9C7-C4B0-4676-B5FA-638507A170DE}"/>
              </a:ext>
            </a:extLst>
          </p:cNvPr>
          <p:cNvSpPr>
            <a:spLocks xmlns:a="http://schemas.openxmlformats.org/drawingml/2006/main" noGrp="1"/>
          </p:cNvSpPr>
          <p:nvPr/>
        </p:nvSpPr>
        <p:spPr>
          <a:xfrm xmlns:a="http://schemas.openxmlformats.org/drawingml/2006/main">
            <a:off x="685800" y="78105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6D28D9"/>
                </a:solidFill>
              </a:defRPr>
            </a:pPr>
            <a:r>
              <a:rPr sz="3750" b="1">
                <a:solidFill>
                  <a:srgbClr val="6D28D9"/>
                </a:solidFill>
              </a:rPr>
              <a:t>Module 4</a:t>
            </a:r>
          </a:p>
        </p:txBody>
      </p:sp>
      <p:sp>
        <p:nvSpPr>
          <p:cNvPr id="2" name="">
            <a:extLst xmlns:a="http://schemas.openxmlformats.org/drawingml/2006/main">
              <a:ext uri="{FF2B5EF4-FFF2-40B4-BE49-F238E27FC236}">
                <a16:creationId xmlns:a16="http://schemas.microsoft.com/office/drawing/2014/main" id="{7A88A612-067F-46CF-865B-FD88DF3F50C1}"/>
              </a:ext>
            </a:extLst>
          </p:cNvPr>
          <p:cNvSpPr>
            <a:spLocks xmlns:a="http://schemas.openxmlformats.org/drawingml/2006/main" noGrp="1"/>
          </p:cNvSpPr>
          <p:nvPr/>
        </p:nvSpPr>
        <p:spPr>
          <a:xfrm xmlns:a="http://schemas.openxmlformats.org/drawingml/2006/main">
            <a:off x="685800" y="1504950"/>
            <a:ext cx="7239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72033"/>
                </a:solidFill>
              </a:defRPr>
            </a:pPr>
            <a:r>
              <a:rPr sz="3000" b="1">
                <a:solidFill>
                  <a:srgbClr val="172033"/>
                </a:solidFill>
              </a:rPr>
              <a:t>Three- phase Circuits: Generation of three -phase system, definition of phase sequence, star and delta (mesh) connection</a:t>
            </a:r>
          </a:p>
        </p:txBody>
      </p:sp>
      <p:sp>
        <p:nvSpPr>
          <p:cNvPr id="3" name="">
            <a:extLst xmlns:a="http://schemas.openxmlformats.org/drawingml/2006/main">
              <a:ext uri="{FF2B5EF4-FFF2-40B4-BE49-F238E27FC236}">
                <a16:creationId xmlns:a16="http://schemas.microsoft.com/office/drawing/2014/main" id="{9F2E2EA5-7173-4430-AF2C-81DEF5121B49}"/>
              </a:ext>
            </a:extLst>
          </p:cNvPr>
          <p:cNvSpPr>
            <a:spLocks xmlns:a="http://schemas.openxmlformats.org/drawingml/2006/main" noGrp="1"/>
          </p:cNvSpPr>
          <p:nvPr/>
        </p:nvSpPr>
        <p:spPr>
          <a:xfrm xmlns:a="http://schemas.openxmlformats.org/drawingml/2006/main">
            <a:off x="819150" y="3143250"/>
            <a:ext cx="4953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72033"/>
                </a:solidFill>
              </a:defRPr>
            </a:pPr>
            <a:r>
              <a:rPr sz="1650" b="0">
                <a:solidFill>
                  <a:srgbClr val="172033"/>
                </a:solidFill>
              </a:rPr>
              <a:t>• Subject: Basics of Electrical Engineering</a:t>
            </a:r>
          </a:p>
          <a:p xmlns:a="http://schemas.openxmlformats.org/drawingml/2006/main">
            <a:pPr algn="l">
              <a:defRPr sz="1650" b="0">
                <a:solidFill>
                  <a:srgbClr val="172033"/>
                </a:solidFill>
              </a:defRPr>
            </a:pPr>
            <a:r>
              <a:rPr sz="1650" b="0">
                <a:solidFill>
                  <a:srgbClr val="172033"/>
                </a:solidFill>
              </a:rPr>
              <a:t>• Code: 1BBEE105/205</a:t>
            </a:r>
          </a:p>
          <a:p xmlns:a="http://schemas.openxmlformats.org/drawingml/2006/main">
            <a:pPr algn="l">
              <a:defRPr sz="1650" b="0">
                <a:solidFill>
                  <a:srgbClr val="172033"/>
                </a:solidFill>
              </a:defRPr>
            </a:pPr>
            <a:r>
              <a:rPr sz="1650" b="0">
                <a:solidFill>
                  <a:srgbClr val="172033"/>
                </a:solidFill>
              </a:rPr>
              <a:t>• Semester: I/II</a:t>
            </a:r>
          </a:p>
          <a:p xmlns:a="http://schemas.openxmlformats.org/drawingml/2006/main">
            <a:pPr algn="l">
              <a:defRPr sz="1650" b="0">
                <a:solidFill>
                  <a:srgbClr val="172033"/>
                </a:solidFill>
              </a:defRPr>
            </a:pPr>
            <a:r>
              <a:rPr sz="1650" b="0">
                <a:solidFill>
                  <a:srgbClr val="172033"/>
                </a:solidFill>
              </a:rPr>
              <a:t>• Teaching focus: electronics</a:t>
            </a:r>
          </a:p>
        </p:txBody>
      </p:sp>
      <p:sp>
        <p:nvSpPr>
          <p:cNvPr id="4" name="">
            <a:extLst xmlns:a="http://schemas.openxmlformats.org/drawingml/2006/main">
              <a:ext uri="{FF2B5EF4-FFF2-40B4-BE49-F238E27FC236}">
                <a16:creationId xmlns:a16="http://schemas.microsoft.com/office/drawing/2014/main" id="{150FD789-0C4C-4740-839A-ED124FD2D3E8}"/>
              </a:ext>
            </a:extLst>
          </p:cNvPr>
          <p:cNvSpPr>
            <a:spLocks xmlns:a="http://schemas.openxmlformats.org/drawingml/2006/main" noGrp="1"/>
          </p:cNvSpPr>
          <p:nvPr/>
        </p:nvSpPr>
        <p:spPr>
          <a:xfrm xmlns:a="http://schemas.openxmlformats.org/drawingml/2006/main">
            <a:off x="1104900" y="2400300"/>
            <a:ext cx="1781175" cy="685800"/>
          </a:xfrm>
          <a:prstGeom xmlns:a="http://schemas.openxmlformats.org/drawingml/2006/main" prst="roundRect">
            <a:avLst>
              <a:gd name="adj" fmla="val 11111"/>
            </a:avLst>
          </a:prstGeom>
          <a:solidFill xmlns:a="http://schemas.openxmlformats.org/drawingml/2006/main">
            <a:srgbClr val="DBEAFE"/>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Input</a:t>
            </a:r>
          </a:p>
        </p:txBody>
      </p:sp>
      <p:sp>
        <p:nvSpPr>
          <p:cNvPr id="5" name="">
            <a:extLst xmlns:a="http://schemas.openxmlformats.org/drawingml/2006/main">
              <a:ext uri="{FF2B5EF4-FFF2-40B4-BE49-F238E27FC236}">
                <a16:creationId xmlns:a16="http://schemas.microsoft.com/office/drawing/2014/main" id="{4C278267-57E9-48B3-AD6E-C8DC7923AD00}"/>
              </a:ext>
            </a:extLst>
          </p:cNvPr>
          <p:cNvSpPr>
            <a:spLocks xmlns:a="http://schemas.openxmlformats.org/drawingml/2006/main" noGrp="1"/>
          </p:cNvSpPr>
          <p:nvPr/>
        </p:nvSpPr>
        <p:spPr>
          <a:xfrm xmlns:a="http://schemas.openxmlformats.org/drawingml/2006/main">
            <a:off x="2933700" y="257175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5F6B7A"/>
                </a:solidFill>
              </a:defRPr>
            </a:pPr>
            <a:r>
              <a:rPr sz="2100" b="1">
                <a:solidFill>
                  <a:srgbClr val="5F6B7A"/>
                </a:solidFill>
              </a:rPr>
              <a:t>→</a:t>
            </a:r>
          </a:p>
        </p:txBody>
      </p:sp>
      <p:sp>
        <p:nvSpPr>
          <p:cNvPr id="6" name="">
            <a:extLst xmlns:a="http://schemas.openxmlformats.org/drawingml/2006/main">
              <a:ext uri="{FF2B5EF4-FFF2-40B4-BE49-F238E27FC236}">
                <a16:creationId xmlns:a16="http://schemas.microsoft.com/office/drawing/2014/main" id="{805C4624-C1B2-4995-BAEA-C7BBA61908C3}"/>
              </a:ext>
            </a:extLst>
          </p:cNvPr>
          <p:cNvSpPr>
            <a:spLocks xmlns:a="http://schemas.openxmlformats.org/drawingml/2006/main" noGrp="1"/>
          </p:cNvSpPr>
          <p:nvPr/>
        </p:nvSpPr>
        <p:spPr>
          <a:xfrm xmlns:a="http://schemas.openxmlformats.org/drawingml/2006/main">
            <a:off x="3152775" y="2400300"/>
            <a:ext cx="1781175" cy="685800"/>
          </a:xfrm>
          <a:prstGeom xmlns:a="http://schemas.openxmlformats.org/drawingml/2006/main" prst="roundRect">
            <a:avLst>
              <a:gd name="adj" fmla="val 11111"/>
            </a:avLst>
          </a:prstGeom>
          <a:solidFill xmlns:a="http://schemas.openxmlformats.org/drawingml/2006/main">
            <a:srgbClr val="EDE9FE"/>
          </a:solidFill>
          <a:ln xmlns:a="http://schemas.openxmlformats.org/drawingml/2006/main" w="9525">
            <a:solidFill>
              <a:srgbClr val="6D28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System</a:t>
            </a:r>
          </a:p>
        </p:txBody>
      </p:sp>
      <p:sp>
        <p:nvSpPr>
          <p:cNvPr id="7" name="">
            <a:extLst xmlns:a="http://schemas.openxmlformats.org/drawingml/2006/main">
              <a:ext uri="{FF2B5EF4-FFF2-40B4-BE49-F238E27FC236}">
                <a16:creationId xmlns:a16="http://schemas.microsoft.com/office/drawing/2014/main" id="{71A84090-F2D2-47EB-8FF3-74FDB35AC929}"/>
              </a:ext>
            </a:extLst>
          </p:cNvPr>
          <p:cNvSpPr>
            <a:spLocks xmlns:a="http://schemas.openxmlformats.org/drawingml/2006/main" noGrp="1"/>
          </p:cNvSpPr>
          <p:nvPr/>
        </p:nvSpPr>
        <p:spPr>
          <a:xfrm xmlns:a="http://schemas.openxmlformats.org/drawingml/2006/main">
            <a:off x="4981575" y="257175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5F6B7A"/>
                </a:solidFill>
              </a:defRPr>
            </a:pPr>
            <a:r>
              <a:rPr sz="2100" b="1">
                <a:solidFill>
                  <a:srgbClr val="5F6B7A"/>
                </a:solidFill>
              </a:rPr>
              <a:t>→</a:t>
            </a:r>
          </a:p>
        </p:txBody>
      </p:sp>
      <p:sp>
        <p:nvSpPr>
          <p:cNvPr id="8" name="">
            <a:extLst xmlns:a="http://schemas.openxmlformats.org/drawingml/2006/main">
              <a:ext uri="{FF2B5EF4-FFF2-40B4-BE49-F238E27FC236}">
                <a16:creationId xmlns:a16="http://schemas.microsoft.com/office/drawing/2014/main" id="{0CD2A4B3-675C-45B9-A6C0-F2C93FCD92B9}"/>
              </a:ext>
            </a:extLst>
          </p:cNvPr>
          <p:cNvSpPr>
            <a:spLocks xmlns:a="http://schemas.openxmlformats.org/drawingml/2006/main" noGrp="1"/>
          </p:cNvSpPr>
          <p:nvPr/>
        </p:nvSpPr>
        <p:spPr>
          <a:xfrm xmlns:a="http://schemas.openxmlformats.org/drawingml/2006/main">
            <a:off x="5200650" y="2400300"/>
            <a:ext cx="1781175" cy="685800"/>
          </a:xfrm>
          <a:prstGeom xmlns:a="http://schemas.openxmlformats.org/drawingml/2006/main" prst="roundRect">
            <a:avLst>
              <a:gd name="adj" fmla="val 11111"/>
            </a:avLst>
          </a:prstGeom>
          <a:solidFill xmlns:a="http://schemas.openxmlformats.org/drawingml/2006/main">
            <a:srgbClr val="DBEAFE"/>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Law</a:t>
            </a:r>
          </a:p>
        </p:txBody>
      </p:sp>
      <p:sp>
        <p:nvSpPr>
          <p:cNvPr id="9" name="">
            <a:extLst xmlns:a="http://schemas.openxmlformats.org/drawingml/2006/main">
              <a:ext uri="{FF2B5EF4-FFF2-40B4-BE49-F238E27FC236}">
                <a16:creationId xmlns:a16="http://schemas.microsoft.com/office/drawing/2014/main" id="{0BC90C69-A22A-4651-AFED-1A5F2D8CB81F}"/>
              </a:ext>
            </a:extLst>
          </p:cNvPr>
          <p:cNvSpPr>
            <a:spLocks xmlns:a="http://schemas.openxmlformats.org/drawingml/2006/main" noGrp="1"/>
          </p:cNvSpPr>
          <p:nvPr/>
        </p:nvSpPr>
        <p:spPr>
          <a:xfrm xmlns:a="http://schemas.openxmlformats.org/drawingml/2006/main">
            <a:off x="7029450" y="257175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5F6B7A"/>
                </a:solidFill>
              </a:defRPr>
            </a:pPr>
            <a:r>
              <a:rPr sz="2100" b="1">
                <a:solidFill>
                  <a:srgbClr val="5F6B7A"/>
                </a:solidFill>
              </a:rPr>
              <a:t>→</a:t>
            </a:r>
          </a:p>
        </p:txBody>
      </p:sp>
      <p:sp>
        <p:nvSpPr>
          <p:cNvPr id="10" name="">
            <a:extLst xmlns:a="http://schemas.openxmlformats.org/drawingml/2006/main">
              <a:ext uri="{FF2B5EF4-FFF2-40B4-BE49-F238E27FC236}">
                <a16:creationId xmlns:a16="http://schemas.microsoft.com/office/drawing/2014/main" id="{B3A24B82-BB66-481C-A874-EBBE790A4E66}"/>
              </a:ext>
            </a:extLst>
          </p:cNvPr>
          <p:cNvSpPr>
            <a:spLocks xmlns:a="http://schemas.openxmlformats.org/drawingml/2006/main" noGrp="1"/>
          </p:cNvSpPr>
          <p:nvPr/>
        </p:nvSpPr>
        <p:spPr>
          <a:xfrm xmlns:a="http://schemas.openxmlformats.org/drawingml/2006/main">
            <a:off x="7248525" y="2400300"/>
            <a:ext cx="1781175" cy="685800"/>
          </a:xfrm>
          <a:prstGeom xmlns:a="http://schemas.openxmlformats.org/drawingml/2006/main" prst="roundRect">
            <a:avLst>
              <a:gd name="adj" fmla="val 11111"/>
            </a:avLst>
          </a:prstGeom>
          <a:solidFill xmlns:a="http://schemas.openxmlformats.org/drawingml/2006/main">
            <a:srgbClr val="EDE9FE"/>
          </a:solidFill>
          <a:ln xmlns:a="http://schemas.openxmlformats.org/drawingml/2006/main" w="9525">
            <a:solidFill>
              <a:srgbClr val="6D28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Graph</a:t>
            </a:r>
          </a:p>
        </p:txBody>
      </p:sp>
      <p:sp>
        <p:nvSpPr>
          <p:cNvPr id="11" name="">
            <a:extLst xmlns:a="http://schemas.openxmlformats.org/drawingml/2006/main">
              <a:ext uri="{FF2B5EF4-FFF2-40B4-BE49-F238E27FC236}">
                <a16:creationId xmlns:a16="http://schemas.microsoft.com/office/drawing/2014/main" id="{C6E01378-D8A2-43E5-9262-24317CCFD7B0}"/>
              </a:ext>
            </a:extLst>
          </p:cNvPr>
          <p:cNvSpPr>
            <a:spLocks xmlns:a="http://schemas.openxmlformats.org/drawingml/2006/main" noGrp="1"/>
          </p:cNvSpPr>
          <p:nvPr/>
        </p:nvSpPr>
        <p:spPr>
          <a:xfrm xmlns:a="http://schemas.openxmlformats.org/drawingml/2006/main">
            <a:off x="9077325" y="257175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5F6B7A"/>
                </a:solidFill>
              </a:defRPr>
            </a:pPr>
            <a:r>
              <a:rPr sz="2100" b="1">
                <a:solidFill>
                  <a:srgbClr val="5F6B7A"/>
                </a:solidFill>
              </a:rPr>
              <a:t>→</a:t>
            </a:r>
          </a:p>
        </p:txBody>
      </p:sp>
      <p:sp>
        <p:nvSpPr>
          <p:cNvPr id="12" name="">
            <a:extLst xmlns:a="http://schemas.openxmlformats.org/drawingml/2006/main">
              <a:ext uri="{FF2B5EF4-FFF2-40B4-BE49-F238E27FC236}">
                <a16:creationId xmlns:a16="http://schemas.microsoft.com/office/drawing/2014/main" id="{770FBD11-B76A-4B7A-A22C-1D94F83D49FA}"/>
              </a:ext>
            </a:extLst>
          </p:cNvPr>
          <p:cNvSpPr>
            <a:spLocks xmlns:a="http://schemas.openxmlformats.org/drawingml/2006/main" noGrp="1"/>
          </p:cNvSpPr>
          <p:nvPr/>
        </p:nvSpPr>
        <p:spPr>
          <a:xfrm xmlns:a="http://schemas.openxmlformats.org/drawingml/2006/main">
            <a:off x="9296400" y="2400300"/>
            <a:ext cx="1781175" cy="685800"/>
          </a:xfrm>
          <a:prstGeom xmlns:a="http://schemas.openxmlformats.org/drawingml/2006/main" prst="roundRect">
            <a:avLst>
              <a:gd name="adj" fmla="val 11111"/>
            </a:avLst>
          </a:prstGeom>
          <a:solidFill xmlns:a="http://schemas.openxmlformats.org/drawingml/2006/main">
            <a:srgbClr val="DBEAFE"/>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Meaning</a:t>
            </a:r>
          </a:p>
        </p:txBody>
      </p:sp>
      <p:sp>
        <p:nvSpPr>
          <p:cNvPr id="13" name="">
            <a:extLst xmlns:a="http://schemas.openxmlformats.org/drawingml/2006/main">
              <a:ext uri="{FF2B5EF4-FFF2-40B4-BE49-F238E27FC236}">
                <a16:creationId xmlns:a16="http://schemas.microsoft.com/office/drawing/2014/main" id="{FF864901-7966-4829-9750-A63C132302A1}"/>
              </a:ext>
            </a:extLst>
          </p:cNvPr>
          <p:cNvSpPr>
            <a:spLocks xmlns:a="http://schemas.openxmlformats.org/drawingml/2006/main" noGrp="1"/>
          </p:cNvSpPr>
          <p:nvPr/>
        </p:nvSpPr>
        <p:spPr>
          <a:xfrm xmlns:a="http://schemas.openxmlformats.org/drawingml/2006/main">
            <a:off x="7067550" y="390525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72033"/>
                </a:solidFill>
              </a:defRPr>
            </a:pPr>
            <a:r>
              <a:rPr sz="1800" b="1">
                <a:solidFill>
                  <a:srgbClr val="172033"/>
                </a:solidFill>
              </a:rPr>
              <a:t>Observe → model → calculate → interpret</a:t>
            </a:r>
          </a:p>
        </p:txBody>
      </p:sp>
      <p:sp>
        <p:nvSpPr>
          <p:cNvPr id="14" name="">
            <a:extLst xmlns:a="http://schemas.openxmlformats.org/drawingml/2006/main">
              <a:ext uri="{FF2B5EF4-FFF2-40B4-BE49-F238E27FC236}">
                <a16:creationId xmlns:a16="http://schemas.microsoft.com/office/drawing/2014/main" id="{BB2B25DD-76AE-4208-88C4-7AB73A07BAEF}"/>
              </a:ext>
            </a:extLst>
          </p:cNvPr>
          <p:cNvSpPr>
            <a:spLocks xmlns:a="http://schemas.openxmlformats.org/drawingml/2006/main" noGrp="1"/>
          </p:cNvSpPr>
          <p:nvPr/>
        </p:nvSpPr>
        <p:spPr>
          <a:xfrm xmlns:a="http://schemas.openxmlformats.org/drawingml/2006/main">
            <a:off x="609600" y="65341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5F6B7A"/>
                </a:solidFill>
              </a:defRPr>
            </a:pPr>
            <a:r>
              <a:rPr sz="825" b="0">
                <a:solidFill>
                  <a:srgbClr val="5F6B7A"/>
                </a:solidFill>
              </a:rPr>
              <a:t>Basics of Electrical Engineering | 1BBEE105/205</a:t>
            </a:r>
          </a:p>
        </p:txBody>
      </p:sp>
      <p:sp>
        <p:nvSpPr>
          <p:cNvPr id="15" name="">
            <a:extLst xmlns:a="http://schemas.openxmlformats.org/drawingml/2006/main">
              <a:ext uri="{FF2B5EF4-FFF2-40B4-BE49-F238E27FC236}">
                <a16:creationId xmlns:a16="http://schemas.microsoft.com/office/drawing/2014/main" id="{731416E3-5C2D-4377-987B-7F07AC62C8CA}"/>
              </a:ext>
            </a:extLst>
          </p:cNvPr>
          <p:cNvSpPr>
            <a:spLocks xmlns:a="http://schemas.openxmlformats.org/drawingml/2006/main" noGrp="1"/>
          </p:cNvSpPr>
          <p:nvPr/>
        </p:nvSpPr>
        <p:spPr>
          <a:xfrm xmlns:a="http://schemas.openxmlformats.org/drawingml/2006/main">
            <a:off x="9867900" y="65341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5F6B7A"/>
                </a:solidFill>
              </a:defRPr>
            </a:pPr>
            <a:r>
              <a:rPr sz="825" b="0">
                <a:solidFill>
                  <a:srgbClr val="5F6B7A"/>
                </a:solidFill>
              </a:rPr>
              <a:t>Module 4 | 1/9</a:t>
            </a:r>
          </a:p>
        </p:txBody>
      </p:sp>
    </p:spTree>
    <p:extLst>
      <p:ext uri="{BB962C8B-B14F-4D97-AF65-F5344CB8AC3E}">
        <p14:creationId xmlns:p14="http://schemas.microsoft.com/office/powerpoint/2010/main" val="1528648154"/>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79BE01F-EBE0-463A-AFB7-E1B8A244FB44}"/>
              </a:ext>
            </a:extLst>
          </p:cNvPr>
          <p:cNvSpPr>
            <a:spLocks xmlns:a="http://schemas.openxmlformats.org/drawingml/2006/main" noGrp="1"/>
          </p:cNvSpPr>
          <p:nvPr/>
        </p:nvSpPr>
        <p:spPr>
          <a:xfrm xmlns:a="http://schemas.openxmlformats.org/drawingml/2006/main">
            <a:off x="609600" y="247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D28D9"/>
                </a:solidFill>
              </a:defRPr>
            </a:pPr>
            <a:r>
              <a:rPr sz="975" b="1">
                <a:solidFill>
                  <a:srgbClr val="6D28D9"/>
                </a:solidFill>
              </a:rPr>
              <a:t>1BBEE105/205 | Module 4</a:t>
            </a:r>
          </a:p>
        </p:txBody>
      </p:sp>
      <p:sp>
        <p:nvSpPr>
          <p:cNvPr id="2" name="">
            <a:extLst xmlns:a="http://schemas.openxmlformats.org/drawingml/2006/main">
              <a:ext uri="{FF2B5EF4-FFF2-40B4-BE49-F238E27FC236}">
                <a16:creationId xmlns:a16="http://schemas.microsoft.com/office/drawing/2014/main" id="{CDE8384F-4795-4382-A691-13D745B0E7F7}"/>
              </a:ext>
            </a:extLst>
          </p:cNvPr>
          <p:cNvSpPr>
            <a:spLocks xmlns:a="http://schemas.openxmlformats.org/drawingml/2006/main" noGrp="1"/>
          </p:cNvSpPr>
          <p:nvPr/>
        </p:nvSpPr>
        <p:spPr>
          <a:xfrm xmlns:a="http://schemas.openxmlformats.org/drawingml/2006/main">
            <a:off x="609600" y="5524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72033"/>
                </a:solidFill>
              </a:defRPr>
            </a:pPr>
            <a:r>
              <a:rPr sz="2625" b="1">
                <a:solidFill>
                  <a:srgbClr val="172033"/>
                </a:solidFill>
              </a:rPr>
              <a:t>Learning route for this module</a:t>
            </a:r>
          </a:p>
        </p:txBody>
      </p:sp>
      <p:sp>
        <p:nvSpPr>
          <p:cNvPr id="3" name="">
            <a:extLst xmlns:a="http://schemas.openxmlformats.org/drawingml/2006/main">
              <a:ext uri="{FF2B5EF4-FFF2-40B4-BE49-F238E27FC236}">
                <a16:creationId xmlns:a16="http://schemas.microsoft.com/office/drawing/2014/main" id="{9C8266D0-E673-4B59-B792-5D0029304B87}"/>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7DEE8"/>
          </a:solidFill>
          <a:ln xmlns:a="http://schemas.openxmlformats.org/drawingml/2006/main" w="0">
            <a:solidFill>
              <a:srgbClr val="D7DEE8"/>
            </a:solidFill>
            <a:prstDash val="solid"/>
          </a:ln>
        </p:spPr>
      </p:sp>
      <p:sp>
        <p:nvSpPr>
          <p:cNvPr id="4" name="">
            <a:extLst xmlns:a="http://schemas.openxmlformats.org/drawingml/2006/main">
              <a:ext uri="{FF2B5EF4-FFF2-40B4-BE49-F238E27FC236}">
                <a16:creationId xmlns:a16="http://schemas.microsoft.com/office/drawing/2014/main" id="{CEC5EF07-5D8D-40A7-980A-A01D8C9A4EE5}"/>
              </a:ext>
            </a:extLst>
          </p:cNvPr>
          <p:cNvSpPr>
            <a:spLocks xmlns:a="http://schemas.openxmlformats.org/drawingml/2006/main" noGrp="1"/>
          </p:cNvSpPr>
          <p:nvPr/>
        </p:nvSpPr>
        <p:spPr>
          <a:xfrm xmlns:a="http://schemas.openxmlformats.org/drawingml/2006/main">
            <a:off x="1104900" y="2152650"/>
            <a:ext cx="1781175" cy="685800"/>
          </a:xfrm>
          <a:prstGeom xmlns:a="http://schemas.openxmlformats.org/drawingml/2006/main" prst="roundRect">
            <a:avLst>
              <a:gd name="adj" fmla="val 11111"/>
            </a:avLst>
          </a:prstGeom>
          <a:solidFill xmlns:a="http://schemas.openxmlformats.org/drawingml/2006/main">
            <a:srgbClr val="DBEAFE"/>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Motivation</a:t>
            </a:r>
          </a:p>
        </p:txBody>
      </p:sp>
      <p:sp>
        <p:nvSpPr>
          <p:cNvPr id="5" name="">
            <a:extLst xmlns:a="http://schemas.openxmlformats.org/drawingml/2006/main">
              <a:ext uri="{FF2B5EF4-FFF2-40B4-BE49-F238E27FC236}">
                <a16:creationId xmlns:a16="http://schemas.microsoft.com/office/drawing/2014/main" id="{D936A2DC-1AF5-4CCF-8651-2DFCF39B61DA}"/>
              </a:ext>
            </a:extLst>
          </p:cNvPr>
          <p:cNvSpPr>
            <a:spLocks xmlns:a="http://schemas.openxmlformats.org/drawingml/2006/main" noGrp="1"/>
          </p:cNvSpPr>
          <p:nvPr/>
        </p:nvSpPr>
        <p:spPr>
          <a:xfrm xmlns:a="http://schemas.openxmlformats.org/drawingml/2006/main">
            <a:off x="2933700" y="23241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5F6B7A"/>
                </a:solidFill>
              </a:defRPr>
            </a:pPr>
            <a:r>
              <a:rPr sz="2100" b="1">
                <a:solidFill>
                  <a:srgbClr val="5F6B7A"/>
                </a:solidFill>
              </a:rPr>
              <a:t>→</a:t>
            </a:r>
          </a:p>
        </p:txBody>
      </p:sp>
      <p:sp>
        <p:nvSpPr>
          <p:cNvPr id="6" name="">
            <a:extLst xmlns:a="http://schemas.openxmlformats.org/drawingml/2006/main">
              <a:ext uri="{FF2B5EF4-FFF2-40B4-BE49-F238E27FC236}">
                <a16:creationId xmlns:a16="http://schemas.microsoft.com/office/drawing/2014/main" id="{D3E9FA80-D202-44F2-BFBB-66466AB53092}"/>
              </a:ext>
            </a:extLst>
          </p:cNvPr>
          <p:cNvSpPr>
            <a:spLocks xmlns:a="http://schemas.openxmlformats.org/drawingml/2006/main" noGrp="1"/>
          </p:cNvSpPr>
          <p:nvPr/>
        </p:nvSpPr>
        <p:spPr>
          <a:xfrm xmlns:a="http://schemas.openxmlformats.org/drawingml/2006/main">
            <a:off x="3152775" y="2152650"/>
            <a:ext cx="1781175" cy="685800"/>
          </a:xfrm>
          <a:prstGeom xmlns:a="http://schemas.openxmlformats.org/drawingml/2006/main" prst="roundRect">
            <a:avLst>
              <a:gd name="adj" fmla="val 11111"/>
            </a:avLst>
          </a:prstGeom>
          <a:solidFill xmlns:a="http://schemas.openxmlformats.org/drawingml/2006/main">
            <a:srgbClr val="EDE9FE"/>
          </a:solidFill>
          <a:ln xmlns:a="http://schemas.openxmlformats.org/drawingml/2006/main" w="9525">
            <a:solidFill>
              <a:srgbClr val="6D28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Concept</a:t>
            </a:r>
          </a:p>
        </p:txBody>
      </p:sp>
      <p:sp>
        <p:nvSpPr>
          <p:cNvPr id="7" name="">
            <a:extLst xmlns:a="http://schemas.openxmlformats.org/drawingml/2006/main">
              <a:ext uri="{FF2B5EF4-FFF2-40B4-BE49-F238E27FC236}">
                <a16:creationId xmlns:a16="http://schemas.microsoft.com/office/drawing/2014/main" id="{14233A88-837B-469A-B2F5-F365B7BA5217}"/>
              </a:ext>
            </a:extLst>
          </p:cNvPr>
          <p:cNvSpPr>
            <a:spLocks xmlns:a="http://schemas.openxmlformats.org/drawingml/2006/main" noGrp="1"/>
          </p:cNvSpPr>
          <p:nvPr/>
        </p:nvSpPr>
        <p:spPr>
          <a:xfrm xmlns:a="http://schemas.openxmlformats.org/drawingml/2006/main">
            <a:off x="4981575" y="23241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5F6B7A"/>
                </a:solidFill>
              </a:defRPr>
            </a:pPr>
            <a:r>
              <a:rPr sz="2100" b="1">
                <a:solidFill>
                  <a:srgbClr val="5F6B7A"/>
                </a:solidFill>
              </a:rPr>
              <a:t>→</a:t>
            </a:r>
          </a:p>
        </p:txBody>
      </p:sp>
      <p:sp>
        <p:nvSpPr>
          <p:cNvPr id="8" name="">
            <a:extLst xmlns:a="http://schemas.openxmlformats.org/drawingml/2006/main">
              <a:ext uri="{FF2B5EF4-FFF2-40B4-BE49-F238E27FC236}">
                <a16:creationId xmlns:a16="http://schemas.microsoft.com/office/drawing/2014/main" id="{64B2737B-180C-4F27-995A-409086516956}"/>
              </a:ext>
            </a:extLst>
          </p:cNvPr>
          <p:cNvSpPr>
            <a:spLocks xmlns:a="http://schemas.openxmlformats.org/drawingml/2006/main" noGrp="1"/>
          </p:cNvSpPr>
          <p:nvPr/>
        </p:nvSpPr>
        <p:spPr>
          <a:xfrm xmlns:a="http://schemas.openxmlformats.org/drawingml/2006/main">
            <a:off x="5200650" y="2152650"/>
            <a:ext cx="1781175" cy="685800"/>
          </a:xfrm>
          <a:prstGeom xmlns:a="http://schemas.openxmlformats.org/drawingml/2006/main" prst="roundRect">
            <a:avLst>
              <a:gd name="adj" fmla="val 11111"/>
            </a:avLst>
          </a:prstGeom>
          <a:solidFill xmlns:a="http://schemas.openxmlformats.org/drawingml/2006/main">
            <a:srgbClr val="DBEAFE"/>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Working</a:t>
            </a:r>
          </a:p>
        </p:txBody>
      </p:sp>
      <p:sp>
        <p:nvSpPr>
          <p:cNvPr id="9" name="">
            <a:extLst xmlns:a="http://schemas.openxmlformats.org/drawingml/2006/main">
              <a:ext uri="{FF2B5EF4-FFF2-40B4-BE49-F238E27FC236}">
                <a16:creationId xmlns:a16="http://schemas.microsoft.com/office/drawing/2014/main" id="{88B3045E-9BED-48A6-A489-9920461A5E29}"/>
              </a:ext>
            </a:extLst>
          </p:cNvPr>
          <p:cNvSpPr>
            <a:spLocks xmlns:a="http://schemas.openxmlformats.org/drawingml/2006/main" noGrp="1"/>
          </p:cNvSpPr>
          <p:nvPr/>
        </p:nvSpPr>
        <p:spPr>
          <a:xfrm xmlns:a="http://schemas.openxmlformats.org/drawingml/2006/main">
            <a:off x="7029450" y="23241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5F6B7A"/>
                </a:solidFill>
              </a:defRPr>
            </a:pPr>
            <a:r>
              <a:rPr sz="2100" b="1">
                <a:solidFill>
                  <a:srgbClr val="5F6B7A"/>
                </a:solidFill>
              </a:rPr>
              <a:t>→</a:t>
            </a:r>
          </a:p>
        </p:txBody>
      </p:sp>
      <p:sp>
        <p:nvSpPr>
          <p:cNvPr id="10" name="">
            <a:extLst xmlns:a="http://schemas.openxmlformats.org/drawingml/2006/main">
              <a:ext uri="{FF2B5EF4-FFF2-40B4-BE49-F238E27FC236}">
                <a16:creationId xmlns:a16="http://schemas.microsoft.com/office/drawing/2014/main" id="{D23680A7-DFC4-46E9-AFE8-E3905FA5FA7E}"/>
              </a:ext>
            </a:extLst>
          </p:cNvPr>
          <p:cNvSpPr>
            <a:spLocks xmlns:a="http://schemas.openxmlformats.org/drawingml/2006/main" noGrp="1"/>
          </p:cNvSpPr>
          <p:nvPr/>
        </p:nvSpPr>
        <p:spPr>
          <a:xfrm xmlns:a="http://schemas.openxmlformats.org/drawingml/2006/main">
            <a:off x="7248525" y="2152650"/>
            <a:ext cx="1781175" cy="685800"/>
          </a:xfrm>
          <a:prstGeom xmlns:a="http://schemas.openxmlformats.org/drawingml/2006/main" prst="roundRect">
            <a:avLst>
              <a:gd name="adj" fmla="val 11111"/>
            </a:avLst>
          </a:prstGeom>
          <a:solidFill xmlns:a="http://schemas.openxmlformats.org/drawingml/2006/main">
            <a:srgbClr val="EDE9FE"/>
          </a:solidFill>
          <a:ln xmlns:a="http://schemas.openxmlformats.org/drawingml/2006/main" w="9525">
            <a:solidFill>
              <a:srgbClr val="6D28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Application</a:t>
            </a:r>
          </a:p>
        </p:txBody>
      </p:sp>
      <p:sp>
        <p:nvSpPr>
          <p:cNvPr id="11" name="">
            <a:extLst xmlns:a="http://schemas.openxmlformats.org/drawingml/2006/main">
              <a:ext uri="{FF2B5EF4-FFF2-40B4-BE49-F238E27FC236}">
                <a16:creationId xmlns:a16="http://schemas.microsoft.com/office/drawing/2014/main" id="{18548DB2-6E54-4A91-97F4-2AA54AEF304B}"/>
              </a:ext>
            </a:extLst>
          </p:cNvPr>
          <p:cNvSpPr>
            <a:spLocks xmlns:a="http://schemas.openxmlformats.org/drawingml/2006/main" noGrp="1"/>
          </p:cNvSpPr>
          <p:nvPr/>
        </p:nvSpPr>
        <p:spPr>
          <a:xfrm xmlns:a="http://schemas.openxmlformats.org/drawingml/2006/main">
            <a:off x="9077325" y="23241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5F6B7A"/>
                </a:solidFill>
              </a:defRPr>
            </a:pPr>
            <a:r>
              <a:rPr sz="2100" b="1">
                <a:solidFill>
                  <a:srgbClr val="5F6B7A"/>
                </a:solidFill>
              </a:rPr>
              <a:t>→</a:t>
            </a:r>
          </a:p>
        </p:txBody>
      </p:sp>
      <p:sp>
        <p:nvSpPr>
          <p:cNvPr id="12" name="">
            <a:extLst xmlns:a="http://schemas.openxmlformats.org/drawingml/2006/main">
              <a:ext uri="{FF2B5EF4-FFF2-40B4-BE49-F238E27FC236}">
                <a16:creationId xmlns:a16="http://schemas.microsoft.com/office/drawing/2014/main" id="{AF25DA1D-BE74-4D0F-B42F-9F60742276DC}"/>
              </a:ext>
            </a:extLst>
          </p:cNvPr>
          <p:cNvSpPr>
            <a:spLocks xmlns:a="http://schemas.openxmlformats.org/drawingml/2006/main" noGrp="1"/>
          </p:cNvSpPr>
          <p:nvPr/>
        </p:nvSpPr>
        <p:spPr>
          <a:xfrm xmlns:a="http://schemas.openxmlformats.org/drawingml/2006/main">
            <a:off x="9296400" y="2152650"/>
            <a:ext cx="1781175" cy="685800"/>
          </a:xfrm>
          <a:prstGeom xmlns:a="http://schemas.openxmlformats.org/drawingml/2006/main" prst="roundRect">
            <a:avLst>
              <a:gd name="adj" fmla="val 11111"/>
            </a:avLst>
          </a:prstGeom>
          <a:solidFill xmlns:a="http://schemas.openxmlformats.org/drawingml/2006/main">
            <a:srgbClr val="DBEAFE"/>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Recap</a:t>
            </a:r>
          </a:p>
        </p:txBody>
      </p:sp>
      <p:sp>
        <p:nvSpPr>
          <p:cNvPr id="13" name="">
            <a:extLst xmlns:a="http://schemas.openxmlformats.org/drawingml/2006/main">
              <a:ext uri="{FF2B5EF4-FFF2-40B4-BE49-F238E27FC236}">
                <a16:creationId xmlns:a16="http://schemas.microsoft.com/office/drawing/2014/main" id="{4AC0F503-CD76-402E-9C69-20762E5D15A8}"/>
              </a:ext>
            </a:extLst>
          </p:cNvPr>
          <p:cNvSpPr>
            <a:spLocks xmlns:a="http://schemas.openxmlformats.org/drawingml/2006/main" noGrp="1"/>
          </p:cNvSpPr>
          <p:nvPr/>
        </p:nvSpPr>
        <p:spPr>
          <a:xfrm xmlns:a="http://schemas.openxmlformats.org/drawingml/2006/main">
            <a:off x="1028700" y="4171950"/>
            <a:ext cx="9620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 Three- phase Circuits:</a:t>
            </a:r>
          </a:p>
          <a:p xmlns:a="http://schemas.openxmlformats.org/drawingml/2006/main">
            <a:pPr algn="l">
              <a:defRPr sz="1350" b="0">
                <a:solidFill>
                  <a:srgbClr val="172033"/>
                </a:solidFill>
              </a:defRPr>
            </a:pPr>
            <a:r>
              <a:rPr sz="1350" b="0">
                <a:solidFill>
                  <a:srgbClr val="172033"/>
                </a:solidFill>
              </a:rPr>
              <a:t>• Generation of three -phase system, definition of phase sequence, star and delta (mesh) connections, relation between phase and line values of voltages and of currents of star and delta connections, considering the phasor diagram.</a:t>
            </a:r>
          </a:p>
          <a:p xmlns:a="http://schemas.openxmlformats.org/drawingml/2006/main">
            <a:pPr algn="l">
              <a:defRPr sz="1350" b="0">
                <a:solidFill>
                  <a:srgbClr val="172033"/>
                </a:solidFill>
              </a:defRPr>
            </a:pPr>
            <a:r>
              <a:rPr sz="1350" b="0">
                <a:solidFill>
                  <a:srgbClr val="172033"/>
                </a:solidFill>
              </a:rPr>
              <a:t>• Definition of balanced and unbalanced source an d load.</a:t>
            </a:r>
          </a:p>
          <a:p xmlns:a="http://schemas.openxmlformats.org/drawingml/2006/main">
            <a:pPr algn="l">
              <a:defRPr sz="1350" b="0">
                <a:solidFill>
                  <a:srgbClr val="172033"/>
                </a:solidFill>
              </a:defRPr>
            </a:pPr>
            <a:r>
              <a:rPr sz="1350" b="0">
                <a:solidFill>
                  <a:srgbClr val="172033"/>
                </a:solidFill>
              </a:rPr>
              <a:t>• Power, reactive power and power factor.</a:t>
            </a:r>
          </a:p>
          <a:p xmlns:a="http://schemas.openxmlformats.org/drawingml/2006/main">
            <a:pPr algn="l">
              <a:defRPr sz="1350" b="0">
                <a:solidFill>
                  <a:srgbClr val="172033"/>
                </a:solidFill>
              </a:defRPr>
            </a:pPr>
            <a:r>
              <a:rPr sz="1350" b="0">
                <a:solidFill>
                  <a:srgbClr val="172033"/>
                </a:solidFill>
              </a:rPr>
              <a:t>• Problems on balanced loads.</a:t>
            </a:r>
          </a:p>
        </p:txBody>
      </p:sp>
      <p:sp>
        <p:nvSpPr>
          <p:cNvPr id="14" name="">
            <a:extLst xmlns:a="http://schemas.openxmlformats.org/drawingml/2006/main">
              <a:ext uri="{FF2B5EF4-FFF2-40B4-BE49-F238E27FC236}">
                <a16:creationId xmlns:a16="http://schemas.microsoft.com/office/drawing/2014/main" id="{47B6FF00-0241-4E50-BE0B-0CE1B9EA2EC6}"/>
              </a:ext>
            </a:extLst>
          </p:cNvPr>
          <p:cNvSpPr>
            <a:spLocks xmlns:a="http://schemas.openxmlformats.org/drawingml/2006/main" noGrp="1"/>
          </p:cNvSpPr>
          <p:nvPr/>
        </p:nvSpPr>
        <p:spPr>
          <a:xfrm xmlns:a="http://schemas.openxmlformats.org/drawingml/2006/main">
            <a:off x="609600" y="65341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5F6B7A"/>
                </a:solidFill>
              </a:defRPr>
            </a:pPr>
            <a:r>
              <a:rPr sz="825" b="0">
                <a:solidFill>
                  <a:srgbClr val="5F6B7A"/>
                </a:solidFill>
              </a:rPr>
              <a:t>Basics of Electrical Engineering | 1BBEE105/205</a:t>
            </a:r>
          </a:p>
        </p:txBody>
      </p:sp>
      <p:sp>
        <p:nvSpPr>
          <p:cNvPr id="15" name="">
            <a:extLst xmlns:a="http://schemas.openxmlformats.org/drawingml/2006/main">
              <a:ext uri="{FF2B5EF4-FFF2-40B4-BE49-F238E27FC236}">
                <a16:creationId xmlns:a16="http://schemas.microsoft.com/office/drawing/2014/main" id="{DD1BD3AD-E155-44FE-8B08-85C73697C684}"/>
              </a:ext>
            </a:extLst>
          </p:cNvPr>
          <p:cNvSpPr>
            <a:spLocks xmlns:a="http://schemas.openxmlformats.org/drawingml/2006/main" noGrp="1"/>
          </p:cNvSpPr>
          <p:nvPr/>
        </p:nvSpPr>
        <p:spPr>
          <a:xfrm xmlns:a="http://schemas.openxmlformats.org/drawingml/2006/main">
            <a:off x="9867900" y="65341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5F6B7A"/>
                </a:solidFill>
              </a:defRPr>
            </a:pPr>
            <a:r>
              <a:rPr sz="825" b="0">
                <a:solidFill>
                  <a:srgbClr val="5F6B7A"/>
                </a:solidFill>
              </a:rPr>
              <a:t>Module 4 | 2/9</a:t>
            </a:r>
          </a:p>
        </p:txBody>
      </p:sp>
    </p:spTree>
    <p:extLst>
      <p:ext uri="{BB962C8B-B14F-4D97-AF65-F5344CB8AC3E}">
        <p14:creationId xmlns:p14="http://schemas.microsoft.com/office/powerpoint/2010/main" val="126175411"/>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240729-E967-4C8A-B7AB-0EC8BFFB2DB1}"/>
              </a:ext>
            </a:extLst>
          </p:cNvPr>
          <p:cNvSpPr>
            <a:spLocks xmlns:a="http://schemas.openxmlformats.org/drawingml/2006/main" noGrp="1"/>
          </p:cNvSpPr>
          <p:nvPr/>
        </p:nvSpPr>
        <p:spPr>
          <a:xfrm xmlns:a="http://schemas.openxmlformats.org/drawingml/2006/main">
            <a:off x="609600" y="247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D28D9"/>
                </a:solidFill>
              </a:defRPr>
            </a:pPr>
            <a:r>
              <a:rPr sz="975" b="1">
                <a:solidFill>
                  <a:srgbClr val="6D28D9"/>
                </a:solidFill>
              </a:rPr>
              <a:t>1BBEE105/205 | Module 4</a:t>
            </a:r>
          </a:p>
        </p:txBody>
      </p:sp>
      <p:sp>
        <p:nvSpPr>
          <p:cNvPr id="2" name="">
            <a:extLst xmlns:a="http://schemas.openxmlformats.org/drawingml/2006/main">
              <a:ext uri="{FF2B5EF4-FFF2-40B4-BE49-F238E27FC236}">
                <a16:creationId xmlns:a16="http://schemas.microsoft.com/office/drawing/2014/main" id="{9A6B2854-8457-4284-ACEA-E0794031D2B3}"/>
              </a:ext>
            </a:extLst>
          </p:cNvPr>
          <p:cNvSpPr>
            <a:spLocks xmlns:a="http://schemas.openxmlformats.org/drawingml/2006/main" noGrp="1"/>
          </p:cNvSpPr>
          <p:nvPr/>
        </p:nvSpPr>
        <p:spPr>
          <a:xfrm xmlns:a="http://schemas.openxmlformats.org/drawingml/2006/main">
            <a:off x="609600" y="5524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72033"/>
                </a:solidFill>
              </a:defRPr>
            </a:pPr>
            <a:r>
              <a:rPr sz="2625" b="1">
                <a:solidFill>
                  <a:srgbClr val="172033"/>
                </a:solidFill>
              </a:rPr>
              <a:t>Core concepts from the official syllabus</a:t>
            </a:r>
          </a:p>
        </p:txBody>
      </p:sp>
      <p:sp>
        <p:nvSpPr>
          <p:cNvPr id="3" name="">
            <a:extLst xmlns:a="http://schemas.openxmlformats.org/drawingml/2006/main">
              <a:ext uri="{FF2B5EF4-FFF2-40B4-BE49-F238E27FC236}">
                <a16:creationId xmlns:a16="http://schemas.microsoft.com/office/drawing/2014/main" id="{C6FE2333-5876-4A4B-868E-F6A246DDF7E5}"/>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7DEE8"/>
          </a:solidFill>
          <a:ln xmlns:a="http://schemas.openxmlformats.org/drawingml/2006/main" w="0">
            <a:solidFill>
              <a:srgbClr val="D7DEE8"/>
            </a:solidFill>
            <a:prstDash val="solid"/>
          </a:ln>
        </p:spPr>
      </p:sp>
      <p:sp>
        <p:nvSpPr>
          <p:cNvPr id="4" name="">
            <a:extLst xmlns:a="http://schemas.openxmlformats.org/drawingml/2006/main">
              <a:ext uri="{FF2B5EF4-FFF2-40B4-BE49-F238E27FC236}">
                <a16:creationId xmlns:a16="http://schemas.microsoft.com/office/drawing/2014/main" id="{68EA7DEB-1279-47FB-ACB0-F72B64F53968}"/>
              </a:ext>
            </a:extLst>
          </p:cNvPr>
          <p:cNvSpPr>
            <a:spLocks xmlns:a="http://schemas.openxmlformats.org/drawingml/2006/main" noGrp="1"/>
          </p:cNvSpPr>
          <p:nvPr/>
        </p:nvSpPr>
        <p:spPr>
          <a:xfrm xmlns:a="http://schemas.openxmlformats.org/drawingml/2006/main">
            <a:off x="781050" y="1790700"/>
            <a:ext cx="3048000" cy="742950"/>
          </a:xfrm>
          <a:prstGeom xmlns:a="http://schemas.openxmlformats.org/drawingml/2006/main" prst="roundRect">
            <a:avLst>
              <a:gd name="adj" fmla="val 10256"/>
            </a:avLst>
          </a:prstGeom>
          <a:solidFill xmlns:a="http://schemas.openxmlformats.org/drawingml/2006/main">
            <a:srgbClr val="DBEAFE"/>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350" b="1">
                <a:solidFill>
                  <a:srgbClr val="172033"/>
                </a:solidFill>
              </a:defRPr>
            </a:pPr>
            <a:r>
              <a:rPr sz="1350" b="1">
                <a:solidFill>
                  <a:srgbClr val="172033"/>
                </a:solidFill>
              </a:rPr>
              <a:t>Three</a:t>
            </a:r>
          </a:p>
        </p:txBody>
      </p:sp>
      <p:sp>
        <p:nvSpPr>
          <p:cNvPr id="5" name="">
            <a:extLst xmlns:a="http://schemas.openxmlformats.org/drawingml/2006/main">
              <a:ext uri="{FF2B5EF4-FFF2-40B4-BE49-F238E27FC236}">
                <a16:creationId xmlns:a16="http://schemas.microsoft.com/office/drawing/2014/main" id="{754CE145-F329-407F-B5A6-03857C75F592}"/>
              </a:ext>
            </a:extLst>
          </p:cNvPr>
          <p:cNvSpPr>
            <a:spLocks xmlns:a="http://schemas.openxmlformats.org/drawingml/2006/main" noGrp="1"/>
          </p:cNvSpPr>
          <p:nvPr/>
        </p:nvSpPr>
        <p:spPr>
          <a:xfrm xmlns:a="http://schemas.openxmlformats.org/drawingml/2006/main">
            <a:off x="4419600" y="1790700"/>
            <a:ext cx="3048000" cy="742950"/>
          </a:xfrm>
          <a:prstGeom xmlns:a="http://schemas.openxmlformats.org/drawingml/2006/main" prst="roundRect">
            <a:avLst>
              <a:gd name="adj" fmla="val 10256"/>
            </a:avLst>
          </a:prstGeom>
          <a:solidFill xmlns:a="http://schemas.openxmlformats.org/drawingml/2006/main">
            <a:srgbClr val="EDE9FE"/>
          </a:solidFill>
          <a:ln xmlns:a="http://schemas.openxmlformats.org/drawingml/2006/main" w="9525">
            <a:solidFill>
              <a:srgbClr val="6D28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350" b="1">
                <a:solidFill>
                  <a:srgbClr val="172033"/>
                </a:solidFill>
              </a:defRPr>
            </a:pPr>
            <a:r>
              <a:rPr sz="1350" b="1">
                <a:solidFill>
                  <a:srgbClr val="172033"/>
                </a:solidFill>
              </a:rPr>
              <a:t>phase</a:t>
            </a:r>
          </a:p>
        </p:txBody>
      </p:sp>
      <p:sp>
        <p:nvSpPr>
          <p:cNvPr id="6" name="">
            <a:extLst xmlns:a="http://schemas.openxmlformats.org/drawingml/2006/main">
              <a:ext uri="{FF2B5EF4-FFF2-40B4-BE49-F238E27FC236}">
                <a16:creationId xmlns:a16="http://schemas.microsoft.com/office/drawing/2014/main" id="{8221578B-999B-4C7A-BEDD-AE224275173A}"/>
              </a:ext>
            </a:extLst>
          </p:cNvPr>
          <p:cNvSpPr>
            <a:spLocks xmlns:a="http://schemas.openxmlformats.org/drawingml/2006/main" noGrp="1"/>
          </p:cNvSpPr>
          <p:nvPr/>
        </p:nvSpPr>
        <p:spPr>
          <a:xfrm xmlns:a="http://schemas.openxmlformats.org/drawingml/2006/main">
            <a:off x="8058150" y="1790700"/>
            <a:ext cx="3048000" cy="742950"/>
          </a:xfrm>
          <a:prstGeom xmlns:a="http://schemas.openxmlformats.org/drawingml/2006/main" prst="roundRect">
            <a:avLst>
              <a:gd name="adj" fmla="val 10256"/>
            </a:avLst>
          </a:prstGeom>
          <a:solidFill xmlns:a="http://schemas.openxmlformats.org/drawingml/2006/main">
            <a:srgbClr val="DBEAFE"/>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350" b="1">
                <a:solidFill>
                  <a:srgbClr val="172033"/>
                </a:solidFill>
              </a:defRPr>
            </a:pPr>
            <a:r>
              <a:rPr sz="1350" b="1">
                <a:solidFill>
                  <a:srgbClr val="172033"/>
                </a:solidFill>
              </a:rPr>
              <a:t>Circuits</a:t>
            </a:r>
          </a:p>
        </p:txBody>
      </p:sp>
      <p:sp>
        <p:nvSpPr>
          <p:cNvPr id="7" name="">
            <a:extLst xmlns:a="http://schemas.openxmlformats.org/drawingml/2006/main">
              <a:ext uri="{FF2B5EF4-FFF2-40B4-BE49-F238E27FC236}">
                <a16:creationId xmlns:a16="http://schemas.microsoft.com/office/drawing/2014/main" id="{0DCA7E15-9944-4BE5-ACED-F458B87DF2CF}"/>
              </a:ext>
            </a:extLst>
          </p:cNvPr>
          <p:cNvSpPr>
            <a:spLocks xmlns:a="http://schemas.openxmlformats.org/drawingml/2006/main" noGrp="1"/>
          </p:cNvSpPr>
          <p:nvPr/>
        </p:nvSpPr>
        <p:spPr>
          <a:xfrm xmlns:a="http://schemas.openxmlformats.org/drawingml/2006/main">
            <a:off x="781050" y="3067050"/>
            <a:ext cx="3048000" cy="742950"/>
          </a:xfrm>
          <a:prstGeom xmlns:a="http://schemas.openxmlformats.org/drawingml/2006/main" prst="roundRect">
            <a:avLst>
              <a:gd name="adj" fmla="val 10256"/>
            </a:avLst>
          </a:prstGeom>
          <a:solidFill xmlns:a="http://schemas.openxmlformats.org/drawingml/2006/main">
            <a:srgbClr val="EDE9FE"/>
          </a:solidFill>
          <a:ln xmlns:a="http://schemas.openxmlformats.org/drawingml/2006/main" w="9525">
            <a:solidFill>
              <a:srgbClr val="6D28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350" b="1">
                <a:solidFill>
                  <a:srgbClr val="172033"/>
                </a:solidFill>
              </a:defRPr>
            </a:pPr>
            <a:r>
              <a:rPr sz="1350" b="1">
                <a:solidFill>
                  <a:srgbClr val="172033"/>
                </a:solidFill>
              </a:rPr>
              <a:t>Generation</a:t>
            </a:r>
          </a:p>
        </p:txBody>
      </p:sp>
      <p:sp>
        <p:nvSpPr>
          <p:cNvPr id="8" name="">
            <a:extLst xmlns:a="http://schemas.openxmlformats.org/drawingml/2006/main">
              <a:ext uri="{FF2B5EF4-FFF2-40B4-BE49-F238E27FC236}">
                <a16:creationId xmlns:a16="http://schemas.microsoft.com/office/drawing/2014/main" id="{AF8503FC-B38C-4467-8F68-86F2AED29F87}"/>
              </a:ext>
            </a:extLst>
          </p:cNvPr>
          <p:cNvSpPr>
            <a:spLocks xmlns:a="http://schemas.openxmlformats.org/drawingml/2006/main" noGrp="1"/>
          </p:cNvSpPr>
          <p:nvPr/>
        </p:nvSpPr>
        <p:spPr>
          <a:xfrm xmlns:a="http://schemas.openxmlformats.org/drawingml/2006/main">
            <a:off x="4419600" y="3067050"/>
            <a:ext cx="3048000" cy="742950"/>
          </a:xfrm>
          <a:prstGeom xmlns:a="http://schemas.openxmlformats.org/drawingml/2006/main" prst="roundRect">
            <a:avLst>
              <a:gd name="adj" fmla="val 10256"/>
            </a:avLst>
          </a:prstGeom>
          <a:solidFill xmlns:a="http://schemas.openxmlformats.org/drawingml/2006/main">
            <a:srgbClr val="DBEAFE"/>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350" b="1">
                <a:solidFill>
                  <a:srgbClr val="172033"/>
                </a:solidFill>
              </a:defRPr>
            </a:pPr>
            <a:r>
              <a:rPr sz="1350" b="1">
                <a:solidFill>
                  <a:srgbClr val="172033"/>
                </a:solidFill>
              </a:rPr>
              <a:t>system</a:t>
            </a:r>
          </a:p>
        </p:txBody>
      </p:sp>
      <p:sp>
        <p:nvSpPr>
          <p:cNvPr id="9" name="">
            <a:extLst xmlns:a="http://schemas.openxmlformats.org/drawingml/2006/main">
              <a:ext uri="{FF2B5EF4-FFF2-40B4-BE49-F238E27FC236}">
                <a16:creationId xmlns:a16="http://schemas.microsoft.com/office/drawing/2014/main" id="{151F09A2-799F-4EA6-85A4-DE61CAAC13E9}"/>
              </a:ext>
            </a:extLst>
          </p:cNvPr>
          <p:cNvSpPr>
            <a:spLocks xmlns:a="http://schemas.openxmlformats.org/drawingml/2006/main" noGrp="1"/>
          </p:cNvSpPr>
          <p:nvPr/>
        </p:nvSpPr>
        <p:spPr>
          <a:xfrm xmlns:a="http://schemas.openxmlformats.org/drawingml/2006/main">
            <a:off x="8058150" y="3067050"/>
            <a:ext cx="3048000" cy="742950"/>
          </a:xfrm>
          <a:prstGeom xmlns:a="http://schemas.openxmlformats.org/drawingml/2006/main" prst="roundRect">
            <a:avLst>
              <a:gd name="adj" fmla="val 10256"/>
            </a:avLst>
          </a:prstGeom>
          <a:solidFill xmlns:a="http://schemas.openxmlformats.org/drawingml/2006/main">
            <a:srgbClr val="EDE9FE"/>
          </a:solidFill>
          <a:ln xmlns:a="http://schemas.openxmlformats.org/drawingml/2006/main" w="9525">
            <a:solidFill>
              <a:srgbClr val="6D28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350" b="1">
                <a:solidFill>
                  <a:srgbClr val="172033"/>
                </a:solidFill>
              </a:defRPr>
            </a:pPr>
            <a:r>
              <a:rPr sz="1350" b="1">
                <a:solidFill>
                  <a:srgbClr val="172033"/>
                </a:solidFill>
              </a:rPr>
              <a:t>definition</a:t>
            </a:r>
          </a:p>
        </p:txBody>
      </p:sp>
      <p:sp>
        <p:nvSpPr>
          <p:cNvPr id="10" name="">
            <a:extLst xmlns:a="http://schemas.openxmlformats.org/drawingml/2006/main">
              <a:ext uri="{FF2B5EF4-FFF2-40B4-BE49-F238E27FC236}">
                <a16:creationId xmlns:a16="http://schemas.microsoft.com/office/drawing/2014/main" id="{E8C3CAE5-A6D2-4B46-B5F1-ED4CCBBFF8AC}"/>
              </a:ext>
            </a:extLst>
          </p:cNvPr>
          <p:cNvSpPr>
            <a:spLocks xmlns:a="http://schemas.openxmlformats.org/drawingml/2006/main" noGrp="1"/>
          </p:cNvSpPr>
          <p:nvPr/>
        </p:nvSpPr>
        <p:spPr>
          <a:xfrm xmlns:a="http://schemas.openxmlformats.org/drawingml/2006/main">
            <a:off x="1200150" y="46863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 Measurement of 3 -phase power by 2-wattmeter method.</a:t>
            </a:r>
          </a:p>
          <a:p xmlns:a="http://schemas.openxmlformats.org/drawingml/2006/main">
            <a:pPr algn="l">
              <a:defRPr sz="1350" b="0">
                <a:solidFill>
                  <a:srgbClr val="172033"/>
                </a:solidFill>
              </a:defRPr>
            </a:pPr>
            <a:r>
              <a:rPr sz="1350" b="0">
                <a:solidFill>
                  <a:srgbClr val="172033"/>
                </a:solidFill>
              </a:rPr>
              <a:t>• Expression of power factor in terms wattmeter readings.</a:t>
            </a:r>
          </a:p>
          <a:p xmlns:a="http://schemas.openxmlformats.org/drawingml/2006/main">
            <a:pPr algn="l">
              <a:defRPr sz="1350" b="0">
                <a:solidFill>
                  <a:srgbClr val="172033"/>
                </a:solidFill>
              </a:defRPr>
            </a:pPr>
            <a:r>
              <a:rPr sz="1350" b="0">
                <a:solidFill>
                  <a:srgbClr val="172033"/>
                </a:solidFill>
              </a:rPr>
              <a:t>• Effect of power factor on wattmeter readings.</a:t>
            </a:r>
          </a:p>
          <a:p xmlns:a="http://schemas.openxmlformats.org/drawingml/2006/main">
            <a:pPr algn="l">
              <a:defRPr sz="1350" b="0">
                <a:solidFill>
                  <a:srgbClr val="172033"/>
                </a:solidFill>
              </a:defRPr>
            </a:pPr>
            <a:r>
              <a:rPr sz="1350" b="0">
                <a:solidFill>
                  <a:srgbClr val="172033"/>
                </a:solidFill>
              </a:rPr>
              <a:t>• Comparison between single phase and three-phase systems.</a:t>
            </a:r>
          </a:p>
        </p:txBody>
      </p:sp>
      <p:sp>
        <p:nvSpPr>
          <p:cNvPr id="11" name="">
            <a:extLst xmlns:a="http://schemas.openxmlformats.org/drawingml/2006/main">
              <a:ext uri="{FF2B5EF4-FFF2-40B4-BE49-F238E27FC236}">
                <a16:creationId xmlns:a16="http://schemas.microsoft.com/office/drawing/2014/main" id="{B00BF19D-AA2E-430A-B618-584CD19FF63C}"/>
              </a:ext>
            </a:extLst>
          </p:cNvPr>
          <p:cNvSpPr>
            <a:spLocks xmlns:a="http://schemas.openxmlformats.org/drawingml/2006/main" noGrp="1"/>
          </p:cNvSpPr>
          <p:nvPr/>
        </p:nvSpPr>
        <p:spPr>
          <a:xfrm xmlns:a="http://schemas.openxmlformats.org/drawingml/2006/main">
            <a:off x="609600" y="65341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5F6B7A"/>
                </a:solidFill>
              </a:defRPr>
            </a:pPr>
            <a:r>
              <a:rPr sz="825" b="0">
                <a:solidFill>
                  <a:srgbClr val="5F6B7A"/>
                </a:solidFill>
              </a:rPr>
              <a:t>Basics of Electrical Engineering | 1BBEE105/205</a:t>
            </a:r>
          </a:p>
        </p:txBody>
      </p:sp>
      <p:sp>
        <p:nvSpPr>
          <p:cNvPr id="12" name="">
            <a:extLst xmlns:a="http://schemas.openxmlformats.org/drawingml/2006/main">
              <a:ext uri="{FF2B5EF4-FFF2-40B4-BE49-F238E27FC236}">
                <a16:creationId xmlns:a16="http://schemas.microsoft.com/office/drawing/2014/main" id="{7622DA76-8B99-460B-85FD-21FCB19BA5AA}"/>
              </a:ext>
            </a:extLst>
          </p:cNvPr>
          <p:cNvSpPr>
            <a:spLocks xmlns:a="http://schemas.openxmlformats.org/drawingml/2006/main" noGrp="1"/>
          </p:cNvSpPr>
          <p:nvPr/>
        </p:nvSpPr>
        <p:spPr>
          <a:xfrm xmlns:a="http://schemas.openxmlformats.org/drawingml/2006/main">
            <a:off x="9867900" y="65341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5F6B7A"/>
                </a:solidFill>
              </a:defRPr>
            </a:pPr>
            <a:r>
              <a:rPr sz="825" b="0">
                <a:solidFill>
                  <a:srgbClr val="5F6B7A"/>
                </a:solidFill>
              </a:rPr>
              <a:t>Module 4 | 3/9</a:t>
            </a:r>
          </a:p>
        </p:txBody>
      </p:sp>
    </p:spTree>
    <p:extLst>
      <p:ext uri="{BB962C8B-B14F-4D97-AF65-F5344CB8AC3E}">
        <p14:creationId xmlns:p14="http://schemas.microsoft.com/office/powerpoint/2010/main" val="1251788843"/>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DABBAB8-35AC-4CE3-BE37-8B09201801CC}"/>
              </a:ext>
            </a:extLst>
          </p:cNvPr>
          <p:cNvSpPr>
            <a:spLocks xmlns:a="http://schemas.openxmlformats.org/drawingml/2006/main" noGrp="1"/>
          </p:cNvSpPr>
          <p:nvPr/>
        </p:nvSpPr>
        <p:spPr>
          <a:xfrm xmlns:a="http://schemas.openxmlformats.org/drawingml/2006/main">
            <a:off x="609600" y="247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D28D9"/>
                </a:solidFill>
              </a:defRPr>
            </a:pPr>
            <a:r>
              <a:rPr sz="975" b="1">
                <a:solidFill>
                  <a:srgbClr val="6D28D9"/>
                </a:solidFill>
              </a:rPr>
              <a:t>1BBEE105/205 | Module 4</a:t>
            </a:r>
          </a:p>
        </p:txBody>
      </p:sp>
      <p:sp>
        <p:nvSpPr>
          <p:cNvPr id="2" name="">
            <a:extLst xmlns:a="http://schemas.openxmlformats.org/drawingml/2006/main">
              <a:ext uri="{FF2B5EF4-FFF2-40B4-BE49-F238E27FC236}">
                <a16:creationId xmlns:a16="http://schemas.microsoft.com/office/drawing/2014/main" id="{42B664B5-D089-49C7-BC88-0DDF4BA96DBF}"/>
              </a:ext>
            </a:extLst>
          </p:cNvPr>
          <p:cNvSpPr>
            <a:spLocks xmlns:a="http://schemas.openxmlformats.org/drawingml/2006/main" noGrp="1"/>
          </p:cNvSpPr>
          <p:nvPr/>
        </p:nvSpPr>
        <p:spPr>
          <a:xfrm xmlns:a="http://schemas.openxmlformats.org/drawingml/2006/main">
            <a:off x="609600" y="5524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72033"/>
                </a:solidFill>
              </a:defRPr>
            </a:pPr>
            <a:r>
              <a:rPr sz="2625" b="1">
                <a:solidFill>
                  <a:srgbClr val="172033"/>
                </a:solidFill>
              </a:rPr>
              <a:t>Concept explanation</a:t>
            </a:r>
          </a:p>
        </p:txBody>
      </p:sp>
      <p:sp>
        <p:nvSpPr>
          <p:cNvPr id="3" name="">
            <a:extLst xmlns:a="http://schemas.openxmlformats.org/drawingml/2006/main">
              <a:ext uri="{FF2B5EF4-FFF2-40B4-BE49-F238E27FC236}">
                <a16:creationId xmlns:a16="http://schemas.microsoft.com/office/drawing/2014/main" id="{819E32DB-0536-4A63-88FD-5FFD841E0D77}"/>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7DEE8"/>
          </a:solidFill>
          <a:ln xmlns:a="http://schemas.openxmlformats.org/drawingml/2006/main" w="0">
            <a:solidFill>
              <a:srgbClr val="D7DEE8"/>
            </a:solidFill>
            <a:prstDash val="solid"/>
          </a:ln>
        </p:spPr>
      </p:sp>
      <p:sp>
        <p:nvSpPr>
          <p:cNvPr id="4" name="">
            <a:extLst xmlns:a="http://schemas.openxmlformats.org/drawingml/2006/main">
              <a:ext uri="{FF2B5EF4-FFF2-40B4-BE49-F238E27FC236}">
                <a16:creationId xmlns:a16="http://schemas.microsoft.com/office/drawing/2014/main" id="{14EC82E1-C5E3-4FCF-9130-DAB189EECE76}"/>
              </a:ext>
            </a:extLst>
          </p:cNvPr>
          <p:cNvSpPr>
            <a:spLocks xmlns:a="http://schemas.openxmlformats.org/drawingml/2006/main" noGrp="1"/>
          </p:cNvSpPr>
          <p:nvPr/>
        </p:nvSpPr>
        <p:spPr>
          <a:xfrm xmlns:a="http://schemas.openxmlformats.org/drawingml/2006/main">
            <a:off x="876300" y="1581150"/>
            <a:ext cx="4953000" cy="3505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2033"/>
                </a:solidFill>
              </a:defRPr>
            </a:pPr>
            <a:r>
              <a:rPr sz="1425" b="0">
                <a:solidFill>
                  <a:srgbClr val="172033"/>
                </a:solidFill>
              </a:rPr>
              <a:t>• Three- phase Circuits:</a:t>
            </a:r>
          </a:p>
          <a:p xmlns:a="http://schemas.openxmlformats.org/drawingml/2006/main">
            <a:pPr algn="l">
              <a:defRPr sz="1425" b="0">
                <a:solidFill>
                  <a:srgbClr val="172033"/>
                </a:solidFill>
              </a:defRPr>
            </a:pPr>
            <a:r>
              <a:rPr sz="1425" b="0">
                <a:solidFill>
                  <a:srgbClr val="172033"/>
                </a:solidFill>
              </a:rPr>
              <a:t>• Generation of three -phase system, definition of phase sequence, star and delta (mesh) connections, relatio...</a:t>
            </a:r>
          </a:p>
          <a:p xmlns:a="http://schemas.openxmlformats.org/drawingml/2006/main">
            <a:pPr algn="l">
              <a:defRPr sz="1425" b="0">
                <a:solidFill>
                  <a:srgbClr val="172033"/>
                </a:solidFill>
              </a:defRPr>
            </a:pPr>
            <a:r>
              <a:rPr sz="1425" b="0">
                <a:solidFill>
                  <a:srgbClr val="172033"/>
                </a:solidFill>
              </a:rPr>
              <a:t>• Definition of balanced and unbalanced source an d load.</a:t>
            </a:r>
          </a:p>
          <a:p xmlns:a="http://schemas.openxmlformats.org/drawingml/2006/main">
            <a:pPr algn="l">
              <a:defRPr sz="1425" b="0">
                <a:solidFill>
                  <a:srgbClr val="172033"/>
                </a:solidFill>
              </a:defRPr>
            </a:pPr>
            <a:r>
              <a:rPr sz="1425" b="0">
                <a:solidFill>
                  <a:srgbClr val="172033"/>
                </a:solidFill>
              </a:rPr>
              <a:t>• Power, reactive power and power factor.</a:t>
            </a:r>
          </a:p>
          <a:p xmlns:a="http://schemas.openxmlformats.org/drawingml/2006/main">
            <a:pPr algn="l">
              <a:defRPr sz="1425" b="0">
                <a:solidFill>
                  <a:srgbClr val="172033"/>
                </a:solidFill>
              </a:defRPr>
            </a:pPr>
            <a:r>
              <a:rPr sz="1425" b="0">
                <a:solidFill>
                  <a:srgbClr val="172033"/>
                </a:solidFill>
              </a:rPr>
              <a:t>• Problems on balanced loads.</a:t>
            </a:r>
          </a:p>
          <a:p xmlns:a="http://schemas.openxmlformats.org/drawingml/2006/main">
            <a:pPr algn="l">
              <a:defRPr sz="1425" b="0">
                <a:solidFill>
                  <a:srgbClr val="172033"/>
                </a:solidFill>
              </a:defRPr>
            </a:pPr>
            <a:r>
              <a:rPr sz="1425" b="0">
                <a:solidFill>
                  <a:srgbClr val="172033"/>
                </a:solidFill>
              </a:rPr>
              <a:t>• Measurement of 3 -phase power by 2-wattmeter method.</a:t>
            </a:r>
          </a:p>
        </p:txBody>
      </p:sp>
      <p:sp>
        <p:nvSpPr>
          <p:cNvPr id="5" name="">
            <a:extLst xmlns:a="http://schemas.openxmlformats.org/drawingml/2006/main">
              <a:ext uri="{FF2B5EF4-FFF2-40B4-BE49-F238E27FC236}">
                <a16:creationId xmlns:a16="http://schemas.microsoft.com/office/drawing/2014/main" id="{1FC78E12-C215-4EB9-80EA-6BA97601CCBD}"/>
              </a:ext>
            </a:extLst>
          </p:cNvPr>
          <p:cNvSpPr>
            <a:spLocks xmlns:a="http://schemas.openxmlformats.org/drawingml/2006/main" noGrp="1"/>
          </p:cNvSpPr>
          <p:nvPr/>
        </p:nvSpPr>
        <p:spPr>
          <a:xfrm xmlns:a="http://schemas.openxmlformats.org/drawingml/2006/main">
            <a:off x="876300" y="5391150"/>
            <a:ext cx="1524000" cy="400050"/>
          </a:xfrm>
          <a:prstGeom xmlns:a="http://schemas.openxmlformats.org/drawingml/2006/main" prst="roundRect">
            <a:avLst>
              <a:gd name="adj" fmla="val 19048"/>
            </a:avLst>
          </a:prstGeom>
          <a:solidFill xmlns:a="http://schemas.openxmlformats.org/drawingml/2006/main">
            <a:srgbClr val="FEF3C7"/>
          </a:solidFill>
          <a:ln xmlns:a="http://schemas.openxmlformats.org/drawingml/2006/main" w="9525">
            <a:solidFill>
              <a:srgbClr val="B4530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275" b="1">
                <a:solidFill>
                  <a:srgbClr val="172033"/>
                </a:solidFill>
              </a:defRPr>
            </a:pPr>
            <a:r>
              <a:rPr sz="1275" b="1">
                <a:solidFill>
                  <a:srgbClr val="172033"/>
                </a:solidFill>
              </a:rPr>
              <a:t>Instructor move</a:t>
            </a:r>
          </a:p>
        </p:txBody>
      </p:sp>
      <p:sp>
        <p:nvSpPr>
          <p:cNvPr id="6" name="">
            <a:extLst xmlns:a="http://schemas.openxmlformats.org/drawingml/2006/main">
              <a:ext uri="{FF2B5EF4-FFF2-40B4-BE49-F238E27FC236}">
                <a16:creationId xmlns:a16="http://schemas.microsoft.com/office/drawing/2014/main" id="{76131A73-D2D3-4187-9770-1DEFF0179710}"/>
              </a:ext>
            </a:extLst>
          </p:cNvPr>
          <p:cNvSpPr>
            <a:spLocks xmlns:a="http://schemas.openxmlformats.org/drawingml/2006/main" noGrp="1"/>
          </p:cNvSpPr>
          <p:nvPr/>
        </p:nvSpPr>
        <p:spPr>
          <a:xfrm xmlns:a="http://schemas.openxmlformats.org/drawingml/2006/main">
            <a:off x="2628900" y="5381625"/>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Pause after each idea and ask students to connect it to the next step.</a:t>
            </a:r>
          </a:p>
        </p:txBody>
      </p:sp>
      <p:sp>
        <p:nvSpPr>
          <p:cNvPr id="7" name="">
            <a:extLst xmlns:a="http://schemas.openxmlformats.org/drawingml/2006/main">
              <a:ext uri="{FF2B5EF4-FFF2-40B4-BE49-F238E27FC236}">
                <a16:creationId xmlns:a16="http://schemas.microsoft.com/office/drawing/2014/main" id="{B7A65135-3B0D-4E1A-B526-FDFFF8B65980}"/>
              </a:ext>
            </a:extLst>
          </p:cNvPr>
          <p:cNvSpPr>
            <a:spLocks xmlns:a="http://schemas.openxmlformats.org/drawingml/2006/main" noGrp="1"/>
          </p:cNvSpPr>
          <p:nvPr/>
        </p:nvSpPr>
        <p:spPr>
          <a:xfrm xmlns:a="http://schemas.openxmlformats.org/drawingml/2006/main">
            <a:off x="1104900" y="2400300"/>
            <a:ext cx="1781175" cy="685800"/>
          </a:xfrm>
          <a:prstGeom xmlns:a="http://schemas.openxmlformats.org/drawingml/2006/main" prst="roundRect">
            <a:avLst>
              <a:gd name="adj" fmla="val 11111"/>
            </a:avLst>
          </a:prstGeom>
          <a:solidFill xmlns:a="http://schemas.openxmlformats.org/drawingml/2006/main">
            <a:srgbClr val="DBEAFE"/>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Input</a:t>
            </a:r>
          </a:p>
        </p:txBody>
      </p:sp>
      <p:sp>
        <p:nvSpPr>
          <p:cNvPr id="8" name="">
            <a:extLst xmlns:a="http://schemas.openxmlformats.org/drawingml/2006/main">
              <a:ext uri="{FF2B5EF4-FFF2-40B4-BE49-F238E27FC236}">
                <a16:creationId xmlns:a16="http://schemas.microsoft.com/office/drawing/2014/main" id="{3EA5529A-9BF9-4A30-93B2-51EC5BF35212}"/>
              </a:ext>
            </a:extLst>
          </p:cNvPr>
          <p:cNvSpPr>
            <a:spLocks xmlns:a="http://schemas.openxmlformats.org/drawingml/2006/main" noGrp="1"/>
          </p:cNvSpPr>
          <p:nvPr/>
        </p:nvSpPr>
        <p:spPr>
          <a:xfrm xmlns:a="http://schemas.openxmlformats.org/drawingml/2006/main">
            <a:off x="2933700" y="257175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5F6B7A"/>
                </a:solidFill>
              </a:defRPr>
            </a:pPr>
            <a:r>
              <a:rPr sz="2100" b="1">
                <a:solidFill>
                  <a:srgbClr val="5F6B7A"/>
                </a:solidFill>
              </a:rPr>
              <a:t>→</a:t>
            </a:r>
          </a:p>
        </p:txBody>
      </p:sp>
      <p:sp>
        <p:nvSpPr>
          <p:cNvPr id="9" name="">
            <a:extLst xmlns:a="http://schemas.openxmlformats.org/drawingml/2006/main">
              <a:ext uri="{FF2B5EF4-FFF2-40B4-BE49-F238E27FC236}">
                <a16:creationId xmlns:a16="http://schemas.microsoft.com/office/drawing/2014/main" id="{94AF0B0E-355C-42DA-812E-37A89695DC5B}"/>
              </a:ext>
            </a:extLst>
          </p:cNvPr>
          <p:cNvSpPr>
            <a:spLocks xmlns:a="http://schemas.openxmlformats.org/drawingml/2006/main" noGrp="1"/>
          </p:cNvSpPr>
          <p:nvPr/>
        </p:nvSpPr>
        <p:spPr>
          <a:xfrm xmlns:a="http://schemas.openxmlformats.org/drawingml/2006/main">
            <a:off x="3152775" y="2400300"/>
            <a:ext cx="1781175" cy="685800"/>
          </a:xfrm>
          <a:prstGeom xmlns:a="http://schemas.openxmlformats.org/drawingml/2006/main" prst="roundRect">
            <a:avLst>
              <a:gd name="adj" fmla="val 11111"/>
            </a:avLst>
          </a:prstGeom>
          <a:solidFill xmlns:a="http://schemas.openxmlformats.org/drawingml/2006/main">
            <a:srgbClr val="EDE9FE"/>
          </a:solidFill>
          <a:ln xmlns:a="http://schemas.openxmlformats.org/drawingml/2006/main" w="9525">
            <a:solidFill>
              <a:srgbClr val="6D28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System</a:t>
            </a:r>
          </a:p>
        </p:txBody>
      </p:sp>
      <p:sp>
        <p:nvSpPr>
          <p:cNvPr id="10" name="">
            <a:extLst xmlns:a="http://schemas.openxmlformats.org/drawingml/2006/main">
              <a:ext uri="{FF2B5EF4-FFF2-40B4-BE49-F238E27FC236}">
                <a16:creationId xmlns:a16="http://schemas.microsoft.com/office/drawing/2014/main" id="{985AB751-53FE-433B-AD35-B2D9579A32A9}"/>
              </a:ext>
            </a:extLst>
          </p:cNvPr>
          <p:cNvSpPr>
            <a:spLocks xmlns:a="http://schemas.openxmlformats.org/drawingml/2006/main" noGrp="1"/>
          </p:cNvSpPr>
          <p:nvPr/>
        </p:nvSpPr>
        <p:spPr>
          <a:xfrm xmlns:a="http://schemas.openxmlformats.org/drawingml/2006/main">
            <a:off x="4981575" y="257175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5F6B7A"/>
                </a:solidFill>
              </a:defRPr>
            </a:pPr>
            <a:r>
              <a:rPr sz="2100" b="1">
                <a:solidFill>
                  <a:srgbClr val="5F6B7A"/>
                </a:solidFill>
              </a:rPr>
              <a:t>→</a:t>
            </a:r>
          </a:p>
        </p:txBody>
      </p:sp>
      <p:sp>
        <p:nvSpPr>
          <p:cNvPr id="11" name="">
            <a:extLst xmlns:a="http://schemas.openxmlformats.org/drawingml/2006/main">
              <a:ext uri="{FF2B5EF4-FFF2-40B4-BE49-F238E27FC236}">
                <a16:creationId xmlns:a16="http://schemas.microsoft.com/office/drawing/2014/main" id="{31A5694B-2C54-484A-B574-5DE2EE8A6061}"/>
              </a:ext>
            </a:extLst>
          </p:cNvPr>
          <p:cNvSpPr>
            <a:spLocks xmlns:a="http://schemas.openxmlformats.org/drawingml/2006/main" noGrp="1"/>
          </p:cNvSpPr>
          <p:nvPr/>
        </p:nvSpPr>
        <p:spPr>
          <a:xfrm xmlns:a="http://schemas.openxmlformats.org/drawingml/2006/main">
            <a:off x="5200650" y="2400300"/>
            <a:ext cx="1781175" cy="685800"/>
          </a:xfrm>
          <a:prstGeom xmlns:a="http://schemas.openxmlformats.org/drawingml/2006/main" prst="roundRect">
            <a:avLst>
              <a:gd name="adj" fmla="val 11111"/>
            </a:avLst>
          </a:prstGeom>
          <a:solidFill xmlns:a="http://schemas.openxmlformats.org/drawingml/2006/main">
            <a:srgbClr val="DBEAFE"/>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Law</a:t>
            </a:r>
          </a:p>
        </p:txBody>
      </p:sp>
      <p:sp>
        <p:nvSpPr>
          <p:cNvPr id="12" name="">
            <a:extLst xmlns:a="http://schemas.openxmlformats.org/drawingml/2006/main">
              <a:ext uri="{FF2B5EF4-FFF2-40B4-BE49-F238E27FC236}">
                <a16:creationId xmlns:a16="http://schemas.microsoft.com/office/drawing/2014/main" id="{CB7BAE53-F02E-4732-AE88-00D644C37B47}"/>
              </a:ext>
            </a:extLst>
          </p:cNvPr>
          <p:cNvSpPr>
            <a:spLocks xmlns:a="http://schemas.openxmlformats.org/drawingml/2006/main" noGrp="1"/>
          </p:cNvSpPr>
          <p:nvPr/>
        </p:nvSpPr>
        <p:spPr>
          <a:xfrm xmlns:a="http://schemas.openxmlformats.org/drawingml/2006/main">
            <a:off x="7029450" y="257175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5F6B7A"/>
                </a:solidFill>
              </a:defRPr>
            </a:pPr>
            <a:r>
              <a:rPr sz="2100" b="1">
                <a:solidFill>
                  <a:srgbClr val="5F6B7A"/>
                </a:solidFill>
              </a:rPr>
              <a:t>→</a:t>
            </a:r>
          </a:p>
        </p:txBody>
      </p:sp>
      <p:sp>
        <p:nvSpPr>
          <p:cNvPr id="13" name="">
            <a:extLst xmlns:a="http://schemas.openxmlformats.org/drawingml/2006/main">
              <a:ext uri="{FF2B5EF4-FFF2-40B4-BE49-F238E27FC236}">
                <a16:creationId xmlns:a16="http://schemas.microsoft.com/office/drawing/2014/main" id="{230C9404-97C0-40DB-974C-7680EEAE84BB}"/>
              </a:ext>
            </a:extLst>
          </p:cNvPr>
          <p:cNvSpPr>
            <a:spLocks xmlns:a="http://schemas.openxmlformats.org/drawingml/2006/main" noGrp="1"/>
          </p:cNvSpPr>
          <p:nvPr/>
        </p:nvSpPr>
        <p:spPr>
          <a:xfrm xmlns:a="http://schemas.openxmlformats.org/drawingml/2006/main">
            <a:off x="7248525" y="2400300"/>
            <a:ext cx="1781175" cy="685800"/>
          </a:xfrm>
          <a:prstGeom xmlns:a="http://schemas.openxmlformats.org/drawingml/2006/main" prst="roundRect">
            <a:avLst>
              <a:gd name="adj" fmla="val 11111"/>
            </a:avLst>
          </a:prstGeom>
          <a:solidFill xmlns:a="http://schemas.openxmlformats.org/drawingml/2006/main">
            <a:srgbClr val="EDE9FE"/>
          </a:solidFill>
          <a:ln xmlns:a="http://schemas.openxmlformats.org/drawingml/2006/main" w="9525">
            <a:solidFill>
              <a:srgbClr val="6D28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Graph</a:t>
            </a:r>
          </a:p>
        </p:txBody>
      </p:sp>
      <p:sp>
        <p:nvSpPr>
          <p:cNvPr id="14" name="">
            <a:extLst xmlns:a="http://schemas.openxmlformats.org/drawingml/2006/main">
              <a:ext uri="{FF2B5EF4-FFF2-40B4-BE49-F238E27FC236}">
                <a16:creationId xmlns:a16="http://schemas.microsoft.com/office/drawing/2014/main" id="{55B5D37B-07B2-411F-A4B2-4ED3800DDA24}"/>
              </a:ext>
            </a:extLst>
          </p:cNvPr>
          <p:cNvSpPr>
            <a:spLocks xmlns:a="http://schemas.openxmlformats.org/drawingml/2006/main" noGrp="1"/>
          </p:cNvSpPr>
          <p:nvPr/>
        </p:nvSpPr>
        <p:spPr>
          <a:xfrm xmlns:a="http://schemas.openxmlformats.org/drawingml/2006/main">
            <a:off x="9077325" y="257175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5F6B7A"/>
                </a:solidFill>
              </a:defRPr>
            </a:pPr>
            <a:r>
              <a:rPr sz="2100" b="1">
                <a:solidFill>
                  <a:srgbClr val="5F6B7A"/>
                </a:solidFill>
              </a:rPr>
              <a:t>→</a:t>
            </a:r>
          </a:p>
        </p:txBody>
      </p:sp>
      <p:sp>
        <p:nvSpPr>
          <p:cNvPr id="15" name="">
            <a:extLst xmlns:a="http://schemas.openxmlformats.org/drawingml/2006/main">
              <a:ext uri="{FF2B5EF4-FFF2-40B4-BE49-F238E27FC236}">
                <a16:creationId xmlns:a16="http://schemas.microsoft.com/office/drawing/2014/main" id="{7C1D1124-58C7-44A4-B87A-23315F52D947}"/>
              </a:ext>
            </a:extLst>
          </p:cNvPr>
          <p:cNvSpPr>
            <a:spLocks xmlns:a="http://schemas.openxmlformats.org/drawingml/2006/main" noGrp="1"/>
          </p:cNvSpPr>
          <p:nvPr/>
        </p:nvSpPr>
        <p:spPr>
          <a:xfrm xmlns:a="http://schemas.openxmlformats.org/drawingml/2006/main">
            <a:off x="9296400" y="2400300"/>
            <a:ext cx="1781175" cy="685800"/>
          </a:xfrm>
          <a:prstGeom xmlns:a="http://schemas.openxmlformats.org/drawingml/2006/main" prst="roundRect">
            <a:avLst>
              <a:gd name="adj" fmla="val 11111"/>
            </a:avLst>
          </a:prstGeom>
          <a:solidFill xmlns:a="http://schemas.openxmlformats.org/drawingml/2006/main">
            <a:srgbClr val="DBEAFE"/>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Meaning</a:t>
            </a:r>
          </a:p>
        </p:txBody>
      </p:sp>
      <p:sp>
        <p:nvSpPr>
          <p:cNvPr id="16" name="">
            <a:extLst xmlns:a="http://schemas.openxmlformats.org/drawingml/2006/main">
              <a:ext uri="{FF2B5EF4-FFF2-40B4-BE49-F238E27FC236}">
                <a16:creationId xmlns:a16="http://schemas.microsoft.com/office/drawing/2014/main" id="{347AEBC6-18C2-48E2-A174-19287A5A94F8}"/>
              </a:ext>
            </a:extLst>
          </p:cNvPr>
          <p:cNvSpPr>
            <a:spLocks xmlns:a="http://schemas.openxmlformats.org/drawingml/2006/main" noGrp="1"/>
          </p:cNvSpPr>
          <p:nvPr/>
        </p:nvSpPr>
        <p:spPr>
          <a:xfrm xmlns:a="http://schemas.openxmlformats.org/drawingml/2006/main">
            <a:off x="7067550" y="390525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72033"/>
                </a:solidFill>
              </a:defRPr>
            </a:pPr>
            <a:r>
              <a:rPr sz="1800" b="1">
                <a:solidFill>
                  <a:srgbClr val="172033"/>
                </a:solidFill>
              </a:rPr>
              <a:t>Observe → model → calculate → interpret</a:t>
            </a:r>
          </a:p>
        </p:txBody>
      </p:sp>
      <p:sp>
        <p:nvSpPr>
          <p:cNvPr id="17" name="">
            <a:extLst xmlns:a="http://schemas.openxmlformats.org/drawingml/2006/main">
              <a:ext uri="{FF2B5EF4-FFF2-40B4-BE49-F238E27FC236}">
                <a16:creationId xmlns:a16="http://schemas.microsoft.com/office/drawing/2014/main" id="{AD634284-F066-4E81-B582-D74757FF4190}"/>
              </a:ext>
            </a:extLst>
          </p:cNvPr>
          <p:cNvSpPr>
            <a:spLocks xmlns:a="http://schemas.openxmlformats.org/drawingml/2006/main" noGrp="1"/>
          </p:cNvSpPr>
          <p:nvPr/>
        </p:nvSpPr>
        <p:spPr>
          <a:xfrm xmlns:a="http://schemas.openxmlformats.org/drawingml/2006/main">
            <a:off x="609600" y="65341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5F6B7A"/>
                </a:solidFill>
              </a:defRPr>
            </a:pPr>
            <a:r>
              <a:rPr sz="825" b="0">
                <a:solidFill>
                  <a:srgbClr val="5F6B7A"/>
                </a:solidFill>
              </a:rPr>
              <a:t>Basics of Electrical Engineering | 1BBEE105/205</a:t>
            </a:r>
          </a:p>
        </p:txBody>
      </p:sp>
      <p:sp>
        <p:nvSpPr>
          <p:cNvPr id="18" name="">
            <a:extLst xmlns:a="http://schemas.openxmlformats.org/drawingml/2006/main">
              <a:ext uri="{FF2B5EF4-FFF2-40B4-BE49-F238E27FC236}">
                <a16:creationId xmlns:a16="http://schemas.microsoft.com/office/drawing/2014/main" id="{D3BAABF4-548A-4103-B599-8D9987A8C008}"/>
              </a:ext>
            </a:extLst>
          </p:cNvPr>
          <p:cNvSpPr>
            <a:spLocks xmlns:a="http://schemas.openxmlformats.org/drawingml/2006/main" noGrp="1"/>
          </p:cNvSpPr>
          <p:nvPr/>
        </p:nvSpPr>
        <p:spPr>
          <a:xfrm xmlns:a="http://schemas.openxmlformats.org/drawingml/2006/main">
            <a:off x="9867900" y="65341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5F6B7A"/>
                </a:solidFill>
              </a:defRPr>
            </a:pPr>
            <a:r>
              <a:rPr sz="825" b="0">
                <a:solidFill>
                  <a:srgbClr val="5F6B7A"/>
                </a:solidFill>
              </a:rPr>
              <a:t>Module 4 | 4/9</a:t>
            </a:r>
          </a:p>
        </p:txBody>
      </p:sp>
    </p:spTree>
    <p:extLst>
      <p:ext uri="{BB962C8B-B14F-4D97-AF65-F5344CB8AC3E}">
        <p14:creationId xmlns:p14="http://schemas.microsoft.com/office/powerpoint/2010/main" val="243204998"/>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BD09DD0-8BFC-4147-BB58-191DC2426502}"/>
              </a:ext>
            </a:extLst>
          </p:cNvPr>
          <p:cNvSpPr>
            <a:spLocks xmlns:a="http://schemas.openxmlformats.org/drawingml/2006/main" noGrp="1"/>
          </p:cNvSpPr>
          <p:nvPr/>
        </p:nvSpPr>
        <p:spPr>
          <a:xfrm xmlns:a="http://schemas.openxmlformats.org/drawingml/2006/main">
            <a:off x="609600" y="247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D28D9"/>
                </a:solidFill>
              </a:defRPr>
            </a:pPr>
            <a:r>
              <a:rPr sz="975" b="1">
                <a:solidFill>
                  <a:srgbClr val="6D28D9"/>
                </a:solidFill>
              </a:rPr>
              <a:t>1BBEE105/205 | Module 4</a:t>
            </a:r>
          </a:p>
        </p:txBody>
      </p:sp>
      <p:sp>
        <p:nvSpPr>
          <p:cNvPr id="2" name="">
            <a:extLst xmlns:a="http://schemas.openxmlformats.org/drawingml/2006/main">
              <a:ext uri="{FF2B5EF4-FFF2-40B4-BE49-F238E27FC236}">
                <a16:creationId xmlns:a16="http://schemas.microsoft.com/office/drawing/2014/main" id="{727CD0BE-D81D-4A12-9766-19296E5467D5}"/>
              </a:ext>
            </a:extLst>
          </p:cNvPr>
          <p:cNvSpPr>
            <a:spLocks xmlns:a="http://schemas.openxmlformats.org/drawingml/2006/main" noGrp="1"/>
          </p:cNvSpPr>
          <p:nvPr/>
        </p:nvSpPr>
        <p:spPr>
          <a:xfrm xmlns:a="http://schemas.openxmlformats.org/drawingml/2006/main">
            <a:off x="609600" y="5524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72033"/>
                </a:solidFill>
              </a:defRPr>
            </a:pPr>
            <a:r>
              <a:rPr sz="2625" b="1">
                <a:solidFill>
                  <a:srgbClr val="172033"/>
                </a:solidFill>
              </a:rPr>
              <a:t>Working model</a:t>
            </a:r>
          </a:p>
        </p:txBody>
      </p:sp>
      <p:sp>
        <p:nvSpPr>
          <p:cNvPr id="3" name="">
            <a:extLst xmlns:a="http://schemas.openxmlformats.org/drawingml/2006/main">
              <a:ext uri="{FF2B5EF4-FFF2-40B4-BE49-F238E27FC236}">
                <a16:creationId xmlns:a16="http://schemas.microsoft.com/office/drawing/2014/main" id="{95F84E52-EDCD-49F7-AF9F-407E8EDFE0DD}"/>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7DEE8"/>
          </a:solidFill>
          <a:ln xmlns:a="http://schemas.openxmlformats.org/drawingml/2006/main" w="0">
            <a:solidFill>
              <a:srgbClr val="D7DEE8"/>
            </a:solidFill>
            <a:prstDash val="solid"/>
          </a:ln>
        </p:spPr>
      </p:sp>
      <p:sp>
        <p:nvSpPr>
          <p:cNvPr id="4" name="">
            <a:extLst xmlns:a="http://schemas.openxmlformats.org/drawingml/2006/main">
              <a:ext uri="{FF2B5EF4-FFF2-40B4-BE49-F238E27FC236}">
                <a16:creationId xmlns:a16="http://schemas.microsoft.com/office/drawing/2014/main" id="{6341FE5A-32B2-46F4-AFEE-B1CDDAC7EA00}"/>
              </a:ext>
            </a:extLst>
          </p:cNvPr>
          <p:cNvSpPr>
            <a:spLocks xmlns:a="http://schemas.openxmlformats.org/drawingml/2006/main" noGrp="1"/>
          </p:cNvSpPr>
          <p:nvPr/>
        </p:nvSpPr>
        <p:spPr>
          <a:xfrm xmlns:a="http://schemas.openxmlformats.org/drawingml/2006/main">
            <a:off x="1104900" y="1695450"/>
            <a:ext cx="1781175" cy="685800"/>
          </a:xfrm>
          <a:prstGeom xmlns:a="http://schemas.openxmlformats.org/drawingml/2006/main" prst="roundRect">
            <a:avLst>
              <a:gd name="adj" fmla="val 11111"/>
            </a:avLst>
          </a:prstGeom>
          <a:solidFill xmlns:a="http://schemas.openxmlformats.org/drawingml/2006/main">
            <a:srgbClr val="DBEAFE"/>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Input condition</a:t>
            </a:r>
          </a:p>
        </p:txBody>
      </p:sp>
      <p:sp>
        <p:nvSpPr>
          <p:cNvPr id="5" name="">
            <a:extLst xmlns:a="http://schemas.openxmlformats.org/drawingml/2006/main">
              <a:ext uri="{FF2B5EF4-FFF2-40B4-BE49-F238E27FC236}">
                <a16:creationId xmlns:a16="http://schemas.microsoft.com/office/drawing/2014/main" id="{52D10EBE-5F1E-4A05-9958-4286D0D3D8A4}"/>
              </a:ext>
            </a:extLst>
          </p:cNvPr>
          <p:cNvSpPr>
            <a:spLocks xmlns:a="http://schemas.openxmlformats.org/drawingml/2006/main" noGrp="1"/>
          </p:cNvSpPr>
          <p:nvPr/>
        </p:nvSpPr>
        <p:spPr>
          <a:xfrm xmlns:a="http://schemas.openxmlformats.org/drawingml/2006/main">
            <a:off x="2933700" y="18669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5F6B7A"/>
                </a:solidFill>
              </a:defRPr>
            </a:pPr>
            <a:r>
              <a:rPr sz="2100" b="1">
                <a:solidFill>
                  <a:srgbClr val="5F6B7A"/>
                </a:solidFill>
              </a:rPr>
              <a:t>→</a:t>
            </a:r>
          </a:p>
        </p:txBody>
      </p:sp>
      <p:sp>
        <p:nvSpPr>
          <p:cNvPr id="6" name="">
            <a:extLst xmlns:a="http://schemas.openxmlformats.org/drawingml/2006/main">
              <a:ext uri="{FF2B5EF4-FFF2-40B4-BE49-F238E27FC236}">
                <a16:creationId xmlns:a16="http://schemas.microsoft.com/office/drawing/2014/main" id="{5010DE77-12B3-4791-8220-2103828E533F}"/>
              </a:ext>
            </a:extLst>
          </p:cNvPr>
          <p:cNvSpPr>
            <a:spLocks xmlns:a="http://schemas.openxmlformats.org/drawingml/2006/main" noGrp="1"/>
          </p:cNvSpPr>
          <p:nvPr/>
        </p:nvSpPr>
        <p:spPr>
          <a:xfrm xmlns:a="http://schemas.openxmlformats.org/drawingml/2006/main">
            <a:off x="3152775" y="1695450"/>
            <a:ext cx="1781175" cy="685800"/>
          </a:xfrm>
          <a:prstGeom xmlns:a="http://schemas.openxmlformats.org/drawingml/2006/main" prst="roundRect">
            <a:avLst>
              <a:gd name="adj" fmla="val 11111"/>
            </a:avLst>
          </a:prstGeom>
          <a:solidFill xmlns:a="http://schemas.openxmlformats.org/drawingml/2006/main">
            <a:srgbClr val="EDE9FE"/>
          </a:solidFill>
          <a:ln xmlns:a="http://schemas.openxmlformats.org/drawingml/2006/main" w="9525">
            <a:solidFill>
              <a:srgbClr val="6D28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Principle</a:t>
            </a:r>
          </a:p>
        </p:txBody>
      </p:sp>
      <p:sp>
        <p:nvSpPr>
          <p:cNvPr id="7" name="">
            <a:extLst xmlns:a="http://schemas.openxmlformats.org/drawingml/2006/main">
              <a:ext uri="{FF2B5EF4-FFF2-40B4-BE49-F238E27FC236}">
                <a16:creationId xmlns:a16="http://schemas.microsoft.com/office/drawing/2014/main" id="{927EBEED-CDDF-46B9-98F8-CC6AB0082963}"/>
              </a:ext>
            </a:extLst>
          </p:cNvPr>
          <p:cNvSpPr>
            <a:spLocks xmlns:a="http://schemas.openxmlformats.org/drawingml/2006/main" noGrp="1"/>
          </p:cNvSpPr>
          <p:nvPr/>
        </p:nvSpPr>
        <p:spPr>
          <a:xfrm xmlns:a="http://schemas.openxmlformats.org/drawingml/2006/main">
            <a:off x="4981575" y="18669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5F6B7A"/>
                </a:solidFill>
              </a:defRPr>
            </a:pPr>
            <a:r>
              <a:rPr sz="2100" b="1">
                <a:solidFill>
                  <a:srgbClr val="5F6B7A"/>
                </a:solidFill>
              </a:rPr>
              <a:t>→</a:t>
            </a:r>
          </a:p>
        </p:txBody>
      </p:sp>
      <p:sp>
        <p:nvSpPr>
          <p:cNvPr id="8" name="">
            <a:extLst xmlns:a="http://schemas.openxmlformats.org/drawingml/2006/main">
              <a:ext uri="{FF2B5EF4-FFF2-40B4-BE49-F238E27FC236}">
                <a16:creationId xmlns:a16="http://schemas.microsoft.com/office/drawing/2014/main" id="{BB4A00AE-8A00-4A52-8BB8-B62932D712D8}"/>
              </a:ext>
            </a:extLst>
          </p:cNvPr>
          <p:cNvSpPr>
            <a:spLocks xmlns:a="http://schemas.openxmlformats.org/drawingml/2006/main" noGrp="1"/>
          </p:cNvSpPr>
          <p:nvPr/>
        </p:nvSpPr>
        <p:spPr>
          <a:xfrm xmlns:a="http://schemas.openxmlformats.org/drawingml/2006/main">
            <a:off x="5200650" y="1695450"/>
            <a:ext cx="1781175" cy="685800"/>
          </a:xfrm>
          <a:prstGeom xmlns:a="http://schemas.openxmlformats.org/drawingml/2006/main" prst="roundRect">
            <a:avLst>
              <a:gd name="adj" fmla="val 11111"/>
            </a:avLst>
          </a:prstGeom>
          <a:solidFill xmlns:a="http://schemas.openxmlformats.org/drawingml/2006/main">
            <a:srgbClr val="DBEAFE"/>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Process</a:t>
            </a:r>
          </a:p>
        </p:txBody>
      </p:sp>
      <p:sp>
        <p:nvSpPr>
          <p:cNvPr id="9" name="">
            <a:extLst xmlns:a="http://schemas.openxmlformats.org/drawingml/2006/main">
              <a:ext uri="{FF2B5EF4-FFF2-40B4-BE49-F238E27FC236}">
                <a16:creationId xmlns:a16="http://schemas.microsoft.com/office/drawing/2014/main" id="{8B1200BF-6C30-4DD5-BCC8-48569DF1FA97}"/>
              </a:ext>
            </a:extLst>
          </p:cNvPr>
          <p:cNvSpPr>
            <a:spLocks xmlns:a="http://schemas.openxmlformats.org/drawingml/2006/main" noGrp="1"/>
          </p:cNvSpPr>
          <p:nvPr/>
        </p:nvSpPr>
        <p:spPr>
          <a:xfrm xmlns:a="http://schemas.openxmlformats.org/drawingml/2006/main">
            <a:off x="7029450" y="18669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5F6B7A"/>
                </a:solidFill>
              </a:defRPr>
            </a:pPr>
            <a:r>
              <a:rPr sz="2100" b="1">
                <a:solidFill>
                  <a:srgbClr val="5F6B7A"/>
                </a:solidFill>
              </a:rPr>
              <a:t>→</a:t>
            </a:r>
          </a:p>
        </p:txBody>
      </p:sp>
      <p:sp>
        <p:nvSpPr>
          <p:cNvPr id="10" name="">
            <a:extLst xmlns:a="http://schemas.openxmlformats.org/drawingml/2006/main">
              <a:ext uri="{FF2B5EF4-FFF2-40B4-BE49-F238E27FC236}">
                <a16:creationId xmlns:a16="http://schemas.microsoft.com/office/drawing/2014/main" id="{F320E67B-652D-4BCA-ABFF-A837BF263A4B}"/>
              </a:ext>
            </a:extLst>
          </p:cNvPr>
          <p:cNvSpPr>
            <a:spLocks xmlns:a="http://schemas.openxmlformats.org/drawingml/2006/main" noGrp="1"/>
          </p:cNvSpPr>
          <p:nvPr/>
        </p:nvSpPr>
        <p:spPr>
          <a:xfrm xmlns:a="http://schemas.openxmlformats.org/drawingml/2006/main">
            <a:off x="7248525" y="1695450"/>
            <a:ext cx="1781175" cy="685800"/>
          </a:xfrm>
          <a:prstGeom xmlns:a="http://schemas.openxmlformats.org/drawingml/2006/main" prst="roundRect">
            <a:avLst>
              <a:gd name="adj" fmla="val 11111"/>
            </a:avLst>
          </a:prstGeom>
          <a:solidFill xmlns:a="http://schemas.openxmlformats.org/drawingml/2006/main">
            <a:srgbClr val="EDE9FE"/>
          </a:solidFill>
          <a:ln xmlns:a="http://schemas.openxmlformats.org/drawingml/2006/main" w="9525">
            <a:solidFill>
              <a:srgbClr val="6D28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Observation</a:t>
            </a:r>
          </a:p>
        </p:txBody>
      </p:sp>
      <p:sp>
        <p:nvSpPr>
          <p:cNvPr id="11" name="">
            <a:extLst xmlns:a="http://schemas.openxmlformats.org/drawingml/2006/main">
              <a:ext uri="{FF2B5EF4-FFF2-40B4-BE49-F238E27FC236}">
                <a16:creationId xmlns:a16="http://schemas.microsoft.com/office/drawing/2014/main" id="{2F00AF95-AF1D-4084-966F-865AA2E56CD6}"/>
              </a:ext>
            </a:extLst>
          </p:cNvPr>
          <p:cNvSpPr>
            <a:spLocks xmlns:a="http://schemas.openxmlformats.org/drawingml/2006/main" noGrp="1"/>
          </p:cNvSpPr>
          <p:nvPr/>
        </p:nvSpPr>
        <p:spPr>
          <a:xfrm xmlns:a="http://schemas.openxmlformats.org/drawingml/2006/main">
            <a:off x="9077325" y="186690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5F6B7A"/>
                </a:solidFill>
              </a:defRPr>
            </a:pPr>
            <a:r>
              <a:rPr sz="2100" b="1">
                <a:solidFill>
                  <a:srgbClr val="5F6B7A"/>
                </a:solidFill>
              </a:rPr>
              <a:t>→</a:t>
            </a:r>
          </a:p>
        </p:txBody>
      </p:sp>
      <p:sp>
        <p:nvSpPr>
          <p:cNvPr id="12" name="">
            <a:extLst xmlns:a="http://schemas.openxmlformats.org/drawingml/2006/main">
              <a:ext uri="{FF2B5EF4-FFF2-40B4-BE49-F238E27FC236}">
                <a16:creationId xmlns:a16="http://schemas.microsoft.com/office/drawing/2014/main" id="{36065E83-500D-4DC7-9273-C5C7341A057B}"/>
              </a:ext>
            </a:extLst>
          </p:cNvPr>
          <p:cNvSpPr>
            <a:spLocks xmlns:a="http://schemas.openxmlformats.org/drawingml/2006/main" noGrp="1"/>
          </p:cNvSpPr>
          <p:nvPr/>
        </p:nvSpPr>
        <p:spPr>
          <a:xfrm xmlns:a="http://schemas.openxmlformats.org/drawingml/2006/main">
            <a:off x="9296400" y="1695450"/>
            <a:ext cx="1781175" cy="685800"/>
          </a:xfrm>
          <a:prstGeom xmlns:a="http://schemas.openxmlformats.org/drawingml/2006/main" prst="roundRect">
            <a:avLst>
              <a:gd name="adj" fmla="val 11111"/>
            </a:avLst>
          </a:prstGeom>
          <a:solidFill xmlns:a="http://schemas.openxmlformats.org/drawingml/2006/main">
            <a:srgbClr val="DBEAFE"/>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Interpretation</a:t>
            </a:r>
          </a:p>
        </p:txBody>
      </p:sp>
      <p:sp>
        <p:nvSpPr>
          <p:cNvPr id="13" name="">
            <a:extLst xmlns:a="http://schemas.openxmlformats.org/drawingml/2006/main">
              <a:ext uri="{FF2B5EF4-FFF2-40B4-BE49-F238E27FC236}">
                <a16:creationId xmlns:a16="http://schemas.microsoft.com/office/drawing/2014/main" id="{93375386-6764-4B08-A53F-E2C62F086213}"/>
              </a:ext>
            </a:extLst>
          </p:cNvPr>
          <p:cNvSpPr>
            <a:spLocks xmlns:a="http://schemas.openxmlformats.org/drawingml/2006/main" noGrp="1"/>
          </p:cNvSpPr>
          <p:nvPr/>
        </p:nvSpPr>
        <p:spPr>
          <a:xfrm xmlns:a="http://schemas.openxmlformats.org/drawingml/2006/main">
            <a:off x="1085850" y="3924300"/>
            <a:ext cx="9334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 Use the syllabus terms while solving; do not answer only with the final result.</a:t>
            </a:r>
          </a:p>
          <a:p xmlns:a="http://schemas.openxmlformats.org/drawingml/2006/main">
            <a:pPr algn="l">
              <a:defRPr sz="1500" b="0">
                <a:solidFill>
                  <a:srgbClr val="172033"/>
                </a:solidFill>
              </a:defRPr>
            </a:pPr>
            <a:r>
              <a:rPr sz="1500" b="0">
                <a:solidFill>
                  <a:srgbClr val="172033"/>
                </a:solidFill>
              </a:rPr>
              <a:t>• Show intermediate reasoning so students can locate the step where mistakes enter.</a:t>
            </a:r>
          </a:p>
          <a:p xmlns:a="http://schemas.openxmlformats.org/drawingml/2006/main">
            <a:pPr algn="l">
              <a:defRPr sz="1500" b="0">
                <a:solidFill>
                  <a:srgbClr val="172033"/>
                </a:solidFill>
              </a:defRPr>
            </a:pPr>
            <a:r>
              <a:rPr sz="1500" b="0">
                <a:solidFill>
                  <a:srgbClr val="172033"/>
                </a:solidFill>
              </a:rPr>
              <a:t>• Close the example by explaining what the result means in engineering or professional practice.</a:t>
            </a:r>
          </a:p>
        </p:txBody>
      </p:sp>
      <p:sp>
        <p:nvSpPr>
          <p:cNvPr id="14" name="">
            <a:extLst xmlns:a="http://schemas.openxmlformats.org/drawingml/2006/main">
              <a:ext uri="{FF2B5EF4-FFF2-40B4-BE49-F238E27FC236}">
                <a16:creationId xmlns:a16="http://schemas.microsoft.com/office/drawing/2014/main" id="{719CB896-2622-48B5-A23A-D2441058FCCF}"/>
              </a:ext>
            </a:extLst>
          </p:cNvPr>
          <p:cNvSpPr>
            <a:spLocks xmlns:a="http://schemas.openxmlformats.org/drawingml/2006/main" noGrp="1"/>
          </p:cNvSpPr>
          <p:nvPr/>
        </p:nvSpPr>
        <p:spPr>
          <a:xfrm xmlns:a="http://schemas.openxmlformats.org/drawingml/2006/main">
            <a:off x="609600" y="65341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5F6B7A"/>
                </a:solidFill>
              </a:defRPr>
            </a:pPr>
            <a:r>
              <a:rPr sz="825" b="0">
                <a:solidFill>
                  <a:srgbClr val="5F6B7A"/>
                </a:solidFill>
              </a:rPr>
              <a:t>Basics of Electrical Engineering | 1BBEE105/205</a:t>
            </a:r>
          </a:p>
        </p:txBody>
      </p:sp>
      <p:sp>
        <p:nvSpPr>
          <p:cNvPr id="15" name="">
            <a:extLst xmlns:a="http://schemas.openxmlformats.org/drawingml/2006/main">
              <a:ext uri="{FF2B5EF4-FFF2-40B4-BE49-F238E27FC236}">
                <a16:creationId xmlns:a16="http://schemas.microsoft.com/office/drawing/2014/main" id="{7C7EE479-3E79-4368-B28E-77023492DEE0}"/>
              </a:ext>
            </a:extLst>
          </p:cNvPr>
          <p:cNvSpPr>
            <a:spLocks xmlns:a="http://schemas.openxmlformats.org/drawingml/2006/main" noGrp="1"/>
          </p:cNvSpPr>
          <p:nvPr/>
        </p:nvSpPr>
        <p:spPr>
          <a:xfrm xmlns:a="http://schemas.openxmlformats.org/drawingml/2006/main">
            <a:off x="9867900" y="65341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5F6B7A"/>
                </a:solidFill>
              </a:defRPr>
            </a:pPr>
            <a:r>
              <a:rPr sz="825" b="0">
                <a:solidFill>
                  <a:srgbClr val="5F6B7A"/>
                </a:solidFill>
              </a:rPr>
              <a:t>Module 4 | 5/9</a:t>
            </a:r>
          </a:p>
        </p:txBody>
      </p:sp>
    </p:spTree>
    <p:extLst>
      <p:ext uri="{BB962C8B-B14F-4D97-AF65-F5344CB8AC3E}">
        <p14:creationId xmlns:p14="http://schemas.microsoft.com/office/powerpoint/2010/main" val="1109722381"/>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516447-C0FE-4B1B-8884-30F66EEBF749}"/>
              </a:ext>
            </a:extLst>
          </p:cNvPr>
          <p:cNvSpPr>
            <a:spLocks xmlns:a="http://schemas.openxmlformats.org/drawingml/2006/main" noGrp="1"/>
          </p:cNvSpPr>
          <p:nvPr/>
        </p:nvSpPr>
        <p:spPr>
          <a:xfrm xmlns:a="http://schemas.openxmlformats.org/drawingml/2006/main">
            <a:off x="609600" y="247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D28D9"/>
                </a:solidFill>
              </a:defRPr>
            </a:pPr>
            <a:r>
              <a:rPr sz="975" b="1">
                <a:solidFill>
                  <a:srgbClr val="6D28D9"/>
                </a:solidFill>
              </a:rPr>
              <a:t>1BBEE105/205 | Module 4</a:t>
            </a:r>
          </a:p>
        </p:txBody>
      </p:sp>
      <p:sp>
        <p:nvSpPr>
          <p:cNvPr id="2" name="">
            <a:extLst xmlns:a="http://schemas.openxmlformats.org/drawingml/2006/main">
              <a:ext uri="{FF2B5EF4-FFF2-40B4-BE49-F238E27FC236}">
                <a16:creationId xmlns:a16="http://schemas.microsoft.com/office/drawing/2014/main" id="{17EBC4E3-0E9C-4085-88CB-6A1FA30874CF}"/>
              </a:ext>
            </a:extLst>
          </p:cNvPr>
          <p:cNvSpPr>
            <a:spLocks xmlns:a="http://schemas.openxmlformats.org/drawingml/2006/main" noGrp="1"/>
          </p:cNvSpPr>
          <p:nvPr/>
        </p:nvSpPr>
        <p:spPr>
          <a:xfrm xmlns:a="http://schemas.openxmlformats.org/drawingml/2006/main">
            <a:off x="609600" y="5524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72033"/>
                </a:solidFill>
              </a:defRPr>
            </a:pPr>
            <a:r>
              <a:rPr sz="2625" b="1">
                <a:solidFill>
                  <a:srgbClr val="172033"/>
                </a:solidFill>
              </a:rPr>
              <a:t>Classroom example</a:t>
            </a:r>
          </a:p>
        </p:txBody>
      </p:sp>
      <p:sp>
        <p:nvSpPr>
          <p:cNvPr id="3" name="">
            <a:extLst xmlns:a="http://schemas.openxmlformats.org/drawingml/2006/main">
              <a:ext uri="{FF2B5EF4-FFF2-40B4-BE49-F238E27FC236}">
                <a16:creationId xmlns:a16="http://schemas.microsoft.com/office/drawing/2014/main" id="{57789FB4-384D-444A-B96C-1E9AF977A64C}"/>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7DEE8"/>
          </a:solidFill>
          <a:ln xmlns:a="http://schemas.openxmlformats.org/drawingml/2006/main" w="0">
            <a:solidFill>
              <a:srgbClr val="D7DEE8"/>
            </a:solidFill>
            <a:prstDash val="solid"/>
          </a:ln>
        </p:spPr>
      </p:sp>
      <p:sp>
        <p:nvSpPr>
          <p:cNvPr id="4" name="">
            <a:extLst xmlns:a="http://schemas.openxmlformats.org/drawingml/2006/main">
              <a:ext uri="{FF2B5EF4-FFF2-40B4-BE49-F238E27FC236}">
                <a16:creationId xmlns:a16="http://schemas.microsoft.com/office/drawing/2014/main" id="{2612E566-16D5-492E-96ED-DDE6036EF99A}"/>
              </a:ext>
            </a:extLst>
          </p:cNvPr>
          <p:cNvSpPr>
            <a:spLocks xmlns:a="http://schemas.openxmlformats.org/drawingml/2006/main" noGrp="1"/>
          </p:cNvSpPr>
          <p:nvPr/>
        </p:nvSpPr>
        <p:spPr>
          <a:xfrm xmlns:a="http://schemas.openxmlformats.org/drawingml/2006/main">
            <a:off x="819150" y="1600200"/>
            <a:ext cx="2286000" cy="457200"/>
          </a:xfrm>
          <a:prstGeom xmlns:a="http://schemas.openxmlformats.org/drawingml/2006/main" prst="roundRect">
            <a:avLst>
              <a:gd name="adj" fmla="val 16667"/>
            </a:avLst>
          </a:prstGeom>
          <a:solidFill xmlns:a="http://schemas.openxmlformats.org/drawingml/2006/main">
            <a:srgbClr val="DBEAFE"/>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350" b="1">
                <a:solidFill>
                  <a:srgbClr val="172033"/>
                </a:solidFill>
              </a:defRPr>
            </a:pPr>
            <a:r>
              <a:rPr sz="1350" b="1">
                <a:solidFill>
                  <a:srgbClr val="172033"/>
                </a:solidFill>
              </a:rPr>
              <a:t>Example prompt</a:t>
            </a:r>
          </a:p>
        </p:txBody>
      </p:sp>
      <p:sp>
        <p:nvSpPr>
          <p:cNvPr id="5" name="">
            <a:extLst xmlns:a="http://schemas.openxmlformats.org/drawingml/2006/main">
              <a:ext uri="{FF2B5EF4-FFF2-40B4-BE49-F238E27FC236}">
                <a16:creationId xmlns:a16="http://schemas.microsoft.com/office/drawing/2014/main" id="{F48CC1A9-8139-4843-8278-BE2C1739797D}"/>
              </a:ext>
            </a:extLst>
          </p:cNvPr>
          <p:cNvSpPr>
            <a:spLocks xmlns:a="http://schemas.openxmlformats.org/drawingml/2006/main" noGrp="1"/>
          </p:cNvSpPr>
          <p:nvPr/>
        </p:nvSpPr>
        <p:spPr>
          <a:xfrm xmlns:a="http://schemas.openxmlformats.org/drawingml/2006/main">
            <a:off x="3390900" y="1562100"/>
            <a:ext cx="723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033"/>
                </a:solidFill>
              </a:defRPr>
            </a:pPr>
            <a:r>
              <a:rPr sz="1725" b="1">
                <a:solidFill>
                  <a:srgbClr val="172033"/>
                </a:solidFill>
              </a:rPr>
              <a:t>Three- phase Circuits:</a:t>
            </a:r>
          </a:p>
        </p:txBody>
      </p:sp>
      <p:sp>
        <p:nvSpPr>
          <p:cNvPr id="6" name="">
            <a:extLst xmlns:a="http://schemas.openxmlformats.org/drawingml/2006/main">
              <a:ext uri="{FF2B5EF4-FFF2-40B4-BE49-F238E27FC236}">
                <a16:creationId xmlns:a16="http://schemas.microsoft.com/office/drawing/2014/main" id="{4875E26F-2A10-4D88-8CE9-11A35F31B700}"/>
              </a:ext>
            </a:extLst>
          </p:cNvPr>
          <p:cNvSpPr>
            <a:spLocks xmlns:a="http://schemas.openxmlformats.org/drawingml/2006/main" noGrp="1"/>
          </p:cNvSpPr>
          <p:nvPr/>
        </p:nvSpPr>
        <p:spPr>
          <a:xfrm xmlns:a="http://schemas.openxmlformats.org/drawingml/2006/main">
            <a:off x="1123950" y="2609850"/>
            <a:ext cx="8953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033"/>
                </a:solidFill>
              </a:defRPr>
            </a:pPr>
            <a:r>
              <a:rPr sz="1575" b="0">
                <a:solidFill>
                  <a:srgbClr val="172033"/>
                </a:solidFill>
              </a:rPr>
              <a:t>• Identify the relevant concept: Three</a:t>
            </a:r>
          </a:p>
          <a:p xmlns:a="http://schemas.openxmlformats.org/drawingml/2006/main">
            <a:pPr algn="l">
              <a:defRPr sz="1575" b="0">
                <a:solidFill>
                  <a:srgbClr val="172033"/>
                </a:solidFill>
              </a:defRPr>
            </a:pPr>
            <a:r>
              <a:rPr sz="1575" b="0">
                <a:solidFill>
                  <a:srgbClr val="172033"/>
                </a:solidFill>
              </a:rPr>
              <a:t>• State the rule or principle using syllabus language.</a:t>
            </a:r>
          </a:p>
          <a:p xmlns:a="http://schemas.openxmlformats.org/drawingml/2006/main">
            <a:pPr algn="l">
              <a:defRPr sz="1575" b="0">
                <a:solidFill>
                  <a:srgbClr val="172033"/>
                </a:solidFill>
              </a:defRPr>
            </a:pPr>
            <a:r>
              <a:rPr sz="1575" b="0">
                <a:solidFill>
                  <a:srgbClr val="172033"/>
                </a:solidFill>
              </a:rPr>
              <a:t>• Work through one small case visibly on the board.</a:t>
            </a:r>
          </a:p>
          <a:p xmlns:a="http://schemas.openxmlformats.org/drawingml/2006/main">
            <a:pPr algn="l">
              <a:defRPr sz="1575" b="0">
                <a:solidFill>
                  <a:srgbClr val="172033"/>
                </a:solidFill>
              </a:defRPr>
            </a:pPr>
            <a:r>
              <a:rPr sz="1575" b="0">
                <a:solidFill>
                  <a:srgbClr val="172033"/>
                </a:solidFill>
              </a:rPr>
              <a:t>• Ask students which assumption would change the answer.</a:t>
            </a:r>
          </a:p>
        </p:txBody>
      </p:sp>
      <p:sp>
        <p:nvSpPr>
          <p:cNvPr id="7" name="">
            <a:extLst xmlns:a="http://schemas.openxmlformats.org/drawingml/2006/main">
              <a:ext uri="{FF2B5EF4-FFF2-40B4-BE49-F238E27FC236}">
                <a16:creationId xmlns:a16="http://schemas.microsoft.com/office/drawing/2014/main" id="{354E347C-9259-4B60-81BA-CA9870B18E88}"/>
              </a:ext>
            </a:extLst>
          </p:cNvPr>
          <p:cNvSpPr>
            <a:spLocks xmlns:a="http://schemas.openxmlformats.org/drawingml/2006/main" noGrp="1"/>
          </p:cNvSpPr>
          <p:nvPr/>
        </p:nvSpPr>
        <p:spPr>
          <a:xfrm xmlns:a="http://schemas.openxmlformats.org/drawingml/2006/main">
            <a:off x="1638300" y="5143500"/>
            <a:ext cx="876300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5803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500" b="1">
                <a:solidFill>
                  <a:srgbClr val="172033"/>
                </a:solidFill>
              </a:defRPr>
            </a:pPr>
            <a:r>
              <a:rPr sz="1500" b="1">
                <a:solidFill>
                  <a:srgbClr val="172033"/>
                </a:solidFill>
              </a:rPr>
              <a:t>Exam angle: a complete answer names the concept, shows the working, and states the interpretation.</a:t>
            </a:r>
          </a:p>
        </p:txBody>
      </p:sp>
      <p:sp>
        <p:nvSpPr>
          <p:cNvPr id="8" name="">
            <a:extLst xmlns:a="http://schemas.openxmlformats.org/drawingml/2006/main">
              <a:ext uri="{FF2B5EF4-FFF2-40B4-BE49-F238E27FC236}">
                <a16:creationId xmlns:a16="http://schemas.microsoft.com/office/drawing/2014/main" id="{A7C0922C-B19A-45DC-BF9A-E76DCAF74645}"/>
              </a:ext>
            </a:extLst>
          </p:cNvPr>
          <p:cNvSpPr>
            <a:spLocks xmlns:a="http://schemas.openxmlformats.org/drawingml/2006/main" noGrp="1"/>
          </p:cNvSpPr>
          <p:nvPr/>
        </p:nvSpPr>
        <p:spPr>
          <a:xfrm xmlns:a="http://schemas.openxmlformats.org/drawingml/2006/main">
            <a:off x="609600" y="65341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5F6B7A"/>
                </a:solidFill>
              </a:defRPr>
            </a:pPr>
            <a:r>
              <a:rPr sz="825" b="0">
                <a:solidFill>
                  <a:srgbClr val="5F6B7A"/>
                </a:solidFill>
              </a:rPr>
              <a:t>Basics of Electrical Engineering | 1BBEE105/205</a:t>
            </a:r>
          </a:p>
        </p:txBody>
      </p:sp>
      <p:sp>
        <p:nvSpPr>
          <p:cNvPr id="9" name="">
            <a:extLst xmlns:a="http://schemas.openxmlformats.org/drawingml/2006/main">
              <a:ext uri="{FF2B5EF4-FFF2-40B4-BE49-F238E27FC236}">
                <a16:creationId xmlns:a16="http://schemas.microsoft.com/office/drawing/2014/main" id="{A68272CC-63CA-462A-A14F-BDFB0A102514}"/>
              </a:ext>
            </a:extLst>
          </p:cNvPr>
          <p:cNvSpPr>
            <a:spLocks xmlns:a="http://schemas.openxmlformats.org/drawingml/2006/main" noGrp="1"/>
          </p:cNvSpPr>
          <p:nvPr/>
        </p:nvSpPr>
        <p:spPr>
          <a:xfrm xmlns:a="http://schemas.openxmlformats.org/drawingml/2006/main">
            <a:off x="9867900" y="65341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5F6B7A"/>
                </a:solidFill>
              </a:defRPr>
            </a:pPr>
            <a:r>
              <a:rPr sz="825" b="0">
                <a:solidFill>
                  <a:srgbClr val="5F6B7A"/>
                </a:solidFill>
              </a:rPr>
              <a:t>Module 4 | 6/9</a:t>
            </a:r>
          </a:p>
        </p:txBody>
      </p:sp>
    </p:spTree>
    <p:extLst>
      <p:ext uri="{BB962C8B-B14F-4D97-AF65-F5344CB8AC3E}">
        <p14:creationId xmlns:p14="http://schemas.microsoft.com/office/powerpoint/2010/main" val="905757938"/>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0BE0224-D2B6-4363-9EDB-13EB49C7F452}"/>
              </a:ext>
            </a:extLst>
          </p:cNvPr>
          <p:cNvSpPr>
            <a:spLocks xmlns:a="http://schemas.openxmlformats.org/drawingml/2006/main" noGrp="1"/>
          </p:cNvSpPr>
          <p:nvPr/>
        </p:nvSpPr>
        <p:spPr>
          <a:xfrm xmlns:a="http://schemas.openxmlformats.org/drawingml/2006/main">
            <a:off x="609600" y="247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D28D9"/>
                </a:solidFill>
              </a:defRPr>
            </a:pPr>
            <a:r>
              <a:rPr sz="975" b="1">
                <a:solidFill>
                  <a:srgbClr val="6D28D9"/>
                </a:solidFill>
              </a:rPr>
              <a:t>1BBEE105/205 | Module 4</a:t>
            </a:r>
          </a:p>
        </p:txBody>
      </p:sp>
      <p:sp>
        <p:nvSpPr>
          <p:cNvPr id="2" name="">
            <a:extLst xmlns:a="http://schemas.openxmlformats.org/drawingml/2006/main">
              <a:ext uri="{FF2B5EF4-FFF2-40B4-BE49-F238E27FC236}">
                <a16:creationId xmlns:a16="http://schemas.microsoft.com/office/drawing/2014/main" id="{B6343AF4-B999-48B2-95BF-706256BCAEB1}"/>
              </a:ext>
            </a:extLst>
          </p:cNvPr>
          <p:cNvSpPr>
            <a:spLocks xmlns:a="http://schemas.openxmlformats.org/drawingml/2006/main" noGrp="1"/>
          </p:cNvSpPr>
          <p:nvPr/>
        </p:nvSpPr>
        <p:spPr>
          <a:xfrm xmlns:a="http://schemas.openxmlformats.org/drawingml/2006/main">
            <a:off x="609600" y="5524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72033"/>
                </a:solidFill>
              </a:defRPr>
            </a:pPr>
            <a:r>
              <a:rPr sz="2625" b="1">
                <a:solidFill>
                  <a:srgbClr val="172033"/>
                </a:solidFill>
              </a:rPr>
              <a:t>Applications and common mistakes</a:t>
            </a:r>
          </a:p>
        </p:txBody>
      </p:sp>
      <p:sp>
        <p:nvSpPr>
          <p:cNvPr id="3" name="">
            <a:extLst xmlns:a="http://schemas.openxmlformats.org/drawingml/2006/main">
              <a:ext uri="{FF2B5EF4-FFF2-40B4-BE49-F238E27FC236}">
                <a16:creationId xmlns:a16="http://schemas.microsoft.com/office/drawing/2014/main" id="{C7E27DCE-6AAC-42C5-B7F5-E964AEB62EC5}"/>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7DEE8"/>
          </a:solidFill>
          <a:ln xmlns:a="http://schemas.openxmlformats.org/drawingml/2006/main" w="0">
            <a:solidFill>
              <a:srgbClr val="D7DEE8"/>
            </a:solidFill>
            <a:prstDash val="solid"/>
          </a:ln>
        </p:spPr>
      </p:sp>
      <p:sp>
        <p:nvSpPr>
          <p:cNvPr id="4" name="">
            <a:extLst xmlns:a="http://schemas.openxmlformats.org/drawingml/2006/main">
              <a:ext uri="{FF2B5EF4-FFF2-40B4-BE49-F238E27FC236}">
                <a16:creationId xmlns:a16="http://schemas.microsoft.com/office/drawing/2014/main" id="{002BC041-9F3D-4971-9F52-5252A5D9CD08}"/>
              </a:ext>
            </a:extLst>
          </p:cNvPr>
          <p:cNvSpPr>
            <a:spLocks xmlns:a="http://schemas.openxmlformats.org/drawingml/2006/main" noGrp="1"/>
          </p:cNvSpPr>
          <p:nvPr/>
        </p:nvSpPr>
        <p:spPr>
          <a:xfrm xmlns:a="http://schemas.openxmlformats.org/drawingml/2006/main">
            <a:off x="895350" y="1600200"/>
            <a:ext cx="2095500" cy="438150"/>
          </a:xfrm>
          <a:prstGeom xmlns:a="http://schemas.openxmlformats.org/drawingml/2006/main" prst="roundRect">
            <a:avLst>
              <a:gd name="adj" fmla="val 17391"/>
            </a:avLst>
          </a:prstGeom>
          <a:solidFill xmlns:a="http://schemas.openxmlformats.org/drawingml/2006/main">
            <a:srgbClr val="DCFCE7"/>
          </a:solidFill>
          <a:ln xmlns:a="http://schemas.openxmlformats.org/drawingml/2006/main" w="9525">
            <a:solidFill>
              <a:srgbClr val="15803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500" b="1">
                <a:solidFill>
                  <a:srgbClr val="172033"/>
                </a:solidFill>
              </a:defRPr>
            </a:pPr>
            <a:r>
              <a:rPr sz="1500" b="1">
                <a:solidFill>
                  <a:srgbClr val="172033"/>
                </a:solidFill>
              </a:rPr>
              <a:t>Applications</a:t>
            </a:r>
          </a:p>
        </p:txBody>
      </p:sp>
      <p:sp>
        <p:nvSpPr>
          <p:cNvPr id="5" name="">
            <a:extLst xmlns:a="http://schemas.openxmlformats.org/drawingml/2006/main">
              <a:ext uri="{FF2B5EF4-FFF2-40B4-BE49-F238E27FC236}">
                <a16:creationId xmlns:a16="http://schemas.microsoft.com/office/drawing/2014/main" id="{A558C121-A0CA-49DB-8D99-73AA7A4A7351}"/>
              </a:ext>
            </a:extLst>
          </p:cNvPr>
          <p:cNvSpPr>
            <a:spLocks xmlns:a="http://schemas.openxmlformats.org/drawingml/2006/main" noGrp="1"/>
          </p:cNvSpPr>
          <p:nvPr/>
        </p:nvSpPr>
        <p:spPr>
          <a:xfrm xmlns:a="http://schemas.openxmlformats.org/drawingml/2006/main">
            <a:off x="971550" y="226695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2033"/>
                </a:solidFill>
              </a:defRPr>
            </a:pPr>
            <a:r>
              <a:rPr sz="1425" b="0">
                <a:solidFill>
                  <a:srgbClr val="172033"/>
                </a:solidFill>
              </a:rPr>
              <a:t>• Expression of power factor in terms wattmeter readings.</a:t>
            </a:r>
          </a:p>
          <a:p xmlns:a="http://schemas.openxmlformats.org/drawingml/2006/main">
            <a:pPr algn="l">
              <a:defRPr sz="1425" b="0">
                <a:solidFill>
                  <a:srgbClr val="172033"/>
                </a:solidFill>
              </a:defRPr>
            </a:pPr>
            <a:r>
              <a:rPr sz="1425" b="0">
                <a:solidFill>
                  <a:srgbClr val="172033"/>
                </a:solidFill>
              </a:rPr>
              <a:t>• Effect of power factor on wattmeter readings.</a:t>
            </a:r>
          </a:p>
          <a:p xmlns:a="http://schemas.openxmlformats.org/drawingml/2006/main">
            <a:pPr algn="l">
              <a:defRPr sz="1425" b="0">
                <a:solidFill>
                  <a:srgbClr val="172033"/>
                </a:solidFill>
              </a:defRPr>
            </a:pPr>
            <a:r>
              <a:rPr sz="1425" b="0">
                <a:solidFill>
                  <a:srgbClr val="172033"/>
                </a:solidFill>
              </a:rPr>
              <a:t>• Comparison between single phase and three-phase systems.</a:t>
            </a:r>
          </a:p>
          <a:p xmlns:a="http://schemas.openxmlformats.org/drawingml/2006/main">
            <a:pPr algn="l">
              <a:defRPr sz="1425" b="0">
                <a:solidFill>
                  <a:srgbClr val="172033"/>
                </a:solidFill>
              </a:defRPr>
            </a:pPr>
            <a:r>
              <a:rPr sz="1425" b="0">
                <a:solidFill>
                  <a:srgbClr val="172033"/>
                </a:solidFill>
              </a:rPr>
              <a:t>• Number of Hours:</a:t>
            </a:r>
          </a:p>
        </p:txBody>
      </p:sp>
      <p:sp>
        <p:nvSpPr>
          <p:cNvPr id="6" name="">
            <a:extLst xmlns:a="http://schemas.openxmlformats.org/drawingml/2006/main">
              <a:ext uri="{FF2B5EF4-FFF2-40B4-BE49-F238E27FC236}">
                <a16:creationId xmlns:a16="http://schemas.microsoft.com/office/drawing/2014/main" id="{07991255-1295-4567-91D5-B3C7D5D2D6F9}"/>
              </a:ext>
            </a:extLst>
          </p:cNvPr>
          <p:cNvSpPr>
            <a:spLocks xmlns:a="http://schemas.openxmlformats.org/drawingml/2006/main" noGrp="1"/>
          </p:cNvSpPr>
          <p:nvPr/>
        </p:nvSpPr>
        <p:spPr>
          <a:xfrm xmlns:a="http://schemas.openxmlformats.org/drawingml/2006/main">
            <a:off x="6515100" y="1600200"/>
            <a:ext cx="2286000" cy="438150"/>
          </a:xfrm>
          <a:prstGeom xmlns:a="http://schemas.openxmlformats.org/drawingml/2006/main" prst="roundRect">
            <a:avLst>
              <a:gd name="adj" fmla="val 17391"/>
            </a:avLst>
          </a:prstGeom>
          <a:solidFill xmlns:a="http://schemas.openxmlformats.org/drawingml/2006/main">
            <a:srgbClr val="FEE2E2"/>
          </a:solidFill>
          <a:ln xmlns:a="http://schemas.openxmlformats.org/drawingml/2006/main" w="9525">
            <a:solidFill>
              <a:srgbClr val="B91C1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500" b="1">
                <a:solidFill>
                  <a:srgbClr val="172033"/>
                </a:solidFill>
              </a:defRPr>
            </a:pPr>
            <a:r>
              <a:rPr sz="1500" b="1">
                <a:solidFill>
                  <a:srgbClr val="172033"/>
                </a:solidFill>
              </a:rPr>
              <a:t>Common mistakes</a:t>
            </a:r>
          </a:p>
        </p:txBody>
      </p:sp>
      <p:sp>
        <p:nvSpPr>
          <p:cNvPr id="7" name="">
            <a:extLst xmlns:a="http://schemas.openxmlformats.org/drawingml/2006/main">
              <a:ext uri="{FF2B5EF4-FFF2-40B4-BE49-F238E27FC236}">
                <a16:creationId xmlns:a16="http://schemas.microsoft.com/office/drawing/2014/main" id="{C6441081-BFD4-447C-9061-F677E37E8DDC}"/>
              </a:ext>
            </a:extLst>
          </p:cNvPr>
          <p:cNvSpPr>
            <a:spLocks xmlns:a="http://schemas.openxmlformats.org/drawingml/2006/main" noGrp="1"/>
          </p:cNvSpPr>
          <p:nvPr/>
        </p:nvSpPr>
        <p:spPr>
          <a:xfrm xmlns:a="http://schemas.openxmlformats.org/drawingml/2006/main">
            <a:off x="6591300" y="2266950"/>
            <a:ext cx="4286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2033"/>
                </a:solidFill>
              </a:defRPr>
            </a:pPr>
            <a:r>
              <a:rPr sz="1425" b="0">
                <a:solidFill>
                  <a:srgbClr val="172033"/>
                </a:solidFill>
              </a:rPr>
              <a:t>• Writing only definitions without explanation.</a:t>
            </a:r>
          </a:p>
          <a:p xmlns:a="http://schemas.openxmlformats.org/drawingml/2006/main">
            <a:pPr algn="l">
              <a:defRPr sz="1425" b="0">
                <a:solidFill>
                  <a:srgbClr val="172033"/>
                </a:solidFill>
              </a:defRPr>
            </a:pPr>
            <a:r>
              <a:rPr sz="1425" b="0">
                <a:solidFill>
                  <a:srgbClr val="172033"/>
                </a:solidFill>
              </a:rPr>
              <a:t>• Skipping intermediate working or assumptions.</a:t>
            </a:r>
          </a:p>
          <a:p xmlns:a="http://schemas.openxmlformats.org/drawingml/2006/main">
            <a:pPr algn="l">
              <a:defRPr sz="1425" b="0">
                <a:solidFill>
                  <a:srgbClr val="172033"/>
                </a:solidFill>
              </a:defRPr>
            </a:pPr>
            <a:r>
              <a:rPr sz="1425" b="0">
                <a:solidFill>
                  <a:srgbClr val="172033"/>
                </a:solidFill>
              </a:rPr>
              <a:t>• Mixing similar terms without a comparison.</a:t>
            </a:r>
          </a:p>
          <a:p xmlns:a="http://schemas.openxmlformats.org/drawingml/2006/main">
            <a:pPr algn="l">
              <a:defRPr sz="1425" b="0">
                <a:solidFill>
                  <a:srgbClr val="172033"/>
                </a:solidFill>
              </a:defRPr>
            </a:pPr>
            <a:r>
              <a:rPr sz="1425" b="0">
                <a:solidFill>
                  <a:srgbClr val="172033"/>
                </a:solidFill>
              </a:rPr>
              <a:t>• Not linking the result back to the application.</a:t>
            </a:r>
          </a:p>
        </p:txBody>
      </p:sp>
      <p:sp>
        <p:nvSpPr>
          <p:cNvPr id="8" name="">
            <a:extLst xmlns:a="http://schemas.openxmlformats.org/drawingml/2006/main">
              <a:ext uri="{FF2B5EF4-FFF2-40B4-BE49-F238E27FC236}">
                <a16:creationId xmlns:a16="http://schemas.microsoft.com/office/drawing/2014/main" id="{D75916F4-5FB4-433B-89A8-0BC4F6DB0ED1}"/>
              </a:ext>
            </a:extLst>
          </p:cNvPr>
          <p:cNvSpPr>
            <a:spLocks xmlns:a="http://schemas.openxmlformats.org/drawingml/2006/main" noGrp="1"/>
          </p:cNvSpPr>
          <p:nvPr/>
        </p:nvSpPr>
        <p:spPr>
          <a:xfrm xmlns:a="http://schemas.openxmlformats.org/drawingml/2006/main">
            <a:off x="609600" y="65341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5F6B7A"/>
                </a:solidFill>
              </a:defRPr>
            </a:pPr>
            <a:r>
              <a:rPr sz="825" b="0">
                <a:solidFill>
                  <a:srgbClr val="5F6B7A"/>
                </a:solidFill>
              </a:rPr>
              <a:t>Basics of Electrical Engineering | 1BBEE105/205</a:t>
            </a:r>
          </a:p>
        </p:txBody>
      </p:sp>
      <p:sp>
        <p:nvSpPr>
          <p:cNvPr id="9" name="">
            <a:extLst xmlns:a="http://schemas.openxmlformats.org/drawingml/2006/main">
              <a:ext uri="{FF2B5EF4-FFF2-40B4-BE49-F238E27FC236}">
                <a16:creationId xmlns:a16="http://schemas.microsoft.com/office/drawing/2014/main" id="{44854B78-8EBB-426A-8A0E-7CC6B53D0C51}"/>
              </a:ext>
            </a:extLst>
          </p:cNvPr>
          <p:cNvSpPr>
            <a:spLocks xmlns:a="http://schemas.openxmlformats.org/drawingml/2006/main" noGrp="1"/>
          </p:cNvSpPr>
          <p:nvPr/>
        </p:nvSpPr>
        <p:spPr>
          <a:xfrm xmlns:a="http://schemas.openxmlformats.org/drawingml/2006/main">
            <a:off x="9867900" y="65341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5F6B7A"/>
                </a:solidFill>
              </a:defRPr>
            </a:pPr>
            <a:r>
              <a:rPr sz="825" b="0">
                <a:solidFill>
                  <a:srgbClr val="5F6B7A"/>
                </a:solidFill>
              </a:rPr>
              <a:t>Module 4 | 7/9</a:t>
            </a:r>
          </a:p>
        </p:txBody>
      </p:sp>
    </p:spTree>
    <p:extLst>
      <p:ext uri="{BB962C8B-B14F-4D97-AF65-F5344CB8AC3E}">
        <p14:creationId xmlns:p14="http://schemas.microsoft.com/office/powerpoint/2010/main" val="391302592"/>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21C0D8B-BBDA-4A8D-A7DD-75449D8B75F8}"/>
              </a:ext>
            </a:extLst>
          </p:cNvPr>
          <p:cNvSpPr>
            <a:spLocks xmlns:a="http://schemas.openxmlformats.org/drawingml/2006/main" noGrp="1"/>
          </p:cNvSpPr>
          <p:nvPr/>
        </p:nvSpPr>
        <p:spPr>
          <a:xfrm xmlns:a="http://schemas.openxmlformats.org/drawingml/2006/main">
            <a:off x="609600" y="247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D28D9"/>
                </a:solidFill>
              </a:defRPr>
            </a:pPr>
            <a:r>
              <a:rPr sz="975" b="1">
                <a:solidFill>
                  <a:srgbClr val="6D28D9"/>
                </a:solidFill>
              </a:rPr>
              <a:t>1BBEE105/205 | Module 4</a:t>
            </a:r>
          </a:p>
        </p:txBody>
      </p:sp>
      <p:sp>
        <p:nvSpPr>
          <p:cNvPr id="2" name="">
            <a:extLst xmlns:a="http://schemas.openxmlformats.org/drawingml/2006/main">
              <a:ext uri="{FF2B5EF4-FFF2-40B4-BE49-F238E27FC236}">
                <a16:creationId xmlns:a16="http://schemas.microsoft.com/office/drawing/2014/main" id="{59A13CFA-0DC1-4AF8-BDD8-21821CF66D6D}"/>
              </a:ext>
            </a:extLst>
          </p:cNvPr>
          <p:cNvSpPr>
            <a:spLocks xmlns:a="http://schemas.openxmlformats.org/drawingml/2006/main" noGrp="1"/>
          </p:cNvSpPr>
          <p:nvPr/>
        </p:nvSpPr>
        <p:spPr>
          <a:xfrm xmlns:a="http://schemas.openxmlformats.org/drawingml/2006/main">
            <a:off x="609600" y="5524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72033"/>
                </a:solidFill>
              </a:defRPr>
            </a:pPr>
            <a:r>
              <a:rPr sz="2625" b="1">
                <a:solidFill>
                  <a:srgbClr val="172033"/>
                </a:solidFill>
              </a:rPr>
              <a:t>Syllabus coverage map</a:t>
            </a:r>
          </a:p>
        </p:txBody>
      </p:sp>
      <p:sp>
        <p:nvSpPr>
          <p:cNvPr id="3" name="">
            <a:extLst xmlns:a="http://schemas.openxmlformats.org/drawingml/2006/main">
              <a:ext uri="{FF2B5EF4-FFF2-40B4-BE49-F238E27FC236}">
                <a16:creationId xmlns:a16="http://schemas.microsoft.com/office/drawing/2014/main" id="{8D72B386-F0CE-46A6-80BB-0AE05C838AF2}"/>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7DEE8"/>
          </a:solidFill>
          <a:ln xmlns:a="http://schemas.openxmlformats.org/drawingml/2006/main" w="0">
            <a:solidFill>
              <a:srgbClr val="D7DEE8"/>
            </a:solidFill>
            <a:prstDash val="solid"/>
          </a:ln>
        </p:spPr>
      </p:sp>
      <p:sp>
        <p:nvSpPr>
          <p:cNvPr id="4" name="">
            <a:extLst xmlns:a="http://schemas.openxmlformats.org/drawingml/2006/main">
              <a:ext uri="{FF2B5EF4-FFF2-40B4-BE49-F238E27FC236}">
                <a16:creationId xmlns:a16="http://schemas.microsoft.com/office/drawing/2014/main" id="{8890BEB2-0967-44CA-AB4D-7675DD12B381}"/>
              </a:ext>
            </a:extLst>
          </p:cNvPr>
          <p:cNvSpPr>
            <a:spLocks xmlns:a="http://schemas.openxmlformats.org/drawingml/2006/main" noGrp="1"/>
          </p:cNvSpPr>
          <p:nvPr/>
        </p:nvSpPr>
        <p:spPr>
          <a:xfrm xmlns:a="http://schemas.openxmlformats.org/drawingml/2006/main">
            <a:off x="781050" y="15049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D28D9"/>
                </a:solidFill>
              </a:defRPr>
            </a:pPr>
            <a:r>
              <a:rPr sz="1125" b="1">
                <a:solidFill>
                  <a:srgbClr val="6D28D9"/>
                </a:solidFill>
              </a:rPr>
              <a:t>Syllabus topic</a:t>
            </a:r>
          </a:p>
        </p:txBody>
      </p:sp>
      <p:sp>
        <p:nvSpPr>
          <p:cNvPr id="5" name="">
            <a:extLst xmlns:a="http://schemas.openxmlformats.org/drawingml/2006/main">
              <a:ext uri="{FF2B5EF4-FFF2-40B4-BE49-F238E27FC236}">
                <a16:creationId xmlns:a16="http://schemas.microsoft.com/office/drawing/2014/main" id="{2233516E-D190-4525-8F52-FAE7BBD11AAF}"/>
              </a:ext>
            </a:extLst>
          </p:cNvPr>
          <p:cNvSpPr>
            <a:spLocks xmlns:a="http://schemas.openxmlformats.org/drawingml/2006/main" noGrp="1"/>
          </p:cNvSpPr>
          <p:nvPr/>
        </p:nvSpPr>
        <p:spPr>
          <a:xfrm xmlns:a="http://schemas.openxmlformats.org/drawingml/2006/main">
            <a:off x="5810250" y="15049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D28D9"/>
                </a:solidFill>
              </a:defRPr>
            </a:pPr>
            <a:r>
              <a:rPr sz="1125" b="1">
                <a:solidFill>
                  <a:srgbClr val="6D28D9"/>
                </a:solidFill>
              </a:rPr>
              <a:t>Teaching treatment</a:t>
            </a:r>
          </a:p>
        </p:txBody>
      </p:sp>
      <p:sp>
        <p:nvSpPr>
          <p:cNvPr id="6" name="">
            <a:extLst xmlns:a="http://schemas.openxmlformats.org/drawingml/2006/main">
              <a:ext uri="{FF2B5EF4-FFF2-40B4-BE49-F238E27FC236}">
                <a16:creationId xmlns:a16="http://schemas.microsoft.com/office/drawing/2014/main" id="{5902D582-DA7F-4AD0-9AD0-7459ED6FAA49}"/>
              </a:ext>
            </a:extLst>
          </p:cNvPr>
          <p:cNvSpPr>
            <a:spLocks xmlns:a="http://schemas.openxmlformats.org/drawingml/2006/main" noGrp="1"/>
          </p:cNvSpPr>
          <p:nvPr/>
        </p:nvSpPr>
        <p:spPr>
          <a:xfrm xmlns:a="http://schemas.openxmlformats.org/drawingml/2006/main">
            <a:off x="9639300" y="15049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D28D9"/>
                </a:solidFill>
              </a:defRPr>
            </a:pPr>
            <a:r>
              <a:rPr sz="1125" b="1">
                <a:solidFill>
                  <a:srgbClr val="6D28D9"/>
                </a:solidFill>
              </a:rPr>
              <a:t>Status</a:t>
            </a:r>
          </a:p>
        </p:txBody>
      </p:sp>
      <p:sp>
        <p:nvSpPr>
          <p:cNvPr id="7" name="">
            <a:extLst xmlns:a="http://schemas.openxmlformats.org/drawingml/2006/main">
              <a:ext uri="{FF2B5EF4-FFF2-40B4-BE49-F238E27FC236}">
                <a16:creationId xmlns:a16="http://schemas.microsoft.com/office/drawing/2014/main" id="{7AFE25E7-7817-43E8-9C56-5D1B2EB279C5}"/>
              </a:ext>
            </a:extLst>
          </p:cNvPr>
          <p:cNvSpPr>
            <a:spLocks xmlns:a="http://schemas.openxmlformats.org/drawingml/2006/main" noGrp="1"/>
          </p:cNvSpPr>
          <p:nvPr/>
        </p:nvSpPr>
        <p:spPr>
          <a:xfrm xmlns:a="http://schemas.openxmlformats.org/drawingml/2006/main">
            <a:off x="781050" y="1885950"/>
            <a:ext cx="447675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9525">
            <a:solidFill>
              <a:srgbClr val="D7DEE8"/>
            </a:solidFill>
            <a:prstDash val="solid"/>
          </a:ln>
        </p:spPr>
        <p:txBody>
          <a:bodyPr xmlns:a="http://schemas.openxmlformats.org/drawingml/2006/main"/>
          <a:lstStyle xmlns:a="http://schemas.openxmlformats.org/drawingml/2006/main"/>
          <a:p xmlns:a="http://schemas.openxmlformats.org/drawingml/2006/main">
            <a:pPr algn="ctr">
              <a:defRPr sz="900" b="0">
                <a:solidFill>
                  <a:srgbClr val="172033"/>
                </a:solidFill>
              </a:defRPr>
            </a:pPr>
            <a:r>
              <a:rPr sz="900" b="0">
                <a:solidFill>
                  <a:srgbClr val="172033"/>
                </a:solidFill>
              </a:rPr>
              <a:t>Three- phase Circuits:</a:t>
            </a:r>
          </a:p>
        </p:txBody>
      </p:sp>
      <p:sp>
        <p:nvSpPr>
          <p:cNvPr id="8" name="">
            <a:extLst xmlns:a="http://schemas.openxmlformats.org/drawingml/2006/main">
              <a:ext uri="{FF2B5EF4-FFF2-40B4-BE49-F238E27FC236}">
                <a16:creationId xmlns:a16="http://schemas.microsoft.com/office/drawing/2014/main" id="{2D1CED57-F493-4F9F-B5C6-58CB34C5C7A1}"/>
              </a:ext>
            </a:extLst>
          </p:cNvPr>
          <p:cNvSpPr>
            <a:spLocks xmlns:a="http://schemas.openxmlformats.org/drawingml/2006/main" noGrp="1"/>
          </p:cNvSpPr>
          <p:nvPr/>
        </p:nvSpPr>
        <p:spPr>
          <a:xfrm xmlns:a="http://schemas.openxmlformats.org/drawingml/2006/main">
            <a:off x="5810250" y="1885950"/>
            <a:ext cx="314325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9525">
            <a:solidFill>
              <a:srgbClr val="D7DEE8"/>
            </a:solidFill>
            <a:prstDash val="solid"/>
          </a:ln>
        </p:spPr>
        <p:txBody>
          <a:bodyPr xmlns:a="http://schemas.openxmlformats.org/drawingml/2006/main"/>
          <a:lstStyle xmlns:a="http://schemas.openxmlformats.org/drawingml/2006/main"/>
          <a:p xmlns:a="http://schemas.openxmlformats.org/drawingml/2006/main">
            <a:pPr algn="ctr">
              <a:defRPr sz="900" b="0">
                <a:solidFill>
                  <a:srgbClr val="172033"/>
                </a:solidFill>
              </a:defRPr>
            </a:pPr>
            <a:r>
              <a:rPr sz="900" b="0">
                <a:solidFill>
                  <a:srgbClr val="172033"/>
                </a:solidFill>
              </a:rPr>
              <a:t>Explained with concept, working, example, and exam view</a:t>
            </a:r>
          </a:p>
        </p:txBody>
      </p:sp>
      <p:sp>
        <p:nvSpPr>
          <p:cNvPr id="9" name="">
            <a:extLst xmlns:a="http://schemas.openxmlformats.org/drawingml/2006/main">
              <a:ext uri="{FF2B5EF4-FFF2-40B4-BE49-F238E27FC236}">
                <a16:creationId xmlns:a16="http://schemas.microsoft.com/office/drawing/2014/main" id="{86F1A480-5AD7-4ED2-B41B-65A805A0938F}"/>
              </a:ext>
            </a:extLst>
          </p:cNvPr>
          <p:cNvSpPr>
            <a:spLocks xmlns:a="http://schemas.openxmlformats.org/drawingml/2006/main" noGrp="1"/>
          </p:cNvSpPr>
          <p:nvPr/>
        </p:nvSpPr>
        <p:spPr>
          <a:xfrm xmlns:a="http://schemas.openxmlformats.org/drawingml/2006/main">
            <a:off x="9639300" y="1885950"/>
            <a:ext cx="1143000" cy="400050"/>
          </a:xfrm>
          <a:prstGeom xmlns:a="http://schemas.openxmlformats.org/drawingml/2006/main" prst="roundRect">
            <a:avLst>
              <a:gd name="adj" fmla="val 19048"/>
            </a:avLst>
          </a:prstGeom>
          <a:solidFill xmlns:a="http://schemas.openxmlformats.org/drawingml/2006/main">
            <a:srgbClr val="DCFCE7"/>
          </a:solidFill>
          <a:ln xmlns:a="http://schemas.openxmlformats.org/drawingml/2006/main" w="9525">
            <a:solidFill>
              <a:srgbClr val="15803D"/>
            </a:solidFill>
            <a:prstDash val="solid"/>
          </a:ln>
        </p:spPr>
        <p:txBody>
          <a:bodyPr xmlns:a="http://schemas.openxmlformats.org/drawingml/2006/main"/>
          <a:lstStyle xmlns:a="http://schemas.openxmlformats.org/drawingml/2006/main"/>
          <a:p xmlns:a="http://schemas.openxmlformats.org/drawingml/2006/main">
            <a:pPr algn="ctr">
              <a:defRPr sz="900" b="1">
                <a:solidFill>
                  <a:srgbClr val="172033"/>
                </a:solidFill>
              </a:defRPr>
            </a:pPr>
            <a:r>
              <a:rPr sz="900" b="1">
                <a:solidFill>
                  <a:srgbClr val="172033"/>
                </a:solidFill>
              </a:rPr>
              <a:t>COVERED</a:t>
            </a:r>
          </a:p>
        </p:txBody>
      </p:sp>
      <p:sp>
        <p:nvSpPr>
          <p:cNvPr id="10" name="">
            <a:extLst xmlns:a="http://schemas.openxmlformats.org/drawingml/2006/main">
              <a:ext uri="{FF2B5EF4-FFF2-40B4-BE49-F238E27FC236}">
                <a16:creationId xmlns:a16="http://schemas.microsoft.com/office/drawing/2014/main" id="{F98A4CB3-CC75-4B8B-AEA3-A5D7566770FC}"/>
              </a:ext>
            </a:extLst>
          </p:cNvPr>
          <p:cNvSpPr>
            <a:spLocks xmlns:a="http://schemas.openxmlformats.org/drawingml/2006/main" noGrp="1"/>
          </p:cNvSpPr>
          <p:nvPr/>
        </p:nvSpPr>
        <p:spPr>
          <a:xfrm xmlns:a="http://schemas.openxmlformats.org/drawingml/2006/main">
            <a:off x="781050" y="2438400"/>
            <a:ext cx="447675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9525">
            <a:solidFill>
              <a:srgbClr val="D7DEE8"/>
            </a:solidFill>
            <a:prstDash val="solid"/>
          </a:ln>
        </p:spPr>
        <p:txBody>
          <a:bodyPr xmlns:a="http://schemas.openxmlformats.org/drawingml/2006/main"/>
          <a:lstStyle xmlns:a="http://schemas.openxmlformats.org/drawingml/2006/main"/>
          <a:p xmlns:a="http://schemas.openxmlformats.org/drawingml/2006/main">
            <a:pPr algn="ctr">
              <a:defRPr sz="900" b="0">
                <a:solidFill>
                  <a:srgbClr val="172033"/>
                </a:solidFill>
              </a:defRPr>
            </a:pPr>
            <a:r>
              <a:rPr sz="900" b="0">
                <a:solidFill>
                  <a:srgbClr val="172033"/>
                </a:solidFill>
              </a:rPr>
              <a:t>Generation of three -phase system, definition of phase sequence, star and delta (mesh) connecti</a:t>
            </a:r>
          </a:p>
        </p:txBody>
      </p:sp>
      <p:sp>
        <p:nvSpPr>
          <p:cNvPr id="11" name="">
            <a:extLst xmlns:a="http://schemas.openxmlformats.org/drawingml/2006/main">
              <a:ext uri="{FF2B5EF4-FFF2-40B4-BE49-F238E27FC236}">
                <a16:creationId xmlns:a16="http://schemas.microsoft.com/office/drawing/2014/main" id="{662B75E3-3650-48A2-9397-57DD2A8699E0}"/>
              </a:ext>
            </a:extLst>
          </p:cNvPr>
          <p:cNvSpPr>
            <a:spLocks xmlns:a="http://schemas.openxmlformats.org/drawingml/2006/main" noGrp="1"/>
          </p:cNvSpPr>
          <p:nvPr/>
        </p:nvSpPr>
        <p:spPr>
          <a:xfrm xmlns:a="http://schemas.openxmlformats.org/drawingml/2006/main">
            <a:off x="5810250" y="2438400"/>
            <a:ext cx="314325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9525">
            <a:solidFill>
              <a:srgbClr val="D7DEE8"/>
            </a:solidFill>
            <a:prstDash val="solid"/>
          </a:ln>
        </p:spPr>
        <p:txBody>
          <a:bodyPr xmlns:a="http://schemas.openxmlformats.org/drawingml/2006/main"/>
          <a:lstStyle xmlns:a="http://schemas.openxmlformats.org/drawingml/2006/main"/>
          <a:p xmlns:a="http://schemas.openxmlformats.org/drawingml/2006/main">
            <a:pPr algn="ctr">
              <a:defRPr sz="900" b="0">
                <a:solidFill>
                  <a:srgbClr val="172033"/>
                </a:solidFill>
              </a:defRPr>
            </a:pPr>
            <a:r>
              <a:rPr sz="900" b="0">
                <a:solidFill>
                  <a:srgbClr val="172033"/>
                </a:solidFill>
              </a:rPr>
              <a:t>Explained with concept, working, example, and exam view</a:t>
            </a:r>
          </a:p>
        </p:txBody>
      </p:sp>
      <p:sp>
        <p:nvSpPr>
          <p:cNvPr id="12" name="">
            <a:extLst xmlns:a="http://schemas.openxmlformats.org/drawingml/2006/main">
              <a:ext uri="{FF2B5EF4-FFF2-40B4-BE49-F238E27FC236}">
                <a16:creationId xmlns:a16="http://schemas.microsoft.com/office/drawing/2014/main" id="{A93C0E19-7509-4135-980B-75FA8D3BE430}"/>
              </a:ext>
            </a:extLst>
          </p:cNvPr>
          <p:cNvSpPr>
            <a:spLocks xmlns:a="http://schemas.openxmlformats.org/drawingml/2006/main" noGrp="1"/>
          </p:cNvSpPr>
          <p:nvPr/>
        </p:nvSpPr>
        <p:spPr>
          <a:xfrm xmlns:a="http://schemas.openxmlformats.org/drawingml/2006/main">
            <a:off x="9639300" y="2438400"/>
            <a:ext cx="1143000" cy="400050"/>
          </a:xfrm>
          <a:prstGeom xmlns:a="http://schemas.openxmlformats.org/drawingml/2006/main" prst="roundRect">
            <a:avLst>
              <a:gd name="adj" fmla="val 19048"/>
            </a:avLst>
          </a:prstGeom>
          <a:solidFill xmlns:a="http://schemas.openxmlformats.org/drawingml/2006/main">
            <a:srgbClr val="DCFCE7"/>
          </a:solidFill>
          <a:ln xmlns:a="http://schemas.openxmlformats.org/drawingml/2006/main" w="9525">
            <a:solidFill>
              <a:srgbClr val="15803D"/>
            </a:solidFill>
            <a:prstDash val="solid"/>
          </a:ln>
        </p:spPr>
        <p:txBody>
          <a:bodyPr xmlns:a="http://schemas.openxmlformats.org/drawingml/2006/main"/>
          <a:lstStyle xmlns:a="http://schemas.openxmlformats.org/drawingml/2006/main"/>
          <a:p xmlns:a="http://schemas.openxmlformats.org/drawingml/2006/main">
            <a:pPr algn="ctr">
              <a:defRPr sz="900" b="1">
                <a:solidFill>
                  <a:srgbClr val="172033"/>
                </a:solidFill>
              </a:defRPr>
            </a:pPr>
            <a:r>
              <a:rPr sz="900" b="1">
                <a:solidFill>
                  <a:srgbClr val="172033"/>
                </a:solidFill>
              </a:rPr>
              <a:t>COVERED</a:t>
            </a:r>
          </a:p>
        </p:txBody>
      </p:sp>
      <p:sp>
        <p:nvSpPr>
          <p:cNvPr id="13" name="">
            <a:extLst xmlns:a="http://schemas.openxmlformats.org/drawingml/2006/main">
              <a:ext uri="{FF2B5EF4-FFF2-40B4-BE49-F238E27FC236}">
                <a16:creationId xmlns:a16="http://schemas.microsoft.com/office/drawing/2014/main" id="{2DC417EF-BD62-4328-A605-637476DB1DE2}"/>
              </a:ext>
            </a:extLst>
          </p:cNvPr>
          <p:cNvSpPr>
            <a:spLocks xmlns:a="http://schemas.openxmlformats.org/drawingml/2006/main" noGrp="1"/>
          </p:cNvSpPr>
          <p:nvPr/>
        </p:nvSpPr>
        <p:spPr>
          <a:xfrm xmlns:a="http://schemas.openxmlformats.org/drawingml/2006/main">
            <a:off x="781050" y="2990850"/>
            <a:ext cx="447675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9525">
            <a:solidFill>
              <a:srgbClr val="D7DEE8"/>
            </a:solidFill>
            <a:prstDash val="solid"/>
          </a:ln>
        </p:spPr>
        <p:txBody>
          <a:bodyPr xmlns:a="http://schemas.openxmlformats.org/drawingml/2006/main"/>
          <a:lstStyle xmlns:a="http://schemas.openxmlformats.org/drawingml/2006/main"/>
          <a:p xmlns:a="http://schemas.openxmlformats.org/drawingml/2006/main">
            <a:pPr algn="ctr">
              <a:defRPr sz="900" b="0">
                <a:solidFill>
                  <a:srgbClr val="172033"/>
                </a:solidFill>
              </a:defRPr>
            </a:pPr>
            <a:r>
              <a:rPr sz="900" b="0">
                <a:solidFill>
                  <a:srgbClr val="172033"/>
                </a:solidFill>
              </a:rPr>
              <a:t>Definition of balanced and unbalanced source an d load.</a:t>
            </a:r>
          </a:p>
        </p:txBody>
      </p:sp>
      <p:sp>
        <p:nvSpPr>
          <p:cNvPr id="14" name="">
            <a:extLst xmlns:a="http://schemas.openxmlformats.org/drawingml/2006/main">
              <a:ext uri="{FF2B5EF4-FFF2-40B4-BE49-F238E27FC236}">
                <a16:creationId xmlns:a16="http://schemas.microsoft.com/office/drawing/2014/main" id="{BFE88AAC-962B-4AD6-BC6B-90604DB67BD3}"/>
              </a:ext>
            </a:extLst>
          </p:cNvPr>
          <p:cNvSpPr>
            <a:spLocks xmlns:a="http://schemas.openxmlformats.org/drawingml/2006/main" noGrp="1"/>
          </p:cNvSpPr>
          <p:nvPr/>
        </p:nvSpPr>
        <p:spPr>
          <a:xfrm xmlns:a="http://schemas.openxmlformats.org/drawingml/2006/main">
            <a:off x="5810250" y="2990850"/>
            <a:ext cx="314325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9525">
            <a:solidFill>
              <a:srgbClr val="D7DEE8"/>
            </a:solidFill>
            <a:prstDash val="solid"/>
          </a:ln>
        </p:spPr>
        <p:txBody>
          <a:bodyPr xmlns:a="http://schemas.openxmlformats.org/drawingml/2006/main"/>
          <a:lstStyle xmlns:a="http://schemas.openxmlformats.org/drawingml/2006/main"/>
          <a:p xmlns:a="http://schemas.openxmlformats.org/drawingml/2006/main">
            <a:pPr algn="ctr">
              <a:defRPr sz="900" b="0">
                <a:solidFill>
                  <a:srgbClr val="172033"/>
                </a:solidFill>
              </a:defRPr>
            </a:pPr>
            <a:r>
              <a:rPr sz="900" b="0">
                <a:solidFill>
                  <a:srgbClr val="172033"/>
                </a:solidFill>
              </a:rPr>
              <a:t>Explained with concept, working, example, and exam view</a:t>
            </a:r>
          </a:p>
        </p:txBody>
      </p:sp>
      <p:sp>
        <p:nvSpPr>
          <p:cNvPr id="15" name="">
            <a:extLst xmlns:a="http://schemas.openxmlformats.org/drawingml/2006/main">
              <a:ext uri="{FF2B5EF4-FFF2-40B4-BE49-F238E27FC236}">
                <a16:creationId xmlns:a16="http://schemas.microsoft.com/office/drawing/2014/main" id="{16526602-4B2D-4999-90E2-CC75557E9B07}"/>
              </a:ext>
            </a:extLst>
          </p:cNvPr>
          <p:cNvSpPr>
            <a:spLocks xmlns:a="http://schemas.openxmlformats.org/drawingml/2006/main" noGrp="1"/>
          </p:cNvSpPr>
          <p:nvPr/>
        </p:nvSpPr>
        <p:spPr>
          <a:xfrm xmlns:a="http://schemas.openxmlformats.org/drawingml/2006/main">
            <a:off x="9639300" y="2990850"/>
            <a:ext cx="1143000" cy="400050"/>
          </a:xfrm>
          <a:prstGeom xmlns:a="http://schemas.openxmlformats.org/drawingml/2006/main" prst="roundRect">
            <a:avLst>
              <a:gd name="adj" fmla="val 19048"/>
            </a:avLst>
          </a:prstGeom>
          <a:solidFill xmlns:a="http://schemas.openxmlformats.org/drawingml/2006/main">
            <a:srgbClr val="DCFCE7"/>
          </a:solidFill>
          <a:ln xmlns:a="http://schemas.openxmlformats.org/drawingml/2006/main" w="9525">
            <a:solidFill>
              <a:srgbClr val="15803D"/>
            </a:solidFill>
            <a:prstDash val="solid"/>
          </a:ln>
        </p:spPr>
        <p:txBody>
          <a:bodyPr xmlns:a="http://schemas.openxmlformats.org/drawingml/2006/main"/>
          <a:lstStyle xmlns:a="http://schemas.openxmlformats.org/drawingml/2006/main"/>
          <a:p xmlns:a="http://schemas.openxmlformats.org/drawingml/2006/main">
            <a:pPr algn="ctr">
              <a:defRPr sz="900" b="1">
                <a:solidFill>
                  <a:srgbClr val="172033"/>
                </a:solidFill>
              </a:defRPr>
            </a:pPr>
            <a:r>
              <a:rPr sz="900" b="1">
                <a:solidFill>
                  <a:srgbClr val="172033"/>
                </a:solidFill>
              </a:rPr>
              <a:t>COVERED</a:t>
            </a:r>
          </a:p>
        </p:txBody>
      </p:sp>
      <p:sp>
        <p:nvSpPr>
          <p:cNvPr id="16" name="">
            <a:extLst xmlns:a="http://schemas.openxmlformats.org/drawingml/2006/main">
              <a:ext uri="{FF2B5EF4-FFF2-40B4-BE49-F238E27FC236}">
                <a16:creationId xmlns:a16="http://schemas.microsoft.com/office/drawing/2014/main" id="{C906A707-1DA3-4F3E-8500-0DAADED00C46}"/>
              </a:ext>
            </a:extLst>
          </p:cNvPr>
          <p:cNvSpPr>
            <a:spLocks xmlns:a="http://schemas.openxmlformats.org/drawingml/2006/main" noGrp="1"/>
          </p:cNvSpPr>
          <p:nvPr/>
        </p:nvSpPr>
        <p:spPr>
          <a:xfrm xmlns:a="http://schemas.openxmlformats.org/drawingml/2006/main">
            <a:off x="781050" y="3543300"/>
            <a:ext cx="447675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9525">
            <a:solidFill>
              <a:srgbClr val="D7DEE8"/>
            </a:solidFill>
            <a:prstDash val="solid"/>
          </a:ln>
        </p:spPr>
        <p:txBody>
          <a:bodyPr xmlns:a="http://schemas.openxmlformats.org/drawingml/2006/main"/>
          <a:lstStyle xmlns:a="http://schemas.openxmlformats.org/drawingml/2006/main"/>
          <a:p xmlns:a="http://schemas.openxmlformats.org/drawingml/2006/main">
            <a:pPr algn="ctr">
              <a:defRPr sz="900" b="0">
                <a:solidFill>
                  <a:srgbClr val="172033"/>
                </a:solidFill>
              </a:defRPr>
            </a:pPr>
            <a:r>
              <a:rPr sz="900" b="0">
                <a:solidFill>
                  <a:srgbClr val="172033"/>
                </a:solidFill>
              </a:rPr>
              <a:t>Power, reactive power and power factor.</a:t>
            </a:r>
          </a:p>
        </p:txBody>
      </p:sp>
      <p:sp>
        <p:nvSpPr>
          <p:cNvPr id="17" name="">
            <a:extLst xmlns:a="http://schemas.openxmlformats.org/drawingml/2006/main">
              <a:ext uri="{FF2B5EF4-FFF2-40B4-BE49-F238E27FC236}">
                <a16:creationId xmlns:a16="http://schemas.microsoft.com/office/drawing/2014/main" id="{57CFF959-6414-4F77-99D1-955D969147B0}"/>
              </a:ext>
            </a:extLst>
          </p:cNvPr>
          <p:cNvSpPr>
            <a:spLocks xmlns:a="http://schemas.openxmlformats.org/drawingml/2006/main" noGrp="1"/>
          </p:cNvSpPr>
          <p:nvPr/>
        </p:nvSpPr>
        <p:spPr>
          <a:xfrm xmlns:a="http://schemas.openxmlformats.org/drawingml/2006/main">
            <a:off x="5810250" y="3543300"/>
            <a:ext cx="314325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9525">
            <a:solidFill>
              <a:srgbClr val="D7DEE8"/>
            </a:solidFill>
            <a:prstDash val="solid"/>
          </a:ln>
        </p:spPr>
        <p:txBody>
          <a:bodyPr xmlns:a="http://schemas.openxmlformats.org/drawingml/2006/main"/>
          <a:lstStyle xmlns:a="http://schemas.openxmlformats.org/drawingml/2006/main"/>
          <a:p xmlns:a="http://schemas.openxmlformats.org/drawingml/2006/main">
            <a:pPr algn="ctr">
              <a:defRPr sz="900" b="0">
                <a:solidFill>
                  <a:srgbClr val="172033"/>
                </a:solidFill>
              </a:defRPr>
            </a:pPr>
            <a:r>
              <a:rPr sz="900" b="0">
                <a:solidFill>
                  <a:srgbClr val="172033"/>
                </a:solidFill>
              </a:rPr>
              <a:t>Explained with concept, working, example, and exam view</a:t>
            </a:r>
          </a:p>
        </p:txBody>
      </p:sp>
      <p:sp>
        <p:nvSpPr>
          <p:cNvPr id="18" name="">
            <a:extLst xmlns:a="http://schemas.openxmlformats.org/drawingml/2006/main">
              <a:ext uri="{FF2B5EF4-FFF2-40B4-BE49-F238E27FC236}">
                <a16:creationId xmlns:a16="http://schemas.microsoft.com/office/drawing/2014/main" id="{0617D7F9-2197-41D9-8DD9-CEC34BD3B459}"/>
              </a:ext>
            </a:extLst>
          </p:cNvPr>
          <p:cNvSpPr>
            <a:spLocks xmlns:a="http://schemas.openxmlformats.org/drawingml/2006/main" noGrp="1"/>
          </p:cNvSpPr>
          <p:nvPr/>
        </p:nvSpPr>
        <p:spPr>
          <a:xfrm xmlns:a="http://schemas.openxmlformats.org/drawingml/2006/main">
            <a:off x="9639300" y="3543300"/>
            <a:ext cx="1143000" cy="400050"/>
          </a:xfrm>
          <a:prstGeom xmlns:a="http://schemas.openxmlformats.org/drawingml/2006/main" prst="roundRect">
            <a:avLst>
              <a:gd name="adj" fmla="val 19048"/>
            </a:avLst>
          </a:prstGeom>
          <a:solidFill xmlns:a="http://schemas.openxmlformats.org/drawingml/2006/main">
            <a:srgbClr val="DCFCE7"/>
          </a:solidFill>
          <a:ln xmlns:a="http://schemas.openxmlformats.org/drawingml/2006/main" w="9525">
            <a:solidFill>
              <a:srgbClr val="15803D"/>
            </a:solidFill>
            <a:prstDash val="solid"/>
          </a:ln>
        </p:spPr>
        <p:txBody>
          <a:bodyPr xmlns:a="http://schemas.openxmlformats.org/drawingml/2006/main"/>
          <a:lstStyle xmlns:a="http://schemas.openxmlformats.org/drawingml/2006/main"/>
          <a:p xmlns:a="http://schemas.openxmlformats.org/drawingml/2006/main">
            <a:pPr algn="ctr">
              <a:defRPr sz="900" b="1">
                <a:solidFill>
                  <a:srgbClr val="172033"/>
                </a:solidFill>
              </a:defRPr>
            </a:pPr>
            <a:r>
              <a:rPr sz="900" b="1">
                <a:solidFill>
                  <a:srgbClr val="172033"/>
                </a:solidFill>
              </a:rPr>
              <a:t>COVERED</a:t>
            </a:r>
          </a:p>
        </p:txBody>
      </p:sp>
      <p:sp>
        <p:nvSpPr>
          <p:cNvPr id="19" name="">
            <a:extLst xmlns:a="http://schemas.openxmlformats.org/drawingml/2006/main">
              <a:ext uri="{FF2B5EF4-FFF2-40B4-BE49-F238E27FC236}">
                <a16:creationId xmlns:a16="http://schemas.microsoft.com/office/drawing/2014/main" id="{67CFBA2B-EA93-46E0-9A97-20588FFB720E}"/>
              </a:ext>
            </a:extLst>
          </p:cNvPr>
          <p:cNvSpPr>
            <a:spLocks xmlns:a="http://schemas.openxmlformats.org/drawingml/2006/main" noGrp="1"/>
          </p:cNvSpPr>
          <p:nvPr/>
        </p:nvSpPr>
        <p:spPr>
          <a:xfrm xmlns:a="http://schemas.openxmlformats.org/drawingml/2006/main">
            <a:off x="781050" y="4095750"/>
            <a:ext cx="447675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9525">
            <a:solidFill>
              <a:srgbClr val="D7DEE8"/>
            </a:solidFill>
            <a:prstDash val="solid"/>
          </a:ln>
        </p:spPr>
        <p:txBody>
          <a:bodyPr xmlns:a="http://schemas.openxmlformats.org/drawingml/2006/main"/>
          <a:lstStyle xmlns:a="http://schemas.openxmlformats.org/drawingml/2006/main"/>
          <a:p xmlns:a="http://schemas.openxmlformats.org/drawingml/2006/main">
            <a:pPr algn="ctr">
              <a:defRPr sz="900" b="0">
                <a:solidFill>
                  <a:srgbClr val="172033"/>
                </a:solidFill>
              </a:defRPr>
            </a:pPr>
            <a:r>
              <a:rPr sz="900" b="0">
                <a:solidFill>
                  <a:srgbClr val="172033"/>
                </a:solidFill>
              </a:rPr>
              <a:t>Problems on balanced loads.</a:t>
            </a:r>
          </a:p>
        </p:txBody>
      </p:sp>
      <p:sp>
        <p:nvSpPr>
          <p:cNvPr id="20" name="">
            <a:extLst xmlns:a="http://schemas.openxmlformats.org/drawingml/2006/main">
              <a:ext uri="{FF2B5EF4-FFF2-40B4-BE49-F238E27FC236}">
                <a16:creationId xmlns:a16="http://schemas.microsoft.com/office/drawing/2014/main" id="{49A36031-00B8-439A-9447-7BFACF3603F8}"/>
              </a:ext>
            </a:extLst>
          </p:cNvPr>
          <p:cNvSpPr>
            <a:spLocks xmlns:a="http://schemas.openxmlformats.org/drawingml/2006/main" noGrp="1"/>
          </p:cNvSpPr>
          <p:nvPr/>
        </p:nvSpPr>
        <p:spPr>
          <a:xfrm xmlns:a="http://schemas.openxmlformats.org/drawingml/2006/main">
            <a:off x="5810250" y="4095750"/>
            <a:ext cx="314325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9525">
            <a:solidFill>
              <a:srgbClr val="D7DEE8"/>
            </a:solidFill>
            <a:prstDash val="solid"/>
          </a:ln>
        </p:spPr>
        <p:txBody>
          <a:bodyPr xmlns:a="http://schemas.openxmlformats.org/drawingml/2006/main"/>
          <a:lstStyle xmlns:a="http://schemas.openxmlformats.org/drawingml/2006/main"/>
          <a:p xmlns:a="http://schemas.openxmlformats.org/drawingml/2006/main">
            <a:pPr algn="ctr">
              <a:defRPr sz="900" b="0">
                <a:solidFill>
                  <a:srgbClr val="172033"/>
                </a:solidFill>
              </a:defRPr>
            </a:pPr>
            <a:r>
              <a:rPr sz="900" b="0">
                <a:solidFill>
                  <a:srgbClr val="172033"/>
                </a:solidFill>
              </a:rPr>
              <a:t>Explained with concept, working, example, and exam view</a:t>
            </a:r>
          </a:p>
        </p:txBody>
      </p:sp>
      <p:sp>
        <p:nvSpPr>
          <p:cNvPr id="21" name="">
            <a:extLst xmlns:a="http://schemas.openxmlformats.org/drawingml/2006/main">
              <a:ext uri="{FF2B5EF4-FFF2-40B4-BE49-F238E27FC236}">
                <a16:creationId xmlns:a16="http://schemas.microsoft.com/office/drawing/2014/main" id="{71465BC2-C42B-4106-8D50-BDC7035D1F5A}"/>
              </a:ext>
            </a:extLst>
          </p:cNvPr>
          <p:cNvSpPr>
            <a:spLocks xmlns:a="http://schemas.openxmlformats.org/drawingml/2006/main" noGrp="1"/>
          </p:cNvSpPr>
          <p:nvPr/>
        </p:nvSpPr>
        <p:spPr>
          <a:xfrm xmlns:a="http://schemas.openxmlformats.org/drawingml/2006/main">
            <a:off x="9639300" y="4095750"/>
            <a:ext cx="1143000" cy="400050"/>
          </a:xfrm>
          <a:prstGeom xmlns:a="http://schemas.openxmlformats.org/drawingml/2006/main" prst="roundRect">
            <a:avLst>
              <a:gd name="adj" fmla="val 19048"/>
            </a:avLst>
          </a:prstGeom>
          <a:solidFill xmlns:a="http://schemas.openxmlformats.org/drawingml/2006/main">
            <a:srgbClr val="DCFCE7"/>
          </a:solidFill>
          <a:ln xmlns:a="http://schemas.openxmlformats.org/drawingml/2006/main" w="9525">
            <a:solidFill>
              <a:srgbClr val="15803D"/>
            </a:solidFill>
            <a:prstDash val="solid"/>
          </a:ln>
        </p:spPr>
        <p:txBody>
          <a:bodyPr xmlns:a="http://schemas.openxmlformats.org/drawingml/2006/main"/>
          <a:lstStyle xmlns:a="http://schemas.openxmlformats.org/drawingml/2006/main"/>
          <a:p xmlns:a="http://schemas.openxmlformats.org/drawingml/2006/main">
            <a:pPr algn="ctr">
              <a:defRPr sz="900" b="1">
                <a:solidFill>
                  <a:srgbClr val="172033"/>
                </a:solidFill>
              </a:defRPr>
            </a:pPr>
            <a:r>
              <a:rPr sz="900" b="1">
                <a:solidFill>
                  <a:srgbClr val="172033"/>
                </a:solidFill>
              </a:rPr>
              <a:t>COVERED</a:t>
            </a:r>
          </a:p>
        </p:txBody>
      </p:sp>
      <p:sp>
        <p:nvSpPr>
          <p:cNvPr id="22" name="">
            <a:extLst xmlns:a="http://schemas.openxmlformats.org/drawingml/2006/main">
              <a:ext uri="{FF2B5EF4-FFF2-40B4-BE49-F238E27FC236}">
                <a16:creationId xmlns:a16="http://schemas.microsoft.com/office/drawing/2014/main" id="{17D0B7B6-9D69-4642-BF7A-6E363A4D9E35}"/>
              </a:ext>
            </a:extLst>
          </p:cNvPr>
          <p:cNvSpPr>
            <a:spLocks xmlns:a="http://schemas.openxmlformats.org/drawingml/2006/main" noGrp="1"/>
          </p:cNvSpPr>
          <p:nvPr/>
        </p:nvSpPr>
        <p:spPr>
          <a:xfrm xmlns:a="http://schemas.openxmlformats.org/drawingml/2006/main">
            <a:off x="781050" y="4648200"/>
            <a:ext cx="447675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9525">
            <a:solidFill>
              <a:srgbClr val="D7DEE8"/>
            </a:solidFill>
            <a:prstDash val="solid"/>
          </a:ln>
        </p:spPr>
        <p:txBody>
          <a:bodyPr xmlns:a="http://schemas.openxmlformats.org/drawingml/2006/main"/>
          <a:lstStyle xmlns:a="http://schemas.openxmlformats.org/drawingml/2006/main"/>
          <a:p xmlns:a="http://schemas.openxmlformats.org/drawingml/2006/main">
            <a:pPr algn="ctr">
              <a:defRPr sz="900" b="0">
                <a:solidFill>
                  <a:srgbClr val="172033"/>
                </a:solidFill>
              </a:defRPr>
            </a:pPr>
            <a:r>
              <a:rPr sz="900" b="0">
                <a:solidFill>
                  <a:srgbClr val="172033"/>
                </a:solidFill>
              </a:rPr>
              <a:t>Measurement of 3 -phase power by 2-wattmeter method.</a:t>
            </a:r>
          </a:p>
        </p:txBody>
      </p:sp>
      <p:sp>
        <p:nvSpPr>
          <p:cNvPr id="23" name="">
            <a:extLst xmlns:a="http://schemas.openxmlformats.org/drawingml/2006/main">
              <a:ext uri="{FF2B5EF4-FFF2-40B4-BE49-F238E27FC236}">
                <a16:creationId xmlns:a16="http://schemas.microsoft.com/office/drawing/2014/main" id="{D805FDF9-14C0-4410-A930-430D5AD2C249}"/>
              </a:ext>
            </a:extLst>
          </p:cNvPr>
          <p:cNvSpPr>
            <a:spLocks xmlns:a="http://schemas.openxmlformats.org/drawingml/2006/main" noGrp="1"/>
          </p:cNvSpPr>
          <p:nvPr/>
        </p:nvSpPr>
        <p:spPr>
          <a:xfrm xmlns:a="http://schemas.openxmlformats.org/drawingml/2006/main">
            <a:off x="5810250" y="4648200"/>
            <a:ext cx="314325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9525">
            <a:solidFill>
              <a:srgbClr val="D7DEE8"/>
            </a:solidFill>
            <a:prstDash val="solid"/>
          </a:ln>
        </p:spPr>
        <p:txBody>
          <a:bodyPr xmlns:a="http://schemas.openxmlformats.org/drawingml/2006/main"/>
          <a:lstStyle xmlns:a="http://schemas.openxmlformats.org/drawingml/2006/main"/>
          <a:p xmlns:a="http://schemas.openxmlformats.org/drawingml/2006/main">
            <a:pPr algn="ctr">
              <a:defRPr sz="900" b="0">
                <a:solidFill>
                  <a:srgbClr val="172033"/>
                </a:solidFill>
              </a:defRPr>
            </a:pPr>
            <a:r>
              <a:rPr sz="900" b="0">
                <a:solidFill>
                  <a:srgbClr val="172033"/>
                </a:solidFill>
              </a:rPr>
              <a:t>Explained with concept, working, example, and exam view</a:t>
            </a:r>
          </a:p>
        </p:txBody>
      </p:sp>
      <p:sp>
        <p:nvSpPr>
          <p:cNvPr id="24" name="">
            <a:extLst xmlns:a="http://schemas.openxmlformats.org/drawingml/2006/main">
              <a:ext uri="{FF2B5EF4-FFF2-40B4-BE49-F238E27FC236}">
                <a16:creationId xmlns:a16="http://schemas.microsoft.com/office/drawing/2014/main" id="{F98C90D9-B782-4F2A-B38C-322FA003607B}"/>
              </a:ext>
            </a:extLst>
          </p:cNvPr>
          <p:cNvSpPr>
            <a:spLocks xmlns:a="http://schemas.openxmlformats.org/drawingml/2006/main" noGrp="1"/>
          </p:cNvSpPr>
          <p:nvPr/>
        </p:nvSpPr>
        <p:spPr>
          <a:xfrm xmlns:a="http://schemas.openxmlformats.org/drawingml/2006/main">
            <a:off x="9639300" y="4648200"/>
            <a:ext cx="1143000" cy="400050"/>
          </a:xfrm>
          <a:prstGeom xmlns:a="http://schemas.openxmlformats.org/drawingml/2006/main" prst="roundRect">
            <a:avLst>
              <a:gd name="adj" fmla="val 19048"/>
            </a:avLst>
          </a:prstGeom>
          <a:solidFill xmlns:a="http://schemas.openxmlformats.org/drawingml/2006/main">
            <a:srgbClr val="DCFCE7"/>
          </a:solidFill>
          <a:ln xmlns:a="http://schemas.openxmlformats.org/drawingml/2006/main" w="9525">
            <a:solidFill>
              <a:srgbClr val="15803D"/>
            </a:solidFill>
            <a:prstDash val="solid"/>
          </a:ln>
        </p:spPr>
        <p:txBody>
          <a:bodyPr xmlns:a="http://schemas.openxmlformats.org/drawingml/2006/main"/>
          <a:lstStyle xmlns:a="http://schemas.openxmlformats.org/drawingml/2006/main"/>
          <a:p xmlns:a="http://schemas.openxmlformats.org/drawingml/2006/main">
            <a:pPr algn="ctr">
              <a:defRPr sz="900" b="1">
                <a:solidFill>
                  <a:srgbClr val="172033"/>
                </a:solidFill>
              </a:defRPr>
            </a:pPr>
            <a:r>
              <a:rPr sz="900" b="1">
                <a:solidFill>
                  <a:srgbClr val="172033"/>
                </a:solidFill>
              </a:rPr>
              <a:t>COVERED</a:t>
            </a:r>
          </a:p>
        </p:txBody>
      </p:sp>
      <p:sp>
        <p:nvSpPr>
          <p:cNvPr id="25" name="">
            <a:extLst xmlns:a="http://schemas.openxmlformats.org/drawingml/2006/main">
              <a:ext uri="{FF2B5EF4-FFF2-40B4-BE49-F238E27FC236}">
                <a16:creationId xmlns:a16="http://schemas.microsoft.com/office/drawing/2014/main" id="{7A698392-08AA-4D33-BCAA-5238152D9490}"/>
              </a:ext>
            </a:extLst>
          </p:cNvPr>
          <p:cNvSpPr>
            <a:spLocks xmlns:a="http://schemas.openxmlformats.org/drawingml/2006/main" noGrp="1"/>
          </p:cNvSpPr>
          <p:nvPr/>
        </p:nvSpPr>
        <p:spPr>
          <a:xfrm xmlns:a="http://schemas.openxmlformats.org/drawingml/2006/main">
            <a:off x="781050" y="5200650"/>
            <a:ext cx="447675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9525">
            <a:solidFill>
              <a:srgbClr val="D7DEE8"/>
            </a:solidFill>
            <a:prstDash val="solid"/>
          </a:ln>
        </p:spPr>
        <p:txBody>
          <a:bodyPr xmlns:a="http://schemas.openxmlformats.org/drawingml/2006/main"/>
          <a:lstStyle xmlns:a="http://schemas.openxmlformats.org/drawingml/2006/main"/>
          <a:p xmlns:a="http://schemas.openxmlformats.org/drawingml/2006/main">
            <a:pPr algn="ctr">
              <a:defRPr sz="900" b="0">
                <a:solidFill>
                  <a:srgbClr val="172033"/>
                </a:solidFill>
              </a:defRPr>
            </a:pPr>
            <a:r>
              <a:rPr sz="900" b="0">
                <a:solidFill>
                  <a:srgbClr val="172033"/>
                </a:solidFill>
              </a:rPr>
              <a:t>Expression of power factor in terms wattmeter readings.</a:t>
            </a:r>
          </a:p>
        </p:txBody>
      </p:sp>
      <p:sp>
        <p:nvSpPr>
          <p:cNvPr id="26" name="">
            <a:extLst xmlns:a="http://schemas.openxmlformats.org/drawingml/2006/main">
              <a:ext uri="{FF2B5EF4-FFF2-40B4-BE49-F238E27FC236}">
                <a16:creationId xmlns:a16="http://schemas.microsoft.com/office/drawing/2014/main" id="{1D70713A-4C8F-4B0D-98DE-172F31F0E7A0}"/>
              </a:ext>
            </a:extLst>
          </p:cNvPr>
          <p:cNvSpPr>
            <a:spLocks xmlns:a="http://schemas.openxmlformats.org/drawingml/2006/main" noGrp="1"/>
          </p:cNvSpPr>
          <p:nvPr/>
        </p:nvSpPr>
        <p:spPr>
          <a:xfrm xmlns:a="http://schemas.openxmlformats.org/drawingml/2006/main">
            <a:off x="5810250" y="5200650"/>
            <a:ext cx="314325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9525">
            <a:solidFill>
              <a:srgbClr val="D7DEE8"/>
            </a:solidFill>
            <a:prstDash val="solid"/>
          </a:ln>
        </p:spPr>
        <p:txBody>
          <a:bodyPr xmlns:a="http://schemas.openxmlformats.org/drawingml/2006/main"/>
          <a:lstStyle xmlns:a="http://schemas.openxmlformats.org/drawingml/2006/main"/>
          <a:p xmlns:a="http://schemas.openxmlformats.org/drawingml/2006/main">
            <a:pPr algn="ctr">
              <a:defRPr sz="900" b="0">
                <a:solidFill>
                  <a:srgbClr val="172033"/>
                </a:solidFill>
              </a:defRPr>
            </a:pPr>
            <a:r>
              <a:rPr sz="900" b="0">
                <a:solidFill>
                  <a:srgbClr val="172033"/>
                </a:solidFill>
              </a:rPr>
              <a:t>Explained with concept, working, example, and exam view</a:t>
            </a:r>
          </a:p>
        </p:txBody>
      </p:sp>
      <p:sp>
        <p:nvSpPr>
          <p:cNvPr id="27" name="">
            <a:extLst xmlns:a="http://schemas.openxmlformats.org/drawingml/2006/main">
              <a:ext uri="{FF2B5EF4-FFF2-40B4-BE49-F238E27FC236}">
                <a16:creationId xmlns:a16="http://schemas.microsoft.com/office/drawing/2014/main" id="{9617EADB-DEFE-4892-9666-D4B3D29D61FF}"/>
              </a:ext>
            </a:extLst>
          </p:cNvPr>
          <p:cNvSpPr>
            <a:spLocks xmlns:a="http://schemas.openxmlformats.org/drawingml/2006/main" noGrp="1"/>
          </p:cNvSpPr>
          <p:nvPr/>
        </p:nvSpPr>
        <p:spPr>
          <a:xfrm xmlns:a="http://schemas.openxmlformats.org/drawingml/2006/main">
            <a:off x="9639300" y="5200650"/>
            <a:ext cx="1143000" cy="400050"/>
          </a:xfrm>
          <a:prstGeom xmlns:a="http://schemas.openxmlformats.org/drawingml/2006/main" prst="roundRect">
            <a:avLst>
              <a:gd name="adj" fmla="val 19048"/>
            </a:avLst>
          </a:prstGeom>
          <a:solidFill xmlns:a="http://schemas.openxmlformats.org/drawingml/2006/main">
            <a:srgbClr val="DCFCE7"/>
          </a:solidFill>
          <a:ln xmlns:a="http://schemas.openxmlformats.org/drawingml/2006/main" w="9525">
            <a:solidFill>
              <a:srgbClr val="15803D"/>
            </a:solidFill>
            <a:prstDash val="solid"/>
          </a:ln>
        </p:spPr>
        <p:txBody>
          <a:bodyPr xmlns:a="http://schemas.openxmlformats.org/drawingml/2006/main"/>
          <a:lstStyle xmlns:a="http://schemas.openxmlformats.org/drawingml/2006/main"/>
          <a:p xmlns:a="http://schemas.openxmlformats.org/drawingml/2006/main">
            <a:pPr algn="ctr">
              <a:defRPr sz="900" b="1">
                <a:solidFill>
                  <a:srgbClr val="172033"/>
                </a:solidFill>
              </a:defRPr>
            </a:pPr>
            <a:r>
              <a:rPr sz="900" b="1">
                <a:solidFill>
                  <a:srgbClr val="172033"/>
                </a:solidFill>
              </a:rPr>
              <a:t>COVERED</a:t>
            </a:r>
          </a:p>
        </p:txBody>
      </p:sp>
      <p:sp>
        <p:nvSpPr>
          <p:cNvPr id="28" name="">
            <a:extLst xmlns:a="http://schemas.openxmlformats.org/drawingml/2006/main">
              <a:ext uri="{FF2B5EF4-FFF2-40B4-BE49-F238E27FC236}">
                <a16:creationId xmlns:a16="http://schemas.microsoft.com/office/drawing/2014/main" id="{0F0BDA2F-0D6D-41D1-B48E-D195C1C5635D}"/>
              </a:ext>
            </a:extLst>
          </p:cNvPr>
          <p:cNvSpPr>
            <a:spLocks xmlns:a="http://schemas.openxmlformats.org/drawingml/2006/main" noGrp="1"/>
          </p:cNvSpPr>
          <p:nvPr/>
        </p:nvSpPr>
        <p:spPr>
          <a:xfrm xmlns:a="http://schemas.openxmlformats.org/drawingml/2006/main">
            <a:off x="609600" y="65341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5F6B7A"/>
                </a:solidFill>
              </a:defRPr>
            </a:pPr>
            <a:r>
              <a:rPr sz="825" b="0">
                <a:solidFill>
                  <a:srgbClr val="5F6B7A"/>
                </a:solidFill>
              </a:rPr>
              <a:t>Basics of Electrical Engineering | 1BBEE105/205</a:t>
            </a:r>
          </a:p>
        </p:txBody>
      </p:sp>
      <p:sp>
        <p:nvSpPr>
          <p:cNvPr id="29" name="">
            <a:extLst xmlns:a="http://schemas.openxmlformats.org/drawingml/2006/main">
              <a:ext uri="{FF2B5EF4-FFF2-40B4-BE49-F238E27FC236}">
                <a16:creationId xmlns:a16="http://schemas.microsoft.com/office/drawing/2014/main" id="{0A0AD349-80CE-4F1D-903B-0D8661B0E972}"/>
              </a:ext>
            </a:extLst>
          </p:cNvPr>
          <p:cNvSpPr>
            <a:spLocks xmlns:a="http://schemas.openxmlformats.org/drawingml/2006/main" noGrp="1"/>
          </p:cNvSpPr>
          <p:nvPr/>
        </p:nvSpPr>
        <p:spPr>
          <a:xfrm xmlns:a="http://schemas.openxmlformats.org/drawingml/2006/main">
            <a:off x="9867900" y="65341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5F6B7A"/>
                </a:solidFill>
              </a:defRPr>
            </a:pPr>
            <a:r>
              <a:rPr sz="825" b="0">
                <a:solidFill>
                  <a:srgbClr val="5F6B7A"/>
                </a:solidFill>
              </a:rPr>
              <a:t>Module 4 | 8/9</a:t>
            </a:r>
          </a:p>
        </p:txBody>
      </p:sp>
    </p:spTree>
    <p:extLst>
      <p:ext uri="{BB962C8B-B14F-4D97-AF65-F5344CB8AC3E}">
        <p14:creationId xmlns:p14="http://schemas.microsoft.com/office/powerpoint/2010/main" val="941749771"/>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562B4C-0538-45FF-B9CB-33F9CF69C2E2}"/>
              </a:ext>
            </a:extLst>
          </p:cNvPr>
          <p:cNvSpPr>
            <a:spLocks xmlns:a="http://schemas.openxmlformats.org/drawingml/2006/main" noGrp="1"/>
          </p:cNvSpPr>
          <p:nvPr/>
        </p:nvSpPr>
        <p:spPr>
          <a:xfrm xmlns:a="http://schemas.openxmlformats.org/drawingml/2006/main">
            <a:off x="609600" y="247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D28D9"/>
                </a:solidFill>
              </a:defRPr>
            </a:pPr>
            <a:r>
              <a:rPr sz="975" b="1">
                <a:solidFill>
                  <a:srgbClr val="6D28D9"/>
                </a:solidFill>
              </a:rPr>
              <a:t>1BBEE105/205 | Module 4</a:t>
            </a:r>
          </a:p>
        </p:txBody>
      </p:sp>
      <p:sp>
        <p:nvSpPr>
          <p:cNvPr id="2" name="">
            <a:extLst xmlns:a="http://schemas.openxmlformats.org/drawingml/2006/main">
              <a:ext uri="{FF2B5EF4-FFF2-40B4-BE49-F238E27FC236}">
                <a16:creationId xmlns:a16="http://schemas.microsoft.com/office/drawing/2014/main" id="{4A2BBCC7-ADF3-4F00-9D0F-8D10B609C636}"/>
              </a:ext>
            </a:extLst>
          </p:cNvPr>
          <p:cNvSpPr>
            <a:spLocks xmlns:a="http://schemas.openxmlformats.org/drawingml/2006/main" noGrp="1"/>
          </p:cNvSpPr>
          <p:nvPr/>
        </p:nvSpPr>
        <p:spPr>
          <a:xfrm xmlns:a="http://schemas.openxmlformats.org/drawingml/2006/main">
            <a:off x="609600" y="5524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72033"/>
                </a:solidFill>
              </a:defRPr>
            </a:pPr>
            <a:r>
              <a:rPr sz="2625" b="1">
                <a:solidFill>
                  <a:srgbClr val="172033"/>
                </a:solidFill>
              </a:rPr>
              <a:t>Module recap and exam preparation</a:t>
            </a:r>
          </a:p>
        </p:txBody>
      </p:sp>
      <p:sp>
        <p:nvSpPr>
          <p:cNvPr id="3" name="">
            <a:extLst xmlns:a="http://schemas.openxmlformats.org/drawingml/2006/main">
              <a:ext uri="{FF2B5EF4-FFF2-40B4-BE49-F238E27FC236}">
                <a16:creationId xmlns:a16="http://schemas.microsoft.com/office/drawing/2014/main" id="{FC609618-24E5-45DB-9B7C-9B4576541483}"/>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7DEE8"/>
          </a:solidFill>
          <a:ln xmlns:a="http://schemas.openxmlformats.org/drawingml/2006/main" w="0">
            <a:solidFill>
              <a:srgbClr val="D7DEE8"/>
            </a:solidFill>
            <a:prstDash val="solid"/>
          </a:ln>
        </p:spPr>
      </p:sp>
      <p:sp>
        <p:nvSpPr>
          <p:cNvPr id="4" name="">
            <a:extLst xmlns:a="http://schemas.openxmlformats.org/drawingml/2006/main">
              <a:ext uri="{FF2B5EF4-FFF2-40B4-BE49-F238E27FC236}">
                <a16:creationId xmlns:a16="http://schemas.microsoft.com/office/drawing/2014/main" id="{ECF8AF90-3287-42F1-A5E8-5FA4794E726F}"/>
              </a:ext>
            </a:extLst>
          </p:cNvPr>
          <p:cNvSpPr>
            <a:spLocks xmlns:a="http://schemas.openxmlformats.org/drawingml/2006/main" noGrp="1"/>
          </p:cNvSpPr>
          <p:nvPr/>
        </p:nvSpPr>
        <p:spPr>
          <a:xfrm xmlns:a="http://schemas.openxmlformats.org/drawingml/2006/main">
            <a:off x="1028700" y="1619250"/>
            <a:ext cx="9525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033"/>
                </a:solidFill>
              </a:defRPr>
            </a:pPr>
            <a:r>
              <a:rPr sz="1575" b="0">
                <a:solidFill>
                  <a:srgbClr val="172033"/>
                </a:solidFill>
              </a:rPr>
              <a:t>• Key definitions: Three, phase, Circuits, Generation</a:t>
            </a:r>
          </a:p>
          <a:p xmlns:a="http://schemas.openxmlformats.org/drawingml/2006/main">
            <a:pPr algn="l">
              <a:defRPr sz="1575" b="0">
                <a:solidFill>
                  <a:srgbClr val="172033"/>
                </a:solidFill>
              </a:defRPr>
            </a:pPr>
            <a:r>
              <a:rPr sz="1575" b="0">
                <a:solidFill>
                  <a:srgbClr val="172033"/>
                </a:solidFill>
              </a:rPr>
              <a:t>• Important diagrams: use a labelled flow, setup, circuit, graph, or concept map where relevant.</a:t>
            </a:r>
          </a:p>
          <a:p xmlns:a="http://schemas.openxmlformats.org/drawingml/2006/main">
            <a:pPr algn="l">
              <a:defRPr sz="1575" b="0">
                <a:solidFill>
                  <a:srgbClr val="172033"/>
                </a:solidFill>
              </a:defRPr>
            </a:pPr>
            <a:r>
              <a:rPr sz="1575" b="0">
                <a:solidFill>
                  <a:srgbClr val="172033"/>
                </a:solidFill>
              </a:rPr>
              <a:t>• Important working: show cause, mechanism, result, and interpretation.</a:t>
            </a:r>
          </a:p>
          <a:p xmlns:a="http://schemas.openxmlformats.org/drawingml/2006/main">
            <a:pPr algn="l">
              <a:defRPr sz="1575" b="0">
                <a:solidFill>
                  <a:srgbClr val="172033"/>
                </a:solidFill>
              </a:defRPr>
            </a:pPr>
            <a:r>
              <a:rPr sz="1575" b="0">
                <a:solidFill>
                  <a:srgbClr val="172033"/>
                </a:solidFill>
              </a:rPr>
              <a:t>• Common mistakes: avoid skipped steps, unsupported claims, and unlabeled diagrams.</a:t>
            </a:r>
          </a:p>
          <a:p xmlns:a="http://schemas.openxmlformats.org/drawingml/2006/main">
            <a:pPr algn="l">
              <a:defRPr sz="1575" b="0">
                <a:solidFill>
                  <a:srgbClr val="172033"/>
                </a:solidFill>
              </a:defRPr>
            </a:pPr>
            <a:r>
              <a:rPr sz="1575" b="0">
                <a:solidFill>
                  <a:srgbClr val="172033"/>
                </a:solidFill>
              </a:rPr>
              <a:t>• Practice: prepare short-answer, application, and worked-example questions from the listed topics.</a:t>
            </a:r>
          </a:p>
        </p:txBody>
      </p:sp>
      <p:sp>
        <p:nvSpPr>
          <p:cNvPr id="5" name="">
            <a:extLst xmlns:a="http://schemas.openxmlformats.org/drawingml/2006/main">
              <a:ext uri="{FF2B5EF4-FFF2-40B4-BE49-F238E27FC236}">
                <a16:creationId xmlns:a16="http://schemas.microsoft.com/office/drawing/2014/main" id="{A6FFF3C2-9EFE-4D5E-8A1E-CB440E5A303F}"/>
              </a:ext>
            </a:extLst>
          </p:cNvPr>
          <p:cNvSpPr>
            <a:spLocks xmlns:a="http://schemas.openxmlformats.org/drawingml/2006/main" noGrp="1"/>
          </p:cNvSpPr>
          <p:nvPr/>
        </p:nvSpPr>
        <p:spPr>
          <a:xfrm xmlns:a="http://schemas.openxmlformats.org/drawingml/2006/main">
            <a:off x="1028700" y="5010150"/>
            <a:ext cx="2476500" cy="438150"/>
          </a:xfrm>
          <a:prstGeom xmlns:a="http://schemas.openxmlformats.org/drawingml/2006/main" prst="roundRect">
            <a:avLst>
              <a:gd name="adj" fmla="val 17391"/>
            </a:avLst>
          </a:prstGeom>
          <a:solidFill xmlns:a="http://schemas.openxmlformats.org/drawingml/2006/main">
            <a:srgbClr val="FEF3C7"/>
          </a:solidFill>
          <a:ln xmlns:a="http://schemas.openxmlformats.org/drawingml/2006/main" w="9525">
            <a:solidFill>
              <a:srgbClr val="B4530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pPr algn="ctr">
              <a:defRPr sz="1350" b="1">
                <a:solidFill>
                  <a:srgbClr val="172033"/>
                </a:solidFill>
              </a:defRPr>
            </a:pPr>
            <a:r>
              <a:rPr sz="1350" b="1">
                <a:solidFill>
                  <a:srgbClr val="172033"/>
                </a:solidFill>
              </a:rPr>
              <a:t>Previous VTU Questions</a:t>
            </a:r>
          </a:p>
        </p:txBody>
      </p:sp>
      <p:sp>
        <p:nvSpPr>
          <p:cNvPr id="6" name="">
            <a:extLst xmlns:a="http://schemas.openxmlformats.org/drawingml/2006/main">
              <a:ext uri="{FF2B5EF4-FFF2-40B4-BE49-F238E27FC236}">
                <a16:creationId xmlns:a16="http://schemas.microsoft.com/office/drawing/2014/main" id="{D25307BC-6EDD-4730-9329-3964051FAD1B}"/>
              </a:ext>
            </a:extLst>
          </p:cNvPr>
          <p:cNvSpPr>
            <a:spLocks xmlns:a="http://schemas.openxmlformats.org/drawingml/2006/main" noGrp="1"/>
          </p:cNvSpPr>
          <p:nvPr/>
        </p:nvSpPr>
        <p:spPr>
          <a:xfrm xmlns:a="http://schemas.openxmlformats.org/drawingml/2006/main">
            <a:off x="3733800" y="5010150"/>
            <a:ext cx="670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2033"/>
                </a:solidFill>
              </a:defRPr>
            </a:pPr>
            <a:r>
              <a:rPr sz="1425" b="0">
                <a:solidFill>
                  <a:srgbClr val="172033"/>
                </a:solidFill>
              </a:rPr>
              <a:t>No repository-verified previous VTU questions were found for this module, so none are fabricated here.</a:t>
            </a:r>
          </a:p>
        </p:txBody>
      </p:sp>
      <p:sp>
        <p:nvSpPr>
          <p:cNvPr id="7" name="">
            <a:extLst xmlns:a="http://schemas.openxmlformats.org/drawingml/2006/main">
              <a:ext uri="{FF2B5EF4-FFF2-40B4-BE49-F238E27FC236}">
                <a16:creationId xmlns:a16="http://schemas.microsoft.com/office/drawing/2014/main" id="{DF7A216B-73E1-49BD-9C3A-72AB56BB12AE}"/>
              </a:ext>
            </a:extLst>
          </p:cNvPr>
          <p:cNvSpPr>
            <a:spLocks xmlns:a="http://schemas.openxmlformats.org/drawingml/2006/main" noGrp="1"/>
          </p:cNvSpPr>
          <p:nvPr/>
        </p:nvSpPr>
        <p:spPr>
          <a:xfrm xmlns:a="http://schemas.openxmlformats.org/drawingml/2006/main">
            <a:off x="609600" y="65341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5F6B7A"/>
                </a:solidFill>
              </a:defRPr>
            </a:pPr>
            <a:r>
              <a:rPr sz="825" b="0">
                <a:solidFill>
                  <a:srgbClr val="5F6B7A"/>
                </a:solidFill>
              </a:rPr>
              <a:t>Basics of Electrical Engineering | 1BBEE105/205</a:t>
            </a:r>
          </a:p>
        </p:txBody>
      </p:sp>
      <p:sp>
        <p:nvSpPr>
          <p:cNvPr id="8" name="">
            <a:extLst xmlns:a="http://schemas.openxmlformats.org/drawingml/2006/main">
              <a:ext uri="{FF2B5EF4-FFF2-40B4-BE49-F238E27FC236}">
                <a16:creationId xmlns:a16="http://schemas.microsoft.com/office/drawing/2014/main" id="{5039E120-A77D-4E35-B5D5-EF674DE24D0C}"/>
              </a:ext>
            </a:extLst>
          </p:cNvPr>
          <p:cNvSpPr>
            <a:spLocks xmlns:a="http://schemas.openxmlformats.org/drawingml/2006/main" noGrp="1"/>
          </p:cNvSpPr>
          <p:nvPr/>
        </p:nvSpPr>
        <p:spPr>
          <a:xfrm xmlns:a="http://schemas.openxmlformats.org/drawingml/2006/main">
            <a:off x="9867900" y="65341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5F6B7A"/>
                </a:solidFill>
              </a:defRPr>
            </a:pPr>
            <a:r>
              <a:rPr sz="825" b="0">
                <a:solidFill>
                  <a:srgbClr val="5F6B7A"/>
                </a:solidFill>
              </a:rPr>
              <a:t>Module 4 | 9/9</a:t>
            </a:r>
          </a:p>
        </p:txBody>
      </p:sp>
    </p:spTree>
    <p:extLst>
      <p:ext uri="{BB962C8B-B14F-4D97-AF65-F5344CB8AC3E}">
        <p14:creationId xmlns:p14="http://schemas.microsoft.com/office/powerpoint/2010/main" val="6563341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2026-08-24T06:38:40.5770000Z</dcterms:created>
  <dcterms:modified xsi:type="dcterms:W3CDTF">2026-08-24T06:38:40.5770000Z</dcterms:modified>
</coreProperties>
</file>