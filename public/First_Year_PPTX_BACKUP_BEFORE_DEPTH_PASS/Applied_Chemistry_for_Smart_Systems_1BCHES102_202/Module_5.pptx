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57.xml" ContentType="application/vnd.openxmlformats-officedocument.presentationml.notesSlide+xml"/>
  <Override PartName="/ppt/slides/slide58.xml" ContentType="application/vnd.openxmlformats-officedocument.presentationml.slide+xml"/>
  <Override PartName="/ppt/notesSlides/notesSlide58.xml" ContentType="application/vnd.openxmlformats-officedocument.presentationml.notesSlide+xml"/>
  <Override PartName="/ppt/slides/slide59.xml" ContentType="application/vnd.openxmlformats-officedocument.presentationml.slide+xml"/>
  <Override PartName="/ppt/notesSlides/notesSlide5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888ede547d345f8" /><Relationship Type="http://schemas.openxmlformats.org/officeDocument/2006/relationships/extended-properties" Target="/docProps/app.xml" Id="R169655d315894c37" /><Relationship Type="http://schemas.openxmlformats.org/officeDocument/2006/relationships/officeDocument" Target="/ppt/presentation.xml" Id="Rcfa6cd6b5518446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102d066ae29435d"/>
  </p:sldMasterIdLst>
  <p:notesMasterIdLst>
    <p:notesMasterId xmlns:r="http://schemas.openxmlformats.org/officeDocument/2006/relationships" r:id="Rab4c9361dbc5423a"/>
  </p:notesMasterIdLst>
  <p:sldIdLst>
    <p:sldId xmlns:r="http://schemas.openxmlformats.org/officeDocument/2006/relationships" id="256" r:id="R3f12463b212c4cb1"/>
    <p:sldId xmlns:r="http://schemas.openxmlformats.org/officeDocument/2006/relationships" id="257" r:id="R35a922ceebe84e69"/>
    <p:sldId xmlns:r="http://schemas.openxmlformats.org/officeDocument/2006/relationships" id="258" r:id="R848f02fedcd44ff6"/>
    <p:sldId xmlns:r="http://schemas.openxmlformats.org/officeDocument/2006/relationships" id="259" r:id="Ref81df1199354c57"/>
    <p:sldId xmlns:r="http://schemas.openxmlformats.org/officeDocument/2006/relationships" id="260" r:id="Rb13c576385da4e73"/>
    <p:sldId xmlns:r="http://schemas.openxmlformats.org/officeDocument/2006/relationships" id="261" r:id="Rcc9b26f142fe4504"/>
    <p:sldId xmlns:r="http://schemas.openxmlformats.org/officeDocument/2006/relationships" id="262" r:id="Re01363ccb4f1441f"/>
    <p:sldId xmlns:r="http://schemas.openxmlformats.org/officeDocument/2006/relationships" id="263" r:id="R07b89959bfc04b30"/>
    <p:sldId xmlns:r="http://schemas.openxmlformats.org/officeDocument/2006/relationships" id="264" r:id="R23c864aa923449b0"/>
    <p:sldId xmlns:r="http://schemas.openxmlformats.org/officeDocument/2006/relationships" id="265" r:id="R49ddee090c2c4264"/>
    <p:sldId xmlns:r="http://schemas.openxmlformats.org/officeDocument/2006/relationships" id="266" r:id="Rf1786ddf22bb441f"/>
    <p:sldId xmlns:r="http://schemas.openxmlformats.org/officeDocument/2006/relationships" id="267" r:id="Ref36982f80bf4545"/>
    <p:sldId xmlns:r="http://schemas.openxmlformats.org/officeDocument/2006/relationships" id="268" r:id="R0519fe5835ad4cf6"/>
    <p:sldId xmlns:r="http://schemas.openxmlformats.org/officeDocument/2006/relationships" id="269" r:id="Ra039831bed0c4e01"/>
    <p:sldId xmlns:r="http://schemas.openxmlformats.org/officeDocument/2006/relationships" id="270" r:id="Rf2660861597347cd"/>
    <p:sldId xmlns:r="http://schemas.openxmlformats.org/officeDocument/2006/relationships" id="271" r:id="R4c05e2c2db2b47c3"/>
    <p:sldId xmlns:r="http://schemas.openxmlformats.org/officeDocument/2006/relationships" id="272" r:id="R0a637246010c4480"/>
    <p:sldId xmlns:r="http://schemas.openxmlformats.org/officeDocument/2006/relationships" id="273" r:id="Ra81d09c0be8e4bc8"/>
    <p:sldId xmlns:r="http://schemas.openxmlformats.org/officeDocument/2006/relationships" id="274" r:id="Rbb0beba0d79e4a3c"/>
    <p:sldId xmlns:r="http://schemas.openxmlformats.org/officeDocument/2006/relationships" id="275" r:id="R7cd280fe79f44b18"/>
    <p:sldId xmlns:r="http://schemas.openxmlformats.org/officeDocument/2006/relationships" id="276" r:id="R919e4f9642284164"/>
    <p:sldId xmlns:r="http://schemas.openxmlformats.org/officeDocument/2006/relationships" id="277" r:id="R557112d8042b45be"/>
    <p:sldId xmlns:r="http://schemas.openxmlformats.org/officeDocument/2006/relationships" id="278" r:id="R8096220e8ba04eb8"/>
    <p:sldId xmlns:r="http://schemas.openxmlformats.org/officeDocument/2006/relationships" id="279" r:id="Ra51155aedde3428c"/>
    <p:sldId xmlns:r="http://schemas.openxmlformats.org/officeDocument/2006/relationships" id="280" r:id="Re6b7862000bf4a36"/>
    <p:sldId xmlns:r="http://schemas.openxmlformats.org/officeDocument/2006/relationships" id="281" r:id="R2fe8425cce344e7c"/>
    <p:sldId xmlns:r="http://schemas.openxmlformats.org/officeDocument/2006/relationships" id="282" r:id="R1c09c3052abd4444"/>
    <p:sldId xmlns:r="http://schemas.openxmlformats.org/officeDocument/2006/relationships" id="283" r:id="R873692fc784947f6"/>
    <p:sldId xmlns:r="http://schemas.openxmlformats.org/officeDocument/2006/relationships" id="284" r:id="Rd239b77295344422"/>
    <p:sldId xmlns:r="http://schemas.openxmlformats.org/officeDocument/2006/relationships" id="285" r:id="Rc059e68014e34484"/>
    <p:sldId xmlns:r="http://schemas.openxmlformats.org/officeDocument/2006/relationships" id="286" r:id="R05cd1feec777499c"/>
    <p:sldId xmlns:r="http://schemas.openxmlformats.org/officeDocument/2006/relationships" id="287" r:id="R6c026a667e244bbd"/>
    <p:sldId xmlns:r="http://schemas.openxmlformats.org/officeDocument/2006/relationships" id="288" r:id="R34d8355d3f364e4a"/>
    <p:sldId xmlns:r="http://schemas.openxmlformats.org/officeDocument/2006/relationships" id="289" r:id="R59137291ec2e4470"/>
    <p:sldId xmlns:r="http://schemas.openxmlformats.org/officeDocument/2006/relationships" id="290" r:id="Reae7d9cfa95f4e1c"/>
    <p:sldId xmlns:r="http://schemas.openxmlformats.org/officeDocument/2006/relationships" id="291" r:id="R5188062ccd1247b6"/>
    <p:sldId xmlns:r="http://schemas.openxmlformats.org/officeDocument/2006/relationships" id="292" r:id="Ree5507b6e0454e3a"/>
    <p:sldId xmlns:r="http://schemas.openxmlformats.org/officeDocument/2006/relationships" id="293" r:id="R1360f901183e4ee9"/>
    <p:sldId xmlns:r="http://schemas.openxmlformats.org/officeDocument/2006/relationships" id="294" r:id="Rec44e1e19dc94ea7"/>
    <p:sldId xmlns:r="http://schemas.openxmlformats.org/officeDocument/2006/relationships" id="295" r:id="Rb5b595a6cf3d4ce3"/>
    <p:sldId xmlns:r="http://schemas.openxmlformats.org/officeDocument/2006/relationships" id="296" r:id="R1af3db9fec8b49b6"/>
    <p:sldId xmlns:r="http://schemas.openxmlformats.org/officeDocument/2006/relationships" id="297" r:id="R13c61028bbe940cc"/>
    <p:sldId xmlns:r="http://schemas.openxmlformats.org/officeDocument/2006/relationships" id="298" r:id="R20e96818300846c1"/>
    <p:sldId xmlns:r="http://schemas.openxmlformats.org/officeDocument/2006/relationships" id="299" r:id="Rde4ac854db5b46d6"/>
    <p:sldId xmlns:r="http://schemas.openxmlformats.org/officeDocument/2006/relationships" id="300" r:id="R647300dc05e6471f"/>
    <p:sldId xmlns:r="http://schemas.openxmlformats.org/officeDocument/2006/relationships" id="301" r:id="R34b276563a1949d6"/>
    <p:sldId xmlns:r="http://schemas.openxmlformats.org/officeDocument/2006/relationships" id="302" r:id="R07f6f29ad529411e"/>
    <p:sldId xmlns:r="http://schemas.openxmlformats.org/officeDocument/2006/relationships" id="303" r:id="R39f346c2dece4d62"/>
    <p:sldId xmlns:r="http://schemas.openxmlformats.org/officeDocument/2006/relationships" id="304" r:id="Rbd73782d6963499a"/>
    <p:sldId xmlns:r="http://schemas.openxmlformats.org/officeDocument/2006/relationships" id="305" r:id="Rcee889fb636d405f"/>
    <p:sldId xmlns:r="http://schemas.openxmlformats.org/officeDocument/2006/relationships" id="306" r:id="R91cb4f3c70f545de"/>
    <p:sldId xmlns:r="http://schemas.openxmlformats.org/officeDocument/2006/relationships" id="307" r:id="Rba469bba763445d9"/>
    <p:sldId xmlns:r="http://schemas.openxmlformats.org/officeDocument/2006/relationships" id="308" r:id="R63968e1ec0c9444a"/>
    <p:sldId xmlns:r="http://schemas.openxmlformats.org/officeDocument/2006/relationships" id="309" r:id="R41f8f409a2c1408d"/>
    <p:sldId xmlns:r="http://schemas.openxmlformats.org/officeDocument/2006/relationships" id="310" r:id="R2af6b465f8444b01"/>
    <p:sldId xmlns:r="http://schemas.openxmlformats.org/officeDocument/2006/relationships" id="311" r:id="Rd48e673e149c4f70"/>
    <p:sldId xmlns:r="http://schemas.openxmlformats.org/officeDocument/2006/relationships" id="312" r:id="Re3d8366f1f474d9e"/>
    <p:sldId xmlns:r="http://schemas.openxmlformats.org/officeDocument/2006/relationships" id="313" r:id="Re5f7922f6972407d"/>
    <p:sldId xmlns:r="http://schemas.openxmlformats.org/officeDocument/2006/relationships" id="314" r:id="Rb1493491cb7a49a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2e1e7c88a42489e" /><Relationship Type="http://schemas.openxmlformats.org/officeDocument/2006/relationships/slideMaster" Target="/ppt/slideMasters/slideMaster1.xml" Id="R1102d066ae29435d" /><Relationship Type="http://schemas.openxmlformats.org/officeDocument/2006/relationships/notesMaster" Target="/ppt/notesMasters/notesMaster1.xml" Id="Rab4c9361dbc5423a" /><Relationship Type="http://schemas.openxmlformats.org/officeDocument/2006/relationships/presProps" Target="/ppt/presProps.xml" Id="Rceb7f60d0c9d4eb2" /><Relationship Type="http://schemas.openxmlformats.org/officeDocument/2006/relationships/tableStyles" Target="/ppt/tableStyles.xml" Id="Rdd5b0c30dcd14935" /><Relationship Type="http://schemas.openxmlformats.org/officeDocument/2006/relationships/slide" Target="/ppt/slides/slide1.xml" Id="R3f12463b212c4cb1" /><Relationship Type="http://schemas.openxmlformats.org/officeDocument/2006/relationships/slide" Target="/ppt/slides/slide2.xml" Id="R35a922ceebe84e69" /><Relationship Type="http://schemas.openxmlformats.org/officeDocument/2006/relationships/slide" Target="/ppt/slides/slide3.xml" Id="R848f02fedcd44ff6" /><Relationship Type="http://schemas.openxmlformats.org/officeDocument/2006/relationships/slide" Target="/ppt/slides/slide4.xml" Id="Ref81df1199354c57" /><Relationship Type="http://schemas.openxmlformats.org/officeDocument/2006/relationships/slide" Target="/ppt/slides/slide5.xml" Id="Rb13c576385da4e73" /><Relationship Type="http://schemas.openxmlformats.org/officeDocument/2006/relationships/slide" Target="/ppt/slides/slide6.xml" Id="Rcc9b26f142fe4504" /><Relationship Type="http://schemas.openxmlformats.org/officeDocument/2006/relationships/slide" Target="/ppt/slides/slide7.xml" Id="Re01363ccb4f1441f" /><Relationship Type="http://schemas.openxmlformats.org/officeDocument/2006/relationships/slide" Target="/ppt/slides/slide8.xml" Id="R07b89959bfc04b30" /><Relationship Type="http://schemas.openxmlformats.org/officeDocument/2006/relationships/slide" Target="/ppt/slides/slide9.xml" Id="R23c864aa923449b0" /><Relationship Type="http://schemas.openxmlformats.org/officeDocument/2006/relationships/slide" Target="/ppt/slides/slide10.xml" Id="R49ddee090c2c4264" /><Relationship Type="http://schemas.openxmlformats.org/officeDocument/2006/relationships/slide" Target="/ppt/slides/slide11.xml" Id="Rf1786ddf22bb441f" /><Relationship Type="http://schemas.openxmlformats.org/officeDocument/2006/relationships/slide" Target="/ppt/slides/slide12.xml" Id="Ref36982f80bf4545" /><Relationship Type="http://schemas.openxmlformats.org/officeDocument/2006/relationships/slide" Target="/ppt/slides/slide13.xml" Id="R0519fe5835ad4cf6" /><Relationship Type="http://schemas.openxmlformats.org/officeDocument/2006/relationships/slide" Target="/ppt/slides/slide14.xml" Id="Ra039831bed0c4e01" /><Relationship Type="http://schemas.openxmlformats.org/officeDocument/2006/relationships/slide" Target="/ppt/slides/slide15.xml" Id="Rf2660861597347cd" /><Relationship Type="http://schemas.openxmlformats.org/officeDocument/2006/relationships/slide" Target="/ppt/slides/slide16.xml" Id="R4c05e2c2db2b47c3" /><Relationship Type="http://schemas.openxmlformats.org/officeDocument/2006/relationships/slide" Target="/ppt/slides/slide17.xml" Id="R0a637246010c4480" /><Relationship Type="http://schemas.openxmlformats.org/officeDocument/2006/relationships/slide" Target="/ppt/slides/slide18.xml" Id="Ra81d09c0be8e4bc8" /><Relationship Type="http://schemas.openxmlformats.org/officeDocument/2006/relationships/slide" Target="/ppt/slides/slide19.xml" Id="Rbb0beba0d79e4a3c" /><Relationship Type="http://schemas.openxmlformats.org/officeDocument/2006/relationships/slide" Target="/ppt/slides/slide20.xml" Id="R7cd280fe79f44b18" /><Relationship Type="http://schemas.openxmlformats.org/officeDocument/2006/relationships/slide" Target="/ppt/slides/slide21.xml" Id="R919e4f9642284164" /><Relationship Type="http://schemas.openxmlformats.org/officeDocument/2006/relationships/slide" Target="/ppt/slides/slide22.xml" Id="R557112d8042b45be" /><Relationship Type="http://schemas.openxmlformats.org/officeDocument/2006/relationships/slide" Target="/ppt/slides/slide23.xml" Id="R8096220e8ba04eb8" /><Relationship Type="http://schemas.openxmlformats.org/officeDocument/2006/relationships/slide" Target="/ppt/slides/slide24.xml" Id="Ra51155aedde3428c" /><Relationship Type="http://schemas.openxmlformats.org/officeDocument/2006/relationships/slide" Target="/ppt/slides/slide25.xml" Id="Re6b7862000bf4a36" /><Relationship Type="http://schemas.openxmlformats.org/officeDocument/2006/relationships/slide" Target="/ppt/slides/slide26.xml" Id="R2fe8425cce344e7c" /><Relationship Type="http://schemas.openxmlformats.org/officeDocument/2006/relationships/slide" Target="/ppt/slides/slide27.xml" Id="R1c09c3052abd4444" /><Relationship Type="http://schemas.openxmlformats.org/officeDocument/2006/relationships/slide" Target="/ppt/slides/slide28.xml" Id="R873692fc784947f6" /><Relationship Type="http://schemas.openxmlformats.org/officeDocument/2006/relationships/slide" Target="/ppt/slides/slide29.xml" Id="Rd239b77295344422" /><Relationship Type="http://schemas.openxmlformats.org/officeDocument/2006/relationships/slide" Target="/ppt/slides/slide30.xml" Id="Rc059e68014e34484" /><Relationship Type="http://schemas.openxmlformats.org/officeDocument/2006/relationships/slide" Target="/ppt/slides/slide31.xml" Id="R05cd1feec777499c" /><Relationship Type="http://schemas.openxmlformats.org/officeDocument/2006/relationships/slide" Target="/ppt/slides/slide32.xml" Id="R6c026a667e244bbd" /><Relationship Type="http://schemas.openxmlformats.org/officeDocument/2006/relationships/slide" Target="/ppt/slides/slide33.xml" Id="R34d8355d3f364e4a" /><Relationship Type="http://schemas.openxmlformats.org/officeDocument/2006/relationships/slide" Target="/ppt/slides/slide34.xml" Id="R59137291ec2e4470" /><Relationship Type="http://schemas.openxmlformats.org/officeDocument/2006/relationships/slide" Target="/ppt/slides/slide35.xml" Id="Reae7d9cfa95f4e1c" /><Relationship Type="http://schemas.openxmlformats.org/officeDocument/2006/relationships/slide" Target="/ppt/slides/slide36.xml" Id="R5188062ccd1247b6" /><Relationship Type="http://schemas.openxmlformats.org/officeDocument/2006/relationships/slide" Target="/ppt/slides/slide37.xml" Id="Ree5507b6e0454e3a" /><Relationship Type="http://schemas.openxmlformats.org/officeDocument/2006/relationships/slide" Target="/ppt/slides/slide38.xml" Id="R1360f901183e4ee9" /><Relationship Type="http://schemas.openxmlformats.org/officeDocument/2006/relationships/slide" Target="/ppt/slides/slide39.xml" Id="Rec44e1e19dc94ea7" /><Relationship Type="http://schemas.openxmlformats.org/officeDocument/2006/relationships/slide" Target="/ppt/slides/slide40.xml" Id="Rb5b595a6cf3d4ce3" /><Relationship Type="http://schemas.openxmlformats.org/officeDocument/2006/relationships/slide" Target="/ppt/slides/slide41.xml" Id="R1af3db9fec8b49b6" /><Relationship Type="http://schemas.openxmlformats.org/officeDocument/2006/relationships/slide" Target="/ppt/slides/slide42.xml" Id="R13c61028bbe940cc" /><Relationship Type="http://schemas.openxmlformats.org/officeDocument/2006/relationships/slide" Target="/ppt/slides/slide43.xml" Id="R20e96818300846c1" /><Relationship Type="http://schemas.openxmlformats.org/officeDocument/2006/relationships/slide" Target="/ppt/slides/slide44.xml" Id="Rde4ac854db5b46d6" /><Relationship Type="http://schemas.openxmlformats.org/officeDocument/2006/relationships/slide" Target="/ppt/slides/slide45.xml" Id="R647300dc05e6471f" /><Relationship Type="http://schemas.openxmlformats.org/officeDocument/2006/relationships/slide" Target="/ppt/slides/slide46.xml" Id="R34b276563a1949d6" /><Relationship Type="http://schemas.openxmlformats.org/officeDocument/2006/relationships/slide" Target="/ppt/slides/slide47.xml" Id="R07f6f29ad529411e" /><Relationship Type="http://schemas.openxmlformats.org/officeDocument/2006/relationships/slide" Target="/ppt/slides/slide48.xml" Id="R39f346c2dece4d62" /><Relationship Type="http://schemas.openxmlformats.org/officeDocument/2006/relationships/slide" Target="/ppt/slides/slide49.xml" Id="Rbd73782d6963499a" /><Relationship Type="http://schemas.openxmlformats.org/officeDocument/2006/relationships/slide" Target="/ppt/slides/slide50.xml" Id="Rcee889fb636d405f" /><Relationship Type="http://schemas.openxmlformats.org/officeDocument/2006/relationships/slide" Target="/ppt/slides/slide51.xml" Id="R91cb4f3c70f545de" /><Relationship Type="http://schemas.openxmlformats.org/officeDocument/2006/relationships/slide" Target="/ppt/slides/slide52.xml" Id="Rba469bba763445d9" /><Relationship Type="http://schemas.openxmlformats.org/officeDocument/2006/relationships/slide" Target="/ppt/slides/slide53.xml" Id="R63968e1ec0c9444a" /><Relationship Type="http://schemas.openxmlformats.org/officeDocument/2006/relationships/slide" Target="/ppt/slides/slide54.xml" Id="R41f8f409a2c1408d" /><Relationship Type="http://schemas.openxmlformats.org/officeDocument/2006/relationships/slide" Target="/ppt/slides/slide55.xml" Id="R2af6b465f8444b01" /><Relationship Type="http://schemas.openxmlformats.org/officeDocument/2006/relationships/slide" Target="/ppt/slides/slide56.xml" Id="Rd48e673e149c4f70" /><Relationship Type="http://schemas.openxmlformats.org/officeDocument/2006/relationships/slide" Target="/ppt/slides/slide57.xml" Id="Re3d8366f1f474d9e" /><Relationship Type="http://schemas.openxmlformats.org/officeDocument/2006/relationships/slide" Target="/ppt/slides/slide58.xml" Id="Re5f7922f6972407d" /><Relationship Type="http://schemas.openxmlformats.org/officeDocument/2006/relationships/slide" Target="/ppt/slides/slide59.xml" Id="Rb1493491cb7a49a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363d281a12e403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7838a03e9f84a69" /><Relationship Type="http://schemas.openxmlformats.org/officeDocument/2006/relationships/notesMaster" Target="/ppt/notesMasters/notesMaster1.xml" Id="Rbc7821c4c4ee4e1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8599e38df154d39" /><Relationship Type="http://schemas.openxmlformats.org/officeDocument/2006/relationships/notesMaster" Target="/ppt/notesMasters/notesMaster1.xml" Id="R7829d358dcb64a0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8699928c32f487c" /><Relationship Type="http://schemas.openxmlformats.org/officeDocument/2006/relationships/notesMaster" Target="/ppt/notesMasters/notesMaster1.xml" Id="Rd8ad625ef5b24a8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4c5713fe49c46a6" /><Relationship Type="http://schemas.openxmlformats.org/officeDocument/2006/relationships/notesMaster" Target="/ppt/notesMasters/notesMaster1.xml" Id="Red23db13d59542c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19a5690598147fa" /><Relationship Type="http://schemas.openxmlformats.org/officeDocument/2006/relationships/notesMaster" Target="/ppt/notesMasters/notesMaster1.xml" Id="R8b0320028faf4e3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521298a78744c1e" /><Relationship Type="http://schemas.openxmlformats.org/officeDocument/2006/relationships/notesMaster" Target="/ppt/notesMasters/notesMaster1.xml" Id="R731ca988793145b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67354ed9eac4fbc" /><Relationship Type="http://schemas.openxmlformats.org/officeDocument/2006/relationships/notesMaster" Target="/ppt/notesMasters/notesMaster1.xml" Id="R4761d74db1d04c2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4c574fc65654453" /><Relationship Type="http://schemas.openxmlformats.org/officeDocument/2006/relationships/notesMaster" Target="/ppt/notesMasters/notesMaster1.xml" Id="R2674ab86cfc14f8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364493ccdce4d78" /><Relationship Type="http://schemas.openxmlformats.org/officeDocument/2006/relationships/notesMaster" Target="/ppt/notesMasters/notesMaster1.xml" Id="R271525ea208144c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ab2873382df4325" /><Relationship Type="http://schemas.openxmlformats.org/officeDocument/2006/relationships/notesMaster" Target="/ppt/notesMasters/notesMaster1.xml" Id="R067c85d425cf4b3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437bf9df12c4bd1" /><Relationship Type="http://schemas.openxmlformats.org/officeDocument/2006/relationships/notesMaster" Target="/ppt/notesMasters/notesMaster1.xml" Id="R3ce612475059445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7cd850726e44afd" /><Relationship Type="http://schemas.openxmlformats.org/officeDocument/2006/relationships/notesMaster" Target="/ppt/notesMasters/notesMaster1.xml" Id="R2f86127a736b412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a1d44341dda425d" /><Relationship Type="http://schemas.openxmlformats.org/officeDocument/2006/relationships/notesMaster" Target="/ppt/notesMasters/notesMaster1.xml" Id="Re1c5696754b7472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34f58e1f4794bdc" /><Relationship Type="http://schemas.openxmlformats.org/officeDocument/2006/relationships/notesMaster" Target="/ppt/notesMasters/notesMaster1.xml" Id="Re05110186a01449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e421ed57bb946cb" /><Relationship Type="http://schemas.openxmlformats.org/officeDocument/2006/relationships/notesMaster" Target="/ppt/notesMasters/notesMaster1.xml" Id="R2fd41158243541a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d5fe1d7292440ab" /><Relationship Type="http://schemas.openxmlformats.org/officeDocument/2006/relationships/notesMaster" Target="/ppt/notesMasters/notesMaster1.xml" Id="R68c3542e3d7b454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f0f58c8abbd84744" /><Relationship Type="http://schemas.openxmlformats.org/officeDocument/2006/relationships/notesMaster" Target="/ppt/notesMasters/notesMaster1.xml" Id="R09700bcbe7ba491e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6609c914659b417f" /><Relationship Type="http://schemas.openxmlformats.org/officeDocument/2006/relationships/notesMaster" Target="/ppt/notesMasters/notesMaster1.xml" Id="R12372e9af467472b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6082e078319e4b81" /><Relationship Type="http://schemas.openxmlformats.org/officeDocument/2006/relationships/notesMaster" Target="/ppt/notesMasters/notesMaster1.xml" Id="R23f09960ca7f4b5e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420ea6c4871b47bf" /><Relationship Type="http://schemas.openxmlformats.org/officeDocument/2006/relationships/notesMaster" Target="/ppt/notesMasters/notesMaster1.xml" Id="R8c2094c49dd1449e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121b949425f64759" /><Relationship Type="http://schemas.openxmlformats.org/officeDocument/2006/relationships/notesMaster" Target="/ppt/notesMasters/notesMaster1.xml" Id="Rd1b60f39bfa64b55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addbe38d12634103" /><Relationship Type="http://schemas.openxmlformats.org/officeDocument/2006/relationships/notesMaster" Target="/ppt/notesMasters/notesMaster1.xml" Id="R2a33a44b6d6640dd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c1f2670edc2e48ba" /><Relationship Type="http://schemas.openxmlformats.org/officeDocument/2006/relationships/notesMaster" Target="/ppt/notesMasters/notesMaster1.xml" Id="Rb3ca9e3c5b3b4a71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df9455195ef64025" /><Relationship Type="http://schemas.openxmlformats.org/officeDocument/2006/relationships/notesMaster" Target="/ppt/notesMasters/notesMaster1.xml" Id="Re8a97b2525c54d5a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568409c94196473c" /><Relationship Type="http://schemas.openxmlformats.org/officeDocument/2006/relationships/notesMaster" Target="/ppt/notesMasters/notesMaster1.xml" Id="R05b3548990f44710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1d620a3e4eac4cc5" /><Relationship Type="http://schemas.openxmlformats.org/officeDocument/2006/relationships/notesMaster" Target="/ppt/notesMasters/notesMaster1.xml" Id="R21d283d41a1c440f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19a6fcb5c468449d" /><Relationship Type="http://schemas.openxmlformats.org/officeDocument/2006/relationships/notesMaster" Target="/ppt/notesMasters/notesMaster1.xml" Id="R59bc50d550864b16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e88490e9c8224f2d" /><Relationship Type="http://schemas.openxmlformats.org/officeDocument/2006/relationships/notesMaster" Target="/ppt/notesMasters/notesMaster1.xml" Id="R0bf19542f50f47f9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6ea80d669d934aad" /><Relationship Type="http://schemas.openxmlformats.org/officeDocument/2006/relationships/notesMaster" Target="/ppt/notesMasters/notesMaster1.xml" Id="R01995ac2abce444d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b2ce964b4975401a" /><Relationship Type="http://schemas.openxmlformats.org/officeDocument/2006/relationships/notesMaster" Target="/ppt/notesMasters/notesMaster1.xml" Id="R8a0ec5fa0e814694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4227e1dc466e4661" /><Relationship Type="http://schemas.openxmlformats.org/officeDocument/2006/relationships/notesMaster" Target="/ppt/notesMasters/notesMaster1.xml" Id="Rb7de7c784c814558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3dfccb494a984b28" /><Relationship Type="http://schemas.openxmlformats.org/officeDocument/2006/relationships/notesMaster" Target="/ppt/notesMasters/notesMaster1.xml" Id="R43715c60bc7d4868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00c0b2b69e944574" /><Relationship Type="http://schemas.openxmlformats.org/officeDocument/2006/relationships/notesMaster" Target="/ppt/notesMasters/notesMaster1.xml" Id="Ra39d1aea19e74a94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d6467836984f4f07" /><Relationship Type="http://schemas.openxmlformats.org/officeDocument/2006/relationships/notesMaster" Target="/ppt/notesMasters/notesMaster1.xml" Id="Rd08ed73c5104438a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f4ce520104414cf6" /><Relationship Type="http://schemas.openxmlformats.org/officeDocument/2006/relationships/notesMaster" Target="/ppt/notesMasters/notesMaster1.xml" Id="R8ad5ec1b398942be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03d837d54fb8433e" /><Relationship Type="http://schemas.openxmlformats.org/officeDocument/2006/relationships/notesMaster" Target="/ppt/notesMasters/notesMaster1.xml" Id="Rf168d4f8b19c436c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ece3b886f7aa4504" /><Relationship Type="http://schemas.openxmlformats.org/officeDocument/2006/relationships/notesMaster" Target="/ppt/notesMasters/notesMaster1.xml" Id="R24d070f3f81549ce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ff44188e71b348ac" /><Relationship Type="http://schemas.openxmlformats.org/officeDocument/2006/relationships/notesMaster" Target="/ppt/notesMasters/notesMaster1.xml" Id="R546424e9985a4dcd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10bc2d97e2714485" /><Relationship Type="http://schemas.openxmlformats.org/officeDocument/2006/relationships/notesMaster" Target="/ppt/notesMasters/notesMaster1.xml" Id="R4c9f9141f37a4e87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f4d69ef48e1e42f9" /><Relationship Type="http://schemas.openxmlformats.org/officeDocument/2006/relationships/notesMaster" Target="/ppt/notesMasters/notesMaster1.xml" Id="R0313904ca30f4895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9990a0e0507c4737" /><Relationship Type="http://schemas.openxmlformats.org/officeDocument/2006/relationships/notesMaster" Target="/ppt/notesMasters/notesMaster1.xml" Id="R98135a5c5b8f416c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55d649f002274090" /><Relationship Type="http://schemas.openxmlformats.org/officeDocument/2006/relationships/notesMaster" Target="/ppt/notesMasters/notesMaster1.xml" Id="Recbefc71412a4805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743727b86ff344f0" /><Relationship Type="http://schemas.openxmlformats.org/officeDocument/2006/relationships/notesMaster" Target="/ppt/notesMasters/notesMaster1.xml" Id="Rd37f66682ad14a4b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0a9f341ba1844141" /><Relationship Type="http://schemas.openxmlformats.org/officeDocument/2006/relationships/notesMaster" Target="/ppt/notesMasters/notesMaster1.xml" Id="R24a858a174cc4d4b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18e6c75f04204f0d" /><Relationship Type="http://schemas.openxmlformats.org/officeDocument/2006/relationships/notesMaster" Target="/ppt/notesMasters/notesMaster1.xml" Id="R2ae3dd7690954efc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dc0fbe4aa4b84e64" /><Relationship Type="http://schemas.openxmlformats.org/officeDocument/2006/relationships/notesMaster" Target="/ppt/notesMasters/notesMaster1.xml" Id="R7c1034070fa74091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e844b0a3b92c4915" /><Relationship Type="http://schemas.openxmlformats.org/officeDocument/2006/relationships/notesMaster" Target="/ppt/notesMasters/notesMaster1.xml" Id="R3c8518ad3e694f48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77e722f4a7d44716" /><Relationship Type="http://schemas.openxmlformats.org/officeDocument/2006/relationships/notesMaster" Target="/ppt/notesMasters/notesMaster1.xml" Id="R769c46f423fb469c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26872f1349234fd5" /><Relationship Type="http://schemas.openxmlformats.org/officeDocument/2006/relationships/notesMaster" Target="/ppt/notesMasters/notesMaster1.xml" Id="R779f182dbdf048a4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1bbac736cbdb4bdf" /><Relationship Type="http://schemas.openxmlformats.org/officeDocument/2006/relationships/notesMaster" Target="/ppt/notesMasters/notesMaster1.xml" Id="R4dbe9e22a99b48e9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95df982eafd34d3a" /><Relationship Type="http://schemas.openxmlformats.org/officeDocument/2006/relationships/notesMaster" Target="/ppt/notesMasters/notesMaster1.xml" Id="R33a1c00cd4cf42b3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7b42d505e4074aff" /><Relationship Type="http://schemas.openxmlformats.org/officeDocument/2006/relationships/notesMaster" Target="/ppt/notesMasters/notesMaster1.xml" Id="Rfab492be28c54a27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3595c6f625a64fc7" /><Relationship Type="http://schemas.openxmlformats.org/officeDocument/2006/relationships/notesMaster" Target="/ppt/notesMasters/notesMaster1.xml" Id="R2a7faa92495d4734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ceaeb6cf71b94fe5" /><Relationship Type="http://schemas.openxmlformats.org/officeDocument/2006/relationships/notesMaster" Target="/ppt/notesMasters/notesMaster1.xml" Id="Rb5011094a60e49c6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21b8fafa3ef74a9e" /><Relationship Type="http://schemas.openxmlformats.org/officeDocument/2006/relationships/notesMaster" Target="/ppt/notesMasters/notesMaster1.xml" Id="Rbf25d77cf42f4cb4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e62b6fa432fa46cf" /><Relationship Type="http://schemas.openxmlformats.org/officeDocument/2006/relationships/notesMaster" Target="/ppt/notesMasters/notesMaster1.xml" Id="Rd06ba2e745d44a11" /></Relationships>
</file>

<file path=ppt/notesSlides/_rels/notesSlide57.xml.rels>&#65279;<?xml version="1.0" encoding="utf-8"?><Relationships xmlns="http://schemas.openxmlformats.org/package/2006/relationships"><Relationship Type="http://schemas.openxmlformats.org/officeDocument/2006/relationships/slide" Target="/ppt/slides/slide57.xml" Id="Rccb5a0c1fed340f4" /><Relationship Type="http://schemas.openxmlformats.org/officeDocument/2006/relationships/notesMaster" Target="/ppt/notesMasters/notesMaster1.xml" Id="Rb77a7ed4e3d340cb" /></Relationships>
</file>

<file path=ppt/notesSlides/_rels/notesSlide58.xml.rels>&#65279;<?xml version="1.0" encoding="utf-8"?><Relationships xmlns="http://schemas.openxmlformats.org/package/2006/relationships"><Relationship Type="http://schemas.openxmlformats.org/officeDocument/2006/relationships/slide" Target="/ppt/slides/slide58.xml" Id="Rcb16849121284241" /><Relationship Type="http://schemas.openxmlformats.org/officeDocument/2006/relationships/notesMaster" Target="/ppt/notesMasters/notesMaster1.xml" Id="R442aeed0c65648b7" /></Relationships>
</file>

<file path=ppt/notesSlides/_rels/notesSlide59.xml.rels>&#65279;<?xml version="1.0" encoding="utf-8"?><Relationships xmlns="http://schemas.openxmlformats.org/package/2006/relationships"><Relationship Type="http://schemas.openxmlformats.org/officeDocument/2006/relationships/slide" Target="/ppt/slides/slide59.xml" Id="R0adca66a3fc3465b" /><Relationship Type="http://schemas.openxmlformats.org/officeDocument/2006/relationships/notesMaster" Target="/ppt/notesMasters/notesMaster1.xml" Id="R12e6144efbbb4ef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Open by saying smart systems should be designed for performance and end-of-life responsibility.</a:t>
            </a:r>
          </a:p>
          <a:p xmlns:a="http://schemas.openxmlformats.org/drawingml/2006/main">
            <a:r>
              <a:t>Pause cue: pause after each process diagram and ask students what makes the method greener or more sustainable.</a:t>
            </a:r>
          </a:p>
          <a:p xmlns:a="http://schemas.openxmlformats.org/drawingml/2006/main">
            <a:r>
              <a:t>Pointing cue: point from source material to synthesis/property, then to application or waste-management outcome.</a:t>
            </a:r>
          </a:p>
          <a:p xmlns:a="http://schemas.openxmlformats.org/drawingml/2006/main">
            <a:r>
              <a:t>Question to ask students: Ask students to connect material property with smart-system use and environmental impact.</a:t>
            </a:r>
          </a:p>
          <a:p xmlns:a="http://schemas.openxmlformats.org/drawingml/2006/main">
            <a:r>
              <a:t>Animation instructions: Fade title; appear cards one by one; wipe process arrows in order; highlight keywords such as green solvent, glycerol trioleate, ZnO nanoparticles, RFID, IONT, PLA, PEG, alginate hydrogel, BCI, e-waste, AI and bioleaching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5 checklist, downloaded from https://vtu.ac.in/pdf/UG2024/1BCHES102.pdf; syllabus-listed textbooks: Engineering Chemistry, Suba Ramesh, Vairam, Ananda Murthy, Wiley India, 2011; A Textbook of Engineering Chemistry, R.V. Gadag and Nityananda Shetty, I.K. International, 2nd ed., 2016; Engineering Chemistry, Jain &amp; Jain, Dhanpat Rai; Wiley Engineering Chemistry, Wiley India, 2013; syllabus-listed references for green/biomaterial/e-waste background include Green Chemistry and Engineering: A Practical Design Approach, Concepción Jiménez-González and David J.C. Constable, Wiley, 2011; E-Waste: Implications, Regulations, and Management in India and Current Global Best Practices, Rakesh Johri, TERI, 2008.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Show students that the module spans design, materials and waste recovery.</a:t>
            </a:r>
          </a:p>
          <a:p xmlns:a="http://schemas.openxmlformats.org/drawingml/2006/main">
            <a:r>
              <a:t>Pause cue: pause after each process diagram and ask students what makes the method greener or more sustainable.</a:t>
            </a:r>
          </a:p>
          <a:p xmlns:a="http://schemas.openxmlformats.org/drawingml/2006/main">
            <a:r>
              <a:t>Pointing cue: point from source material to synthesis/property, then to application or waste-management outcome.</a:t>
            </a:r>
          </a:p>
          <a:p xmlns:a="http://schemas.openxmlformats.org/drawingml/2006/main">
            <a:r>
              <a:t>Question to ask students: Ask students to connect material property with smart-system use and environmental impact.</a:t>
            </a:r>
          </a:p>
          <a:p xmlns:a="http://schemas.openxmlformats.org/drawingml/2006/main">
            <a:r>
              <a:t>Animation instructions: Fade title; appear cards one by one; wipe process arrows in order; highlight keywords such as green solvent, glycerol trioleate, ZnO nanoparticles, RFID, IONT, PLA, PEG, alginate hydrogel, BCI, e-waste, AI and bioleaching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5 checklist, downloaded from https://vtu.ac.in/pdf/UG2024/1BCHES102.pdf; syllabus-listed textbooks: Engineering Chemistry, Suba Ramesh, Vairam, Ananda Murthy, Wiley India, 2011; A Textbook of Engineering Chemistry, R.V. Gadag and Nityananda Shetty, I.K. International, 2nd ed., 2016; Engineering Chemistry, Jain &amp; Jain, Dhanpat Rai; Wiley Engineering Chemistry, Wiley India, 2013; syllabus-listed references for green/biomaterial/e-waste background include Green Chemistry and Engineering: A Practical Design Approach, Concepción Jiménez-González and David J.C. Constable, Wiley, 2011; E-Waste: Implications, Regulations, and Management in India and Current Global Best Practices, Rakesh Johri, TERI, 2008.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Use this as the throughline.</a:t>
            </a:r>
          </a:p>
          <a:p xmlns:a="http://schemas.openxmlformats.org/drawingml/2006/main">
            <a:r>
              <a:t>Pause cue: pause after each process diagram and ask students what makes the method greener or more sustainable.</a:t>
            </a:r>
          </a:p>
          <a:p xmlns:a="http://schemas.openxmlformats.org/drawingml/2006/main">
            <a:r>
              <a:t>Pointing cue: point from source material to synthesis/property, then to application or waste-management outcome.</a:t>
            </a:r>
          </a:p>
          <a:p xmlns:a="http://schemas.openxmlformats.org/drawingml/2006/main">
            <a:r>
              <a:t>Question to ask students: Ask students to connect material property with smart-system use and environmental impact.</a:t>
            </a:r>
          </a:p>
          <a:p xmlns:a="http://schemas.openxmlformats.org/drawingml/2006/main">
            <a:r>
              <a:t>Animation instructions: Fade title; appear cards one by one; wipe process arrows in order; highlight keywords such as green solvent, glycerol trioleate, ZnO nanoparticles, RFID, IONT, PLA, PEG, alginate hydrogel, BCI, e-waste, AI and bioleaching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5 checklist, downloaded from https://vtu.ac.in/pdf/UG2024/1BCHES102.pdf; syllabus-listed textbooks: Engineering Chemistry, Suba Ramesh, Vairam, Ananda Murthy, Wiley India, 2011; A Textbook of Engineering Chemistry, R.V. Gadag and Nityananda Shetty, I.K. International, 2nd ed., 2016; Engineering Chemistry, Jain &amp; Jain, Dhanpat Rai; Wiley Engineering Chemistry, Wiley India, 2013; syllabus-listed references for green/biomaterial/e-waste background include Green Chemistry and Engineering: A Practical Design Approach, Concepción Jiménez-González and David J.C. Constable, Wiley, 2011; E-Waste: Implications, Regulations, and Management in India and Current Global Best Practices, Rakesh Johri, TERI, 2008.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Ask students which device they replace most often.</a:t>
            </a:r>
          </a:p>
          <a:p xmlns:a="http://schemas.openxmlformats.org/drawingml/2006/main">
            <a:r>
              <a:t>Pause cue: pause after each process diagram and ask students what makes the method greener or more sustainable.</a:t>
            </a:r>
          </a:p>
          <a:p xmlns:a="http://schemas.openxmlformats.org/drawingml/2006/main">
            <a:r>
              <a:t>Pointing cue: point from source material to synthesis/property, then to application or waste-management outcome.</a:t>
            </a:r>
          </a:p>
          <a:p xmlns:a="http://schemas.openxmlformats.org/drawingml/2006/main">
            <a:r>
              <a:t>Question to ask students: Ask students to connect material property with smart-system use and environmental impact.</a:t>
            </a:r>
          </a:p>
          <a:p xmlns:a="http://schemas.openxmlformats.org/drawingml/2006/main">
            <a:r>
              <a:t>Animation instructions: Fade title; appear cards one by one; wipe process arrows in order; highlight keywords such as green solvent, glycerol trioleate, ZnO nanoparticles, RFID, IONT, PLA, PEG, alginate hydrogel, BCI, e-waste, AI and bioleaching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5 checklist, downloaded from https://vtu.ac.in/pdf/UG2024/1BCHES102.pdf; syllabus-listed textbooks: Engineering Chemistry, Suba Ramesh, Vairam, Ananda Murthy, Wiley India, 2011; A Textbook of Engineering Chemistry, R.V. Gadag and Nityananda Shetty, I.K. International, 2nd ed., 2016; Engineering Chemistry, Jain &amp; Jain, Dhanpat Rai; Wiley Engineering Chemistry, Wiley India, 2013; syllabus-listed references for green/biomaterial/e-waste background include Green Chemistry and Engineering: A Practical Design Approach, Concepción Jiménez-González and David J.C. Constable, Wiley, 2011; E-Waste: Implications, Regulations, and Management in India and Current Global Best Practices, Rakesh Johri, TERI, 2008.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Keep definition broad and link to every later topic.</a:t>
            </a:r>
          </a:p>
          <a:p xmlns:a="http://schemas.openxmlformats.org/drawingml/2006/main">
            <a:r>
              <a:t>Pause cue: pause after each process diagram and ask students what makes the method greener or more sustainable.</a:t>
            </a:r>
          </a:p>
          <a:p xmlns:a="http://schemas.openxmlformats.org/drawingml/2006/main">
            <a:r>
              <a:t>Pointing cue: point from source material to synthesis/property, then to application or waste-management outcome.</a:t>
            </a:r>
          </a:p>
          <a:p xmlns:a="http://schemas.openxmlformats.org/drawingml/2006/main">
            <a:r>
              <a:t>Question to ask students: Ask students to connect material property with smart-system use and environmental impact.</a:t>
            </a:r>
          </a:p>
          <a:p xmlns:a="http://schemas.openxmlformats.org/drawingml/2006/main">
            <a:r>
              <a:t>Animation instructions: Fade title; appear cards one by one; wipe process arrows in order; highlight keywords such as green solvent, glycerol trioleate, ZnO nanoparticles, RFID, IONT, PLA, PEG, alginate hydrogel, BCI, e-waste, AI and bioleaching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5 checklist, downloaded from https://vtu.ac.in/pdf/UG2024/1BCHES102.pdf; syllabus-listed textbooks: Engineering Chemistry, Suba Ramesh, Vairam, Ananda Murthy, Wiley India, 2011; A Textbook of Engineering Chemistry, R.V. Gadag and Nityananda Shetty, I.K. International, 2nd ed., 2016; Engineering Chemistry, Jain &amp; Jain, Dhanpat Rai; Wiley Engineering Chemistry, Wiley India, 2013; syllabus-listed references for green/biomaterial/e-waste background include Green Chemistry and Engineering: A Practical Design Approach, Concepción Jiménez-González and David J.C. Constable, Wiley, 2011; E-Waste: Implications, Regulations, and Management in India and Current Global Best Practices, Rakesh Johri, TERI, 2008.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Make this an exam-ready point list.</a:t>
            </a:r>
          </a:p>
          <a:p xmlns:a="http://schemas.openxmlformats.org/drawingml/2006/main">
            <a:r>
              <a:t>Pause cue: pause after each process diagram and ask students what makes the method greener or more sustainable.</a:t>
            </a:r>
          </a:p>
          <a:p xmlns:a="http://schemas.openxmlformats.org/drawingml/2006/main">
            <a:r>
              <a:t>Pointing cue: point from source material to synthesis/property, then to application or waste-management outcome.</a:t>
            </a:r>
          </a:p>
          <a:p xmlns:a="http://schemas.openxmlformats.org/drawingml/2006/main">
            <a:r>
              <a:t>Question to ask students: Ask students to connect material property with smart-system use and environmental impact.</a:t>
            </a:r>
          </a:p>
          <a:p xmlns:a="http://schemas.openxmlformats.org/drawingml/2006/main">
            <a:r>
              <a:t>Animation instructions: Fade title; appear cards one by one; wipe process arrows in order; highlight keywords such as green solvent, glycerol trioleate, ZnO nanoparticles, RFID, IONT, PLA, PEG, alginate hydrogel, BCI, e-waste, AI and bioleaching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5 checklist, downloaded from https://vtu.ac.in/pdf/UG2024/1BCHES102.pdf; syllabus-listed textbooks: Engineering Chemistry, Suba Ramesh, Vairam, Ananda Murthy, Wiley India, 2011; A Textbook of Engineering Chemistry, R.V. Gadag and Nityananda Shetty, I.K. International, 2nd ed., 2016; Engineering Chemistry, Jain &amp; Jain, Dhanpat Rai; Wiley Engineering Chemistry, Wiley India, 2013; syllabus-listed references for green/biomaterial/e-waste background include Green Chemistry and Engineering: A Practical Design Approach, Concepción Jiménez-González and David J.C. Constable, Wiley, 2011; E-Waste: Implications, Regulations, and Management in India and Current Global Best Practices, Rakesh Johri, TERI, 2008.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Explain that no solvent is automatically green; context matters.</a:t>
            </a:r>
          </a:p>
          <a:p xmlns:a="http://schemas.openxmlformats.org/drawingml/2006/main">
            <a:r>
              <a:t>Pause cue: pause after each process diagram and ask students what makes the method greener or more sustainable.</a:t>
            </a:r>
          </a:p>
          <a:p xmlns:a="http://schemas.openxmlformats.org/drawingml/2006/main">
            <a:r>
              <a:t>Pointing cue: point from source material to synthesis/property, then to application or waste-management outcome.</a:t>
            </a:r>
          </a:p>
          <a:p xmlns:a="http://schemas.openxmlformats.org/drawingml/2006/main">
            <a:r>
              <a:t>Question to ask students: Ask students to connect material property with smart-system use and environmental impact.</a:t>
            </a:r>
          </a:p>
          <a:p xmlns:a="http://schemas.openxmlformats.org/drawingml/2006/main">
            <a:r>
              <a:t>Animation instructions: Fade title; appear cards one by one; wipe process arrows in order; highlight keywords such as green solvent, glycerol trioleate, ZnO nanoparticles, RFID, IONT, PLA, PEG, alginate hydrogel, BCI, e-waste, AI and bioleaching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5 checklist, downloaded from https://vtu.ac.in/pdf/UG2024/1BCHES102.pdf; syllabus-listed textbooks: Engineering Chemistry, Suba Ramesh, Vairam, Ananda Murthy, Wiley India, 2011; A Textbook of Engineering Chemistry, R.V. Gadag and Nityananda Shetty, I.K. International, 2nd ed., 2016; Engineering Chemistry, Jain &amp; Jain, Dhanpat Rai; Wiley Engineering Chemistry, Wiley India, 2013; syllabus-listed references for green/biomaterial/e-waste background include Green Chemistry and Engineering: A Practical Design Approach, Concepción Jiménez-González and David J.C. Constable, Wiley, 2011; E-Waste: Implications, Regulations, and Management in India and Current Global Best Practices, Rakesh Johri, TERI, 2008.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Connect properties to server heat management.</a:t>
            </a:r>
          </a:p>
          <a:p xmlns:a="http://schemas.openxmlformats.org/drawingml/2006/main">
            <a:r>
              <a:t>Pause cue: pause after each process diagram and ask students what makes the method greener or more sustainable.</a:t>
            </a:r>
          </a:p>
          <a:p xmlns:a="http://schemas.openxmlformats.org/drawingml/2006/main">
            <a:r>
              <a:t>Pointing cue: point from source material to synthesis/property, then to application or waste-management outcome.</a:t>
            </a:r>
          </a:p>
          <a:p xmlns:a="http://schemas.openxmlformats.org/drawingml/2006/main">
            <a:r>
              <a:t>Question to ask students: Ask students to connect material property with smart-system use and environmental impact.</a:t>
            </a:r>
          </a:p>
          <a:p xmlns:a="http://schemas.openxmlformats.org/drawingml/2006/main">
            <a:r>
              <a:t>Animation instructions: Fade title; appear cards one by one; wipe process arrows in order; highlight keywords such as green solvent, glycerol trioleate, ZnO nanoparticles, RFID, IONT, PLA, PEG, alginate hydrogel, BCI, e-waste, AI and bioleaching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5 checklist, downloaded from https://vtu.ac.in/pdf/UG2024/1BCHES102.pdf; syllabus-listed textbooks: Engineering Chemistry, Suba Ramesh, Vairam, Ananda Murthy, Wiley India, 2011; A Textbook of Engineering Chemistry, R.V. Gadag and Nityananda Shetty, I.K. International, 2nd ed., 2016; Engineering Chemistry, Jain &amp; Jain, Dhanpat Rai; Wiley Engineering Chemistry, Wiley India, 2013; syllabus-listed references for green/biomaterial/e-waste background include Green Chemistry and Engineering: A Practical Design Approach, Concepción Jiménez-González and David J.C. Constable, Wiley, 2011; E-Waste: Implications, Regulations, and Management in India and Current Global Best Practices, Rakesh Johri, TERI, 2008.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Relate to data centers and high-performance computing.</a:t>
            </a:r>
          </a:p>
          <a:p xmlns:a="http://schemas.openxmlformats.org/drawingml/2006/main">
            <a:r>
              <a:t>Pause cue: pause after each process diagram and ask students what makes the method greener or more sustainable.</a:t>
            </a:r>
          </a:p>
          <a:p xmlns:a="http://schemas.openxmlformats.org/drawingml/2006/main">
            <a:r>
              <a:t>Pointing cue: point from source material to synthesis/property, then to application or waste-management outcome.</a:t>
            </a:r>
          </a:p>
          <a:p xmlns:a="http://schemas.openxmlformats.org/drawingml/2006/main">
            <a:r>
              <a:t>Question to ask students: Ask students to connect material property with smart-system use and environmental impact.</a:t>
            </a:r>
          </a:p>
          <a:p xmlns:a="http://schemas.openxmlformats.org/drawingml/2006/main">
            <a:r>
              <a:t>Animation instructions: Fade title; appear cards one by one; wipe process arrows in order; highlight keywords such as green solvent, glycerol trioleate, ZnO nanoparticles, RFID, IONT, PLA, PEG, alginate hydrogel, BCI, e-waste, AI and bioleaching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5 checklist, downloaded from https://vtu.ac.in/pdf/UG2024/1BCHES102.pdf; syllabus-listed textbooks: Engineering Chemistry, Suba Ramesh, Vairam, Ananda Murthy, Wiley India, 2011; A Textbook of Engineering Chemistry, R.V. Gadag and Nityananda Shetty, I.K. International, 2nd ed., 2016; Engineering Chemistry, Jain &amp; Jain, Dhanpat Rai; Wiley Engineering Chemistry, Wiley India, 2013; syllabus-listed references for green/biomaterial/e-waste background include Green Chemistry and Engineering: A Practical Design Approach, Concepción Jiménez-González and David J.C. Constable, Wiley, 2011; E-Waste: Implications, Regulations, and Management in India and Current Global Best Practices, Rakesh Johri, TERI, 2008.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Ask students why water is not always enough near electronics.</a:t>
            </a:r>
          </a:p>
          <a:p xmlns:a="http://schemas.openxmlformats.org/drawingml/2006/main">
            <a:r>
              <a:t>Pause cue: pause after each process diagram and ask students what makes the method greener or more sustainable.</a:t>
            </a:r>
          </a:p>
          <a:p xmlns:a="http://schemas.openxmlformats.org/drawingml/2006/main">
            <a:r>
              <a:t>Pointing cue: point from source material to synthesis/property, then to application or waste-management outcome.</a:t>
            </a:r>
          </a:p>
          <a:p xmlns:a="http://schemas.openxmlformats.org/drawingml/2006/main">
            <a:r>
              <a:t>Question to ask students: Ask students to connect material property with smart-system use and environmental impact.</a:t>
            </a:r>
          </a:p>
          <a:p xmlns:a="http://schemas.openxmlformats.org/drawingml/2006/main">
            <a:r>
              <a:t>Animation instructions: Fade title; appear cards one by one; wipe process arrows in order; highlight keywords such as green solvent, glycerol trioleate, ZnO nanoparticles, RFID, IONT, PLA, PEG, alginate hydrogel, BCI, e-waste, AI and bioleaching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5 checklist, downloaded from https://vtu.ac.in/pdf/UG2024/1BCHES102.pdf; syllabus-listed textbooks: Engineering Chemistry, Suba Ramesh, Vairam, Ananda Murthy, Wiley India, 2011; A Textbook of Engineering Chemistry, R.V. Gadag and Nityananda Shetty, I.K. International, 2nd ed., 2016; Engineering Chemistry, Jain &amp; Jain, Dhanpat Rai; Wiley Engineering Chemistry, Wiley India, 2013; syllabus-listed references for green/biomaterial/e-waste background include Green Chemistry and Engineering: A Practical Design Approach, Concepción Jiménez-González and David J.C. Constable, Wiley, 2011; E-Waste: Implications, Regulations, and Management in India and Current Global Best Practices, Rakesh Johri, TERI, 2008.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Introduce it as a green material from renewable-type chemistry.</a:t>
            </a:r>
          </a:p>
          <a:p xmlns:a="http://schemas.openxmlformats.org/drawingml/2006/main">
            <a:r>
              <a:t>Pause cue: pause after each process diagram and ask students what makes the method greener or more sustainable.</a:t>
            </a:r>
          </a:p>
          <a:p xmlns:a="http://schemas.openxmlformats.org/drawingml/2006/main">
            <a:r>
              <a:t>Pointing cue: point from source material to synthesis/property, then to application or waste-management outcome.</a:t>
            </a:r>
          </a:p>
          <a:p xmlns:a="http://schemas.openxmlformats.org/drawingml/2006/main">
            <a:r>
              <a:t>Question to ask students: Ask students to connect material property with smart-system use and environmental impact.</a:t>
            </a:r>
          </a:p>
          <a:p xmlns:a="http://schemas.openxmlformats.org/drawingml/2006/main">
            <a:r>
              <a:t>Animation instructions: Fade title; appear cards one by one; wipe process arrows in order; highlight keywords such as green solvent, glycerol trioleate, ZnO nanoparticles, RFID, IONT, PLA, PEG, alginate hydrogel, BCI, e-waste, AI and bioleaching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5 checklist, downloaded from https://vtu.ac.in/pdf/UG2024/1BCHES102.pdf; syllabus-listed textbooks: Engineering Chemistry, Suba Ramesh, Vairam, Ananda Murthy, Wiley India, 2011; A Textbook of Engineering Chemistry, R.V. Gadag and Nityananda Shetty, I.K. International, 2nd ed., 2016; Engineering Chemistry, Jain &amp; Jain, Dhanpat Rai; Wiley Engineering Chemistry, Wiley India, 2013; syllabus-listed references for green/biomaterial/e-waste background include Green Chemistry and Engineering: A Practical Design Approach, Concepción Jiménez-González and David J.C. Constable, Wiley, 2011; E-Waste: Implications, Regulations, and Management in India and Current Global Best Practices, Rakesh Johri, TERI, 2008.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Point out three hydroxyl groups form three ester linkages.</a:t>
            </a:r>
          </a:p>
          <a:p xmlns:a="http://schemas.openxmlformats.org/drawingml/2006/main">
            <a:r>
              <a:t>Pause cue: pause after each process diagram and ask students what makes the method greener or more sustainable.</a:t>
            </a:r>
          </a:p>
          <a:p xmlns:a="http://schemas.openxmlformats.org/drawingml/2006/main">
            <a:r>
              <a:t>Pointing cue: point from source material to synthesis/property, then to application or waste-management outcome.</a:t>
            </a:r>
          </a:p>
          <a:p xmlns:a="http://schemas.openxmlformats.org/drawingml/2006/main">
            <a:r>
              <a:t>Question to ask students: Ask students to connect material property with smart-system use and environmental impact.</a:t>
            </a:r>
          </a:p>
          <a:p xmlns:a="http://schemas.openxmlformats.org/drawingml/2006/main">
            <a:r>
              <a:t>Animation instructions: Fade title; appear cards one by one; wipe process arrows in order; highlight keywords such as green solvent, glycerol trioleate, ZnO nanoparticles, RFID, IONT, PLA, PEG, alginate hydrogel, BCI, e-waste, AI and bioleaching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5 checklist, downloaded from https://vtu.ac.in/pdf/UG2024/1BCHES102.pdf; syllabus-listed textbooks: Engineering Chemistry, Suba Ramesh, Vairam, Ananda Murthy, Wiley India, 2011; A Textbook of Engineering Chemistry, R.V. Gadag and Nityananda Shetty, I.K. International, 2nd ed., 2016; Engineering Chemistry, Jain &amp; Jain, Dhanpat Rai; Wiley Engineering Chemistry, Wiley India, 2013; syllabus-listed references for green/biomaterial/e-waste background include Green Chemistry and Engineering: A Practical Design Approach, Concepción Jiménez-González and David J.C. Constable, Wiley, 2011; E-Waste: Implications, Regulations, and Management in India and Current Global Best Practices, Rakesh Johri, TERI, 2008.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Tie each property to infrastructure use.</a:t>
            </a:r>
          </a:p>
          <a:p xmlns:a="http://schemas.openxmlformats.org/drawingml/2006/main">
            <a:r>
              <a:t>Pause cue: pause after each process diagram and ask students what makes the method greener or more sustainable.</a:t>
            </a:r>
          </a:p>
          <a:p xmlns:a="http://schemas.openxmlformats.org/drawingml/2006/main">
            <a:r>
              <a:t>Pointing cue: point from source material to synthesis/property, then to application or waste-management outcome.</a:t>
            </a:r>
          </a:p>
          <a:p xmlns:a="http://schemas.openxmlformats.org/drawingml/2006/main">
            <a:r>
              <a:t>Question to ask students: Ask students to connect material property with smart-system use and environmental impact.</a:t>
            </a:r>
          </a:p>
          <a:p xmlns:a="http://schemas.openxmlformats.org/drawingml/2006/main">
            <a:r>
              <a:t>Animation instructions: Fade title; appear cards one by one; wipe process arrows in order; highlight keywords such as green solvent, glycerol trioleate, ZnO nanoparticles, RFID, IONT, PLA, PEG, alginate hydrogel, BCI, e-waste, AI and bioleaching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5 checklist, downloaded from https://vtu.ac.in/pdf/UG2024/1BCHES102.pdf; syllabus-listed textbooks: Engineering Chemistry, Suba Ramesh, Vairam, Ananda Murthy, Wiley India, 2011; A Textbook of Engineering Chemistry, R.V. Gadag and Nityananda Shetty, I.K. International, 2nd ed., 2016; Engineering Chemistry, Jain &amp; Jain, Dhanpat Rai; Wiley Engineering Chemistry, Wiley India, 2013; syllabus-listed references for green/biomaterial/e-waste background include Green Chemistry and Engineering: A Practical Design Approach, Concepción Jiménez-González and David J.C. Constable, Wiley, 2011; E-Waste: Implications, Regulations, and Management in India and Current Global Best Practices, Rakesh Johri, TERI, 2008.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Keep the language careful and application-oriented.</a:t>
            </a:r>
          </a:p>
          <a:p xmlns:a="http://schemas.openxmlformats.org/drawingml/2006/main">
            <a:r>
              <a:t>Pause cue: pause after each process diagram and ask students what makes the method greener or more sustainable.</a:t>
            </a:r>
          </a:p>
          <a:p xmlns:a="http://schemas.openxmlformats.org/drawingml/2006/main">
            <a:r>
              <a:t>Pointing cue: point from source material to synthesis/property, then to application or waste-management outcome.</a:t>
            </a:r>
          </a:p>
          <a:p xmlns:a="http://schemas.openxmlformats.org/drawingml/2006/main">
            <a:r>
              <a:t>Question to ask students: Ask students to connect material property with smart-system use and environmental impact.</a:t>
            </a:r>
          </a:p>
          <a:p xmlns:a="http://schemas.openxmlformats.org/drawingml/2006/main">
            <a:r>
              <a:t>Animation instructions: Fade title; appear cards one by one; wipe process arrows in order; highlight keywords such as green solvent, glycerol trioleate, ZnO nanoparticles, RFID, IONT, PLA, PEG, alginate hydrogel, BCI, e-waste, AI and bioleaching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5 checklist, downloaded from https://vtu.ac.in/pdf/UG2024/1BCHES102.pdf; syllabus-listed textbooks: Engineering Chemistry, Suba Ramesh, Vairam, Ananda Murthy, Wiley India, 2011; A Textbook of Engineering Chemistry, R.V. Gadag and Nityananda Shetty, I.K. International, 2nd ed., 2016; Engineering Chemistry, Jain &amp; Jain, Dhanpat Rai; Wiley Engineering Chemistry, Wiley India, 2013; syllabus-listed references for green/biomaterial/e-waste background include Green Chemistry and Engineering: A Practical Design Approach, Concepción Jiménez-González and David J.C. Constable, Wiley, 2011; E-Waste: Implications, Regulations, and Management in India and Current Global Best Practices, Rakesh Johri, TERI, 2008.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Connect to RFID and Internet of Nano Things.</a:t>
            </a:r>
          </a:p>
          <a:p xmlns:a="http://schemas.openxmlformats.org/drawingml/2006/main">
            <a:r>
              <a:t>Pause cue: pause after each process diagram and ask students what makes the method greener or more sustainable.</a:t>
            </a:r>
          </a:p>
          <a:p xmlns:a="http://schemas.openxmlformats.org/drawingml/2006/main">
            <a:r>
              <a:t>Pointing cue: point from source material to synthesis/property, then to application or waste-management outcome.</a:t>
            </a:r>
          </a:p>
          <a:p xmlns:a="http://schemas.openxmlformats.org/drawingml/2006/main">
            <a:r>
              <a:t>Question to ask students: Ask students to connect material property with smart-system use and environmental impact.</a:t>
            </a:r>
          </a:p>
          <a:p xmlns:a="http://schemas.openxmlformats.org/drawingml/2006/main">
            <a:r>
              <a:t>Animation instructions: Fade title; appear cards one by one; wipe process arrows in order; highlight keywords such as green solvent, glycerol trioleate, ZnO nanoparticles, RFID, IONT, PLA, PEG, alginate hydrogel, BCI, e-waste, AI and bioleaching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5 checklist, downloaded from https://vtu.ac.in/pdf/UG2024/1BCHES102.pdf; syllabus-listed textbooks: Engineering Chemistry, Suba Ramesh, Vairam, Ananda Murthy, Wiley India, 2011; A Textbook of Engineering Chemistry, R.V. Gadag and Nityananda Shetty, I.K. International, 2nd ed., 2016; Engineering Chemistry, Jain &amp; Jain, Dhanpat Rai; Wiley Engineering Chemistry, Wiley India, 2013; syllabus-listed references for green/biomaterial/e-waste background include Green Chemistry and Engineering: A Practical Design Approach, Concepción Jiménez-González and David J.C. Constable, Wiley, 2011; E-Waste: Implications, Regulations, and Management in India and Current Global Best Practices, Rakesh Johri, TERI, 2008.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Tell students green synthesis is about reducing process hazard.</a:t>
            </a:r>
          </a:p>
          <a:p xmlns:a="http://schemas.openxmlformats.org/drawingml/2006/main">
            <a:r>
              <a:t>Pause cue: pause after each process diagram and ask students what makes the method greener or more sustainable.</a:t>
            </a:r>
          </a:p>
          <a:p xmlns:a="http://schemas.openxmlformats.org/drawingml/2006/main">
            <a:r>
              <a:t>Pointing cue: point from source material to synthesis/property, then to application or waste-management outcome.</a:t>
            </a:r>
          </a:p>
          <a:p xmlns:a="http://schemas.openxmlformats.org/drawingml/2006/main">
            <a:r>
              <a:t>Question to ask students: Ask students to connect material property with smart-system use and environmental impact.</a:t>
            </a:r>
          </a:p>
          <a:p xmlns:a="http://schemas.openxmlformats.org/drawingml/2006/main">
            <a:r>
              <a:t>Animation instructions: Fade title; appear cards one by one; wipe process arrows in order; highlight keywords such as green solvent, glycerol trioleate, ZnO nanoparticles, RFID, IONT, PLA, PEG, alginate hydrogel, BCI, e-waste, AI and bioleaching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5 checklist, downloaded from https://vtu.ac.in/pdf/UG2024/1BCHES102.pdf; syllabus-listed textbooks: Engineering Chemistry, Suba Ramesh, Vairam, Ananda Murthy, Wiley India, 2011; A Textbook of Engineering Chemistry, R.V. Gadag and Nityananda Shetty, I.K. International, 2nd ed., 2016; Engineering Chemistry, Jain &amp; Jain, Dhanpat Rai; Wiley Engineering Chemistry, Wiley India, 2013; syllabus-listed references for green/biomaterial/e-waste background include Green Chemistry and Engineering: A Practical Design Approach, Concepción Jiménez-González and David J.C. Constable, Wiley, 2011; E-Waste: Implications, Regulations, and Management in India and Current Global Best Practices, Rakesh Johri, TERI, 2008.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Use this as the synthesis answer framework.</a:t>
            </a:r>
          </a:p>
          <a:p xmlns:a="http://schemas.openxmlformats.org/drawingml/2006/main">
            <a:r>
              <a:t>Pause cue: pause after each process diagram and ask students what makes the method greener or more sustainable.</a:t>
            </a:r>
          </a:p>
          <a:p xmlns:a="http://schemas.openxmlformats.org/drawingml/2006/main">
            <a:r>
              <a:t>Pointing cue: point from source material to synthesis/property, then to application or waste-management outcome.</a:t>
            </a:r>
          </a:p>
          <a:p xmlns:a="http://schemas.openxmlformats.org/drawingml/2006/main">
            <a:r>
              <a:t>Question to ask students: Ask students to connect material property with smart-system use and environmental impact.</a:t>
            </a:r>
          </a:p>
          <a:p xmlns:a="http://schemas.openxmlformats.org/drawingml/2006/main">
            <a:r>
              <a:t>Animation instructions: Fade title; appear cards one by one; wipe process arrows in order; highlight keywords such as green solvent, glycerol trioleate, ZnO nanoparticles, RFID, IONT, PLA, PEG, alginate hydrogel, BCI, e-waste, AI and bioleaching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5 checklist, downloaded from https://vtu.ac.in/pdf/UG2024/1BCHES102.pdf; syllabus-listed textbooks: Engineering Chemistry, Suba Ramesh, Vairam, Ananda Murthy, Wiley India, 2011; A Textbook of Engineering Chemistry, R.V. Gadag and Nityananda Shetty, I.K. International, 2nd ed., 2016; Engineering Chemistry, Jain &amp; Jain, Dhanpat Rai; Wiley Engineering Chemistry, Wiley India, 2013; syllabus-listed references for green/biomaterial/e-waste background include Green Chemistry and Engineering: A Practical Design Approach, Concepción Jiménez-González and David J.C. Constable, Wiley, 2011; E-Waste: Implications, Regulations, and Management in India and Current Global Best Practices, Rakesh Johri, TERI, 2008.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Relate nanoscale size to surface area.</a:t>
            </a:r>
          </a:p>
          <a:p xmlns:a="http://schemas.openxmlformats.org/drawingml/2006/main">
            <a:r>
              <a:t>Pause cue: pause after each process diagram and ask students what makes the method greener or more sustainable.</a:t>
            </a:r>
          </a:p>
          <a:p xmlns:a="http://schemas.openxmlformats.org/drawingml/2006/main">
            <a:r>
              <a:t>Pointing cue: point from source material to synthesis/property, then to application or waste-management outcome.</a:t>
            </a:r>
          </a:p>
          <a:p xmlns:a="http://schemas.openxmlformats.org/drawingml/2006/main">
            <a:r>
              <a:t>Question to ask students: Ask students to connect material property with smart-system use and environmental impact.</a:t>
            </a:r>
          </a:p>
          <a:p xmlns:a="http://schemas.openxmlformats.org/drawingml/2006/main">
            <a:r>
              <a:t>Animation instructions: Fade title; appear cards one by one; wipe process arrows in order; highlight keywords such as green solvent, glycerol trioleate, ZnO nanoparticles, RFID, IONT, PLA, PEG, alginate hydrogel, BCI, e-waste, AI and bioleaching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5 checklist, downloaded from https://vtu.ac.in/pdf/UG2024/1BCHES102.pdf; syllabus-listed textbooks: Engineering Chemistry, Suba Ramesh, Vairam, Ananda Murthy, Wiley India, 2011; A Textbook of Engineering Chemistry, R.V. Gadag and Nityananda Shetty, I.K. International, 2nd ed., 2016; Engineering Chemistry, Jain &amp; Jain, Dhanpat Rai; Wiley Engineering Chemistry, Wiley India, 2013; syllabus-listed references for green/biomaterial/e-waste background include Green Chemistry and Engineering: A Practical Design Approach, Concepción Jiménez-González and David J.C. Constable, Wiley, 2011; E-Waste: Implications, Regulations, and Management in India and Current Global Best Practices, Rakesh Johri, TERI, 2008.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Keep RFID connection at syllabus level without overclaiming magnetism details.</a:t>
            </a:r>
          </a:p>
          <a:p xmlns:a="http://schemas.openxmlformats.org/drawingml/2006/main">
            <a:r>
              <a:t>Pause cue: pause after each process diagram and ask students what makes the method greener or more sustainable.</a:t>
            </a:r>
          </a:p>
          <a:p xmlns:a="http://schemas.openxmlformats.org/drawingml/2006/main">
            <a:r>
              <a:t>Pointing cue: point from source material to synthesis/property, then to application or waste-management outcome.</a:t>
            </a:r>
          </a:p>
          <a:p xmlns:a="http://schemas.openxmlformats.org/drawingml/2006/main">
            <a:r>
              <a:t>Question to ask students: Ask students to connect material property with smart-system use and environmental impact.</a:t>
            </a:r>
          </a:p>
          <a:p xmlns:a="http://schemas.openxmlformats.org/drawingml/2006/main">
            <a:r>
              <a:t>Animation instructions: Fade title; appear cards one by one; wipe process arrows in order; highlight keywords such as green solvent, glycerol trioleate, ZnO nanoparticles, RFID, IONT, PLA, PEG, alginate hydrogel, BCI, e-waste, AI and bioleaching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5 checklist, downloaded from https://vtu.ac.in/pdf/UG2024/1BCHES102.pdf; syllabus-listed textbooks: Engineering Chemistry, Suba Ramesh, Vairam, Ananda Murthy, Wiley India, 2011; A Textbook of Engineering Chemistry, R.V. Gadag and Nityananda Shetty, I.K. International, 2nd ed., 2016; Engineering Chemistry, Jain &amp; Jain, Dhanpat Rai; Wiley Engineering Chemistry, Wiley India, 2013; syllabus-listed references for green/biomaterial/e-waste background include Green Chemistry and Engineering: A Practical Design Approach, Concepción Jiménez-González and David J.C. Constable, Wiley, 2011; E-Waste: Implications, Regulations, and Management in India and Current Global Best Practices, Rakesh Johri, TERI, 2008.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Define IONT as connected nanoscale sensing/actuating systems.</a:t>
            </a:r>
          </a:p>
          <a:p xmlns:a="http://schemas.openxmlformats.org/drawingml/2006/main">
            <a:r>
              <a:t>Pause cue: pause after each process diagram and ask students what makes the method greener or more sustainable.</a:t>
            </a:r>
          </a:p>
          <a:p xmlns:a="http://schemas.openxmlformats.org/drawingml/2006/main">
            <a:r>
              <a:t>Pointing cue: point from source material to synthesis/property, then to application or waste-management outcome.</a:t>
            </a:r>
          </a:p>
          <a:p xmlns:a="http://schemas.openxmlformats.org/drawingml/2006/main">
            <a:r>
              <a:t>Question to ask students: Ask students to connect material property with smart-system use and environmental impact.</a:t>
            </a:r>
          </a:p>
          <a:p xmlns:a="http://schemas.openxmlformats.org/drawingml/2006/main">
            <a:r>
              <a:t>Animation instructions: Fade title; appear cards one by one; wipe process arrows in order; highlight keywords such as green solvent, glycerol trioleate, ZnO nanoparticles, RFID, IONT, PLA, PEG, alginate hydrogel, BCI, e-waste, AI and bioleaching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5 checklist, downloaded from https://vtu.ac.in/pdf/UG2024/1BCHES102.pdf; syllabus-listed textbooks: Engineering Chemistry, Suba Ramesh, Vairam, Ananda Murthy, Wiley India, 2011; A Textbook of Engineering Chemistry, R.V. Gadag and Nityananda Shetty, I.K. International, 2nd ed., 2016; Engineering Chemistry, Jain &amp; Jain, Dhanpat Rai; Wiley Engineering Chemistry, Wiley India, 2013; syllabus-listed references for green/biomaterial/e-waste background include Green Chemistry and Engineering: A Practical Design Approach, Concepción Jiménez-González and David J.C. Constable, Wiley, 2011; E-Waste: Implications, Regulations, and Management in India and Current Global Best Practices, Rakesh Johri, TERI, 2008.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Use this as checkpoint revision before biomaterials.</a:t>
            </a:r>
          </a:p>
          <a:p xmlns:a="http://schemas.openxmlformats.org/drawingml/2006/main">
            <a:r>
              <a:t>Pause cue: pause after each process diagram and ask students what makes the method greener or more sustainable.</a:t>
            </a:r>
          </a:p>
          <a:p xmlns:a="http://schemas.openxmlformats.org/drawingml/2006/main">
            <a:r>
              <a:t>Pointing cue: point from source material to synthesis/property, then to application or waste-management outcome.</a:t>
            </a:r>
          </a:p>
          <a:p xmlns:a="http://schemas.openxmlformats.org/drawingml/2006/main">
            <a:r>
              <a:t>Question to ask students: Ask students to connect material property with smart-system use and environmental impact.</a:t>
            </a:r>
          </a:p>
          <a:p xmlns:a="http://schemas.openxmlformats.org/drawingml/2006/main">
            <a:r>
              <a:t>Animation instructions: Fade title; appear cards one by one; wipe process arrows in order; highlight keywords such as green solvent, glycerol trioleate, ZnO nanoparticles, RFID, IONT, PLA, PEG, alginate hydrogel, BCI, e-waste, AI and bioleaching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5 checklist, downloaded from https://vtu.ac.in/pdf/UG2024/1BCHES102.pdf; syllabus-listed textbooks: Engineering Chemistry, Suba Ramesh, Vairam, Ananda Murthy, Wiley India, 2011; A Textbook of Engineering Chemistry, R.V. Gadag and Nityananda Shetty, I.K. International, 2nd ed., 2016; Engineering Chemistry, Jain &amp; Jain, Dhanpat Rai; Wiley Engineering Chemistry, Wiley India, 2013; syllabus-listed references for green/biomaterial/e-waste background include Green Chemistry and Engineering: A Practical Design Approach, Concepción Jiménez-González and David J.C. Constable, Wiley, 2011; E-Waste: Implications, Regulations, and Management in India and Current Global Best Practices, Rakesh Johri, TERI, 2008.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Introduce PLA, PEG and alginate hydrogel.</a:t>
            </a:r>
          </a:p>
          <a:p xmlns:a="http://schemas.openxmlformats.org/drawingml/2006/main">
            <a:r>
              <a:t>Pause cue: pause after each process diagram and ask students what makes the method greener or more sustainable.</a:t>
            </a:r>
          </a:p>
          <a:p xmlns:a="http://schemas.openxmlformats.org/drawingml/2006/main">
            <a:r>
              <a:t>Pointing cue: point from source material to synthesis/property, then to application or waste-management outcome.</a:t>
            </a:r>
          </a:p>
          <a:p xmlns:a="http://schemas.openxmlformats.org/drawingml/2006/main">
            <a:r>
              <a:t>Question to ask students: Ask students to connect material property with smart-system use and environmental impact.</a:t>
            </a:r>
          </a:p>
          <a:p xmlns:a="http://schemas.openxmlformats.org/drawingml/2006/main">
            <a:r>
              <a:t>Animation instructions: Fade title; appear cards one by one; wipe process arrows in order; highlight keywords such as green solvent, glycerol trioleate, ZnO nanoparticles, RFID, IONT, PLA, PEG, alginate hydrogel, BCI, e-waste, AI and bioleaching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5 checklist, downloaded from https://vtu.ac.in/pdf/UG2024/1BCHES102.pdf; syllabus-listed textbooks: Engineering Chemistry, Suba Ramesh, Vairam, Ananda Murthy, Wiley India, 2011; A Textbook of Engineering Chemistry, R.V. Gadag and Nityananda Shetty, I.K. International, 2nd ed., 2016; Engineering Chemistry, Jain &amp; Jain, Dhanpat Rai; Wiley Engineering Chemistry, Wiley India, 2013; syllabus-listed references for green/biomaterial/e-waste background include Green Chemistry and Engineering: A Practical Design Approach, Concepción Jiménez-González and David J.C. Constable, Wiley, 2011; E-Waste: Implications, Regulations, and Management in India and Current Global Best Practices, Rakesh Johri, TERI, 2008.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Relate biomaterials to human-device interaction.</a:t>
            </a:r>
          </a:p>
          <a:p xmlns:a="http://schemas.openxmlformats.org/drawingml/2006/main">
            <a:r>
              <a:t>Pause cue: pause after each process diagram and ask students what makes the method greener or more sustainable.</a:t>
            </a:r>
          </a:p>
          <a:p xmlns:a="http://schemas.openxmlformats.org/drawingml/2006/main">
            <a:r>
              <a:t>Pointing cue: point from source material to synthesis/property, then to application or waste-management outcome.</a:t>
            </a:r>
          </a:p>
          <a:p xmlns:a="http://schemas.openxmlformats.org/drawingml/2006/main">
            <a:r>
              <a:t>Question to ask students: Ask students to connect material property with smart-system use and environmental impact.</a:t>
            </a:r>
          </a:p>
          <a:p xmlns:a="http://schemas.openxmlformats.org/drawingml/2006/main">
            <a:r>
              <a:t>Animation instructions: Fade title; appear cards one by one; wipe process arrows in order; highlight keywords such as green solvent, glycerol trioleate, ZnO nanoparticles, RFID, IONT, PLA, PEG, alginate hydrogel, BCI, e-waste, AI and bioleaching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5 checklist, downloaded from https://vtu.ac.in/pdf/UG2024/1BCHES102.pdf; syllabus-listed textbooks: Engineering Chemistry, Suba Ramesh, Vairam, Ananda Murthy, Wiley India, 2011; A Textbook of Engineering Chemistry, R.V. Gadag and Nityananda Shetty, I.K. International, 2nd ed., 2016; Engineering Chemistry, Jain &amp; Jain, Dhanpat Rai; Wiley Engineering Chemistry, Wiley India, 2013; syllabus-listed references for green/biomaterial/e-waste background include Green Chemistry and Engineering: A Practical Design Approach, Concepción Jiménez-González and David J.C. Constable, Wiley, 2011; E-Waste: Implications, Regulations, and Management in India and Current Global Best Practices, Rakesh Johri, TERI, 2008.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Use packaging and biomedical polymers as familiar contexts.</a:t>
            </a:r>
          </a:p>
          <a:p xmlns:a="http://schemas.openxmlformats.org/drawingml/2006/main">
            <a:r>
              <a:t>Pause cue: pause after each process diagram and ask students what makes the method greener or more sustainable.</a:t>
            </a:r>
          </a:p>
          <a:p xmlns:a="http://schemas.openxmlformats.org/drawingml/2006/main">
            <a:r>
              <a:t>Pointing cue: point from source material to synthesis/property, then to application or waste-management outcome.</a:t>
            </a:r>
          </a:p>
          <a:p xmlns:a="http://schemas.openxmlformats.org/drawingml/2006/main">
            <a:r>
              <a:t>Question to ask students: Ask students to connect material property with smart-system use and environmental impact.</a:t>
            </a:r>
          </a:p>
          <a:p xmlns:a="http://schemas.openxmlformats.org/drawingml/2006/main">
            <a:r>
              <a:t>Animation instructions: Fade title; appear cards one by one; wipe process arrows in order; highlight keywords such as green solvent, glycerol trioleate, ZnO nanoparticles, RFID, IONT, PLA, PEG, alginate hydrogel, BCI, e-waste, AI and bioleaching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5 checklist, downloaded from https://vtu.ac.in/pdf/UG2024/1BCHES102.pdf; syllabus-listed textbooks: Engineering Chemistry, Suba Ramesh, Vairam, Ananda Murthy, Wiley India, 2011; A Textbook of Engineering Chemistry, R.V. Gadag and Nityananda Shetty, I.K. International, 2nd ed., 2016; Engineering Chemistry, Jain &amp; Jain, Dhanpat Rai; Wiley Engineering Chemistry, Wiley India, 2013; syllabus-listed references for green/biomaterial/e-waste background include Green Chemistry and Engineering: A Practical Design Approach, Concepción Jiménez-González and David J.C. Constable, Wiley, 2011; E-Waste: Implications, Regulations, and Management in India and Current Global Best Practices, Rakesh Johri, TERI, 2008.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Mention ring-opening route gives better controlled polymer.</a:t>
            </a:r>
          </a:p>
          <a:p xmlns:a="http://schemas.openxmlformats.org/drawingml/2006/main">
            <a:r>
              <a:t>Pause cue: pause after each process diagram and ask students what makes the method greener or more sustainable.</a:t>
            </a:r>
          </a:p>
          <a:p xmlns:a="http://schemas.openxmlformats.org/drawingml/2006/main">
            <a:r>
              <a:t>Pointing cue: point from source material to synthesis/property, then to application or waste-management outcome.</a:t>
            </a:r>
          </a:p>
          <a:p xmlns:a="http://schemas.openxmlformats.org/drawingml/2006/main">
            <a:r>
              <a:t>Question to ask students: Ask students to connect material property with smart-system use and environmental impact.</a:t>
            </a:r>
          </a:p>
          <a:p xmlns:a="http://schemas.openxmlformats.org/drawingml/2006/main">
            <a:r>
              <a:t>Animation instructions: Fade title; appear cards one by one; wipe process arrows in order; highlight keywords such as green solvent, glycerol trioleate, ZnO nanoparticles, RFID, IONT, PLA, PEG, alginate hydrogel, BCI, e-waste, AI and bioleaching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5 checklist, downloaded from https://vtu.ac.in/pdf/UG2024/1BCHES102.pdf; syllabus-listed textbooks: Engineering Chemistry, Suba Ramesh, Vairam, Ananda Murthy, Wiley India, 2011; A Textbook of Engineering Chemistry, R.V. Gadag and Nityananda Shetty, I.K. International, 2nd ed., 2016; Engineering Chemistry, Jain &amp; Jain, Dhanpat Rai; Wiley Engineering Chemistry, Wiley India, 2013; syllabus-listed references for green/biomaterial/e-waste background include Green Chemistry and Engineering: A Practical Design Approach, Concepción Jiménez-González and David J.C. Constable, Wiley, 2011; E-Waste: Implications, Regulations, and Management in India and Current Global Best Practices, Rakesh Johri, TERI, 2008.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Connect property trade-offs to device design.</a:t>
            </a:r>
          </a:p>
          <a:p xmlns:a="http://schemas.openxmlformats.org/drawingml/2006/main">
            <a:r>
              <a:t>Pause cue: pause after each process diagram and ask students what makes the method greener or more sustainable.</a:t>
            </a:r>
          </a:p>
          <a:p xmlns:a="http://schemas.openxmlformats.org/drawingml/2006/main">
            <a:r>
              <a:t>Pointing cue: point from source material to synthesis/property, then to application or waste-management outcome.</a:t>
            </a:r>
          </a:p>
          <a:p xmlns:a="http://schemas.openxmlformats.org/drawingml/2006/main">
            <a:r>
              <a:t>Question to ask students: Ask students to connect material property with smart-system use and environmental impact.</a:t>
            </a:r>
          </a:p>
          <a:p xmlns:a="http://schemas.openxmlformats.org/drawingml/2006/main">
            <a:r>
              <a:t>Animation instructions: Fade title; appear cards one by one; wipe process arrows in order; highlight keywords such as green solvent, glycerol trioleate, ZnO nanoparticles, RFID, IONT, PLA, PEG, alginate hydrogel, BCI, e-waste, AI and bioleaching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5 checklist, downloaded from https://vtu.ac.in/pdf/UG2024/1BCHES102.pdf; syllabus-listed textbooks: Engineering Chemistry, Suba Ramesh, Vairam, Ananda Murthy, Wiley India, 2011; A Textbook of Engineering Chemistry, R.V. Gadag and Nityananda Shetty, I.K. International, 2nd ed., 2016; Engineering Chemistry, Jain &amp; Jain, Dhanpat Rai; Wiley Engineering Chemistry, Wiley India, 2013; syllabus-listed references for green/biomaterial/e-waste background include Green Chemistry and Engineering: A Practical Design Approach, Concepción Jiménez-González and David J.C. Constable, Wiley, 2011; E-Waste: Implications, Regulations, and Management in India and Current Global Best Practices, Rakesh Johri, TERI, 2008.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Keep it self-explanatory for students.</a:t>
            </a:r>
          </a:p>
          <a:p xmlns:a="http://schemas.openxmlformats.org/drawingml/2006/main">
            <a:r>
              <a:t>Pause cue: pause after each process diagram and ask students what makes the method greener or more sustainable.</a:t>
            </a:r>
          </a:p>
          <a:p xmlns:a="http://schemas.openxmlformats.org/drawingml/2006/main">
            <a:r>
              <a:t>Pointing cue: point from source material to synthesis/property, then to application or waste-management outcome.</a:t>
            </a:r>
          </a:p>
          <a:p xmlns:a="http://schemas.openxmlformats.org/drawingml/2006/main">
            <a:r>
              <a:t>Question to ask students: Ask students to connect material property with smart-system use and environmental impact.</a:t>
            </a:r>
          </a:p>
          <a:p xmlns:a="http://schemas.openxmlformats.org/drawingml/2006/main">
            <a:r>
              <a:t>Animation instructions: Fade title; appear cards one by one; wipe process arrows in order; highlight keywords such as green solvent, glycerol trioleate, ZnO nanoparticles, RFID, IONT, PLA, PEG, alginate hydrogel, BCI, e-waste, AI and bioleaching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5 checklist, downloaded from https://vtu.ac.in/pdf/UG2024/1BCHES102.pdf; syllabus-listed textbooks: Engineering Chemistry, Suba Ramesh, Vairam, Ananda Murthy, Wiley India, 2011; A Textbook of Engineering Chemistry, R.V. Gadag and Nityananda Shetty, I.K. International, 2nd ed., 2016; Engineering Chemistry, Jain &amp; Jain, Dhanpat Rai; Wiley Engineering Chemistry, Wiley India, 2013; syllabus-listed references for green/biomaterial/e-waste background include Green Chemistry and Engineering: A Practical Design Approach, Concepción Jiménez-González and David J.C. Constable, Wiley, 2011; E-Waste: Implications, Regulations, and Management in India and Current Global Best Practices, Rakesh Johri, TERI, 2008.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Explain PEG properties change with chain length.</a:t>
            </a:r>
          </a:p>
          <a:p xmlns:a="http://schemas.openxmlformats.org/drawingml/2006/main">
            <a:r>
              <a:t>Pause cue: pause after each process diagram and ask students what makes the method greener or more sustainable.</a:t>
            </a:r>
          </a:p>
          <a:p xmlns:a="http://schemas.openxmlformats.org/drawingml/2006/main">
            <a:r>
              <a:t>Pointing cue: point from source material to synthesis/property, then to application or waste-management outcome.</a:t>
            </a:r>
          </a:p>
          <a:p xmlns:a="http://schemas.openxmlformats.org/drawingml/2006/main">
            <a:r>
              <a:t>Question to ask students: Ask students to connect material property with smart-system use and environmental impact.</a:t>
            </a:r>
          </a:p>
          <a:p xmlns:a="http://schemas.openxmlformats.org/drawingml/2006/main">
            <a:r>
              <a:t>Animation instructions: Fade title; appear cards one by one; wipe process arrows in order; highlight keywords such as green solvent, glycerol trioleate, ZnO nanoparticles, RFID, IONT, PLA, PEG, alginate hydrogel, BCI, e-waste, AI and bioleaching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5 checklist, downloaded from https://vtu.ac.in/pdf/UG2024/1BCHES102.pdf; syllabus-listed textbooks: Engineering Chemistry, Suba Ramesh, Vairam, Ananda Murthy, Wiley India, 2011; A Textbook of Engineering Chemistry, R.V. Gadag and Nityananda Shetty, I.K. International, 2nd ed., 2016; Engineering Chemistry, Jain &amp; Jain, Dhanpat Rai; Wiley Engineering Chemistry, Wiley India, 2013; syllabus-listed references for green/biomaterial/e-waste background include Green Chemistry and Engineering: A Practical Design Approach, Concepción Jiménez-González and David J.C. Constable, Wiley, 2011; E-Waste: Implications, Regulations, and Management in India and Current Global Best Practices, Rakesh Johri, TERI, 2008.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Keep safety details out of scope, but mention controlled polymerization.</a:t>
            </a:r>
          </a:p>
          <a:p xmlns:a="http://schemas.openxmlformats.org/drawingml/2006/main">
            <a:r>
              <a:t>Pause cue: pause after each process diagram and ask students what makes the method greener or more sustainable.</a:t>
            </a:r>
          </a:p>
          <a:p xmlns:a="http://schemas.openxmlformats.org/drawingml/2006/main">
            <a:r>
              <a:t>Pointing cue: point from source material to synthesis/property, then to application or waste-management outcome.</a:t>
            </a:r>
          </a:p>
          <a:p xmlns:a="http://schemas.openxmlformats.org/drawingml/2006/main">
            <a:r>
              <a:t>Question to ask students: Ask students to connect material property with smart-system use and environmental impact.</a:t>
            </a:r>
          </a:p>
          <a:p xmlns:a="http://schemas.openxmlformats.org/drawingml/2006/main">
            <a:r>
              <a:t>Animation instructions: Fade title; appear cards one by one; wipe process arrows in order; highlight keywords such as green solvent, glycerol trioleate, ZnO nanoparticles, RFID, IONT, PLA, PEG, alginate hydrogel, BCI, e-waste, AI and bioleaching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5 checklist, downloaded from https://vtu.ac.in/pdf/UG2024/1BCHES102.pdf; syllabus-listed textbooks: Engineering Chemistry, Suba Ramesh, Vairam, Ananda Murthy, Wiley India, 2011; A Textbook of Engineering Chemistry, R.V. Gadag and Nityananda Shetty, I.K. International, 2nd ed., 2016; Engineering Chemistry, Jain &amp; Jain, Dhanpat Rai; Wiley Engineering Chemistry, Wiley India, 2013; syllabus-listed references for green/biomaterial/e-waste background include Green Chemistry and Engineering: A Practical Design Approach, Concepción Jiménez-González and David J.C. Constable, Wiley, 2011; E-Waste: Implications, Regulations, and Management in India and Current Global Best Practices, Rakesh Johri, TERI, 2008.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Ask students why water solubility matters for biointerfaces.</a:t>
            </a:r>
          </a:p>
          <a:p xmlns:a="http://schemas.openxmlformats.org/drawingml/2006/main">
            <a:r>
              <a:t>Pause cue: pause after each process diagram and ask students what makes the method greener or more sustainable.</a:t>
            </a:r>
          </a:p>
          <a:p xmlns:a="http://schemas.openxmlformats.org/drawingml/2006/main">
            <a:r>
              <a:t>Pointing cue: point from source material to synthesis/property, then to application or waste-management outcome.</a:t>
            </a:r>
          </a:p>
          <a:p xmlns:a="http://schemas.openxmlformats.org/drawingml/2006/main">
            <a:r>
              <a:t>Question to ask students: Ask students to connect material property with smart-system use and environmental impact.</a:t>
            </a:r>
          </a:p>
          <a:p xmlns:a="http://schemas.openxmlformats.org/drawingml/2006/main">
            <a:r>
              <a:t>Animation instructions: Fade title; appear cards one by one; wipe process arrows in order; highlight keywords such as green solvent, glycerol trioleate, ZnO nanoparticles, RFID, IONT, PLA, PEG, alginate hydrogel, BCI, e-waste, AI and bioleaching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5 checklist, downloaded from https://vtu.ac.in/pdf/UG2024/1BCHES102.pdf; syllabus-listed textbooks: Engineering Chemistry, Suba Ramesh, Vairam, Ananda Murthy, Wiley India, 2011; A Textbook of Engineering Chemistry, R.V. Gadag and Nityananda Shetty, I.K. International, 2nd ed., 2016; Engineering Chemistry, Jain &amp; Jain, Dhanpat Rai; Wiley Engineering Chemistry, Wiley India, 2013; syllabus-listed references for green/biomaterial/e-waste background include Green Chemistry and Engineering: A Practical Design Approach, Concepción Jiménez-González and David J.C. Constable, Wiley, 2011; E-Waste: Implications, Regulations, and Management in India and Current Global Best Practices, Rakesh Johri, TERI, 2008.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Frame as material role in smart screens.</a:t>
            </a:r>
          </a:p>
          <a:p xmlns:a="http://schemas.openxmlformats.org/drawingml/2006/main">
            <a:r>
              <a:t>Pause cue: pause after each process diagram and ask students what makes the method greener or more sustainable.</a:t>
            </a:r>
          </a:p>
          <a:p xmlns:a="http://schemas.openxmlformats.org/drawingml/2006/main">
            <a:r>
              <a:t>Pointing cue: point from source material to synthesis/property, then to application or waste-management outcome.</a:t>
            </a:r>
          </a:p>
          <a:p xmlns:a="http://schemas.openxmlformats.org/drawingml/2006/main">
            <a:r>
              <a:t>Question to ask students: Ask students to connect material property with smart-system use and environmental impact.</a:t>
            </a:r>
          </a:p>
          <a:p xmlns:a="http://schemas.openxmlformats.org/drawingml/2006/main">
            <a:r>
              <a:t>Animation instructions: Fade title; appear cards one by one; wipe process arrows in order; highlight keywords such as green solvent, glycerol trioleate, ZnO nanoparticles, RFID, IONT, PLA, PEG, alginate hydrogel, BCI, e-waste, AI and bioleaching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5 checklist, downloaded from https://vtu.ac.in/pdf/UG2024/1BCHES102.pdf; syllabus-listed textbooks: Engineering Chemistry, Suba Ramesh, Vairam, Ananda Murthy, Wiley India, 2011; A Textbook of Engineering Chemistry, R.V. Gadag and Nityananda Shetty, I.K. International, 2nd ed., 2016; Engineering Chemistry, Jain &amp; Jain, Dhanpat Rai; Wiley Engineering Chemistry, Wiley India, 2013; syllabus-listed references for green/biomaterial/e-waste background include Green Chemistry and Engineering: A Practical Design Approach, Concepción Jiménez-González and David J.C. Constable, Wiley, 2011; E-Waste: Implications, Regulations, and Management in India and Current Global Best Practices, Rakesh Johri, TERI, 2008.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Use this as a quick comparison.</a:t>
            </a:r>
          </a:p>
          <a:p xmlns:a="http://schemas.openxmlformats.org/drawingml/2006/main">
            <a:r>
              <a:t>Pause cue: pause after each process diagram and ask students what makes the method greener or more sustainable.</a:t>
            </a:r>
          </a:p>
          <a:p xmlns:a="http://schemas.openxmlformats.org/drawingml/2006/main">
            <a:r>
              <a:t>Pointing cue: point from source material to synthesis/property, then to application or waste-management outcome.</a:t>
            </a:r>
          </a:p>
          <a:p xmlns:a="http://schemas.openxmlformats.org/drawingml/2006/main">
            <a:r>
              <a:t>Question to ask students: Ask students to connect material property with smart-system use and environmental impact.</a:t>
            </a:r>
          </a:p>
          <a:p xmlns:a="http://schemas.openxmlformats.org/drawingml/2006/main">
            <a:r>
              <a:t>Animation instructions: Fade title; appear cards one by one; wipe process arrows in order; highlight keywords such as green solvent, glycerol trioleate, ZnO nanoparticles, RFID, IONT, PLA, PEG, alginate hydrogel, BCI, e-waste, AI and bioleaching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5 checklist, downloaded from https://vtu.ac.in/pdf/UG2024/1BCHES102.pdf; syllabus-listed textbooks: Engineering Chemistry, Suba Ramesh, Vairam, Ananda Murthy, Wiley India, 2011; A Textbook of Engineering Chemistry, R.V. Gadag and Nityananda Shetty, I.K. International, 2nd ed., 2016; Engineering Chemistry, Jain &amp; Jain, Dhanpat Rai; Wiley Engineering Chemistry, Wiley India, 2013; syllabus-listed references for green/biomaterial/e-waste background include Green Chemistry and Engineering: A Practical Design Approach, Concepción Jiménez-González and David J.C. Constable, Wiley, 2011; E-Waste: Implications, Regulations, and Management in India and Current Global Best Practices, Rakesh Johri, TERI, 2008.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Explain alginate comes from seaweed-derived polysaccharide.</a:t>
            </a:r>
          </a:p>
          <a:p xmlns:a="http://schemas.openxmlformats.org/drawingml/2006/main">
            <a:r>
              <a:t>Pause cue: pause after each process diagram and ask students what makes the method greener or more sustainable.</a:t>
            </a:r>
          </a:p>
          <a:p xmlns:a="http://schemas.openxmlformats.org/drawingml/2006/main">
            <a:r>
              <a:t>Pointing cue: point from source material to synthesis/property, then to application or waste-management outcome.</a:t>
            </a:r>
          </a:p>
          <a:p xmlns:a="http://schemas.openxmlformats.org/drawingml/2006/main">
            <a:r>
              <a:t>Question to ask students: Ask students to connect material property with smart-system use and environmental impact.</a:t>
            </a:r>
          </a:p>
          <a:p xmlns:a="http://schemas.openxmlformats.org/drawingml/2006/main">
            <a:r>
              <a:t>Animation instructions: Fade title; appear cards one by one; wipe process arrows in order; highlight keywords such as green solvent, glycerol trioleate, ZnO nanoparticles, RFID, IONT, PLA, PEG, alginate hydrogel, BCI, e-waste, AI and bioleaching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5 checklist, downloaded from https://vtu.ac.in/pdf/UG2024/1BCHES102.pdf; syllabus-listed textbooks: Engineering Chemistry, Suba Ramesh, Vairam, Ananda Murthy, Wiley India, 2011; A Textbook of Engineering Chemistry, R.V. Gadag and Nityananda Shetty, I.K. International, 2nd ed., 2016; Engineering Chemistry, Jain &amp; Jain, Dhanpat Rai; Wiley Engineering Chemistry, Wiley India, 2013; syllabus-listed references for green/biomaterial/e-waste background include Green Chemistry and Engineering: A Practical Design Approach, Concepción Jiménez-González and David J.C. Constable, Wiley, 2011; E-Waste: Implications, Regulations, and Management in India and Current Global Best Practices, Rakesh Johri, TERI, 2008.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Use egg-box model verbally if desired.</a:t>
            </a:r>
          </a:p>
          <a:p xmlns:a="http://schemas.openxmlformats.org/drawingml/2006/main">
            <a:r>
              <a:t>Pause cue: pause after each process diagram and ask students what makes the method greener or more sustainable.</a:t>
            </a:r>
          </a:p>
          <a:p xmlns:a="http://schemas.openxmlformats.org/drawingml/2006/main">
            <a:r>
              <a:t>Pointing cue: point from source material to synthesis/property, then to application or waste-management outcome.</a:t>
            </a:r>
          </a:p>
          <a:p xmlns:a="http://schemas.openxmlformats.org/drawingml/2006/main">
            <a:r>
              <a:t>Question to ask students: Ask students to connect material property with smart-system use and environmental impact.</a:t>
            </a:r>
          </a:p>
          <a:p xmlns:a="http://schemas.openxmlformats.org/drawingml/2006/main">
            <a:r>
              <a:t>Animation instructions: Fade title; appear cards one by one; wipe process arrows in order; highlight keywords such as green solvent, glycerol trioleate, ZnO nanoparticles, RFID, IONT, PLA, PEG, alginate hydrogel, BCI, e-waste, AI and bioleaching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5 checklist, downloaded from https://vtu.ac.in/pdf/UG2024/1BCHES102.pdf; syllabus-listed textbooks: Engineering Chemistry, Suba Ramesh, Vairam, Ananda Murthy, Wiley India, 2011; A Textbook of Engineering Chemistry, R.V. Gadag and Nityananda Shetty, I.K. International, 2nd ed., 2016; Engineering Chemistry, Jain &amp; Jain, Dhanpat Rai; Wiley Engineering Chemistry, Wiley India, 2013; syllabus-listed references for green/biomaterial/e-waste background include Green Chemistry and Engineering: A Practical Design Approach, Concepción Jiménez-González and David J.C. Constable, Wiley, 2011; E-Waste: Implications, Regulations, and Management in India and Current Global Best Practices, Rakesh Johri, TERI, 2008.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Relate softness to brain-interface applications.</a:t>
            </a:r>
          </a:p>
          <a:p xmlns:a="http://schemas.openxmlformats.org/drawingml/2006/main">
            <a:r>
              <a:t>Pause cue: pause after each process diagram and ask students what makes the method greener or more sustainable.</a:t>
            </a:r>
          </a:p>
          <a:p xmlns:a="http://schemas.openxmlformats.org/drawingml/2006/main">
            <a:r>
              <a:t>Pointing cue: point from source material to synthesis/property, then to application or waste-management outcome.</a:t>
            </a:r>
          </a:p>
          <a:p xmlns:a="http://schemas.openxmlformats.org/drawingml/2006/main">
            <a:r>
              <a:t>Question to ask students: Ask students to connect material property with smart-system use and environmental impact.</a:t>
            </a:r>
          </a:p>
          <a:p xmlns:a="http://schemas.openxmlformats.org/drawingml/2006/main">
            <a:r>
              <a:t>Animation instructions: Fade title; appear cards one by one; wipe process arrows in order; highlight keywords such as green solvent, glycerol trioleate, ZnO nanoparticles, RFID, IONT, PLA, PEG, alginate hydrogel, BCI, e-waste, AI and bioleaching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5 checklist, downloaded from https://vtu.ac.in/pdf/UG2024/1BCHES102.pdf; syllabus-listed textbooks: Engineering Chemistry, Suba Ramesh, Vairam, Ananda Murthy, Wiley India, 2011; A Textbook of Engineering Chemistry, R.V. Gadag and Nityananda Shetty, I.K. International, 2nd ed., 2016; Engineering Chemistry, Jain &amp; Jain, Dhanpat Rai; Wiley Engineering Chemistry, Wiley India, 2013; syllabus-listed references for green/biomaterial/e-waste background include Green Chemistry and Engineering: A Practical Design Approach, Concepción Jiménez-González and David J.C. Constable, Wiley, 2011; E-Waste: Implications, Regulations, and Management in India and Current Global Best Practices, Rakesh Johri, TERI, 2008.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Define BCI as brain-computer interface.</a:t>
            </a:r>
          </a:p>
          <a:p xmlns:a="http://schemas.openxmlformats.org/drawingml/2006/main">
            <a:r>
              <a:t>Pause cue: pause after each process diagram and ask students what makes the method greener or more sustainable.</a:t>
            </a:r>
          </a:p>
          <a:p xmlns:a="http://schemas.openxmlformats.org/drawingml/2006/main">
            <a:r>
              <a:t>Pointing cue: point from source material to synthesis/property, then to application or waste-management outcome.</a:t>
            </a:r>
          </a:p>
          <a:p xmlns:a="http://schemas.openxmlformats.org/drawingml/2006/main">
            <a:r>
              <a:t>Question to ask students: Ask students to connect material property with smart-system use and environmental impact.</a:t>
            </a:r>
          </a:p>
          <a:p xmlns:a="http://schemas.openxmlformats.org/drawingml/2006/main">
            <a:r>
              <a:t>Animation instructions: Fade title; appear cards one by one; wipe process arrows in order; highlight keywords such as green solvent, glycerol trioleate, ZnO nanoparticles, RFID, IONT, PLA, PEG, alginate hydrogel, BCI, e-waste, AI and bioleaching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5 checklist, downloaded from https://vtu.ac.in/pdf/UG2024/1BCHES102.pdf; syllabus-listed textbooks: Engineering Chemistry, Suba Ramesh, Vairam, Ananda Murthy, Wiley India, 2011; A Textbook of Engineering Chemistry, R.V. Gadag and Nityananda Shetty, I.K. International, 2nd ed., 2016; Engineering Chemistry, Jain &amp; Jain, Dhanpat Rai; Wiley Engineering Chemistry, Wiley India, 2013; syllabus-listed references for green/biomaterial/e-waste background include Green Chemistry and Engineering: A Practical Design Approach, Concepción Jiménez-González and David J.C. Constable, Wiley, 2011; E-Waste: Implications, Regulations, and Management in India and Current Global Best Practices, Rakesh Johri, TERI, 2008.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Use this before e-waste.</a:t>
            </a:r>
          </a:p>
          <a:p xmlns:a="http://schemas.openxmlformats.org/drawingml/2006/main">
            <a:r>
              <a:t>Pause cue: pause after each process diagram and ask students what makes the method greener or more sustainable.</a:t>
            </a:r>
          </a:p>
          <a:p xmlns:a="http://schemas.openxmlformats.org/drawingml/2006/main">
            <a:r>
              <a:t>Pointing cue: point from source material to synthesis/property, then to application or waste-management outcome.</a:t>
            </a:r>
          </a:p>
          <a:p xmlns:a="http://schemas.openxmlformats.org/drawingml/2006/main">
            <a:r>
              <a:t>Question to ask students: Ask students to connect material property with smart-system use and environmental impact.</a:t>
            </a:r>
          </a:p>
          <a:p xmlns:a="http://schemas.openxmlformats.org/drawingml/2006/main">
            <a:r>
              <a:t>Animation instructions: Fade title; appear cards one by one; wipe process arrows in order; highlight keywords such as green solvent, glycerol trioleate, ZnO nanoparticles, RFID, IONT, PLA, PEG, alginate hydrogel, BCI, e-waste, AI and bioleaching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5 checklist, downloaded from https://vtu.ac.in/pdf/UG2024/1BCHES102.pdf; syllabus-listed textbooks: Engineering Chemistry, Suba Ramesh, Vairam, Ananda Murthy, Wiley India, 2011; A Textbook of Engineering Chemistry, R.V. Gadag and Nityananda Shetty, I.K. International, 2nd ed., 2016; Engineering Chemistry, Jain &amp; Jain, Dhanpat Rai; Wiley Engineering Chemistry, Wiley India, 2013; syllabus-listed references for green/biomaterial/e-waste background include Green Chemistry and Engineering: A Practical Design Approach, Concepción Jiménez-González and David J.C. Constable, Wiley, 2011; E-Waste: Implications, Regulations, and Management in India and Current Global Best Practices, Rakesh Johri, TERI, 2008.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Use phones, laptops and chargers as examples.</a:t>
            </a:r>
          </a:p>
          <a:p xmlns:a="http://schemas.openxmlformats.org/drawingml/2006/main">
            <a:r>
              <a:t>Pause cue: pause after each process diagram and ask students what makes the method greener or more sustainable.</a:t>
            </a:r>
          </a:p>
          <a:p xmlns:a="http://schemas.openxmlformats.org/drawingml/2006/main">
            <a:r>
              <a:t>Pointing cue: point from source material to synthesis/property, then to application or waste-management outcome.</a:t>
            </a:r>
          </a:p>
          <a:p xmlns:a="http://schemas.openxmlformats.org/drawingml/2006/main">
            <a:r>
              <a:t>Question to ask students: Ask students to connect material property with smart-system use and environmental impact.</a:t>
            </a:r>
          </a:p>
          <a:p xmlns:a="http://schemas.openxmlformats.org/drawingml/2006/main">
            <a:r>
              <a:t>Animation instructions: Fade title; appear cards one by one; wipe process arrows in order; highlight keywords such as green solvent, glycerol trioleate, ZnO nanoparticles, RFID, IONT, PLA, PEG, alginate hydrogel, BCI, e-waste, AI and bioleaching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5 checklist, downloaded from https://vtu.ac.in/pdf/UG2024/1BCHES102.pdf; syllabus-listed textbooks: Engineering Chemistry, Suba Ramesh, Vairam, Ananda Murthy, Wiley India, 2011; A Textbook of Engineering Chemistry, R.V. Gadag and Nityananda Shetty, I.K. International, 2nd ed., 2016; Engineering Chemistry, Jain &amp; Jain, Dhanpat Rai; Wiley Engineering Chemistry, Wiley India, 2013; syllabus-listed references for green/biomaterial/e-waste background include Green Chemistry and Engineering: A Practical Design Approach, Concepción Jiménez-González and David J.C. Constable, Wiley, 2011; E-Waste: Implications, Regulations, and Management in India and Current Global Best Practices, Rakesh Johri, TERI, 2008.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Ask students which source is fastest in their own life.</a:t>
            </a:r>
          </a:p>
          <a:p xmlns:a="http://schemas.openxmlformats.org/drawingml/2006/main">
            <a:r>
              <a:t>Pause cue: pause after each process diagram and ask students what makes the method greener or more sustainable.</a:t>
            </a:r>
          </a:p>
          <a:p xmlns:a="http://schemas.openxmlformats.org/drawingml/2006/main">
            <a:r>
              <a:t>Pointing cue: point from source material to synthesis/property, then to application or waste-management outcome.</a:t>
            </a:r>
          </a:p>
          <a:p xmlns:a="http://schemas.openxmlformats.org/drawingml/2006/main">
            <a:r>
              <a:t>Question to ask students: Ask students to connect material property with smart-system use and environmental impact.</a:t>
            </a:r>
          </a:p>
          <a:p xmlns:a="http://schemas.openxmlformats.org/drawingml/2006/main">
            <a:r>
              <a:t>Animation instructions: Fade title; appear cards one by one; wipe process arrows in order; highlight keywords such as green solvent, glycerol trioleate, ZnO nanoparticles, RFID, IONT, PLA, PEG, alginate hydrogel, BCI, e-waste, AI and bioleaching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5 checklist, downloaded from https://vtu.ac.in/pdf/UG2024/1BCHES102.pdf; syllabus-listed textbooks: Engineering Chemistry, Suba Ramesh, Vairam, Ananda Murthy, Wiley India, 2011; A Textbook of Engineering Chemistry, R.V. Gadag and Nityananda Shetty, I.K. International, 2nd ed., 2016; Engineering Chemistry, Jain &amp; Jain, Dhanpat Rai; Wiley Engineering Chemistry, Wiley India, 2013; syllabus-listed references for green/biomaterial/e-waste background include Green Chemistry and Engineering: A Practical Design Approach, Concepción Jiménez-González and David J.C. Constable, Wiley, 2011; E-Waste: Implications, Regulations, and Management in India and Current Global Best Practices, Rakesh Johri, TERI, 2008.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Emphasize e-waste is both resource and hazard.</a:t>
            </a:r>
          </a:p>
          <a:p xmlns:a="http://schemas.openxmlformats.org/drawingml/2006/main">
            <a:r>
              <a:t>Pause cue: pause after each process diagram and ask students what makes the method greener or more sustainable.</a:t>
            </a:r>
          </a:p>
          <a:p xmlns:a="http://schemas.openxmlformats.org/drawingml/2006/main">
            <a:r>
              <a:t>Pointing cue: point from source material to synthesis/property, then to application or waste-management outcome.</a:t>
            </a:r>
          </a:p>
          <a:p xmlns:a="http://schemas.openxmlformats.org/drawingml/2006/main">
            <a:r>
              <a:t>Question to ask students: Ask students to connect material property with smart-system use and environmental impact.</a:t>
            </a:r>
          </a:p>
          <a:p xmlns:a="http://schemas.openxmlformats.org/drawingml/2006/main">
            <a:r>
              <a:t>Animation instructions: Fade title; appear cards one by one; wipe process arrows in order; highlight keywords such as green solvent, glycerol trioleate, ZnO nanoparticles, RFID, IONT, PLA, PEG, alginate hydrogel, BCI, e-waste, AI and bioleaching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5 checklist, downloaded from https://vtu.ac.in/pdf/UG2024/1BCHES102.pdf; syllabus-listed textbooks: Engineering Chemistry, Suba Ramesh, Vairam, Ananda Murthy, Wiley India, 2011; A Textbook of Engineering Chemistry, R.V. Gadag and Nityananda Shetty, I.K. International, 2nd ed., 2016; Engineering Chemistry, Jain &amp; Jain, Dhanpat Rai; Wiley Engineering Chemistry, Wiley India, 2013; syllabus-listed references for green/biomaterial/e-waste background include Green Chemistry and Engineering: A Practical Design Approach, Concepción Jiménez-González and David J.C. Constable, Wiley, 2011; E-Waste: Implications, Regulations, and Management in India and Current Global Best Practices, Rakesh Johri, TERI, 2008.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Tie design complexity to recycling difficulty.</a:t>
            </a:r>
          </a:p>
          <a:p xmlns:a="http://schemas.openxmlformats.org/drawingml/2006/main">
            <a:r>
              <a:t>Pause cue: pause after each process diagram and ask students what makes the method greener or more sustainable.</a:t>
            </a:r>
          </a:p>
          <a:p xmlns:a="http://schemas.openxmlformats.org/drawingml/2006/main">
            <a:r>
              <a:t>Pointing cue: point from source material to synthesis/property, then to application or waste-management outcome.</a:t>
            </a:r>
          </a:p>
          <a:p xmlns:a="http://schemas.openxmlformats.org/drawingml/2006/main">
            <a:r>
              <a:t>Question to ask students: Ask students to connect material property with smart-system use and environmental impact.</a:t>
            </a:r>
          </a:p>
          <a:p xmlns:a="http://schemas.openxmlformats.org/drawingml/2006/main">
            <a:r>
              <a:t>Animation instructions: Fade title; appear cards one by one; wipe process arrows in order; highlight keywords such as green solvent, glycerol trioleate, ZnO nanoparticles, RFID, IONT, PLA, PEG, alginate hydrogel, BCI, e-waste, AI and bioleaching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5 checklist, downloaded from https://vtu.ac.in/pdf/UG2024/1BCHES102.pdf; syllabus-listed textbooks: Engineering Chemistry, Suba Ramesh, Vairam, Ananda Murthy, Wiley India, 2011; A Textbook of Engineering Chemistry, R.V. Gadag and Nityananda Shetty, I.K. International, 2nd ed., 2016; Engineering Chemistry, Jain &amp; Jain, Dhanpat Rai; Wiley Engineering Chemistry, Wiley India, 2013; syllabus-listed references for green/biomaterial/e-waste background include Green Chemistry and Engineering: A Practical Design Approach, Concepción Jiménez-González and David J.C. Constable, Wiley, 2011; E-Waste: Implications, Regulations, and Management in India and Current Global Best Practices, Rakesh Johri, TERI, 2008.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Keep this clear and grounded.</a:t>
            </a:r>
          </a:p>
          <a:p xmlns:a="http://schemas.openxmlformats.org/drawingml/2006/main">
            <a:r>
              <a:t>Pause cue: pause after each process diagram and ask students what makes the method greener or more sustainable.</a:t>
            </a:r>
          </a:p>
          <a:p xmlns:a="http://schemas.openxmlformats.org/drawingml/2006/main">
            <a:r>
              <a:t>Pointing cue: point from source material to synthesis/property, then to application or waste-management outcome.</a:t>
            </a:r>
          </a:p>
          <a:p xmlns:a="http://schemas.openxmlformats.org/drawingml/2006/main">
            <a:r>
              <a:t>Question to ask students: Ask students to connect material property with smart-system use and environmental impact.</a:t>
            </a:r>
          </a:p>
          <a:p xmlns:a="http://schemas.openxmlformats.org/drawingml/2006/main">
            <a:r>
              <a:t>Animation instructions: Fade title; appear cards one by one; wipe process arrows in order; highlight keywords such as green solvent, glycerol trioleate, ZnO nanoparticles, RFID, IONT, PLA, PEG, alginate hydrogel, BCI, e-waste, AI and bioleaching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5 checklist, downloaded from https://vtu.ac.in/pdf/UG2024/1BCHES102.pdf; syllabus-listed textbooks: Engineering Chemistry, Suba Ramesh, Vairam, Ananda Murthy, Wiley India, 2011; A Textbook of Engineering Chemistry, R.V. Gadag and Nityananda Shetty, I.K. International, 2nd ed., 2016; Engineering Chemistry, Jain &amp; Jain, Dhanpat Rai; Wiley Engineering Chemistry, Wiley India, 2013; syllabus-listed references for green/biomaterial/e-waste background include Green Chemistry and Engineering: A Practical Design Approach, Concepción Jiménez-González and David J.C. Constable, Wiley, 2011; E-Waste: Implications, Regulations, and Management in India and Current Global Best Practices, Rakesh Johri, TERI, 2008.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Mention informal recycling worker risk.</a:t>
            </a:r>
          </a:p>
          <a:p xmlns:a="http://schemas.openxmlformats.org/drawingml/2006/main">
            <a:r>
              <a:t>Pause cue: pause after each process diagram and ask students what makes the method greener or more sustainable.</a:t>
            </a:r>
          </a:p>
          <a:p xmlns:a="http://schemas.openxmlformats.org/drawingml/2006/main">
            <a:r>
              <a:t>Pointing cue: point from source material to synthesis/property, then to application or waste-management outcome.</a:t>
            </a:r>
          </a:p>
          <a:p xmlns:a="http://schemas.openxmlformats.org/drawingml/2006/main">
            <a:r>
              <a:t>Question to ask students: Ask students to connect material property with smart-system use and environmental impact.</a:t>
            </a:r>
          </a:p>
          <a:p xmlns:a="http://schemas.openxmlformats.org/drawingml/2006/main">
            <a:r>
              <a:t>Animation instructions: Fade title; appear cards one by one; wipe process arrows in order; highlight keywords such as green solvent, glycerol trioleate, ZnO nanoparticles, RFID, IONT, PLA, PEG, alginate hydrogel, BCI, e-waste, AI and bioleaching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5 checklist, downloaded from https://vtu.ac.in/pdf/UG2024/1BCHES102.pdf; syllabus-listed textbooks: Engineering Chemistry, Suba Ramesh, Vairam, Ananda Murthy, Wiley India, 2011; A Textbook of Engineering Chemistry, R.V. Gadag and Nityananda Shetty, I.K. International, 2nd ed., 2016; Engineering Chemistry, Jain &amp; Jain, Dhanpat Rai; Wiley Engineering Chemistry, Wiley India, 2013; syllabus-listed references for green/biomaterial/e-waste background include Green Chemistry and Engineering: A Practical Design Approach, Concepción Jiménez-González and David J.C. Constable, Wiley, 2011; E-Waste: Implications, Regulations, and Management in India and Current Global Best Practices, Rakesh Johri, TERI, 2008.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This gives students a practical answer flow.</a:t>
            </a:r>
          </a:p>
          <a:p xmlns:a="http://schemas.openxmlformats.org/drawingml/2006/main">
            <a:r>
              <a:t>Pause cue: pause after each process diagram and ask students what makes the method greener or more sustainable.</a:t>
            </a:r>
          </a:p>
          <a:p xmlns:a="http://schemas.openxmlformats.org/drawingml/2006/main">
            <a:r>
              <a:t>Pointing cue: point from source material to synthesis/property, then to application or waste-management outcome.</a:t>
            </a:r>
          </a:p>
          <a:p xmlns:a="http://schemas.openxmlformats.org/drawingml/2006/main">
            <a:r>
              <a:t>Question to ask students: Ask students to connect material property with smart-system use and environmental impact.</a:t>
            </a:r>
          </a:p>
          <a:p xmlns:a="http://schemas.openxmlformats.org/drawingml/2006/main">
            <a:r>
              <a:t>Animation instructions: Fade title; appear cards one by one; wipe process arrows in order; highlight keywords such as green solvent, glycerol trioleate, ZnO nanoparticles, RFID, IONT, PLA, PEG, alginate hydrogel, BCI, e-waste, AI and bioleaching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5 checklist, downloaded from https://vtu.ac.in/pdf/UG2024/1BCHES102.pdf; syllabus-listed textbooks: Engineering Chemistry, Suba Ramesh, Vairam, Ananda Murthy, Wiley India, 2011; A Textbook of Engineering Chemistry, R.V. Gadag and Nityananda Shetty, I.K. International, 2nd ed., 2016; Engineering Chemistry, Jain &amp; Jain, Dhanpat Rai; Wiley Engineering Chemistry, Wiley India, 2013; syllabus-listed references for green/biomaterial/e-waste background include Green Chemistry and Engineering: A Practical Design Approach, Concepción Jiménez-González and David J.C. Constable, Wiley, 2011; E-Waste: Implications, Regulations, and Management in India and Current Global Best Practices, Rakesh Johri, TERI, 2008.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Frame AI as a tool, not a magic solution.</a:t>
            </a:r>
          </a:p>
          <a:p xmlns:a="http://schemas.openxmlformats.org/drawingml/2006/main">
            <a:r>
              <a:t>Pause cue: pause after each process diagram and ask students what makes the method greener or more sustainable.</a:t>
            </a:r>
          </a:p>
          <a:p xmlns:a="http://schemas.openxmlformats.org/drawingml/2006/main">
            <a:r>
              <a:t>Pointing cue: point from source material to synthesis/property, then to application or waste-management outcome.</a:t>
            </a:r>
          </a:p>
          <a:p xmlns:a="http://schemas.openxmlformats.org/drawingml/2006/main">
            <a:r>
              <a:t>Question to ask students: Ask students to connect material property with smart-system use and environmental impact.</a:t>
            </a:r>
          </a:p>
          <a:p xmlns:a="http://schemas.openxmlformats.org/drawingml/2006/main">
            <a:r>
              <a:t>Animation instructions: Fade title; appear cards one by one; wipe process arrows in order; highlight keywords such as green solvent, glycerol trioleate, ZnO nanoparticles, RFID, IONT, PLA, PEG, alginate hydrogel, BCI, e-waste, AI and bioleaching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5 checklist, downloaded from https://vtu.ac.in/pdf/UG2024/1BCHES102.pdf; syllabus-listed textbooks: Engineering Chemistry, Suba Ramesh, Vairam, Ananda Murthy, Wiley India, 2011; A Textbook of Engineering Chemistry, R.V. Gadag and Nityananda Shetty, I.K. International, 2nd ed., 2016; Engineering Chemistry, Jain &amp; Jain, Dhanpat Rai; Wiley Engineering Chemistry, Wiley India, 2013; syllabus-listed references for green/biomaterial/e-waste background include Green Chemistry and Engineering: A Practical Design Approach, Concepción Jiménez-González and David J.C. Constable, Wiley, 2011; E-Waste: Implications, Regulations, and Management in India and Current Global Best Practices, Rakesh Johri, TERI, 2008.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Ask students where sensors from Module 4 fit into this system.</a:t>
            </a:r>
          </a:p>
          <a:p xmlns:a="http://schemas.openxmlformats.org/drawingml/2006/main">
            <a:r>
              <a:t>Pause cue: pause after each process diagram and ask students what makes the method greener or more sustainable.</a:t>
            </a:r>
          </a:p>
          <a:p xmlns:a="http://schemas.openxmlformats.org/drawingml/2006/main">
            <a:r>
              <a:t>Pointing cue: point from source material to synthesis/property, then to application or waste-management outcome.</a:t>
            </a:r>
          </a:p>
          <a:p xmlns:a="http://schemas.openxmlformats.org/drawingml/2006/main">
            <a:r>
              <a:t>Question to ask students: Ask students to connect material property with smart-system use and environmental impact.</a:t>
            </a:r>
          </a:p>
          <a:p xmlns:a="http://schemas.openxmlformats.org/drawingml/2006/main">
            <a:r>
              <a:t>Animation instructions: Fade title; appear cards one by one; wipe process arrows in order; highlight keywords such as green solvent, glycerol trioleate, ZnO nanoparticles, RFID, IONT, PLA, PEG, alginate hydrogel, BCI, e-waste, AI and bioleaching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5 checklist, downloaded from https://vtu.ac.in/pdf/UG2024/1BCHES102.pdf; syllabus-listed textbooks: Engineering Chemistry, Suba Ramesh, Vairam, Ananda Murthy, Wiley India, 2011; A Textbook of Engineering Chemistry, R.V. Gadag and Nityananda Shetty, I.K. International, 2nd ed., 2016; Engineering Chemistry, Jain &amp; Jain, Dhanpat Rai; Wiley Engineering Chemistry, Wiley India, 2013; syllabus-listed references for green/biomaterial/e-waste background include Green Chemistry and Engineering: A Practical Design Approach, Concepción Jiménez-González and David J.C. Constable, Wiley, 2011; E-Waste: Implications, Regulations, and Management in India and Current Global Best Practices, Rakesh Johri, TERI, 2008.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Keep it exam-ready.</a:t>
            </a:r>
          </a:p>
          <a:p xmlns:a="http://schemas.openxmlformats.org/drawingml/2006/main">
            <a:r>
              <a:t>Pause cue: pause after each process diagram and ask students what makes the method greener or more sustainable.</a:t>
            </a:r>
          </a:p>
          <a:p xmlns:a="http://schemas.openxmlformats.org/drawingml/2006/main">
            <a:r>
              <a:t>Pointing cue: point from source material to synthesis/property, then to application or waste-management outcome.</a:t>
            </a:r>
          </a:p>
          <a:p xmlns:a="http://schemas.openxmlformats.org/drawingml/2006/main">
            <a:r>
              <a:t>Question to ask students: Ask students to connect material property with smart-system use and environmental impact.</a:t>
            </a:r>
          </a:p>
          <a:p xmlns:a="http://schemas.openxmlformats.org/drawingml/2006/main">
            <a:r>
              <a:t>Animation instructions: Fade title; appear cards one by one; wipe process arrows in order; highlight keywords such as green solvent, glycerol trioleate, ZnO nanoparticles, RFID, IONT, PLA, PEG, alginate hydrogel, BCI, e-waste, AI and bioleaching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5 checklist, downloaded from https://vtu.ac.in/pdf/UG2024/1BCHES102.pdf; syllabus-listed textbooks: Engineering Chemistry, Suba Ramesh, Vairam, Ananda Murthy, Wiley India, 2011; A Textbook of Engineering Chemistry, R.V. Gadag and Nityananda Shetty, I.K. International, 2nd ed., 2016; Engineering Chemistry, Jain &amp; Jain, Dhanpat Rai; Wiley Engineering Chemistry, Wiley India, 2013; syllabus-listed references for green/biomaterial/e-waste background include Green Chemistry and Engineering: A Practical Design Approach, Concepción Jiménez-González and David J.C. Constable, Wiley, 2011; E-Waste: Implications, Regulations, and Management in India and Current Global Best Practices, Rakesh Johri, TERI, 2008.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Explain it is a biological extraction method.</a:t>
            </a:r>
          </a:p>
          <a:p xmlns:a="http://schemas.openxmlformats.org/drawingml/2006/main">
            <a:r>
              <a:t>Pause cue: pause after each process diagram and ask students what makes the method greener or more sustainable.</a:t>
            </a:r>
          </a:p>
          <a:p xmlns:a="http://schemas.openxmlformats.org/drawingml/2006/main">
            <a:r>
              <a:t>Pointing cue: point from source material to synthesis/property, then to application or waste-management outcome.</a:t>
            </a:r>
          </a:p>
          <a:p xmlns:a="http://schemas.openxmlformats.org/drawingml/2006/main">
            <a:r>
              <a:t>Question to ask students: Ask students to connect material property with smart-system use and environmental impact.</a:t>
            </a:r>
          </a:p>
          <a:p xmlns:a="http://schemas.openxmlformats.org/drawingml/2006/main">
            <a:r>
              <a:t>Animation instructions: Fade title; appear cards one by one; wipe process arrows in order; highlight keywords such as green solvent, glycerol trioleate, ZnO nanoparticles, RFID, IONT, PLA, PEG, alginate hydrogel, BCI, e-waste, AI and bioleaching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5 checklist, downloaded from https://vtu.ac.in/pdf/UG2024/1BCHES102.pdf; syllabus-listed textbooks: Engineering Chemistry, Suba Ramesh, Vairam, Ananda Murthy, Wiley India, 2011; A Textbook of Engineering Chemistry, R.V. Gadag and Nityananda Shetty, I.K. International, 2nd ed., 2016; Engineering Chemistry, Jain &amp; Jain, Dhanpat Rai; Wiley Engineering Chemistry, Wiley India, 2013; syllabus-listed references for green/biomaterial/e-waste background include Green Chemistry and Engineering: A Practical Design Approach, Concepción Jiménez-González and David J.C. Constable, Wiley, 2011; E-Waste: Implications, Regulations, and Management in India and Current Global Best Practices, Rakesh Johri, TERI, 2008.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Avoid naming microbes unless required by faculty notes.</a:t>
            </a:r>
          </a:p>
          <a:p xmlns:a="http://schemas.openxmlformats.org/drawingml/2006/main">
            <a:r>
              <a:t>Pause cue: pause after each process diagram and ask students what makes the method greener or more sustainable.</a:t>
            </a:r>
          </a:p>
          <a:p xmlns:a="http://schemas.openxmlformats.org/drawingml/2006/main">
            <a:r>
              <a:t>Pointing cue: point from source material to synthesis/property, then to application or waste-management outcome.</a:t>
            </a:r>
          </a:p>
          <a:p xmlns:a="http://schemas.openxmlformats.org/drawingml/2006/main">
            <a:r>
              <a:t>Question to ask students: Ask students to connect material property with smart-system use and environmental impact.</a:t>
            </a:r>
          </a:p>
          <a:p xmlns:a="http://schemas.openxmlformats.org/drawingml/2006/main">
            <a:r>
              <a:t>Animation instructions: Fade title; appear cards one by one; wipe process arrows in order; highlight keywords such as green solvent, glycerol trioleate, ZnO nanoparticles, RFID, IONT, PLA, PEG, alginate hydrogel, BCI, e-waste, AI and bioleaching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5 checklist, downloaded from https://vtu.ac.in/pdf/UG2024/1BCHES102.pdf; syllabus-listed textbooks: Engineering Chemistry, Suba Ramesh, Vairam, Ananda Murthy, Wiley India, 2011; A Textbook of Engineering Chemistry, R.V. Gadag and Nityananda Shetty, I.K. International, 2nd ed., 2016; Engineering Chemistry, Jain &amp; Jain, Dhanpat Rai; Wiley Engineering Chemistry, Wiley India, 2013; syllabus-listed references for green/biomaterial/e-waste background include Green Chemistry and Engineering: A Practical Design Approach, Concepción Jiménez-González and David J.C. Constable, Wiley, 2011; E-Waste: Implications, Regulations, and Management in India and Current Global Best Practices, Rakesh Johri, TERI, 2008.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Point to pre-treatment and recovery as important steps.</a:t>
            </a:r>
          </a:p>
          <a:p xmlns:a="http://schemas.openxmlformats.org/drawingml/2006/main">
            <a:r>
              <a:t>Pause cue: pause after each process diagram and ask students what makes the method greener or more sustainable.</a:t>
            </a:r>
          </a:p>
          <a:p xmlns:a="http://schemas.openxmlformats.org/drawingml/2006/main">
            <a:r>
              <a:t>Pointing cue: point from source material to synthesis/property, then to application or waste-management outcome.</a:t>
            </a:r>
          </a:p>
          <a:p xmlns:a="http://schemas.openxmlformats.org/drawingml/2006/main">
            <a:r>
              <a:t>Question to ask students: Ask students to connect material property with smart-system use and environmental impact.</a:t>
            </a:r>
          </a:p>
          <a:p xmlns:a="http://schemas.openxmlformats.org/drawingml/2006/main">
            <a:r>
              <a:t>Animation instructions: Fade title; appear cards one by one; wipe process arrows in order; highlight keywords such as green solvent, glycerol trioleate, ZnO nanoparticles, RFID, IONT, PLA, PEG, alginate hydrogel, BCI, e-waste, AI and bioleaching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5 checklist, downloaded from https://vtu.ac.in/pdf/UG2024/1BCHES102.pdf; syllabus-listed textbooks: Engineering Chemistry, Suba Ramesh, Vairam, Ananda Murthy, Wiley India, 2011; A Textbook of Engineering Chemistry, R.V. Gadag and Nityananda Shetty, I.K. International, 2nd ed., 2016; Engineering Chemistry, Jain &amp; Jain, Dhanpat Rai; Wiley Engineering Chemistry, Wiley India, 2013; syllabus-listed references for green/biomaterial/e-waste background include Green Chemistry and Engineering: A Practical Design Approach, Concepción Jiménez-González and David J.C. Constable, Wiley, 2011; E-Waste: Implications, Regulations, and Management in India and Current Global Best Practices, Rakesh Johri, TERI, 2008.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Use this as a five-mark answer.</a:t>
            </a:r>
          </a:p>
          <a:p xmlns:a="http://schemas.openxmlformats.org/drawingml/2006/main">
            <a:r>
              <a:t>Pause cue: pause after each process diagram and ask students what makes the method greener or more sustainable.</a:t>
            </a:r>
          </a:p>
          <a:p xmlns:a="http://schemas.openxmlformats.org/drawingml/2006/main">
            <a:r>
              <a:t>Pointing cue: point from source material to synthesis/property, then to application or waste-management outcome.</a:t>
            </a:r>
          </a:p>
          <a:p xmlns:a="http://schemas.openxmlformats.org/drawingml/2006/main">
            <a:r>
              <a:t>Question to ask students: Ask students to connect material property with smart-system use and environmental impact.</a:t>
            </a:r>
          </a:p>
          <a:p xmlns:a="http://schemas.openxmlformats.org/drawingml/2006/main">
            <a:r>
              <a:t>Animation instructions: Fade title; appear cards one by one; wipe process arrows in order; highlight keywords such as green solvent, glycerol trioleate, ZnO nanoparticles, RFID, IONT, PLA, PEG, alginate hydrogel, BCI, e-waste, AI and bioleaching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5 checklist, downloaded from https://vtu.ac.in/pdf/UG2024/1BCHES102.pdf; syllabus-listed textbooks: Engineering Chemistry, Suba Ramesh, Vairam, Ananda Murthy, Wiley India, 2011; A Textbook of Engineering Chemistry, R.V. Gadag and Nityananda Shetty, I.K. International, 2nd ed., 2016; Engineering Chemistry, Jain &amp; Jain, Dhanpat Rai; Wiley Engineering Chemistry, Wiley India, 2013; syllabus-listed references for green/biomaterial/e-waste background include Green Chemistry and Engineering: A Practical Design Approach, Concepción Jiménez-González and David J.C. Constable, Wiley, 2011; E-Waste: Implications, Regulations, and Management in India and Current Global Best Practices, Rakesh Johri, TERI, 2008.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Show this is the final sustainability loop.</a:t>
            </a:r>
          </a:p>
          <a:p xmlns:a="http://schemas.openxmlformats.org/drawingml/2006/main">
            <a:r>
              <a:t>Pause cue: pause after each process diagram and ask students what makes the method greener or more sustainable.</a:t>
            </a:r>
          </a:p>
          <a:p xmlns:a="http://schemas.openxmlformats.org/drawingml/2006/main">
            <a:r>
              <a:t>Pointing cue: point from source material to synthesis/property, then to application or waste-management outcome.</a:t>
            </a:r>
          </a:p>
          <a:p xmlns:a="http://schemas.openxmlformats.org/drawingml/2006/main">
            <a:r>
              <a:t>Question to ask students: Ask students to connect material property with smart-system use and environmental impact.</a:t>
            </a:r>
          </a:p>
          <a:p xmlns:a="http://schemas.openxmlformats.org/drawingml/2006/main">
            <a:r>
              <a:t>Animation instructions: Fade title; appear cards one by one; wipe process arrows in order; highlight keywords such as green solvent, glycerol trioleate, ZnO nanoparticles, RFID, IONT, PLA, PEG, alginate hydrogel, BCI, e-waste, AI and bioleaching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5 checklist, downloaded from https://vtu.ac.in/pdf/UG2024/1BCHES102.pdf; syllabus-listed textbooks: Engineering Chemistry, Suba Ramesh, Vairam, Ananda Murthy, Wiley India, 2011; A Textbook of Engineering Chemistry, R.V. Gadag and Nityananda Shetty, I.K. International, 2nd ed., 2016; Engineering Chemistry, Jain &amp; Jain, Dhanpat Rai; Wiley Engineering Chemistry, Wiley India, 2013; syllabus-listed references for green/biomaterial/e-waste background include Green Chemistry and Engineering: A Practical Design Approach, Concepción Jiménez-González and David J.C. Constable, Wiley, 2011; E-Waste: Implications, Regulations, and Management in India and Current Global Best Practices, Rakesh Johri, TERI, 2008.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Use this as pre-exam protection.</a:t>
            </a:r>
          </a:p>
          <a:p xmlns:a="http://schemas.openxmlformats.org/drawingml/2006/main">
            <a:r>
              <a:t>Pause cue: pause after each process diagram and ask students what makes the method greener or more sustainable.</a:t>
            </a:r>
          </a:p>
          <a:p xmlns:a="http://schemas.openxmlformats.org/drawingml/2006/main">
            <a:r>
              <a:t>Pointing cue: point from source material to synthesis/property, then to application or waste-management outcome.</a:t>
            </a:r>
          </a:p>
          <a:p xmlns:a="http://schemas.openxmlformats.org/drawingml/2006/main">
            <a:r>
              <a:t>Question to ask students: Ask students to connect material property with smart-system use and environmental impact.</a:t>
            </a:r>
          </a:p>
          <a:p xmlns:a="http://schemas.openxmlformats.org/drawingml/2006/main">
            <a:r>
              <a:t>Animation instructions: Fade title; appear cards one by one; wipe process arrows in order; highlight keywords such as green solvent, glycerol trioleate, ZnO nanoparticles, RFID, IONT, PLA, PEG, alginate hydrogel, BCI, e-waste, AI and bioleaching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5 checklist, downloaded from https://vtu.ac.in/pdf/UG2024/1BCHES102.pdf; syllabus-listed textbooks: Engineering Chemistry, Suba Ramesh, Vairam, Ananda Murthy, Wiley India, 2011; A Textbook of Engineering Chemistry, R.V. Gadag and Nityananda Shetty, I.K. International, 2nd ed., 2016; Engineering Chemistry, Jain &amp; Jain, Dhanpat Rai; Wiley Engineering Chemistry, Wiley India, 2013; syllabus-listed references for green/biomaterial/e-waste background include Green Chemistry and Engineering: A Practical Design Approach, Concepción Jiménez-González and David J.C. Constable, Wiley, 2011; E-Waste: Implications, Regulations, and Management in India and Current Global Best Practices, Rakesh Johri, TERI, 2008.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Tell students this works for green solvents, glycerol trioleate, ZnO, PLA, PEG and alginate.</a:t>
            </a:r>
          </a:p>
          <a:p xmlns:a="http://schemas.openxmlformats.org/drawingml/2006/main">
            <a:r>
              <a:t>Pause cue: pause after each process diagram and ask students what makes the method greener or more sustainable.</a:t>
            </a:r>
          </a:p>
          <a:p xmlns:a="http://schemas.openxmlformats.org/drawingml/2006/main">
            <a:r>
              <a:t>Pointing cue: point from source material to synthesis/property, then to application or waste-management outcome.</a:t>
            </a:r>
          </a:p>
          <a:p xmlns:a="http://schemas.openxmlformats.org/drawingml/2006/main">
            <a:r>
              <a:t>Question to ask students: Ask students to connect material property with smart-system use and environmental impact.</a:t>
            </a:r>
          </a:p>
          <a:p xmlns:a="http://schemas.openxmlformats.org/drawingml/2006/main">
            <a:r>
              <a:t>Animation instructions: Fade title; appear cards one by one; wipe process arrows in order; highlight keywords such as green solvent, glycerol trioleate, ZnO nanoparticles, RFID, IONT, PLA, PEG, alginate hydrogel, BCI, e-waste, AI and bioleaching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5 checklist, downloaded from https://vtu.ac.in/pdf/UG2024/1BCHES102.pdf; syllabus-listed textbooks: Engineering Chemistry, Suba Ramesh, Vairam, Ananda Murthy, Wiley India, 2011; A Textbook of Engineering Chemistry, R.V. Gadag and Nityananda Shetty, I.K. International, 2nd ed., 2016; Engineering Chemistry, Jain &amp; Jain, Dhanpat Rai; Wiley Engineering Chemistry, Wiley India, 2013; syllabus-listed references for green/biomaterial/e-waste background include Green Chemistry and Engineering: A Practical Design Approach, Concepción Jiménez-González and David J.C. Constable, Wiley, 2011; E-Waste: Implications, Regulations, and Management in India and Current Global Best Practices, Rakesh Johri, TERI, 2008.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This provides a complete e-waste answer structure.</a:t>
            </a:r>
          </a:p>
          <a:p xmlns:a="http://schemas.openxmlformats.org/drawingml/2006/main">
            <a:r>
              <a:t>Pause cue: pause after each process diagram and ask students what makes the method greener or more sustainable.</a:t>
            </a:r>
          </a:p>
          <a:p xmlns:a="http://schemas.openxmlformats.org/drawingml/2006/main">
            <a:r>
              <a:t>Pointing cue: point from source material to synthesis/property, then to application or waste-management outcome.</a:t>
            </a:r>
          </a:p>
          <a:p xmlns:a="http://schemas.openxmlformats.org/drawingml/2006/main">
            <a:r>
              <a:t>Question to ask students: Ask students to connect material property with smart-system use and environmental impact.</a:t>
            </a:r>
          </a:p>
          <a:p xmlns:a="http://schemas.openxmlformats.org/drawingml/2006/main">
            <a:r>
              <a:t>Animation instructions: Fade title; appear cards one by one; wipe process arrows in order; highlight keywords such as green solvent, glycerol trioleate, ZnO nanoparticles, RFID, IONT, PLA, PEG, alginate hydrogel, BCI, e-waste, AI and bioleaching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5 checklist, downloaded from https://vtu.ac.in/pdf/UG2024/1BCHES102.pdf; syllabus-listed textbooks: Engineering Chemistry, Suba Ramesh, Vairam, Ananda Murthy, Wiley India, 2011; A Textbook of Engineering Chemistry, R.V. Gadag and Nityananda Shetty, I.K. International, 2nd ed., 2016; Engineering Chemistry, Jain &amp; Jain, Dhanpat Rai; Wiley Engineering Chemistry, Wiley India, 2013; syllabus-listed references for green/biomaterial/e-waste background include Green Chemistry and Engineering: A Practical Design Approach, Concepción Jiménez-González and David J.C. Constable, Wiley, 2011; E-Waste: Implications, Regulations, and Management in India and Current Global Best Practices, Rakesh Johri, TERI, 2008.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Use this as the end-of-teaching overview.</a:t>
            </a:r>
          </a:p>
          <a:p xmlns:a="http://schemas.openxmlformats.org/drawingml/2006/main">
            <a:r>
              <a:t>Pause cue: pause after each process diagram and ask students what makes the method greener or more sustainable.</a:t>
            </a:r>
          </a:p>
          <a:p xmlns:a="http://schemas.openxmlformats.org/drawingml/2006/main">
            <a:r>
              <a:t>Pointing cue: point from source material to synthesis/property, then to application or waste-management outcome.</a:t>
            </a:r>
          </a:p>
          <a:p xmlns:a="http://schemas.openxmlformats.org/drawingml/2006/main">
            <a:r>
              <a:t>Question to ask students: Ask students to connect material property with smart-system use and environmental impact.</a:t>
            </a:r>
          </a:p>
          <a:p xmlns:a="http://schemas.openxmlformats.org/drawingml/2006/main">
            <a:r>
              <a:t>Animation instructions: Fade title; appear cards one by one; wipe process arrows in order; highlight keywords such as green solvent, glycerol trioleate, ZnO nanoparticles, RFID, IONT, PLA, PEG, alginate hydrogel, BCI, e-waste, AI and bioleaching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5 checklist, downloaded from https://vtu.ac.in/pdf/UG2024/1BCHES102.pdf; syllabus-listed textbooks: Engineering Chemistry, Suba Ramesh, Vairam, Ananda Murthy, Wiley India, 2011; A Textbook of Engineering Chemistry, R.V. Gadag and Nityananda Shetty, I.K. International, 2nd ed., 2016; Engineering Chemistry, Jain &amp; Jain, Dhanpat Rai; Wiley Engineering Chemistry, Wiley India, 2013; syllabus-listed references for green/biomaterial/e-waste background include Green Chemistry and Engineering: A Practical Design Approach, Concepción Jiménez-González and David J.C. Constable, Wiley, 2011; E-Waste: Implications, Regulations, and Management in India and Current Global Best Practices, Rakesh Johri, TERI, 2008.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Run this as quick viva.</a:t>
            </a:r>
          </a:p>
          <a:p xmlns:a="http://schemas.openxmlformats.org/drawingml/2006/main">
            <a:r>
              <a:t>Pause cue: pause after each process diagram and ask students what makes the method greener or more sustainable.</a:t>
            </a:r>
          </a:p>
          <a:p xmlns:a="http://schemas.openxmlformats.org/drawingml/2006/main">
            <a:r>
              <a:t>Pointing cue: point from source material to synthesis/property, then to application or waste-management outcome.</a:t>
            </a:r>
          </a:p>
          <a:p xmlns:a="http://schemas.openxmlformats.org/drawingml/2006/main">
            <a:r>
              <a:t>Question to ask students: Ask students to connect material property with smart-system use and environmental impact.</a:t>
            </a:r>
          </a:p>
          <a:p xmlns:a="http://schemas.openxmlformats.org/drawingml/2006/main">
            <a:r>
              <a:t>Animation instructions: Fade title; appear cards one by one; wipe process arrows in order; highlight keywords such as green solvent, glycerol trioleate, ZnO nanoparticles, RFID, IONT, PLA, PEG, alginate hydrogel, BCI, e-waste, AI and bioleaching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5 checklist, downloaded from https://vtu.ac.in/pdf/UG2024/1BCHES102.pdf; syllabus-listed textbooks: Engineering Chemistry, Suba Ramesh, Vairam, Ananda Murthy, Wiley India, 2011; A Textbook of Engineering Chemistry, R.V. Gadag and Nityananda Shetty, I.K. International, 2nd ed., 2016; Engineering Chemistry, Jain &amp; Jain, Dhanpat Rai; Wiley Engineering Chemistry, Wiley India, 2013; syllabus-listed references for green/biomaterial/e-waste background include Green Chemistry and Engineering: A Practical Design Approach, Concepción Jiménez-González and David J.C. Constable, Wiley, 2011; E-Waste: Implications, Regulations, and Management in India and Current Global Best Practices, Rakesh Johri, TERI, 2008.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Use this as the student study checklist.</a:t>
            </a:r>
          </a:p>
          <a:p xmlns:a="http://schemas.openxmlformats.org/drawingml/2006/main">
            <a:r>
              <a:t>Pause cue: pause after each process diagram and ask students what makes the method greener or more sustainable.</a:t>
            </a:r>
          </a:p>
          <a:p xmlns:a="http://schemas.openxmlformats.org/drawingml/2006/main">
            <a:r>
              <a:t>Pointing cue: point from source material to synthesis/property, then to application or waste-management outcome.</a:t>
            </a:r>
          </a:p>
          <a:p xmlns:a="http://schemas.openxmlformats.org/drawingml/2006/main">
            <a:r>
              <a:t>Question to ask students: Ask students to connect material property with smart-system use and environmental impact.</a:t>
            </a:r>
          </a:p>
          <a:p xmlns:a="http://schemas.openxmlformats.org/drawingml/2006/main">
            <a:r>
              <a:t>Animation instructions: Fade title; appear cards one by one; wipe process arrows in order; highlight keywords such as green solvent, glycerol trioleate, ZnO nanoparticles, RFID, IONT, PLA, PEG, alginate hydrogel, BCI, e-waste, AI and bioleaching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5 checklist, downloaded from https://vtu.ac.in/pdf/UG2024/1BCHES102.pdf; syllabus-listed textbooks: Engineering Chemistry, Suba Ramesh, Vairam, Ananda Murthy, Wiley India, 2011; A Textbook of Engineering Chemistry, R.V. Gadag and Nityananda Shetty, I.K. International, 2nd ed., 2016; Engineering Chemistry, Jain &amp; Jain, Dhanpat Rai; Wiley Engineering Chemistry, Wiley India, 2013; syllabus-listed references for green/biomaterial/e-waste background include Green Chemistry and Engineering: A Practical Design Approach, Concepción Jiménez-González and David J.C. Constable, Wiley, 2011; E-Waste: Implications, Regulations, and Management in India and Current Global Best Practices, Rakesh Johri, TERI, 2008.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Close by asking students to explain how one material reduces impact before use and one method reduces impact after disposal.</a:t>
            </a:r>
          </a:p>
          <a:p xmlns:a="http://schemas.openxmlformats.org/drawingml/2006/main">
            <a:r>
              <a:t>Pause cue: pause after each process diagram and ask students what makes the method greener or more sustainable.</a:t>
            </a:r>
          </a:p>
          <a:p xmlns:a="http://schemas.openxmlformats.org/drawingml/2006/main">
            <a:r>
              <a:t>Pointing cue: point from source material to synthesis/property, then to application or waste-management outcome.</a:t>
            </a:r>
          </a:p>
          <a:p xmlns:a="http://schemas.openxmlformats.org/drawingml/2006/main">
            <a:r>
              <a:t>Question to ask students: Ask students to connect material property with smart-system use and environmental impact.</a:t>
            </a:r>
          </a:p>
          <a:p xmlns:a="http://schemas.openxmlformats.org/drawingml/2006/main">
            <a:r>
              <a:t>Animation instructions: Fade title; appear cards one by one; wipe process arrows in order; highlight keywords such as green solvent, glycerol trioleate, ZnO nanoparticles, RFID, IONT, PLA, PEG, alginate hydrogel, BCI, e-waste, AI and bioleaching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5 checklist, downloaded from https://vtu.ac.in/pdf/UG2024/1BCHES102.pdf; syllabus-listed textbooks: Engineering Chemistry, Suba Ramesh, Vairam, Ananda Murthy, Wiley India, 2011; A Textbook of Engineering Chemistry, R.V. Gadag and Nityananda Shetty, I.K. International, 2nd ed., 2016; Engineering Chemistry, Jain &amp; Jain, Dhanpat Rai; Wiley Engineering Chemistry, Wiley India, 2013; syllabus-listed references for green/biomaterial/e-waste background include Green Chemistry and Engineering: A Practical Design Approach, Concepción Jiménez-González and David J.C. Constable, Wiley, 2011; E-Waste: Implications, Regulations, and Management in India and Current Global Best Practices, Rakesh Johri, TERI, 2008.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2ebad3916043f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c4d7685005f4e2d" /><Relationship Type="http://schemas.openxmlformats.org/officeDocument/2006/relationships/slideLayout" Target="/ppt/slideLayouts/slideLayout1.xml" Id="Rfd889160fcee473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d889160fcee473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c4ad76ca0f45ce" /><Relationship Type="http://schemas.openxmlformats.org/officeDocument/2006/relationships/notesSlide" Target="/ppt/notesSlides/notesSlide1.xml" Id="Rde52f62536f14ce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706ffe26fc44ac" /><Relationship Type="http://schemas.openxmlformats.org/officeDocument/2006/relationships/notesSlide" Target="/ppt/notesSlides/notesSlide2.xml" Id="Rbb8c4d80d48143a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a9ff9d950d4088" /><Relationship Type="http://schemas.openxmlformats.org/officeDocument/2006/relationships/notesSlide" Target="/ppt/notesSlides/notesSlide3.xml" Id="R391519c48dc04bc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b4fc0671d546d3" /><Relationship Type="http://schemas.openxmlformats.org/officeDocument/2006/relationships/notesSlide" Target="/ppt/notesSlides/notesSlide4.xml" Id="R1e2da5adf7ec40c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126a7035944b2a" /><Relationship Type="http://schemas.openxmlformats.org/officeDocument/2006/relationships/notesSlide" Target="/ppt/notesSlides/notesSlide5.xml" Id="R6086a3138aa1430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8514ffd8b847e0" /><Relationship Type="http://schemas.openxmlformats.org/officeDocument/2006/relationships/notesSlide" Target="/ppt/notesSlides/notesSlide6.xml" Id="Rcf9c73e5579e46e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bb71a9d8134520" /><Relationship Type="http://schemas.openxmlformats.org/officeDocument/2006/relationships/notesSlide" Target="/ppt/notesSlides/notesSlide7.xml" Id="Rfc283a2da1fa448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84831f4f4d41f8" /><Relationship Type="http://schemas.openxmlformats.org/officeDocument/2006/relationships/notesSlide" Target="/ppt/notesSlides/notesSlide8.xml" Id="R05a27277225d485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af595df6e24c27" /><Relationship Type="http://schemas.openxmlformats.org/officeDocument/2006/relationships/notesSlide" Target="/ppt/notesSlides/notesSlide9.xml" Id="Re9e5cbafe59144b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d8f75742aa4ceb" /><Relationship Type="http://schemas.openxmlformats.org/officeDocument/2006/relationships/notesSlide" Target="/ppt/notesSlides/notesSlide10.xml" Id="R919c4b4f83bc4d6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d07e854e9546c9" /><Relationship Type="http://schemas.openxmlformats.org/officeDocument/2006/relationships/notesSlide" Target="/ppt/notesSlides/notesSlide11.xml" Id="R25c7034262a3440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b1555541474b01" /><Relationship Type="http://schemas.openxmlformats.org/officeDocument/2006/relationships/notesSlide" Target="/ppt/notesSlides/notesSlide12.xml" Id="R613c429cdacb40d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1f1b4e233b4edb" /><Relationship Type="http://schemas.openxmlformats.org/officeDocument/2006/relationships/notesSlide" Target="/ppt/notesSlides/notesSlide13.xml" Id="R8559acba4e0f4e7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21b80e318e43dc" /><Relationship Type="http://schemas.openxmlformats.org/officeDocument/2006/relationships/notesSlide" Target="/ppt/notesSlides/notesSlide14.xml" Id="Re0c9036904f248c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d18e643d514128" /><Relationship Type="http://schemas.openxmlformats.org/officeDocument/2006/relationships/notesSlide" Target="/ppt/notesSlides/notesSlide15.xml" Id="Rc107e575ca454b0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82ab6b29ea4393" /><Relationship Type="http://schemas.openxmlformats.org/officeDocument/2006/relationships/notesSlide" Target="/ppt/notesSlides/notesSlide16.xml" Id="Rc67f7eca9365431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2d25b04c4d4a24" /><Relationship Type="http://schemas.openxmlformats.org/officeDocument/2006/relationships/notesSlide" Target="/ppt/notesSlides/notesSlide17.xml" Id="R3aa2034a8eea453b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b351b4a4374b45" /><Relationship Type="http://schemas.openxmlformats.org/officeDocument/2006/relationships/notesSlide" Target="/ppt/notesSlides/notesSlide18.xml" Id="R44362df06f424d5a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bc4ed972384469" /><Relationship Type="http://schemas.openxmlformats.org/officeDocument/2006/relationships/notesSlide" Target="/ppt/notesSlides/notesSlide19.xml" Id="Rd7e50ac2f9e34992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019e12eaee4592" /><Relationship Type="http://schemas.openxmlformats.org/officeDocument/2006/relationships/notesSlide" Target="/ppt/notesSlides/notesSlide20.xml" Id="R937abfd061f64182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5f472900124926" /><Relationship Type="http://schemas.openxmlformats.org/officeDocument/2006/relationships/notesSlide" Target="/ppt/notesSlides/notesSlide21.xml" Id="Rfd86ab874e1c408b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7bbcb65e724755" /><Relationship Type="http://schemas.openxmlformats.org/officeDocument/2006/relationships/notesSlide" Target="/ppt/notesSlides/notesSlide22.xml" Id="R221880a6e67846ef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30e53214ac48bd" /><Relationship Type="http://schemas.openxmlformats.org/officeDocument/2006/relationships/notesSlide" Target="/ppt/notesSlides/notesSlide23.xml" Id="R6ab2efd317ae417c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fcac558a914fab" /><Relationship Type="http://schemas.openxmlformats.org/officeDocument/2006/relationships/notesSlide" Target="/ppt/notesSlides/notesSlide24.xml" Id="Rbb06633313734a47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2ccd87cc384303" /><Relationship Type="http://schemas.openxmlformats.org/officeDocument/2006/relationships/notesSlide" Target="/ppt/notesSlides/notesSlide25.xml" Id="Re40f4d6de1404407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944e1d43bc4cf9" /><Relationship Type="http://schemas.openxmlformats.org/officeDocument/2006/relationships/notesSlide" Target="/ppt/notesSlides/notesSlide26.xml" Id="R1d76b562bf4949a0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1b4b688a834328" /><Relationship Type="http://schemas.openxmlformats.org/officeDocument/2006/relationships/notesSlide" Target="/ppt/notesSlides/notesSlide27.xml" Id="Ref10a8a83e274a7f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2906c2d39d41a6" /><Relationship Type="http://schemas.openxmlformats.org/officeDocument/2006/relationships/notesSlide" Target="/ppt/notesSlides/notesSlide28.xml" Id="R1f1a358225484167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b27b2f4d284b56" /><Relationship Type="http://schemas.openxmlformats.org/officeDocument/2006/relationships/notesSlide" Target="/ppt/notesSlides/notesSlide29.xml" Id="Rf96fb86dc2824e08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0dd630f3984018" /><Relationship Type="http://schemas.openxmlformats.org/officeDocument/2006/relationships/notesSlide" Target="/ppt/notesSlides/notesSlide30.xml" Id="R6913228c1c4d4fd7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79964583534757" /><Relationship Type="http://schemas.openxmlformats.org/officeDocument/2006/relationships/notesSlide" Target="/ppt/notesSlides/notesSlide31.xml" Id="R14e90fc2cab24347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68f3ceabe54694" /><Relationship Type="http://schemas.openxmlformats.org/officeDocument/2006/relationships/notesSlide" Target="/ppt/notesSlides/notesSlide32.xml" Id="R6b2cafed9b9241ef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0d2ecc8e7a42fe" /><Relationship Type="http://schemas.openxmlformats.org/officeDocument/2006/relationships/notesSlide" Target="/ppt/notesSlides/notesSlide33.xml" Id="R9d5011b50c1c4f24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e6d85a95944eaa" /><Relationship Type="http://schemas.openxmlformats.org/officeDocument/2006/relationships/notesSlide" Target="/ppt/notesSlides/notesSlide34.xml" Id="R84ef58839cc245b9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db4b6d8d9e4a8f" /><Relationship Type="http://schemas.openxmlformats.org/officeDocument/2006/relationships/notesSlide" Target="/ppt/notesSlides/notesSlide35.xml" Id="R117b6f9d37d046e3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f351d620ea4706" /><Relationship Type="http://schemas.openxmlformats.org/officeDocument/2006/relationships/notesSlide" Target="/ppt/notesSlides/notesSlide36.xml" Id="R63d9a0399cc04a98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b00c8855f24dbc" /><Relationship Type="http://schemas.openxmlformats.org/officeDocument/2006/relationships/notesSlide" Target="/ppt/notesSlides/notesSlide37.xml" Id="R669dbe1f366a4ac5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70cb7521ab4bb6" /><Relationship Type="http://schemas.openxmlformats.org/officeDocument/2006/relationships/notesSlide" Target="/ppt/notesSlides/notesSlide38.xml" Id="Rdeb4b94db8224610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69ba7a892c49a8" /><Relationship Type="http://schemas.openxmlformats.org/officeDocument/2006/relationships/notesSlide" Target="/ppt/notesSlides/notesSlide39.xml" Id="R07550f42183e48f6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7808fa8c8d4582" /><Relationship Type="http://schemas.openxmlformats.org/officeDocument/2006/relationships/notesSlide" Target="/ppt/notesSlides/notesSlide40.xml" Id="R4776ca6f9a18451f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83000617b84ad0" /><Relationship Type="http://schemas.openxmlformats.org/officeDocument/2006/relationships/notesSlide" Target="/ppt/notesSlides/notesSlide41.xml" Id="Rada1c31973e04559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7a3094ce9444fc" /><Relationship Type="http://schemas.openxmlformats.org/officeDocument/2006/relationships/notesSlide" Target="/ppt/notesSlides/notesSlide42.xml" Id="Re6db2d97fa5b4a5d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cf693464f44684" /><Relationship Type="http://schemas.openxmlformats.org/officeDocument/2006/relationships/notesSlide" Target="/ppt/notesSlides/notesSlide43.xml" Id="R45aac3a80b37412c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07477a3a744338" /><Relationship Type="http://schemas.openxmlformats.org/officeDocument/2006/relationships/notesSlide" Target="/ppt/notesSlides/notesSlide44.xml" Id="Rcb02597e94844805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27b837705349ed" /><Relationship Type="http://schemas.openxmlformats.org/officeDocument/2006/relationships/notesSlide" Target="/ppt/notesSlides/notesSlide45.xml" Id="R01556b5405ce444b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f4472ad72844f6" /><Relationship Type="http://schemas.openxmlformats.org/officeDocument/2006/relationships/notesSlide" Target="/ppt/notesSlides/notesSlide46.xml" Id="Rf3f9016d320e4f84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ac9e86df4d40e2" /><Relationship Type="http://schemas.openxmlformats.org/officeDocument/2006/relationships/notesSlide" Target="/ppt/notesSlides/notesSlide47.xml" Id="R08c570febb454d74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66c2aeb1da4b7c" /><Relationship Type="http://schemas.openxmlformats.org/officeDocument/2006/relationships/notesSlide" Target="/ppt/notesSlides/notesSlide48.xml" Id="R3ad90e9f31524e9b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d8f096c27a4f53" /><Relationship Type="http://schemas.openxmlformats.org/officeDocument/2006/relationships/notesSlide" Target="/ppt/notesSlides/notesSlide49.xml" Id="R4335147926d44acd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4e214756a84464" /><Relationship Type="http://schemas.openxmlformats.org/officeDocument/2006/relationships/notesSlide" Target="/ppt/notesSlides/notesSlide50.xml" Id="R4cb8a77ab39746b3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cb6f143dbc4241" /><Relationship Type="http://schemas.openxmlformats.org/officeDocument/2006/relationships/notesSlide" Target="/ppt/notesSlides/notesSlide51.xml" Id="R4c7099e1226e4876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defd09d2c144b9" /><Relationship Type="http://schemas.openxmlformats.org/officeDocument/2006/relationships/notesSlide" Target="/ppt/notesSlides/notesSlide52.xml" Id="Ra882b40a75a14601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687b7692924e91" /><Relationship Type="http://schemas.openxmlformats.org/officeDocument/2006/relationships/notesSlide" Target="/ppt/notesSlides/notesSlide53.xml" Id="R54cfe2eaba84454f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d525c9e1794c8c" /><Relationship Type="http://schemas.openxmlformats.org/officeDocument/2006/relationships/notesSlide" Target="/ppt/notesSlides/notesSlide54.xml" Id="Rdfd1e4fa2a494315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af60f7f08d43d0" /><Relationship Type="http://schemas.openxmlformats.org/officeDocument/2006/relationships/notesSlide" Target="/ppt/notesSlides/notesSlide55.xml" Id="R4c927bdac1ab4b69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a823f5a06a4e71" /><Relationship Type="http://schemas.openxmlformats.org/officeDocument/2006/relationships/notesSlide" Target="/ppt/notesSlides/notesSlide56.xml" Id="Rbeed5fd787f54903" /></Relationships>
</file>

<file path=ppt/slides/_rels/slide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e9830d70204695" /><Relationship Type="http://schemas.openxmlformats.org/officeDocument/2006/relationships/notesSlide" Target="/ppt/notesSlides/notesSlide57.xml" Id="Rcacd0ee2c67f4652" /></Relationships>
</file>

<file path=ppt/slides/_rels/slide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c8346296d241df" /><Relationship Type="http://schemas.openxmlformats.org/officeDocument/2006/relationships/notesSlide" Target="/ppt/notesSlides/notesSlide58.xml" Id="R6477bdabe8ba4e35" /></Relationships>
</file>

<file path=ppt/slides/_rels/slide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93fee00bc8446e" /><Relationship Type="http://schemas.openxmlformats.org/officeDocument/2006/relationships/notesSlide" Target="/ppt/notesSlides/notesSlide59.xml" Id="Rc8bdb9d19001428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BFF5ED-82F0-4D6E-AAFE-6850B7C63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575B0D-2790-49E7-B6F4-244DE1576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67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Green Materials and E-Waste Management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2386D6-92C8-4C58-BCC8-A322DD907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Module 5 explains sustainable materials, smart-system biomaterials and responsible electronics recovery.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8F1910-FDEE-49D5-924C-6C93DC93D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B7FD06-5BF6-4EC6-BB5F-660B96D2E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8690EE-78FC-4684-95B6-E777096C4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954C93-DB02-462B-8BF9-1CFE69298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Opening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3E077A-6587-409F-9FCF-34E46E2C5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BFC048-6394-4945-A2E8-2354ADEFB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52600"/>
            <a:ext cx="66675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F8FBFF"/>
                </a:solidFill>
              </a:defRPr>
            </a:pPr>
            <a:r>
              <a:rPr sz="4200" b="1">
                <a:solidFill>
                  <a:srgbClr val="F8FBFF"/>
                </a:solidFill>
              </a:rPr>
              <a:t>Applied Chemistry</a:t>
            </a:r>
          </a:p>
          <a:p xmlns:a="http://schemas.openxmlformats.org/drawingml/2006/main">
            <a:pPr>
              <a:defRPr sz="4200" b="1">
                <a:solidFill>
                  <a:srgbClr val="F8FBFF"/>
                </a:solidFill>
              </a:defRPr>
            </a:pPr>
            <a:r>
              <a:rPr sz="4200" b="1">
                <a:solidFill>
                  <a:srgbClr val="F8FBFF"/>
                </a:solidFill>
              </a:rPr>
              <a:t>Module 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A4CB18-C5F0-43BD-B2D0-153891A2D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95700"/>
            <a:ext cx="7000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B9C9D6"/>
                </a:solidFill>
              </a:defRPr>
            </a:pPr>
            <a:r>
              <a:rPr sz="1650">
                <a:solidFill>
                  <a:srgbClr val="B9C9D6"/>
                </a:solidFill>
              </a:rPr>
              <a:t>Green solvents • glycerol trioleate • ZnO nanoparticles • PLA • PEG • alginate hydrogel • e-waste • AI management • bioleaching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9D599F-5579-47A1-BC10-10A66DBE4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238250"/>
            <a:ext cx="3143250" cy="3143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4154"/>
          </a:solidFill>
          <a:ln xmlns:a="http://schemas.openxmlformats.org/drawingml/2006/main" w="19050">
            <a:solidFill>
              <a:srgbClr val="28687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D596F4-572F-4C5B-8E43-DD7993D27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114550"/>
            <a:ext cx="1524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E6B70F-B551-4773-9E08-9188C2986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2286000"/>
            <a:ext cx="2667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6131D"/>
                </a:solidFill>
              </a:defRPr>
            </a:pPr>
            <a:r>
              <a:rPr sz="2100" b="1">
                <a:solidFill>
                  <a:srgbClr val="06131D"/>
                </a:solidFill>
              </a:rPr>
              <a:t>GREEN</a:t>
            </a:r>
          </a:p>
          <a:p xmlns:a="http://schemas.openxmlformats.org/drawingml/2006/main">
            <a:pPr algn="ctr">
              <a:defRPr sz="2100" b="1">
                <a:solidFill>
                  <a:srgbClr val="06131D"/>
                </a:solidFill>
              </a:defRPr>
            </a:pPr>
            <a:r>
              <a:rPr sz="2100" b="1">
                <a:solidFill>
                  <a:srgbClr val="06131D"/>
                </a:solidFill>
              </a:rPr>
              <a:t>SYSTEMS</a:t>
            </a:r>
          </a:p>
        </p:txBody>
      </p:sp>
    </p:spTree>
    <p:extLst>
      <p:ext uri="{BB962C8B-B14F-4D97-AF65-F5344CB8AC3E}">
        <p14:creationId xmlns:p14="http://schemas.microsoft.com/office/powerpoint/2010/main" val="167648452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D21913D-2BEF-4D7F-A144-7750B5E56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1E95DE-2FFF-4901-B931-FEFA99214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67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Module 5 learning path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62EA78-1B0E-4BD3-AAAF-E29883349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Use the VTU syllabus as the complete checklist.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FAD6FA-ACB9-467A-831E-3FF9F0C1C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229A16-3BF9-407D-9ABC-2DE422144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AB0603-7F9E-4C21-862E-A8F9C1575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9BC05C-DCED-4192-9A0E-094AC8614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Opening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54721D-FC5F-42E8-9FE8-84671CF0A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16C6DE-EB8E-4FCD-9F31-A2C946AFB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192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E1B17C-AD31-4243-B4EB-8ECDC8585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478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1D"/>
                </a:solidFill>
              </a:defRPr>
            </a:pPr>
            <a:r>
              <a:rPr sz="900" b="1">
                <a:solidFill>
                  <a:srgbClr val="06131D"/>
                </a:solidFill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107047-A115-42D7-9A1C-A03902559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581150"/>
            <a:ext cx="9486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F8FBFF"/>
                </a:solidFill>
              </a:defRPr>
            </a:pPr>
            <a:r>
              <a:rPr sz="1575">
                <a:solidFill>
                  <a:srgbClr val="F8FBFF"/>
                </a:solidFill>
              </a:rPr>
              <a:t>Explain green chemistry and green solvents for server heat management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884F43-0E2D-4D37-9059-D1B79EF13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145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6C8DA4-0164-4A7B-9B33-80B142579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431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1D"/>
                </a:solidFill>
              </a:defRPr>
            </a:pPr>
            <a:r>
              <a:rPr sz="900" b="1">
                <a:solidFill>
                  <a:srgbClr val="06131D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EEA29D-9250-412F-B52A-20B6C7875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076450"/>
            <a:ext cx="9486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F8FBFF"/>
                </a:solidFill>
              </a:defRPr>
            </a:pPr>
            <a:r>
              <a:rPr sz="1575">
                <a:solidFill>
                  <a:srgbClr val="F8FBFF"/>
                </a:solidFill>
              </a:rPr>
              <a:t>Explain glycerol trioleate ester synthesis, properties and IT infrastructure uses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B8D8AB-DAB9-4731-AD34-C6A0411E3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098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87B606-653E-4B59-8F90-23B9468BE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384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1D"/>
                </a:solidFill>
              </a:defRPr>
            </a:pPr>
            <a:r>
              <a:rPr sz="900" b="1">
                <a:solidFill>
                  <a:srgbClr val="06131D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CF4251-FAF1-4842-8BE0-AA30B95F3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571750"/>
            <a:ext cx="9486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F8FBFF"/>
                </a:solidFill>
              </a:defRPr>
            </a:pPr>
            <a:r>
              <a:rPr sz="1575">
                <a:solidFill>
                  <a:srgbClr val="F8FBFF"/>
                </a:solidFill>
              </a:rPr>
              <a:t>Explain green synthesis of ZnO nanoparticles and RFID/IONT applications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D001CE-5C20-41CA-94F5-E64160D69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051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FA998A-3536-4FA9-92DC-9A525B41F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337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1D"/>
                </a:solidFill>
              </a:defRPr>
            </a:pPr>
            <a:r>
              <a:rPr sz="900" b="1">
                <a:solidFill>
                  <a:srgbClr val="06131D"/>
                </a:solidFill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A21177-0156-49AC-BCA3-7B0580A53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067050"/>
            <a:ext cx="9486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F8FBFF"/>
                </a:solidFill>
              </a:defRPr>
            </a:pPr>
            <a:r>
              <a:rPr sz="1575">
                <a:solidFill>
                  <a:srgbClr val="F8FBFF"/>
                </a:solidFill>
              </a:rPr>
              <a:t>Explain PLA, PEG and touch-screen applications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FB7593C-B0DE-49F0-8B60-56958EAF7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004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3B65A4C-FB65-499F-99FE-ADEAFB05C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290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1D"/>
                </a:solidFill>
              </a:defRPr>
            </a:pPr>
            <a:r>
              <a:rPr sz="900" b="1">
                <a:solidFill>
                  <a:srgbClr val="06131D"/>
                </a:solidFill>
              </a:rPr>
              <a:t>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C771C61-9891-46C2-8E0C-BD85AD713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562350"/>
            <a:ext cx="9486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F8FBFF"/>
                </a:solidFill>
              </a:defRPr>
            </a:pPr>
            <a:r>
              <a:rPr sz="1575">
                <a:solidFill>
                  <a:srgbClr val="F8FBFF"/>
                </a:solidFill>
              </a:rPr>
              <a:t>Explain alginate hydrogel synthesis, properties and BCI applications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ADA97DD-17C9-447B-A191-DB7DA78C1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957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633FB40-81EF-4C28-ACE6-81F60039B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243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1D"/>
                </a:solidFill>
              </a:defRPr>
            </a:pPr>
            <a:r>
              <a:rPr sz="900" b="1">
                <a:solidFill>
                  <a:srgbClr val="06131D"/>
                </a:solidFill>
              </a:rPr>
              <a:t>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E0FA54B-9825-4CC4-92AD-E684309DA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057650"/>
            <a:ext cx="9486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F8FBFF"/>
                </a:solidFill>
              </a:defRPr>
            </a:pPr>
            <a:r>
              <a:rPr sz="1575">
                <a:solidFill>
                  <a:srgbClr val="F8FBFF"/>
                </a:solidFill>
              </a:rPr>
              <a:t>Explain e-waste sources, composition, effects, AI management and gold bioleaching</a:t>
            </a:r>
          </a:p>
        </p:txBody>
      </p:sp>
    </p:spTree>
    <p:extLst>
      <p:ext uri="{BB962C8B-B14F-4D97-AF65-F5344CB8AC3E}">
        <p14:creationId xmlns:p14="http://schemas.microsoft.com/office/powerpoint/2010/main" val="116897471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CAC3EE8-B484-4F65-BD07-900F5F644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D50252-3B15-43E8-9C06-250F528DE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67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The Module 5 story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6FE14A-E508-4CDD-81CA-46686BDAF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Show the sustainability logic.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21DEA7-80D7-4CF5-8478-68997CCB4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542DA1-A48E-4033-AF02-327A0EBA1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DFDF5D-C9D1-4DA3-AD0E-28EF1D024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0CA41C-B807-4679-8FC7-01D125B71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Opening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9B15D4-A7A9-4D24-8065-E6127E534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2D4274-4CDC-4EA3-9BD7-87A886F91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01B3CF-AACA-42B4-8455-A15681435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57525"/>
            <a:ext cx="16611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Choose safer chemistry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B0FB4E-A6BF-4249-942C-95F8188F2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461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6A0C34-470F-4060-9D5D-6A7309824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846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DD9AF3-7F39-42B7-B0A3-CD49B965A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3710" y="3057525"/>
            <a:ext cx="16611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Make useful green materials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F2D26A-9497-48BD-BC1D-C311E5C0F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2853D0-E505-4106-BA6D-5B05CC9E8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017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1E8E60-81A7-42B6-9EF2-FF50D15CC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5420" y="3057525"/>
            <a:ext cx="16611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Use them in smart systems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88CDD0-6329-48A7-9331-D5451911A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803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2D0B62-5F41-47E0-BFE2-DFA6FFCA3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188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CAF0D3-0E7D-4D8E-B05E-1E8DA532D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7130" y="3057525"/>
            <a:ext cx="16611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Collect end-of-life electronics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60AD8D-0332-4235-9436-9787BD601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974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F4CAD2E-23E3-4B4B-BBAA-B98560508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359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E4C9EF0-0FCE-4934-8AA8-FC61BC473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8840" y="3057525"/>
            <a:ext cx="16611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Recover value responsibly</a:t>
            </a:r>
          </a:p>
        </p:txBody>
      </p:sp>
    </p:spTree>
    <p:extLst>
      <p:ext uri="{BB962C8B-B14F-4D97-AF65-F5344CB8AC3E}">
        <p14:creationId xmlns:p14="http://schemas.microsoft.com/office/powerpoint/2010/main" val="198142275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8BFA3F2-7DAE-4DE0-B0B7-0A25A560D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34C4A3-4A75-408E-B70C-E9A75F2ED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67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Why green materials matter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56F1B4-8E07-468B-98C3-A38B10489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Start with real-world need.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E33391-4C2D-4B83-B31D-5DE34DEB8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2D7DFB-E1D4-4021-B896-3FEBCD059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894130-A42D-42F5-BFB7-0DEE08A6B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071846-711F-4564-8AFE-9F473D5D8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Opening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AA573B-1A52-4E4D-AEB5-94D43350C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04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5BF218-DCBD-4A2E-98D9-AE062085B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573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7E0D65-A81A-40DE-9C52-2D7F6CFB9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573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185EBD-5527-441D-8839-2826F17A7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7907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7D4FF"/>
                </a:solidFill>
              </a:defRPr>
            </a:pPr>
            <a:r>
              <a:rPr sz="1650" b="1">
                <a:solidFill>
                  <a:srgbClr val="37D4FF"/>
                </a:solidFill>
              </a:rPr>
              <a:t>Data centers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603E8B-DC93-4E62-B6FD-1C5568619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81225"/>
            <a:ext cx="4076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Need safer and efficient thermal-management fluids.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B32DFE-FFAB-4198-854C-8975D2CD4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573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BD7EE5-2815-4C68-B695-CFCCA64E3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573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761304-D15C-4FC0-ABD6-D743F74D1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7907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Smart devices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D25B30-00EB-4428-9654-1EB7DB524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81225"/>
            <a:ext cx="4076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Need light, transparent and biocompatible materials.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CF14C3-7F31-4CCD-96F9-0BB62142D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099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DE3F44-6B36-4723-983E-8983E72D9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099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CC2F17-2D36-409D-922B-43C645F8D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433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7D4FF"/>
                </a:solidFill>
              </a:defRPr>
            </a:pPr>
            <a:r>
              <a:rPr sz="1650" b="1">
                <a:solidFill>
                  <a:srgbClr val="37D4FF"/>
                </a:solidFill>
              </a:rPr>
              <a:t>Nano systems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DF309D-FDBE-427C-9874-E895ADC90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33825"/>
            <a:ext cx="4076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Need functional particles with greener synthesis routes.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2BDFFC0-9EAA-4270-827F-8048ECF6E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099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43F9C23-A92C-4EBA-B1AD-D60284345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099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7CB7480-0BCE-4D39-86FC-4D51EEE9B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5433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E-waste growth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78EF397-07CE-4C41-839F-9DCC4123D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933825"/>
            <a:ext cx="4076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Electronics must be recovered without harming people or ecosystems.</a:t>
            </a:r>
          </a:p>
        </p:txBody>
      </p:sp>
    </p:spTree>
    <p:extLst>
      <p:ext uri="{BB962C8B-B14F-4D97-AF65-F5344CB8AC3E}">
        <p14:creationId xmlns:p14="http://schemas.microsoft.com/office/powerpoint/2010/main" val="56032899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7FC1B81-ACF7-43A3-A772-CCF895E6F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445266-5DB7-4581-AB7A-EA8163959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67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What is green chemistry?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E94F72-91EB-4E17-8F80-C0D541DEA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Define green chemistry.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787DD2-35B5-4B36-9306-D551195DB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A37E7A-9DF4-4894-951D-D3FF54F25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267661-CF09-4BB3-94EF-F62502A7E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C93092-4884-4F6B-A374-157BDFF62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Green Chemistry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915562-E24F-4376-9066-6F2742149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05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417CB9-386D-4377-82BA-C016A16EF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38300"/>
            <a:ext cx="8001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9F1C"/>
                </a:solidFill>
              </a:defRPr>
            </a:pPr>
            <a:r>
              <a:rPr sz="3300" b="1">
                <a:solidFill>
                  <a:srgbClr val="FF9F1C"/>
                </a:solidFill>
              </a:rPr>
              <a:t>Green chemistry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43780F-8BFF-41B7-8E5A-87569239D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95550"/>
            <a:ext cx="10144125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F8FBFF"/>
                </a:solidFill>
              </a:defRPr>
            </a:pPr>
            <a:r>
              <a:rPr sz="2025">
                <a:solidFill>
                  <a:srgbClr val="F8FBFF"/>
                </a:solidFill>
              </a:rPr>
              <a:t>Green chemistry designs chemical products and processes that reduce or eliminate hazardous substances across their life cycle.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92C110-3C92-40B8-A4B9-8E2733865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A93142-6FBE-414D-B300-6E9B62F90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648200"/>
            <a:ext cx="15087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Safer design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5AF148-9964-4AFB-8F3A-58E730593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986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8F7EB6-2914-4951-BF8B-F980C8EDE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371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CB08CC-3B09-4770-816E-B28DBEEE4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0" y="4648200"/>
            <a:ext cx="15087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Less waste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36E0E4-A1AB-4A0E-A9FC-F8857CBEC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917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3A21F6-E4AB-4E0E-9212-63897B9D1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302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102AAF-8F7F-4145-97AC-B3E3A14EB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8270" y="4648200"/>
            <a:ext cx="15087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Low toxicity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E51176-1A76-40B5-A4D8-18A63A1BF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848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44E564B-0DC7-4007-9ACB-53E119401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233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B549C73-37F6-4B73-A807-000B5E175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7580" y="4648200"/>
            <a:ext cx="15087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Energy efficiency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BDA091B-0F3C-4DE6-BFC9-CBD887144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779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3312A74-1695-4995-A0AC-B1922AE40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164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9D5A2A7-1689-4680-BC29-8085784CE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6890" y="4648200"/>
            <a:ext cx="15087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Life cycle</a:t>
            </a:r>
          </a:p>
        </p:txBody>
      </p:sp>
    </p:spTree>
    <p:extLst>
      <p:ext uri="{BB962C8B-B14F-4D97-AF65-F5344CB8AC3E}">
        <p14:creationId xmlns:p14="http://schemas.microsoft.com/office/powerpoint/2010/main" val="90794822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7E7C804-BB58-44EE-90D2-1D74F4BFC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4B8227-4AFC-4519-8C76-7DEBB3784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67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Green chemistry design goals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DA4A23-22A0-49F1-AC1D-4EF9CEC3A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Explain the purpose.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CF6334-AB64-469C-90C6-68C7B0602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0982D5-C9D5-45E6-A506-69F048FD2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A60A77-981E-4FD9-9E8B-2750B5F2F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3AB291-D5EC-4E3E-B9F4-F1762CC0C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Green Chemistry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105741-F12E-49B2-B7BF-C83CE0F99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06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ED988E-1790-4864-9DDF-68A0D7341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573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258B07-BB40-41A7-9619-A6E3A8D6E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573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2260B0-BDFC-4438-B370-FDB5DF488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7907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7D4FF"/>
                </a:solidFill>
              </a:defRPr>
            </a:pPr>
            <a:r>
              <a:rPr sz="1650" b="1">
                <a:solidFill>
                  <a:srgbClr val="37D4FF"/>
                </a:solidFill>
              </a:rPr>
              <a:t>Prevent waste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C3C083-7995-43C7-9816-3C533CCA6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81225"/>
            <a:ext cx="4076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Avoid waste generation instead of treating waste later.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2BA6DE-6B0C-4FDE-8895-5935F6A93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573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4C9ED3-FF56-46EE-8632-9B0C079C4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573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DDC030-FFAA-41A0-84BC-1E801260A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7907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Safer materials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B955A4-312C-4163-A780-8A51D5AB7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81225"/>
            <a:ext cx="4076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Choose less toxic solvents, reagents and products.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74B1B1-9C9A-4ED5-8AF0-C6802736A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099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6AB613-AD92-47AE-9D11-9EC90F728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099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1ABE58-13F6-4035-B866-D1317BE10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433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7D4FF"/>
                </a:solidFill>
              </a:defRPr>
            </a:pPr>
            <a:r>
              <a:rPr sz="1650" b="1">
                <a:solidFill>
                  <a:srgbClr val="37D4FF"/>
                </a:solidFill>
              </a:rPr>
              <a:t>Energy efficiency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E12ADE8-EE88-4C15-8337-3DF90028C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33825"/>
            <a:ext cx="4076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Prefer processes that use lower energy and mild conditions.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BDBEAA-A4C2-480E-864A-A9C7231BC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099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AA20E33-A0F0-4B80-A5F6-3EDF77F80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099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305F1C2-0069-422F-8117-313F3115D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5433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Renewable feedstocks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0B48DB2-FC68-4AC8-BFE3-1CFED62EA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933825"/>
            <a:ext cx="4076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Use bio-based or recyclable sources where possible.</a:t>
            </a:r>
          </a:p>
        </p:txBody>
      </p:sp>
    </p:spTree>
    <p:extLst>
      <p:ext uri="{BB962C8B-B14F-4D97-AF65-F5344CB8AC3E}">
        <p14:creationId xmlns:p14="http://schemas.microsoft.com/office/powerpoint/2010/main" val="90376403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02B7D19-ABAC-46F8-98C3-E488FAF6B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DDCADF-4E14-464D-AA57-15F1D08A1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67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What is a green solvent?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DECBCC-BD5D-4A46-A0B1-E7C87B3DB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Define green solvents.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FB7073-1169-452C-8D3A-7CCCB7A84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E33E10-3D36-4CEF-90D8-55C25A8EB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0A5410-D8FC-4270-B58B-2DB67FF70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814189-9241-4A90-A7F2-28251AA94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Green Solvents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A82268-918B-4777-BCE5-69F85CE32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07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003288-6D7A-4DD0-B05E-4BFD7A462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38300"/>
            <a:ext cx="8001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9F1C"/>
                </a:solidFill>
              </a:defRPr>
            </a:pPr>
            <a:r>
              <a:rPr sz="3300" b="1">
                <a:solidFill>
                  <a:srgbClr val="FF9F1C"/>
                </a:solidFill>
              </a:rPr>
              <a:t>Green solvent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AB7678-2452-4CF3-A720-1C245617D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95550"/>
            <a:ext cx="10144125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F8FBFF"/>
                </a:solidFill>
              </a:defRPr>
            </a:pPr>
            <a:r>
              <a:rPr sz="2025">
                <a:solidFill>
                  <a:srgbClr val="F8FBFF"/>
                </a:solidFill>
              </a:rPr>
              <a:t>A green solvent performs the solvent function with lower toxicity, lower environmental persistence and improved safety compared with conventional hazardous solvents.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853F68-6CCE-4AD5-B3B9-E55440981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0B3B6E-967A-4E9C-8B0A-E9A2E5650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648200"/>
            <a:ext cx="15087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Low toxicity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9B3677-CAD4-429C-948E-27692ECEA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986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19CFA7-56A8-47F4-AD87-AB915F26D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371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BC5BEB-1543-45D6-9844-D5ABBA37E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0" y="4648200"/>
            <a:ext cx="15087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Low volatility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0C3F5D-9372-4FA9-B30A-BFCCA1702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917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AC80D3-567F-4E45-9BD6-4711DA4E9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302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F19659-9DCE-428A-9F03-A911AECEB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8270" y="4648200"/>
            <a:ext cx="15087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Recyclable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EFC3ED-58D6-421A-948A-B36A0DE07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848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57A1BBE-C746-434B-A856-A29E6C46F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233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EB7E6C3-B613-4AEB-B412-596162277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7580" y="4648200"/>
            <a:ext cx="15087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Biodegradable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D77F7A6-9DDF-4444-8491-517A00E29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779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13FF063-9A6A-4763-B56E-A888BCC97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164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7DB4E12-5E46-464F-A9CA-1DE71A544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6890" y="4648200"/>
            <a:ext cx="15087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Safer handling</a:t>
            </a:r>
          </a:p>
        </p:txBody>
      </p:sp>
    </p:spTree>
    <p:extLst>
      <p:ext uri="{BB962C8B-B14F-4D97-AF65-F5344CB8AC3E}">
        <p14:creationId xmlns:p14="http://schemas.microsoft.com/office/powerpoint/2010/main" val="44667601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111BE9D-5F23-4AE6-80E4-6DF9EB7C1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9B9BE5-A8C2-4C19-80FF-C80F7210D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67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Properties of green solvents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6F4A87-D6A8-4211-808F-3501861CF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List required properties.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586526-6DEE-46DD-9135-AD6417EED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2B90BA-947D-43FC-9D4D-A546A4B03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48D3B3-2C3A-4754-9742-1385B68D3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BEE05B-DAF3-49BB-A207-1C7C9276B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Green Solvents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EDEB7D-E6E2-4A68-B46A-194BEC5ED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08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5C2DEC-E495-40A7-8FFE-027E96723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573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908CF0-367E-416D-AF38-B22DA3D66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573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7ACD6C-2293-4B74-9B0F-42C273814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7907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7D4FF"/>
                </a:solidFill>
              </a:defRPr>
            </a:pPr>
            <a:r>
              <a:rPr sz="1650" b="1">
                <a:solidFill>
                  <a:srgbClr val="37D4FF"/>
                </a:solidFill>
              </a:rPr>
              <a:t>Low toxicity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922CEE-FDC5-43B9-B8D4-B6673A16F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81225"/>
            <a:ext cx="4076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Reduces risk to workers and environment.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4C6ED3-664E-438F-9347-D363BA59F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573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503C2E-E57F-4BFD-A236-804FC22CD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573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6C7568-BA75-4712-9E9D-3700A84EB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7907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Thermal stability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987A9D-F4C8-48FA-87B4-0C3FAD89F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81225"/>
            <a:ext cx="4076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Important for heat-transfer applications.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0A2158-E453-463C-874C-463E23FDD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099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2B227D-75CF-4E5D-9BCC-2A879BDA4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099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40B4C0-041F-444F-A3B2-C3DC77C9B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433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7D4FF"/>
                </a:solidFill>
              </a:defRPr>
            </a:pPr>
            <a:r>
              <a:rPr sz="1650" b="1">
                <a:solidFill>
                  <a:srgbClr val="37D4FF"/>
                </a:solidFill>
              </a:rPr>
              <a:t>Low volatility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802F39B-69F0-4B19-AF4E-E61379BD6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33825"/>
            <a:ext cx="4076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Reduces vapor emissions and fire risk.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67F137E-7A92-412E-9051-5ABC3D7D7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099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9F29CF2-0007-42DD-AA56-76EE27628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099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631AD9E-E36C-48E3-B7F9-832E6E3F9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5433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Reusability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9CFF431-2D28-4D80-8B54-A28758251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933825"/>
            <a:ext cx="4076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Supports recycling and lower operating waste.</a:t>
            </a:r>
          </a:p>
        </p:txBody>
      </p:sp>
    </p:spTree>
    <p:extLst>
      <p:ext uri="{BB962C8B-B14F-4D97-AF65-F5344CB8AC3E}">
        <p14:creationId xmlns:p14="http://schemas.microsoft.com/office/powerpoint/2010/main" val="35151653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666803B-503F-49AA-98CF-D03E5F80D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D58738-584C-4423-A315-B528B3EF8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67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Green solvents for server heat management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35F2AD-F7D2-4F6A-89AC-A91438A87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Explain the application.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97A3FD-CE1B-4630-A90D-5F5E40CE6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BDCB35-230E-4988-8F5A-FCC8BFD0A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4E0E9B-732B-4590-BAC5-3F2861512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24D45B-535D-41B4-A0D6-7701B027E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Green Solvents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3D7E4B-C5EB-4B04-A451-983A2FF4B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09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0B3378-346D-4B52-81BA-73CD8DE9F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4524375" cy="3543300"/>
          </a:xfrm>
          <a:prstGeom xmlns:a="http://schemas.openxmlformats.org/drawingml/2006/main" prst="roundRect">
            <a:avLst>
              <a:gd name="adj" fmla="val 2151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BCD64E-1959-45CA-9D03-03FAA2112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76200" cy="3543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8055E3-AEF1-45ED-AF18-A8FB98AF5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90700"/>
            <a:ext cx="41624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7D4FF"/>
                </a:solidFill>
              </a:defRPr>
            </a:pPr>
            <a:r>
              <a:rPr sz="1650" b="1">
                <a:solidFill>
                  <a:srgbClr val="37D4FF"/>
                </a:solidFill>
              </a:rPr>
              <a:t>Server heat management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78DC53-B077-48FD-ACC4-31932A47B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81225"/>
            <a:ext cx="4162425" cy="293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Green solvents or cooling fluids can absorb and transfer heat in electronics or data-center cooling systems while reducing hazard, flammability and environmental burden.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6257D2-FA31-400C-913F-274739894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24250"/>
            <a:ext cx="775335" cy="914400"/>
          </a:xfrm>
          <a:prstGeom xmlns:a="http://schemas.openxmlformats.org/drawingml/2006/main" prst="roundRect">
            <a:avLst>
              <a:gd name="adj" fmla="val 9828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EC4B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793A1C-0D91-474E-A9C1-28DB23879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676650"/>
            <a:ext cx="58483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Heat generated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B00C5A-69B3-4A6B-B7ED-D878AB865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1785" y="382905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C5D6F2-6DED-45A6-8176-9FDA4AE53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635" y="3524250"/>
            <a:ext cx="775335" cy="914400"/>
          </a:xfrm>
          <a:prstGeom xmlns:a="http://schemas.openxmlformats.org/drawingml/2006/main" prst="roundRect">
            <a:avLst>
              <a:gd name="adj" fmla="val 9828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EC4B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D3BF04-3122-41C4-BD42-3C43D89EA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0885" y="3676650"/>
            <a:ext cx="58483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Green coolant absorbs heat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FD9565-3358-46CB-ABDE-5D6585B26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7170" y="382905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CA8DBF-5CBB-4558-8710-C5F029E75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1020" y="3524250"/>
            <a:ext cx="775335" cy="914400"/>
          </a:xfrm>
          <a:prstGeom xmlns:a="http://schemas.openxmlformats.org/drawingml/2006/main" prst="roundRect">
            <a:avLst>
              <a:gd name="adj" fmla="val 9828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EC4B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02CCF21-28E8-4238-BC86-2673EB002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6270" y="3676650"/>
            <a:ext cx="58483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Heat is transported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0384D5F-4C3D-40A4-A2DA-AA292E68A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2555" y="382905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A5ED3B3-630F-4A39-A726-0399D3BA7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6405" y="3524250"/>
            <a:ext cx="775335" cy="914400"/>
          </a:xfrm>
          <a:prstGeom xmlns:a="http://schemas.openxmlformats.org/drawingml/2006/main" prst="roundRect">
            <a:avLst>
              <a:gd name="adj" fmla="val 9828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EC4B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DFE8361-B92F-4E46-8974-8214CF25D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1655" y="3676650"/>
            <a:ext cx="58483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Heat is rejected safely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A0C581B-9F78-4BE9-BB3E-A6D1EBD8D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7940" y="382905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0196AB8-656B-42BC-957A-EB30DE31E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1790" y="3524250"/>
            <a:ext cx="775335" cy="914400"/>
          </a:xfrm>
          <a:prstGeom xmlns:a="http://schemas.openxmlformats.org/drawingml/2006/main" prst="roundRect">
            <a:avLst>
              <a:gd name="adj" fmla="val 9828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EC4B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C7254BA-9F27-4CD6-9EA1-47CBEE521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7040" y="3676650"/>
            <a:ext cx="58483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Coolant is reused</a:t>
            </a:r>
          </a:p>
        </p:txBody>
      </p:sp>
    </p:spTree>
    <p:extLst>
      <p:ext uri="{BB962C8B-B14F-4D97-AF65-F5344CB8AC3E}">
        <p14:creationId xmlns:p14="http://schemas.microsoft.com/office/powerpoint/2010/main" val="162799382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DFA587E-E27A-42C4-BD84-0441AB93B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9A6C17-166B-4DA1-AD97-C20094AA7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67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Why server coolants need careful chemistry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5EFEBA-EE71-43B8-BA33-A00FB4CAE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Explain engineering constraints.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D7AE45-B103-4B33-BF29-844FCC751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B51378-BD6B-484D-8917-AFB80539D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D4D44C-AF8B-47AE-85E4-8307A5747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D58960-1E76-4913-B804-B3F70C939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Green Solvents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532417-35B2-4049-B356-C8184D739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10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C4DE69-54A5-48E3-8F97-8FA3E871A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573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DF0668-A787-4D11-9D28-346096B24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573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80F0C7-DCBC-41EE-A1CE-F2655B15A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7907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7D4FF"/>
                </a:solidFill>
              </a:defRPr>
            </a:pPr>
            <a:r>
              <a:rPr sz="1650" b="1">
                <a:solidFill>
                  <a:srgbClr val="37D4FF"/>
                </a:solidFill>
              </a:rPr>
              <a:t>High heat capacity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DEF1F8-49BA-4C54-A7CA-00C2A9145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81225"/>
            <a:ext cx="4076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Fluid should remove heat efficiently.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BB7469-C78A-495C-ACA8-4FCA8FCFA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573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D3623C-52A1-4FC2-A04F-5F718F4E6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573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E8BD96-0569-4D60-A1AC-1FD0AAAC6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7907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Chemical compatibility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AC166D-6A74-4B2C-B223-B33EA7183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81225"/>
            <a:ext cx="4076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Should not damage metals, polymers or seals.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57F015-DCAE-479B-9A15-126F4AC57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099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F2D1D8-E8B7-4874-BD5C-10E8398C0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099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283D00-3203-425F-9F72-A202C1B31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433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7D4FF"/>
                </a:solidFill>
              </a:defRPr>
            </a:pPr>
            <a:r>
              <a:rPr sz="1650" b="1">
                <a:solidFill>
                  <a:srgbClr val="37D4FF"/>
                </a:solidFill>
              </a:rPr>
              <a:t>Electrical safety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CF60F0F-4381-4A31-903C-CDEE32AFD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33825"/>
            <a:ext cx="4076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Coolants near electronics need low conductivity or proper isolation.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8D7E331-5C23-4AC7-A6D4-0DE14625C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099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68F293B-8CF1-4B99-8583-5D4F73DEF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099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A2AC059-955C-405F-AE8E-716EF5833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5433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Environmental safety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317B434-4FAA-49D8-AD23-E0AF9043D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933825"/>
            <a:ext cx="4076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Leaks, disposal and worker exposure must be manageable.</a:t>
            </a:r>
          </a:p>
        </p:txBody>
      </p:sp>
    </p:spTree>
    <p:extLst>
      <p:ext uri="{BB962C8B-B14F-4D97-AF65-F5344CB8AC3E}">
        <p14:creationId xmlns:p14="http://schemas.microsoft.com/office/powerpoint/2010/main" val="79054046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DE4D80D-E2DC-4A47-A692-D9B64896A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C195B4-21DB-4D95-BB2F-625036F48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67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What is glycerol trioleate ester?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079ADC-772B-422F-BD83-560591735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Define the ester.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96BDAD-BAAD-4572-81B3-34129F98F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A84329-E204-4412-88CE-407BDAB98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01EB21-096E-4DD6-9FE8-EB237A356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6A5CA3-4C63-4924-89E1-28D560BFD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Glycerol Trioleate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D212EB-B8EC-4F0D-939C-AB4401FD4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11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419E86-43D9-41A6-A788-3C161E0A8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38300"/>
            <a:ext cx="8001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9F1C"/>
                </a:solidFill>
              </a:defRPr>
            </a:pPr>
            <a:r>
              <a:rPr sz="3300" b="1">
                <a:solidFill>
                  <a:srgbClr val="FF9F1C"/>
                </a:solidFill>
              </a:rPr>
              <a:t>Glycerol trioleate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ECA49B-338B-48CF-ABAA-B19AB1B66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95550"/>
            <a:ext cx="10144125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F8FBFF"/>
                </a:solidFill>
              </a:defRPr>
            </a:pPr>
            <a:r>
              <a:rPr sz="2025">
                <a:solidFill>
                  <a:srgbClr val="F8FBFF"/>
                </a:solidFill>
              </a:rPr>
              <a:t>Glycerol trioleate is a triglyceride ester formed from glycerol and oleic acid; it is useful as a bio-based lubricant or heat-transfer material.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15D864-0C00-4B13-9A37-8BA3381D3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74B7D4-6BF0-48FB-96EE-DEC4863FB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648200"/>
            <a:ext cx="15087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Glycerol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B80181-A0DE-4BB9-B431-041F42B2C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986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EB3327-D75D-4FC3-B75E-7039B69A1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371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365614-86CE-4292-B678-08685AADE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0" y="4648200"/>
            <a:ext cx="15087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Oleic acid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5F5894-25DC-4BFB-8B7C-015446570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917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48FB11-DF47-429A-B03F-C678162CE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302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0E4FE2-19CD-4052-A1BF-842F5A1BD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8270" y="4648200"/>
            <a:ext cx="15087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Ester linkage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4E748E-B57F-4CE3-B5A7-14D142EE3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848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0E017D-C7C6-449B-B4A9-A316B8EEB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233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290DA39-3E61-401F-B58A-EF274F20E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7580" y="4648200"/>
            <a:ext cx="15087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Bio-based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FA27546-258C-4B10-ABE7-7BFEA9F5E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779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0BD9F45-3C19-4887-B999-8FFFFD5B6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164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C1E5399-CB51-4CEE-99AA-805F56A26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6890" y="4648200"/>
            <a:ext cx="15087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Lubricity</a:t>
            </a:r>
          </a:p>
        </p:txBody>
      </p:sp>
    </p:spTree>
    <p:extLst>
      <p:ext uri="{BB962C8B-B14F-4D97-AF65-F5344CB8AC3E}">
        <p14:creationId xmlns:p14="http://schemas.microsoft.com/office/powerpoint/2010/main" val="98616855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95BD2A5-2286-444E-A332-F7BADC771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6A4958-312F-4D49-ABF0-F4A3FF400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67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Synthesis of glycerol trioleate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DBB7AA-60AE-436B-8FD2-7B557B18C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Show esterification route.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895340-9826-4A94-AF5A-94AE8785B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83B0FC-2418-4E07-A75B-E639836C3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5B1A00-6D65-4506-A926-429CF058D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7BD22A-09BE-4937-9AE2-EE0B0E218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Glycerol Trioleate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DF7751-C71B-4FC3-816E-5B40490D6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12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6710DD-9B28-4281-B36E-88918F9EE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4524375" cy="3543300"/>
          </a:xfrm>
          <a:prstGeom xmlns:a="http://schemas.openxmlformats.org/drawingml/2006/main" prst="roundRect">
            <a:avLst>
              <a:gd name="adj" fmla="val 2151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A093C2-AD11-478D-B7A8-9D7EB5647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76200" cy="3543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836C8B-537B-4259-A24B-266746A15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90700"/>
            <a:ext cx="41624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7D4FF"/>
                </a:solidFill>
              </a:defRPr>
            </a:pPr>
            <a:r>
              <a:rPr sz="1650" b="1">
                <a:solidFill>
                  <a:srgbClr val="37D4FF"/>
                </a:solidFill>
              </a:rPr>
              <a:t>Ester synthesis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441BDF-9FDE-4898-8220-A96516470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81225"/>
            <a:ext cx="4162425" cy="293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Glycerol reacts with oleic acid through esterification to form glycerol trioleate and water, usually with a catalyst and controlled heating.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2450F2-0980-45B3-90AE-52B468DFE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24250"/>
            <a:ext cx="775335" cy="914400"/>
          </a:xfrm>
          <a:prstGeom xmlns:a="http://schemas.openxmlformats.org/drawingml/2006/main" prst="roundRect">
            <a:avLst>
              <a:gd name="adj" fmla="val 9828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EC4B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C40346-6E54-466D-8D2D-C70CF8782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676650"/>
            <a:ext cx="58483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Glycerol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9E1E54-6B59-4B96-A425-430C8E1B1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1785" y="382905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DFBA17-1BBF-4A2C-9293-903268CF8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635" y="3524250"/>
            <a:ext cx="775335" cy="914400"/>
          </a:xfrm>
          <a:prstGeom xmlns:a="http://schemas.openxmlformats.org/drawingml/2006/main" prst="roundRect">
            <a:avLst>
              <a:gd name="adj" fmla="val 9828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EC4B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20A29D-0D3F-4A15-9E64-932A87BDD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0885" y="3676650"/>
            <a:ext cx="58483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Oleic acid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979E86-C4C9-4798-B2C0-1C40DD230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7170" y="382905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23A903-8DBB-4942-A994-61FD64E11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1020" y="3524250"/>
            <a:ext cx="775335" cy="914400"/>
          </a:xfrm>
          <a:prstGeom xmlns:a="http://schemas.openxmlformats.org/drawingml/2006/main" prst="roundRect">
            <a:avLst>
              <a:gd name="adj" fmla="val 9828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EC4B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83BCAA8-AA76-430F-86BA-C422A466F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6270" y="3676650"/>
            <a:ext cx="58483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Esterification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791DA5-A1BC-4425-B8A6-7CF72AAF6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2555" y="382905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E61809D-90F8-49D0-B64B-8106B996F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6405" y="3524250"/>
            <a:ext cx="775335" cy="914400"/>
          </a:xfrm>
          <a:prstGeom xmlns:a="http://schemas.openxmlformats.org/drawingml/2006/main" prst="roundRect">
            <a:avLst>
              <a:gd name="adj" fmla="val 9828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EC4B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98FF0EC-FB0A-475B-9B1D-2AF3DB038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1655" y="3676650"/>
            <a:ext cx="58483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Remove water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CB99BE7-0CA4-4EA0-B223-128AB26BB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7940" y="382905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C58926D-456E-4E38-8128-D17EB4133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1790" y="3524250"/>
            <a:ext cx="775335" cy="914400"/>
          </a:xfrm>
          <a:prstGeom xmlns:a="http://schemas.openxmlformats.org/drawingml/2006/main" prst="roundRect">
            <a:avLst>
              <a:gd name="adj" fmla="val 9828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EC4B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880AF31-4194-4EBD-ADD5-3DC188452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7040" y="3676650"/>
            <a:ext cx="58483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Glycerol trioleate</a:t>
            </a:r>
          </a:p>
        </p:txBody>
      </p:sp>
    </p:spTree>
    <p:extLst>
      <p:ext uri="{BB962C8B-B14F-4D97-AF65-F5344CB8AC3E}">
        <p14:creationId xmlns:p14="http://schemas.microsoft.com/office/powerpoint/2010/main" val="192701460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FAF0941-8E2C-4657-BFA4-964167A3B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D0EE57-1C89-436E-B883-9E5A15E3F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67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Properties of glycerol trioleate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E96DA2-1418-4D2D-BBE5-D2D92C607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Explain why it is useful.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78E72A-FB92-429A-BA13-CF6DF4107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BC5BD8-451F-48CA-BD20-506273AFD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CBE8E0-5545-4960-A54A-61294AE88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F37FFE-8E77-4843-86AC-679FF5996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Glycerol Trioleate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383053-64F6-4978-B17E-BCD976287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13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B65D23-101F-4917-9174-32F26BA43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573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278A11-13EC-40E9-98D0-D3B3A54EE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573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866B18-37C7-4002-9A8A-B75398C7E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7907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7D4FF"/>
                </a:solidFill>
              </a:defRPr>
            </a:pPr>
            <a:r>
              <a:rPr sz="1650" b="1">
                <a:solidFill>
                  <a:srgbClr val="37D4FF"/>
                </a:solidFill>
              </a:rPr>
              <a:t>Biodegradability potential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23CE0A-278F-4DFE-8F8D-942C64F84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81225"/>
            <a:ext cx="4076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Ester-based materials can be more environmentally acceptable.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F6CD35-8C78-4C7B-A341-4CB2A9E0F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573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A6486B-FB13-4D0A-8235-0168519A9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573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B31F66-E216-458A-B6A5-EA5763307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7907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Lubricating behavior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1BADB8-1B2C-40C9-B318-FA1B40E1C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81225"/>
            <a:ext cx="4076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Long hydrocarbon chains reduce friction.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2F1724-B13B-46C3-9D87-3BB45CAD2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099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4BE8DD-DD50-4DBD-B41F-D99FF0C0A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099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B9E682-3F17-4854-8B38-7AFD8148A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433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7D4FF"/>
                </a:solidFill>
              </a:defRPr>
            </a:pPr>
            <a:r>
              <a:rPr sz="1650" b="1">
                <a:solidFill>
                  <a:srgbClr val="37D4FF"/>
                </a:solidFill>
              </a:rPr>
              <a:t>Thermal usefulness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EC6693B-C6A4-4CF5-AC17-11DF242EB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33825"/>
            <a:ext cx="4076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Can help in heat-transfer or coolant-type roles.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D5B7A7D-8FE6-4888-AA00-3F905FE5C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099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4D0C136-92C2-43AF-A385-906BEE495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099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1401822-DE53-4EBF-8793-E6249FC81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5433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Low volatility tendency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ABDE2BD-F50A-45D2-B556-F04C6D095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933825"/>
            <a:ext cx="4076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Large ester molecules generally evaporate less easily than light solvents.</a:t>
            </a:r>
          </a:p>
        </p:txBody>
      </p:sp>
    </p:spTree>
    <p:extLst>
      <p:ext uri="{BB962C8B-B14F-4D97-AF65-F5344CB8AC3E}">
        <p14:creationId xmlns:p14="http://schemas.microsoft.com/office/powerpoint/2010/main" val="4170229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40D9110-B627-48A8-995E-4AAF891D2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B996EC-E21D-47BA-B154-C04365DEA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67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Uses in IT infrastructure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84B02E-CFAE-4495-B5F9-067818EEA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Explain applications.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339A68-4ECC-495F-A28B-0D476680C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0DD0C8-E9A9-4DF6-85A3-EE07F1EF4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F5DC1D-2198-425A-A662-2BC85C2DF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849339-C163-462A-84A1-92F98F471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Glycerol Trioleate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403BF2-C208-4606-AAA8-FF6A206D6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14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C2277E-8491-4D28-BCF3-D7E878466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573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655E84-140F-4EE8-BAF1-EB06A3160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573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7C1A12-1193-4F71-9C9E-9F6163D8E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7907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7D4FF"/>
                </a:solidFill>
              </a:defRPr>
            </a:pPr>
            <a:r>
              <a:rPr sz="1650" b="1">
                <a:solidFill>
                  <a:srgbClr val="37D4FF"/>
                </a:solidFill>
              </a:rPr>
              <a:t>Cooling fluids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E93C13-025B-4BF3-92C6-DD02BF40B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81225"/>
            <a:ext cx="4076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Can be considered in thermal-management fluid design.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D5D647-0B44-4386-A369-8654F9653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573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AA9E05-EECE-4E66-BB21-2B842FC81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573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A454A9-0738-4A80-8017-FB819B0AF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7907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Lubrication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2F09BA-A427-4AF4-A20A-C853608FB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81225"/>
            <a:ext cx="4076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Useful for moving parts in support equipment.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759985-6D74-4F30-9796-88EA428B4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099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0B5A0B-2A5B-4353-9D38-6AF38E25F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099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FBA7E6-526D-4794-BBC7-DF0663E6A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433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7D4FF"/>
                </a:solidFill>
              </a:defRPr>
            </a:pPr>
            <a:r>
              <a:rPr sz="1650" b="1">
                <a:solidFill>
                  <a:srgbClr val="37D4FF"/>
                </a:solidFill>
              </a:rPr>
              <a:t>Insulation support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76B557-7BBD-44BA-AB21-70018170F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33825"/>
            <a:ext cx="4076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Non-aqueous fluids may help where water is unsuitable.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CC8FBD1-C313-48A2-A083-2C0E2B4E7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099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E671493-AD21-4291-A5F9-C0A4A47B5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099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1AE5ACA-931D-4004-BC68-EBA8D1507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5433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Sustainable operations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0C77097-EB38-4E93-A52F-8B1163B01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933825"/>
            <a:ext cx="4076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Bio-based materials can reduce dependence on petroleum-derived fluids.</a:t>
            </a:r>
          </a:p>
        </p:txBody>
      </p:sp>
    </p:spTree>
    <p:extLst>
      <p:ext uri="{BB962C8B-B14F-4D97-AF65-F5344CB8AC3E}">
        <p14:creationId xmlns:p14="http://schemas.microsoft.com/office/powerpoint/2010/main" val="37941422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B0571C2-F8F2-45C3-ABF4-9F019D3C8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D994D6-845D-47D0-A7BE-779122F8C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67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What are ZnO nanoparticles?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1B4DD1-3B76-4551-9AC1-739F97CE6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Define ZnO nanoparticles.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47848B-CBFC-45F1-8A0F-9810FC628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C49A4B-B5AC-43EF-8D2A-0DD462DD3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D6FA96-FB3F-42E2-A0FB-5EA6CC2E9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8126CF-3838-4D7E-B193-32B67E57C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ZnO Nanoparticles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00109C-08F9-4786-9931-A0513C0B9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15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ABB337-3B82-4D37-A01A-7204A7F51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38300"/>
            <a:ext cx="8001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9F1C"/>
                </a:solidFill>
              </a:defRPr>
            </a:pPr>
            <a:r>
              <a:rPr sz="3300" b="1">
                <a:solidFill>
                  <a:srgbClr val="FF9F1C"/>
                </a:solidFill>
              </a:rPr>
              <a:t>ZnO nanoparticles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336F07-7F53-4EBD-8D07-491F51CCD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95550"/>
            <a:ext cx="10144125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F8FBFF"/>
                </a:solidFill>
              </a:defRPr>
            </a:pPr>
            <a:r>
              <a:rPr sz="2025">
                <a:solidFill>
                  <a:srgbClr val="F8FBFF"/>
                </a:solidFill>
              </a:rPr>
              <a:t>Zinc oxide nanoparticles are nanoscale ZnO particles with semiconductor, optical and surface properties useful in sensing and smart-device applications.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7FA437-7F62-4D63-9C0A-740BCE5E3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73044C-C0E7-4609-BA39-19628FB11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648200"/>
            <a:ext cx="15087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ZnO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F24731-ABF1-40C1-9F50-3EC9DCD2F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986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E4F781-0C0E-4204-B25E-E43643FAE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371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5F00E7-FC78-4E5B-A678-C306A7BD7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0" y="4648200"/>
            <a:ext cx="15087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Nanoparticle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26F212-C525-42D2-AE1F-76AFD8851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917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AD5C59-F3B3-47A8-8AD8-F637B8977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302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44E057-2DF8-436B-8B97-8E497DBE7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8270" y="4648200"/>
            <a:ext cx="15087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Semiconductor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C2B406-582E-47C5-9DB3-BBDE6F82C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848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AD243E-BCA3-47D6-8354-AC2218DF6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233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FA332E8-2E86-497D-8E78-CF8F4FD9A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7580" y="4648200"/>
            <a:ext cx="15087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Surface activity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0DD84D-2046-4B68-BD8E-168BDCC02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779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495A18B-028C-45D9-B9E2-D0D314989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164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C616745-A80F-4FC8-B7E8-F079EFCB3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6890" y="4648200"/>
            <a:ext cx="15087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Smart systems</a:t>
            </a:r>
          </a:p>
        </p:txBody>
      </p:sp>
    </p:spTree>
    <p:extLst>
      <p:ext uri="{BB962C8B-B14F-4D97-AF65-F5344CB8AC3E}">
        <p14:creationId xmlns:p14="http://schemas.microsoft.com/office/powerpoint/2010/main" val="183359870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B2BF1CA-8B83-4BD7-B49C-721965C99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8D4534-319F-43B5-A07A-A39F1BB6E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67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Why green synthesis of ZnO is preferred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3174F2-1E1F-4394-B57A-1A777FD2C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Explain the greener route need.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96BD32-5BEC-4FEA-BB9C-CAD39995B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09FDA1-F919-4692-B7C7-334DC3800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790EC3-3E7C-4AF6-B6C0-62025003E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973F46-EFA3-485E-BD40-F6AD5C7C1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ZnO Nanoparticles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D88A28-BF98-4013-BDB9-3EF3D13CC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16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01FC72-324C-4784-A0E1-06A236D77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573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2832E8-C164-4CB8-933E-B9C1A23AC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573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A08319-89D5-4503-9745-3FA516BA4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7907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7D4FF"/>
                </a:solidFill>
              </a:defRPr>
            </a:pPr>
            <a:r>
              <a:rPr sz="1650" b="1">
                <a:solidFill>
                  <a:srgbClr val="37D4FF"/>
                </a:solidFill>
              </a:rPr>
              <a:t>Lower hazard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CE989F-F992-4400-9E23-A6A882090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81225"/>
            <a:ext cx="4076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Avoids harsh reducing and stabilizing chemicals where possible.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144B62-E04C-4F63-B2CA-A66665797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573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35211B-2D09-4CFE-A8FD-9679DEDBE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573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7CC032-2BC4-43E2-9B9E-D7031514A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7907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Biological resources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F02486-F8DD-4F82-A658-863A98275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81225"/>
            <a:ext cx="4076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Plant extracts or biomolecules can act as reducing/capping agents.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681998-F854-4C6D-95AC-F88396C89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099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045C43-F717-4B63-BC65-EC60E9BB3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099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5081F8-C834-49BB-A638-2F0FD46C3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433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7D4FF"/>
                </a:solidFill>
              </a:defRPr>
            </a:pPr>
            <a:r>
              <a:rPr sz="1650" b="1">
                <a:solidFill>
                  <a:srgbClr val="37D4FF"/>
                </a:solidFill>
              </a:rPr>
              <a:t>Mild conditions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F0454A0-7885-46D3-BDFB-1C32CDC9D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33825"/>
            <a:ext cx="4076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Often aims for simpler temperature and solvent conditions.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916EE6-A4EA-4C48-8624-C32E17BBE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099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580FDC8-3869-4485-8C3F-300635FF6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099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7620617-6ED7-4660-B309-14ABB33C8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5433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Sustainable scaling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F0A5AA6-FAF7-4969-B6C1-5379738EF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933825"/>
            <a:ext cx="4076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Reduces solvent and reagent burden in nanoparticle preparation.</a:t>
            </a:r>
          </a:p>
        </p:txBody>
      </p:sp>
    </p:spTree>
    <p:extLst>
      <p:ext uri="{BB962C8B-B14F-4D97-AF65-F5344CB8AC3E}">
        <p14:creationId xmlns:p14="http://schemas.microsoft.com/office/powerpoint/2010/main" val="45008378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A815642-45D4-4BE4-83DF-CFAEAF7A0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03A654-3AAF-4153-AD4B-F9E8C2C13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67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Green synthesis of ZnO nanoparticles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4E7E25-0398-44C5-A2FF-5196A982F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Show process.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8382CA-2398-4181-905A-934CAE843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E9625E-6D1B-4BB0-8888-702089D79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F33E8D-B062-47D8-9417-5B69366AC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D779C9-4E40-4089-87DD-11EAA6B35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ZnO Nanoparticles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30B3F0-5B3B-494E-92BC-3A6BFE486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17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9BE9D6-CB18-443A-ABE3-0D6E6D069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4524375" cy="3543300"/>
          </a:xfrm>
          <a:prstGeom xmlns:a="http://schemas.openxmlformats.org/drawingml/2006/main" prst="roundRect">
            <a:avLst>
              <a:gd name="adj" fmla="val 2151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6D7881-B457-49A5-B110-3681A9504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76200" cy="3543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482751-82DE-4CD6-80E6-AAC265DD1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90700"/>
            <a:ext cx="41624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7D4FF"/>
                </a:solidFill>
              </a:defRPr>
            </a:pPr>
            <a:r>
              <a:rPr sz="1650" b="1">
                <a:solidFill>
                  <a:srgbClr val="37D4FF"/>
                </a:solidFill>
              </a:rPr>
              <a:t>Green ZnO synthesis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02CC2C-493A-4A2F-ACF4-0DC7F9E62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81225"/>
            <a:ext cx="4162425" cy="293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A zinc precursor is combined with a green reducing/capping medium such as plant extract, then precipitated, dried and calcined to obtain ZnO nanoparticles.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FCB57C-4366-4043-9A86-476A2E070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24250"/>
            <a:ext cx="775335" cy="914400"/>
          </a:xfrm>
          <a:prstGeom xmlns:a="http://schemas.openxmlformats.org/drawingml/2006/main" prst="roundRect">
            <a:avLst>
              <a:gd name="adj" fmla="val 9828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EC4B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8B79E8-1880-4E27-81A9-F321ED6E4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676650"/>
            <a:ext cx="58483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Zinc precursor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BAE72A-0C91-4DDD-AFAB-F04C093D0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1785" y="382905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E5BD86-7EE3-440A-9042-1B17A89C7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635" y="3524250"/>
            <a:ext cx="775335" cy="914400"/>
          </a:xfrm>
          <a:prstGeom xmlns:a="http://schemas.openxmlformats.org/drawingml/2006/main" prst="roundRect">
            <a:avLst>
              <a:gd name="adj" fmla="val 9828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EC4B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9F8195-C4E7-4A37-A486-BA7C62694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0885" y="3676650"/>
            <a:ext cx="58483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Plant extract / green medium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C3CA9C-F6F4-4F90-9C98-23C4625DC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7170" y="382905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1CE2CD-091D-472D-B8D9-D3C4564EB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1020" y="3524250"/>
            <a:ext cx="775335" cy="914400"/>
          </a:xfrm>
          <a:prstGeom xmlns:a="http://schemas.openxmlformats.org/drawingml/2006/main" prst="roundRect">
            <a:avLst>
              <a:gd name="adj" fmla="val 9828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EC4B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BCF70B-E423-4EDE-B98A-77E0048BD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6270" y="3676650"/>
            <a:ext cx="58483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Precipitation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ECC4D1C-75E7-44DA-813D-AA3F2FE16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2555" y="382905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59D66C0-0130-4EC9-B251-959021CE7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6405" y="3524250"/>
            <a:ext cx="775335" cy="914400"/>
          </a:xfrm>
          <a:prstGeom xmlns:a="http://schemas.openxmlformats.org/drawingml/2006/main" prst="roundRect">
            <a:avLst>
              <a:gd name="adj" fmla="val 9828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EC4B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7A70B95-F107-48E5-91A6-BF39E960A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1655" y="3676650"/>
            <a:ext cx="58483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Drying / calcination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1C0B86F-73EC-41F3-B7DF-235E4B0B9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7940" y="382905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4DAC235-6B6F-4FFE-AC46-8507F8D9F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1790" y="3524250"/>
            <a:ext cx="775335" cy="914400"/>
          </a:xfrm>
          <a:prstGeom xmlns:a="http://schemas.openxmlformats.org/drawingml/2006/main" prst="roundRect">
            <a:avLst>
              <a:gd name="adj" fmla="val 9828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EC4B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27E4F75-319C-4CF3-8E57-F892E6B5A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7040" y="3676650"/>
            <a:ext cx="58483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ZnO nanoparticles</a:t>
            </a:r>
          </a:p>
        </p:txBody>
      </p:sp>
    </p:spTree>
    <p:extLst>
      <p:ext uri="{BB962C8B-B14F-4D97-AF65-F5344CB8AC3E}">
        <p14:creationId xmlns:p14="http://schemas.microsoft.com/office/powerpoint/2010/main" val="186819165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8082B33-E2D3-48B3-89C3-0E755E2CD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46225B-AE5C-44D5-B7ED-4A42648D8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67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Properties of ZnO nanoparticles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C78E5D-983B-42DA-8A1D-F3B142C5A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Explain useful properties.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D67EFD-F2DC-48D7-8DDA-A98735A18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B837E9-B20B-483D-AF59-673B7C2BD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9F4632-7C6B-4067-A9E1-E953AB7FA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781911-0DFD-4521-BC43-8D2008DF8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ZnO Nanoparticles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77D977-C483-4217-9919-EA6958B9C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18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6A16AA-4612-4097-9128-B4B2F5414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573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7C8B37-4D4E-4BD8-A3BE-33BE01295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573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546F93-9EA6-4CDD-B19F-E88D5C032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7907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7D4FF"/>
                </a:solidFill>
              </a:defRPr>
            </a:pPr>
            <a:r>
              <a:rPr sz="1650" b="1">
                <a:solidFill>
                  <a:srgbClr val="37D4FF"/>
                </a:solidFill>
              </a:rPr>
              <a:t>Semiconducting nature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0CF123-36C8-40F4-957D-C36624971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81225"/>
            <a:ext cx="4076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Useful in electronic and sensing devices.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AE9371-8EE7-4832-9895-81505BC16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573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12BDE0-3B7F-44DC-B293-F5919EC88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573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680CE6-91EF-46DB-9973-15559A513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7907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Optical response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6E1C72-22EC-4172-BBB4-D1E34C8E6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81225"/>
            <a:ext cx="4076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ZnO can interact with UV/visible light.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6E2F46-F43A-4F36-9DE7-5C9FC45EF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099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982C77A-FAC1-4C06-B4B8-611E2CFC0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099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9D466D-1E3B-4F97-9A05-71619401A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433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7D4FF"/>
                </a:solidFill>
              </a:defRPr>
            </a:pPr>
            <a:r>
              <a:rPr sz="1650" b="1">
                <a:solidFill>
                  <a:srgbClr val="37D4FF"/>
                </a:solidFill>
              </a:rPr>
              <a:t>High surface area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2800B0-D555-453E-BBC4-ECF99BA2E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33825"/>
            <a:ext cx="4076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Improves interaction with analytes or environments.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BEED907-D3C7-4628-9D9C-A3FCDFCC2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099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781EFCC-94CE-4205-9A2D-ABBE560E5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099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F782D1B-BCCA-4B3F-A708-7083D60D1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5433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Chemical stability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B9E174F-89EA-4552-96BA-7F835C189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933825"/>
            <a:ext cx="4076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Useful for device and coating applications.</a:t>
            </a:r>
          </a:p>
        </p:txBody>
      </p:sp>
    </p:spTree>
    <p:extLst>
      <p:ext uri="{BB962C8B-B14F-4D97-AF65-F5344CB8AC3E}">
        <p14:creationId xmlns:p14="http://schemas.microsoft.com/office/powerpoint/2010/main" val="197692492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FBFC952-5CA6-4F5A-A34A-9E2F82ADB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935704-5D7E-4DD1-A0B5-1B08670B1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67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ZnO in magnetic RFID applications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9CC4DD-3266-4BD3-857C-6406ADCDE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Explain RFID link.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41A7CA-1191-497C-86DC-B1B1B45AB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51151E-A436-46F2-A19F-ABD4E6C36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3681C3-52D9-4A34-A9B5-3848D5CD2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51DC39-7F9D-4853-A260-4ACFDF9EE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ZnO Nanoparticles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0F6D63-166F-4AA8-908C-FF3D19314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19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D46E81-932A-4491-A460-A5256608C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4524375" cy="3543300"/>
          </a:xfrm>
          <a:prstGeom xmlns:a="http://schemas.openxmlformats.org/drawingml/2006/main" prst="roundRect">
            <a:avLst>
              <a:gd name="adj" fmla="val 2151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EFB079-3E58-46B0-A685-583BCB517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76200" cy="3543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015564-51C6-44CA-A99B-81BA8D0A2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90700"/>
            <a:ext cx="41624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7D4FF"/>
                </a:solidFill>
              </a:defRPr>
            </a:pPr>
            <a:r>
              <a:rPr sz="1650" b="1">
                <a:solidFill>
                  <a:srgbClr val="37D4FF"/>
                </a:solidFill>
              </a:rPr>
              <a:t>RFID application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ABE8CA-23E3-458C-B928-B496C916B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81225"/>
            <a:ext cx="4162425" cy="293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ZnO nanoparticles can support functional coatings, sensing layers or nanocomposite materials used around RFID tags and smart identification systems.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04965C-0CAC-4B36-84FC-CA4E07E2A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24250"/>
            <a:ext cx="775335" cy="914400"/>
          </a:xfrm>
          <a:prstGeom xmlns:a="http://schemas.openxmlformats.org/drawingml/2006/main" prst="roundRect">
            <a:avLst>
              <a:gd name="adj" fmla="val 9828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EC4B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1AAB35-44A1-4894-B9A6-2F846D3A1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676650"/>
            <a:ext cx="58483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RFID tag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068E8A-868A-4D2E-9FD8-DE85FD8A1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1785" y="382905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8C027D-1FA5-4A0E-971B-1AA1CC5F4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635" y="3524250"/>
            <a:ext cx="775335" cy="914400"/>
          </a:xfrm>
          <a:prstGeom xmlns:a="http://schemas.openxmlformats.org/drawingml/2006/main" prst="roundRect">
            <a:avLst>
              <a:gd name="adj" fmla="val 9828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EC4B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E6727D-D3CD-479D-AC18-F1F32FEA6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0885" y="3676650"/>
            <a:ext cx="58483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Functional ZnO layer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1797F2-1B53-410D-9100-5F19D4F45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7170" y="382905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0E0C9A-FB55-4896-8608-E09E2B152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1020" y="3524250"/>
            <a:ext cx="775335" cy="914400"/>
          </a:xfrm>
          <a:prstGeom xmlns:a="http://schemas.openxmlformats.org/drawingml/2006/main" prst="roundRect">
            <a:avLst>
              <a:gd name="adj" fmla="val 9828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EC4B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14E967-9260-47AD-BC87-6CB7EC04B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6270" y="3676650"/>
            <a:ext cx="58483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Signal / sensing response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5161E8-C262-411C-9D26-D4CC952DC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2555" y="382905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0388550-65AE-47A3-911E-EC3B63F57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6405" y="3524250"/>
            <a:ext cx="775335" cy="914400"/>
          </a:xfrm>
          <a:prstGeom xmlns:a="http://schemas.openxmlformats.org/drawingml/2006/main" prst="roundRect">
            <a:avLst>
              <a:gd name="adj" fmla="val 9828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EC4B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2102551-FEA2-4CDB-9AA7-5D6E92DF5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1655" y="3676650"/>
            <a:ext cx="58483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Data identification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DBFFB2F-1742-434B-9E38-44BCF48C1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7940" y="382905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7BC52F6-6AE0-4EA8-8A22-7C6807A19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1790" y="3524250"/>
            <a:ext cx="775335" cy="914400"/>
          </a:xfrm>
          <a:prstGeom xmlns:a="http://schemas.openxmlformats.org/drawingml/2006/main" prst="roundRect">
            <a:avLst>
              <a:gd name="adj" fmla="val 9828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EC4B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5228DDC-15C1-46A0-9351-9BC99125B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7040" y="3676650"/>
            <a:ext cx="58483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Smart tracking</a:t>
            </a:r>
          </a:p>
        </p:txBody>
      </p:sp>
    </p:spTree>
    <p:extLst>
      <p:ext uri="{BB962C8B-B14F-4D97-AF65-F5344CB8AC3E}">
        <p14:creationId xmlns:p14="http://schemas.microsoft.com/office/powerpoint/2010/main" val="210231137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091EC6D-7CB0-465F-93BE-6D4D939A2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286B62-B969-4C02-B533-EFEE1F61C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67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ZnO in Internet of Nano Things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C16396-0B73-4578-A451-A6BF09444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Explain IONT application.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1DDCC7-3D82-44CE-8C41-E17007231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9890F8-9D5E-43D8-8ED4-60451BFA4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42C6DA-21BC-4ADE-B1B9-9D6C1D700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AD9DF5-A203-4A50-8185-CF5F94E73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ZnO Nanoparticles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5E3D9D-908E-454F-A1D6-F2B530DC0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20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FECFA5-276B-496C-8829-321B62DA9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573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CE632B-EF85-458A-A2E9-B90AAF7E8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573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1400A2-B24D-4EFD-8DFA-62200D2B1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7907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7D4FF"/>
                </a:solidFill>
              </a:defRPr>
            </a:pPr>
            <a:r>
              <a:rPr sz="1650" b="1">
                <a:solidFill>
                  <a:srgbClr val="37D4FF"/>
                </a:solidFill>
              </a:rPr>
              <a:t>Nano-sensing nodes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DDDBAA-1A15-4CFD-886D-25160F7E6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81225"/>
            <a:ext cx="4076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ZnO surfaces can help detect chemical or environmental changes.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112F0A-F73F-46B4-8FAA-222779118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573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2D2E22-979F-417B-8BE3-D3EE39668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573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A5F43C-4A8C-4118-89E1-D028EECAA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7907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Miniaturized systems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1D8132-02EF-4953-BB44-037B019F8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81225"/>
            <a:ext cx="4076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Nanoparticles fit small-scale device architectures.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3B9404-C76A-4C72-AF62-0C66BB4AD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099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75CBFA-737C-4B04-87FF-6C4DC082E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099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38CE92-0CE8-4A90-B6B9-D3762BA7F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433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7D4FF"/>
                </a:solidFill>
              </a:defRPr>
            </a:pPr>
            <a:r>
              <a:rPr sz="1650" b="1">
                <a:solidFill>
                  <a:srgbClr val="37D4FF"/>
                </a:solidFill>
              </a:rPr>
              <a:t>Smart communication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112DBE3-F997-46B7-A9CA-79DDA7A5C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33825"/>
            <a:ext cx="4076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Sensor output can feed connected nano/IoT networks.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368EDE9-34A2-4618-B4A8-A73F0070D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099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F2F474-553B-4077-9EED-78BF39E73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099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838243F-4F32-42E5-B381-A15B20592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5433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Environmental monitoring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23DBB22-59D2-4E82-B746-7143AB82A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933825"/>
            <a:ext cx="4076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Useful for distributed sensing concepts.</a:t>
            </a:r>
          </a:p>
        </p:txBody>
      </p:sp>
    </p:spTree>
    <p:extLst>
      <p:ext uri="{BB962C8B-B14F-4D97-AF65-F5344CB8AC3E}">
        <p14:creationId xmlns:p14="http://schemas.microsoft.com/office/powerpoint/2010/main" val="718709572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985344E-0A64-4262-B7D5-5FF213B3C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AD398F-EC8D-4833-B694-DE4C55CB9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67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Green materials comparison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4AB622-E041-472F-BE81-81FE276F0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Separate the three green-chemistry materials.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BADCE2-65A3-4EAE-A77A-BCE86F762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35A61F-91B9-46AD-A37E-5D257457C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C50420-01A2-4F06-BB6F-1F4162FD3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61AE7A-3614-4A6F-9DC0-112D381BB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Green Materials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C3282D-03E1-4C0B-B06D-567801715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21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5F3535-2F91-48C3-8D20-3D77C620D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43050"/>
            <a:ext cx="3581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FFDD1C-2502-4A1A-AF8E-4A93D4582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76400"/>
            <a:ext cx="3390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6131D"/>
                </a:solidFill>
              </a:defRPr>
            </a:pPr>
            <a:r>
              <a:rPr sz="1275" b="1">
                <a:solidFill>
                  <a:srgbClr val="06131D"/>
                </a:solidFill>
              </a:rPr>
              <a:t>Material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157608-3744-48C5-9630-FFD60F245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543050"/>
            <a:ext cx="3581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D5D1C0-3193-47B4-ACAF-97B809577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676400"/>
            <a:ext cx="3390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6131D"/>
                </a:solidFill>
              </a:defRPr>
            </a:pPr>
            <a:r>
              <a:rPr sz="1275" b="1">
                <a:solidFill>
                  <a:srgbClr val="06131D"/>
                </a:solidFill>
              </a:rPr>
              <a:t>Key property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05BF9F-8E7E-431D-8BCA-EBD31E1A3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543050"/>
            <a:ext cx="3581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0518BC-22D0-4738-9D89-C232D3A21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676400"/>
            <a:ext cx="3390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6131D"/>
                </a:solidFill>
              </a:defRPr>
            </a:pPr>
            <a:r>
              <a:rPr sz="1275" b="1">
                <a:solidFill>
                  <a:srgbClr val="06131D"/>
                </a:solidFill>
              </a:rPr>
              <a:t>Smart-system use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83FE4D-A5DC-4602-9F2A-BC1034797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76450"/>
            <a:ext cx="35814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3D415C-17CE-4B92-9A7E-37A83FD29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71700"/>
            <a:ext cx="3390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B9C9D6"/>
                </a:solidFill>
              </a:defRPr>
            </a:pPr>
            <a:r>
              <a:rPr sz="1050">
                <a:solidFill>
                  <a:srgbClr val="B9C9D6"/>
                </a:solidFill>
              </a:rPr>
              <a:t>Green solvents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1F4D6A-76CE-4079-BEED-D911C4F06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076450"/>
            <a:ext cx="35814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B36FCB-1A81-40E2-AC84-5DE8C2433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171700"/>
            <a:ext cx="3390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B9C9D6"/>
                </a:solidFill>
              </a:defRPr>
            </a:pPr>
            <a:r>
              <a:rPr sz="1050">
                <a:solidFill>
                  <a:srgbClr val="B9C9D6"/>
                </a:solidFill>
              </a:rPr>
              <a:t>Safer cooling/processing medium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E10C35-0EA0-44FD-B2FF-D2ADF7B01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076450"/>
            <a:ext cx="35814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88BD58-F0B9-468B-BCF9-9A8D01F5C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171700"/>
            <a:ext cx="3390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B9C9D6"/>
                </a:solidFill>
              </a:defRPr>
            </a:pPr>
            <a:r>
              <a:rPr sz="1050">
                <a:solidFill>
                  <a:srgbClr val="B9C9D6"/>
                </a:solidFill>
              </a:rPr>
              <a:t>Server heat management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71D13D6-1863-4E08-8AA9-AF234DBC5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86050"/>
            <a:ext cx="35814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2254355-9B57-469B-B36B-CB4DA03D3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81300"/>
            <a:ext cx="3390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B9C9D6"/>
                </a:solidFill>
              </a:defRPr>
            </a:pPr>
            <a:r>
              <a:rPr sz="1050">
                <a:solidFill>
                  <a:srgbClr val="B9C9D6"/>
                </a:solidFill>
              </a:rPr>
              <a:t>Glycerol trioleate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87AD89F-44BE-4174-975C-A921E6DCB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686050"/>
            <a:ext cx="35814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02B7B44-99D1-40CF-97AF-2DEC1FDAF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781300"/>
            <a:ext cx="3390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B9C9D6"/>
                </a:solidFill>
              </a:defRPr>
            </a:pPr>
            <a:r>
              <a:rPr sz="1050">
                <a:solidFill>
                  <a:srgbClr val="B9C9D6"/>
                </a:solidFill>
              </a:rPr>
              <a:t>Bio-based ester, lubrication/thermal role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796CBF9-8DD5-4C78-9179-8B3807329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686050"/>
            <a:ext cx="35814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69074F4-AF01-453D-9C89-0900C907F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781300"/>
            <a:ext cx="3390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B9C9D6"/>
                </a:solidFill>
              </a:defRPr>
            </a:pPr>
            <a:r>
              <a:rPr sz="1050">
                <a:solidFill>
                  <a:srgbClr val="B9C9D6"/>
                </a:solidFill>
              </a:rPr>
              <a:t>IT infrastructure fluids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0CAEF82-14FF-464D-AA61-0C08B9854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95650"/>
            <a:ext cx="35814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A211B94-7DAC-45FC-9973-CFE8987D9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90900"/>
            <a:ext cx="3390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B9C9D6"/>
                </a:solidFill>
              </a:defRPr>
            </a:pPr>
            <a:r>
              <a:rPr sz="1050">
                <a:solidFill>
                  <a:srgbClr val="B9C9D6"/>
                </a:solidFill>
              </a:rPr>
              <a:t>ZnO nanoparticles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3E94A5D-BD5C-4482-B3C1-9ED4E5615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295650"/>
            <a:ext cx="35814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1D695D5-D29E-4098-8AF5-6FA74DED8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390900"/>
            <a:ext cx="3390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B9C9D6"/>
                </a:solidFill>
              </a:defRPr>
            </a:pPr>
            <a:r>
              <a:rPr sz="1050">
                <a:solidFill>
                  <a:srgbClr val="B9C9D6"/>
                </a:solidFill>
              </a:rPr>
              <a:t>Semiconductor nanosurface properties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B722F99-215C-48F8-B26D-CE906BB5E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295650"/>
            <a:ext cx="35814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E259A27-04BD-4B66-A013-0D79CDDF1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390900"/>
            <a:ext cx="3390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B9C9D6"/>
                </a:solidFill>
              </a:defRPr>
            </a:pPr>
            <a:r>
              <a:rPr sz="1050">
                <a:solidFill>
                  <a:srgbClr val="B9C9D6"/>
                </a:solidFill>
              </a:rPr>
              <a:t>RFID and IONT systems</a:t>
            </a:r>
          </a:p>
        </p:txBody>
      </p:sp>
    </p:spTree>
    <p:extLst>
      <p:ext uri="{BB962C8B-B14F-4D97-AF65-F5344CB8AC3E}">
        <p14:creationId xmlns:p14="http://schemas.microsoft.com/office/powerpoint/2010/main" val="1977263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192E4B4-71DA-45D8-BAB7-5D8E0CB64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D196F7-6A8E-4E82-B1DE-95E17739B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67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What is a biomaterial?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D96891-5915-460B-859B-E44AC3C23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Define biomaterial.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64984D-A1E2-48BD-B431-7952D8CF3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D749F2-F85E-4995-8C44-8F96F69CB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E83135-6DBD-47C3-AC36-209CC3A22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048303-9828-4AB2-8952-9B36181C7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Biomaterials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F2E78A-0481-4A58-BF29-B7BDC8ECE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22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ED6E49-572B-4FB9-AC2D-769C5D364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38300"/>
            <a:ext cx="8001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9F1C"/>
                </a:solidFill>
              </a:defRPr>
            </a:pPr>
            <a:r>
              <a:rPr sz="3300" b="1">
                <a:solidFill>
                  <a:srgbClr val="FF9F1C"/>
                </a:solidFill>
              </a:rPr>
              <a:t>Biomaterial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A8F7E8-6AAC-49E3-AE16-DA35E1128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95550"/>
            <a:ext cx="10144125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F8FBFF"/>
                </a:solidFill>
              </a:defRPr>
            </a:pPr>
            <a:r>
              <a:rPr sz="2025">
                <a:solidFill>
                  <a:srgbClr val="F8FBFF"/>
                </a:solidFill>
              </a:rPr>
              <a:t>A biomaterial is a material designed to interact with biological systems for a medical, sensing, interface or device-related purpose.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B0B624-BEA6-4F56-8F26-DD17E322A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AAEBD7-8F92-476D-B28A-EA3159AF6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648200"/>
            <a:ext cx="15087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Biocompatibility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3FA6A2-7634-47B8-9378-6C328EE76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986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E7C745-9208-40FF-9A73-C6CE24E04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371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3F7ED8-D7D1-49C4-AF0A-67BF6980C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0" y="4648200"/>
            <a:ext cx="15087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Biological interaction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F3FBDD-6F5E-4CA3-8525-B015C6F11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917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EE9B4A-52D6-48D1-8C61-BFC65E547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302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0F89F6-92D9-4AE8-A70B-D10BA7677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8270" y="4648200"/>
            <a:ext cx="15087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Device use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5FFC35-A1EC-45FC-BC6E-E8C59420A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848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D10AE2-D7A8-447E-B6AF-AAFC1CAD0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233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2B7E2EC-C78C-48B4-8C06-7C988C5FA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7580" y="4648200"/>
            <a:ext cx="15087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Polymer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710B98-2035-418B-8200-BE9156B03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779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ACF6947-729C-4867-8853-A747CF733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164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67BD456-59D9-47EB-B131-BA635F22F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6890" y="4648200"/>
            <a:ext cx="15087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Interface</a:t>
            </a:r>
          </a:p>
        </p:txBody>
      </p:sp>
    </p:spTree>
    <p:extLst>
      <p:ext uri="{BB962C8B-B14F-4D97-AF65-F5344CB8AC3E}">
        <p14:creationId xmlns:p14="http://schemas.microsoft.com/office/powerpoint/2010/main" val="838181942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4211777-988F-4206-BAC2-0B49D3204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5B80E2-681C-4226-A858-3861BD69D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67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Why biomaterials matter in smart systems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301603-DB96-4B55-A2F6-CE576EA44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Explain application need.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CBA4BB-2056-46F2-AFEC-FDC349D29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F483BC-7A53-4946-9131-91AB24E78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55358A-18FC-48B6-B476-EB82E5CF8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11482F-AC64-4198-929F-45B3568BD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Biomaterials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B66383-51F4-4E0E-8420-D335E7538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23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FD59CC-1E02-4327-B17A-156EEDD4C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573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2F5348-3039-40A4-8FF3-2DFB7F17B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573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E2866D-7725-4A7A-8073-590483A52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7907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7D4FF"/>
                </a:solidFill>
              </a:defRPr>
            </a:pPr>
            <a:r>
              <a:rPr sz="1650" b="1">
                <a:solidFill>
                  <a:srgbClr val="37D4FF"/>
                </a:solidFill>
              </a:rPr>
              <a:t>Touch screens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CD0B55-9A44-4BD3-8695-6F7ED5C6C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81225"/>
            <a:ext cx="4076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Need transparent, flexible and surface-compatible materials.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A5F074-6B7F-43A7-98A1-7280B6792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573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64F214-791E-4F74-B3A6-F333F83E0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573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5FF525-4719-4394-ADC4-40726E951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7907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Wearables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B8C5D1-A3A1-4143-86DF-234087FA8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81225"/>
            <a:ext cx="4076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Need skin-contact materials with low irritation.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A13A5F-2BDF-4FB7-B697-8F388C02B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099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788E47-8F7D-4982-8502-C941D20C2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099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CC2176A-492F-4AAB-957F-CE4C3E739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433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7D4FF"/>
                </a:solidFill>
              </a:defRPr>
            </a:pPr>
            <a:r>
              <a:rPr sz="1650" b="1">
                <a:solidFill>
                  <a:srgbClr val="37D4FF"/>
                </a:solidFill>
              </a:rPr>
              <a:t>Medical interfaces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1AF3120-24B6-4B61-9689-2B7B82986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33825"/>
            <a:ext cx="4076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Need materials that work safely near tissues or biofluids.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669DA31-0D15-48E3-937F-8CAFF2AA8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099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88D6DB7-910C-483B-8783-27EB62776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099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FF79A03-2F00-4D55-8326-C7603ED91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5433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BCIs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4800448-EDC5-4513-8CB3-F357EA199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933825"/>
            <a:ext cx="4076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Need soft, hydrated and interface-friendly materials.</a:t>
            </a:r>
          </a:p>
        </p:txBody>
      </p:sp>
    </p:spTree>
    <p:extLst>
      <p:ext uri="{BB962C8B-B14F-4D97-AF65-F5344CB8AC3E}">
        <p14:creationId xmlns:p14="http://schemas.microsoft.com/office/powerpoint/2010/main" val="2003900556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C1E2759-948E-45A6-B52F-374D39472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799E0E-AD8C-4A02-88F6-9AF43A60B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67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What is polylactic acid?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982ECA-9CDE-46C0-9721-186801BB6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Define PLA.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BB4BBF-2228-43EB-9605-E9A058787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ADD092-B59F-4B8A-84B8-9F4D1C885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762833-1FEC-4027-B5DB-981AC1C94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971498-21E4-40EB-873E-2DC727581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PLA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802DC2-0629-4334-BF32-9BE1719E6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24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EFFC26-7BB6-4C41-A250-72EF8BCD5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38300"/>
            <a:ext cx="8001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9F1C"/>
                </a:solidFill>
              </a:defRPr>
            </a:pPr>
            <a:r>
              <a:rPr sz="3300" b="1">
                <a:solidFill>
                  <a:srgbClr val="FF9F1C"/>
                </a:solidFill>
              </a:rPr>
              <a:t>PLA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87B8B9-6410-4B5C-8803-84E9B5E83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95550"/>
            <a:ext cx="10144125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F8FBFF"/>
                </a:solidFill>
              </a:defRPr>
            </a:pPr>
            <a:r>
              <a:rPr sz="2025">
                <a:solidFill>
                  <a:srgbClr val="F8FBFF"/>
                </a:solidFill>
              </a:rPr>
              <a:t>Polylactic acid is a biodegradable aliphatic polyester made from lactic acid or lactide, often obtained from renewable resources.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1A353A-D542-4234-B286-C9D76C33D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8F8F81-6D70-4363-97E1-F93AA9DBA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648200"/>
            <a:ext cx="15087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Lactic acid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C58F8D-364E-4BC7-9228-07271587B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986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A25CA5-54DE-403D-8908-958C1E0A2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371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3FB516-8C97-4D1B-B866-761460758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0" y="4648200"/>
            <a:ext cx="15087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Polyester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7423AA-AB64-4DEB-9F9E-0C3F263EC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917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C37493-DA23-4A54-9CFB-FE58B3E2A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302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6E949A-50D3-4E93-9546-D494F0AE5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8270" y="4648200"/>
            <a:ext cx="15087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Biodegradable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4E6EC5-BBC6-4D77-8F34-B060B930C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848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597B62-663D-4315-88B8-A3D558C5D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233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49FD15A-97FA-41E2-BA88-4897B4491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7580" y="4648200"/>
            <a:ext cx="15087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Renewable source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E04AAE1-CCF5-4A7A-875E-26A7FB90E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779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EA4CD58-A64F-4565-8704-4EABAE8E4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164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2E4A58A-9A39-4A9A-B37C-79DF54DAF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6890" y="4648200"/>
            <a:ext cx="15087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Thermoplastic</a:t>
            </a:r>
          </a:p>
        </p:txBody>
      </p:sp>
    </p:spTree>
    <p:extLst>
      <p:ext uri="{BB962C8B-B14F-4D97-AF65-F5344CB8AC3E}">
        <p14:creationId xmlns:p14="http://schemas.microsoft.com/office/powerpoint/2010/main" val="227185558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755A967-56CE-4EE4-BF91-C35540407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5A7874-96C2-4E5D-B590-20659648F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67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Synthesis of PLA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61E1CF-EDC5-4176-AC92-CFB6B74EF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Show synthesis route.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81E57B-A6CE-4698-8CF5-23FA5AC99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4FC0C1-59CD-4185-B732-D4A95C8D8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2B3A3C-E014-4A6D-9A9E-36851BFCB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8C4CB5-4A1A-4B96-8910-EB335A8B7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PLA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B3C09E-7E5B-4757-A51C-7A5E66D9A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25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630A60-A6A1-4B36-99BC-A2AEDE7CD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4524375" cy="3543300"/>
          </a:xfrm>
          <a:prstGeom xmlns:a="http://schemas.openxmlformats.org/drawingml/2006/main" prst="roundRect">
            <a:avLst>
              <a:gd name="adj" fmla="val 2151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A0AA1F-07DD-41FF-A339-60757A084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76200" cy="3543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16CEDF-1EB3-421E-8661-A59E5BB6C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90700"/>
            <a:ext cx="41624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7D4FF"/>
                </a:solidFill>
              </a:defRPr>
            </a:pPr>
            <a:r>
              <a:rPr sz="1650" b="1">
                <a:solidFill>
                  <a:srgbClr val="37D4FF"/>
                </a:solidFill>
              </a:rPr>
              <a:t>PLA synthesis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2A270C-0E26-4176-89EE-BB3C75C5D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81225"/>
            <a:ext cx="4162425" cy="293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PLA can be produced from lactic acid by condensation polymerization or through lactide formation followed by ring-opening polymerization.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4C0A35-B5FD-42C2-BCBD-EAACA5C28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24250"/>
            <a:ext cx="775335" cy="914400"/>
          </a:xfrm>
          <a:prstGeom xmlns:a="http://schemas.openxmlformats.org/drawingml/2006/main" prst="roundRect">
            <a:avLst>
              <a:gd name="adj" fmla="val 9828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EC4B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B0007F-E24A-4437-9F17-AF23CF76F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676650"/>
            <a:ext cx="58483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Lactic acid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4664BC-946A-443D-A0DF-E911EBAC1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1785" y="382905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9CC4C8-1144-4102-A41A-62DBC2052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635" y="3524250"/>
            <a:ext cx="775335" cy="914400"/>
          </a:xfrm>
          <a:prstGeom xmlns:a="http://schemas.openxmlformats.org/drawingml/2006/main" prst="roundRect">
            <a:avLst>
              <a:gd name="adj" fmla="val 9828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EC4B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BAF8A4-E54F-4289-BF9A-1A926D480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0885" y="3676650"/>
            <a:ext cx="58483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Lactide / oligomer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A0CE5E-4209-4CC4-906E-8031E40FE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7170" y="382905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AD45699-7802-4D66-9D44-936873EB4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1020" y="3524250"/>
            <a:ext cx="775335" cy="914400"/>
          </a:xfrm>
          <a:prstGeom xmlns:a="http://schemas.openxmlformats.org/drawingml/2006/main" prst="roundRect">
            <a:avLst>
              <a:gd name="adj" fmla="val 9828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EC4B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CE70B4-B9B2-45DF-8825-EDBA697A3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6270" y="3676650"/>
            <a:ext cx="58483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Polymerization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E96059-6B5D-4D00-BD5E-B822AFDD0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2555" y="382905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630FEF2-1617-4F2C-8320-469ACFCE5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6405" y="3524250"/>
            <a:ext cx="775335" cy="914400"/>
          </a:xfrm>
          <a:prstGeom xmlns:a="http://schemas.openxmlformats.org/drawingml/2006/main" prst="roundRect">
            <a:avLst>
              <a:gd name="adj" fmla="val 9828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EC4B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17D79A0-EEB7-4551-B6A7-56F0765BD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1655" y="3676650"/>
            <a:ext cx="58483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PLA chain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FC4B653-85F5-4087-8086-A91828A4D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7940" y="382905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138FED0-B939-403A-9B85-665FAF90E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1790" y="3524250"/>
            <a:ext cx="775335" cy="914400"/>
          </a:xfrm>
          <a:prstGeom xmlns:a="http://schemas.openxmlformats.org/drawingml/2006/main" prst="roundRect">
            <a:avLst>
              <a:gd name="adj" fmla="val 9828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EC4B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6922737-DF18-4F3C-B539-452B2EF3A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7040" y="3676650"/>
            <a:ext cx="58483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Processing into film</a:t>
            </a:r>
          </a:p>
        </p:txBody>
      </p:sp>
    </p:spTree>
    <p:extLst>
      <p:ext uri="{BB962C8B-B14F-4D97-AF65-F5344CB8AC3E}">
        <p14:creationId xmlns:p14="http://schemas.microsoft.com/office/powerpoint/2010/main" val="215662316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7421BF4-0CE5-4756-BABF-EF6EF3B13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853C6D-9B2A-4582-B626-C530D735A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67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Properties of PLA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7F3F56-F5B4-45D6-9FCD-82A4B5CCE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Explain properties.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B63593-67DB-4992-B915-BF499B268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FB6FE9-16D5-4EF3-A86A-AD6DE400C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E567B6-1357-4FCF-835A-CDD993153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79FBFE-F68A-4232-B95D-4A31CE49B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PLA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4A4FF5-3461-4549-9AC3-C25421DAE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26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9A43CD-FBDE-4537-BFEF-B1D188E73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573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D7E30F-0597-499F-BD96-C13146773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573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563CB1-8E3D-41C7-9DBC-801BC53F5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7907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7D4FF"/>
                </a:solidFill>
              </a:defRPr>
            </a:pPr>
            <a:r>
              <a:rPr sz="1650" b="1">
                <a:solidFill>
                  <a:srgbClr val="37D4FF"/>
                </a:solidFill>
              </a:rPr>
              <a:t>Biodegradable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D56418-1861-420A-96C3-F11569E6D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81225"/>
            <a:ext cx="4076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Breaks down under suitable composting or biological conditions.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261399-B5FC-4FFF-9BC8-A0ACB3C41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573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4D986C-FD69-4B20-9C90-5499E4DCD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573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D97F36-A4D6-4D4D-8985-494A59024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7907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Transparent and glossy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A8A4B0-0EFA-445E-BDCB-BFB8FCFCB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81225"/>
            <a:ext cx="4076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Useful for films and display-related components.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94FC38-F75C-4132-ABD4-076EBD2E6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099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9BDDEE-0645-4C7C-A053-61973FB57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099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538649-B467-4D09-8E33-88400718D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433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7D4FF"/>
                </a:solidFill>
              </a:defRPr>
            </a:pPr>
            <a:r>
              <a:rPr sz="1650" b="1">
                <a:solidFill>
                  <a:srgbClr val="37D4FF"/>
                </a:solidFill>
              </a:rPr>
              <a:t>Thermoplastic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6357FE-38EA-477E-9B28-E34D22843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33825"/>
            <a:ext cx="4076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Can be molded, extruded or printed.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998DEBC-9C96-4B2C-8544-D943DFB3A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099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BB785D9-7A48-43A2-AAF5-5555269F9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099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E9B554D-C6C2-46AA-A0E5-D134AEBE1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5433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Brittleness concern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95D165C-9170-4A11-8A53-4A71BC5C2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933825"/>
            <a:ext cx="4076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Often blended or modified for toughness.</a:t>
            </a:r>
          </a:p>
        </p:txBody>
      </p:sp>
    </p:spTree>
    <p:extLst>
      <p:ext uri="{BB962C8B-B14F-4D97-AF65-F5344CB8AC3E}">
        <p14:creationId xmlns:p14="http://schemas.microsoft.com/office/powerpoint/2010/main" val="1433127591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25888F0-0D1C-4260-B533-DD0E26ADE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35D592-3E71-439D-8C63-58B9AA801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67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PLA uses in touch-screen applications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D9F5F6-2F47-4FAD-BA99-CC85A9C69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Explain application.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F3C8AC-8BF1-4775-B7C0-237371054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B7F426-172A-4B02-91CE-9113F6E84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8B2626-5A75-47C8-AB67-9BD675B8F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5EEDE6-E8EB-420F-8034-C3AF44681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PLA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046D75-ACD3-4DE2-8B6C-48FD0EC1E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27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E68637-F37D-4A67-AE34-D84A54D94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573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CF11B8-7E4C-430C-9FD2-97B1179CB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573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13A289-9DF4-4689-9B86-96049DF03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7907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7D4FF"/>
                </a:solidFill>
              </a:defRPr>
            </a:pPr>
            <a:r>
              <a:rPr sz="1650" b="1">
                <a:solidFill>
                  <a:srgbClr val="37D4FF"/>
                </a:solidFill>
              </a:rPr>
              <a:t>Protective films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F7651D-4204-4D8C-9CA2-2E906A305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81225"/>
            <a:ext cx="4076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Transparent polymer films can protect display surfaces.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D0F494-0666-4638-A059-53A175142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573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BD7A8D-3083-477F-8002-33E4EAC41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573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7693B2-4C36-420D-A68D-7E4738922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7907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Flexible substrates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4F1811-12FC-401C-8CB5-07F045161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81225"/>
            <a:ext cx="4076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Light polymer sheets can support flexible device layers.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7E16E0-A78F-4F61-9C3E-E9873FBB2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099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86ADED-030B-40BC-8069-77117627D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099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FBA2DB-2934-4335-BF8D-E81DE6CEB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433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7D4FF"/>
                </a:solidFill>
              </a:defRPr>
            </a:pPr>
            <a:r>
              <a:rPr sz="1650" b="1">
                <a:solidFill>
                  <a:srgbClr val="37D4FF"/>
                </a:solidFill>
              </a:rPr>
              <a:t>Biodegradable accessories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9A06D5-A5B8-4F53-BBAE-67360BE05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33825"/>
            <a:ext cx="4076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Potential for lower-impact screen-related components.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4A5333E-A91A-4677-B847-DC2AA1DE7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099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000F015-8134-4A48-9C0A-48B5CB70F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099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BCE883C-A2D0-49D6-9D20-79DF9ABDD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5433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Design limitation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2F65195-74D3-4C9B-9298-FEFC7CAC0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933825"/>
            <a:ext cx="4076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Thermal resistance and durability must match device conditions.</a:t>
            </a:r>
          </a:p>
        </p:txBody>
      </p:sp>
    </p:spTree>
    <p:extLst>
      <p:ext uri="{BB962C8B-B14F-4D97-AF65-F5344CB8AC3E}">
        <p14:creationId xmlns:p14="http://schemas.microsoft.com/office/powerpoint/2010/main" val="2010590299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872C692-A999-408A-A8BF-9C49FEF69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7E098F-83BC-41C3-9154-B3413B5E3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67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What is polyethylene glycol?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69BE9A-3C25-4A1E-94AA-441D097B2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Define PEG.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7DBEF4-3CAE-475E-83B8-B487CDC06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6D7332-B398-4625-B173-EDA121627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5477B6-1BDE-4CB8-AA78-E540CCDD3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3AA682-F71D-45EF-9B9A-A00BE0A35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PEG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C885B2-D1CE-4B23-80E1-3CEE72242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28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B81745-1EC2-4811-AE89-6B0587F68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38300"/>
            <a:ext cx="8001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9F1C"/>
                </a:solidFill>
              </a:defRPr>
            </a:pPr>
            <a:r>
              <a:rPr sz="3300" b="1">
                <a:solidFill>
                  <a:srgbClr val="FF9F1C"/>
                </a:solidFill>
              </a:rPr>
              <a:t>PEG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8BB6FB-579C-4DEA-ACF6-14EB614F4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95550"/>
            <a:ext cx="10144125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F8FBFF"/>
                </a:solidFill>
              </a:defRPr>
            </a:pPr>
            <a:r>
              <a:rPr sz="2025">
                <a:solidFill>
                  <a:srgbClr val="F8FBFF"/>
                </a:solidFill>
              </a:rPr>
              <a:t>Polyethylene glycol is a water-soluble polyether available in different molecular weights, known for flexibility and biocompatibility.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692562-8709-4E39-BBE9-6D8282C0C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629C63-DE74-47D7-BEEE-DBC819A46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648200"/>
            <a:ext cx="15087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Polyether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264DC9-C83D-45A0-9B87-07D5D8674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986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2C7CDA-186D-4F73-96AB-3A1A19836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371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2CD953-2102-4B8C-9495-E8948E27A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0" y="4648200"/>
            <a:ext cx="15087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Water soluble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F06C2C-1158-47C4-BF8A-C6B34803B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917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571731-C4D5-4666-B0ED-0BD565B12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302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8ADB8C-625C-46ED-8B05-49DE08683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8270" y="4648200"/>
            <a:ext cx="15087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Flexible chain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20C3B0-3CF8-479D-B714-0B2572420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848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E46977-9F30-4BAC-9399-CF6AC2685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233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C9B6A74-8D97-4F53-B902-44553400D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7580" y="4648200"/>
            <a:ext cx="15087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Biocompatible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0581FF-B6BE-460B-9623-1C6FCD6A9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779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FC58551-773F-443D-B11D-90CDBEF35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164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EFA26C9-6B88-4652-A0DB-86417525C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6890" y="4648200"/>
            <a:ext cx="15087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Molecular weight</a:t>
            </a:r>
          </a:p>
        </p:txBody>
      </p:sp>
    </p:spTree>
    <p:extLst>
      <p:ext uri="{BB962C8B-B14F-4D97-AF65-F5344CB8AC3E}">
        <p14:creationId xmlns:p14="http://schemas.microsoft.com/office/powerpoint/2010/main" val="206523485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B4CFAFB-B622-48EB-B44B-881430168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00049F-E635-48FB-AA37-9A9C3AD07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67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Synthesis of PEG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3C72D3-2939-4214-9D62-00D96C6AF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Show synthesis route.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F6DE24-0710-4F91-A3BB-D8D95FE94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2AD07D-C928-4207-83A9-E9660BD82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1AF79A-5D3B-4E4C-BE61-7A97F2D6B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6CE896-654E-4A11-A515-3DB98D1DF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PEG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1AD850-61AA-40CE-A601-888FC35E3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29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F7A686-0B1B-4082-8617-94DC63323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4524375" cy="3543300"/>
          </a:xfrm>
          <a:prstGeom xmlns:a="http://schemas.openxmlformats.org/drawingml/2006/main" prst="roundRect">
            <a:avLst>
              <a:gd name="adj" fmla="val 2151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51541E-4FFB-460B-B8BE-8DD2989EF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76200" cy="3543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575CA0-A3EE-4080-B458-B4675B2EC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90700"/>
            <a:ext cx="41624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7D4FF"/>
                </a:solidFill>
              </a:defRPr>
            </a:pPr>
            <a:r>
              <a:rPr sz="1650" b="1">
                <a:solidFill>
                  <a:srgbClr val="37D4FF"/>
                </a:solidFill>
              </a:rPr>
              <a:t>PEG synthesis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4BA479-F1EF-4418-876F-6CED13A82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81225"/>
            <a:ext cx="4162425" cy="293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PEG is commonly prepared by polymerization of ethylene oxide under controlled conditions to obtain chains of required molecular weight.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EAEA06-39E7-49F9-BCA3-67A09650E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24250"/>
            <a:ext cx="775335" cy="914400"/>
          </a:xfrm>
          <a:prstGeom xmlns:a="http://schemas.openxmlformats.org/drawingml/2006/main" prst="roundRect">
            <a:avLst>
              <a:gd name="adj" fmla="val 9828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EC4B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048F9C-BD13-4918-8F73-EB3277578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676650"/>
            <a:ext cx="58483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Ethylene oxide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6A6664-C96B-4214-9D2C-5204F953B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1785" y="382905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7D4C03-4863-4C90-9BD5-79F088B68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635" y="3524250"/>
            <a:ext cx="775335" cy="914400"/>
          </a:xfrm>
          <a:prstGeom xmlns:a="http://schemas.openxmlformats.org/drawingml/2006/main" prst="roundRect">
            <a:avLst>
              <a:gd name="adj" fmla="val 9828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EC4B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D2607A-9B4B-4854-967A-830EE962D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0885" y="3676650"/>
            <a:ext cx="58483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Initiator / catalyst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6F24C6-4966-40B3-82E1-E09826BB4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7170" y="382905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492F0C-F677-4C7A-AC33-F44830814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1020" y="3524250"/>
            <a:ext cx="775335" cy="914400"/>
          </a:xfrm>
          <a:prstGeom xmlns:a="http://schemas.openxmlformats.org/drawingml/2006/main" prst="roundRect">
            <a:avLst>
              <a:gd name="adj" fmla="val 9828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EC4B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AB92A4-464C-4457-8961-0A7F54A55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6270" y="3676650"/>
            <a:ext cx="58483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Chain growth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FF157A0-2705-4816-98BA-4E681FEBD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2555" y="382905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FEE053F-0428-4954-9093-4EF8A3F01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6405" y="3524250"/>
            <a:ext cx="775335" cy="914400"/>
          </a:xfrm>
          <a:prstGeom xmlns:a="http://schemas.openxmlformats.org/drawingml/2006/main" prst="roundRect">
            <a:avLst>
              <a:gd name="adj" fmla="val 9828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EC4B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6A6ABDF-3C41-471F-8899-F458B9A9D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1655" y="3676650"/>
            <a:ext cx="58483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PEG polymer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9A3785A-A470-4673-9DE4-9B3BD774A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7940" y="382905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E63FF6B-51E1-42CA-8C86-0366BF871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1790" y="3524250"/>
            <a:ext cx="775335" cy="914400"/>
          </a:xfrm>
          <a:prstGeom xmlns:a="http://schemas.openxmlformats.org/drawingml/2006/main" prst="roundRect">
            <a:avLst>
              <a:gd name="adj" fmla="val 9828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EC4B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224B4E7-8E61-49FA-A675-8E93CF1A5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7040" y="3676650"/>
            <a:ext cx="58483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Purification</a:t>
            </a:r>
          </a:p>
        </p:txBody>
      </p:sp>
    </p:spTree>
    <p:extLst>
      <p:ext uri="{BB962C8B-B14F-4D97-AF65-F5344CB8AC3E}">
        <p14:creationId xmlns:p14="http://schemas.microsoft.com/office/powerpoint/2010/main" val="74893567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DBA2346-9850-48B4-9906-4CC491A75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491FDD-FC31-410A-9E46-E7DC09879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67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Properties of PEG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2CB502-56FD-4CAD-AE8A-72DA4A0B4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Explain useful properties.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9DB8AF-D125-4D5D-ADC1-B5EA3226F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FF69E4-15B1-41D5-892B-780618A88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2349DC-4787-468F-AE51-1C75B1A2F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F08AC7-E8E9-4B55-868E-3AEA0B837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PEG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1FED62-BCA4-458D-90F4-14E0724BA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30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F05F2D-1666-4C33-8E10-D1280A70E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573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CA87DE-C282-4112-9A44-227BC49A9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573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117A7E-2F2C-4A20-ACC9-F3440EA04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7907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7D4FF"/>
                </a:solidFill>
              </a:defRPr>
            </a:pPr>
            <a:r>
              <a:rPr sz="1650" b="1">
                <a:solidFill>
                  <a:srgbClr val="37D4FF"/>
                </a:solidFill>
              </a:rPr>
              <a:t>Hydrophilic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F9D7FC-31F2-4A05-9F5D-3976B317A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81225"/>
            <a:ext cx="4076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Attracts water and improves surface wetting.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527CB4-F96D-4A12-AE09-7BD89D1E1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573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191BAD-E3FB-4B26-8F60-5CF1F3202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573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563286-4B8E-455D-9539-2FD91BF36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7907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Flexible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F82A9E-14E5-42D9-970A-9EA59CB14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81225"/>
            <a:ext cx="4076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Soft polymer chains improve comfort and compatibility.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3CCD69-083B-4AD1-9FA4-38EB28A4A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099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4DE93E-71A1-46D1-9D32-E595A8CC2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099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F136EC-48DE-40E1-BD87-83AB99BCE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433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7D4FF"/>
                </a:solidFill>
              </a:defRPr>
            </a:pPr>
            <a:r>
              <a:rPr sz="1650" b="1">
                <a:solidFill>
                  <a:srgbClr val="37D4FF"/>
                </a:solidFill>
              </a:rPr>
              <a:t>Biocompatible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DE5C1E1-B208-4F22-AF50-A7C16E840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33825"/>
            <a:ext cx="4076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Widely useful in biomedical and interface materials.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A66E473-2D2E-4CD7-A2AB-511454687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099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B9128DD-149E-4223-88DF-719550389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099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715A94E-F657-4937-95CB-80A49858B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5433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Tunable molecular weight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4FC2946-23A1-4F20-99A8-4635836D6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933825"/>
            <a:ext cx="4076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Liquid, waxy or solid behavior depends on chain length.</a:t>
            </a:r>
          </a:p>
        </p:txBody>
      </p:sp>
    </p:spTree>
    <p:extLst>
      <p:ext uri="{BB962C8B-B14F-4D97-AF65-F5344CB8AC3E}">
        <p14:creationId xmlns:p14="http://schemas.microsoft.com/office/powerpoint/2010/main" val="1229813890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078389F-404E-4C31-9AA1-84AD4F7A8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6273D2-2E0B-4DB5-A2DF-134144F90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67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PEG uses in touch-screen applications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5CB5D2-1B17-4F7C-AE7C-152A2B164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Explain touch-screen relevance.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702EBE-C5C7-422A-923D-8282C3003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EBADD9-2D5F-4C5A-A4D6-B7725136B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130B01-B4DE-49A6-A42B-133F41DF7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30CEA4-E040-41C9-BD13-0756BA9F4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PEG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7720B1-4F4C-4095-836B-1C4292DFB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31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7392C8-207B-4444-AACD-158F5AE7C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573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07A989-3570-4C2B-9B49-0511C024A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573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34939A-263A-49A9-A322-B91209979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7907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7D4FF"/>
                </a:solidFill>
              </a:defRPr>
            </a:pPr>
            <a:r>
              <a:rPr sz="1650" b="1">
                <a:solidFill>
                  <a:srgbClr val="37D4FF"/>
                </a:solidFill>
              </a:rPr>
              <a:t>Surface coatings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797C21-41CB-4BD5-B396-25C17F11D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81225"/>
            <a:ext cx="4076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Can improve wettability and user-interface feel.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EED29D-EA31-496C-B687-1D0585A7C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573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54E244-740B-4F24-92D5-C1AFE28D4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573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BE8D24-B4C7-45D6-9AC1-6CFC41FC5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7907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Flexible films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8EEAA3-D4A3-4E22-8222-95F5432E4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81225"/>
            <a:ext cx="4076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Useful in soft or flexible polymer formulations.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B4367E-CB3B-4985-9BE3-FC9569D7E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099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FB5C3B-85A5-45D0-9E43-CB16BDC87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099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A29E4F-176D-4B36-9220-20BD55492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433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7D4FF"/>
                </a:solidFill>
              </a:defRPr>
            </a:pPr>
            <a:r>
              <a:rPr sz="1650" b="1">
                <a:solidFill>
                  <a:srgbClr val="37D4FF"/>
                </a:solidFill>
              </a:rPr>
              <a:t>Anti-fouling surfaces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FD7F77-B649-4235-A497-FE7437DC0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33825"/>
            <a:ext cx="4076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Hydrophilic PEG-like layers can reduce unwanted adhesion.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3F4472-B1FA-4801-8282-E9D676316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099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BAB8FA7-47A3-45CF-9615-305E9150F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099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8E855B5-3E2E-4A56-8403-896F35C6A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5433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Device compatibility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49D749F-83B3-45E6-8F09-048970F19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933825"/>
            <a:ext cx="4076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Useful where transparent, soft polymer interfaces are needed.</a:t>
            </a:r>
          </a:p>
        </p:txBody>
      </p:sp>
    </p:spTree>
    <p:extLst>
      <p:ext uri="{BB962C8B-B14F-4D97-AF65-F5344CB8AC3E}">
        <p14:creationId xmlns:p14="http://schemas.microsoft.com/office/powerpoint/2010/main" val="1874733124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7F1D205-5A76-4433-83F0-39426FCF3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4C542E-BB4C-4A90-9FE8-C57BDA8D8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67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PLA and PEG compared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07D07F-0CE6-4E44-B5EF-AE590DEA6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Help students separate biomaterials.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DB9066-1F83-44F5-9AB8-45440550F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200CFD-4475-43AA-B670-462A98E3D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F90E64-2C28-4A7B-AC2E-FBE86D851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D899FC-B07A-4CEE-A167-C3A93CDD2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PLA and PEG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F58388-38A2-42EC-B61F-29C1F8B8C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32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9ACB60-E903-4927-A099-663F87692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43050"/>
            <a:ext cx="3581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0B878D-8404-4A6E-B9C5-3F7B40C7A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76400"/>
            <a:ext cx="3390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6131D"/>
                </a:solidFill>
              </a:defRPr>
            </a:pPr>
            <a:r>
              <a:rPr sz="1275" b="1">
                <a:solidFill>
                  <a:srgbClr val="06131D"/>
                </a:solidFill>
              </a:rPr>
              <a:t>Point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57A882-E46E-4D32-BF8D-FBA855207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543050"/>
            <a:ext cx="3581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043FC5-940B-47E6-913D-4C6A3D924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676400"/>
            <a:ext cx="3390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6131D"/>
                </a:solidFill>
              </a:defRPr>
            </a:pPr>
            <a:r>
              <a:rPr sz="1275" b="1">
                <a:solidFill>
                  <a:srgbClr val="06131D"/>
                </a:solidFill>
              </a:rPr>
              <a:t>PLA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CD452C-BFC1-4DE0-8CDB-198FF34D0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543050"/>
            <a:ext cx="3581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23ABE0-B3AC-4D91-9B2D-97B2B1E0D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676400"/>
            <a:ext cx="3390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6131D"/>
                </a:solidFill>
              </a:defRPr>
            </a:pPr>
            <a:r>
              <a:rPr sz="1275" b="1">
                <a:solidFill>
                  <a:srgbClr val="06131D"/>
                </a:solidFill>
              </a:rPr>
              <a:t>PEG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FF2CD0-BE18-4DCC-AACC-690874916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76450"/>
            <a:ext cx="35814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8F04AD-BE98-4F37-A812-1CB63E472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71700"/>
            <a:ext cx="3390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B9C9D6"/>
                </a:solidFill>
              </a:defRPr>
            </a:pPr>
            <a:r>
              <a:rPr sz="1050">
                <a:solidFill>
                  <a:srgbClr val="B9C9D6"/>
                </a:solidFill>
              </a:rPr>
              <a:t>Polymer type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4350EA-17EE-4E8D-8F3A-6B91FF10E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076450"/>
            <a:ext cx="35814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266470-60BC-48E5-AA00-2C76D8FD5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171700"/>
            <a:ext cx="3390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B9C9D6"/>
                </a:solidFill>
              </a:defRPr>
            </a:pPr>
            <a:r>
              <a:rPr sz="1050">
                <a:solidFill>
                  <a:srgbClr val="B9C9D6"/>
                </a:solidFill>
              </a:rPr>
              <a:t>Biodegradable polyester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72A153-50A9-46B0-BE66-7FCD98646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076450"/>
            <a:ext cx="35814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D4FAFCF-9967-4BA4-BDFB-1C3EEACE4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171700"/>
            <a:ext cx="3390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B9C9D6"/>
                </a:solidFill>
              </a:defRPr>
            </a:pPr>
            <a:r>
              <a:rPr sz="1050">
                <a:solidFill>
                  <a:srgbClr val="B9C9D6"/>
                </a:solidFill>
              </a:rPr>
              <a:t>Water-soluble polyether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319EA61-D589-4A2F-A0F6-A959FB42E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86050"/>
            <a:ext cx="35814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7C4588C-FC84-41A5-B240-6610C5F31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81300"/>
            <a:ext cx="3390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B9C9D6"/>
                </a:solidFill>
              </a:defRPr>
            </a:pPr>
            <a:r>
              <a:rPr sz="1050">
                <a:solidFill>
                  <a:srgbClr val="B9C9D6"/>
                </a:solidFill>
              </a:rPr>
              <a:t>Main strength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CB97FE5-978A-4B75-A4CE-598C09F34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686050"/>
            <a:ext cx="35814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E180D02-90FC-4816-8BCB-5A944CAA6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781300"/>
            <a:ext cx="3390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B9C9D6"/>
                </a:solidFill>
              </a:defRPr>
            </a:pPr>
            <a:r>
              <a:rPr sz="1050">
                <a:solidFill>
                  <a:srgbClr val="B9C9D6"/>
                </a:solidFill>
              </a:rPr>
              <a:t>Rigid transparent thermoplastic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96C981D-E84E-4EB3-9316-44F49CEDA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686050"/>
            <a:ext cx="35814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D224157-23B3-4887-B4E2-F468D0E8C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781300"/>
            <a:ext cx="3390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B9C9D6"/>
                </a:solidFill>
              </a:defRPr>
            </a:pPr>
            <a:r>
              <a:rPr sz="1050">
                <a:solidFill>
                  <a:srgbClr val="B9C9D6"/>
                </a:solidFill>
              </a:rPr>
              <a:t>Flexible hydrophilic biocompatible polymer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222F927-BE62-4B33-A809-C5B009EEC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95650"/>
            <a:ext cx="35814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D57BA83-AE24-4106-8CA4-77E7694AF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90900"/>
            <a:ext cx="3390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B9C9D6"/>
                </a:solidFill>
              </a:defRPr>
            </a:pPr>
            <a:r>
              <a:rPr sz="1050">
                <a:solidFill>
                  <a:srgbClr val="B9C9D6"/>
                </a:solidFill>
              </a:rPr>
              <a:t>Touch-screen link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5390601-F50B-45DA-85E0-320539594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295650"/>
            <a:ext cx="35814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74FB07E-DFB2-42F6-ADCC-4BD65BD1C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390900"/>
            <a:ext cx="3390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B9C9D6"/>
                </a:solidFill>
              </a:defRPr>
            </a:pPr>
            <a:r>
              <a:rPr sz="1050">
                <a:solidFill>
                  <a:srgbClr val="B9C9D6"/>
                </a:solidFill>
              </a:rPr>
              <a:t>Protective/film/substrate role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8B143F1-3507-42A7-B3BF-12306CAC8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295650"/>
            <a:ext cx="35814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9141B6B-F427-456B-8C38-9C435C9DC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390900"/>
            <a:ext cx="3390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B9C9D6"/>
                </a:solidFill>
              </a:defRPr>
            </a:pPr>
            <a:r>
              <a:rPr sz="1050">
                <a:solidFill>
                  <a:srgbClr val="B9C9D6"/>
                </a:solidFill>
              </a:rPr>
              <a:t>Coating/flexible interface role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25A62A5-1597-4EB7-BF3D-B8C06FF93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05250"/>
            <a:ext cx="35814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C246BCA-3E5A-4990-B422-680C9FD1C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00500"/>
            <a:ext cx="3390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B9C9D6"/>
                </a:solidFill>
              </a:defRPr>
            </a:pPr>
            <a:r>
              <a:rPr sz="1050">
                <a:solidFill>
                  <a:srgbClr val="B9C9D6"/>
                </a:solidFill>
              </a:rPr>
              <a:t>Main limitation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C7C1354-DD62-4382-8444-0A532C282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905250"/>
            <a:ext cx="35814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19D07ED-D8C0-4242-A7F2-84166CFEF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000500"/>
            <a:ext cx="3390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B9C9D6"/>
                </a:solidFill>
              </a:defRPr>
            </a:pPr>
            <a:r>
              <a:rPr sz="1050">
                <a:solidFill>
                  <a:srgbClr val="B9C9D6"/>
                </a:solidFill>
              </a:rPr>
              <a:t>Brittleness/heat sensitivity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CE00B18-2DE1-455F-93C2-18D66B79F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905250"/>
            <a:ext cx="35814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68499A9-3687-4C8B-B21F-5B89E03B7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000500"/>
            <a:ext cx="3390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B9C9D6"/>
                </a:solidFill>
              </a:defRPr>
            </a:pPr>
            <a:r>
              <a:rPr sz="1050">
                <a:solidFill>
                  <a:srgbClr val="B9C9D6"/>
                </a:solidFill>
              </a:rPr>
              <a:t>Water sensitivity depending on design</a:t>
            </a:r>
          </a:p>
        </p:txBody>
      </p:sp>
    </p:spTree>
    <p:extLst>
      <p:ext uri="{BB962C8B-B14F-4D97-AF65-F5344CB8AC3E}">
        <p14:creationId xmlns:p14="http://schemas.microsoft.com/office/powerpoint/2010/main" val="12306764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3AC72DC-B3F3-460D-AAEF-BF6D076D7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21F7BB-01A9-40E1-B27B-5120FA4B2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67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What is alginate hydrogel?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314C72-C773-4508-AC5C-B3DEE1B79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Define alginate hydrogel.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7936A1-97A6-4015-95FD-228747038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0557A3-C357-4A06-A199-E9A31EEE6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E3F050-57D7-495A-8925-22EFCDB16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C52D97-F2EB-4309-8654-09553C526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Alginate Hydrogel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1C7ED7-0227-42F9-ACD2-8FAE56732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33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FE3981-3E93-4C5A-B845-A2ADDD57B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38300"/>
            <a:ext cx="8001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9F1C"/>
                </a:solidFill>
              </a:defRPr>
            </a:pPr>
            <a:r>
              <a:rPr sz="3300" b="1">
                <a:solidFill>
                  <a:srgbClr val="FF9F1C"/>
                </a:solidFill>
              </a:rPr>
              <a:t>Alginate hydrogel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B0421B-633F-414D-8CE5-62B357B39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95550"/>
            <a:ext cx="10144125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F8FBFF"/>
                </a:solidFill>
              </a:defRPr>
            </a:pPr>
            <a:r>
              <a:rPr sz="2025">
                <a:solidFill>
                  <a:srgbClr val="F8FBFF"/>
                </a:solidFill>
              </a:rPr>
              <a:t>Alginate hydrogel is a water-rich polymer network formed when alginate chains crosslink, commonly with calcium ions, to create a soft gel.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600B23-5655-4A92-B654-AB4505A83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5FB52D-9BE8-4785-AF7D-351BEE03C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648200"/>
            <a:ext cx="15087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Alginate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DA6A99-8058-4A1E-82DA-ACAB953A2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986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8D1DE3-9820-475A-9936-B98F4424B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371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D12CD0-6EC1-4EA7-B7B0-6EA05D257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0" y="4648200"/>
            <a:ext cx="15087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Hydrogel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C39775-21E9-451C-A40E-E08136A28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917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E5B930-F495-4A20-9E41-FED6C7098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302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2FDC9A-3911-4623-BBA4-B93D7EBB6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8270" y="4648200"/>
            <a:ext cx="15087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Crosslinking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C302162-849E-4DA6-B7B4-444E055DA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848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627A420-ABEE-43B3-BFA0-E5826BC54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233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7276458-6880-4D74-AD75-C924EE8C9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7580" y="4648200"/>
            <a:ext cx="15087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Calcium ions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FFBBDAA-571F-4A34-A379-0339E6A68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779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9F288BD-7E20-4B50-A988-B12672BF3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164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041F159-6511-4D46-8A56-58DF8D9B3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6890" y="4648200"/>
            <a:ext cx="15087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Water-rich network</a:t>
            </a:r>
          </a:p>
        </p:txBody>
      </p:sp>
    </p:spTree>
    <p:extLst>
      <p:ext uri="{BB962C8B-B14F-4D97-AF65-F5344CB8AC3E}">
        <p14:creationId xmlns:p14="http://schemas.microsoft.com/office/powerpoint/2010/main" val="2060843306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22651FC-DC36-4B46-B38D-596AEA19B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6065FC-D271-4F35-9997-5EC376520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67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Synthesis of alginate hydrogel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3B6CC0-467C-4C96-B869-7C344FAEA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Show gelation route.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81E50F-3666-422D-9BD1-4B251A78C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F479B9-BE2F-4B3F-907E-9F0744B4B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F04F2C-8A60-4CBE-9734-63E8E8573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FF32D0-DC5D-40C5-A1DA-F637ACCC7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Alginate Hydrogel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9BAFEC-A433-4AA6-9D4E-CA163CBD2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34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F5B45A-168C-4EB4-A8AF-5BA6D85CD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4524375" cy="3543300"/>
          </a:xfrm>
          <a:prstGeom xmlns:a="http://schemas.openxmlformats.org/drawingml/2006/main" prst="roundRect">
            <a:avLst>
              <a:gd name="adj" fmla="val 2151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F630FE-916E-49D2-B3D8-E6C7C441E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76200" cy="3543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DA9DFF-2AE5-480B-B2D5-A02176E47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90700"/>
            <a:ext cx="41624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7D4FF"/>
                </a:solidFill>
              </a:defRPr>
            </a:pPr>
            <a:r>
              <a:rPr sz="1650" b="1">
                <a:solidFill>
                  <a:srgbClr val="37D4FF"/>
                </a:solidFill>
              </a:rPr>
              <a:t>Alginate hydrogel synthesis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C8720A-3B14-4644-9112-8DAEF6D96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81225"/>
            <a:ext cx="4162425" cy="293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Sodium alginate solution is mixed with calcium ions, forming ionic crosslinks between alginate chains and producing a soft hydrogel network.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81723E-5D9A-4DA6-A0A5-9ED7ECC22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24250"/>
            <a:ext cx="775335" cy="914400"/>
          </a:xfrm>
          <a:prstGeom xmlns:a="http://schemas.openxmlformats.org/drawingml/2006/main" prst="roundRect">
            <a:avLst>
              <a:gd name="adj" fmla="val 9828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EC4B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64A8C9-1720-43FB-92D9-1CA84F8B8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676650"/>
            <a:ext cx="58483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Sodium alginate solution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586FC1-1B2C-4E4B-A50D-503E41A73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1785" y="382905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2A586F-A61A-41C9-989F-D7A7E4334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635" y="3524250"/>
            <a:ext cx="775335" cy="914400"/>
          </a:xfrm>
          <a:prstGeom xmlns:a="http://schemas.openxmlformats.org/drawingml/2006/main" prst="roundRect">
            <a:avLst>
              <a:gd name="adj" fmla="val 9828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EC4B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FB4721-E55E-43AA-8129-D75F49D15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0885" y="3676650"/>
            <a:ext cx="58483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Add Ca2+ ions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E77D4C-B44A-4C8A-8448-13C7F1B76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7170" y="382905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59A9FB-5722-4B42-BD09-8055E78E7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1020" y="3524250"/>
            <a:ext cx="775335" cy="914400"/>
          </a:xfrm>
          <a:prstGeom xmlns:a="http://schemas.openxmlformats.org/drawingml/2006/main" prst="roundRect">
            <a:avLst>
              <a:gd name="adj" fmla="val 9828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EC4B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D74FA8A-B9A6-43C3-881A-CC1092622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6270" y="3676650"/>
            <a:ext cx="58483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Ionic crosslinks form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66A49F8-3C9F-4E46-8A73-62220113C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2555" y="382905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F8818E5-3E05-4E8F-9B4C-8AF9CEEC9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6405" y="3524250"/>
            <a:ext cx="775335" cy="914400"/>
          </a:xfrm>
          <a:prstGeom xmlns:a="http://schemas.openxmlformats.org/drawingml/2006/main" prst="roundRect">
            <a:avLst>
              <a:gd name="adj" fmla="val 9828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EC4B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255FD32-AB2F-4328-B509-1BD2312AD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1655" y="3676650"/>
            <a:ext cx="58483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Gel network develops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0539A52-A669-40C4-B1E3-95620D49B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7940" y="382905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414D579-A31D-4BE6-8F1C-7B807F02F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1790" y="3524250"/>
            <a:ext cx="775335" cy="914400"/>
          </a:xfrm>
          <a:prstGeom xmlns:a="http://schemas.openxmlformats.org/drawingml/2006/main" prst="roundRect">
            <a:avLst>
              <a:gd name="adj" fmla="val 9828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EC4B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6F39D0B-C4D2-4774-BC90-9819B5006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7040" y="3676650"/>
            <a:ext cx="58483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Alginate hydrogel</a:t>
            </a:r>
          </a:p>
        </p:txBody>
      </p:sp>
    </p:spTree>
    <p:extLst>
      <p:ext uri="{BB962C8B-B14F-4D97-AF65-F5344CB8AC3E}">
        <p14:creationId xmlns:p14="http://schemas.microsoft.com/office/powerpoint/2010/main" val="992347266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B9C6F06-79C4-41F4-9F5B-90F234C2E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89B17B-CC90-437F-825D-83E2B4615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67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Properties of alginate hydrogel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732528-C869-4582-A8A2-75A6527F3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Explain properties.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75AC4B-2BD3-4319-842D-2DAD6982F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4391EE-AAA6-452E-8239-B8C9E7868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F9967E-4F26-4594-B166-B49CFC1C6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CD0675-3B3D-49CD-9AA4-78E246938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Alginate Hydrogel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FEDAC1-FAF6-4F15-B15A-32AB6D29E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35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4C0C32-3C6A-47F5-A953-3D3ACC421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573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7549AB-B75C-4965-8E2C-7BD6C5E35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573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0D7C7E-3209-4AB2-ADD8-221FC2C1B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7907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7D4FF"/>
                </a:solidFill>
              </a:defRPr>
            </a:pPr>
            <a:r>
              <a:rPr sz="1650" b="1">
                <a:solidFill>
                  <a:srgbClr val="37D4FF"/>
                </a:solidFill>
              </a:rPr>
              <a:t>High water content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6536E6-61C2-4528-B524-D58F3BA39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81225"/>
            <a:ext cx="4076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Mimics soft hydrated biological environments.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87DD38-7124-4925-99E0-EFA89011D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573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8E4311-8568-430C-B048-CED239DA2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573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3E922D-AFE5-41E0-8D9C-B85BD1704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7907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Biocompatibility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8A49E6-1637-41D9-ACAF-129BF9D0D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81225"/>
            <a:ext cx="4076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Useful near cells, tissues and biointerfaces.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270A03-C41B-4EE1-B87E-22FFBD45F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099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FF23AE-21EE-4CED-883C-39FFF1957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099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B5E8FB5-9B57-4130-A8B9-19B69E4EC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433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7D4FF"/>
                </a:solidFill>
              </a:defRPr>
            </a:pPr>
            <a:r>
              <a:rPr sz="1650" b="1">
                <a:solidFill>
                  <a:srgbClr val="37D4FF"/>
                </a:solidFill>
              </a:rPr>
              <a:t>Soft mechanics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A1C437D-8A2D-4095-953F-4FC7D8CD1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33825"/>
            <a:ext cx="4076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Can match flexible biological surfaces better than hard plastics.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4091724-20E5-46DC-92B5-C99D191D0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099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8C0CA0E-50F7-4056-8943-EAD8C8F34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099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754F04E-FDB8-4E73-9C6A-4D50638FB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5433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Ion-responsive gelation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A3BC22E-4FF4-4AFC-B118-C39B03426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933825"/>
            <a:ext cx="4076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Crosslinking can be controlled through calcium concentration.</a:t>
            </a:r>
          </a:p>
        </p:txBody>
      </p:sp>
    </p:spTree>
    <p:extLst>
      <p:ext uri="{BB962C8B-B14F-4D97-AF65-F5344CB8AC3E}">
        <p14:creationId xmlns:p14="http://schemas.microsoft.com/office/powerpoint/2010/main" val="1380690982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7A2EEC7-CD74-431B-B176-432C6BD52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5DFD59-15B1-4F2A-892B-8F96AE567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67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Alginate hydrogel in BCI applications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7FC669-7122-4328-BFCE-8ADB4D258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Explain BCI relevance.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21470B-6F85-44BA-A83B-DA9FED1D4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154D06-F3D6-4A70-93F9-9080186F1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CCF0C4-9FEF-4C77-8F8F-72225707E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FB0691-ED7F-48BA-9784-CFD2EDE85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Alginate Hydrogel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EA6254-C55F-4145-B955-198444309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36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3596F8-E93C-4095-8185-014639B60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4524375" cy="3543300"/>
          </a:xfrm>
          <a:prstGeom xmlns:a="http://schemas.openxmlformats.org/drawingml/2006/main" prst="roundRect">
            <a:avLst>
              <a:gd name="adj" fmla="val 2151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9EE688-0765-4B8B-BE6A-58200584D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76200" cy="3543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5003DE-ED4B-44F2-9E09-F003F032C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90700"/>
            <a:ext cx="41624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7D4FF"/>
                </a:solidFill>
              </a:defRPr>
            </a:pPr>
            <a:r>
              <a:rPr sz="1650" b="1">
                <a:solidFill>
                  <a:srgbClr val="37D4FF"/>
                </a:solidFill>
              </a:rPr>
              <a:t>BCI application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04DABE-E5E8-42C9-B870-E1F3C57BA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81225"/>
            <a:ext cx="4162425" cy="293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Soft hydrogels can act as interface materials between electronic components and biological tissue, improving contact, comfort and signal coupling concepts.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0B08F0-CFAA-41D2-9939-A68C2C24B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24250"/>
            <a:ext cx="775335" cy="914400"/>
          </a:xfrm>
          <a:prstGeom xmlns:a="http://schemas.openxmlformats.org/drawingml/2006/main" prst="roundRect">
            <a:avLst>
              <a:gd name="adj" fmla="val 9828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EC4B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4AEE2E-611D-4F3F-9425-CE3C16B3C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676650"/>
            <a:ext cx="58483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Brain / tissue interface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6F70D7-664A-4461-B216-4575BAAC6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1785" y="382905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01692E-BAF7-43EF-8A3F-972CC0BAB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635" y="3524250"/>
            <a:ext cx="775335" cy="914400"/>
          </a:xfrm>
          <a:prstGeom xmlns:a="http://schemas.openxmlformats.org/drawingml/2006/main" prst="roundRect">
            <a:avLst>
              <a:gd name="adj" fmla="val 9828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EC4B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043873-CCEC-4FE8-868A-07EE00D7A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0885" y="3676650"/>
            <a:ext cx="58483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Soft hydrogel layer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053AD2-58CC-4ADF-A0F3-D501E6835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7170" y="382905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FB3C41-9965-4EE8-A1E0-1F9032741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1020" y="3524250"/>
            <a:ext cx="775335" cy="914400"/>
          </a:xfrm>
          <a:prstGeom xmlns:a="http://schemas.openxmlformats.org/drawingml/2006/main" prst="roundRect">
            <a:avLst>
              <a:gd name="adj" fmla="val 9828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EC4B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F456688-E92D-4AAA-9A2D-9F7C8894E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6270" y="3676650"/>
            <a:ext cx="58483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Electrode contact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D97D203-F191-4168-B90E-858E080A9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2555" y="382905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1084DF2-10CE-49E1-A89D-A65609807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6405" y="3524250"/>
            <a:ext cx="775335" cy="914400"/>
          </a:xfrm>
          <a:prstGeom xmlns:a="http://schemas.openxmlformats.org/drawingml/2006/main" prst="roundRect">
            <a:avLst>
              <a:gd name="adj" fmla="val 9828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EC4B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C8B8C24-3C26-4883-9D28-B8E0417BB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1655" y="3676650"/>
            <a:ext cx="58483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Signal coupling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4A2282C-7218-4E42-9A86-E2C4877A7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7940" y="382905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B908A4C-901A-4D01-8951-A17105FCE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1790" y="3524250"/>
            <a:ext cx="775335" cy="914400"/>
          </a:xfrm>
          <a:prstGeom xmlns:a="http://schemas.openxmlformats.org/drawingml/2006/main" prst="roundRect">
            <a:avLst>
              <a:gd name="adj" fmla="val 9828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EC4B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FB9447B-0E74-4972-9183-2A26D3E05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7040" y="3676650"/>
            <a:ext cx="58483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BCI device function</a:t>
            </a:r>
          </a:p>
        </p:txBody>
      </p:sp>
    </p:spTree>
    <p:extLst>
      <p:ext uri="{BB962C8B-B14F-4D97-AF65-F5344CB8AC3E}">
        <p14:creationId xmlns:p14="http://schemas.microsoft.com/office/powerpoint/2010/main" val="100479193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FACE92A-D147-4B4C-8B58-0F145E0C6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2BAFE7-DC69-4166-BCB5-E4F994396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67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Biomaterials revision comparison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21DF2F-2516-4EF2-90D9-1C9A58486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Connect PLA, PEG and alginate.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4F9DC5-6842-4194-8BB1-087B748A9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5A91C7-8BB1-4EA8-9681-91EC8D6DF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F45B17-2CD0-4045-8F88-25CDCDFC3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0A4E5A-321B-4425-B25E-45618C38E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Biomaterials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D0FE38-E959-4164-BD3E-323FF3A17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37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15E258-19D2-4FF2-ADAB-D18A9A237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43050"/>
            <a:ext cx="3581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8FBC8F-CD73-4DBD-9217-81EEF4AC4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76400"/>
            <a:ext cx="3390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6131D"/>
                </a:solidFill>
              </a:defRPr>
            </a:pPr>
            <a:r>
              <a:rPr sz="1275" b="1">
                <a:solidFill>
                  <a:srgbClr val="06131D"/>
                </a:solidFill>
              </a:rPr>
              <a:t>Biomaterial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D6B015-503F-4460-9D0C-607A99407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543050"/>
            <a:ext cx="3581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33EA33-AA62-423D-9398-D5C342ACB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676400"/>
            <a:ext cx="3390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6131D"/>
                </a:solidFill>
              </a:defRPr>
            </a:pPr>
            <a:r>
              <a:rPr sz="1275" b="1">
                <a:solidFill>
                  <a:srgbClr val="06131D"/>
                </a:solidFill>
              </a:rPr>
              <a:t>Core property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1FD692-A335-4D53-A4BC-F4F5F52BE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543050"/>
            <a:ext cx="3581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24CEA2-F728-4317-BAE7-98D3C77B0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676400"/>
            <a:ext cx="3390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6131D"/>
                </a:solidFill>
              </a:defRPr>
            </a:pPr>
            <a:r>
              <a:rPr sz="1275" b="1">
                <a:solidFill>
                  <a:srgbClr val="06131D"/>
                </a:solidFill>
              </a:rPr>
              <a:t>Application in module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00ECDE-D83E-4A32-B907-57AC6FC9E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76450"/>
            <a:ext cx="35814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34FAF9-98EE-4A22-9C7A-2291137ED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71700"/>
            <a:ext cx="3390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B9C9D6"/>
                </a:solidFill>
              </a:defRPr>
            </a:pPr>
            <a:r>
              <a:rPr sz="1050">
                <a:solidFill>
                  <a:srgbClr val="B9C9D6"/>
                </a:solidFill>
              </a:rPr>
              <a:t>PLA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3CA8DD-D24B-46E0-BE19-1C958C61E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076450"/>
            <a:ext cx="35814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FE3183-F3A9-4A87-B078-4B6FC136D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171700"/>
            <a:ext cx="3390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B9C9D6"/>
                </a:solidFill>
              </a:defRPr>
            </a:pPr>
            <a:r>
              <a:rPr sz="1050">
                <a:solidFill>
                  <a:srgbClr val="B9C9D6"/>
                </a:solidFill>
              </a:rPr>
              <a:t>Biodegradable transparent thermoplastic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852928-D939-477D-8A0C-619D41625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076450"/>
            <a:ext cx="35814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7E3C1E-A61A-4CB5-A57B-E4F37F7FD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171700"/>
            <a:ext cx="3390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B9C9D6"/>
                </a:solidFill>
              </a:defRPr>
            </a:pPr>
            <a:r>
              <a:rPr sz="1050">
                <a:solidFill>
                  <a:srgbClr val="B9C9D6"/>
                </a:solidFill>
              </a:rPr>
              <a:t>Touch-screen films/substrates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5884B5A-390A-4588-9B10-693BF6E8F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86050"/>
            <a:ext cx="35814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474ABAC-D0FB-4A9C-9A5C-352A4C651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81300"/>
            <a:ext cx="3390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B9C9D6"/>
                </a:solidFill>
              </a:defRPr>
            </a:pPr>
            <a:r>
              <a:rPr sz="1050">
                <a:solidFill>
                  <a:srgbClr val="B9C9D6"/>
                </a:solidFill>
              </a:rPr>
              <a:t>PEG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7E53215-199B-4A74-B995-7C48DAC80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686050"/>
            <a:ext cx="35814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B08A8C1-6171-46CC-A883-137671879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781300"/>
            <a:ext cx="3390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B9C9D6"/>
                </a:solidFill>
              </a:defRPr>
            </a:pPr>
            <a:r>
              <a:rPr sz="1050">
                <a:solidFill>
                  <a:srgbClr val="B9C9D6"/>
                </a:solidFill>
              </a:rPr>
              <a:t>Hydrophilic flexible biocompatible polymer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752AF2F-C123-492B-99E8-C9A003880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686050"/>
            <a:ext cx="35814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EA4A7E8-5439-42FB-8A61-51AB27683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781300"/>
            <a:ext cx="3390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B9C9D6"/>
                </a:solidFill>
              </a:defRPr>
            </a:pPr>
            <a:r>
              <a:rPr sz="1050">
                <a:solidFill>
                  <a:srgbClr val="B9C9D6"/>
                </a:solidFill>
              </a:rPr>
              <a:t>Touch-screen coatings/interfaces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8C5C848-CE62-48E2-A6B8-EAACE7C9B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95650"/>
            <a:ext cx="35814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676E007-DBE9-4BB0-820B-31AB637CF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90900"/>
            <a:ext cx="3390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B9C9D6"/>
                </a:solidFill>
              </a:defRPr>
            </a:pPr>
            <a:r>
              <a:rPr sz="1050">
                <a:solidFill>
                  <a:srgbClr val="B9C9D6"/>
                </a:solidFill>
              </a:rPr>
              <a:t>Alginate hydrogel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79FE44F-0CB9-49FD-8282-0A07A08FC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295650"/>
            <a:ext cx="35814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7192BF7-C76A-48FA-BAFF-7CD709973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390900"/>
            <a:ext cx="3390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B9C9D6"/>
                </a:solidFill>
              </a:defRPr>
            </a:pPr>
            <a:r>
              <a:rPr sz="1050">
                <a:solidFill>
                  <a:srgbClr val="B9C9D6"/>
                </a:solidFill>
              </a:rPr>
              <a:t>Soft water-rich crosslinked gel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EFA5146-799E-439C-B65E-EBF56C92A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295650"/>
            <a:ext cx="35814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296A623-598B-4374-B05F-89281CFBA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390900"/>
            <a:ext cx="3390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B9C9D6"/>
                </a:solidFill>
              </a:defRPr>
            </a:pPr>
            <a:r>
              <a:rPr sz="1050">
                <a:solidFill>
                  <a:srgbClr val="B9C9D6"/>
                </a:solidFill>
              </a:rPr>
              <a:t>BCI interface material</a:t>
            </a:r>
          </a:p>
        </p:txBody>
      </p:sp>
    </p:spTree>
    <p:extLst>
      <p:ext uri="{BB962C8B-B14F-4D97-AF65-F5344CB8AC3E}">
        <p14:creationId xmlns:p14="http://schemas.microsoft.com/office/powerpoint/2010/main" val="357549445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3F0262A-0215-4236-98B8-1413E0623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54D673-5248-44CB-ABB7-2063FAB29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67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What is e-waste?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DDC3F5-3BD2-4928-87B1-488F390D0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Define e-waste.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46CB19-5519-4835-9FDF-83F1E88DA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1386DE-EBB5-4AD5-8D0A-81E2B8380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13EDE9-6EC6-4135-BC5F-D2C74D906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142A83-6466-4C17-B7D8-751DF854C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E-Waste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A518BE-BBAC-422D-A160-8975D6992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38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53E89C-AC0D-4A7C-A42B-EA32EADF4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38300"/>
            <a:ext cx="8001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9F1C"/>
                </a:solidFill>
              </a:defRPr>
            </a:pPr>
            <a:r>
              <a:rPr sz="3300" b="1">
                <a:solidFill>
                  <a:srgbClr val="FF9F1C"/>
                </a:solidFill>
              </a:rPr>
              <a:t>E-waste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902567-1630-401F-B40A-2496EA4AC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95550"/>
            <a:ext cx="10144125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F8FBFF"/>
                </a:solidFill>
              </a:defRPr>
            </a:pPr>
            <a:r>
              <a:rPr sz="2025">
                <a:solidFill>
                  <a:srgbClr val="F8FBFF"/>
                </a:solidFill>
              </a:rPr>
              <a:t>E-waste is discarded electrical and electronic equipment and its components, including devices, circuit boards, batteries, cables and peripherals.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15BEA2-8334-4F75-98D7-0FC6A5EC0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8231AF-99B5-4266-9F03-A811A6C05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648200"/>
            <a:ext cx="15087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Discarded electronics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94CC24-A25A-4869-A3F6-12C5006AC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986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7617C4-A8A2-4BB5-8931-CC1378303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371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BB4034-DA49-4439-B15B-2F157FA97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0" y="4648200"/>
            <a:ext cx="15087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Components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099FFE-1B95-407A-BB33-B7509DBA4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917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126B1D-D5DF-44AF-B69D-1EA44A5FE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302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C7B1F9-C93C-4AC7-8AF0-5678A1990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8270" y="4648200"/>
            <a:ext cx="15087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Metals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2DF285-94CF-4ED8-82AA-D4109DDDA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848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376845-AFFA-413A-95BC-1709B6B29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233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E498F40-1798-475F-9C49-6CF01D79C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7580" y="4648200"/>
            <a:ext cx="15087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Plastics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04993FB-4956-4E43-8786-87486448F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779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F1DC40B-5D9D-42D1-85FE-1C229D271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164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45CFD68-F136-454F-933C-68BDE043A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6890" y="4648200"/>
            <a:ext cx="15087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Hazardous substances</a:t>
            </a:r>
          </a:p>
        </p:txBody>
      </p:sp>
    </p:spTree>
    <p:extLst>
      <p:ext uri="{BB962C8B-B14F-4D97-AF65-F5344CB8AC3E}">
        <p14:creationId xmlns:p14="http://schemas.microsoft.com/office/powerpoint/2010/main" val="1757838320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2F4DBE7-BBC6-4892-8121-92939270B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4B38B6-F3AC-4ECA-931E-B1FD0603A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67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Sources of e-waste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B97B05-4B21-4040-A819-963893764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List major sources.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5FCC9D-03A7-432B-A057-5AA797D22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299245-93C1-45B7-B6B8-75424928F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CA607D-118E-47FB-AB1C-DBC99B7B9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F3ED2E-F226-481E-B1D6-286EDC504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E-Waste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0D8E59-BAD1-49AE-8C69-E643388E0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39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6C39C6-8D9A-4341-BDAF-061F0836A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573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D5054B-41B1-4E89-A02A-0BB95BF76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573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8AEB94-A378-44A0-B85C-92C005F6B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7907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7D4FF"/>
                </a:solidFill>
              </a:defRPr>
            </a:pPr>
            <a:r>
              <a:rPr sz="1650" b="1">
                <a:solidFill>
                  <a:srgbClr val="37D4FF"/>
                </a:solidFill>
              </a:rPr>
              <a:t>Consumer devices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D7CB1F-52B6-4E1C-B85E-996A7990B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81225"/>
            <a:ext cx="4076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Phones, laptops, tablets, TVs and chargers.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52EAC4-5864-4B84-8FED-1A6B88294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573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08CDD9-034C-4F88-A59D-0170D34F0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573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0AC112-87C7-4B8B-9789-1445CD733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7907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IT infrastructure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83D043-4532-4AEF-BB02-6A6CBD9E4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81225"/>
            <a:ext cx="4076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Servers, networking devices, storage drives and peripherals.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E16774-586E-425A-9D3F-606E1CAD4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099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B2974F-C314-4E89-B015-78D834CFB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099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F2E8DB-C535-4E78-8F11-853C2D4A0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433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7D4FF"/>
                </a:solidFill>
              </a:defRPr>
            </a:pPr>
            <a:r>
              <a:rPr sz="1650" b="1">
                <a:solidFill>
                  <a:srgbClr val="37D4FF"/>
                </a:solidFill>
              </a:rPr>
              <a:t>Industrial electronics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86843A-6324-46F2-A60B-8449283A3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33825"/>
            <a:ext cx="4076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Control boards, sensors and automation equipment.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AEC1706-06D6-44E0-A333-7F8FC3238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099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36ADA82-70D7-4838-947E-769BD1012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099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F8D29EE-36F9-4ACF-99D0-E7A084E74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5433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Household appliances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9F1DD39-B174-452F-A79E-248D596F8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933825"/>
            <a:ext cx="4076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Refrigerators, washing machines and small electronics.</a:t>
            </a:r>
          </a:p>
        </p:txBody>
      </p:sp>
    </p:spTree>
    <p:extLst>
      <p:ext uri="{BB962C8B-B14F-4D97-AF65-F5344CB8AC3E}">
        <p14:creationId xmlns:p14="http://schemas.microsoft.com/office/powerpoint/2010/main" val="1123963262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145F3DC-7553-420B-A1CD-AE128E4E7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F78043-FE8E-415D-92DA-E83DFB755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67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Composition of e-waste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4658B5-A41E-41EA-909C-5D6537EEA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Explain what e-waste contains.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FB2DF1-63D2-445D-843F-E6D778E6D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4BA782-0EDA-4B12-8445-D6A459BBB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8D36F3-7595-48B8-8570-A42CF3E9C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FDE245-EE31-486B-B3ED-5C727DD68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E-Waste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E9989F-EB8F-4BD7-A314-FD94223A3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40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4DB1F1-3145-4D97-86E0-1D924698C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573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56E2D1-E236-4B57-929E-B0CD23AC1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573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A2E24A-F59A-4562-A0DD-EA1708BBF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7907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7D4FF"/>
                </a:solidFill>
              </a:defRPr>
            </a:pPr>
            <a:r>
              <a:rPr sz="1650" b="1">
                <a:solidFill>
                  <a:srgbClr val="37D4FF"/>
                </a:solidFill>
              </a:rPr>
              <a:t>Valuable metals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6B0D18-B849-4740-911D-052FA0917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81225"/>
            <a:ext cx="4076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Copper, aluminium, gold, silver and palladium.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547735-D615-4B90-B97B-CAB8BE326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573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CDB9C7-4232-4F4F-941D-F32E3593D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573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C6D488-50DC-4741-8D6E-10A3A5B10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7907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Hazardous metals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FB5662-6A71-42CE-BC08-31096BB9A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81225"/>
            <a:ext cx="4076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Lead, cadmium, mercury and chromium compounds may be present.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76D165-7C13-422C-9531-201D6A0EE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099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51E370-6225-4A51-B4B1-67D06B303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099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9872F7-F647-4B23-B5B5-F6A9A10AF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433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7D4FF"/>
                </a:solidFill>
              </a:defRPr>
            </a:pPr>
            <a:r>
              <a:rPr sz="1650" b="1">
                <a:solidFill>
                  <a:srgbClr val="37D4FF"/>
                </a:solidFill>
              </a:rPr>
              <a:t>Polymers and flame retardants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6AA45B3-964C-4E00-A665-929CB7B0C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33825"/>
            <a:ext cx="4076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Plastic housings, cables and circuit-board resins.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B181351-E8BE-4437-852E-1DC480605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099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3B7B24A-D4EC-49F7-BB4E-445B1EDB3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099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A7B479B-D4A9-45BD-97A1-133EC3CCB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5433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Glass and ceramics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CDDC6A3-7325-4B13-9408-59826ED14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933825"/>
            <a:ext cx="4076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Displays, screens and insulating components.</a:t>
            </a:r>
          </a:p>
        </p:txBody>
      </p:sp>
    </p:spTree>
    <p:extLst>
      <p:ext uri="{BB962C8B-B14F-4D97-AF65-F5344CB8AC3E}">
        <p14:creationId xmlns:p14="http://schemas.microsoft.com/office/powerpoint/2010/main" val="986964513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A113E2E-E88D-448D-8C80-368038AAD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A9D52C-ADEC-43E7-8B68-9BC12074E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67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Why e-waste is difficult to manage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FDFFA6-F6CA-4339-A076-DEB9AF91F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Explain complexity.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4A1FC3-BE2E-4AE7-ACEF-47CE6689A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A0C914-6917-45D2-9DC2-869E12F51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622759-6092-46F1-8576-01B0A4F85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B639B8-D7E8-4F29-A280-B83D1DBC3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E-Waste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9E18AA-F952-4CE9-94D7-A81C02F7A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41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81DDC6-453E-414B-BB66-237A55598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DDA092-AC21-4A30-84AF-D6D7246BA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57525"/>
            <a:ext cx="16611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Mixed product design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1193C2-2B82-40A2-8145-6E335EEBC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461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4B2516-FDF4-4E72-8660-E0CEC6BE5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846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0A3DBD-3068-4E0F-819F-862C85072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3710" y="3057525"/>
            <a:ext cx="16611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Many tiny components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10707D-33DA-40BB-8CBC-7AB83B61C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F77F53-1490-45EB-9A62-CD272873E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017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F2F02B-D35D-42A9-8A1B-B103CE273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5420" y="3057525"/>
            <a:ext cx="16611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Hazardous and valuable materials together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B99E10-0084-4671-9CD0-24A4AAAB5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803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2FDBBC-606C-41F0-9FBC-B8ACB457C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188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E12F1F-659D-41CC-989C-9B0ADDE36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7130" y="3057525"/>
            <a:ext cx="16611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Manual separation is hard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5226716-1C6E-4A57-8D2B-0115536F3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974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1B64794-09A1-416D-B630-9493744AB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359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9D6499C-090B-4207-98BB-E2D56A253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8840" y="3057525"/>
            <a:ext cx="16611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Improper recycling causes harm</a:t>
            </a:r>
          </a:p>
        </p:txBody>
      </p:sp>
    </p:spTree>
    <p:extLst>
      <p:ext uri="{BB962C8B-B14F-4D97-AF65-F5344CB8AC3E}">
        <p14:creationId xmlns:p14="http://schemas.microsoft.com/office/powerpoint/2010/main" val="734482087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AD99045-A5DD-4DCD-9522-BB7A38A97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E70982-1D24-435C-AA7A-BA1062F11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67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Effects on environment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A76DC4-88F8-4337-A146-BD7F1B7E9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Explain environmental harm.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ABC61E-AF47-40DC-B42D-4DF0A2F06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F3EB74-0578-45C5-9E7D-07C7ACBF5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5AF065-A141-4599-BF3F-7115CEEC5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A6A8DF-16A5-4538-AFE5-B04578C1A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E-Waste Impacts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B71134-B74B-432F-A69B-9DF2C3E68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42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0AFDB6-3E88-4EBC-A746-DE47112CE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573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A70C77-BB40-47EF-9053-4A050D628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573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94A26B-0AD3-410D-A6A5-0D5AF2BE7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7907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7D4FF"/>
                </a:solidFill>
              </a:defRPr>
            </a:pPr>
            <a:r>
              <a:rPr sz="1650" b="1">
                <a:solidFill>
                  <a:srgbClr val="37D4FF"/>
                </a:solidFill>
              </a:rPr>
              <a:t>Soil contamination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A5B68F-DDAF-4A08-9F44-47DE67C78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81225"/>
            <a:ext cx="4076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Heavy metals can enter soil from unsafe dumping.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DF6F8A-229A-4769-8392-46D71D062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573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5065DB-A7F2-4A27-8DCD-9884D4EDD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573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E4558B-40A4-44A6-868F-52FCFD321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7907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Water pollution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1D8802-720E-42A5-B6AA-54C875D0F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81225"/>
            <a:ext cx="4076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Leachate can contaminate groundwater and surface water.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B9C4B1-0241-46DE-88B4-60FED5FAF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099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214A2A-55D3-4EB6-B68A-B974C1E62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099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4E4EF7-1881-4DC3-BD1E-F7ED0C8C9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433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7D4FF"/>
                </a:solidFill>
              </a:defRPr>
            </a:pPr>
            <a:r>
              <a:rPr sz="1650" b="1">
                <a:solidFill>
                  <a:srgbClr val="37D4FF"/>
                </a:solidFill>
              </a:rPr>
              <a:t>Air pollution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2B96B17-2052-4B59-A0BB-60C36C377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33825"/>
            <a:ext cx="4076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Open burning releases toxic fumes and particulates.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1BF03B0-F7A9-4F7C-82EE-0EC9751B6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099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F99395B-B2A4-4942-93B6-FE67FF983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099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984B379-DE67-471E-AF1A-7D12BF329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5433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Resource loss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6635748-9326-4437-856B-520102917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933825"/>
            <a:ext cx="4076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Valuable metals are wasted when devices are not recovered.</a:t>
            </a:r>
          </a:p>
        </p:txBody>
      </p:sp>
    </p:spTree>
    <p:extLst>
      <p:ext uri="{BB962C8B-B14F-4D97-AF65-F5344CB8AC3E}">
        <p14:creationId xmlns:p14="http://schemas.microsoft.com/office/powerpoint/2010/main" val="234082361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591C93E-90E5-4AD5-B3A0-2C1E13630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6761DB-DA24-4467-A727-A85C5242B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67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Effects on human health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7F1E06-20EC-4615-8FEF-98F91A861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Explain health risk.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954B69-34E1-4618-B84A-B400F4055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14A1DF-3279-4AFD-BCE6-C61D756E0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6981BF-56CA-42FF-A941-BB36DD3C5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B3822E-5ADE-4D66-8295-7FEFF6367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E-Waste Impacts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2C86A0-65DA-42F7-99B9-8312BF713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43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94C6DF-5528-499B-AA9A-403023133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573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BDDD84-BC7D-4D47-BB05-9D3F902A1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573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C04A01-E522-4D4D-815D-B3142557C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7907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7D4FF"/>
                </a:solidFill>
              </a:defRPr>
            </a:pPr>
            <a:r>
              <a:rPr sz="1650" b="1">
                <a:solidFill>
                  <a:srgbClr val="37D4FF"/>
                </a:solidFill>
              </a:rPr>
              <a:t>Respiratory problems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52A216-6518-4141-A2BE-7FE96E7D2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81225"/>
            <a:ext cx="4076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Burning and dust exposure affect lungs.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E8D787-07CA-4FA3-A817-295186206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573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6943A2-4478-451C-B599-3FABF1AF4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573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E7A740-F855-4430-8DEC-F3EA276CC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7907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Neurological effects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75C772-594D-433F-A705-00EF77B64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81225"/>
            <a:ext cx="4076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Lead and mercury exposure can damage nervous systems.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914E33-6194-4969-9C91-AB3CC44F2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099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F742DF-82F9-4206-8036-A169BBD0C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099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EFD925-04D9-40C8-890F-278962A87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433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7D4FF"/>
                </a:solidFill>
              </a:defRPr>
            </a:pPr>
            <a:r>
              <a:rPr sz="1650" b="1">
                <a:solidFill>
                  <a:srgbClr val="37D4FF"/>
                </a:solidFill>
              </a:rPr>
              <a:t>Skin and eye irritation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B04EDC7-EE56-42C9-A9ED-993EE5628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33825"/>
            <a:ext cx="4076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Acids, solvents and dust can harm workers.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FB73948-AFFE-4A4A-AAA4-3ED125977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099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06A408-A485-4EEE-83EC-C04FCFB1A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099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FB02D51-B1E9-46EF-9522-ECDA04868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5433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Long-term toxicity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9D6A14F-7A56-4DCC-BD6C-498A97DC0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933825"/>
            <a:ext cx="4076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Bioaccumulation and chronic exposure create serious risk.</a:t>
            </a:r>
          </a:p>
        </p:txBody>
      </p:sp>
    </p:spTree>
    <p:extLst>
      <p:ext uri="{BB962C8B-B14F-4D97-AF65-F5344CB8AC3E}">
        <p14:creationId xmlns:p14="http://schemas.microsoft.com/office/powerpoint/2010/main" val="1844159382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01D6B1F-E870-46B8-A441-41C847FE6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2A3A9C-4728-4A8F-8914-FAB9E2A0C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67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Responsible e-waste management 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42D628-EE88-4C30-A130-28290A266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Show management hierarchy.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E75322-A8AB-4C31-906F-5B6117B25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5ED01B-A965-4179-8968-C92947D51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7A2B37-54A2-4DAF-B9F9-463C167B9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FF9585-4E8D-4F84-9DE6-3761D921E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E-Waste Management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23FFDE-BE47-41D2-B8F2-61A403703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44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08BF65-BCDC-4CCC-8F49-358772BF9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10E67D-CFC3-4D05-8D9C-E400A41B4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57525"/>
            <a:ext cx="16611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Reduce and repair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7ADA3F-4127-49CC-8DD0-E556A823E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461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946451-D7C8-45D2-B458-84F052C71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846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9CC906-14A0-443A-B487-DE6FF1EB6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3710" y="3057525"/>
            <a:ext cx="16611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Collect separately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D79360-EF64-4168-98EC-8C638D868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6123A2-DCD7-4BA3-A9F7-B262F8105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017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E3CEE1-54CD-46D0-BB6B-2BCAC26DE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5420" y="3057525"/>
            <a:ext cx="16611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Sort and dismantle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5357CA-E949-4FD8-A5FF-421C8A325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803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C40BB7-3948-4639-9035-BE4DDD03E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188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38D39B-8777-41DB-BA63-8978C08FD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7130" y="3057525"/>
            <a:ext cx="16611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Recover materials safely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578F306-1764-4594-B4CA-705437FA0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974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DB08BC8-0852-412C-AA71-093CCFE3B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359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EF37537-72E4-4B4A-8436-1584110D2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8840" y="3057525"/>
            <a:ext cx="16611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Treat residues responsibly</a:t>
            </a:r>
          </a:p>
        </p:txBody>
      </p:sp>
    </p:spTree>
    <p:extLst>
      <p:ext uri="{BB962C8B-B14F-4D97-AF65-F5344CB8AC3E}">
        <p14:creationId xmlns:p14="http://schemas.microsoft.com/office/powerpoint/2010/main" val="931029934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C7307AE-1FED-460B-99B2-8F3BDDB9F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BA3558-D501-4D48-9454-65165354C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67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Why AI helps e-waste management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630AD3-479A-41EB-8B61-AB8474BBF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Introduce AI role.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524388-A5AE-46E9-B3C8-1A226A0C8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97D470-6271-4763-9211-F19DE0785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378777-0690-4833-918B-B0AB7BEDA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E00775-A645-48B0-BEB9-107793040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AI in E-Waste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AE38E2-DC03-425D-B4F1-6AF59A4E5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45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DF77DC-E7A9-4054-BE8E-7705D6B61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573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0A24D2-49B1-4D14-B498-443F34513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573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72F731-CE58-4A06-A684-8E8A10D12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7907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7D4FF"/>
                </a:solidFill>
              </a:defRPr>
            </a:pPr>
            <a:r>
              <a:rPr sz="1650" b="1">
                <a:solidFill>
                  <a:srgbClr val="37D4FF"/>
                </a:solidFill>
              </a:rPr>
              <a:t>Recognition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A31569-0FAC-4303-AFD6-8D63D0BF8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81225"/>
            <a:ext cx="4076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Computer vision can identify device types and components.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2633E0-DCBC-4FB1-A201-A7F6B6783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573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941932-814B-4C23-AFD0-4A5C33D3A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573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0F4E3B-223D-4CD5-9BC4-F137D8F6E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7907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Sorting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778081-6A44-41D1-99B4-6BCDB6A08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81225"/>
            <a:ext cx="4076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AI-guided systems can separate materials faster and more accurately.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A2EB13-1DE3-49D4-B3F3-1F102095B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099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ABBCFB-27FE-4677-8C0E-F394E9B3F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099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620773-F651-4911-AFAF-A12989E3A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433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7D4FF"/>
                </a:solidFill>
              </a:defRPr>
            </a:pPr>
            <a:r>
              <a:rPr sz="1650" b="1">
                <a:solidFill>
                  <a:srgbClr val="37D4FF"/>
                </a:solidFill>
              </a:rPr>
              <a:t>Tracking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70B234A-D049-4F97-ADED-BFA346AA2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33825"/>
            <a:ext cx="4076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Data systems can trace collection, transport and processing.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DBBDA42-BE35-468D-A6F2-D1E02A433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099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576BCE7-7E3E-4694-BDA8-B31BCB050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099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3329CEC-92CE-4DF2-B088-D8B006E5E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5433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Prediction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0C18989-1E2F-4C6F-8C24-06694BE47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933825"/>
            <a:ext cx="4076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Models can forecast e-waste volume and recycling demand.</a:t>
            </a:r>
          </a:p>
        </p:txBody>
      </p:sp>
    </p:spTree>
    <p:extLst>
      <p:ext uri="{BB962C8B-B14F-4D97-AF65-F5344CB8AC3E}">
        <p14:creationId xmlns:p14="http://schemas.microsoft.com/office/powerpoint/2010/main" val="395292826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BFA2130-3047-4A62-B2FE-B48884CC8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209563-4C8F-4667-99A1-E0DFE5684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67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AI-based e-waste management process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42CDCB-BE8B-423C-86D6-83DAE37F7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Show workflow.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203F3D-6919-4C13-AE6C-B96B3D59C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1CD755-24A4-4653-9C62-51CE883F1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77A4EA-DFA6-4EB9-9C78-38EAAF912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F40937-F5D7-4472-A357-FEB5F9554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AI in E-Waste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471ECC-C13B-46A0-8A47-6555DC906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46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D8FBDE-795C-4A7F-A9D1-06CB51F44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4524375" cy="3543300"/>
          </a:xfrm>
          <a:prstGeom xmlns:a="http://schemas.openxmlformats.org/drawingml/2006/main" prst="roundRect">
            <a:avLst>
              <a:gd name="adj" fmla="val 2151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05006B-72A2-454D-BF47-EA118EBB0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76200" cy="3543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CBDA1C-7E59-4701-8CFC-2CC662DBC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90700"/>
            <a:ext cx="41624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7D4FF"/>
                </a:solidFill>
              </a:defRPr>
            </a:pPr>
            <a:r>
              <a:rPr sz="1650" b="1">
                <a:solidFill>
                  <a:srgbClr val="37D4FF"/>
                </a:solidFill>
              </a:rPr>
              <a:t>AI management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663750-19E2-40C1-9226-1FD2CCB5D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81225"/>
            <a:ext cx="4162425" cy="293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AI systems can combine imaging, sensors and data analytics to classify e-waste, guide sorting, optimize recovery and monitor compliance.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A860F3-7370-47B9-9538-F4CD32CDA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24250"/>
            <a:ext cx="775335" cy="914400"/>
          </a:xfrm>
          <a:prstGeom xmlns:a="http://schemas.openxmlformats.org/drawingml/2006/main" prst="roundRect">
            <a:avLst>
              <a:gd name="adj" fmla="val 9828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EC4B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64EB44-46E6-42DE-A31C-4D25280AC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676650"/>
            <a:ext cx="58483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Image / sensor data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8BFC59-2D30-4D0C-B290-6136E823F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1785" y="382905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4CF684-DB8E-4D6D-B439-C4853365E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635" y="3524250"/>
            <a:ext cx="775335" cy="914400"/>
          </a:xfrm>
          <a:prstGeom xmlns:a="http://schemas.openxmlformats.org/drawingml/2006/main" prst="roundRect">
            <a:avLst>
              <a:gd name="adj" fmla="val 9828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EC4B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2B18BB-C161-47FA-BEB3-261251EC9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0885" y="3676650"/>
            <a:ext cx="58483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AI classification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C9A3C3-E221-4EE2-8941-225960283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7170" y="382905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03F42E-B17C-4D52-A4C3-2AD1F67F9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1020" y="3524250"/>
            <a:ext cx="775335" cy="914400"/>
          </a:xfrm>
          <a:prstGeom xmlns:a="http://schemas.openxmlformats.org/drawingml/2006/main" prst="roundRect">
            <a:avLst>
              <a:gd name="adj" fmla="val 9828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EC4B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EA4159A-AFEC-4401-89A5-00DBA2B29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6270" y="3676650"/>
            <a:ext cx="58483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Robotic or guided sorting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CC2441D-623B-49B0-B947-6E362975B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2555" y="382905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EB794F2-AE76-4087-8AA8-C6D4741AB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6405" y="3524250"/>
            <a:ext cx="775335" cy="914400"/>
          </a:xfrm>
          <a:prstGeom xmlns:a="http://schemas.openxmlformats.org/drawingml/2006/main" prst="roundRect">
            <a:avLst>
              <a:gd name="adj" fmla="val 9828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EC4B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E707C3D-00D4-4986-9F3D-DE93CA90E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1655" y="3676650"/>
            <a:ext cx="58483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Recovery route selection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E702218-2372-4092-A074-D7ED888D9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7940" y="382905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023E542-13F9-43FE-906F-C368C7494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1790" y="3524250"/>
            <a:ext cx="775335" cy="914400"/>
          </a:xfrm>
          <a:prstGeom xmlns:a="http://schemas.openxmlformats.org/drawingml/2006/main" prst="roundRect">
            <a:avLst>
              <a:gd name="adj" fmla="val 9828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EC4B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81349BA-46D5-4E45-8FB8-864FB8063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7040" y="3676650"/>
            <a:ext cx="58483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Reporting and compliance</a:t>
            </a:r>
          </a:p>
        </p:txBody>
      </p:sp>
    </p:spTree>
    <p:extLst>
      <p:ext uri="{BB962C8B-B14F-4D97-AF65-F5344CB8AC3E}">
        <p14:creationId xmlns:p14="http://schemas.microsoft.com/office/powerpoint/2010/main" val="1262328535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E38892F-DCC4-4343-8AA9-908D394A7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872C04-C418-42B6-8A98-82D0B29CA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67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AI advantages and limitations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3E5744-3922-4CAF-BC00-ABCB03F21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Balance answer.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0F83C8-54E2-41D4-B19B-BC7C99497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10AD13-2783-4E80-8DFE-C8D93EB12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2C411C-0489-468C-9E9C-5333279C3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57E6F5-68CF-4F56-89B9-C55A9F756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AI in E-Waste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35B47C-F9DB-4CEA-ABB3-DC286D174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47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781A51-E970-4F90-A0A0-DE2D69EBA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00200"/>
            <a:ext cx="49530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1ED58F-0A37-4151-B44D-B4DC8BD65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00200"/>
            <a:ext cx="762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BD72DE-00C9-4D31-BBA6-194124FF5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33550"/>
            <a:ext cx="4591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7D4FF"/>
                </a:solidFill>
              </a:defRPr>
            </a:pPr>
            <a:r>
              <a:rPr sz="1650" b="1">
                <a:solidFill>
                  <a:srgbClr val="37D4FF"/>
                </a:solidFill>
              </a:rPr>
              <a:t>Advantages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D0A180-6E50-4C97-BA32-E6625637A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24075"/>
            <a:ext cx="4591050" cy="3390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FD3232-AD5F-4EDC-8FEC-8ADFABF60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49530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647401-8C93-4245-9F0B-A332C1762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762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6A195D-7EA6-4F41-9334-09ECE9EA4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733550"/>
            <a:ext cx="4591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Limitations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07289C-0860-40DE-9077-7A93361C0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124075"/>
            <a:ext cx="4591050" cy="3390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31B5F4-5B6F-4859-999A-DC782B548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050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B4183C-313A-403C-B427-7CB454D4A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336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1D"/>
                </a:solidFill>
              </a:defRPr>
            </a:pPr>
            <a:r>
              <a:rPr sz="900" b="1">
                <a:solidFill>
                  <a:srgbClr val="06131D"/>
                </a:solidFill>
              </a:rPr>
              <a:t>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D537618-0F7C-4C5F-B4FC-72877828C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26695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F8FBFF"/>
                </a:solidFill>
              </a:defRPr>
            </a:pPr>
            <a:r>
              <a:rPr sz="1350">
                <a:solidFill>
                  <a:srgbClr val="F8FBFF"/>
                </a:solidFill>
              </a:rPr>
              <a:t>Faster identification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AFDF681-FCAB-4F78-A81A-790F198AB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194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9F7344E-CAED-4A8D-96CE-6A359AD29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4797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1D"/>
                </a:solidFill>
              </a:defRPr>
            </a:pPr>
            <a:r>
              <a:rPr sz="900" b="1">
                <a:solidFill>
                  <a:srgbClr val="06131D"/>
                </a:solidFill>
              </a:rPr>
              <a:t>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293A28C-870B-4E9F-9DF7-8B8F87E2F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78130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F8FBFF"/>
                </a:solidFill>
              </a:defRPr>
            </a:pPr>
            <a:r>
              <a:rPr sz="1350">
                <a:solidFill>
                  <a:srgbClr val="F8FBFF"/>
                </a:solidFill>
              </a:rPr>
              <a:t>Improved sorting accuracy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41DEDC2-438A-4199-93A7-94F2A71AE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337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80DA7C7-449D-4217-B976-5109BC36B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623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1D"/>
                </a:solidFill>
              </a:defRPr>
            </a:pPr>
            <a:r>
              <a:rPr sz="900" b="1">
                <a:solidFill>
                  <a:srgbClr val="06131D"/>
                </a:solidFill>
              </a:rPr>
              <a:t>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A8F4518-6187-4771-B053-136835C6F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29565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F8FBFF"/>
                </a:solidFill>
              </a:defRPr>
            </a:pPr>
            <a:r>
              <a:rPr sz="1350">
                <a:solidFill>
                  <a:srgbClr val="F8FBFF"/>
                </a:solidFill>
              </a:rPr>
              <a:t>Better inventory tracking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A357752-815E-4E58-82BA-3C0DBDDDB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481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CE24FC3-B23C-4183-99AF-DFCF2C3B8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7667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1D"/>
                </a:solidFill>
              </a:defRPr>
            </a:pPr>
            <a:r>
              <a:rPr sz="900" b="1">
                <a:solidFill>
                  <a:srgbClr val="06131D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34B5725-97E0-42A0-B922-E28B2EE3B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81000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F8FBFF"/>
                </a:solidFill>
              </a:defRPr>
            </a:pPr>
            <a:r>
              <a:rPr sz="1350">
                <a:solidFill>
                  <a:srgbClr val="F8FBFF"/>
                </a:solidFill>
              </a:rPr>
              <a:t>Reduced worker exposure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3EEB72D-DD26-4B8D-BD69-69C9C9B60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3050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0DB12F4-2471-4623-B5C3-73F93996C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3336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1D"/>
                </a:solidFill>
              </a:defRPr>
            </a:pPr>
            <a:r>
              <a:rPr sz="900" b="1">
                <a:solidFill>
                  <a:srgbClr val="06131D"/>
                </a:solidFill>
              </a:rPr>
              <a:t>1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F2C1101-CDD7-48E1-9B1F-EFEA8C81D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26695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F8FBFF"/>
                </a:solidFill>
              </a:defRPr>
            </a:pPr>
            <a:r>
              <a:rPr sz="1350">
                <a:solidFill>
                  <a:srgbClr val="F8FBFF"/>
                </a:solidFill>
              </a:rPr>
              <a:t>Needs quality data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32F580E-B6CC-4C90-BC40-72E7C72F3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194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0E9D18D-2A88-4935-95CB-1179ADB39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4797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1D"/>
                </a:solidFill>
              </a:defRPr>
            </a:pPr>
            <a:r>
              <a:rPr sz="900" b="1">
                <a:solidFill>
                  <a:srgbClr val="06131D"/>
                </a:solidFill>
              </a:rPr>
              <a:t>2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B9FE392-6E79-4BC6-9035-9A3697423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78130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F8FBFF"/>
                </a:solidFill>
              </a:defRPr>
            </a:pPr>
            <a:r>
              <a:rPr sz="1350">
                <a:solidFill>
                  <a:srgbClr val="F8FBFF"/>
                </a:solidFill>
              </a:rPr>
              <a:t>High setup cost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4DF8F26-9AB1-43A2-AC1E-F34396773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3337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0092CBA-AAE2-4694-9338-0581584A3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3623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1D"/>
                </a:solidFill>
              </a:defRPr>
            </a:pPr>
            <a:r>
              <a:rPr sz="900" b="1">
                <a:solidFill>
                  <a:srgbClr val="06131D"/>
                </a:solidFill>
              </a:rPr>
              <a:t>3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9E26AEF-551D-4185-8E68-0054E87BD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29565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F8FBFF"/>
                </a:solidFill>
              </a:defRPr>
            </a:pPr>
            <a:r>
              <a:rPr sz="1350">
                <a:solidFill>
                  <a:srgbClr val="F8FBFF"/>
                </a:solidFill>
              </a:rPr>
              <a:t>Mixed waste remains challenging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D7E6EFD-49E5-42D3-8F15-B31CADF70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8481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56F99C3-6C0A-426B-BB7A-A97395098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87667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1D"/>
                </a:solidFill>
              </a:defRPr>
            </a:pPr>
            <a:r>
              <a:rPr sz="900" b="1">
                <a:solidFill>
                  <a:srgbClr val="06131D"/>
                </a:solidFill>
              </a:rPr>
              <a:t>4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F145A15-A628-4B88-90C3-DCDEB35C9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81000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F8FBFF"/>
                </a:solidFill>
              </a:defRPr>
            </a:pPr>
            <a:r>
              <a:rPr sz="1350">
                <a:solidFill>
                  <a:srgbClr val="F8FBFF"/>
                </a:solidFill>
              </a:rPr>
              <a:t>Still needs safe chemical recovery</a:t>
            </a:r>
          </a:p>
        </p:txBody>
      </p:sp>
    </p:spTree>
    <p:extLst>
      <p:ext uri="{BB962C8B-B14F-4D97-AF65-F5344CB8AC3E}">
        <p14:creationId xmlns:p14="http://schemas.microsoft.com/office/powerpoint/2010/main" val="63984318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A880C6A-7E95-49F3-AC39-3D1B81477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503D08-D606-44D0-BC6D-2F8FB6BBF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67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What is bioleaching?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71917B-6729-49B1-A1E1-7E9684D57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Define bioleaching.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4E662B-9FD3-4997-8D73-1D5C8E6D9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DC2259-8B5E-4017-9266-22E3F3BB1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0E3B7F-1724-4467-BAE3-9670C53DF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39CEF7-431F-443A-9906-0C8F07945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Bioleaching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4E7199-1CA2-4CF1-A5B5-D7171BA3A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48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C2BB68-5F9D-40BA-8638-A40E4B41C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38300"/>
            <a:ext cx="8001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9F1C"/>
                </a:solidFill>
              </a:defRPr>
            </a:pPr>
            <a:r>
              <a:rPr sz="3300" b="1">
                <a:solidFill>
                  <a:srgbClr val="FF9F1C"/>
                </a:solidFill>
              </a:rPr>
              <a:t>Bioleaching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B4D24D-EE1D-404E-96CD-1D0032027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95550"/>
            <a:ext cx="10144125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F8FBFF"/>
                </a:solidFill>
              </a:defRPr>
            </a:pPr>
            <a:r>
              <a:rPr sz="2025">
                <a:solidFill>
                  <a:srgbClr val="F8FBFF"/>
                </a:solidFill>
              </a:rPr>
              <a:t>Bioleaching uses microorganisms or their metabolites to dissolve and recover metals from ores or waste materials under controlled conditions.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70301C-94C7-4C19-A91C-B6632573B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6D03B7-D028-4D33-9C75-944FEA037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648200"/>
            <a:ext cx="15087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Microorganisms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15A24A-AA52-48A8-A879-CB63F69AF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986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A92577-8C5F-4A1A-919F-EE36F4031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371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9E01CC-3FB7-4B41-8E0C-D2146C598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0" y="4648200"/>
            <a:ext cx="15087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Metal recovery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83BB3A-2018-4790-A407-7D169616F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917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2D25A8-A71F-44AA-8492-0710C65BB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302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42C7DD-6EDC-4EC2-B594-325C77639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8270" y="4648200"/>
            <a:ext cx="15087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Leaching solution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DF8945-DA3B-4D72-B59A-74AD99CE7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848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6F134F8-CA14-4FB1-9027-D0E98AC3A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233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79F90CA-DCAF-4F3E-83AF-0266DD2DA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7580" y="4648200"/>
            <a:ext cx="15087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Low-temperature process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B6FE7EC-940A-4D62-9A43-5D1DAB741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779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5C437B7-BF2E-45D6-A2F3-AECE18E09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164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D4F9EF2-97B9-4882-A0EE-88761FFD0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6890" y="4648200"/>
            <a:ext cx="15087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E-waste</a:t>
            </a:r>
          </a:p>
        </p:txBody>
      </p:sp>
    </p:spTree>
    <p:extLst>
      <p:ext uri="{BB962C8B-B14F-4D97-AF65-F5344CB8AC3E}">
        <p14:creationId xmlns:p14="http://schemas.microsoft.com/office/powerpoint/2010/main" val="336457401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DEAEE63-51D2-42A3-B981-D280F136B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56903C-264D-4708-B9FD-D482C23BD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67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Why bioleaching is used for e-waste gold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1F5130-6A8E-442D-9EF6-9077544F6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Explain the need.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5A2441-A669-4063-8A69-6F9D6CF51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B93733-5C0C-44EF-B3FE-3748C5A2B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E00329-8A86-47DE-BF4B-35D59B834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30F89C-6E8E-48DD-AEFF-2AD635B34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Bioleaching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E5F44F-2B89-4B34-AEB3-4F10FD71E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49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DE3C5E-F1C3-4B72-AB7F-C00CD01BC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573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C25930-EF3C-4C15-8C30-5BC8AEB32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573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337BE2-D15F-4C0B-9393-DB451A0A3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7907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7D4FF"/>
                </a:solidFill>
              </a:defRPr>
            </a:pPr>
            <a:r>
              <a:rPr sz="1650" b="1">
                <a:solidFill>
                  <a:srgbClr val="37D4FF"/>
                </a:solidFill>
              </a:rPr>
              <a:t>Gold is valuable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C4774C-752E-41B0-8621-3407D1DB7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81225"/>
            <a:ext cx="4076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Small amounts in PCBs can justify recovery.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F1BF0E-B346-4A75-8ED0-6755B3CB0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573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2923B2-7A8B-4E3F-BFDD-CE79640D4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573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E89436-0E0C-413F-8403-CACF5CB8F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7907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Conventional routes can be harsh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ABF5E1-A49A-4699-A216-7773B39D8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81225"/>
            <a:ext cx="4076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Strong chemicals and high energy can create risk.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BE9D4E-89F9-452B-A15D-02E69685A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099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B587BA-C702-44CF-BEF0-AC85614B2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099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D2318F-38FA-47EC-8B5D-FBAD544D6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433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7D4FF"/>
                </a:solidFill>
              </a:defRPr>
            </a:pPr>
            <a:r>
              <a:rPr sz="1650" b="1">
                <a:solidFill>
                  <a:srgbClr val="37D4FF"/>
                </a:solidFill>
              </a:rPr>
              <a:t>Biological route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C7934E8-D2F4-4319-A436-E3E8E1531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33825"/>
            <a:ext cx="4076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Microbes can generate leaching agents or conditions for metal dissolution.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F368E13-0822-4318-B045-A7736937E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099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A49739-A000-4AA5-BD75-D3433867A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099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F64F346-078A-4C36-97B1-2D932F66D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5433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Selective recovery goal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58DAA04-A483-45D9-BCEF-CAA355760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933825"/>
            <a:ext cx="4076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Process aims to dissolve and recover target metals efficiently.</a:t>
            </a:r>
          </a:p>
        </p:txBody>
      </p:sp>
    </p:spTree>
    <p:extLst>
      <p:ext uri="{BB962C8B-B14F-4D97-AF65-F5344CB8AC3E}">
        <p14:creationId xmlns:p14="http://schemas.microsoft.com/office/powerpoint/2010/main" val="515302674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7624955-3E08-46A9-A581-7C7524D8D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F24925-46F5-46E6-9239-8CFA60BEC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67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Gold extraction by bioleaching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7A3469-5855-4C05-90A2-A57515278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Show process.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D342E1-E555-4899-AF5F-59D329295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257A89-3757-43FC-8524-3C10E5C01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1F9FC1-C22A-4989-88DD-0929C314D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360E37-BD61-4C6C-9A7E-FB00C95F8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Bioleaching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8CD8D3-C341-403D-A92C-83644C03C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50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2A6F06-339F-4D9D-AB66-FDE23C477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4524375" cy="3543300"/>
          </a:xfrm>
          <a:prstGeom xmlns:a="http://schemas.openxmlformats.org/drawingml/2006/main" prst="roundRect">
            <a:avLst>
              <a:gd name="adj" fmla="val 2151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A028FC-3BEB-42BF-83F0-B2097CFC8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76200" cy="3543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8E3132-D46B-4449-A2E7-ECF051DA9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90700"/>
            <a:ext cx="41624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7D4FF"/>
                </a:solidFill>
              </a:defRPr>
            </a:pPr>
            <a:r>
              <a:rPr sz="1650" b="1">
                <a:solidFill>
                  <a:srgbClr val="37D4FF"/>
                </a:solidFill>
              </a:rPr>
              <a:t>Gold bioleaching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F7A16D-35B1-4188-859E-EF6AC92A5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81225"/>
            <a:ext cx="4162425" cy="293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Pre-treated e-waste is exposed to suitable microorganisms or bio-generated lixiviants, dissolving gold into solution for later recovery.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6E7712-B2C0-494D-AC93-D4EC68E65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24250"/>
            <a:ext cx="775335" cy="914400"/>
          </a:xfrm>
          <a:prstGeom xmlns:a="http://schemas.openxmlformats.org/drawingml/2006/main" prst="roundRect">
            <a:avLst>
              <a:gd name="adj" fmla="val 9828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EC4B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EC868F-07FE-4DAC-BFFB-478B94503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676650"/>
            <a:ext cx="58483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Collect PCB/e-waste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1BF285-2F8E-48C2-9B64-631D26F62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1785" y="382905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352E11-8C19-45DA-A392-F1CF01AFD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635" y="3524250"/>
            <a:ext cx="775335" cy="914400"/>
          </a:xfrm>
          <a:prstGeom xmlns:a="http://schemas.openxmlformats.org/drawingml/2006/main" prst="roundRect">
            <a:avLst>
              <a:gd name="adj" fmla="val 9828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EC4B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1F0AA1-F659-4FC5-AA51-9B318F038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0885" y="3676650"/>
            <a:ext cx="58483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Pre-treat and size reduce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1A4593-B577-4853-8686-117B15E30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7170" y="382905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A6A273-966C-4BE6-9343-7521E8732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1020" y="3524250"/>
            <a:ext cx="775335" cy="914400"/>
          </a:xfrm>
          <a:prstGeom xmlns:a="http://schemas.openxmlformats.org/drawingml/2006/main" prst="roundRect">
            <a:avLst>
              <a:gd name="adj" fmla="val 9828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EC4B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2B97D2B-424C-4046-8DFA-6D29EA920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6270" y="3676650"/>
            <a:ext cx="58483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Add microbes/leaching medium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8FD9B47-A802-4025-8EFF-90BD86E42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2555" y="382905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E71E5F7-9C97-45B1-8FBD-DA07B1903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6405" y="3524250"/>
            <a:ext cx="775335" cy="914400"/>
          </a:xfrm>
          <a:prstGeom xmlns:a="http://schemas.openxmlformats.org/drawingml/2006/main" prst="roundRect">
            <a:avLst>
              <a:gd name="adj" fmla="val 9828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EC4B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1963601-1C83-417F-B528-1946F18CE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1655" y="3676650"/>
            <a:ext cx="58483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Gold dissolves into solution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CB7A068-A8D4-4B14-A94E-3954600F5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7940" y="382905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324601E-AC36-4F0B-B19E-9094FE60B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1790" y="3524250"/>
            <a:ext cx="775335" cy="914400"/>
          </a:xfrm>
          <a:prstGeom xmlns:a="http://schemas.openxmlformats.org/drawingml/2006/main" prst="roundRect">
            <a:avLst>
              <a:gd name="adj" fmla="val 9828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EC4B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0686B83-9A1E-4038-ACD7-CB0969DAE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7040" y="3676650"/>
            <a:ext cx="58483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Recover purified gold</a:t>
            </a:r>
          </a:p>
        </p:txBody>
      </p:sp>
    </p:spTree>
    <p:extLst>
      <p:ext uri="{BB962C8B-B14F-4D97-AF65-F5344CB8AC3E}">
        <p14:creationId xmlns:p14="http://schemas.microsoft.com/office/powerpoint/2010/main" val="684604996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02569DE-FECD-4369-A3DD-23C3C3D68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FA0B81-B495-4532-A9C2-47AB8D746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67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Bioleaching advantages and limitations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1BF7B0-CBC1-4027-BE61-24FF8397E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Balance answer.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E95B49-52F4-4541-8CAB-92B487CC7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CA1B2E-69B7-4153-948F-F7F206C24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7E6E30-2A3F-4679-89E9-7A42868DD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8F22DB-E6B9-4758-972F-BA2B62BAE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Bioleaching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4AB5A4-05D6-442A-AD6C-7F51BFEB1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51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25AE96-DF00-4518-849E-3C347A97E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00200"/>
            <a:ext cx="49530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ADCDB8-BA0A-44F6-8723-450BDC586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00200"/>
            <a:ext cx="762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63B1D7-9D74-4B53-B81F-074632CFF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33550"/>
            <a:ext cx="4591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7D4FF"/>
                </a:solidFill>
              </a:defRPr>
            </a:pPr>
            <a:r>
              <a:rPr sz="1650" b="1">
                <a:solidFill>
                  <a:srgbClr val="37D4FF"/>
                </a:solidFill>
              </a:rPr>
              <a:t>Advantages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4169D4-577E-4F24-9B82-E51AE8195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24075"/>
            <a:ext cx="4591050" cy="3390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2D2492-1394-43FC-96B6-7B2EBDB9C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49530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9C0C7F-EEB0-415F-96CC-746218029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762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A9F500-730A-49AB-B282-64A0070BB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733550"/>
            <a:ext cx="4591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Limitations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8992FE-CEAE-41B6-9F23-760839F4A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124075"/>
            <a:ext cx="4591050" cy="3390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F87AB9-E70A-4238-846A-244A8ADE0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050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96CBA1-1CE9-4F0E-BFB9-27DA7D80C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336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1D"/>
                </a:solidFill>
              </a:defRPr>
            </a:pPr>
            <a:r>
              <a:rPr sz="900" b="1">
                <a:solidFill>
                  <a:srgbClr val="06131D"/>
                </a:solidFill>
              </a:rPr>
              <a:t>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BBBE59-A098-4F42-AB01-9153FF7D4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26695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F8FBFF"/>
                </a:solidFill>
              </a:defRPr>
            </a:pPr>
            <a:r>
              <a:rPr sz="1350">
                <a:solidFill>
                  <a:srgbClr val="F8FBFF"/>
                </a:solidFill>
              </a:rPr>
              <a:t>Lower energy than smelting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9CE703-FF4B-4D15-861C-BF4DC8B01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194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97E829-F539-49B5-B57E-A035D679B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4797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1D"/>
                </a:solidFill>
              </a:defRPr>
            </a:pPr>
            <a:r>
              <a:rPr sz="900" b="1">
                <a:solidFill>
                  <a:srgbClr val="06131D"/>
                </a:solidFill>
              </a:rPr>
              <a:t>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3F14FBE-7ADC-4F41-8124-289618F26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78130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F8FBFF"/>
                </a:solidFill>
              </a:defRPr>
            </a:pPr>
            <a:r>
              <a:rPr sz="1350">
                <a:solidFill>
                  <a:srgbClr val="F8FBFF"/>
                </a:solidFill>
              </a:rPr>
              <a:t>Potentially fewer harsh chemicals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8E92385-D1C6-45BD-8D3D-6405006B6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337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604760C-4714-41EA-9CB2-41C18FE80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623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1D"/>
                </a:solidFill>
              </a:defRPr>
            </a:pPr>
            <a:r>
              <a:rPr sz="900" b="1">
                <a:solidFill>
                  <a:srgbClr val="06131D"/>
                </a:solidFill>
              </a:rPr>
              <a:t>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6CAE9A1-7243-42F4-8761-C23BCEE47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29565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F8FBFF"/>
                </a:solidFill>
              </a:defRPr>
            </a:pPr>
            <a:r>
              <a:rPr sz="1350">
                <a:solidFill>
                  <a:srgbClr val="F8FBFF"/>
                </a:solidFill>
              </a:rPr>
              <a:t>Can recover valuable metals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0C547F8-1B42-45A4-B188-AF3A19138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481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145C890-78B4-4728-81EB-850C99EBE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7667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1D"/>
                </a:solidFill>
              </a:defRPr>
            </a:pPr>
            <a:r>
              <a:rPr sz="900" b="1">
                <a:solidFill>
                  <a:srgbClr val="06131D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35539C6-17F2-4EDE-A3EF-E97FD668A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81000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F8FBFF"/>
                </a:solidFill>
              </a:defRPr>
            </a:pPr>
            <a:r>
              <a:rPr sz="1350">
                <a:solidFill>
                  <a:srgbClr val="F8FBFF"/>
                </a:solidFill>
              </a:rPr>
              <a:t>Supports circular economy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DB4B2EE-DD03-439B-BD1B-C33E75EA2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3050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88552FE-848B-4CED-87C4-F1C1207AA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3336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1D"/>
                </a:solidFill>
              </a:defRPr>
            </a:pPr>
            <a:r>
              <a:rPr sz="900" b="1">
                <a:solidFill>
                  <a:srgbClr val="06131D"/>
                </a:solidFill>
              </a:rPr>
              <a:t>1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4309D14-7D04-4D54-BA81-96122C324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26695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F8FBFF"/>
                </a:solidFill>
              </a:defRPr>
            </a:pPr>
            <a:r>
              <a:rPr sz="1350">
                <a:solidFill>
                  <a:srgbClr val="F8FBFF"/>
                </a:solidFill>
              </a:rPr>
              <a:t>Slower process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1B14C13-6C7F-4634-8C5A-36E072C3E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194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D5CB37B-9681-446A-998D-6DDDE8623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4797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1D"/>
                </a:solidFill>
              </a:defRPr>
            </a:pPr>
            <a:r>
              <a:rPr sz="900" b="1">
                <a:solidFill>
                  <a:srgbClr val="06131D"/>
                </a:solidFill>
              </a:rPr>
              <a:t>2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EBA0C8E-7218-4F17-9F93-2CC521C5B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78130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F8FBFF"/>
                </a:solidFill>
              </a:defRPr>
            </a:pPr>
            <a:r>
              <a:rPr sz="1350">
                <a:solidFill>
                  <a:srgbClr val="F8FBFF"/>
                </a:solidFill>
              </a:rPr>
              <a:t>Needs controlled pH/temperature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4E7CEA8-B804-4EFB-ABAF-530C561B9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3337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AD205B7-C895-418A-9861-80D2ECA03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3623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1D"/>
                </a:solidFill>
              </a:defRPr>
            </a:pPr>
            <a:r>
              <a:rPr sz="900" b="1">
                <a:solidFill>
                  <a:srgbClr val="06131D"/>
                </a:solidFill>
              </a:rPr>
              <a:t>3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E83F207-78C9-4FDE-8C44-B68119C35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29565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F8FBFF"/>
                </a:solidFill>
              </a:defRPr>
            </a:pPr>
            <a:r>
              <a:rPr sz="1350">
                <a:solidFill>
                  <a:srgbClr val="F8FBFF"/>
                </a:solidFill>
              </a:rPr>
              <a:t>Mixed waste can inhibit microbes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77B24F4-141C-4DDB-BEB4-DDCC3B40B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8481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037EEBE-D253-487B-92D8-6016A46D1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87667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1D"/>
                </a:solidFill>
              </a:defRPr>
            </a:pPr>
            <a:r>
              <a:rPr sz="900" b="1">
                <a:solidFill>
                  <a:srgbClr val="06131D"/>
                </a:solidFill>
              </a:rPr>
              <a:t>4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61C8ADA-65B8-471B-8E84-2EFDE7EA4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81000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F8FBFF"/>
                </a:solidFill>
              </a:defRPr>
            </a:pPr>
            <a:r>
              <a:rPr sz="1350">
                <a:solidFill>
                  <a:srgbClr val="F8FBFF"/>
                </a:solidFill>
              </a:rPr>
              <a:t>Final metal recovery still required</a:t>
            </a:r>
          </a:p>
        </p:txBody>
      </p:sp>
    </p:spTree>
    <p:extLst>
      <p:ext uri="{BB962C8B-B14F-4D97-AF65-F5344CB8AC3E}">
        <p14:creationId xmlns:p14="http://schemas.microsoft.com/office/powerpoint/2010/main" val="1241579000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6EDD551-6F0C-4508-B88A-C10559A78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35DBC5-30D9-402B-9522-9CCC8A25A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67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Circular economy view of electronics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70C168-E077-4C08-A0FB-20C2E1E2A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Connect all Module 5 topics.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C9A325-2C92-4D82-B965-8412E7213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9A5D18-A3D5-450B-AFCC-448DC78DE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AEDF2C-FC98-4C6F-A7BF-320C783EF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27D62A-D97E-4E8E-ABC4-012F6CB6A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Circular Economy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84AF91-C27C-499C-B7C9-E6D7D839F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52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7A71D6-304A-4385-A57D-5C2DA39DC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A309A5-9533-4865-A5E2-2BAA9C562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57525"/>
            <a:ext cx="16611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Design greener materials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B14F04-4CEF-4FEA-8757-106AA8B8C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461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74D028-915B-4152-B9A0-CEA9154E3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846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B8357D-83FC-4E5B-A0EB-D1C5A1A61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3710" y="3057525"/>
            <a:ext cx="16611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Use smart devices responsibly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7219A9-B461-4E7F-8B03-EF3C2D4C1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2478CA-37A9-400E-AE5A-F86886D05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017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274B4B-1100-4D13-A6D1-6C231B25D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5420" y="3057525"/>
            <a:ext cx="16611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Collect e-waste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D4ED60-DAA4-4EFC-9F52-EB861F411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803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D52C5B-01A3-4A0F-852E-0F9999404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188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797289-89A0-42B0-A696-B69132823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7130" y="3057525"/>
            <a:ext cx="16611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Recover materials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A46F34-6F39-4E71-92C8-BFBAE365D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974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F661056-52CE-4752-9729-74D2FD039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359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632ECF5-7852-4C0D-86CC-01DE81A9A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8840" y="3057525"/>
            <a:ext cx="16611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Feed materials back into production</a:t>
            </a:r>
          </a:p>
        </p:txBody>
      </p:sp>
    </p:spTree>
    <p:extLst>
      <p:ext uri="{BB962C8B-B14F-4D97-AF65-F5344CB8AC3E}">
        <p14:creationId xmlns:p14="http://schemas.microsoft.com/office/powerpoint/2010/main" val="1937568290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D73D7A6-CA4D-4F8A-A794-513B23A77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F030BB-D748-45CD-AF9A-BEBCB8CE6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67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Common mistakes in Module 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EB5ADD-808E-46F0-B2B8-B27F3E8DB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Clarify likely errors.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3487C4-9039-4A47-9BA2-D6BFFEE44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F27C41-9736-4164-8B8D-2CA768605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741D04-CEBD-4B77-82A3-3E3A7DC69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4D1785-3832-4091-9FC6-1FFE471C8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Exam Prep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742C08-0DB0-4D9A-B26B-1114C80FD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53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2A4214-9ECB-490C-90BD-65C947D6B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192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47EED2-294C-40AA-AA30-03F350683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478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1D"/>
                </a:solidFill>
              </a:defRPr>
            </a:pPr>
            <a:r>
              <a:rPr sz="900" b="1">
                <a:solidFill>
                  <a:srgbClr val="06131D"/>
                </a:solidFill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5FE740-3C61-4513-9766-94C017D4B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581150"/>
            <a:ext cx="9486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F8FBFF"/>
                </a:solidFill>
              </a:defRPr>
            </a:pPr>
            <a:r>
              <a:rPr sz="1575">
                <a:solidFill>
                  <a:srgbClr val="F8FBFF"/>
                </a:solidFill>
              </a:rPr>
              <a:t>Calling any solvent green without discussing toxicity, volatility or recyclability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5985B5-5FC7-429A-9926-03979CFD9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145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20FA92-CBB4-44BF-A3AA-93323C1F4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431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1D"/>
                </a:solidFill>
              </a:defRPr>
            </a:pPr>
            <a:r>
              <a:rPr sz="900" b="1">
                <a:solidFill>
                  <a:srgbClr val="06131D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423948-3528-493C-9C92-92F6DC289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076450"/>
            <a:ext cx="9486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F8FBFF"/>
                </a:solidFill>
              </a:defRPr>
            </a:pPr>
            <a:r>
              <a:rPr sz="1575">
                <a:solidFill>
                  <a:srgbClr val="F8FBFF"/>
                </a:solidFill>
              </a:rPr>
              <a:t>Writing glycerol trioleate use without ester synthesis or properties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FB26D1-0D9F-4E50-82DD-3B1DEE2F5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098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574507-FBAC-4865-B1CD-95D7CCD25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384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1D"/>
                </a:solidFill>
              </a:defRPr>
            </a:pPr>
            <a:r>
              <a:rPr sz="900" b="1">
                <a:solidFill>
                  <a:srgbClr val="06131D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C760D4-C028-4F03-B6D0-D97F39EDF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571750"/>
            <a:ext cx="9486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F8FBFF"/>
                </a:solidFill>
              </a:defRPr>
            </a:pPr>
            <a:r>
              <a:rPr sz="1575">
                <a:solidFill>
                  <a:srgbClr val="F8FBFF"/>
                </a:solidFill>
              </a:rPr>
              <a:t>Forgetting ZnO green synthesis steps and RFID/IONT applications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9A8227-B30C-4BA7-B08D-4F0C53A94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051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4410F4-9D9A-4A16-8158-B37E3D087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337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1D"/>
                </a:solidFill>
              </a:defRPr>
            </a:pPr>
            <a:r>
              <a:rPr sz="900" b="1">
                <a:solidFill>
                  <a:srgbClr val="06131D"/>
                </a:solidFill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CC18925-372C-41D2-9234-149DF4AE1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067050"/>
            <a:ext cx="9486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F8FBFF"/>
                </a:solidFill>
              </a:defRPr>
            </a:pPr>
            <a:r>
              <a:rPr sz="1575">
                <a:solidFill>
                  <a:srgbClr val="F8FBFF"/>
                </a:solidFill>
              </a:rPr>
              <a:t>Mixing PLA, PEG and alginate hydrogel properties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A579204-D936-4F73-AC12-732AC7D94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004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258D54A-21A0-4824-A6C0-85568302F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290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1D"/>
                </a:solidFill>
              </a:defRPr>
            </a:pPr>
            <a:r>
              <a:rPr sz="900" b="1">
                <a:solidFill>
                  <a:srgbClr val="06131D"/>
                </a:solidFill>
              </a:rPr>
              <a:t>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516A062-435F-4C73-B7FC-AE59BDB10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562350"/>
            <a:ext cx="9486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F8FBFF"/>
                </a:solidFill>
              </a:defRPr>
            </a:pPr>
            <a:r>
              <a:rPr sz="1575">
                <a:solidFill>
                  <a:srgbClr val="F8FBFF"/>
                </a:solidFill>
              </a:rPr>
              <a:t>Listing e-waste sources without composition and effects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5A0BCBE-D1B5-4252-86C4-A542FDA45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957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789402E-7E25-4F70-AE8E-8890092AF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243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1D"/>
                </a:solidFill>
              </a:defRPr>
            </a:pPr>
            <a:r>
              <a:rPr sz="900" b="1">
                <a:solidFill>
                  <a:srgbClr val="06131D"/>
                </a:solidFill>
              </a:rPr>
              <a:t>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ACB33C0-AC26-42A0-A66E-F3C86B805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057650"/>
            <a:ext cx="9486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F8FBFF"/>
                </a:solidFill>
              </a:defRPr>
            </a:pPr>
            <a:r>
              <a:rPr sz="1575">
                <a:solidFill>
                  <a:srgbClr val="F8FBFF"/>
                </a:solidFill>
              </a:rPr>
              <a:t>Saying AI replaces recycling chemistry completely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377EB1F-C155-44F4-A621-616D9598E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910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D030E86-42EE-46B8-B9FF-CC46080A4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196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1D"/>
                </a:solidFill>
              </a:defRPr>
            </a:pPr>
            <a:r>
              <a:rPr sz="900" b="1">
                <a:solidFill>
                  <a:srgbClr val="06131D"/>
                </a:solidFill>
              </a:rPr>
              <a:t>7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358369F-2B0B-44A9-8006-5362516DE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552950"/>
            <a:ext cx="9486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F8FBFF"/>
                </a:solidFill>
              </a:defRPr>
            </a:pPr>
            <a:r>
              <a:rPr sz="1575">
                <a:solidFill>
                  <a:srgbClr val="F8FBFF"/>
                </a:solidFill>
              </a:rPr>
              <a:t>Writing bioleaching without microorganisms and recovery step</a:t>
            </a:r>
          </a:p>
        </p:txBody>
      </p:sp>
    </p:spTree>
    <p:extLst>
      <p:ext uri="{BB962C8B-B14F-4D97-AF65-F5344CB8AC3E}">
        <p14:creationId xmlns:p14="http://schemas.microsoft.com/office/powerpoint/2010/main" val="918048287"/>
      </p:ext>
    </p:extLst>
  </p:cSld>
</p:sld>
</file>

<file path=ppt/slides/slide54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BB567D5-BEF2-4040-8DBB-CCA415902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2D970D-0D7D-4834-8F9E-C4A3BEE70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67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How to write a 10-mark green-material answer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3D3184-57E3-4441-9C08-107DBB035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Give a repeatable framework.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0E3F8B-CD0D-4547-977B-3D3A2ABF0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E57422-2648-4F4D-8ED7-37B8AE220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82BB70-559B-491F-A5F7-4F7646194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9774CE-DEB5-411C-9A5E-0E1621871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Exam Prep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C8EB6B-44E2-47E8-AA18-3E737DA12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54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B2DB84-22E9-4526-8411-F0A9BA50E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9B6D17-1A6F-4946-B24D-3C2EED803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57525"/>
            <a:ext cx="16611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Definition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1C634F-464F-4E78-98E9-69D4A7EDF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461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D8AE9A-06F2-4675-AA2A-53B30E6EC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846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85A25F-1909-4A7C-95E5-CE6F754CD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3710" y="3057525"/>
            <a:ext cx="16611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Synthesis / preparation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4AF78F-4E6F-48FD-8B23-413D4645D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4C57A3-CFDC-418C-8F32-86F8E5FEF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017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19762A-8A9C-46A1-9CB2-06A3E2B9C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5420" y="3057525"/>
            <a:ext cx="16611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Properties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72E247-5D86-409E-B900-6E2836178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803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D27477-06E8-43D4-AD73-36ED3E612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188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FAF506-93BA-4E86-9535-D3F1D3069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7130" y="3057525"/>
            <a:ext cx="16611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Smart-system application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6AB0AF7-2D89-45B8-A491-573FBAE88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974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D80BB55-D5CE-4FC6-A288-9B9173430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359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E47979D-6858-461A-B12D-417718208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8840" y="3057525"/>
            <a:ext cx="16611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Green advantage</a:t>
            </a:r>
          </a:p>
        </p:txBody>
      </p:sp>
    </p:spTree>
    <p:extLst>
      <p:ext uri="{BB962C8B-B14F-4D97-AF65-F5344CB8AC3E}">
        <p14:creationId xmlns:p14="http://schemas.microsoft.com/office/powerpoint/2010/main" val="1780768350"/>
      </p:ext>
    </p:extLst>
  </p:cSld>
</p:sld>
</file>

<file path=ppt/slides/slide55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56DE60D-AB48-4C77-9EEB-FE1ED3972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FCAA38-C301-4E50-854C-47F3F0A46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67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How to write a 10-mark e-waste answer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4347F7-244C-4DB6-B6E8-010A3BB0C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Give a repeatable framework.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7E0068-3103-45A7-B7E2-F95AB4821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C1E7B4-8926-4275-A275-165A4BCA6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188BD7-C7D4-47EA-8EAB-293D457B8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E47E07-D41C-4972-899C-E0AC2A24C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Exam Prep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9B15F4-B102-4016-99F9-261C50E1D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55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20B71D-3F41-47A3-9C04-7B7D21637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4CB5B4-6F82-4B93-95C7-EFAA0AC65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57525"/>
            <a:ext cx="16611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Definition and sources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FF763E-D6FF-43C2-9610-949BBF782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461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2F2417-F2D9-4CE4-941E-65306F726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846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95BE37-9992-48FA-A6C4-3F6FCAC5E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3710" y="3057525"/>
            <a:ext cx="16611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Composition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DA7F90-6620-452F-9327-D852F19BB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18B799-AE63-45A0-8EF7-C3FBA48A8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017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87FC7E-25C7-4EE8-A06F-69CA60773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5420" y="3057525"/>
            <a:ext cx="16611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Environmental effects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F10EF8-115D-4D96-87C8-A8C79965A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803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38C915-0589-4585-9BCE-6DD40DB8C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188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6C9E7B-A6AA-4DDF-95CA-7080C4DA9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7130" y="3057525"/>
            <a:ext cx="16611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Human-health effects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D7397B1-D6C8-4513-AA3E-512409EB7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974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E6D0D17-0803-4E38-AD10-24AF1BDC6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359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51088E2-CEF9-4E33-9C51-023787B45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8840" y="3057525"/>
            <a:ext cx="16611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AI / bioleaching management</a:t>
            </a:r>
          </a:p>
        </p:txBody>
      </p:sp>
    </p:spTree>
    <p:extLst>
      <p:ext uri="{BB962C8B-B14F-4D97-AF65-F5344CB8AC3E}">
        <p14:creationId xmlns:p14="http://schemas.microsoft.com/office/powerpoint/2010/main" val="1575513346"/>
      </p:ext>
    </p:extLst>
  </p:cSld>
</p:sld>
</file>

<file path=ppt/slides/slide56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0F5D1BC-2A16-4398-8F5E-F14201DD9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D5BB0D-31E5-4833-A7B3-5B6F0CF38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67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Module 5 mind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31107A-9703-4268-9252-2A4CF8EFE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Connect all syllabus headings.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59EDDA-6CAC-4B66-8EA2-5A81F9B6D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5C6D7A-66B4-4557-8512-606009782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E42072-59D2-4782-9907-8D5167A55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548674-206C-457B-8806-87BF5F38B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Summary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7673E4-7B4A-483F-9F5B-CC2032B51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56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AE618F-8C09-4DB2-9C4D-1E6DC00BB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781300"/>
            <a:ext cx="2590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4EDAA5-478A-4577-B497-9C34A008C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086100"/>
            <a:ext cx="2133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06131D"/>
                </a:solidFill>
              </a:defRPr>
            </a:pPr>
            <a:r>
              <a:rPr sz="2025" b="1">
                <a:solidFill>
                  <a:srgbClr val="06131D"/>
                </a:solidFill>
              </a:rPr>
              <a:t>Module 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43A516-6BCA-4482-BF0D-FC46C5DBD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66900"/>
            <a:ext cx="27241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0639B3-E19E-4A07-953B-06101FF29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66900"/>
            <a:ext cx="762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4A9AD3-D147-43D9-8708-6E8DE6115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00025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7D4FF"/>
                </a:solidFill>
              </a:defRPr>
            </a:pPr>
            <a:r>
              <a:rPr sz="1650" b="1">
                <a:solidFill>
                  <a:srgbClr val="37D4FF"/>
                </a:solidFill>
              </a:rPr>
              <a:t>Green chemistry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A4A1C3-FB2C-4598-8AF2-A2B355555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90775"/>
            <a:ext cx="2362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Safer design.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9E9ACE-B7DA-4884-A2DA-5BDBE1176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27241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7C1BF5-3D02-4FC5-A1EF-83DEC4D6F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762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E894B7-8786-41D2-81ED-AE4633E95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71450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EC4B6"/>
                </a:solidFill>
              </a:defRPr>
            </a:pPr>
            <a:r>
              <a:rPr sz="1650" b="1">
                <a:solidFill>
                  <a:srgbClr val="2EC4B6"/>
                </a:solidFill>
              </a:rPr>
              <a:t>Green materials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938E8A-BB1F-4A7D-91FA-D3C3E8EDC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105025"/>
            <a:ext cx="2362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Solvents, ester, ZnO.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EE66E9-B515-4843-B433-2A0D25A6C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866900"/>
            <a:ext cx="27241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BF2280B-4327-4D63-AED0-67AD4188E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866900"/>
            <a:ext cx="762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E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1C92399-87A3-48F7-BE05-05074CEF2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00025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8EE8FF"/>
                </a:solidFill>
              </a:defRPr>
            </a:pPr>
            <a:r>
              <a:rPr sz="1650" b="1">
                <a:solidFill>
                  <a:srgbClr val="8EE8FF"/>
                </a:solidFill>
              </a:rPr>
              <a:t>Biomaterials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AA5477-0903-4A13-A005-2425A0357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390775"/>
            <a:ext cx="2362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PLA, PEG, alginate.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3B46FC0-6F1C-4815-B540-777A13106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57700"/>
            <a:ext cx="27241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5C50A32-B155-454C-8D27-85478AED7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57700"/>
            <a:ext cx="762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F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5A40E2B-25A0-4AE5-882D-CD8CEBCFB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59105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BF69"/>
                </a:solidFill>
              </a:defRPr>
            </a:pPr>
            <a:r>
              <a:rPr sz="1650" b="1">
                <a:solidFill>
                  <a:srgbClr val="FFBF69"/>
                </a:solidFill>
              </a:rPr>
              <a:t>Smart systems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4ACBD30-F3B2-4D1E-8B29-624495292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981575"/>
            <a:ext cx="2362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Servers, RFID, IONT, BCI.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7CE6FA5-048F-4F78-91D2-9B36948D2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857750"/>
            <a:ext cx="27241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1D06C09-29B8-4837-A1D4-3995ED0CD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857750"/>
            <a:ext cx="762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DFCE1DB-64C9-4615-94EC-E3F31500F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99110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EC4B6"/>
                </a:solidFill>
              </a:defRPr>
            </a:pPr>
            <a:r>
              <a:rPr sz="1650" b="1">
                <a:solidFill>
                  <a:srgbClr val="2EC4B6"/>
                </a:solidFill>
              </a:rPr>
              <a:t>E-waste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660648B-6B8A-44CA-AA91-4244E18DB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381625"/>
            <a:ext cx="2362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Sources and effects.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49377C9-15D1-42D6-8778-E817A50C5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457700"/>
            <a:ext cx="27241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94F3D44-7BDE-448B-AD3E-AA53B89F8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457700"/>
            <a:ext cx="762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E17426A-4EE8-4852-BC99-6F26FD9FE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59105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7D4FF"/>
                </a:solidFill>
              </a:defRPr>
            </a:pPr>
            <a:r>
              <a:rPr sz="1650" b="1">
                <a:solidFill>
                  <a:srgbClr val="37D4FF"/>
                </a:solidFill>
              </a:rPr>
              <a:t>Recovery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063C0F4-C894-4405-BDED-79AC03F05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981575"/>
            <a:ext cx="2362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AI and bioleaching.</a:t>
            </a:r>
          </a:p>
        </p:txBody>
      </p:sp>
    </p:spTree>
    <p:extLst>
      <p:ext uri="{BB962C8B-B14F-4D97-AF65-F5344CB8AC3E}">
        <p14:creationId xmlns:p14="http://schemas.microsoft.com/office/powerpoint/2010/main" val="1951513990"/>
      </p:ext>
    </p:extLst>
  </p:cSld>
</p:sld>
</file>

<file path=ppt/slides/slide57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CF0A53B-FA3D-4858-9483-BB7C08DDE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507750-6C99-4E5D-B9B5-D983E83F2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67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20 important viva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0EC523-5D94-4082-9972-95671B7B3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Rapid oral revision.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18308E-CB08-456E-A369-2B7025CB5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9A7FEE-F224-4C7E-8BCE-BDBFB30C4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5B3E99-AFDA-4104-BE5C-82463F955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D9B588-910F-4827-A096-6C0A15C93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Summary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EF37A1-3AEB-42A1-9C0A-0C0862AA2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57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942265-0443-413A-BB03-33C3E63BC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6685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F8FBFF"/>
                </a:solidFill>
              </a:defRPr>
            </a:pPr>
            <a:r>
              <a:rPr sz="1125">
                <a:solidFill>
                  <a:srgbClr val="F8FBFF"/>
                </a:solidFill>
              </a:rPr>
              <a:t>1. What is green chemistry?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E47DB1-ABB1-49F7-B594-15B1E640A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95475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F8FBFF"/>
                </a:solidFill>
              </a:defRPr>
            </a:pPr>
            <a:r>
              <a:rPr sz="1125">
                <a:solidFill>
                  <a:srgbClr val="F8FBFF"/>
                </a:solidFill>
              </a:rPr>
              <a:t>2. Define green solvent.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D4BD70-EBD2-4BBF-B8E1-6725E0F01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2410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F8FBFF"/>
                </a:solidFill>
              </a:defRPr>
            </a:pPr>
            <a:r>
              <a:rPr sz="1125">
                <a:solidFill>
                  <a:srgbClr val="F8FBFF"/>
                </a:solidFill>
              </a:rPr>
              <a:t>3. Properties of green solvents?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13803A-9C56-40DF-A93B-8EA4DD828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52725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F8FBFF"/>
                </a:solidFill>
              </a:defRPr>
            </a:pPr>
            <a:r>
              <a:rPr sz="1125">
                <a:solidFill>
                  <a:srgbClr val="F8FBFF"/>
                </a:solidFill>
              </a:rPr>
              <a:t>4. Server heat-management use?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5BDE0C-9775-4E80-9380-8504C6D74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8135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F8FBFF"/>
                </a:solidFill>
              </a:defRPr>
            </a:pPr>
            <a:r>
              <a:rPr sz="1125">
                <a:solidFill>
                  <a:srgbClr val="F8FBFF"/>
                </a:solidFill>
              </a:rPr>
              <a:t>5. What is glycerol trioleate?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C60454-573B-4906-8250-431D92EE6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09975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F8FBFF"/>
                </a:solidFill>
              </a:defRPr>
            </a:pPr>
            <a:r>
              <a:rPr sz="1125">
                <a:solidFill>
                  <a:srgbClr val="F8FBFF"/>
                </a:solidFill>
              </a:rPr>
              <a:t>6. How is glycerol trioleate synthesized?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FB03B9-EAB4-4DE2-A1EC-4365886E7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3860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F8FBFF"/>
                </a:solidFill>
              </a:defRPr>
            </a:pPr>
            <a:r>
              <a:rPr sz="1125">
                <a:solidFill>
                  <a:srgbClr val="F8FBFF"/>
                </a:solidFill>
              </a:rPr>
              <a:t>7. What are ZnO nanoparticles?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3CBF41-F7C9-4F38-9E9D-59E9C7EC6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67225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F8FBFF"/>
                </a:solidFill>
              </a:defRPr>
            </a:pPr>
            <a:r>
              <a:rPr sz="1125">
                <a:solidFill>
                  <a:srgbClr val="F8FBFF"/>
                </a:solidFill>
              </a:rPr>
              <a:t>8. Green synthesis of ZnO steps?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85104F-0885-4206-B819-9706F5546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9585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F8FBFF"/>
                </a:solidFill>
              </a:defRPr>
            </a:pPr>
            <a:r>
              <a:rPr sz="1125">
                <a:solidFill>
                  <a:srgbClr val="F8FBFF"/>
                </a:solidFill>
              </a:rPr>
              <a:t>9. ZnO use in RFID?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16A1C7-1C13-4DC3-9A25-2DC6F1E5A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24475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F8FBFF"/>
                </a:solidFill>
              </a:defRPr>
            </a:pPr>
            <a:r>
              <a:rPr sz="1125">
                <a:solidFill>
                  <a:srgbClr val="F8FBFF"/>
                </a:solidFill>
              </a:rPr>
              <a:t>10. What is IONT?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EC957B-B87D-4E1A-AC28-8F94D0F31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46685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F8FBFF"/>
                </a:solidFill>
              </a:defRPr>
            </a:pPr>
            <a:r>
              <a:rPr sz="1125">
                <a:solidFill>
                  <a:srgbClr val="F8FBFF"/>
                </a:solidFill>
              </a:rPr>
              <a:t>11. Define biomaterial.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A5830F6-C986-4CD2-B922-778DC5BF9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895475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F8FBFF"/>
                </a:solidFill>
              </a:defRPr>
            </a:pPr>
            <a:r>
              <a:rPr sz="1125">
                <a:solidFill>
                  <a:srgbClr val="F8FBFF"/>
                </a:solidFill>
              </a:rPr>
              <a:t>12. What is PLA?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0887096-C1DB-4E69-BBF6-C90F6F452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32410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F8FBFF"/>
                </a:solidFill>
              </a:defRPr>
            </a:pPr>
            <a:r>
              <a:rPr sz="1125">
                <a:solidFill>
                  <a:srgbClr val="F8FBFF"/>
                </a:solidFill>
              </a:rPr>
              <a:t>13. What is PEG?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B0588A5-1E1E-4A32-8ACD-658B4B920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52725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F8FBFF"/>
                </a:solidFill>
              </a:defRPr>
            </a:pPr>
            <a:r>
              <a:rPr sz="1125">
                <a:solidFill>
                  <a:srgbClr val="F8FBFF"/>
                </a:solidFill>
              </a:rPr>
              <a:t>14. What is alginate hydrogel?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784C517-5F0C-4D46-B52C-9441FC518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8135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F8FBFF"/>
                </a:solidFill>
              </a:defRPr>
            </a:pPr>
            <a:r>
              <a:rPr sz="1125">
                <a:solidFill>
                  <a:srgbClr val="F8FBFF"/>
                </a:solidFill>
              </a:rPr>
              <a:t>15. BCI application of hydrogel?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5A22C60-8E46-45B2-9029-D14F3958B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609975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F8FBFF"/>
                </a:solidFill>
              </a:defRPr>
            </a:pPr>
            <a:r>
              <a:rPr sz="1125">
                <a:solidFill>
                  <a:srgbClr val="F8FBFF"/>
                </a:solidFill>
              </a:rPr>
              <a:t>16. Define e-waste.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1DF7FF2-9679-4E9A-9C9F-1E33F00FF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03860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F8FBFF"/>
                </a:solidFill>
              </a:defRPr>
            </a:pPr>
            <a:r>
              <a:rPr sz="1125">
                <a:solidFill>
                  <a:srgbClr val="F8FBFF"/>
                </a:solidFill>
              </a:rPr>
              <a:t>17. Sources of e-waste?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E06CD17-AD9D-4B77-A43D-0F427F48B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467225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F8FBFF"/>
                </a:solidFill>
              </a:defRPr>
            </a:pPr>
            <a:r>
              <a:rPr sz="1125">
                <a:solidFill>
                  <a:srgbClr val="F8FBFF"/>
                </a:solidFill>
              </a:rPr>
              <a:t>18. Composition of e-waste?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9192071-95DB-4B42-A825-06849DAC1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89585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F8FBFF"/>
                </a:solidFill>
              </a:defRPr>
            </a:pPr>
            <a:r>
              <a:rPr sz="1125">
                <a:solidFill>
                  <a:srgbClr val="F8FBFF"/>
                </a:solidFill>
              </a:rPr>
              <a:t>19. How does AI help e-waste management?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77FEB95-2191-4480-BBD8-5D64675DF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324475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F8FBFF"/>
                </a:solidFill>
              </a:defRPr>
            </a:pPr>
            <a:r>
              <a:rPr sz="1125">
                <a:solidFill>
                  <a:srgbClr val="F8FBFF"/>
                </a:solidFill>
              </a:rPr>
              <a:t>20. What is bioleaching?</a:t>
            </a:r>
          </a:p>
        </p:txBody>
      </p:sp>
    </p:spTree>
    <p:extLst>
      <p:ext uri="{BB962C8B-B14F-4D97-AF65-F5344CB8AC3E}">
        <p14:creationId xmlns:p14="http://schemas.microsoft.com/office/powerpoint/2010/main" val="1237664960"/>
      </p:ext>
    </p:extLst>
  </p:cSld>
</p:sld>
</file>

<file path=ppt/slides/slide58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7C8521F-F44F-4EAF-AB60-7922A57D2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9D036A-B1F4-4149-8EF4-91B208B63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67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Important exam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2DBDB9-CD64-4281-A9A0-03311DEE0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Provide practice questions.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329178-3BBE-4660-AF5B-30370EA22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2ECF8C-0CE7-4AF9-9142-9DF465331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44C79E-62D0-4D37-85D5-C8AD1DCF8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6D2EDB-D50D-4DCE-A02A-97F97683F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Summary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D8C489-1FC4-4FC3-BC8E-CBCE6EC48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58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7838D9-843A-49F3-9D9E-4BE3A075E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6685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8FBFF"/>
                </a:solidFill>
              </a:defRPr>
            </a:pPr>
            <a:r>
              <a:rPr sz="1275">
                <a:solidFill>
                  <a:srgbClr val="F8FBFF"/>
                </a:solidFill>
              </a:rPr>
              <a:t>1. 2M: Define green chemistry.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32AE46-5EC3-4C0A-9A8D-0BD6D39BF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95475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8FBFF"/>
                </a:solidFill>
              </a:defRPr>
            </a:pPr>
            <a:r>
              <a:rPr sz="1275">
                <a:solidFill>
                  <a:srgbClr val="F8FBFF"/>
                </a:solidFill>
              </a:rPr>
              <a:t>2. 2M: Define green solvent.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61C08D-E186-4769-B3C3-856D3F051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2410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8FBFF"/>
                </a:solidFill>
              </a:defRPr>
            </a:pPr>
            <a:r>
              <a:rPr sz="1275">
                <a:solidFill>
                  <a:srgbClr val="F8FBFF"/>
                </a:solidFill>
              </a:rPr>
              <a:t>3. 2M: What is e-waste?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F82642-14E1-4F9F-B4BE-A3426D8ED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52725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8FBFF"/>
                </a:solidFill>
              </a:defRPr>
            </a:pPr>
            <a:r>
              <a:rPr sz="1275">
                <a:solidFill>
                  <a:srgbClr val="F8FBFF"/>
                </a:solidFill>
              </a:rPr>
              <a:t>4. 2M: Define bioleaching.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CBECEF-643B-482D-8092-D13EBB794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8135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8FBFF"/>
                </a:solidFill>
              </a:defRPr>
            </a:pPr>
            <a:r>
              <a:rPr sz="1275">
                <a:solidFill>
                  <a:srgbClr val="F8FBFF"/>
                </a:solidFill>
              </a:rPr>
              <a:t>5. 2M: What is PLA?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EFFEB1-7187-40ED-A1EA-E0CDA9823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09975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8FBFF"/>
                </a:solidFill>
              </a:defRPr>
            </a:pPr>
            <a:r>
              <a:rPr sz="1275">
                <a:solidFill>
                  <a:srgbClr val="F8FBFF"/>
                </a:solidFill>
              </a:rPr>
              <a:t>6. 5M: Explain properties and applications of green solvents.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00EAFE-F655-4FDD-8F94-2F711B152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3860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8FBFF"/>
                </a:solidFill>
              </a:defRPr>
            </a:pPr>
            <a:r>
              <a:rPr sz="1275">
                <a:solidFill>
                  <a:srgbClr val="F8FBFF"/>
                </a:solidFill>
              </a:rPr>
              <a:t>7. 5M: Explain synthesis and uses of glycerol trioleate ester.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61638C-B2C9-400A-8D20-8FB01EA4C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67225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8FBFF"/>
                </a:solidFill>
              </a:defRPr>
            </a:pPr>
            <a:r>
              <a:rPr sz="1275">
                <a:solidFill>
                  <a:srgbClr val="F8FBFF"/>
                </a:solidFill>
              </a:rPr>
              <a:t>8. 5M: Explain green synthesis and applications of ZnO nanoparticles.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51EA67-9AA9-4951-B728-959FD9F4A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46685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8FBFF"/>
                </a:solidFill>
              </a:defRPr>
            </a:pPr>
            <a:r>
              <a:rPr sz="1275">
                <a:solidFill>
                  <a:srgbClr val="F8FBFF"/>
                </a:solidFill>
              </a:rPr>
              <a:t>9. 5M: Explain synthesis and properties of PLA and PEG.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1BA8C0-15D0-47D3-9B79-E07233F41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895475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8FBFF"/>
                </a:solidFill>
              </a:defRPr>
            </a:pPr>
            <a:r>
              <a:rPr sz="1275">
                <a:solidFill>
                  <a:srgbClr val="F8FBFF"/>
                </a:solidFill>
              </a:rPr>
              <a:t>10. 5M: Explain alginate hydrogel for BCI applications.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F5229B-CA03-4B3A-8A1A-A8A6A8D83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32410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8FBFF"/>
                </a:solidFill>
              </a:defRPr>
            </a:pPr>
            <a:r>
              <a:rPr sz="1275">
                <a:solidFill>
                  <a:srgbClr val="F8FBFF"/>
                </a:solidFill>
              </a:rPr>
              <a:t>11. 10M: Explain green chemistry materials in IT infrastructure applications.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AB39D2-8F25-4B09-885C-403D1DC3F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52725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8FBFF"/>
                </a:solidFill>
              </a:defRPr>
            </a:pPr>
            <a:r>
              <a:rPr sz="1275">
                <a:solidFill>
                  <a:srgbClr val="F8FBFF"/>
                </a:solidFill>
              </a:rPr>
              <a:t>12. 10M: Explain PLA, PEG and alginate hydrogel with synthesis and uses.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B0218C-78EB-4C5E-B34B-BF4A23EC1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8135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8FBFF"/>
                </a:solidFill>
              </a:defRPr>
            </a:pPr>
            <a:r>
              <a:rPr sz="1275">
                <a:solidFill>
                  <a:srgbClr val="F8FBFF"/>
                </a:solidFill>
              </a:rPr>
              <a:t>13. 10M: Explain sources, composition and effects of e-waste.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E145AEF-57F0-49CD-BDEE-4CD7B537D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609975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8FBFF"/>
                </a:solidFill>
              </a:defRPr>
            </a:pPr>
            <a:r>
              <a:rPr sz="1275">
                <a:solidFill>
                  <a:srgbClr val="F8FBFF"/>
                </a:solidFill>
              </a:rPr>
              <a:t>14. 10M: Explain AI in e-waste management.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157CE17-E9DF-4893-9FE5-982028044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03860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8FBFF"/>
                </a:solidFill>
              </a:defRPr>
            </a:pPr>
            <a:r>
              <a:rPr sz="1275">
                <a:solidFill>
                  <a:srgbClr val="F8FBFF"/>
                </a:solidFill>
              </a:rPr>
              <a:t>15. 10M: Explain extraction of gold from e-waste by bioleaching.</a:t>
            </a:r>
          </a:p>
        </p:txBody>
      </p:sp>
    </p:spTree>
    <p:extLst>
      <p:ext uri="{BB962C8B-B14F-4D97-AF65-F5344CB8AC3E}">
        <p14:creationId xmlns:p14="http://schemas.microsoft.com/office/powerpoint/2010/main" val="297655640"/>
      </p:ext>
    </p:extLst>
  </p:cSld>
</p:sld>
</file>

<file path=ppt/slides/slide59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DB557EE-9689-464B-94F4-E58810B78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7489A6-2D61-4874-8398-93F6B5836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67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One-page revision sheet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244FCB-A494-4431-BD21-A01D6CC0B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End with compact keywords and answer pattern.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1C37D6-A4EE-4A35-8541-D845929F0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C038E3-5218-4520-B4FB-AB5973983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519EFE-1B31-4138-B815-A14D3C6F8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AD0FFF-C366-4808-A824-879A4BCD1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Summary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B0017A-F268-40D4-9BD4-0166BA20C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59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6119EA-9B37-4F27-B3D3-DAFD79046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81150"/>
            <a:ext cx="10706100" cy="186690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952A62-9DC4-4AED-9F04-0E587F245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81150"/>
            <a:ext cx="7620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DEC1FB-E6E9-4736-9C15-A2A2A534B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14500"/>
            <a:ext cx="1034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Keywords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965421-DC9F-4C24-88FF-96B251FDF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05025"/>
            <a:ext cx="103441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Green chemistry; green solvent; low toxicity; low volatility; recyclability; biodegradability; server heat management; coolant; glycerol trioleate; glycerol; oleic acid; esterification; IT infrastructure; ZnO nanoparticles; green synthesis; plant extract; RFID; Internet of Nano Things; biomaterial; PLA; polylactic acid; lactic acid; lactide; biodegradable polyester; PEG; polyethylene glycol; hydrophilic polymer; touch screen; alginate hydrogel; sodium alginate; calcium crosslinking; BCI; e-waste; sources; composition; heavy metals; plastics; environment effects; human-health effects; AI sorting; computer vision; bioleaching; microorganisms; gold recovery.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E12857-254F-40D7-AE4B-E4A4C3501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90950"/>
            <a:ext cx="1070610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5775DE-EB53-4768-9293-950395E89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90950"/>
            <a:ext cx="762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F159A9-CE1F-4626-95AC-258210623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24300"/>
            <a:ext cx="1034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7D4FF"/>
                </a:solidFill>
              </a:defRPr>
            </a:pPr>
            <a:r>
              <a:rPr sz="1650" b="1">
                <a:solidFill>
                  <a:srgbClr val="37D4FF"/>
                </a:solidFill>
              </a:rPr>
              <a:t>Exam answer pattern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90F5AF-A715-4BF7-8908-493E449F5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14825"/>
            <a:ext cx="1034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For green materials: definition, synthesis, properties, application, green advantage. For e-waste: definition, sources, composition, effects, AI management and bioleaching recovery.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0136C6-B0BD-4E0B-9B09-C54C54334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43500"/>
            <a:ext cx="107061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5B086B-F4A9-46C3-91DF-8720406F3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43500"/>
            <a:ext cx="76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501ED7-18A5-405D-9236-2E2F083A8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76850"/>
            <a:ext cx="1034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EC4B6"/>
                </a:solidFill>
              </a:defRPr>
            </a:pPr>
            <a:r>
              <a:rPr sz="1650" b="1">
                <a:solidFill>
                  <a:srgbClr val="2EC4B6"/>
                </a:solidFill>
              </a:rPr>
              <a:t>Memory trick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04D2378-6513-43E8-BBDF-368ACC147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667375"/>
            <a:ext cx="10344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Green materials reduce hazard at the design stage; e-waste management reduces harm after product life ends.</a:t>
            </a:r>
          </a:p>
        </p:txBody>
      </p:sp>
    </p:spTree>
    <p:extLst>
      <p:ext uri="{BB962C8B-B14F-4D97-AF65-F5344CB8AC3E}">
        <p14:creationId xmlns:p14="http://schemas.microsoft.com/office/powerpoint/2010/main" val="187587697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2026-08-12T04:48:33.7360000Z</dcterms:created>
  <dcterms:modified xsi:type="dcterms:W3CDTF">2026-08-12T04:48:33.7360000Z</dcterms:modified>
</coreProperties>
</file>