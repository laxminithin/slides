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e1b826a7b4cd7" /><Relationship Type="http://schemas.openxmlformats.org/officeDocument/2006/relationships/extended-properties" Target="/docProps/app.xml" Id="R738de91c06264cd0" /><Relationship Type="http://schemas.openxmlformats.org/officeDocument/2006/relationships/officeDocument" Target="/ppt/presentation.xml" Id="R5ec00dd1e1534e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16fa71a7c541b0"/>
  </p:sldMasterIdLst>
  <p:notesMasterIdLst>
    <p:notesMasterId xmlns:r="http://schemas.openxmlformats.org/officeDocument/2006/relationships" r:id="R6ce70f375e64418e"/>
  </p:notesMasterIdLst>
  <p:sldIdLst>
    <p:sldId xmlns:r="http://schemas.openxmlformats.org/officeDocument/2006/relationships" id="256" r:id="Rf224affc0f4f4739"/>
    <p:sldId xmlns:r="http://schemas.openxmlformats.org/officeDocument/2006/relationships" id="257" r:id="Re72a427bff064b01"/>
    <p:sldId xmlns:r="http://schemas.openxmlformats.org/officeDocument/2006/relationships" id="258" r:id="R34e5133b53544d93"/>
    <p:sldId xmlns:r="http://schemas.openxmlformats.org/officeDocument/2006/relationships" id="259" r:id="R9fe7f2cf4e5c45f9"/>
    <p:sldId xmlns:r="http://schemas.openxmlformats.org/officeDocument/2006/relationships" id="260" r:id="R08ed33ae98574c89"/>
    <p:sldId xmlns:r="http://schemas.openxmlformats.org/officeDocument/2006/relationships" id="261" r:id="Re2e3507c62fa4562"/>
    <p:sldId xmlns:r="http://schemas.openxmlformats.org/officeDocument/2006/relationships" id="262" r:id="R6fbcb0a9f34942d4"/>
    <p:sldId xmlns:r="http://schemas.openxmlformats.org/officeDocument/2006/relationships" id="263" r:id="R23d94a9e77944068"/>
    <p:sldId xmlns:r="http://schemas.openxmlformats.org/officeDocument/2006/relationships" id="264" r:id="R0da2cb71b8fa4f92"/>
    <p:sldId xmlns:r="http://schemas.openxmlformats.org/officeDocument/2006/relationships" id="265" r:id="R9058728d7e134232"/>
    <p:sldId xmlns:r="http://schemas.openxmlformats.org/officeDocument/2006/relationships" id="266" r:id="R53ac976c0fd34796"/>
    <p:sldId xmlns:r="http://schemas.openxmlformats.org/officeDocument/2006/relationships" id="267" r:id="R8bc4c10ce192413a"/>
    <p:sldId xmlns:r="http://schemas.openxmlformats.org/officeDocument/2006/relationships" id="268" r:id="Re52ea7b08894454c"/>
    <p:sldId xmlns:r="http://schemas.openxmlformats.org/officeDocument/2006/relationships" id="269" r:id="R43ec96ec5627410c"/>
    <p:sldId xmlns:r="http://schemas.openxmlformats.org/officeDocument/2006/relationships" id="270" r:id="R4e1cde591e7b4ab3"/>
    <p:sldId xmlns:r="http://schemas.openxmlformats.org/officeDocument/2006/relationships" id="271" r:id="Rf49d7252aa2c43f4"/>
    <p:sldId xmlns:r="http://schemas.openxmlformats.org/officeDocument/2006/relationships" id="272" r:id="R50560239736541fe"/>
    <p:sldId xmlns:r="http://schemas.openxmlformats.org/officeDocument/2006/relationships" id="273" r:id="Rc2cdffe010144b44"/>
    <p:sldId xmlns:r="http://schemas.openxmlformats.org/officeDocument/2006/relationships" id="274" r:id="R99b43a5c2e0c4301"/>
    <p:sldId xmlns:r="http://schemas.openxmlformats.org/officeDocument/2006/relationships" id="275" r:id="R50c40d178d954bd0"/>
    <p:sldId xmlns:r="http://schemas.openxmlformats.org/officeDocument/2006/relationships" id="276" r:id="Ref740031d2e347ab"/>
    <p:sldId xmlns:r="http://schemas.openxmlformats.org/officeDocument/2006/relationships" id="277" r:id="Rb88df3ddefb34c79"/>
    <p:sldId xmlns:r="http://schemas.openxmlformats.org/officeDocument/2006/relationships" id="278" r:id="Ra17d2740d0344e4f"/>
    <p:sldId xmlns:r="http://schemas.openxmlformats.org/officeDocument/2006/relationships" id="279" r:id="Re7f5aa61ef244e9f"/>
    <p:sldId xmlns:r="http://schemas.openxmlformats.org/officeDocument/2006/relationships" id="280" r:id="Rc3bf81dfec9b43db"/>
    <p:sldId xmlns:r="http://schemas.openxmlformats.org/officeDocument/2006/relationships" id="281" r:id="Rf742c1f0f7354ef8"/>
    <p:sldId xmlns:r="http://schemas.openxmlformats.org/officeDocument/2006/relationships" id="282" r:id="Rc479f322e4944ab0"/>
    <p:sldId xmlns:r="http://schemas.openxmlformats.org/officeDocument/2006/relationships" id="283" r:id="R35e9d0250fb143f7"/>
    <p:sldId xmlns:r="http://schemas.openxmlformats.org/officeDocument/2006/relationships" id="284" r:id="R2e25ea2dfbde4f46"/>
    <p:sldId xmlns:r="http://schemas.openxmlformats.org/officeDocument/2006/relationships" id="285" r:id="R14fdecff14e24d73"/>
    <p:sldId xmlns:r="http://schemas.openxmlformats.org/officeDocument/2006/relationships" id="286" r:id="Refd0c50105b949f7"/>
    <p:sldId xmlns:r="http://schemas.openxmlformats.org/officeDocument/2006/relationships" id="287" r:id="Rfd85caabb1404903"/>
    <p:sldId xmlns:r="http://schemas.openxmlformats.org/officeDocument/2006/relationships" id="288" r:id="Rd49be9f84d494e38"/>
    <p:sldId xmlns:r="http://schemas.openxmlformats.org/officeDocument/2006/relationships" id="289" r:id="Reae83560fa384e58"/>
    <p:sldId xmlns:r="http://schemas.openxmlformats.org/officeDocument/2006/relationships" id="290" r:id="Rbfda3209a25f4634"/>
    <p:sldId xmlns:r="http://schemas.openxmlformats.org/officeDocument/2006/relationships" id="291" r:id="R4bca8735c34045bc"/>
    <p:sldId xmlns:r="http://schemas.openxmlformats.org/officeDocument/2006/relationships" id="292" r:id="R47b469c812da45e5"/>
    <p:sldId xmlns:r="http://schemas.openxmlformats.org/officeDocument/2006/relationships" id="293" r:id="R9df69db211144d51"/>
    <p:sldId xmlns:r="http://schemas.openxmlformats.org/officeDocument/2006/relationships" id="294" r:id="R69c2368b459947ca"/>
    <p:sldId xmlns:r="http://schemas.openxmlformats.org/officeDocument/2006/relationships" id="295" r:id="R4f1058dbd9664b91"/>
    <p:sldId xmlns:r="http://schemas.openxmlformats.org/officeDocument/2006/relationships" id="296" r:id="Re648d2ddedfe4178"/>
    <p:sldId xmlns:r="http://schemas.openxmlformats.org/officeDocument/2006/relationships" id="297" r:id="Raa995d4599df4196"/>
    <p:sldId xmlns:r="http://schemas.openxmlformats.org/officeDocument/2006/relationships" id="298" r:id="R1cca02daf781483f"/>
    <p:sldId xmlns:r="http://schemas.openxmlformats.org/officeDocument/2006/relationships" id="299" r:id="R9f4c240a167a44c6"/>
    <p:sldId xmlns:r="http://schemas.openxmlformats.org/officeDocument/2006/relationships" id="300" r:id="Rfca954a8d89746c9"/>
    <p:sldId xmlns:r="http://schemas.openxmlformats.org/officeDocument/2006/relationships" id="301" r:id="R815bee6e04a345aa"/>
    <p:sldId xmlns:r="http://schemas.openxmlformats.org/officeDocument/2006/relationships" id="302" r:id="R07dc465bd5a14f37"/>
    <p:sldId xmlns:r="http://schemas.openxmlformats.org/officeDocument/2006/relationships" id="303" r:id="R3abdaf45257a46eb"/>
    <p:sldId xmlns:r="http://schemas.openxmlformats.org/officeDocument/2006/relationships" id="304" r:id="R109d6e07b5864743"/>
    <p:sldId xmlns:r="http://schemas.openxmlformats.org/officeDocument/2006/relationships" id="305" r:id="Rb78f3df555114fdb"/>
    <p:sldId xmlns:r="http://schemas.openxmlformats.org/officeDocument/2006/relationships" id="306" r:id="R824b17d22f99481c"/>
    <p:sldId xmlns:r="http://schemas.openxmlformats.org/officeDocument/2006/relationships" id="307" r:id="Rc64e7a0b38b34802"/>
    <p:sldId xmlns:r="http://schemas.openxmlformats.org/officeDocument/2006/relationships" id="308" r:id="Rb260fd2177554d09"/>
    <p:sldId xmlns:r="http://schemas.openxmlformats.org/officeDocument/2006/relationships" id="309" r:id="R76d61bc6e38040bf"/>
    <p:sldId xmlns:r="http://schemas.openxmlformats.org/officeDocument/2006/relationships" id="310" r:id="Rd1bd9c2ee73e4438"/>
    <p:sldId xmlns:r="http://schemas.openxmlformats.org/officeDocument/2006/relationships" id="311" r:id="Rd2e81f211eca4c33"/>
    <p:sldId xmlns:r="http://schemas.openxmlformats.org/officeDocument/2006/relationships" id="312" r:id="R78aa86c543654716"/>
    <p:sldId xmlns:r="http://schemas.openxmlformats.org/officeDocument/2006/relationships" id="313" r:id="Rfac8812c28ea4305"/>
    <p:sldId xmlns:r="http://schemas.openxmlformats.org/officeDocument/2006/relationships" id="314" r:id="Rbc7386e5feb34056"/>
    <p:sldId xmlns:r="http://schemas.openxmlformats.org/officeDocument/2006/relationships" id="315" r:id="R0096030de1c64e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65e41a1a034232" /><Relationship Type="http://schemas.openxmlformats.org/officeDocument/2006/relationships/slideMaster" Target="/ppt/slideMasters/slideMaster1.xml" Id="Rfd16fa71a7c541b0" /><Relationship Type="http://schemas.openxmlformats.org/officeDocument/2006/relationships/notesMaster" Target="/ppt/notesMasters/notesMaster1.xml" Id="R6ce70f375e64418e" /><Relationship Type="http://schemas.openxmlformats.org/officeDocument/2006/relationships/presProps" Target="/ppt/presProps.xml" Id="R02ef8261eb4d43e3" /><Relationship Type="http://schemas.openxmlformats.org/officeDocument/2006/relationships/tableStyles" Target="/ppt/tableStyles.xml" Id="R19fa1d92818342c2" /><Relationship Type="http://schemas.openxmlformats.org/officeDocument/2006/relationships/slide" Target="/ppt/slides/slide1.xml" Id="Rf224affc0f4f4739" /><Relationship Type="http://schemas.openxmlformats.org/officeDocument/2006/relationships/slide" Target="/ppt/slides/slide2.xml" Id="Re72a427bff064b01" /><Relationship Type="http://schemas.openxmlformats.org/officeDocument/2006/relationships/slide" Target="/ppt/slides/slide3.xml" Id="R34e5133b53544d93" /><Relationship Type="http://schemas.openxmlformats.org/officeDocument/2006/relationships/slide" Target="/ppt/slides/slide4.xml" Id="R9fe7f2cf4e5c45f9" /><Relationship Type="http://schemas.openxmlformats.org/officeDocument/2006/relationships/slide" Target="/ppt/slides/slide5.xml" Id="R08ed33ae98574c89" /><Relationship Type="http://schemas.openxmlformats.org/officeDocument/2006/relationships/slide" Target="/ppt/slides/slide6.xml" Id="Re2e3507c62fa4562" /><Relationship Type="http://schemas.openxmlformats.org/officeDocument/2006/relationships/slide" Target="/ppt/slides/slide7.xml" Id="R6fbcb0a9f34942d4" /><Relationship Type="http://schemas.openxmlformats.org/officeDocument/2006/relationships/slide" Target="/ppt/slides/slide8.xml" Id="R23d94a9e77944068" /><Relationship Type="http://schemas.openxmlformats.org/officeDocument/2006/relationships/slide" Target="/ppt/slides/slide9.xml" Id="R0da2cb71b8fa4f92" /><Relationship Type="http://schemas.openxmlformats.org/officeDocument/2006/relationships/slide" Target="/ppt/slides/slide10.xml" Id="R9058728d7e134232" /><Relationship Type="http://schemas.openxmlformats.org/officeDocument/2006/relationships/slide" Target="/ppt/slides/slide11.xml" Id="R53ac976c0fd34796" /><Relationship Type="http://schemas.openxmlformats.org/officeDocument/2006/relationships/slide" Target="/ppt/slides/slide12.xml" Id="R8bc4c10ce192413a" /><Relationship Type="http://schemas.openxmlformats.org/officeDocument/2006/relationships/slide" Target="/ppt/slides/slide13.xml" Id="Re52ea7b08894454c" /><Relationship Type="http://schemas.openxmlformats.org/officeDocument/2006/relationships/slide" Target="/ppt/slides/slide14.xml" Id="R43ec96ec5627410c" /><Relationship Type="http://schemas.openxmlformats.org/officeDocument/2006/relationships/slide" Target="/ppt/slides/slide15.xml" Id="R4e1cde591e7b4ab3" /><Relationship Type="http://schemas.openxmlformats.org/officeDocument/2006/relationships/slide" Target="/ppt/slides/slide16.xml" Id="Rf49d7252aa2c43f4" /><Relationship Type="http://schemas.openxmlformats.org/officeDocument/2006/relationships/slide" Target="/ppt/slides/slide17.xml" Id="R50560239736541fe" /><Relationship Type="http://schemas.openxmlformats.org/officeDocument/2006/relationships/slide" Target="/ppt/slides/slide18.xml" Id="Rc2cdffe010144b44" /><Relationship Type="http://schemas.openxmlformats.org/officeDocument/2006/relationships/slide" Target="/ppt/slides/slide19.xml" Id="R99b43a5c2e0c4301" /><Relationship Type="http://schemas.openxmlformats.org/officeDocument/2006/relationships/slide" Target="/ppt/slides/slide20.xml" Id="R50c40d178d954bd0" /><Relationship Type="http://schemas.openxmlformats.org/officeDocument/2006/relationships/slide" Target="/ppt/slides/slide21.xml" Id="Ref740031d2e347ab" /><Relationship Type="http://schemas.openxmlformats.org/officeDocument/2006/relationships/slide" Target="/ppt/slides/slide22.xml" Id="Rb88df3ddefb34c79" /><Relationship Type="http://schemas.openxmlformats.org/officeDocument/2006/relationships/slide" Target="/ppt/slides/slide23.xml" Id="Ra17d2740d0344e4f" /><Relationship Type="http://schemas.openxmlformats.org/officeDocument/2006/relationships/slide" Target="/ppt/slides/slide24.xml" Id="Re7f5aa61ef244e9f" /><Relationship Type="http://schemas.openxmlformats.org/officeDocument/2006/relationships/slide" Target="/ppt/slides/slide25.xml" Id="Rc3bf81dfec9b43db" /><Relationship Type="http://schemas.openxmlformats.org/officeDocument/2006/relationships/slide" Target="/ppt/slides/slide26.xml" Id="Rf742c1f0f7354ef8" /><Relationship Type="http://schemas.openxmlformats.org/officeDocument/2006/relationships/slide" Target="/ppt/slides/slide27.xml" Id="Rc479f322e4944ab0" /><Relationship Type="http://schemas.openxmlformats.org/officeDocument/2006/relationships/slide" Target="/ppt/slides/slide28.xml" Id="R35e9d0250fb143f7" /><Relationship Type="http://schemas.openxmlformats.org/officeDocument/2006/relationships/slide" Target="/ppt/slides/slide29.xml" Id="R2e25ea2dfbde4f46" /><Relationship Type="http://schemas.openxmlformats.org/officeDocument/2006/relationships/slide" Target="/ppt/slides/slide30.xml" Id="R14fdecff14e24d73" /><Relationship Type="http://schemas.openxmlformats.org/officeDocument/2006/relationships/slide" Target="/ppt/slides/slide31.xml" Id="Refd0c50105b949f7" /><Relationship Type="http://schemas.openxmlformats.org/officeDocument/2006/relationships/slide" Target="/ppt/slides/slide32.xml" Id="Rfd85caabb1404903" /><Relationship Type="http://schemas.openxmlformats.org/officeDocument/2006/relationships/slide" Target="/ppt/slides/slide33.xml" Id="Rd49be9f84d494e38" /><Relationship Type="http://schemas.openxmlformats.org/officeDocument/2006/relationships/slide" Target="/ppt/slides/slide34.xml" Id="Reae83560fa384e58" /><Relationship Type="http://schemas.openxmlformats.org/officeDocument/2006/relationships/slide" Target="/ppt/slides/slide35.xml" Id="Rbfda3209a25f4634" /><Relationship Type="http://schemas.openxmlformats.org/officeDocument/2006/relationships/slide" Target="/ppt/slides/slide36.xml" Id="R4bca8735c34045bc" /><Relationship Type="http://schemas.openxmlformats.org/officeDocument/2006/relationships/slide" Target="/ppt/slides/slide37.xml" Id="R47b469c812da45e5" /><Relationship Type="http://schemas.openxmlformats.org/officeDocument/2006/relationships/slide" Target="/ppt/slides/slide38.xml" Id="R9df69db211144d51" /><Relationship Type="http://schemas.openxmlformats.org/officeDocument/2006/relationships/slide" Target="/ppt/slides/slide39.xml" Id="R69c2368b459947ca" /><Relationship Type="http://schemas.openxmlformats.org/officeDocument/2006/relationships/slide" Target="/ppt/slides/slide40.xml" Id="R4f1058dbd9664b91" /><Relationship Type="http://schemas.openxmlformats.org/officeDocument/2006/relationships/slide" Target="/ppt/slides/slide41.xml" Id="Re648d2ddedfe4178" /><Relationship Type="http://schemas.openxmlformats.org/officeDocument/2006/relationships/slide" Target="/ppt/slides/slide42.xml" Id="Raa995d4599df4196" /><Relationship Type="http://schemas.openxmlformats.org/officeDocument/2006/relationships/slide" Target="/ppt/slides/slide43.xml" Id="R1cca02daf781483f" /><Relationship Type="http://schemas.openxmlformats.org/officeDocument/2006/relationships/slide" Target="/ppt/slides/slide44.xml" Id="R9f4c240a167a44c6" /><Relationship Type="http://schemas.openxmlformats.org/officeDocument/2006/relationships/slide" Target="/ppt/slides/slide45.xml" Id="Rfca954a8d89746c9" /><Relationship Type="http://schemas.openxmlformats.org/officeDocument/2006/relationships/slide" Target="/ppt/slides/slide46.xml" Id="R815bee6e04a345aa" /><Relationship Type="http://schemas.openxmlformats.org/officeDocument/2006/relationships/slide" Target="/ppt/slides/slide47.xml" Id="R07dc465bd5a14f37" /><Relationship Type="http://schemas.openxmlformats.org/officeDocument/2006/relationships/slide" Target="/ppt/slides/slide48.xml" Id="R3abdaf45257a46eb" /><Relationship Type="http://schemas.openxmlformats.org/officeDocument/2006/relationships/slide" Target="/ppt/slides/slide49.xml" Id="R109d6e07b5864743" /><Relationship Type="http://schemas.openxmlformats.org/officeDocument/2006/relationships/slide" Target="/ppt/slides/slide50.xml" Id="Rb78f3df555114fdb" /><Relationship Type="http://schemas.openxmlformats.org/officeDocument/2006/relationships/slide" Target="/ppt/slides/slide51.xml" Id="R824b17d22f99481c" /><Relationship Type="http://schemas.openxmlformats.org/officeDocument/2006/relationships/slide" Target="/ppt/slides/slide52.xml" Id="Rc64e7a0b38b34802" /><Relationship Type="http://schemas.openxmlformats.org/officeDocument/2006/relationships/slide" Target="/ppt/slides/slide53.xml" Id="Rb260fd2177554d09" /><Relationship Type="http://schemas.openxmlformats.org/officeDocument/2006/relationships/slide" Target="/ppt/slides/slide54.xml" Id="R76d61bc6e38040bf" /><Relationship Type="http://schemas.openxmlformats.org/officeDocument/2006/relationships/slide" Target="/ppt/slides/slide55.xml" Id="Rd1bd9c2ee73e4438" /><Relationship Type="http://schemas.openxmlformats.org/officeDocument/2006/relationships/slide" Target="/ppt/slides/slide56.xml" Id="Rd2e81f211eca4c33" /><Relationship Type="http://schemas.openxmlformats.org/officeDocument/2006/relationships/slide" Target="/ppt/slides/slide57.xml" Id="R78aa86c543654716" /><Relationship Type="http://schemas.openxmlformats.org/officeDocument/2006/relationships/slide" Target="/ppt/slides/slide58.xml" Id="Rfac8812c28ea4305" /><Relationship Type="http://schemas.openxmlformats.org/officeDocument/2006/relationships/slide" Target="/ppt/slides/slide59.xml" Id="Rbc7386e5feb34056" /><Relationship Type="http://schemas.openxmlformats.org/officeDocument/2006/relationships/slide" Target="/ppt/slides/slide60.xml" Id="R0096030de1c64e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4afe920bf84e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b098f4fd945be" /><Relationship Type="http://schemas.openxmlformats.org/officeDocument/2006/relationships/notesMaster" Target="/ppt/notesMasters/notesMaster1.xml" Id="R90fddcfdbf0a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5be54a81784b74" /><Relationship Type="http://schemas.openxmlformats.org/officeDocument/2006/relationships/notesMaster" Target="/ppt/notesMasters/notesMaster1.xml" Id="Rbce4dd85504441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9d895b473a45cf" /><Relationship Type="http://schemas.openxmlformats.org/officeDocument/2006/relationships/notesMaster" Target="/ppt/notesMasters/notesMaster1.xml" Id="R4c8c54fafc6147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f2fcd0a7d54810" /><Relationship Type="http://schemas.openxmlformats.org/officeDocument/2006/relationships/notesMaster" Target="/ppt/notesMasters/notesMaster1.xml" Id="R0d32535fadc44e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eeff3337814f62" /><Relationship Type="http://schemas.openxmlformats.org/officeDocument/2006/relationships/notesMaster" Target="/ppt/notesMasters/notesMaster1.xml" Id="Re3e67fe19c1a44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bf884ffa8549de" /><Relationship Type="http://schemas.openxmlformats.org/officeDocument/2006/relationships/notesMaster" Target="/ppt/notesMasters/notesMaster1.xml" Id="R18765cbfa17944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ca971105740a8" /><Relationship Type="http://schemas.openxmlformats.org/officeDocument/2006/relationships/notesMaster" Target="/ppt/notesMasters/notesMaster1.xml" Id="Reb35d81856d543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91bbd46781401a" /><Relationship Type="http://schemas.openxmlformats.org/officeDocument/2006/relationships/notesMaster" Target="/ppt/notesMasters/notesMaster1.xml" Id="R2bb31f6e2df740b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a88bb26b784d25" /><Relationship Type="http://schemas.openxmlformats.org/officeDocument/2006/relationships/notesMaster" Target="/ppt/notesMasters/notesMaster1.xml" Id="Rb8d18ee8097444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98f4344339449e" /><Relationship Type="http://schemas.openxmlformats.org/officeDocument/2006/relationships/notesMaster" Target="/ppt/notesMasters/notesMaster1.xml" Id="R99e3d1abeb7842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9f3b6921f44354" /><Relationship Type="http://schemas.openxmlformats.org/officeDocument/2006/relationships/notesMaster" Target="/ppt/notesMasters/notesMaster1.xml" Id="Rb20166a400a245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690333fe1b4d1b" /><Relationship Type="http://schemas.openxmlformats.org/officeDocument/2006/relationships/notesMaster" Target="/ppt/notesMasters/notesMaster1.xml" Id="R946fc3930b1f429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b361c62a4a440d" /><Relationship Type="http://schemas.openxmlformats.org/officeDocument/2006/relationships/notesMaster" Target="/ppt/notesMasters/notesMaster1.xml" Id="Rc0bbb3cb654c40c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2ae8d8e5ae4ee8" /><Relationship Type="http://schemas.openxmlformats.org/officeDocument/2006/relationships/notesMaster" Target="/ppt/notesMasters/notesMaster1.xml" Id="R7ae74d0448464dc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8a02186b0d4d56" /><Relationship Type="http://schemas.openxmlformats.org/officeDocument/2006/relationships/notesMaster" Target="/ppt/notesMasters/notesMaster1.xml" Id="R0e06204f126c499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90866ea4f4463f" /><Relationship Type="http://schemas.openxmlformats.org/officeDocument/2006/relationships/notesMaster" Target="/ppt/notesMasters/notesMaster1.xml" Id="Rc9216df235d04bf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7a60115e0954f03" /><Relationship Type="http://schemas.openxmlformats.org/officeDocument/2006/relationships/notesMaster" Target="/ppt/notesMasters/notesMaster1.xml" Id="R7432b237d6a1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1b7ead787f4019" /><Relationship Type="http://schemas.openxmlformats.org/officeDocument/2006/relationships/notesMaster" Target="/ppt/notesMasters/notesMaster1.xml" Id="R5f7e98620a5d493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b77bfdf25154ffd" /><Relationship Type="http://schemas.openxmlformats.org/officeDocument/2006/relationships/notesMaster" Target="/ppt/notesMasters/notesMaster1.xml" Id="Rf3a53af31e0c4d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9a101a3f5bd41c2" /><Relationship Type="http://schemas.openxmlformats.org/officeDocument/2006/relationships/notesMaster" Target="/ppt/notesMasters/notesMaster1.xml" Id="R2f13340a29df46f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cf5d2590e2247ee" /><Relationship Type="http://schemas.openxmlformats.org/officeDocument/2006/relationships/notesMaster" Target="/ppt/notesMasters/notesMaster1.xml" Id="R5cad7d7673664b5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a80e5749124733" /><Relationship Type="http://schemas.openxmlformats.org/officeDocument/2006/relationships/notesMaster" Target="/ppt/notesMasters/notesMaster1.xml" Id="R577f8d90c27a46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92bc3a062cc4701" /><Relationship Type="http://schemas.openxmlformats.org/officeDocument/2006/relationships/notesMaster" Target="/ppt/notesMasters/notesMaster1.xml" Id="Radcdf2eead6648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920b4d60fd44b2" /><Relationship Type="http://schemas.openxmlformats.org/officeDocument/2006/relationships/notesMaster" Target="/ppt/notesMasters/notesMaster1.xml" Id="R773bd78a536348b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313beb8cb5d4d11" /><Relationship Type="http://schemas.openxmlformats.org/officeDocument/2006/relationships/notesMaster" Target="/ppt/notesMasters/notesMaster1.xml" Id="R31fdb94aa14042d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70bc53581fa4536" /><Relationship Type="http://schemas.openxmlformats.org/officeDocument/2006/relationships/notesMaster" Target="/ppt/notesMasters/notesMaster1.xml" Id="R2f882395736b49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7c2d72dee945d4" /><Relationship Type="http://schemas.openxmlformats.org/officeDocument/2006/relationships/notesMaster" Target="/ppt/notesMasters/notesMaster1.xml" Id="R71da1f386411467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61c9e7c551478d" /><Relationship Type="http://schemas.openxmlformats.org/officeDocument/2006/relationships/notesMaster" Target="/ppt/notesMasters/notesMaster1.xml" Id="Rac7c6de0004a461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5e68814f7a84349" /><Relationship Type="http://schemas.openxmlformats.org/officeDocument/2006/relationships/notesMaster" Target="/ppt/notesMasters/notesMaster1.xml" Id="R9c4c71c396994d6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f09613d350a43c5" /><Relationship Type="http://schemas.openxmlformats.org/officeDocument/2006/relationships/notesMaster" Target="/ppt/notesMasters/notesMaster1.xml" Id="Rc6c69aefe951473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f187b5c59834776" /><Relationship Type="http://schemas.openxmlformats.org/officeDocument/2006/relationships/notesMaster" Target="/ppt/notesMasters/notesMaster1.xml" Id="Rb52916f22f91451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32a278bca9e484a" /><Relationship Type="http://schemas.openxmlformats.org/officeDocument/2006/relationships/notesMaster" Target="/ppt/notesMasters/notesMaster1.xml" Id="Rcbc3aa2f4e624a5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19c88fd920648a4" /><Relationship Type="http://schemas.openxmlformats.org/officeDocument/2006/relationships/notesMaster" Target="/ppt/notesMasters/notesMaster1.xml" Id="R4af65794c0724cbb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ee2928502db44d6" /><Relationship Type="http://schemas.openxmlformats.org/officeDocument/2006/relationships/notesMaster" Target="/ppt/notesMasters/notesMaster1.xml" Id="Rb6a9a37753cc4f6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48cc91502aa24252" /><Relationship Type="http://schemas.openxmlformats.org/officeDocument/2006/relationships/notesMaster" Target="/ppt/notesMasters/notesMaster1.xml" Id="R1239e4c59cbb4a4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4b0930e728a47a5" /><Relationship Type="http://schemas.openxmlformats.org/officeDocument/2006/relationships/notesMaster" Target="/ppt/notesMasters/notesMaster1.xml" Id="Ra748bf33599347e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ca75a817c164578" /><Relationship Type="http://schemas.openxmlformats.org/officeDocument/2006/relationships/notesMaster" Target="/ppt/notesMasters/notesMaster1.xml" Id="Rd9572747eee44d3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3dcfcc6591f498d" /><Relationship Type="http://schemas.openxmlformats.org/officeDocument/2006/relationships/notesMaster" Target="/ppt/notesMasters/notesMaster1.xml" Id="Rb8cb677e5c8a467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af0620bd57e4dc3" /><Relationship Type="http://schemas.openxmlformats.org/officeDocument/2006/relationships/notesMaster" Target="/ppt/notesMasters/notesMaster1.xml" Id="Rebf3bc37d3034c4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69f8ee9f5ca4221" /><Relationship Type="http://schemas.openxmlformats.org/officeDocument/2006/relationships/notesMaster" Target="/ppt/notesMasters/notesMaster1.xml" Id="Rba961264142f42d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d1bcd9396854f30" /><Relationship Type="http://schemas.openxmlformats.org/officeDocument/2006/relationships/notesMaster" Target="/ppt/notesMasters/notesMaster1.xml" Id="Rb0387c3b8a594d2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483d3615793499e" /><Relationship Type="http://schemas.openxmlformats.org/officeDocument/2006/relationships/notesMaster" Target="/ppt/notesMasters/notesMaster1.xml" Id="Ra7572cff2e1d425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d7dc26d88b944ce" /><Relationship Type="http://schemas.openxmlformats.org/officeDocument/2006/relationships/notesMaster" Target="/ppt/notesMasters/notesMaster1.xml" Id="Rb81552e6e7ce47a8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6b53826695a45d6" /><Relationship Type="http://schemas.openxmlformats.org/officeDocument/2006/relationships/notesMaster" Target="/ppt/notesMasters/notesMaster1.xml" Id="R0766a6e1dd084a1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d0c3d5635524097" /><Relationship Type="http://schemas.openxmlformats.org/officeDocument/2006/relationships/notesMaster" Target="/ppt/notesMasters/notesMaster1.xml" Id="Reaf96bb7826e411c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5643c60f4dc8445e" /><Relationship Type="http://schemas.openxmlformats.org/officeDocument/2006/relationships/notesMaster" Target="/ppt/notesMasters/notesMaster1.xml" Id="Rca70f97c4eb0499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95c3d51c259459c" /><Relationship Type="http://schemas.openxmlformats.org/officeDocument/2006/relationships/notesMaster" Target="/ppt/notesMasters/notesMaster1.xml" Id="R04b8705f8645404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ecf6b51c4714e1b" /><Relationship Type="http://schemas.openxmlformats.org/officeDocument/2006/relationships/notesMaster" Target="/ppt/notesMasters/notesMaster1.xml" Id="Reb31199253b64faa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ce3358d769c4320" /><Relationship Type="http://schemas.openxmlformats.org/officeDocument/2006/relationships/notesMaster" Target="/ppt/notesMasters/notesMaster1.xml" Id="R5f0ee89c0e0641d5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2cacd23bec846d2" /><Relationship Type="http://schemas.openxmlformats.org/officeDocument/2006/relationships/notesMaster" Target="/ppt/notesMasters/notesMaster1.xml" Id="Rc842a04ce0dc467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a3b4de5cbbea414a" /><Relationship Type="http://schemas.openxmlformats.org/officeDocument/2006/relationships/notesMaster" Target="/ppt/notesMasters/notesMaster1.xml" Id="R20689a0170ef4a22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2d192e1580142c6" /><Relationship Type="http://schemas.openxmlformats.org/officeDocument/2006/relationships/notesMaster" Target="/ppt/notesMasters/notesMaster1.xml" Id="Rf392e4ec8296434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4c14544054e4972" /><Relationship Type="http://schemas.openxmlformats.org/officeDocument/2006/relationships/notesMaster" Target="/ppt/notesMasters/notesMaster1.xml" Id="R5eaeaf378b6b478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fe12adae7a44054" /><Relationship Type="http://schemas.openxmlformats.org/officeDocument/2006/relationships/notesMaster" Target="/ppt/notesMasters/notesMaster1.xml" Id="R1271b3a60573478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476b2834f224bdc" /><Relationship Type="http://schemas.openxmlformats.org/officeDocument/2006/relationships/notesMaster" Target="/ppt/notesMasters/notesMaster1.xml" Id="R08ec03c58aee490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60ce458342854bc1" /><Relationship Type="http://schemas.openxmlformats.org/officeDocument/2006/relationships/notesMaster" Target="/ppt/notesMasters/notesMaster1.xml" Id="R58c29f37923f4d5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9351a05f0f374290" /><Relationship Type="http://schemas.openxmlformats.org/officeDocument/2006/relationships/notesMaster" Target="/ppt/notesMasters/notesMaster1.xml" Id="Rb683881e5d3a48f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e2a75dd6cbe9406f" /><Relationship Type="http://schemas.openxmlformats.org/officeDocument/2006/relationships/notesMaster" Target="/ppt/notesMasters/notesMaster1.xml" Id="R6663bc2f0a024c8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cd57fe0a00443ba" /><Relationship Type="http://schemas.openxmlformats.org/officeDocument/2006/relationships/notesMaster" Target="/ppt/notesMasters/notesMaster1.xml" Id="R7042b39c386a45a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169a0a8ee394e96" /><Relationship Type="http://schemas.openxmlformats.org/officeDocument/2006/relationships/notesMaster" Target="/ppt/notesMasters/notesMaster1.xml" Id="R88a2b616ff6f4a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with smartphones: the same device uses memory materials to store data and display materials to show pixels.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 module is about how chemical structure creates electronic and optical function.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a functional material is selected because it performs a useful electronic or optical function.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flow can be used for almost every long answer in Module 1.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a phone saving a photo as the everyday example.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each requirement to material properties.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conjugated pi-electrons support charge movement.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chemistry-tunable molecules with rigid silicon processing.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holes as missing electrons that move through the material.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planar conjugation and hole mobility.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conceptual molecule sketch without going into full structural drawing.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that substituting hydrogens with fluorine lowers energy levels and favors electrons.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to make the two examples stick.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neither is simply better; they fit different applications.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 typical organic memory device uses electrodes and active organic material in thin layers.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through the source, drain, gate dielectric and pentacene channel.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electrical bias to carrier movement in the organic layer.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stability and encapsulation as practical considerations.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smart card, wearable sensor and display backplane examples.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slide to prevent exam and viva confusion.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Introduce HRS as 0 and LRS as 1 for memory.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read operation senses current at a small voltage.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TiO2 defects to resistance change at a conceptual level.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sol-gel as solution-to-solid chemistry.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titanium alkoxide precursor as a typical example without requiring exact lab recipe.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that synthesis conditions control final properties.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defect chemistry as the key memory idea.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SET moves to LRS; RESET moves back to HRS.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IoT sensor node as example.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pixels to materials.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roadmap for the display half.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LC is a state of matter useful for displays.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For display systems, nematic behavior is a key example.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properties directly to display behavior.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LCDs usually modulate light rather than create it.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Tie LC properties to use cases.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electrical energy to light energy.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 and n regions with active region.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color depends on semiconductor band gap.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LEDs with incandescent lamps briefly.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OLED pixels can produce their own light.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Walk through charge injection from each electrode.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no backlight is required for OLED emission.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lifetime and moisture sensitivity as limitations.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active matrix means each pixel has local electronic control.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TFT backplane as the difference from simple OLED.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this allows high-resolution displays.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phone screen as the everyday example.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the focus on Module 1 display systems; Module 2 covers quantum dots deeper.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QLED structures vary, but quantum-dot layer is the key material feature.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dot size/composition tunes color at a concept level.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color purity as the main memory point.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comparison helps prevent name confusion.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the unity between memory and display topics.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exam-protection slide.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is the answer template for pentacene chip, ReRAM, LED, OLED, AMOLED and QLED.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summary.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as quick viva.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these cover short and long-answer patterns.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one material-device pair using the keywords.</a:t>
            </a:r>
          </a:p>
          <a:p xmlns:a="http://schemas.openxmlformats.org/drawingml/2006/main">
            <a:r>
              <a:t>Pause cue: pause after the device stack or process flow appears; ask students to name the active material before moving on.</a:t>
            </a:r>
          </a:p>
          <a:p xmlns:a="http://schemas.openxmlformats.org/drawingml/2006/main">
            <a:r>
              <a:t>Pointing cue: point left-to-right through process diagrams; for device slides, point from electrode/contact to active layer to output.</a:t>
            </a:r>
          </a:p>
          <a:p xmlns:a="http://schemas.openxmlformats.org/drawingml/2006/main">
            <a:r>
              <a:t>Question to ask students: Ask students to connect the material property with the device function.</a:t>
            </a:r>
          </a:p>
          <a:p xmlns:a="http://schemas.openxmlformats.org/drawingml/2006/main">
            <a:r>
              <a:t>Animation instructions: Fade title; appear bullets/cards one by one; wipe arrows in process order; highlight keywords such as p-type, n-type, TiO2, LC, OLED, AMOLED and QLED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1 checklist, downloaded from https://vtu.ac.in/pdf/UG2024/1BCHES102.pdf on 2026-08-11; syllabus-listed textbooks: Engineering Chemistry, Suba Ramesh, Vairam, Ananda Murthy, Wiley India, 2011; A Textbook of Engineering Chemistry, R.V. Gadag and Nityananda Shetty, I.K. International, 2nd ed., 2016; Engineering Chemistry, Jain &amp; Jain, Dhanpat Rai; syllabus-listed references for Module 1 topics include Semiconducting Materials and Devices, Deepak Verma; Organic Thin Film Transistor Applications: Materials to Circuits, Brajesh K. Kaushik et al.; High Quality Liquid Crystal Displays and Smart Devices, Ishihara, Kobayashi &amp; Ukai, IET, 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7cb3a814f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035eb55144697" /><Relationship Type="http://schemas.openxmlformats.org/officeDocument/2006/relationships/slideLayout" Target="/ppt/slideLayouts/slideLayout1.xml" Id="Rf9dbd593dc1a49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dbd593dc1a49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bc9a891344063" /><Relationship Type="http://schemas.openxmlformats.org/officeDocument/2006/relationships/notesSlide" Target="/ppt/notesSlides/notesSlide1.xml" Id="R3247747a54064b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03165744c4064" /><Relationship Type="http://schemas.openxmlformats.org/officeDocument/2006/relationships/notesSlide" Target="/ppt/notesSlides/notesSlide2.xml" Id="R6ca086063d5140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4039c623542a5" /><Relationship Type="http://schemas.openxmlformats.org/officeDocument/2006/relationships/notesSlide" Target="/ppt/notesSlides/notesSlide3.xml" Id="R9926ddb3178946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81240f9214d62" /><Relationship Type="http://schemas.openxmlformats.org/officeDocument/2006/relationships/notesSlide" Target="/ppt/notesSlides/notesSlide4.xml" Id="Rdf5e35bda14f44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bb64ad12f4754" /><Relationship Type="http://schemas.openxmlformats.org/officeDocument/2006/relationships/notesSlide" Target="/ppt/notesSlides/notesSlide5.xml" Id="Rda2f3811c9b747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d8d76fcbe4ead" /><Relationship Type="http://schemas.openxmlformats.org/officeDocument/2006/relationships/notesSlide" Target="/ppt/notesSlides/notesSlide6.xml" Id="Rc33f1bdc1c1e42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f00ffc60c41be" /><Relationship Type="http://schemas.openxmlformats.org/officeDocument/2006/relationships/notesSlide" Target="/ppt/notesSlides/notesSlide7.xml" Id="Rc8f7fa8fc61740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c8e9be5dc4fd5" /><Relationship Type="http://schemas.openxmlformats.org/officeDocument/2006/relationships/notesSlide" Target="/ppt/notesSlides/notesSlide8.xml" Id="R65aca3feceba48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7559e9e5f4e7f" /><Relationship Type="http://schemas.openxmlformats.org/officeDocument/2006/relationships/notesSlide" Target="/ppt/notesSlides/notesSlide9.xml" Id="R3bd06b2d2ca14a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5c6ac759f430d" /><Relationship Type="http://schemas.openxmlformats.org/officeDocument/2006/relationships/notesSlide" Target="/ppt/notesSlides/notesSlide10.xml" Id="R802282c6b6854c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da8c9c7a64236" /><Relationship Type="http://schemas.openxmlformats.org/officeDocument/2006/relationships/notesSlide" Target="/ppt/notesSlides/notesSlide11.xml" Id="R0c28a03e15e042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1bd2f9c7e42c8" /><Relationship Type="http://schemas.openxmlformats.org/officeDocument/2006/relationships/notesSlide" Target="/ppt/notesSlides/notesSlide12.xml" Id="Rc7af719135d649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ca14473b148af" /><Relationship Type="http://schemas.openxmlformats.org/officeDocument/2006/relationships/notesSlide" Target="/ppt/notesSlides/notesSlide13.xml" Id="R6f2b87c057cd49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309e8c24647f9" /><Relationship Type="http://schemas.openxmlformats.org/officeDocument/2006/relationships/notesSlide" Target="/ppt/notesSlides/notesSlide14.xml" Id="R39d6d21ec5ad40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bc35b264c413b" /><Relationship Type="http://schemas.openxmlformats.org/officeDocument/2006/relationships/notesSlide" Target="/ppt/notesSlides/notesSlide15.xml" Id="R53b8091c7add4c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a6f7b82844c6a" /><Relationship Type="http://schemas.openxmlformats.org/officeDocument/2006/relationships/notesSlide" Target="/ppt/notesSlides/notesSlide16.xml" Id="R8b0942c028fb412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4be80897c4077" /><Relationship Type="http://schemas.openxmlformats.org/officeDocument/2006/relationships/notesSlide" Target="/ppt/notesSlides/notesSlide17.xml" Id="R7ed8baf8206340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1496d87c234e95" /><Relationship Type="http://schemas.openxmlformats.org/officeDocument/2006/relationships/notesSlide" Target="/ppt/notesSlides/notesSlide18.xml" Id="Rd53a71afe5a345a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b4b65f655450c" /><Relationship Type="http://schemas.openxmlformats.org/officeDocument/2006/relationships/notesSlide" Target="/ppt/notesSlides/notesSlide19.xml" Id="Rd4539cb4cfbc4fb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5f10eb4614338" /><Relationship Type="http://schemas.openxmlformats.org/officeDocument/2006/relationships/notesSlide" Target="/ppt/notesSlides/notesSlide20.xml" Id="Rc8eb3fba88124b4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77be90f834310" /><Relationship Type="http://schemas.openxmlformats.org/officeDocument/2006/relationships/notesSlide" Target="/ppt/notesSlides/notesSlide21.xml" Id="Rf66ac915d9be4c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a62472c834399" /><Relationship Type="http://schemas.openxmlformats.org/officeDocument/2006/relationships/notesSlide" Target="/ppt/notesSlides/notesSlide22.xml" Id="Re0481eea6b1f40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89092702f4be3" /><Relationship Type="http://schemas.openxmlformats.org/officeDocument/2006/relationships/notesSlide" Target="/ppt/notesSlides/notesSlide23.xml" Id="R4152723b36f34ad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7542a32974c5c" /><Relationship Type="http://schemas.openxmlformats.org/officeDocument/2006/relationships/notesSlide" Target="/ppt/notesSlides/notesSlide24.xml" Id="R82fb5974c5f34a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20fb2367a4e90" /><Relationship Type="http://schemas.openxmlformats.org/officeDocument/2006/relationships/notesSlide" Target="/ppt/notesSlides/notesSlide25.xml" Id="R883783932f904a4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bb9977dd4471" /><Relationship Type="http://schemas.openxmlformats.org/officeDocument/2006/relationships/notesSlide" Target="/ppt/notesSlides/notesSlide26.xml" Id="R92ef89f09998472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5223ad63b439e" /><Relationship Type="http://schemas.openxmlformats.org/officeDocument/2006/relationships/notesSlide" Target="/ppt/notesSlides/notesSlide27.xml" Id="R1d7b66c44ee149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77f0611db4a4b" /><Relationship Type="http://schemas.openxmlformats.org/officeDocument/2006/relationships/notesSlide" Target="/ppt/notesSlides/notesSlide28.xml" Id="Rc753fc8af98f47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8df7e3c234ef9" /><Relationship Type="http://schemas.openxmlformats.org/officeDocument/2006/relationships/notesSlide" Target="/ppt/notesSlides/notesSlide29.xml" Id="R87da7ead472c422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830914a814a61" /><Relationship Type="http://schemas.openxmlformats.org/officeDocument/2006/relationships/notesSlide" Target="/ppt/notesSlides/notesSlide30.xml" Id="Rca94f563d8a3417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80256a3664673" /><Relationship Type="http://schemas.openxmlformats.org/officeDocument/2006/relationships/notesSlide" Target="/ppt/notesSlides/notesSlide31.xml" Id="R713ef30e6cf64bd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6b1f4160af49dc" /><Relationship Type="http://schemas.openxmlformats.org/officeDocument/2006/relationships/notesSlide" Target="/ppt/notesSlides/notesSlide32.xml" Id="R20dc4e5b9e374e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85d61f8fd4e2f" /><Relationship Type="http://schemas.openxmlformats.org/officeDocument/2006/relationships/notesSlide" Target="/ppt/notesSlides/notesSlide33.xml" Id="R180948cd945d45a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9033fb6354a89" /><Relationship Type="http://schemas.openxmlformats.org/officeDocument/2006/relationships/notesSlide" Target="/ppt/notesSlides/notesSlide34.xml" Id="R071e05101f2d4c4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ea46d1d384ded" /><Relationship Type="http://schemas.openxmlformats.org/officeDocument/2006/relationships/notesSlide" Target="/ppt/notesSlides/notesSlide35.xml" Id="R5bbdccb08c804ce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07390db4e4d0c" /><Relationship Type="http://schemas.openxmlformats.org/officeDocument/2006/relationships/notesSlide" Target="/ppt/notesSlides/notesSlide36.xml" Id="Rf08b6dfcabea461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4e2fa4af84fd7" /><Relationship Type="http://schemas.openxmlformats.org/officeDocument/2006/relationships/notesSlide" Target="/ppt/notesSlides/notesSlide37.xml" Id="R35303b45ee4a412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d925749444269" /><Relationship Type="http://schemas.openxmlformats.org/officeDocument/2006/relationships/notesSlide" Target="/ppt/notesSlides/notesSlide38.xml" Id="Rf6429285b8ed46c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badd84c4b4a87" /><Relationship Type="http://schemas.openxmlformats.org/officeDocument/2006/relationships/notesSlide" Target="/ppt/notesSlides/notesSlide39.xml" Id="R40080a2842ea406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d23331d7d4c61" /><Relationship Type="http://schemas.openxmlformats.org/officeDocument/2006/relationships/notesSlide" Target="/ppt/notesSlides/notesSlide40.xml" Id="R4f092e306e404e2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6864bf51a4947" /><Relationship Type="http://schemas.openxmlformats.org/officeDocument/2006/relationships/notesSlide" Target="/ppt/notesSlides/notesSlide41.xml" Id="Rdfdac0d94af14f6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a8041dba85494c" /><Relationship Type="http://schemas.openxmlformats.org/officeDocument/2006/relationships/notesSlide" Target="/ppt/notesSlides/notesSlide42.xml" Id="R9b39b2edaed64b3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45c468dea41ad" /><Relationship Type="http://schemas.openxmlformats.org/officeDocument/2006/relationships/notesSlide" Target="/ppt/notesSlides/notesSlide43.xml" Id="R73ef9e5582a942a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6d555e56c448e" /><Relationship Type="http://schemas.openxmlformats.org/officeDocument/2006/relationships/notesSlide" Target="/ppt/notesSlides/notesSlide44.xml" Id="R3d40dc465e3148b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7e5c59a2a4965" /><Relationship Type="http://schemas.openxmlformats.org/officeDocument/2006/relationships/notesSlide" Target="/ppt/notesSlides/notesSlide45.xml" Id="Ra1b9ea6335c64d7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fa6b3874e40e9" /><Relationship Type="http://schemas.openxmlformats.org/officeDocument/2006/relationships/notesSlide" Target="/ppt/notesSlides/notesSlide46.xml" Id="R532d80eb802f4ae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29edbaa134add" /><Relationship Type="http://schemas.openxmlformats.org/officeDocument/2006/relationships/notesSlide" Target="/ppt/notesSlides/notesSlide47.xml" Id="Rbc4ef130e5304f62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c58e54e1d41fa" /><Relationship Type="http://schemas.openxmlformats.org/officeDocument/2006/relationships/notesSlide" Target="/ppt/notesSlides/notesSlide48.xml" Id="Rce7a060694614478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c8f9c21524b8f" /><Relationship Type="http://schemas.openxmlformats.org/officeDocument/2006/relationships/notesSlide" Target="/ppt/notesSlides/notesSlide49.xml" Id="R6d0cdc70b7dc48c5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9ed233c5344b1" /><Relationship Type="http://schemas.openxmlformats.org/officeDocument/2006/relationships/notesSlide" Target="/ppt/notesSlides/notesSlide50.xml" Id="Rac7b5f57983c4905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cd373f86045e6" /><Relationship Type="http://schemas.openxmlformats.org/officeDocument/2006/relationships/notesSlide" Target="/ppt/notesSlides/notesSlide51.xml" Id="R64fbb1027b4f4246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67a351f954d92" /><Relationship Type="http://schemas.openxmlformats.org/officeDocument/2006/relationships/notesSlide" Target="/ppt/notesSlides/notesSlide52.xml" Id="R5b5fd3b24727412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7a56c84ca419f" /><Relationship Type="http://schemas.openxmlformats.org/officeDocument/2006/relationships/notesSlide" Target="/ppt/notesSlides/notesSlide53.xml" Id="R324085d94fcb46a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651c36c7f4ab1" /><Relationship Type="http://schemas.openxmlformats.org/officeDocument/2006/relationships/notesSlide" Target="/ppt/notesSlides/notesSlide54.xml" Id="R49357ff5111d442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39f2bdc9c43b9" /><Relationship Type="http://schemas.openxmlformats.org/officeDocument/2006/relationships/notesSlide" Target="/ppt/notesSlides/notesSlide55.xml" Id="R84b1fd5854f14774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08fdce6374f83" /><Relationship Type="http://schemas.openxmlformats.org/officeDocument/2006/relationships/notesSlide" Target="/ppt/notesSlides/notesSlide56.xml" Id="Rc88b8881b40945b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b5ffad0e14c02" /><Relationship Type="http://schemas.openxmlformats.org/officeDocument/2006/relationships/notesSlide" Target="/ppt/notesSlides/notesSlide57.xml" Id="R450fbfb48cc340fc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5c7e6932143f6" /><Relationship Type="http://schemas.openxmlformats.org/officeDocument/2006/relationships/notesSlide" Target="/ppt/notesSlides/notesSlide58.xml" Id="R5a8c9d52445a4b85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0c9b15d284e58" /><Relationship Type="http://schemas.openxmlformats.org/officeDocument/2006/relationships/notesSlide" Target="/ppt/notesSlides/notesSlide59.xml" Id="R509ee0c4fb0f43c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e41c3a6db4016" /><Relationship Type="http://schemas.openxmlformats.org/officeDocument/2006/relationships/notesSlide" Target="/ppt/notesSlides/notesSlide60.xml" Id="R27fa88a508f94f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C0C8ED-F0F6-4537-9CBC-BCAB1C91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70108-CB24-4D86-BEFF-35E48CD2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Functional Materials for Memory and Display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891CA-58D5-4F17-95D3-5B90723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Module 1 connects material chemistry with smart memory chips and modern displays.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CC4B2-6E07-45FF-8BEC-AD9D61B7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DE737-DE57-4F2F-BA67-47487F77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6C34B-4F3B-4584-83EA-B76389E8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2E1F8-2247-4909-8F03-B8C7D3A7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C7955-8E73-4055-B79A-05BB47C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0B62F-BCA3-4629-BD88-4C0EB5E2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Applied Chemistry</a:t>
            </a:r>
          </a:p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Module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1117F-EB5C-4204-B4A9-F8A422D0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C9D6"/>
                </a:solidFill>
              </a:defRPr>
            </a:pPr>
            <a:r>
              <a:rPr sz="1650">
                <a:solidFill>
                  <a:srgbClr val="B9C9D6"/>
                </a:solidFill>
              </a:rPr>
              <a:t>Organic semiconductors • ReRAM materials • liquid crystals • LED, OLED, AMOLED and QLED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33421-17BE-4668-BDF1-0D2E4527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295400"/>
            <a:ext cx="3095625" cy="309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154"/>
          </a:solidFill>
          <a:ln xmlns:a="http://schemas.openxmlformats.org/drawingml/2006/main" w="19050">
            <a:solidFill>
              <a:srgbClr val="2868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2A8B7-0414-4487-8767-141DC87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C8461-14A0-49ED-B96D-DCA4B7E5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6131D"/>
                </a:solidFill>
              </a:defRPr>
            </a:pPr>
            <a:r>
              <a:rPr sz="2250" b="1">
                <a:solidFill>
                  <a:srgbClr val="06131D"/>
                </a:solidFill>
              </a:rPr>
              <a:t>MEMORY</a:t>
            </a:r>
          </a:p>
          <a:p xmlns:a="http://schemas.openxmlformats.org/drawingml/2006/main">
            <a:pPr algn="ctr">
              <a:defRPr sz="2250" b="1">
                <a:solidFill>
                  <a:srgbClr val="06131D"/>
                </a:solidFill>
              </a:defRPr>
            </a:pPr>
            <a:r>
              <a:rPr sz="2250" b="1">
                <a:solidFill>
                  <a:srgbClr val="06131D"/>
                </a:solidFill>
              </a:rPr>
              <a:t>DISPLAY</a:t>
            </a:r>
          </a:p>
        </p:txBody>
      </p:sp>
    </p:spTree>
    <p:extLst>
      <p:ext uri="{BB962C8B-B14F-4D97-AF65-F5344CB8AC3E}">
        <p14:creationId xmlns:p14="http://schemas.microsoft.com/office/powerpoint/2010/main" val="326857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C7CC5-A49F-4D37-AD68-C453D86B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0A1D-ACD4-441B-A66E-1925BBCF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FFF42-D8C3-4344-942D-665062BB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Use the VTU syllabus as the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2FFB9-6178-4A3E-9F80-EF8AB72F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57246F-AFFE-43CF-A102-81B71CF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125AC-EBF7-42F0-B352-5C11B469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859EF-A321-4113-BB9F-779183D5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E8357-B379-4B3D-B066-CA882729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355E1-FADF-481B-A196-3D3554AE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5BA35-9234-46D6-B4AD-72787547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F3540-1C72-4361-A0AA-6230CD67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memory devices and organic semiconductors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EA95B-478C-415C-9FE5-9ED8898F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45131-63BE-49C2-9540-7D123DB4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D015B-5C11-4E2E-B5F8-74FF16F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Differentiate p-type pentacene and n-type perfluoropentacene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FAB7D-44C9-4B64-92C2-68CD9FF4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6DFBC-9904-4C0E-883B-547214B5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475CF7-0D7E-41EA-A533-82138F7A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Compare organic and inorganic memory devices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B4098-FB05-446A-A337-DB344F7F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186C84-7C9E-4373-8FAD-D46A4BC4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8E521-B910-48E2-A759-CBE03836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construction, working and advantages of pentacene semiconductor chip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BCAE5-54EB-446E-9A1A-22163151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A76CF-EF4A-469D-AE8B-0D3357C5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2AA9A1-8F28-49F2-A1A8-3AEB5B77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TiO2 ReRAM material, sol-gel synthesis, properties and 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3ADFD-8B8B-459E-9DE7-8C6C031E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D5DEE1-BAEE-4A67-B9B0-EEDF75A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1128C4-4FD8-4B42-A7B9-B78AC6CD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767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Explain liquid crystals, LED, OLED, AMOLED and QLED display systems</a:t>
            </a:r>
          </a:p>
        </p:txBody>
      </p:sp>
    </p:spTree>
    <p:extLst>
      <p:ext uri="{BB962C8B-B14F-4D97-AF65-F5344CB8AC3E}">
        <p14:creationId xmlns:p14="http://schemas.microsoft.com/office/powerpoint/2010/main" val="1363727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E375A-CC95-4D9B-9EA4-1E951D16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6B92D-08B9-4736-BC2D-F49C9CEA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functional materials matter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04228-CB8E-400E-A1F8-89DC3EA1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Start with the problem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4B3BB-2047-4E65-A745-B50C5F1B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A2328-1B6A-4D57-88C1-B959E70E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0522F-F86D-47E9-8BD2-3AF16BFE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E2AD6-7DEF-4F13-9B72-122CA69F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5C72-F981-415F-923F-77A74CE3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43E9B-9D52-48EE-80D7-2AF3560F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6511B-9F55-4914-B531-5D3DC9F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Store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D6CA3F-A088-4120-ACB2-53C61A4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5796A-B5E7-42F1-AF0A-2B512852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B221A1-78D2-4BDA-A763-0DDBF050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Control charge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0547C-11DA-4201-8B85-F9148AEC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1B097-96C5-48F6-B463-2DCD5012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9661E-F00A-422E-B89B-4F44E1FC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Switch resistance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90024-CF67-4F68-A8AE-F4FFE8B5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82D9AC-BB54-4956-AEEC-07793A11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D2A7E-9798-4138-BA90-02EF37B5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Emit light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52F1D-7B57-491E-9CD8-258D094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A9277-0779-40CE-B7CB-77FC0736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FBFE0E-4C4A-4BBA-A4FC-2151F60A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Display images</a:t>
            </a:r>
          </a:p>
        </p:txBody>
      </p:sp>
    </p:spTree>
    <p:extLst>
      <p:ext uri="{BB962C8B-B14F-4D97-AF65-F5344CB8AC3E}">
        <p14:creationId xmlns:p14="http://schemas.microsoft.com/office/powerpoint/2010/main" val="526421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30AC1A-224B-4A0F-A4E1-2EC216E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18486-D833-48BF-BBC5-FF93489A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Material to device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63F3-7874-43E8-84EE-CDE76267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recurring answer structure.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FAD294-5B54-4CED-AF41-58EF07BA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27699-5EC4-421C-A6EB-B90F9AA1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016FA-5D08-40E2-9847-24F2BBD3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C8CB2-8A7D-43F8-9BA4-A75381BC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9F1DF-B22F-4417-A524-6E79D91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CA149-4092-45FB-8BA4-19126F73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09B994-B41D-4732-9BF4-52253CCE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Material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CCD516-4F9E-4811-B279-3576CA0B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225CE-56BD-4D44-9264-84F3582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49E3D-CCC8-4371-8633-7C839A2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Key property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4BB8E5-894A-45EE-9C5B-9DCDC603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92ED1-934C-4A9D-9BD7-836ABD50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AAA95-08B1-406F-8711-DED275F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Device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BEB2D-037E-4580-86A5-BE7F299C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8FDBD8-7DA4-42A2-A758-4F490714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9455A-199D-4E44-B7B7-751F7570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Working principle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3AD21-FA66-4747-BD3D-D46A6FF7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1B1B7-A2E6-49B8-9D09-C3C72EA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DC0B3-66A4-4813-8A51-DE5C6935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Application</a:t>
            </a:r>
          </a:p>
        </p:txBody>
      </p:sp>
    </p:spTree>
    <p:extLst>
      <p:ext uri="{BB962C8B-B14F-4D97-AF65-F5344CB8AC3E}">
        <p14:creationId xmlns:p14="http://schemas.microsoft.com/office/powerpoint/2010/main" val="1237511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F46642-1F9F-4BC2-BBAA-4E614D20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6AF75-50F3-4BAE-B34A-F22FA7B4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memory device?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49842-D61B-44E4-80A3-D1678E7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memory device in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427DC-5034-4F53-96B2-4A34438F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553B0-5C95-4F9E-AD32-251BAC4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88C0B-552D-42FD-A6BB-9E1CB857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0E391-5B9D-4E8F-900F-11A5FCA5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Memory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E3D99-46E3-4489-9374-45350008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A75A2-8B48-47D2-9E50-0A1C1282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Memory device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EB503-F315-4EB8-866B-97A36C37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memory device stores information as a stable physical state that can be written, retained and read electrically or optically.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CD034-0211-4A35-A046-E869832F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B4D83-B8A5-4C22-88E8-CC0456C8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280D3-59F6-4080-B9C1-25DAFE63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9316E-A97D-4D67-8199-C1673D8D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71282A-3E98-480E-9722-740E4299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F89C1-D0F1-4979-9569-7E61C039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C097B-B8DB-4A3B-B532-75BD8DDC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240F0-B1C3-4F0C-95AB-A36F072E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E386A-2A42-4D08-9CB2-D65C0E1A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0B2FD-1132-4719-B75F-1336418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A946FA-DB4D-4515-A5F1-F7197DD0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B660EB-5F45-45ED-922D-ECFD05BE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D6AD6A-929D-4FE2-8C92-0915D113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F7F157-352E-49F5-8422-8DEBC618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Retention</a:t>
            </a:r>
          </a:p>
        </p:txBody>
      </p:sp>
    </p:spTree>
    <p:extLst>
      <p:ext uri="{BB962C8B-B14F-4D97-AF65-F5344CB8AC3E}">
        <p14:creationId xmlns:p14="http://schemas.microsoft.com/office/powerpoint/2010/main" val="6311323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952308-E0BE-4484-8DC1-65D25903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A9CEF-3F4F-403B-88D7-F97E9FF9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Memory devices need switching materials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DE702-EA24-4576-9988-FD8E5650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material requirement.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27F09A-4418-4F0A-911A-2834BEFF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B8157-2E81-411A-B56E-FE19C5DB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6EDB9B-4CC2-4A55-B301-845E7D66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13748-D4D1-4A92-9F12-F6285E64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Memory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537E1-A387-4552-9DF4-1F5661B0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EE548-8A6F-4E41-B926-B05555C7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2A7E4-4D8E-45F4-A227-720482AE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6C8B-5A73-4CED-B640-B8C889DC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Two states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B135F3-23D1-4770-B4C5-731A040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device must clearly distinguish 0 and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E71C2-7F3F-4ED2-8E24-07EEA49A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E0B0D1-0C09-4AB5-8CD9-1095C9AE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6AD2B-3967-4C83-85D3-2C820D7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Retention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B97C8-7CD9-43EE-90EF-222030A1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Stored state should remain stable for useful time.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13B8C9-0998-46C2-B445-FB87B591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8CD8C-CAF9-4B54-ACE1-F4432E6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04FE0-1FB5-4C43-B9A1-1D760C4F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Endurance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4E1049-38FC-4F19-BCEB-2A9D64B4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Material should tolerate repeated write/read cycles.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FACA9-6047-446B-B9BC-FD056009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E983-178E-4F62-BD11-AE7D583B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A6EF46-8315-4132-8CBB-454F6AD9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 power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A42876-BE51-41E5-A926-450BC17C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Smart systems need switching with minimum energy.</a:t>
            </a:r>
          </a:p>
        </p:txBody>
      </p:sp>
    </p:spTree>
    <p:extLst>
      <p:ext uri="{BB962C8B-B14F-4D97-AF65-F5344CB8AC3E}">
        <p14:creationId xmlns:p14="http://schemas.microsoft.com/office/powerpoint/2010/main" val="1917057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D53FA-0D53-4C06-B335-780ACAC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9685D-847B-439A-9345-562DF072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Organic semiconductors bridge chemistry and electronics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3E97-3AD8-4CE1-BDCC-3AE227C1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organic semiconductor.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E7E4D4-99E5-4F21-9F32-C00ECFA1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3CADB4-4009-4D22-AD9C-DD5F7808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727E8-51AC-4169-876D-3C1B3135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5066D-7942-4653-A01D-A710B470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Memory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1A95B-C7CB-4B54-B251-CD03850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87781-A469-4D5C-9D23-0B2A049F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Organic semiconductor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00E90-B96C-4FDD-8674-2F260407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organic semiconductor is a carbon-based pi-conjugated material whose charge transport lies between conductors and insulators.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52DF37-BF64-4C40-90C1-FE77CF9F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1AA59-8086-4312-9776-45103FCE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Carbon-based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2EA85-5114-4D8C-819F-C6FBDE8A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2D265-978D-4CF5-8D15-4F86CA84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42332-AC29-4906-9BF5-1E091EC1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Pi-conjugation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21B44-526B-40AD-AE1F-66B060D4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5C65A-D6F0-4087-B057-36A3ED14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55E6EB-4533-444E-A994-F26F2E96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Charge transport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025B9-D675-4014-859F-7585B781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95E0D-D284-4E02-89F5-893C166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C3D332-BE26-48E6-A3CA-8ECA663C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Flexible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93C5D3-F50A-4AAA-994D-9B3EC918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4262E6-34F8-402D-BCB4-B59A9F75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548CD5-7A67-4E28-A027-8B981D5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Low-temperature processing</a:t>
            </a:r>
          </a:p>
        </p:txBody>
      </p:sp>
    </p:spTree>
    <p:extLst>
      <p:ext uri="{BB962C8B-B14F-4D97-AF65-F5344CB8AC3E}">
        <p14:creationId xmlns:p14="http://schemas.microsoft.com/office/powerpoint/2010/main" val="595934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36786-C4E8-4BAF-8C5D-067CF8D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874F3-42EA-462F-9FE7-853786C0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organic semiconductors are used in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0461D-38F7-4712-B769-DAFB5ABC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Make the motivation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A4662-CA3E-4942-8D9F-C3528030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792DF-CCB1-4BCB-BA1E-589B5DD4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22FC5-24C6-412A-9BB4-5C71B934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49A92-8A85-4C04-B017-B801AF24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3C668-23D8-41F7-87BF-F1FB724A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9EC30-A794-4347-A818-00A199C7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5C3AF-0283-4432-B055-FCEE882A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33973-EF23-4515-8B2B-749EAAAD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Flexible electronics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2D338-E917-41AE-ACBE-5B697D8C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support bendable and lightweight devices.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F85CE-8BD7-4972-86AB-4CAB5075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3A02F-3BAA-4FC5-97FE-C6B6B596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4D29FC-8924-4400-99E7-B20160A5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Low-cost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0892E3-E050-4277-BA37-791A7C09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Many can be deposited from solution or thin-film methods.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6954B-2E8D-4604-BEA8-94AD7132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4E07F2-C676-44FB-90C5-2E9E5EA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AFF9A-EEB5-490B-9859-093BE16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Molecular design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27112-4770-49B5-8EA2-69950099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Chemical structure can tune energy levels and mobility.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4B3102-2486-4D85-9A43-4A9659E8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1AFD01-0AF0-4E74-A81C-88C3F9EC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C7B7D-987A-4837-AF67-E74DF51A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Device integration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6B684-006F-479B-9EEE-04EE5C13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in organic transistors, memory and display systems.</a:t>
            </a:r>
          </a:p>
        </p:txBody>
      </p:sp>
    </p:spTree>
    <p:extLst>
      <p:ext uri="{BB962C8B-B14F-4D97-AF65-F5344CB8AC3E}">
        <p14:creationId xmlns:p14="http://schemas.microsoft.com/office/powerpoint/2010/main" val="17922241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A6FE6A-66DB-49FB-BC44-A469DE5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8B5A8-C60D-4A4A-88FD-ADDA682A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p-type and n-type behavior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2F668-E0C7-4063-B790-E73234E5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carrier type.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BCEBD-82AB-4AF6-A3BF-ED0068D4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6DB7B-34A9-4227-8CF4-47B3B90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86F6E-93C1-4D66-A589-9C5B8B6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D5329-2351-4CA8-B019-969A9132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F03168-88A5-4309-BDD7-C4B3841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08F7B-43FD-4BB2-8E6F-965FCEF3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E8CB2-BE49-4251-8138-6188F73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8C798-28B1-4BC6-8014-37DE08C5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p-type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D1927-7CDD-42F1-8730-2D1D0D5E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3D3DE4-286D-4294-84BD-C74B0640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EA344-097F-4098-8BC4-5A04258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F67AAA-44E1-4FE9-8F13-A5569A1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n-type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28D41-7E5E-4FC0-B2EE-F4931921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0DD16-DA1F-45B6-9A24-33D47FEE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9A591-134B-4181-8C79-08F90A5D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F2F768-82B3-4DEC-973C-58A49590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Majority carriers are holes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ECB8F-CE9F-4B9B-87B1-9C6477E7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F4901-E443-4ACA-82B4-3AD1EF85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F96C2-7FC1-433C-B70D-D944EDAA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hole injection and transport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3E08E7-FFA8-4C79-BAFC-BC5EEB6A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C53FA-41CF-4B55-9F5A-FAC063A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E4F7A9-0840-4A34-BFFA-7AD23266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electron-rich conjugated molecules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3A6E27-34BC-47EB-B2AD-ED9EB5EF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198249-1939-4F70-A93D-17E7D80D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ED692E-0E15-4BFF-89FC-3692A546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pentacene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C09B8-E6C2-4F6E-B8A8-545F013A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250BF-201C-4FAC-B67C-5FFB1C9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698EE7-C1FF-42D8-BA34-9B6E5366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Majority carriers are electrons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472354-F37D-4A92-A31F-F0D1674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F926CA-3446-4AC7-84B2-18FE1710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E4E71B-02B6-46B4-B9A2-96CEAAB1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Good electron injection and transport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CD7029-F829-488A-B367-DA942803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E35766-7D1C-4487-83C2-D879E9BF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6DF938-6414-44BE-8ED7-827F18E3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electron-withdrawing substituents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3EAB8F-E48D-47F2-B449-1588EE6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EE9C23-DE69-4478-B3E3-0B1B1D03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87BE8C-2CBD-460A-B2E0-A435ACE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Example: perfluoropentacene</a:t>
            </a:r>
          </a:p>
        </p:txBody>
      </p:sp>
    </p:spTree>
    <p:extLst>
      <p:ext uri="{BB962C8B-B14F-4D97-AF65-F5344CB8AC3E}">
        <p14:creationId xmlns:p14="http://schemas.microsoft.com/office/powerpoint/2010/main" val="12666808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4D1E1-1B4E-4112-8614-B208532A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00A24-1C91-41A9-A0F4-1E967A7C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Pentacene is a p-type organic semiconductor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91A43-1CA5-4F43-B8C9-DA00952E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pentacene role.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D18A7-2574-4E08-9886-9926DDF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59675-3F85-413D-9E6C-1E6DF75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B2D018-A26E-44E0-8657-2A96C729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705F9-DDBB-4E31-B288-B30FAC72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0A9C2-BC47-4DD7-B61C-61B172CE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420C1-9712-4B39-B78B-5E5B4317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Pentacene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71ED8-DBB5-4710-9938-DC108CC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Pentacene is a planar polycyclic aromatic molecule widely used as a p-type organic semiconductor because it supports hole transport in thin films.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AD141-DFEC-40B6-AB62-033BC112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34727-9005-4086-B796-97381C39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p-type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02A71-0BC3-41C2-93AD-10687E15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B28EB-0AAA-4FD9-A37F-1C4CC34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5A4646-FBED-4AE4-9E9C-E198FE5F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Holes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F1D744-2E36-4897-BD18-F12FEF25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B2D942-69F8-46DE-9823-59D9BA1C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E46EE-4BC0-494E-A14E-0477F71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Planar molecule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606C1-9504-445B-AFC7-9E105F5C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8BA90-EDEB-4EBF-872A-295DF7AB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0CDCC-25EB-4316-A1D3-52CC3545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Thin film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03347-2306-4290-8FC4-6C08308D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C3D61-0C5F-488A-9E53-DF6AA920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784FDC-4703-423C-8020-55B9A5F2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Organic transistor</a:t>
            </a:r>
          </a:p>
        </p:txBody>
      </p:sp>
    </p:spTree>
    <p:extLst>
      <p:ext uri="{BB962C8B-B14F-4D97-AF65-F5344CB8AC3E}">
        <p14:creationId xmlns:p14="http://schemas.microsoft.com/office/powerpoint/2010/main" val="731978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8F8CB-00F2-4B3C-B99B-5B8D219A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AF163-492B-4606-9388-33FDE52A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Pentacene memory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DCCAD5-C5DB-4AB7-820B-C787E62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Make the molecule-device link memorable.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579EB-2B9E-4418-A723-E057A72E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11AFD-15E6-4A36-A417-A72FF70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95BE7-3878-406D-A053-5FE2C6A2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23D68-B9B6-4CD5-B72E-920F920A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772CF0-A880-4998-B143-5B9C8996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7B72B-6FAC-4ABD-B301-8FEFED9F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5905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3A740-1F3C-4CD5-AAF5-49D95CC0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BF69"/>
                </a:solidFill>
              </a:defRPr>
            </a:pPr>
            <a:r>
              <a:rPr sz="2550" b="1">
                <a:solidFill>
                  <a:srgbClr val="FFBF69"/>
                </a:solidFill>
              </a:rPr>
              <a:t>Pentacene</a:t>
            </a:r>
          </a:p>
          <a:p xmlns:a="http://schemas.openxmlformats.org/drawingml/2006/main">
            <a:pPr algn="ctr">
              <a:defRPr sz="2550" b="1">
                <a:solidFill>
                  <a:srgbClr val="FFBF69"/>
                </a:solidFill>
              </a:defRPr>
            </a:pPr>
            <a:r>
              <a:rPr sz="2550" b="1">
                <a:solidFill>
                  <a:srgbClr val="FFBF69"/>
                </a:solidFill>
              </a:rPr>
              <a:t>C22H14</a:t>
            </a:r>
          </a:p>
          <a:p xmlns:a="http://schemas.openxmlformats.org/drawingml/2006/main">
            <a:pPr algn="ctr">
              <a:defRPr sz="2550" b="1">
                <a:solidFill>
                  <a:srgbClr val="FFBF69"/>
                </a:solidFill>
              </a:defRPr>
            </a:pPr>
            <a:r>
              <a:rPr sz="2550" b="1">
                <a:solidFill>
                  <a:srgbClr val="FFBF69"/>
                </a:solidFill>
              </a:rPr>
              <a:t>Five linearly fused benzene rings</a:t>
            </a:r>
          </a:p>
          <a:p xmlns:a="http://schemas.openxmlformats.org/drawingml/2006/main">
            <a:pPr algn="ctr">
              <a:defRPr sz="2550" b="1">
                <a:solidFill>
                  <a:srgbClr val="FFBF69"/>
                </a:solidFill>
              </a:defRPr>
            </a:pPr>
            <a:r>
              <a:rPr sz="2550" b="1">
                <a:solidFill>
                  <a:srgbClr val="FFBF69"/>
                </a:solidFill>
              </a:rPr>
              <a:t>p-type: hole 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6E4FE-D706-4A3D-B782-D951703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F6155-8BF1-438D-8543-20685D0C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5273A-F3F0-47D6-BBC4-B1A8158A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71725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Pentacene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94A0DD-692A-44A1-B681-CA1CBE85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52725"/>
            <a:ext cx="27813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 this as a memory anchor: material chemistry decides charge transport, resistance switching, light emission or optical modulation.</a:t>
            </a:r>
          </a:p>
        </p:txBody>
      </p:sp>
    </p:spTree>
    <p:extLst>
      <p:ext uri="{BB962C8B-B14F-4D97-AF65-F5344CB8AC3E}">
        <p14:creationId xmlns:p14="http://schemas.microsoft.com/office/powerpoint/2010/main" val="422313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24B7BB-7481-4BEE-B502-66B352CC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B2743-8EE3-4B57-9864-1D9FC9FF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Perfluoropentacene is n-type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C1BCB-8061-4BAA-9995-7E6269C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fluorination effect.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9C18B-EE7E-4FD1-A18F-A7FF3FBA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169FA-F3AD-4B62-8439-AF21951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A4D15-8D5C-4285-998D-407D786F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A006F-EC77-442A-8BBE-940C718C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4A0D1-ADF4-4946-B8F1-1F34AAA6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DF408-8B05-4D46-BA05-FAFC1790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Perfluoropentacene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28E46-C9DB-4E4B-A2A4-6EFA10DA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Perfluoropentacene is a fluorinated pentacene derivative; electron-withdrawing fluorine atoms make it suitable for n-type electron transport.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0B20C6-80E5-48CC-827D-3BBFD21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3BC28-EF4C-40E9-AC20-4436DA62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Fluorination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4F3EC-DC9A-4DD5-9452-4854C10B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CAC81-8D55-4198-B46C-E61C7D7D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028066-8C7C-4B6D-8B96-611D8EEC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 withdrawing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21FC3-83BE-45A1-90F6-BCC04F94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39371-2E37-405A-A21C-3686F7EB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4710A-A10C-4A3E-AAA8-D0889B58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n-type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5C9DD-3773-489C-983A-9327127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FE87B-E951-4F5B-BEC2-0FD791C9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ED1E51-9D98-4DC1-A118-C4A6198E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 transport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252F4-5581-4DEE-921A-CC8E6F33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FCADB4-AD0A-45AA-A39E-6FD522C3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4DE6E4-CF5F-4F17-862D-A5161276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Organic electronics</a:t>
            </a:r>
          </a:p>
        </p:txBody>
      </p:sp>
    </p:spTree>
    <p:extLst>
      <p:ext uri="{BB962C8B-B14F-4D97-AF65-F5344CB8AC3E}">
        <p14:creationId xmlns:p14="http://schemas.microsoft.com/office/powerpoint/2010/main" val="6322237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83863-6867-4FF0-9D7F-6D09A67A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B86B13-DDB8-48E6-8C8B-F5C518F2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p-type vs n-type memory trick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FF8D-6ED6-4522-A441-C7DD50E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an exam shortcut.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4CE0E-7E23-43E6-8CF5-C44A1913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D94A1-9A96-4740-A20B-A06DDFCA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C936A-6AA1-4340-8BF4-516F9C15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EE196-6490-49DC-A23B-F6AB9BEC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Organic Semiconductors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32005B-FE89-4A8B-B34D-E76B9B92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1AD4F-8B2E-4CE0-96C4-F2349A4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19A95-035B-4CC2-9CC6-4CD2578A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693A8-E944-42C6-BAC9-0EC6E64F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Pentacene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B0F47-14A8-4E18-B9D6-7C6637AC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Think P for pentacene and p-type.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42029-C19C-4B2B-8867-BB3D1BF3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33C17F-A7DA-4C67-9CDB-8DAF223C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289ED-71AB-4604-9979-4E8F5424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Perfluoropentacene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99061-E5DD-4E29-BDEB-0A98B07D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Think F pulls electrons, supporting n-type behavior.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319D4-4EAB-47A2-8EC6-CAAA9936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C74924-2C24-41F8-AEEA-7D03DA54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32B0A-3E91-4506-816F-6EB6FB1F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Device need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359F5-632E-437F-8C87-E09EBB5A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Balanced p and n materials enable richer organic circuits.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87378-63A4-473D-B34F-A844B27A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4A876-0F10-442F-BDD4-B4DE5881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9D722D-1E81-4827-B328-EE7C18E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Exam 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9BF96D-9594-48B6-A570-0AE72A26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Carrier type depends on molecular energy levels and substituents.</a:t>
            </a:r>
          </a:p>
        </p:txBody>
      </p:sp>
    </p:spTree>
    <p:extLst>
      <p:ext uri="{BB962C8B-B14F-4D97-AF65-F5344CB8AC3E}">
        <p14:creationId xmlns:p14="http://schemas.microsoft.com/office/powerpoint/2010/main" val="998298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C54DBA-6695-4112-A13E-66F095DB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9C04F-4848-4331-A247-355BBA8C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Organic and inorganic memory devices differ in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734D9-37F8-4942-B1BB-991AC8CF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Compare the two material families.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4D08F-54F4-4E20-B315-11F3E59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E068F-9A44-4165-A3B3-CA6B5A16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9B0D0-AF36-43BB-9D27-7698F612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569ED-BD35-4861-9C79-E7F63DE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Memory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7A294C-4BF7-4BCC-AFEB-8DF98EB5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B2AA0-CF8C-4921-B550-74F2CD72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5535F-C648-4B8D-8F01-91B6AD97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EB325-62C1-402F-A2F6-A9D5D90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Organic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A805EE-4D13-4936-8EE6-8D0763DF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D21CA-B5FC-4638-8D56-07F65557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73574-54AE-4759-B54A-95FFEF4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39C19-4078-4119-A7E3-ECDCE65D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Inorganic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5AF71-F4A2-42DB-A351-D46B49E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0B2D0B-3697-4A7C-BB95-A991C383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D6AF05-DAAE-4AA0-8CF6-77A1F5D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892FBD-927D-47E4-B3A9-45FC43AC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Carbon-based active layers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BD20A-CB64-4893-AC9C-924B4199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F994C4-F03E-41DF-B7BC-713E8BD4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8713D-FD7F-49B0-BE2F-447550A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Flexible and lightweight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5A973-D61A-41BC-BECC-B5616DF0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287D2A-4A49-4D98-8453-A3C137BF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04E93-E0D8-4DEE-A207-14BAA7FD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Low-temperature fabrication possible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7572F2-3477-43D6-856B-51B80485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FDD686-3F12-4C24-9C96-F95BBA2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DB4F95-A956-4A32-B7B4-A3653947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Generally lower mobility and stability challenges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C23AA0-5C10-4AD5-B51C-C5894271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2B2E28-4D52-449C-A23E-FE80EB94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7A368-6518-4A4C-9FC0-135FD608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Silicon/oxide/metal-based layers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CBA51-E4D3-422A-BBE0-0C585ACF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8B5370-7605-4969-9269-E749CE78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4D2E7A-34C6-4B43-949B-11E72210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High performance and mature processing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5BDC52-8E90-41FB-B0CE-698DA7D8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320A94-CC83-4BA0-B4A3-A1C06F37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10E6AA-71F0-4561-89F4-3E733BF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Better thermal/environmental stability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09EE0F-4515-4414-8C5F-4EA49CD0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670AF6-DFFC-4762-84EE-B8B1B7A9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792EDC-D809-468F-B54D-487B309D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rigid and higher processing cost</a:t>
            </a:r>
          </a:p>
        </p:txBody>
      </p:sp>
    </p:spTree>
    <p:extLst>
      <p:ext uri="{BB962C8B-B14F-4D97-AF65-F5344CB8AC3E}">
        <p14:creationId xmlns:p14="http://schemas.microsoft.com/office/powerpoint/2010/main" val="18433292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DCBB6-37DD-42AB-94BD-F06AA326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BBC51-2EF1-46E4-BC7A-19BF37BE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Organic memory device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FCEB8-0175-4044-838B-5D94837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a simple layer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FE1FD-017A-4264-B573-AE7558A4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E4D46-A212-467A-A56D-EA24E2DA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29BDA-DB58-4413-B76E-675F6DB5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6659D-2BB6-4475-AB8E-1E9060AC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Memory Devices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0F9FA-DF2F-4B1A-8171-CDF2D41D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B8D71-FCEF-404A-A79B-35DE6B2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94A5D-01EE-4392-B8F7-E905B426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Top electrode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20F0D-64EE-46F8-96F8-EF2150CC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EC649-55A1-44AF-B9A1-C53701FA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Organic semiconductor / active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25E98-800F-46A7-95B6-6F32B93A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AEB43-147E-4E30-87A2-BE52BF99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Dielectric or switching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EBDBA-7890-48D8-93C9-F13BBEC2C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46643-976B-4B87-A74A-4EF556C7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Bottom electrode / substrate</a:t>
            </a:r>
          </a:p>
        </p:txBody>
      </p:sp>
    </p:spTree>
    <p:extLst>
      <p:ext uri="{BB962C8B-B14F-4D97-AF65-F5344CB8AC3E}">
        <p14:creationId xmlns:p14="http://schemas.microsoft.com/office/powerpoint/2010/main" val="6502389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EC127A-F2D1-409B-AC77-7062ED73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8B85F2-86B7-42D8-AAC5-53BB6F1E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Pentacene semiconductor chip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944D7-3B00-4EF6-A8C2-E07B2895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major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03B3D-F0A4-4CEF-9EFC-B1869FD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A3F68-7D8E-49B8-A73C-C17C1AE9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80E73-6129-4268-A12D-ADD6BF05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FD46A9-E282-4C4F-BCC3-FA853D11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Pentacene Chip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E9D39-A476-4906-B28C-53125DD05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00802-161B-4176-8288-40D04A9A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D1FBB-2261-47BD-B639-80A59570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Source electrode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5E49C-8240-4DF4-92C4-35F212D0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54951-5BEB-4BB3-AC6B-11BCB2C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Pentacene thin film 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FDE36-4AA1-460F-8C60-92073433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7FA22-8094-4512-A78B-E5B3D5F9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Drain electrode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B28F9-12FA-49FD-94AB-72633FF3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5DCB2-547D-4E43-87EB-C20928F6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Gate dielectric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8996D-3E9D-4D05-B02F-E9C768B1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9A6D2-6BBB-4E85-AF58-54D2051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05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Gate electrode and substrate</a:t>
            </a:r>
          </a:p>
        </p:txBody>
      </p:sp>
    </p:spTree>
    <p:extLst>
      <p:ext uri="{BB962C8B-B14F-4D97-AF65-F5344CB8AC3E}">
        <p14:creationId xmlns:p14="http://schemas.microsoft.com/office/powerpoint/2010/main" val="15811196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E0BA64-3905-4759-A9AF-E4B3E00D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E93A3-09B7-4641-8092-8C39990F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a pentacene chip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0F4CB-61AF-45EE-A341-FEB14054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working principle.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A02FD-ADC9-4217-9116-5201AE98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EBD23-F0F4-4623-80BC-747E79D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F0541-24CE-4651-A806-E1457CB3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14D86-C632-4696-90F0-6FE754AE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Pentacene Chip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A2729-AF22-48C4-86E2-99180095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AC509-28B4-423C-B929-5E04BD4F0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2D114F-7DEB-44BE-831F-B0205B7F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Apply gate 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068D1-5559-4E2D-9FC9-16E3388B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591E3-FC74-4520-AD9E-9BB1DF6A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C4E815-725A-4F22-9E7E-A99D38D5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Charge accumulates in pentacene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54549A-BE0C-471A-AAD4-7441F522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72367-9758-4175-BCD5-5275C741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1DF59-E5CB-421B-8F6B-E694EA0F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Hole channel forms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9B7B51-4AD4-4B3F-8419-B7C6D804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B028B-F826-41F8-876C-C4D1448A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4AAF2-D6FF-41B5-95B4-EB0FD6A8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Source-drain current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7C2BB-F557-4196-B4E9-225FF919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9B70B-9241-4D66-820A-321B1AC0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68C3A-E9C7-40C8-8435-90B5702E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State can be read</a:t>
            </a:r>
          </a:p>
        </p:txBody>
      </p:sp>
    </p:spTree>
    <p:extLst>
      <p:ext uri="{BB962C8B-B14F-4D97-AF65-F5344CB8AC3E}">
        <p14:creationId xmlns:p14="http://schemas.microsoft.com/office/powerpoint/2010/main" val="2040709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0F14E-1D2C-432B-A86F-66041334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7947B-21F2-4808-BA71-8BDB66F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pentacene is useful in memory chips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D7707-59AC-4C49-96E8-CEE61729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advantages.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5A7A8-FEAB-4F2C-A78B-01BC710A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E8C50-9A4F-437D-B647-142E5ACD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4D10C-F0CC-4A21-8C2C-C2096ED4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E5033-3FD9-48F8-9A07-8C26CA23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Pentacene Chip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40B38-9D71-4189-8C98-297DC8C3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609AA4-F75B-4CAD-B2E0-55716445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F69BF-73D2-4696-9177-B432E8CA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79F255-49F5-40E7-826B-C4AA6D44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Good hole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FE8C7-C7EC-4E49-A987-782DD08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p-type channel conduction.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B82D3-9CA7-4E20-B37F-1F83D829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1076B-3124-495E-91CA-54316118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56DB31-BAA0-41C3-9D37-6DAB499F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Thin-film formation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AFF48-C195-4A98-8DA0-8FC846C4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be used in organic thin-film transistor structures.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18676A-C3DC-48BE-9C15-C7DC5A7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B4662-139F-4AAA-B28C-72B48FA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14BFB-42BB-4F99-8165-89638DB8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Flexible substrate potential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1F803-C372-450C-8D32-AA97D7AB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lightweight electronics.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4A179-3DF0-439F-AD20-4F41ED5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E98D13-EEBE-48D7-BE60-6EC77715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0D03C8-2F7B-448D-A2EB-D15D3617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Low-temperature 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9DBBAD-097D-4B62-95DA-6C83FBA7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Compatible with some plastic or flexible substrates.</a:t>
            </a:r>
          </a:p>
        </p:txBody>
      </p:sp>
    </p:spTree>
    <p:extLst>
      <p:ext uri="{BB962C8B-B14F-4D97-AF65-F5344CB8AC3E}">
        <p14:creationId xmlns:p14="http://schemas.microsoft.com/office/powerpoint/2010/main" val="20260204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625E7F-8036-47CA-B1BD-CF1EE13B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80947-25F4-4E33-8883-03054E13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Pentacene chip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219F77-646C-48A1-9EFD-928C0F1C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Ground the topic in devices.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33875-4248-46F1-A4BC-EDA8BCE8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B5DDB-6898-4D62-8A6C-5222EB45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B7C31-2982-4F50-9C75-0C11DD5F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07F42-5930-4BCF-9E5F-967DFE04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Pentacene Chip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764D5-6793-4D80-A662-15355063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1D09D-D608-49EB-88E7-8A9D8949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A1D58-D00A-4D1E-9978-686A34BC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E13237-E063-47C8-99CE-63A19D12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Organic thin-film transistors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CD051-3B8B-4113-8D36-2A072598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Switching elements in flexible circuits.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1A846-91A5-4FCA-8244-C77AC79B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EEA78-0566-4922-BE57-ECD1031B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14806-201E-42DF-A5EB-9E966EDE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Flexible memory arrays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D325B-5FDC-4865-839E-CF4ED755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Lightweight storage for smart labels or sensors.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665C8-9E9A-45AD-A14D-305B8E27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CE71A-29AA-48B9-919B-D7682DDF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9F7C35-5085-43A5-8452-114F4453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Display backplanes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C2A7D-EF4F-4AA3-B3E7-EB144E9C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 pixels in organic electronics.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41932-0281-428C-AC30-F26090B6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FA9C46-2B53-40D9-8849-41843D72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C7D0D-F68B-4AA5-AB90-2AF72936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Low-cost electronics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20D3D-01EF-4C5B-AAE9-8A2ED998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where large-area processing matters.</a:t>
            </a:r>
          </a:p>
        </p:txBody>
      </p:sp>
    </p:spTree>
    <p:extLst>
      <p:ext uri="{BB962C8B-B14F-4D97-AF65-F5344CB8AC3E}">
        <p14:creationId xmlns:p14="http://schemas.microsoft.com/office/powerpoint/2010/main" val="16777400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7AFBA-F52D-42A7-ACAC-B4621467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B78EE-B8D0-481D-B364-C4748DEB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misconceptions about organic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4CC6E-38DA-4FD4-8598-8A0DB42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likely student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5040-4AAC-4463-AAAB-1B8CEADD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CD379-D518-4089-AD8C-A9A63C54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00958-E982-4C58-A25F-B295400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D8B74F-57C3-46D6-AAD7-59506D6F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Pentacene Chip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05655-86EE-4E45-83F3-85A60754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986D4-C463-4B90-A427-EF965FA1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79CB1-BB73-40B9-96C9-B2169301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70AD8-D815-4647-AA5F-9271688B4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Organic does not mean biological; it means carbon-based chemistry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6E428-7B08-4972-89C0-497DE40A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6B1E6-3AD0-4237-8CC7-3AFD72A7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68643-2F15-4ADB-A8E7-03AA4AA4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A semiconductor is not a perfect conductor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F6C17-0135-4BA9-8080-6BCDCE19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FAEE4B-0745-4E3B-81BB-9A7F6D46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1EFCC-F5AD-4EB6-8E50-EDFE0FD2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p-type means hole transport, not positive material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04C0E4-8FAE-47C1-B9C7-A14486F4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848D33-14DF-4715-9CDA-9B319425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EE6435-248A-4026-94FA-38736735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Flexible does not automatically mean high-performance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E6CA3-3B24-47FC-975F-B1321E9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93EF2-30F7-42F4-96B9-6B3FC659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5E289-9060-47B4-B420-C91E149C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Device stability depends on packaging, oxygen, moisture and heat</a:t>
            </a:r>
          </a:p>
        </p:txBody>
      </p:sp>
    </p:spTree>
    <p:extLst>
      <p:ext uri="{BB962C8B-B14F-4D97-AF65-F5344CB8AC3E}">
        <p14:creationId xmlns:p14="http://schemas.microsoft.com/office/powerpoint/2010/main" val="16429265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A20E40-48B9-400E-8279-3BADC342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EAF69-8BFB-4D6F-91EC-416B43F7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Resistive RAM?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3BA9C-CCD0-4C49-BE30-DCCD0F15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ReRAM.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94381-C319-4964-A09E-2B263364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271E4-6778-4947-BDA7-32BAFA5E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8CFC5-6C4D-447A-BEA4-E9EBAE5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3B41F-9AD4-4059-8DA9-B910C9E6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472AAE-CBE3-44E1-8C2F-ABC617F6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134F7-51B3-4FF0-9D7F-C1E047BE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ReRAM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AB659-3481-439C-B098-463E42D1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Resistive RAM stores data by switching a material between high-resistance and low-resistance states using an applied voltage.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C8B93-F4E3-4B4D-90CA-94508C68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91CED-4D80-4DF6-B0DE-A0B1C06B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Resistance switching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506107-CFBA-423F-AD88-1F63A69E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82DB8-5663-451A-A043-907623F9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6BD00D-C68B-499C-B1DD-5FBC02E4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74F60-ECAF-4363-B8F0-E28EBB2D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F2938-723F-49B9-A596-A84F62E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721280-AE9A-4D63-8FD7-1F9DCD98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7127CF-0393-4A82-9607-F93324F2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F26D4-E384-445A-8CF8-E38EC105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17ACC2-83B4-457F-9985-D7DE790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Non-volatile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4C6105-7AC7-4BF2-B246-DADC3A86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7DC343-F2DD-4E24-9E6B-EEB5CA54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6CB6FE-13A8-4391-9764-0C0768EB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Metal oxide</a:t>
            </a:r>
          </a:p>
        </p:txBody>
      </p:sp>
    </p:spTree>
    <p:extLst>
      <p:ext uri="{BB962C8B-B14F-4D97-AF65-F5344CB8AC3E}">
        <p14:creationId xmlns:p14="http://schemas.microsoft.com/office/powerpoint/2010/main" val="13048754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6FFF21-8774-48DF-8329-3EB476FB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D7927-C9EC-4024-B10C-A51FB7F2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ReRAM stores bits as resistance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30CCD-0A3F-49B7-B622-53D91C0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binary-state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22240-50FC-4034-9905-0A9D41D9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6058A-7BCC-4BF9-8E1D-A80656B1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5DBDA-200D-4865-8419-8BC4EC73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4AE1F-103B-4650-9BB2-9D4AF636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953BFE-42F6-4AC4-A3C6-911B0AB7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D85C3-715C-452A-8F2D-A68491DF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1FD31-A108-4710-B773-F8D6CBF0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161A4-9605-4D6C-B298-4203D81E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High-resistance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3056D-CB01-43E2-A351-10F1E6DA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A2CEE-0E0F-4C05-BDC2-4E5A0260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2D361-2378-4DAC-B98A-2C06D73D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A33F6-1192-4C28-8AFD-0C1E9F1A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Low-resistance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E3523-27FC-416C-A1D8-EB017D64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14550"/>
            <a:ext cx="4591050" cy="3409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71BF19-C715-4322-AD2A-E5113F60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D4E2A-38F9-4963-AE7C-1F89B1F5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50932-9913-4E9B-A8FA-22677181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Small current 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70DFAB-AD59-422B-8E71-DA128058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F6FFA2-4B3E-48C5-81D6-E18B832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C530B-FB4C-4C43-B648-D523A457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Read as one logic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2F20E-C5DC-48B8-9670-EC494C3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FA882-7D8A-4952-9887-4F93E76A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821DAD-5B20-4C3E-BC1C-FC704D3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Insulating path dominates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2191ED-A2B0-4085-877D-0F615A80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DD76D3-372E-49C8-BA5D-3BA99790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A505EC-8377-4733-8840-E9AC265D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called HRS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AEFB6E-75BE-4327-B087-D0C5D8F6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B0C051-E78C-4606-ABA8-24E5360E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5004D4-04E4-4BCB-8595-4B54994B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Larger current flows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7A36B-6DFF-4E00-90E9-C15CE421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CDE4B7-5C2E-4CF5-A7A6-4D3312CA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2CAC94-6050-422C-96D6-5B8664A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908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Read as opposite logic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E89AB1-1359-4D3B-9A06-5D688101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52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10FF3-745F-4361-8E72-0E8EE42F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813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F2B884-2534-4769-AF47-94FC1704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Conductive filament/path exists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458F23-5C18-4E54-B2F3-263AC27C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5598AA-59E5-4907-90B3-8512840E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052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07A573-91E9-4BB6-98EF-2AFE23C8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3857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F8FBFF"/>
                </a:solidFill>
              </a:defRPr>
            </a:pPr>
            <a:r>
              <a:rPr sz="1425">
                <a:solidFill>
                  <a:srgbClr val="F8FBFF"/>
                </a:solidFill>
              </a:rPr>
              <a:t>Often called LRS</a:t>
            </a:r>
          </a:p>
        </p:txBody>
      </p:sp>
    </p:spTree>
    <p:extLst>
      <p:ext uri="{BB962C8B-B14F-4D97-AF65-F5344CB8AC3E}">
        <p14:creationId xmlns:p14="http://schemas.microsoft.com/office/powerpoint/2010/main" val="94840119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6850BC-99F2-44AC-B69B-49D4E7B5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9E88D-07EE-4F30-B7EE-207AE0CC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TiO2 is used in ReRAM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8CE7A-EA15-462D-ADEE-1747804C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material suitability.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6C8EC-4CDB-4F7B-8A2D-D7AB0BAC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9A59E-65C9-408A-A495-E3615BF1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5DF7-B744-4B8F-8ED6-F0075063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0F88F-E61A-4D4A-B44B-BAE5D5F0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6E412-CB13-4BFE-9324-7D41971E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02A82-A54A-4DA8-B975-D413CF23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4242F-DD86-4608-940D-2BF19E0C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F45BD-7822-4BA2-8112-AA1C1C73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Metal oxide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D849F-5763-43A7-8417-9D1C0EAB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TiO2 can support oxygen-vacancy related resistance switching.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483A3-B838-40F4-BC93-0B374384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C9582-EA48-4688-BC05-049E43E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B6AD9-1FCD-44FC-A91D-29C1BB04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Thin-film compatibility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666EF-F775-4C6E-9C49-D6E118BD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be prepared as nanoscale films or particles.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228E1-FFC7-4627-BAE3-3325929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C9983-B200-46C8-B35E-FED3CD4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9FB813-BE71-4047-819A-4F6D75A2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Chemical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F6A8A3-ACE4-467C-A6EB-A0094890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oxide material for device structures.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E961E-8907-4730-B62B-D97D6FD3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A445D-7582-4076-B1D6-0322C4D6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A6E14A-4B03-4488-8A81-97A9279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Scalable interest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BCB1FE-12DF-4914-8C75-7DFEA6C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Studied for non-volatile memory and neuromorphic systems.</a:t>
            </a:r>
          </a:p>
        </p:txBody>
      </p:sp>
    </p:spTree>
    <p:extLst>
      <p:ext uri="{BB962C8B-B14F-4D97-AF65-F5344CB8AC3E}">
        <p14:creationId xmlns:p14="http://schemas.microsoft.com/office/powerpoint/2010/main" val="8098602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887B3-75A6-4C1E-9AE1-66336D6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95E98A-AD68-4C22-99F2-0B957405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TiO2-RAM nanomaterial by sol-gel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100AC-ECE5-40EF-86B0-FC2E3EFEB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synthesis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40572-7A49-4DBC-BC78-FBABB91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3AE8E-CB85-41F1-8789-49ECBE84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FC30F-D557-4A25-BAC5-64CF199C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25CB0-7693-4185-AAF2-FE4CAE68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566F2-C8A5-4630-98CA-39DC7C32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93D70-2A2C-4494-AAA5-11ADDD1D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Sol-gel 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EF287B-7DB1-4314-A561-1C45A645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The sol-gel method converts a molecular precursor solution into a colloidal sol and then a gel, followed by drying and heat treatment to form oxide nanomaterial.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F62D8-016B-4FD0-B986-B147B380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44BD90-3A21-42E1-B016-18E14C3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Precursor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0F5CE-E85B-434C-B6D5-28240085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B0369-4FD8-4C0A-8C30-B3D043AE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8DB98-7583-4E20-8FF7-F0B33D48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AC966-5CFB-4A00-A1DB-1684B037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EBC0D-80C9-44EB-9277-D22EC415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486E0-B25E-4947-AC14-7521F57E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6CBE9-482B-4481-972B-56EB8EC6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CA2BB2-57C5-4054-9DF5-0705D708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1B7A6E-3D94-4F8C-8475-F53BB64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Drying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53046-1866-411B-908A-94E5EF7A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08FEDF-70D4-4313-A14E-3B02E52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AA3EF5-EA8C-4911-9ABB-3E58F723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Calcination</a:t>
            </a:r>
          </a:p>
        </p:txBody>
      </p:sp>
    </p:spTree>
    <p:extLst>
      <p:ext uri="{BB962C8B-B14F-4D97-AF65-F5344CB8AC3E}">
        <p14:creationId xmlns:p14="http://schemas.microsoft.com/office/powerpoint/2010/main" val="6130511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39C74-EB43-4DFB-B031-5CB62D4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86735-EA51-4461-91F9-EE796C06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Sol-gel synthesis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CE21E-B8BE-4C85-932C-42791FE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synthesis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99BC2-9FA9-450B-AB3C-37BEA79B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8ED62-3872-44C9-A67F-ECE64EC9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567EF-E990-4623-936D-EC07DC55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C9FC3-E467-4D12-B14D-D59F6C0A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E5058B-A4AF-47D3-BA82-81AEB248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CAAD2-FB71-41E7-A8C5-54116DBB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C1BA6-DECE-436D-94E1-697E262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Titanium precursor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D7272C-BF7F-44AE-BB2E-EC01409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DDB89-84F8-4669-A0CE-9302D0B1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6E17E-CC02-4601-9541-3C1DA93B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Hydrolysis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03483-74C8-444E-9A47-298A93DA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B3461-988D-4810-98CB-1974D6B6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6AD35-CB08-4B1A-B456-0DC0E03A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Condensation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1EE4B0-BD86-4CB2-97C5-95E9AE3B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4E2AB-7280-4ECA-9135-3DD237AC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3C4A5-1EB6-4B71-A188-12681B2A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Gel 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67FF2-B14A-4D64-9A6D-C8CBAA5D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F82E86-1EE4-4ADC-A875-0F7C5BAC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4D3B54-7FB7-44D4-A029-C8A2768A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Drying / calcination</a:t>
            </a:r>
          </a:p>
        </p:txBody>
      </p:sp>
    </p:spTree>
    <p:extLst>
      <p:ext uri="{BB962C8B-B14F-4D97-AF65-F5344CB8AC3E}">
        <p14:creationId xmlns:p14="http://schemas.microsoft.com/office/powerpoint/2010/main" val="3139418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87FD3-4DC7-4D52-BF5C-6CE157AC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32E72-82A8-4828-96E1-17E44FE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controls TiO2 nanomaterial quality?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0FC287-4B25-4A46-87A8-1114F852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synthesis variables.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F88AF-487D-4271-ABD5-61A7AF7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EC828-0CBD-4C1F-859A-0DDE506A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28F51-DB1B-4D9C-A30E-2A28E488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ECFE5-B77D-41E8-A996-0C507979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0BFF4-359E-4325-B1C1-F7A831AE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E32EB-2E23-4D22-8C07-D2B8F257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EFE214-C840-411A-93B3-11C38960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821CF-F853-4DEA-9154-673C6791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pH and water ratio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F2B7B-1A68-4269-AB83-4B77A457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Affect hydrolysis and condensation speed.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8C997-B453-48CA-AF34-60968F32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EEAAE3-DD8C-4390-AB74-A094073D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7FDB98-28BA-45B7-A133-6B26486F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Solvent and precursor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AA107-1619-4B3A-B03F-74B6AFAE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Influence homogeneity and particle formation.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C4229-79DD-45EF-A28F-2583E2AC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B99EC-32EA-4AFE-85C9-A3319107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6B03D-49FF-4B84-8293-70FA2AA5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Drying conditions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78B186-ABA5-4678-B31A-2C1A4BC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Affect pores, cracks and shrinkage.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0F175-B04D-4584-9A7B-538B69D7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CA7053-B68B-4DA2-8882-72AE7659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91EBC-F282-4CA9-A1B5-88C70BD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Calcination temperature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6F3CB-B6C1-4ADF-A31B-63E154F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Controls crystallinity and particle size.</a:t>
            </a:r>
          </a:p>
        </p:txBody>
      </p:sp>
    </p:spTree>
    <p:extLst>
      <p:ext uri="{BB962C8B-B14F-4D97-AF65-F5344CB8AC3E}">
        <p14:creationId xmlns:p14="http://schemas.microsoft.com/office/powerpoint/2010/main" val="203041531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94C85A-02DA-460E-8B62-24895587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DAE40-E77B-4E72-B824-5ED6C425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TiO2 ReRAM material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611FF-841B-4192-A896-5E6E86C5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Cover exam-ready properties.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F997D-32DB-489D-91A2-262ACD3F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779A7-B8CD-4319-9058-EF7A17F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82B1C-78E7-4C6D-A5DA-17479EE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5AD4-57E3-472D-B35D-8FD6FE27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6AB27-70E9-433D-BA73-0C50C5A4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780BC-E378-4009-B958-615E2C9A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16C78-2C67-4B07-BBDE-7A28A1A3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FD893-D6F2-486D-B49B-21A3C32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Resistance switching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4FFFE-CC31-4A83-92C0-20CA20F8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switch between HRS and LRS.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E963E-EEDD-42C9-9FBE-FFDFD0AA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612AD-0DC4-4D14-810D-D75FB79E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2CC51-B0C4-4931-97AE-914C4616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Nanoscale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A3089D-00F4-44BA-B1F4-2EA88C0D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High surface area and short switching paths.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E6C617-809A-465D-9289-A668ACE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96F72-1DF9-46EC-9FDB-55C83428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9A8A5-A611-4D85-ADB6-689BA593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Oxide stability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108DE8-AD77-4BF7-8066-6DDF2DF2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Thermally and chemically useful metal oxide.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711EBC-EC01-41CE-96D3-57625703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4EA7A6-BCE3-477D-8600-7F9242B9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62AB2-2746-4705-BF86-2F9FE2DC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Defect chemistry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E19D3-FF40-44AE-B7B5-73885E41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Oxygen vacancies help form and rupture conductive paths.</a:t>
            </a:r>
          </a:p>
        </p:txBody>
      </p:sp>
    </p:spTree>
    <p:extLst>
      <p:ext uri="{BB962C8B-B14F-4D97-AF65-F5344CB8AC3E}">
        <p14:creationId xmlns:p14="http://schemas.microsoft.com/office/powerpoint/2010/main" val="73335795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0E14A-CC18-43DC-A3CD-EDF24CF8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1D8C7-9B5D-4B13-B1F5-288FCC1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ReRAM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8F16-6519-4792-B8E7-E479C86C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set/reset operation.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BCAE48-4C84-4CA5-A536-B7D0EBEE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7679A-22CA-452F-AAA4-BA2F4C67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B32A0-9480-4638-A91F-E3859B13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09D25-8F30-4DD9-9911-D4B13B98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90E2E-A878-4D7C-81E8-89D0A1FA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E67F0-F439-42B8-853A-887BA580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B27EE-56C1-461A-B32D-8EE3B034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Initial high 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757680-FE1B-4EF3-A8CD-57829849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D33F7-F1EB-4C04-AC90-E7865263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072EC-B75F-4D1E-B964-3F419F98D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SET voltage applied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E716C-99A8-4473-9E80-66FF923B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3F973A-C6F6-4B4A-8432-63CF19B5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EB43E-98E1-479F-B04E-95999CD6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Conductive path forms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71FA4-5F7E-48FC-95BA-D8870DBF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F0A31-232D-4D6B-A49F-2BCCA89E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A5619D-2072-4C66-BC75-E72CEBCE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Low resistance read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9C6CD1-9B68-4D2A-BECF-0E6A5BB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B83D07-6EBF-433A-99AD-1718E4A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9A2B04-1029-4A08-83F2-89B976C5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RESET ruptures path</a:t>
            </a:r>
          </a:p>
        </p:txBody>
      </p:sp>
    </p:spTree>
    <p:extLst>
      <p:ext uri="{BB962C8B-B14F-4D97-AF65-F5344CB8AC3E}">
        <p14:creationId xmlns:p14="http://schemas.microsoft.com/office/powerpoint/2010/main" val="6423216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2E2F2-AB2A-480A-980D-BB4FFBA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A0548-4DD8-4D7F-8843-89E4D75B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of ReRAM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A3685-0FE0-44C1-B9C8-674361A1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ReRAM to smart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61BE0-D980-4417-9809-B97D8392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7C404B-3095-4F81-B5B6-391A5A8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7ADAE-7954-4563-B985-3F968068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CD48A-9017-4AF3-97BC-DF3D5AD2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ReRAM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02F90-9203-457E-8F1A-680683EC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5A86-BDD4-4269-AD30-7B02E68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C3563-48C8-46A8-8A35-E6248FD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763F3-F19C-4C7A-BECE-B085A137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Non-volatile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619BF-CA34-41BF-A8A3-3474A1CC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Data remains without continuous power.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66040A-DEA6-4BB1-AA2E-3C16B2C6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8E69DF-8C15-4C95-99B6-E502D572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0BE97-E9D0-454F-A081-AC1423ED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Embedded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AF972-A6AB-433B-BF49-D17126AF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Potential use near processors and sensors.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C55448-33C2-49AF-8DBD-9659421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062166-25A6-4D85-AB4C-CD7305C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64A64E-E466-4515-B94F-ADC528CD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Neuromorphic 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4618B4-B72F-4254-AB72-16C9E32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Gradual resistance changes can mimic synaptic weights.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C01C6-19E6-4A47-8EEB-D68223E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1B4E4E-9B94-40A6-9EB7-F78D2B51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BDA24-D5BE-4C5C-9DFE-3C4934C1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IoT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9468CB-9DD2-4646-A55E-D0963ADA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Low-power memory is valuable for distributed devices.</a:t>
            </a:r>
          </a:p>
        </p:txBody>
      </p:sp>
    </p:spTree>
    <p:extLst>
      <p:ext uri="{BB962C8B-B14F-4D97-AF65-F5344CB8AC3E}">
        <p14:creationId xmlns:p14="http://schemas.microsoft.com/office/powerpoint/2010/main" val="18160447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8C3272-AB8A-48FA-AEFD-3A4D9A5F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6C9F3-5506-40C8-B9F2-244F5D80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Display materials control light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4BC6F-4F39-4B6F-A36D-11A53BCD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display systems.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9A5F1-D08A-41D1-915E-25BA1E96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3B15A-0975-4D7E-92EC-B4E8A36A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9D47D-C983-444E-8DE7-129459D2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815E3-6658-4A82-9A6D-23425854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Display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98ADB-5463-4329-897F-960A683C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BB58F-3C35-4BF4-96FD-46B51066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Display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4C3046-503E-45EB-9AF2-CEE2E3B0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display system converts electrical signals into visible images by controlling light emission, transmission or color conversion at pixels.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89DBA-9AF1-4D24-B97C-A83A58EE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68646-9B8C-405F-B6FE-8653E9DE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Pixel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48AC6-8C41-44C7-A268-694BB1A9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52D788-794A-4477-AC82-8B7FEDA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CF8BF-501E-4B47-B7B6-0F57FE3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5E5525-DC51-4547-8E77-96A857F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EB7B6-65F7-4CCE-9365-07D7C1CE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685C5-9564-4715-94A1-11154EDC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90D2C-AF96-4B99-8B82-147352F4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05CD3-831D-45F7-86E0-77DCEFE3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2FDAB-E00D-4BAB-9E6A-024B8BBC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Electrical control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9C606C-12C5-4B60-9D0F-48D5BA2E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333F42-0492-41CB-9B8A-5E0D41DE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4F9AF0-D897-4528-AB01-DD5146FB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6355239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227C3D-C04F-4DE8-BC40-5223BDE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56735-A634-4C1F-9534-327E9664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Display technologies in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D526D-DF7A-40AB-992D-C0318156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 display map.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1E305-6DDB-463F-9E58-BB2363A7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0911F-A2E0-4119-847E-46816FF2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941DC-62DE-428E-8002-6C88EC09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2E1A0-E42A-4FE3-93F8-6B7BE72C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Display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6C9C6-F951-4112-B073-F612851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03ACB-4C14-4792-B764-9003670A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24F5F7-16C9-433D-8FD3-6141F8B9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Displays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27B14-4746-456A-AE66-A71CF91A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B788-8AE3-4C8E-AC22-8B76D01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3CAA7A-8A45-40C3-A237-B24358DB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E5DBA-6DFF-4014-83A3-A99B40F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Controls light transmission.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C26A0-8774-41E0-B0B8-19D7255F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B8837-0472-4BD0-B8DF-6C619E83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9E3F3-28C8-4FD6-A9D3-930037F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A79568-626E-4C45-897C-D80C6FFB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Inorganic light emission.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39FFCC-7423-4708-AAC8-125B6CC5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112AF9-8E1E-4051-BDB1-39DA27E8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C36F7-03C8-4207-8837-F2F066A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OLED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F49D1-5D68-48AB-BF0D-1C126DC8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Organic emissive layer.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00074C-5AB2-413A-8548-6AA8D81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D85EE-404B-4F02-B3CF-4DFDDA97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6E477-046C-476C-953D-D3797597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AMOLED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53823A-F02C-424F-A2E9-CE4AEC0B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Active matrix OLED pixels.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FBA54-8828-4C8B-9374-1EB852B9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A880D-FDA4-4091-9676-C2DB4DD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FAE9AB-DAD6-44F3-9F9C-FDE99F5C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QLED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AF69F-D809-4C79-8F63-084A0441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Quantum-dot color emission.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632B55-5A80-4A98-B59F-622D740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CED7A0-6FA4-4003-8D38-638E0E41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A3823-1B8C-40F0-9B62-9702512F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Applications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215D55-D7F4-41A2-A150-0AA1E2F8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Phones, TVs, wearables.</a:t>
            </a:r>
          </a:p>
        </p:txBody>
      </p:sp>
    </p:spTree>
    <p:extLst>
      <p:ext uri="{BB962C8B-B14F-4D97-AF65-F5344CB8AC3E}">
        <p14:creationId xmlns:p14="http://schemas.microsoft.com/office/powerpoint/2010/main" val="13653108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101AE-8B6D-45C8-AED5-F48EE581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093CA-3AA9-4E44-BDD9-887CBA3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Liquid crystals are between liquids and solids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9FD8B-97BE-45C0-B0C5-4476A3D1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liquid crystals.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647D7-1813-48B9-BDC9-5FFD030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42FD5D-0E4F-4481-8700-3806851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F058E-1025-4923-B625-9BF0B55A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DF384-EC08-426A-BCC7-1BBADAD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Liquid Crystals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B9CA42-ECA8-4EA9-A6F2-741BEADF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24DEA-5045-4074-8544-8D57D57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Liquid crystal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6076B-380A-46F6-9359-4375A625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liquid crystal flows like a liquid but has partial molecular order like a crystal, allowing electric fields to change optical behavior.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3ADAB-38E2-4D02-8CDF-A9F4AF93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3FA63-AEE0-46A0-A9F5-ACFD4B3E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D13E7-6CFC-45C9-8124-3E819808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834F5-CE8E-4BC4-8AE3-E6FAEEA0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5F72B-39FF-4B69-9D21-02286024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Molecular order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C0AE44-A4EC-4EC2-AAB7-14BB0709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D21BF-F139-4D1D-A415-142639A9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E9373-3604-4774-8AF2-D6E2B75C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Anisotropy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CCA9C5-2042-4D9E-9108-309B0547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DDAAA5-A04E-43D8-A5CD-9DB9E57C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1ED00-8CF1-4890-A4E8-46BBF15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Electric field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23BB5-2806-45F4-9E0C-83BBF043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AA883E-10BF-480A-A4A1-40FC603E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4A55C6-9034-4A88-9AE4-021BCDEE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Optical control</a:t>
            </a:r>
          </a:p>
        </p:txBody>
      </p:sp>
    </p:spTree>
    <p:extLst>
      <p:ext uri="{BB962C8B-B14F-4D97-AF65-F5344CB8AC3E}">
        <p14:creationId xmlns:p14="http://schemas.microsoft.com/office/powerpoint/2010/main" val="18471202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17ABEF-647A-4587-A176-18CEB33D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6EB54-6261-4E57-AD18-8651D970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Classification of liquid crystals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F5AB9-FB58-4A26-8D5C-6EF1C0F9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Cover classification.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BC535-4AE7-4843-9BC7-84FEFF6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C6C7-9AE9-4207-8CB0-D85E7F2F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E12C1-57A8-4E4C-BAF3-25DD9D96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4DA9F-806B-42F9-9D57-0322B3CA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Liquid Crystals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FA0FA-22E5-4022-A939-DD2F7C8E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0E5AB-B996-4291-8179-B25D319E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AAF40B-70A1-4952-A9EC-AF80D47B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4F572-574E-43ED-8E82-B7565B29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Thermotropic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2492D-3A25-4AF4-A7F8-34E1D82E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Phase behavior mainly controlled by temperature.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7051C-436A-447A-B288-23A0C459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E6FE2-4FF2-4395-9C05-B5BBE728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38C1A-2E49-44A5-B83F-7ADD8D9D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Lyotropic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62C45F-9F87-4A05-8D00-EADE8359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Phase behavior controlled by concentration in solvent.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39C76-B6F7-478A-A3BD-A8B2F854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F610B-D73A-423C-9B79-820EAF3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CAB13-E20D-4CCD-BAB7-57520432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Nematic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B7686-8323-4B23-8DF8-54A36BCB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Molecules align in a common direction without layered order.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71B87-0FD0-48F7-A0DA-73CE9CC3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E7EB2-166B-4CE7-85B9-C4C23A94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0E76D-6E5A-4B8D-A947-429B00CF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Smectic / cholesteric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8572E-833C-4037-92A0-C865EF17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Layered or helical molecular ordering.</a:t>
            </a:r>
          </a:p>
        </p:txBody>
      </p:sp>
    </p:spTree>
    <p:extLst>
      <p:ext uri="{BB962C8B-B14F-4D97-AF65-F5344CB8AC3E}">
        <p14:creationId xmlns:p14="http://schemas.microsoft.com/office/powerpoint/2010/main" val="26279382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912A77-71E9-4A9F-B072-9CAE37EF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BF38-E2B9-41BE-A1C4-7E99D1912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Properties of liquid crystals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131FF0-C889-4732-978F-B7420F06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why LCs work in displays.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F9AFC-E235-4EEE-A7F0-35391153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6FD47-CCA3-4A91-A168-500DF200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ECD0F-D8C4-4A3D-BA0C-B0F98981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98CB4-B42B-4B34-84EB-7A07003F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Liquid Crystals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F4F10-EEE7-4308-B32E-20C0AFB4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8DBC5-E32E-47D5-8D1D-81831580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1620B-7434-4BD5-9725-81935913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F539B-E202-428F-A60F-799C332C9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Anisotropy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8F810-D447-402C-B031-CE23D015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Properties depend on molecular direction.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B6EB6E-037B-4D36-832F-4113A642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671D5-ABC6-42F2-A873-1E0C9B67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FF0EAE-E8CC-496C-8A08-D2901918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Birefringence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A86C0-7E02-4671-A236-508239D3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Can change polarization and optical path of light.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DBD80-5CF1-496C-B42D-B0E86F1B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B3D02-2BEA-4BE4-A870-D85357CC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307956-8886-4244-8878-19593B4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Field response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1F0B92-F1F4-44EF-8285-6329C7F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Molecules reorient under an electric field.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7252C0-0EA9-40B4-B6D1-38F396F6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35B61-13E5-4185-B8F1-03731A9D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C78DAB-E90F-4E27-863B-584DA41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Temperature sensitivity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7913DE-4D00-473C-B338-6115C0AA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Phase and response depend on temperature range.</a:t>
            </a:r>
          </a:p>
        </p:txBody>
      </p:sp>
    </p:spTree>
    <p:extLst>
      <p:ext uri="{BB962C8B-B14F-4D97-AF65-F5344CB8AC3E}">
        <p14:creationId xmlns:p14="http://schemas.microsoft.com/office/powerpoint/2010/main" val="14973848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3E6D0E-B4C4-4349-AEDF-33FBF4C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B340F-FE5F-414E-96DD-D9E2CD58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Liquid crystal display working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B8501-6EBC-4192-BC00-CD5E331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LC light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1275-F874-40E9-9C7B-2D8D4EB3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347DA4-EF4B-4669-B5CB-1D9A1E23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485E1-E7E1-40FB-9868-566938F82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38FBCF-5B3B-4061-9DAF-04C1D627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Liquid Crystals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61A764-BF91-4B7B-88F0-96BFDAA0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6DA80-F6C1-4AB8-971A-3697769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F376D-5E58-457B-AE3D-DE374467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Backlight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8AF90-E2F5-46BD-BB91-CFED000D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7344AA-C1C0-4285-9C0D-1074AE5B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2A9C8-BE99-44B0-9018-1FF7B941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Polarizer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34453-5F56-4541-817A-5D0ADAED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16C50-8F12-42EE-9753-BC19651B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E054C-B5BA-402D-B31D-78D8031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LC layer rotates/blocks 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4B46A-7A4D-4E74-B8CD-2AC26FE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CED1A-F73D-48A4-9B9E-3798F766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AD1BC6-C16E-4838-984D-FEE0B136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Color filter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3394EC-EF61-4E88-A826-83AFB210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B499C-778C-47C6-9ED8-A4200424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B18891-279A-416B-85EB-AF8C6938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Pixel brightness changes</a:t>
            </a:r>
          </a:p>
        </p:txBody>
      </p:sp>
    </p:spTree>
    <p:extLst>
      <p:ext uri="{BB962C8B-B14F-4D97-AF65-F5344CB8AC3E}">
        <p14:creationId xmlns:p14="http://schemas.microsoft.com/office/powerpoint/2010/main" val="199206687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796D37-0D09-4BB9-86A0-1282D81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66B95-6390-4F98-A28A-8ADAC65F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Applications of liquid crystals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692BB-2321-423A-945C-68352218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88E9B-082D-443A-8D74-8B7359B3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3AED4-9E18-4362-9093-65F616D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0AEEA-12DB-40BA-9D23-758D7D0E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42899-5362-4A57-B8C2-B4DC213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Liquid Crystals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639D6-D8FB-4675-B692-97BDA0F2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3862B-CE36-45D9-80E2-E42EC0F9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AC1A9-9FA1-4F17-9CAA-FE550A62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F05A8-7571-4AAC-992B-2B73C285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LCD screens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7FCD8-98A5-41DE-8A81-D3EBF7DA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Phones, laptops, calculators and instruments.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AEA38-F45C-4A4D-BF56-C57AB74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8BE1E-8FCE-4C4F-A595-8105C210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7345D-8F25-431E-9717-FAE1A32E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Optical shutters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FF03B-9ABE-4D40-B156-71E9CA4A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Field-controlled light blocking.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7BC4D-14FC-492D-BF83-98425301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CA6002-FA30-4CD7-9A65-25E884AB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F1F9C8-C16B-48B7-93FB-C91C4322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Temperature indicators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FF9F0-77F3-422D-9D3A-7A4FC2DF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Color or phase changes with temperature.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B70A8-176E-4B82-891B-46C60568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3E5B7-771C-4D1A-B1FA-F4C24085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E96ED-EA3D-4ED8-AB65-CBFBF2F7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Smart windows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C2326-B3AE-4B09-9192-979BA102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Controlled transparency in glazing.</a:t>
            </a:r>
          </a:p>
        </p:txBody>
      </p:sp>
    </p:spTree>
    <p:extLst>
      <p:ext uri="{BB962C8B-B14F-4D97-AF65-F5344CB8AC3E}">
        <p14:creationId xmlns:p14="http://schemas.microsoft.com/office/powerpoint/2010/main" val="79456614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2D5DA-74C6-44A4-8FD3-B5EBB789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C0856E-42FA-42D8-8322-FF34D3B0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LEDs emit light from a p-n junction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2E6D0-F4AC-4C72-B3E7-373E57F4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67B74-0360-40C3-A2E3-46390157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95BF5-6AAB-445D-B8D0-21002179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501F65-7F48-44B1-936F-66D5C71D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F2579-CB95-464F-9118-D07636B1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09F8B-E63C-42DF-8E48-648D3EB2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153F0-DE6E-4EA5-B62D-9259E5B4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FD89D-7CEA-4717-9A7D-DB69D0CF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Light Emitting Diode is a semiconductor p-n junction device that emits light when electrons and holes recombine under forward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3EA4A-FA54-4E7C-A967-66F1E28F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721DE-97F9-48EF-9880-C65798F2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p-n junction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68514D-FA53-42DA-A5F9-EDBD0295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49AD03-62F5-4F42-A604-2F8E3277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1E8648-FC16-46C1-A0A8-BBC56A05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Forward bias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19650-4242-4DFB-B93A-43064682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16488-295B-43BE-8460-53592454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CBCB0-5FA6-43CA-BC0C-D10E604A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Recombination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79638-50AE-4E45-AF74-79C30CA3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DDB961-29D6-42B6-B4B7-9C49674E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22973-4057-44E4-AC28-7073A603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Photon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E03A16-C197-4EAE-986F-00E763F2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9A5CF-28EB-4A71-B518-D9E3D3B0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A15AB-4C46-4669-A56F-D9377893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Efficiency</a:t>
            </a:r>
          </a:p>
        </p:txBody>
      </p:sp>
    </p:spTree>
    <p:extLst>
      <p:ext uri="{BB962C8B-B14F-4D97-AF65-F5344CB8AC3E}">
        <p14:creationId xmlns:p14="http://schemas.microsoft.com/office/powerpoint/2010/main" val="14902927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F5034-5058-4A1C-A3C9-2DCD6D0A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98605-7CB1-4050-92ED-95AEF215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LED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CD98E-081F-45E2-B9C5-25C9E321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basic LED stack.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62DB4-42AA-4628-A13A-2EB97A26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FB869-09AE-4492-A322-ADB6F6E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9F2F1-D51C-4E5E-AFFC-D12E50B2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142ACB-10D5-487A-AF94-901DD0C8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EAA68-ADA3-4FC8-A16C-C47D179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DE3C-D1FB-47D5-9228-DD9C82AF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EE8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1F077-FE5C-484D-88D9-F0E5C0E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Transparent encapsulation / lens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6D3B55-0BBA-484C-A58B-2AA290E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A37024-7671-4735-B435-F90E5681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p-type semiconductor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81F8D0-3755-46F2-9D63-E837610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40AC1-0790-4B77-B5F3-C966B73B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Active recombination region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9D9E6-104F-4040-8BE3-EA85C93E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98B98-8B83-4A14-A0FA-3B1F0C42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n-type semiconductor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0250F-4C9C-49AE-95C5-35C56CFF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F0AAF-73C5-4D92-8527-00EC2246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05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Metal contacts</a:t>
            </a:r>
          </a:p>
        </p:txBody>
      </p:sp>
    </p:spTree>
    <p:extLst>
      <p:ext uri="{BB962C8B-B14F-4D97-AF65-F5344CB8AC3E}">
        <p14:creationId xmlns:p14="http://schemas.microsoft.com/office/powerpoint/2010/main" val="1705779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314FF1-6843-4D73-A228-DEFCFF06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1B16D-7BC8-4A34-B582-148BBC09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LED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6A9B8-CA0D-4CE1-9BCC-15DF7270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LED working.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031A3-C4E5-4B5C-B2D9-9B41C75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3B7B-19AA-4E38-91F9-7D990342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30B15-ECDB-4FBB-ADB5-01A5C611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B9F7E3-FB79-428B-8514-520E604A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FE6E2-8C46-49B5-8D2F-3427A171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1930C-DD66-4F85-B0A4-CFCDFC7C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F784E-1F6D-4A5F-9F2C-A74F874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Forward bias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BBA835-ECA1-4C76-8F76-899D095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7CA2F-E6A1-47F7-B4DD-05C3A24D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7F0A1-5A75-4FDE-8540-0964B283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Electrons injected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7C614-738B-4618-9325-D0FBEAD0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3B385D-2AEC-4AE1-8DA5-2D78EE66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2C16D-AC07-46F0-B991-A7605651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Holes injected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45D09D-95D9-449E-9400-03812B45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24A8B-675F-4994-A897-65E1D529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49326-C86D-4C14-800B-D749E27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Recombination occurs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F5F8A-CAF6-498C-914E-455EE746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6C291E-B2FF-49F6-BC23-CAA23945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FD6FF1-D08A-4230-8BFE-3701C33F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Photons emitted</a:t>
            </a:r>
          </a:p>
        </p:txBody>
      </p:sp>
    </p:spTree>
    <p:extLst>
      <p:ext uri="{BB962C8B-B14F-4D97-AF65-F5344CB8AC3E}">
        <p14:creationId xmlns:p14="http://schemas.microsoft.com/office/powerpoint/2010/main" val="103462959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A1D033-9DBF-4D3E-974E-BB99040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31534-5C9C-46CE-9E32-CEFDE5EA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LED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804F7-6A21-4ECC-BCEB-AE4CCB3E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Ground LEDs.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303EE-D4CD-4CD9-A150-662988BF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777D7-B92F-4CAA-B9BC-1323899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AEFBE-2F38-4E2F-B7DE-203CE08C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F1699-3D13-45C2-B739-8C4BAA50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FFC50D-DF30-485E-AFAD-F1BD375C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7CB951-A3F4-4CF0-93EB-FA9115F2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4439B-3B3B-47C7-9DF6-662B3B7A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00EE0-FC47-4A69-BF41-90B0D2F9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Indicators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5FB49-97C6-4192-BA64-1433F63A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Status lights in instruments and electronics.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1FEC4-220D-420A-A06A-905B5066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D3E04-C95A-44CC-A1D7-9E9A380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49417-ADFB-46E6-B977-A5577594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Lighting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9AC63-2E73-449C-B591-1B0BBB93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Efficient lamps and streetlights.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8C6A2F-AEA6-48C5-A262-3A070616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7A7BF-4B8B-474A-B423-1DE4A3CA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831AF-8C4D-4B58-859C-1F86CC73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Displays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9C5AAD-2019-4662-A84A-BDA5B3E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Large display boards and backlights.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97DD3A-52AB-4CD0-801B-6D9B33F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287DD-354D-4D35-9299-DA04205A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B963C-6A79-48FE-BA80-6E8CB477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Optical communication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9DC74-BB3C-4562-809B-4B38410C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source in short-range links and sensors.</a:t>
            </a:r>
          </a:p>
        </p:txBody>
      </p:sp>
    </p:spTree>
    <p:extLst>
      <p:ext uri="{BB962C8B-B14F-4D97-AF65-F5344CB8AC3E}">
        <p14:creationId xmlns:p14="http://schemas.microsoft.com/office/powerpoint/2010/main" val="69638661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02CCF-1D9B-45C8-90DA-89F9C8B5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C1BA9-4290-494D-B190-6608E899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OLEDs use organic emissive layers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F5A4D-8C51-41C1-99B5-0F0B493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OLED.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0F58F-262F-461C-8672-B6EA295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4BFBA-F9D9-4DC1-AEA7-619D55DC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F68E4-2ADD-4A14-8329-8F8D6535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3DAC9-D0D3-4A7B-90C7-8C94A166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CEBD5-8AF1-4EAE-8093-432F65A5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35FDF1-94F4-4F0D-8331-3FF3C6E0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OLED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7D33B-69D0-4C25-B4C5-3FDD2670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Organic Light Emitting Diode uses organic thin films that emit light when electrons and holes recombine in the emissive 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5A9727-29BD-4077-9ECA-455EC3E1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9E742-75A5-4C70-8D98-3376868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Organic film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6111C-730B-47C0-848B-1B523910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B9539-A208-4333-A1BB-C3F08D08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7A4AA-02A6-419E-A2D9-05E24316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Anode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1D7CF-B3F0-46AE-AADD-CDB6A6B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929AF6-4AC1-4672-881D-C60B8B4A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53EF5-63B5-4D4C-A284-2B40971C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Cathode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D0A45-A1A0-4C7A-8157-CF0274D2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C6A40C-D2D6-4309-93EC-695057B0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C5556B-0820-4D0C-A95A-D29DFD7C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Emissive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FB47C-D671-4B96-AD1F-B51F449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195222-050D-4037-95B4-323D29EE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37001-0EDE-4B2A-97B1-B46777F3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Self-emissive</a:t>
            </a:r>
          </a:p>
        </p:txBody>
      </p:sp>
    </p:spTree>
    <p:extLst>
      <p:ext uri="{BB962C8B-B14F-4D97-AF65-F5344CB8AC3E}">
        <p14:creationId xmlns:p14="http://schemas.microsoft.com/office/powerpoint/2010/main" val="170532221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7DA70-09B1-45F6-BDDB-FC14969D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44AFBB-768C-4F59-95C5-99C0D381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OLED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92CDE-49E9-4182-A5F0-EE7B8682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OLED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8CF9-4F67-482D-9806-FE09F51E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9CBC9-B517-41D1-BE37-2D4CD356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DD6DA-0464-41D4-92E3-4B1B1205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B6462-55B0-4777-BB49-BDB184E9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28EAB-CD03-4A73-8074-56ED3996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C41E3C-60AE-4085-9F4F-D695CB9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53FEAF-66FE-4894-947C-5D18D0CB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Transparent anode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54F89-D0B7-47A6-A221-16CB8A5B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C6597-D4E8-4F48-8587-ACE4EB93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Hole transport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223ED-4048-47D3-A25B-3DE1D647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CF66-9491-41AD-AC3C-A7930C52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Organic emissive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D1D2A-898E-49E4-8259-41222122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EE8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FC1AF-29B1-4ED5-8E90-14746A85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Electron transport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51089F-CDBD-4431-BE61-CFE5A223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4B73B-529B-498C-A80C-969120CF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05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Metal cathode</a:t>
            </a:r>
          </a:p>
        </p:txBody>
      </p:sp>
    </p:spTree>
    <p:extLst>
      <p:ext uri="{BB962C8B-B14F-4D97-AF65-F5344CB8AC3E}">
        <p14:creationId xmlns:p14="http://schemas.microsoft.com/office/powerpoint/2010/main" val="3174517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DA1921-0AD9-4EF3-8B64-425777F2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893F5-0157-469F-AF37-C67D2502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OLED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7FA7E0-108A-46AB-8AEB-E1BD9C01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charge recombination.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B6829-F0A9-4A52-BD23-09435835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64F8C-A989-4BAB-9684-5B28854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13E7E-DEA2-4F38-9FC5-A3AC8AD7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F5B60-9A86-4A6D-9EEC-64CEB8B9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7A0BD-B582-4601-917C-9077103C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9A5F3-3EED-47C6-94A5-9718565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D677B-3756-4D1B-B715-6CA8669F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Apply voltage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4926F-A8AD-4D36-927E-0EF6F5DD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242BF-FC96-42DC-AA34-8B6526B0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49E24F-8DF9-4061-8466-9C537A7F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Holes injected from anode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C21AFB-438D-40BF-A3D2-0303591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FD15E-AEE1-4A83-BC50-0F0DD7FF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BA042-ECB6-43AB-AD42-BCB3891E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Electrons injected from cathode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545FED-65A3-46CE-8778-179BD4C3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CB0A0-38D7-4492-9A92-BA489C38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D633D8-48FE-4C77-AC29-78B31303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Excitons 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83B9B-A739-4155-ACCB-A90BE336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BB57D-6888-4D9A-9EA0-093CE966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21D88-4172-4D82-86E0-0BB41627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Light emitted</a:t>
            </a:r>
          </a:p>
        </p:txBody>
      </p:sp>
    </p:spTree>
    <p:extLst>
      <p:ext uri="{BB962C8B-B14F-4D97-AF65-F5344CB8AC3E}">
        <p14:creationId xmlns:p14="http://schemas.microsoft.com/office/powerpoint/2010/main" val="1103716972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256B61-7555-43A5-BB8D-8A86F91E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30EB8-0A3C-4CFA-A742-54959E04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OLED advantages and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3BBFD-5D1F-4284-A558-F07793E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Summarize OLED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EC251-15F1-4BFB-945F-94F8BB1B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0EE9-ADC5-47D5-BC70-36EBE45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70D8A-F204-4529-B390-568EBFCA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46E2F-C5D3-4D98-9418-7C8CB330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6D068-7001-45B1-9063-8D11069E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A92E8-32FC-4094-BCCB-6938B137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DE8A7-0DDB-466B-9D75-3EF46BD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E15A0-75AA-498B-8B79-47976C2B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Thin and lightweight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CB2B5-BC09-4EC6-A03A-D340B948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Organic layers can be very thin.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DB9A1-5F33-43C1-B673-98610AD7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993F6C-7693-4E35-ADEB-F51EF83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8FEC8-3BD1-4A07-B105-8C8F7771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High contrast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51AA4-CC18-4D67-BE68-178003BC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Pixels can turn off for deep black.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52DFB-A6FD-4237-B61E-35F52EBD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3DE7AD-0E61-4F75-92E9-66C15964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567297-689E-431B-A57E-B6ADCFCE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Wide viewing angle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0E7C46-0D31-4BE9-8B47-A41CBDB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Self-emissive pixels improve viewing.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F4CE3-282A-4F0E-A936-BB4671DC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A444D-75CD-4726-88D6-F108A9BA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C9931-DC46-4418-A0F5-C427BE6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Applications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90DFF-9C04-4598-8282-535B49E1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Smartphones, TVs, wearables and flexible displays.</a:t>
            </a:r>
          </a:p>
        </p:txBody>
      </p:sp>
    </p:spTree>
    <p:extLst>
      <p:ext uri="{BB962C8B-B14F-4D97-AF65-F5344CB8AC3E}">
        <p14:creationId xmlns:p14="http://schemas.microsoft.com/office/powerpoint/2010/main" val="39909927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A8226-78F2-492D-AC82-2425D04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5D1D3-DD91-4D42-8414-5AAA1C8D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AMOLED adds active-matrix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ED1AC-3D6B-4984-83D1-60B6509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AMOLED.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102611-D858-46D6-8E1E-6DA612D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4A34F-FDED-459B-BEF0-B07F9E95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DB249-4569-4CF9-9DD4-3835F377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F4659-7763-4CF8-98FB-F1DC92D2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AMOLED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D26AF-6B1D-4D57-8136-46E2C2D0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2EDAC-C79E-46F5-8E08-686A369C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AMOLED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E87F-5FE2-445C-B28B-9E1E7DAA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An Active-Matrix OLED uses a thin-film transistor backplane to control each OLED pixel individually.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97CDD2-BC53-44B0-8E85-97F5A566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975E6-0D5D-42AE-BB43-1323A97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OLED pixel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65C68-F735-41ED-8A3E-305B0B4D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35587A-C712-412B-B728-EA3765B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81E38-E432-4ADA-A9AF-D97F06D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TFT backplane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F18D2-1C51-4527-AEDE-6F36E33D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55BBC6-B2D0-4FE2-AB19-2835698C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F422F5-5B4C-4399-8AE6-62B059ED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Active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A8F0CF-7610-4434-98F8-C89F4411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AD6951-BD4C-443A-9A30-CDCA3427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03CD5C-A608-4B30-BF1B-78DA4D70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Fast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CD20B-477F-46FB-BDB8-7504EDBF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9524F6-4F69-46A2-BEC9-75F85EF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6FE035-AAB2-4297-B61A-B8C52417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High resolution</a:t>
            </a:r>
          </a:p>
        </p:txBody>
      </p:sp>
    </p:spTree>
    <p:extLst>
      <p:ext uri="{BB962C8B-B14F-4D97-AF65-F5344CB8AC3E}">
        <p14:creationId xmlns:p14="http://schemas.microsoft.com/office/powerpoint/2010/main" val="20050076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16DF75-747B-4A3E-8E21-B339CE7C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F3EE7-AFD8-4014-8E6B-8227CC0E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AMOLED pixel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EAF09-9068-4475-9CEE-93B32A38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AMOLED stack concept.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EDBD2-07D3-44EE-AC10-7B84A60C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28B52-29F3-4688-8769-D90C5E2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1F611-29C3-4020-A107-4A38AED2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2D94A-7541-437E-93BA-754523C3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AMOLED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70966-52B1-4EEE-AD18-98921E1C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02B45-2A49-43F5-871C-E4DFB96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EE8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B0168-D602-4ECE-B8C9-DA6B450E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Cover glass / encapsulation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A22A2-03D7-467E-B7F0-F1CFEEF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AA257-0EFD-4FA3-AA77-8F60F98A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OLED emissive pixel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FB663-F1D9-40B2-A64A-B92D0E39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64895-570D-4D57-A697-EFDEBC1F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TFT active-matrix backplane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3BDA1-7B7C-489B-B174-BF76FEC3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11107-CD19-4A56-B01D-FE9EAA0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Storage capacitor and wiring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D32F92-EB3F-44F6-ADEC-542FE0FD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0542D-92D5-4D8E-B78E-683F3961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05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Substrate</a:t>
            </a:r>
          </a:p>
        </p:txBody>
      </p:sp>
    </p:spTree>
    <p:extLst>
      <p:ext uri="{BB962C8B-B14F-4D97-AF65-F5344CB8AC3E}">
        <p14:creationId xmlns:p14="http://schemas.microsoft.com/office/powerpoint/2010/main" val="38399844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7D308-B50B-4F87-A8A5-86CCCD15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5F4748-AC34-4E03-8E1A-1FE3910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AMOLED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63AA0E-6CF8-49A9-8FC2-222753D6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pixel addressing.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5613E-4E92-480A-9C91-D16A519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185E4-6270-438B-B1C3-AF0C496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110273-CB40-4B62-810A-A145EB6E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3C65ED-A3A5-4549-9110-6CAE7697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AMOLED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C6B9D-7279-43E6-8F43-25384E5F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41B4D-2D43-45DA-B4ED-46654902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181B36-C263-4B94-ACB1-38AD236C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Row selected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47705-5CD1-4F47-9BCB-18C95EA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D2A43-32AB-4B14-87FA-73A1F51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010C6-9C57-40F9-9014-0DF0E756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TFT turns 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57735-8B35-403A-9966-7BEC2DB5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5F43BE-CAF7-4B0F-97E4-4C3FA86B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814B5-5BB9-45AD-BC9D-E2CF56EE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Pixel capacitor stores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24F103-8F71-4DFB-A794-E02E7130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7A43F-DAEC-497A-B3E0-84AC409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5BAB2-D58A-4A7F-8422-217D300B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OLED current controlled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FCB37-8FA2-428F-B693-222B8B57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9CBDD-0EC9-4506-BC85-CB4AA543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7A634-3013-4F29-8DDC-D0E7082E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Pixel emits light</a:t>
            </a:r>
          </a:p>
        </p:txBody>
      </p:sp>
    </p:spTree>
    <p:extLst>
      <p:ext uri="{BB962C8B-B14F-4D97-AF65-F5344CB8AC3E}">
        <p14:creationId xmlns:p14="http://schemas.microsoft.com/office/powerpoint/2010/main" val="201662289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C6B61A-CCAD-411C-9A88-900BFBE3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AC1B2-2C14-41BD-AAB3-87B7350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AMOLED is used in smartphones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BBB68-4A36-4055-BDAE-E79BC06C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DB573-0344-41A2-8DDC-E33574A2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2357D-D2F1-425B-BE1C-67A7C249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D0814D-9E59-4A6B-9273-67589BBE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B0503-8D3F-429E-8FAF-3EB77D3BE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AMOLED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5FA1B-496F-4CE4-9926-5E9B9402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CD3AE-ECB6-49B7-BFA8-3A7B612E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A2296-D43D-402D-BC43-2AB7BB95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5823A-A94F-4640-8119-D0DDA32D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High contrast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DA68A-12D7-4171-A030-110B6365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Black pixels can be truly off.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D4A65-CD33-4924-A4EE-D452CBA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4A079-E35F-4A47-96D5-EC734BCC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6A55D-1845-473B-99CC-A0F1C077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Fast switching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41958-B8D9-4737-84D2-C4B935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Good for video and touch interfaces.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78FCF-15B9-404E-A886-9A9C73F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DFC75-E1AE-4887-9E05-C156434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34076-692B-45CC-B9A7-285DA96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Thin displays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6017A-B61D-4950-9F4F-88C32191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slim devices.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2129E-4357-48D0-92D3-A105EF87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B8A50C-14C9-477A-AF32-8029A022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F4F33E-2884-44D8-A38B-05A4BB32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Power saving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8AFD5-3794-4F19-8886-59189948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Dark UI can reduce power for emissive pixels.</a:t>
            </a:r>
          </a:p>
        </p:txBody>
      </p:sp>
    </p:spTree>
    <p:extLst>
      <p:ext uri="{BB962C8B-B14F-4D97-AF65-F5344CB8AC3E}">
        <p14:creationId xmlns:p14="http://schemas.microsoft.com/office/powerpoint/2010/main" val="14253434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720C9-0632-435A-BA77-4C86AB32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36F61-7F2E-48E1-A7BB-BB41527C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QLEDs use quantum dots for color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C72C8-EF36-472C-AACF-63CF63F5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QLED.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9991AA-ED8E-4605-83C9-AB89A45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5347E-8206-4754-899C-E42E18B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64383-64D8-4562-84AB-B1C862A4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53681-E238-4493-82F1-4C9C2E3F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C5186-79E2-46B0-A162-DD92124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AC009-6F80-48CB-85E8-90256667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9F1C"/>
                </a:solidFill>
              </a:defRPr>
            </a:pPr>
            <a:r>
              <a:rPr sz="3525" b="1">
                <a:solidFill>
                  <a:srgbClr val="FF9F1C"/>
                </a:solidFill>
              </a:rPr>
              <a:t>QLED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3DBC1-E428-4AD7-B124-0D8C5762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048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F8FBFF"/>
                </a:solidFill>
              </a:defRPr>
            </a:pPr>
            <a:r>
              <a:rPr sz="2100">
                <a:solidFill>
                  <a:srgbClr val="F8FBFF"/>
                </a:solidFill>
              </a:rPr>
              <a:t>A Quantum-dot Light Emitting Diode or quantum-dot display uses semiconductor nanocrystals to produce narrow, tunable colors.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B088C7-BE4A-40CF-93A1-84AC81AD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365D1-18AB-4537-B4E8-52F98A38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Quantum dot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51FD3-5660-4643-9815-D59132F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94D77C-E1B7-4A09-BA35-A949D6D7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09368-FB98-4283-91F5-87D9052F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01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Nanocrystal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9ACF4-9B1E-4C29-916B-37931DF2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AB885-2E57-464C-BF6C-67033DA3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25F41-2D00-4797-9273-B128C668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32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Tunable color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48E28-7DE3-4197-B81D-B4D6E8D0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DD08F-09AF-40DB-81D1-6C15A20F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F513A-120D-4B61-B619-14DCE4D9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663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High brightness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67C60-0367-418D-8D95-16B82E61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23557-3EF4-4F36-9DF4-96ED75A0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42CF0-A418-479F-BF06-5B3FEEBB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940" y="4676775"/>
            <a:ext cx="14706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Wide color gamut</a:t>
            </a:r>
          </a:p>
        </p:txBody>
      </p:sp>
    </p:spTree>
    <p:extLst>
      <p:ext uri="{BB962C8B-B14F-4D97-AF65-F5344CB8AC3E}">
        <p14:creationId xmlns:p14="http://schemas.microsoft.com/office/powerpoint/2010/main" val="89087629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34014-1248-4BAA-B63F-9E89586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4DDDC-BDC1-4A18-A63C-6CEC3C0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QLED construction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18E45-3DF6-494F-BE75-A671D3C0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quantum-dot layer.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44479-9BB4-4CF4-B341-6A0602CF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15CEF-6AF3-4DB5-8A70-BAB6A13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96A6E-E91B-468E-BD54-94CD4C90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5E8C6-E9EF-4B1E-9DFF-D14F85A5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1B266-EA16-42CB-B14F-5A746FAD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01753-3726-40D5-A10E-FD4E615F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192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EE8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9243C-DA10-4F1A-9E4A-57ED7056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Transparent electrode / display front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BF44C6-968D-49BB-AF43-D857BA9E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6FD49-34C9-4ACE-B8B2-67B07E0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717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Quantum-dot emissive or color-conversion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012AC-867F-44F8-A329-13D7298F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384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C4B6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FDF52-8BC6-4018-9D93-8DAC7EED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813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Charge transport or light source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6E8E4-8A70-4C4E-96D5-9D9EC66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5F8E71-5C43-4ABF-A2F9-0B99E20E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909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Backplane / electrode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D27188-E7B2-4D01-B10D-78E4873E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57650"/>
            <a:ext cx="552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A78BFA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F6295-5566-4A7B-8635-AE783D68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0052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131D"/>
                </a:solidFill>
              </a:defRPr>
            </a:pPr>
            <a:r>
              <a:rPr sz="1500" b="1">
                <a:solidFill>
                  <a:srgbClr val="06131D"/>
                </a:solidFill>
              </a:rPr>
              <a:t>Substrate</a:t>
            </a:r>
          </a:p>
        </p:txBody>
      </p:sp>
    </p:spTree>
    <p:extLst>
      <p:ext uri="{BB962C8B-B14F-4D97-AF65-F5344CB8AC3E}">
        <p14:creationId xmlns:p14="http://schemas.microsoft.com/office/powerpoint/2010/main" val="16309961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4093C-0B91-4C86-8DFF-39FFC94C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D186B-5A12-4A12-A3F4-E37126F7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QLED working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FC589-6A5C-4483-A514-53CC1E7E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color production.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9B59A-86AE-437E-8810-802762B9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E2BE5-0C06-4AFF-A8F2-F5CF2645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A8F9-2CA5-4A14-ABF6-9DC3E110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772D1-D1DB-494F-B3E8-EB136535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A2FD8-5FD9-4E37-ABDE-921FCAFD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71527F-C278-48C9-BE3A-DC201ED8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7E3CD2-5CB2-4C61-A9C9-C8AE52D7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Electrical or optical excitation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6F0A0D-D6AC-4441-8071-325FAC3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F03AB-2319-4F05-AC21-7F44C83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72025-6AEC-468E-B4C7-43152E2D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Quantum dots excited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2D7A5-9D63-441D-AEB7-DFBBBC1A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0C131-FC7C-46C8-94C2-D0C68D78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BA08B3-4631-4927-9A50-05D5267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Electron-hole recombination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6FD1B-408B-4F17-A346-94EB6102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3CAD30-0217-4B4B-BE59-03DB935F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FDE6DA-56DC-4238-8E50-865A2FC0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Narrow color emitted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4C070-E379-4101-8BDC-2D984B45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BDC3D-7C32-4A75-9CE3-4C4BE25C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BFE7A-39D4-4A22-A2B7-E7D31EAA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Pixel color controlled</a:t>
            </a:r>
          </a:p>
        </p:txBody>
      </p:sp>
    </p:spTree>
    <p:extLst>
      <p:ext uri="{BB962C8B-B14F-4D97-AF65-F5344CB8AC3E}">
        <p14:creationId xmlns:p14="http://schemas.microsoft.com/office/powerpoint/2010/main" val="139070392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39CB64-69AD-4D6F-87AA-8A7592AD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861A5-491F-4D82-A619-F888B973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QLED applications and advantages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5CEE4-0999-46E9-BAEA-C34C7340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Summarize QLED value.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0800D-FB07-416E-936A-0692ECC0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75036-BAF2-49B7-A8DD-E0C0B24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C4304-ACB9-40F7-81E6-230F1AF4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645CC-9993-40A8-A1A2-91BB2A9A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QLED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7C033-210F-4B1F-BC84-73760F1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B5651-0D1C-4C84-9B8F-65A96C23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84F3E-E638-4B62-AB9B-8788060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C90CC-FE18-44B0-9DAD-F97B22CC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Bright colors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5D6EC-F8FC-44C6-B81C-08E17136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Quantum dots give narrow emission bands.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C476B4-59E6-485D-AE73-47987744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1ADE-7087-4E5A-9D03-EC1265C7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D7FA4-4038-4550-8C62-86B389DA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Wide color gamut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AD62C-DE36-40FC-A617-7DD8CD0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Useful for premium TVs and displays.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4BE1D-1AE1-46EB-97DE-B959873F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0B56A8-4A22-4C7E-8102-3CA88892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DED416-7112-46AE-936C-3F782141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Material tunability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76A6F-55A1-43C8-8691-A9F3BC53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Color can be tuned by nanocrystal size/composition.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170B6-2745-490E-8E01-010ECF0B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6FCFEC-7228-4874-B1BD-47652D3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052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72307E-EB41-4DA0-8B12-E737585E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Display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873466-B201-4D2E-8599-160E8C50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4076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Used in TVs, monitors and advanced display research.</a:t>
            </a:r>
          </a:p>
        </p:txBody>
      </p:sp>
    </p:spTree>
    <p:extLst>
      <p:ext uri="{BB962C8B-B14F-4D97-AF65-F5344CB8AC3E}">
        <p14:creationId xmlns:p14="http://schemas.microsoft.com/office/powerpoint/2010/main" val="191715282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62B7F4-F66D-40F1-AF88-75B330AA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0055EB-0821-47F2-AE7A-0CCBCC37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LED, OLED, AMOLED and QLED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C54C9-2050-4396-B1FD-342B580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Help students separate similar names.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0CB25-8298-4459-887B-3D3FFB87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37CF32-EF9A-4E7D-A422-02F42C83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090D4-B141-4D5E-948F-85EB5C3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7FF7A-B1C4-471D-867F-9C24ED9F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83629-CBE5-4974-9652-0F3294E3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011371-1F1F-4662-B731-5D828ADB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55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4E3D0-C5F6-4362-B460-A5177631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36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C34E8-B050-4E5A-BFBD-E92DA056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666875"/>
            <a:ext cx="355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181215-670D-482F-99DC-2AD3EC4E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90700"/>
            <a:ext cx="336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Key material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70FE8-FE0C-4B93-9A0E-6D21F502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666875"/>
            <a:ext cx="355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193F05-89CE-443E-863B-C709DBFC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9250" y="1790700"/>
            <a:ext cx="336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6131D"/>
                </a:solidFill>
              </a:defRPr>
            </a:pPr>
            <a:r>
              <a:rPr sz="1350" b="1">
                <a:solidFill>
                  <a:srgbClr val="06131D"/>
                </a:solidFill>
              </a:rPr>
              <a:t>Main working idea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C6A67-FB5A-4A80-9FFE-7FD066FF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C803C-66F5-4FA0-9F30-0FC6184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76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LED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F972D4-D63D-4769-ABF9-BDAADEFB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181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6591F-41BC-4471-86AD-2E6CDA8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276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Inorganic p-n junction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EABC30-5DFF-4D6E-A86B-C4F51F04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181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F8E00-30FA-404B-9E3A-13A74597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276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Carrier recombination emits light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8A9B7-1315-4031-8EE7-497ECF57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E2FC6A-1E48-4AD6-8913-C3E5A158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47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OLED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CF535-6665-4CFE-AD40-38489653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752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C2BD0E-6DCB-43AD-8032-D3F1E55B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2847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Organic emissive film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51F4A7-FBB0-4D07-9E14-28D8A977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2752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5A9A1-8013-4AA6-82C3-299138C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2847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Organic layer emits light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3BCDCD-F146-465F-916A-3E8969C3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46089-05A3-4089-822C-4E1BEEE5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19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AMOLED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508137-6C9C-463E-8AF7-98EB5E5F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324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375DD-C754-4285-8D60-1B746EA5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419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OLED + TFT backplane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92C9DF-6AFB-4E5E-9779-0FA58DC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3242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5E301B-B163-49D5-800F-CF312E7C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4194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Each pixel is actively controlled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09B5FF-1EE1-4014-BE41-ABABE568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1287BB-781D-43C5-926B-6AA97C0D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90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QLED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D75C80-9F79-4D5C-BCE1-D88A3CE8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895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62C840-2DC2-4BEE-BEA6-5DCAB27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3990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Quantum-dot layer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3D65EC-CF03-448C-A14E-37345BCF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3895725"/>
            <a:ext cx="355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59007-F072-44E8-9689-5BD497D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3990975"/>
            <a:ext cx="3327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C9D6"/>
                </a:solidFill>
              </a:defRPr>
            </a:pPr>
            <a:r>
              <a:rPr sz="1125">
                <a:solidFill>
                  <a:srgbClr val="B9C9D6"/>
                </a:solidFill>
              </a:rPr>
              <a:t>Narrow tunable color emission</a:t>
            </a:r>
          </a:p>
        </p:txBody>
      </p:sp>
    </p:spTree>
    <p:extLst>
      <p:ext uri="{BB962C8B-B14F-4D97-AF65-F5344CB8AC3E}">
        <p14:creationId xmlns:p14="http://schemas.microsoft.com/office/powerpoint/2010/main" val="168735161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80773-FBB6-446A-BC43-FF019213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52E33-8B8D-4CCD-89C6-19B9D995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Memory and display materials share one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6EE47-B556-40C3-B083-34A38B76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Synthesize the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F5052-F3E7-4E13-B169-64172DD9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93740-BCDD-45C4-A504-ADC1615B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6F3D1-B76E-44FA-BCDA-7A7FC099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B6BB4-71DB-4138-A4E8-0C9C8E9D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90E1A-B605-4531-A504-28A72CC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6A889-D07E-4C19-B5AA-E2BEDFF6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915A-43FF-4A00-BCF3-8417322C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Chemical 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05ECB-B8E1-4637-8CC3-151BCA8D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A01C9-002B-45AA-8E84-1CDECE23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57AAD-884E-4DB7-99BF-23846DB4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Electronic/optical property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BA5E4-09C5-4691-A6D2-12DDAF0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B7EA09-177E-4A08-AD9F-C602D8A8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97024-C0DD-4DA0-90E9-54C51A98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Thin-film device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2E627-6FB0-4C7D-9094-768CE38E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7D766-DCE2-4D6E-97C6-C8BE85D2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685F6E-AA99-47E2-ADCD-5D2C76D6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Electrical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5A301-0629-4264-8EB3-4026DB22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0F2F6-33D8-4619-AE89-6049B42E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40E4C1-1BF9-4584-8B7D-9FD20BA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Stored bit or visible pixel</a:t>
            </a:r>
          </a:p>
        </p:txBody>
      </p:sp>
    </p:spTree>
    <p:extLst>
      <p:ext uri="{BB962C8B-B14F-4D97-AF65-F5344CB8AC3E}">
        <p14:creationId xmlns:p14="http://schemas.microsoft.com/office/powerpoint/2010/main" val="47692443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75401-A97F-46BC-8F7B-716ACCB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89492-9B00-4D2F-8DAC-4708AF8D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mistakes in Module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91E24-5750-4E54-A9DD-2BD1A7E5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misconceptions.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00AC8-1224-4018-95A5-F7B1EA6B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9F923-AAEF-4536-B7FC-4EE01388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3EDEF-0430-45FF-9558-EB02912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BA02A-8306-4E0B-A9BB-C17BBAD2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10988-B38E-4607-956D-6DFA3768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32712-2EE7-4ACC-B52D-F2455E1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BA6F0-FB44-45C8-8283-DF018725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24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62662-1409-4401-85AE-2969A7B0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573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Confusing OLED with AMOLED: AMOLED is an addressing/control architecture for OLED pixels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A9DAF-F637-4E39-87EC-9391D0FD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193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730733-1985-4C59-9E49-3CAEEB80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8CF4F-C557-458E-8667-1E44A30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8122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Saying LCD emits light directly: LC mainly controls transmitted light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898EA-F722-4869-86D2-8F1268DD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879D7-2563-4620-87D6-C157AA65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DB3F5-7A45-43DD-B00F-2D5F8337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Forgetting SET/RESET states in ReRAM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2E40E9-BC31-44DA-B505-6B6181BA3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F85C5-4856-4450-B4DC-054D7BE8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DA93C3-644E-4435-AC45-D8355657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28975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Mixing pentacene p-type with perfluoropentacene n-type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67177-68D2-43F7-BC18-548DEBF1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75F73B-F963-4678-B1C3-09B306A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7C82A-539E-433D-A683-2AD0298C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8FBFF"/>
                </a:solidFill>
              </a:defRPr>
            </a:pPr>
            <a:r>
              <a:rPr sz="1650">
                <a:solidFill>
                  <a:srgbClr val="F8FBFF"/>
                </a:solidFill>
              </a:rPr>
              <a:t>Writing applications without construction and working principle</a:t>
            </a:r>
          </a:p>
        </p:txBody>
      </p:sp>
    </p:spTree>
    <p:extLst>
      <p:ext uri="{BB962C8B-B14F-4D97-AF65-F5344CB8AC3E}">
        <p14:creationId xmlns:p14="http://schemas.microsoft.com/office/powerpoint/2010/main" val="1827992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5D6D9-2EDC-447D-A2F1-CEA75BD2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28945-A5A8-44AD-8BE4-FF562D51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device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8D58F-0E5D-4532-8D91-89B707D9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answer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BBEE6-EF49-4871-B380-08BD3FFE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BFB29-D3F8-4EBC-9293-755F5949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D1EA7-0AB1-48FA-80AF-5C30BEE8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AE1EF-2E5D-4979-A94F-EE5524F5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40AF0-95AE-456A-A91B-30AC7076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33C9A-B220-4493-80EC-86D35951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565F50-465D-44C3-AF95-97B404A4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94027-B1FE-4B6C-8378-C38FBB24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1DBBA2-D713-43D4-BB88-FE3924B5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857EB-DB00-4D84-BB08-CE55984D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Construction diagram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F6296-CFB4-4973-BC21-774EDAF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B202F4-DDA7-475A-BE95-9F70C18E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AFA7F-2601-4C9C-AE52-655D605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47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Working steps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14FE15-8949-493C-B711-F1A0E8B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31E527-BAFF-417D-8BB1-11E4D57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37D285-E8C5-4572-A43E-36CF8E09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18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Advantages / 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B9D09-B050-4E28-9E02-262B07D9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AB01A4-D7C1-4C28-89A3-A912012C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26EDB-A4C9-4F3A-AF7E-6ADFC5B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3086100"/>
            <a:ext cx="162306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BFF"/>
                </a:solidFill>
              </a:defRPr>
            </a:pPr>
            <a:r>
              <a:rPr sz="1350" b="1">
                <a:solidFill>
                  <a:srgbClr val="F8FBFF"/>
                </a:solidFill>
              </a:rPr>
              <a:t>Applications</a:t>
            </a:r>
          </a:p>
        </p:txBody>
      </p:sp>
    </p:spTree>
    <p:extLst>
      <p:ext uri="{BB962C8B-B14F-4D97-AF65-F5344CB8AC3E}">
        <p14:creationId xmlns:p14="http://schemas.microsoft.com/office/powerpoint/2010/main" val="185967178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C3681F-80A2-4779-B475-7C53911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E805E-446E-4E94-B621-824CC889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1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8EDFF7-61D3-451C-AD7B-8D1761EC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major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2C335-2CF0-4003-90EF-0BA9E2CD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9A093-A486-46F6-891B-EC082CC1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9374E-A288-4E23-987E-CF3929A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2B031-A668-4333-A6AF-F28E4CBA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41C16-FC64-4CB1-B66F-6B94DE2C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C8108-BE22-47D6-9DAE-D5C6A8B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6E27FA-FED2-40DF-B1E5-09EEF839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Module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B8FE0A-94C1-4152-BDAE-D9F50BA0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6480F-DCB7-444A-BD46-3CC5EDA4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521B0-E20D-40EB-9A9A-05611E9F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Organic semiconductors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E2AAE-3A0D-4B7A-B1E8-8A6707F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 and n type.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2A0CA-B4DE-4666-B9A3-8843C099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AF645D-2BBC-48A1-9A87-9C515A4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B3988B-E3D1-4ACB-9FA9-41DA8414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Pentacene chip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B11576-1022-42EC-B52D-F3ED668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p-type memory device.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C96C1-2CA8-40AC-AD98-FB4B683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D309A-53F2-475B-8E4D-09F330C8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6DD70-B3C1-48C3-84E1-2B2364C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ReRAM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A35D2-C192-41BE-A7EC-476EC0CF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TiO2 switching.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721EF-B646-4542-87B4-FE022E9C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75C02-7057-445E-A4D4-9646A5E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FD40C-B6C6-4C63-B8EA-97077078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Liquid crystals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68E72-5D59-433B-B2DC-6ECDCA31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modulation.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2884A3-0E65-46E5-B46D-D5331DF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50231-504E-40F1-A716-C1371A32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12632-3CE0-46D1-8E9E-4D592582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LED/OLED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4BB64C-EF57-40BD-A09B-9BA9634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7210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Light emission.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79EA8D-3E6B-4091-B813-3EF2FBFD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D74702-A789-42D5-8D25-2D4006CB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5B94C9-FB01-44B1-85C2-D442E494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AMOLED/QLED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8650D-44E0-49BE-AE69-75F8A920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72050"/>
            <a:ext cx="236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Advanced displays.</a:t>
            </a:r>
          </a:p>
        </p:txBody>
      </p:sp>
    </p:spTree>
    <p:extLst>
      <p:ext uri="{BB962C8B-B14F-4D97-AF65-F5344CB8AC3E}">
        <p14:creationId xmlns:p14="http://schemas.microsoft.com/office/powerpoint/2010/main" val="199200184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0E9B1F-011F-456B-A2BE-4325909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08812-7B6B-455E-8DE0-9D5FACF8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C0E1C-5D75-432F-AF7A-5286344E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D46F1-4D9D-43F7-A985-FC739573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1A5A2-265D-4C18-A444-0FA0483A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D968F-1B3B-4BAB-BB7F-135C0B93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72BF07-BC1B-4D77-9456-F9A6E506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9B6867-3489-49F9-8F6E-40B71AF5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E152E-857F-4A62-A636-F53E3B1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What is functional material?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D646F-6553-4F44-89A7-31E178C4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What is memory device?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EB131-C27C-4326-84E2-03BD3922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What is organic semiconductor?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F29264-5EAD-48FD-9A21-5BC59A18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What is p-type semiconductor?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F687F-8E79-4398-8EF6-5C38A078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Why is pentacene p-type?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C058A6-6EDB-4DCA-A61A-6827C55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What is perfluoropentacene?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79E7F2-5781-479B-8170-FD75F1EF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Organic vs inorganic memory?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09FBD4-06AD-483B-BBEB-338845FF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Pentacene chip construction?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5B6E31-BA76-4BE7-A945-5F2B7C18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Pentacene chip working?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CC9A3D-9BD9-4F9D-AD0A-DEA522F5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What is ReRAM?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69A7F-84D8-4000-875B-E331605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What is HRS?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1141D-38BE-43EE-940D-ED777505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What is LRS?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96B29-2CDC-4787-B254-3E87B8AE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Why TiO2 for ReRAM?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EF980B-A5F0-4528-BF50-1AF291E5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What is sol-gel method?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5C5F2-315C-4162-A8D1-F0F4B2D5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What is liquid crystal?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9CB24B-A871-4E27-8AD4-5AA8D52C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16. Classify liquid crystals.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068CC4-B622-4290-AB9F-30951948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17. What is LED?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43667B-0124-433E-98F5-6875080D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18. What is OLED?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9CA315-B65B-4D45-B8DC-6CB4EEEA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19. What is AMOLED?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4E68E-051C-4BDE-927E-ECF9AC39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20. What is QLED?</a:t>
            </a:r>
          </a:p>
        </p:txBody>
      </p:sp>
    </p:spTree>
    <p:extLst>
      <p:ext uri="{BB962C8B-B14F-4D97-AF65-F5344CB8AC3E}">
        <p14:creationId xmlns:p14="http://schemas.microsoft.com/office/powerpoint/2010/main" val="204014560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99CCE5-6C45-4495-BA95-7A924B1E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5C8E7-242B-48B9-91A4-792EC849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exam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F1589-BFAF-429B-A055-C29D6465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practice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39CB1-48F6-4ECA-B113-8672E70E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BF544-DFCC-496C-A981-A3FDD663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A451D-319F-4534-8F18-ECB49120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27016-B0DF-4879-970D-425F2F6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4E61D-5B8F-42E1-B3BE-A86E9AE8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378AC-55B5-42F9-BE8C-51467340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1. 2M: Define organic semiconductor.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2984F-FDA5-4A1B-A7DC-48BE7F96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2. 2M: Define p-type and n-type.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ADD50B-1ABF-42A9-B09B-22B9D84D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3. 2M: What is ReRAM?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8B780-3EC5-4F09-B745-AF313198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4. 2M: What is liquid crystal?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2618D-710F-4B7F-8F0C-95020E8F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5. 2M: What is OLED?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E89F9-50D4-472B-9F0E-9DFAFF50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6. 5M: Organic vs inorganic memory devices.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6C1BC-3DF9-482D-8A84-DAF2CD62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7. 5M: Explain sol-gel synthesis of TiO2.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BB66C-B4CC-416D-AB53-C149DCA1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8. 5M: Explain LC classification and properties.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9C20F-2D4C-4CDF-9A57-0A95D3B5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9. 5M: Explain LED construction and working.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5EAFF-6501-4721-8E59-497BCA0A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10. 5M: Explain OLED construction and working.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3E18AC-266B-43A4-B450-39D7CDCF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11. 10M: Explain pentacene semiconductor chip.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2392F-A33B-43BD-92E7-33DD82D4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12. 10M: Explain TiO2 ReRAM material, synthesis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673AC-24C7-4CE3-97E0-EB385EB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13. 10M: Explain liquid crystals and applications.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7FB4DA-0542-4F1B-A332-F18D5555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14. 10M: Compare LED, OLED, AMOLED and QLED.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737D17-D8AB-495A-8AC5-17A1F544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8FBFF"/>
                </a:solidFill>
              </a:defRPr>
            </a:pPr>
            <a:r>
              <a:rPr sz="1200">
                <a:solidFill>
                  <a:srgbClr val="F8FBFF"/>
                </a:solidFill>
              </a:rPr>
              <a:t>15. Previous VTU question placeholders: fill from past papers.</a:t>
            </a:r>
          </a:p>
        </p:txBody>
      </p:sp>
    </p:spTree>
    <p:extLst>
      <p:ext uri="{BB962C8B-B14F-4D97-AF65-F5344CB8AC3E}">
        <p14:creationId xmlns:p14="http://schemas.microsoft.com/office/powerpoint/2010/main" val="150856593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160E2-3787-44CA-A35B-B32BF976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722CD8-822B-49C4-9400-09658676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E852F-038F-4A9A-AEAF-3C03AEBA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End with compact keywords.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65607-2C3B-4B7B-9A44-175B4AC4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582A21-5476-4AE4-89C5-BC962676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3BDB2-79F1-45CB-B492-15FA12D2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CDDF8-286A-4355-89F0-9CF873E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4B7E7-1789-4383-9A2B-CFA26796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AEE72C-3E0F-4EC6-BA5F-133CEC67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07061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CBAF8-C82D-4B03-9D0F-2C560AF8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762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9E9A1-1E10-4478-8445-8AB1C881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1FEB11-F1F2-4C8C-88F0-AC8FE2BC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344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Functional material; memory device; organic semiconductor; pi-conjugation; p-type; n-type; pentacene; perfluoropentacene; organic memory; inorganic memory; source; drain; gate; dielectric; hole transport; ReRAM; HRS; LRS; TiO2; sol-gel; hydrolysis; condensation; gel; calcination; oxygen vacancy; liquid crystal; thermotropic; lyotropic; nematic; smectic; cholesteric; anisotropy; birefringence; LED; p-n junction; photon; OLED; emissive layer; AMOLED; TFT backplane; QLED; quantum dot; color gamut.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58040-FDBA-4022-8505-2151B7C4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6DA710-F405-4DCF-B611-459995D3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7EE3F-649D-4703-BF28-D6CB4EE1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2FDCAB-6D1E-4B0C-AD16-5EDB805D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034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For every device answer: material property first, then neat construction diagram, then working in steps, then advantages and applications.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F8433-92E0-4CCF-B755-288A79EF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2B6D2-FBC4-45FE-8965-C4F1ECE6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3A9C7-C140-4C47-BC3C-BA050BC1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60BDF-C6BA-4263-9F35-926F4807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34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Material -&gt; property -&gt; device structure -&gt; working -&gt; advantages -&gt; applications. Use this sequence for every Module 1 long answer.</a:t>
            </a:r>
          </a:p>
        </p:txBody>
      </p:sp>
    </p:spTree>
    <p:extLst>
      <p:ext uri="{BB962C8B-B14F-4D97-AF65-F5344CB8AC3E}">
        <p14:creationId xmlns:p14="http://schemas.microsoft.com/office/powerpoint/2010/main" val="1076742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2026-08-11T06:38:04.7820000Z</dcterms:created>
  <dcterms:modified xsi:type="dcterms:W3CDTF">2026-08-11T06:38:04.7820000Z</dcterms:modified>
</coreProperties>
</file>