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a00f4382c5b4431" /><Relationship Type="http://schemas.openxmlformats.org/officeDocument/2006/relationships/extended-properties" Target="/docProps/app.xml" Id="R02e80689af044a22" /><Relationship Type="http://schemas.openxmlformats.org/officeDocument/2006/relationships/officeDocument" Target="/ppt/presentation.xml" Id="Ra808d94962494b5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a12c69881534311"/>
  </p:sldMasterIdLst>
  <p:notesMasterIdLst>
    <p:notesMasterId xmlns:r="http://schemas.openxmlformats.org/officeDocument/2006/relationships" r:id="Rb28cd5985c644351"/>
  </p:notesMasterIdLst>
  <p:sldIdLst>
    <p:sldId xmlns:r="http://schemas.openxmlformats.org/officeDocument/2006/relationships" id="256" r:id="R5c7f393052ac4550"/>
    <p:sldId xmlns:r="http://schemas.openxmlformats.org/officeDocument/2006/relationships" id="257" r:id="R364c71f80d394af3"/>
    <p:sldId xmlns:r="http://schemas.openxmlformats.org/officeDocument/2006/relationships" id="258" r:id="R95b03613f9294eaa"/>
    <p:sldId xmlns:r="http://schemas.openxmlformats.org/officeDocument/2006/relationships" id="259" r:id="R308ff897ba80435f"/>
    <p:sldId xmlns:r="http://schemas.openxmlformats.org/officeDocument/2006/relationships" id="260" r:id="R2fff58777b704098"/>
    <p:sldId xmlns:r="http://schemas.openxmlformats.org/officeDocument/2006/relationships" id="261" r:id="R13693d8e614b45fb"/>
    <p:sldId xmlns:r="http://schemas.openxmlformats.org/officeDocument/2006/relationships" id="262" r:id="R6510dfed0cf145a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f5e162ddb074218" /><Relationship Type="http://schemas.openxmlformats.org/officeDocument/2006/relationships/slideMaster" Target="/ppt/slideMasters/slideMaster1.xml" Id="R4a12c69881534311" /><Relationship Type="http://schemas.openxmlformats.org/officeDocument/2006/relationships/notesMaster" Target="/ppt/notesMasters/notesMaster1.xml" Id="Rb28cd5985c644351" /><Relationship Type="http://schemas.openxmlformats.org/officeDocument/2006/relationships/presProps" Target="/ppt/presProps.xml" Id="R2be8030498c24ac1" /><Relationship Type="http://schemas.openxmlformats.org/officeDocument/2006/relationships/tableStyles" Target="/ppt/tableStyles.xml" Id="R0481f11c5316468b" /><Relationship Type="http://schemas.openxmlformats.org/officeDocument/2006/relationships/slide" Target="/ppt/slides/slide1.xml" Id="R5c7f393052ac4550" /><Relationship Type="http://schemas.openxmlformats.org/officeDocument/2006/relationships/slide" Target="/ppt/slides/slide2.xml" Id="R364c71f80d394af3" /><Relationship Type="http://schemas.openxmlformats.org/officeDocument/2006/relationships/slide" Target="/ppt/slides/slide3.xml" Id="R95b03613f9294eaa" /><Relationship Type="http://schemas.openxmlformats.org/officeDocument/2006/relationships/slide" Target="/ppt/slides/slide4.xml" Id="R308ff897ba80435f" /><Relationship Type="http://schemas.openxmlformats.org/officeDocument/2006/relationships/slide" Target="/ppt/slides/slide5.xml" Id="R2fff58777b704098" /><Relationship Type="http://schemas.openxmlformats.org/officeDocument/2006/relationships/slide" Target="/ppt/slides/slide6.xml" Id="R13693d8e614b45fb" /><Relationship Type="http://schemas.openxmlformats.org/officeDocument/2006/relationships/slide" Target="/ppt/slides/slide7.xml" Id="R6510dfed0cf145a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28893e980204a5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82c4f08086440c0" /><Relationship Type="http://schemas.openxmlformats.org/officeDocument/2006/relationships/notesMaster" Target="/ppt/notesMasters/notesMaster1.xml" Id="R9ff36202194b493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9b5d754f9f04bbe" /><Relationship Type="http://schemas.openxmlformats.org/officeDocument/2006/relationships/notesMaster" Target="/ppt/notesMasters/notesMaster1.xml" Id="R46d2f45caeac440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6c71783a6204c0f" /><Relationship Type="http://schemas.openxmlformats.org/officeDocument/2006/relationships/notesMaster" Target="/ppt/notesMasters/notesMaster1.xml" Id="R2a8b6e009fd44d3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86d058b659e4b5b" /><Relationship Type="http://schemas.openxmlformats.org/officeDocument/2006/relationships/notesMaster" Target="/ppt/notesMasters/notesMaster1.xml" Id="Rba0f7f28ae2c41a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fe43ae720ec4c8a" /><Relationship Type="http://schemas.openxmlformats.org/officeDocument/2006/relationships/notesMaster" Target="/ppt/notesMasters/notesMaster1.xml" Id="Rcc326763fe434c8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6594e6fc7a24762" /><Relationship Type="http://schemas.openxmlformats.org/officeDocument/2006/relationships/notesMaster" Target="/ppt/notesMasters/notesMaster1.xml" Id="Rb6962be4e60b46a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c5afc31bdcd462f" /><Relationship Type="http://schemas.openxmlformats.org/officeDocument/2006/relationships/notesMaster" Target="/ppt/notesMasters/notesMaster1.xml" Id="R33b76fcfc82644d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642d4eca3e7465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5c5cb47edc24a4d" /><Relationship Type="http://schemas.openxmlformats.org/officeDocument/2006/relationships/slideLayout" Target="/ppt/slideLayouts/slideLayout1.xml" Id="Raa75925fe31241d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a75925fe31241d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2d3f1265014862" /><Relationship Type="http://schemas.openxmlformats.org/officeDocument/2006/relationships/notesSlide" Target="/ppt/notesSlides/notesSlide1.xml" Id="R092755c578ca4e1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ab4b3c42ce491d" /><Relationship Type="http://schemas.openxmlformats.org/officeDocument/2006/relationships/notesSlide" Target="/ppt/notesSlides/notesSlide2.xml" Id="R608d07038b9d436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9cf15045c544f7" /><Relationship Type="http://schemas.openxmlformats.org/officeDocument/2006/relationships/notesSlide" Target="/ppt/notesSlides/notesSlide3.xml" Id="R9e79a6f67a9f426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1fac9a3a9d4e54" /><Relationship Type="http://schemas.openxmlformats.org/officeDocument/2006/relationships/notesSlide" Target="/ppt/notesSlides/notesSlide4.xml" Id="R556b19f03e42474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94a10c39de405a" /><Relationship Type="http://schemas.openxmlformats.org/officeDocument/2006/relationships/notesSlide" Target="/ppt/notesSlides/notesSlide5.xml" Id="Rad0470316d8a488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1214f3c8db40de" /><Relationship Type="http://schemas.openxmlformats.org/officeDocument/2006/relationships/notesSlide" Target="/ppt/notesSlides/notesSlide6.xml" Id="R866ef0fbe9af4db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8e7b5be8724f6c" /><Relationship Type="http://schemas.openxmlformats.org/officeDocument/2006/relationships/notesSlide" Target="/ppt/notesSlides/notesSlide7.xml" Id="Rc2f978a0175c46b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1494DD-F628-4336-AFF0-44F4119C3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495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6D28D9"/>
                </a:solidFill>
              </a:defRPr>
            </a:pPr>
            <a:r>
              <a:rPr sz="3450" b="1">
                <a:solidFill>
                  <a:srgbClr val="6D28D9"/>
                </a:solidFill>
              </a:rPr>
              <a:t>Project Stage 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43EDC8-377E-48F0-A60D-F51B344D7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8191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33"/>
                </a:solidFill>
              </a:defRPr>
            </a:pPr>
            <a:r>
              <a:rPr sz="2550" b="1">
                <a:solidFill>
                  <a:srgbClr val="172033"/>
                </a:solidFill>
              </a:rPr>
              <a:t>Build and test basic prototypes using tools available in the Atal Idea/Tinkering Lab or Makers Space.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F203AE-A439-43E7-9B9D-0EDD19485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19450"/>
            <a:ext cx="485775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Subject: Innovation &amp; Design Thinking Lab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Code: 1BIDTL158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Semester: 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F21ACB-8643-4FBA-BBBF-464813A0A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Aim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22F2BE-670C-4D38-8CAD-B9492A128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3AA2D6-18D7-4A42-B8A6-1CC22508D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Setup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8CB096-F665-416B-844F-A0DB93D91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D0C17A-C2EC-414A-983C-60E415348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Procedure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D21080-72A1-448A-B473-BEC725A37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D1EB7F-EFDE-4659-A0D7-4B6728111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Observation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7A7E98-A8B5-413E-B1FE-A28D484A4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4BDA09-6925-4804-8E84-80B7BF512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Viva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C58892-7CA3-4E64-88F0-138F7F269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905250"/>
            <a:ext cx="342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Record evidence, not just completion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083F09-032B-4B68-8919-F5BB8787B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Innovation &amp; Design Thinking Lab | 1BIDTL158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5B47F65-88F6-4F36-8DC4-EFCE4AD13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Project_Stage 3 | 1/7</a:t>
            </a:r>
          </a:p>
        </p:txBody>
      </p:sp>
    </p:spTree>
    <p:extLst>
      <p:ext uri="{BB962C8B-B14F-4D97-AF65-F5344CB8AC3E}">
        <p14:creationId xmlns:p14="http://schemas.microsoft.com/office/powerpoint/2010/main" val="128458855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A392853-7814-4DF9-ADC4-462C355CD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1BIDTL158 | Project_Stage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AA9424-4B65-42D9-B935-2D54D9A57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Aim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51B5E1-3981-4AC3-90A5-84860184B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C0D223-F584-4E55-BE47-E793CE6E3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76400"/>
            <a:ext cx="9334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033"/>
                </a:solidFill>
              </a:defRPr>
            </a:pPr>
            <a:r>
              <a:rPr sz="2100" b="1">
                <a:solidFill>
                  <a:srgbClr val="172033"/>
                </a:solidFill>
              </a:rPr>
              <a:t>Build and test basic prototypes using tools available in the Atal Idea/Tinkering Lab or Makers Space.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CD75F7-39AA-40E9-9A1B-13CD5FFE7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105150"/>
            <a:ext cx="9144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Learning objective: perform the task accurately and explain the principle behind it.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Expected result: a recorded observation, verified output, working setup, or justified prototype decision.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BA9625-C980-4408-A3C2-04684E513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9530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Prepare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E24F1C-3C02-43C4-A2E0-CC8304711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51244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CD8255-D448-45E5-8F4F-EDCA9ACCE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49530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Perform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9207D1-78FA-4605-A000-3C4368E8F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51244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9CDBBD-D169-4191-8FE7-4DC98CB3C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49530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Observe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986CA5-B6FE-440E-9643-86F22BCB8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1244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AF6835-020C-46F6-B58C-9E01C400B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49530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Verify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FDEDBD-A4EB-4063-98BA-543773924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51244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C2C0A9-DFBD-43FB-BF14-F7418120D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9530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Record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5155CAA-0392-4A05-88A5-5CDBEE9B8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Innovation &amp; Design Thinking Lab | 1BIDTL158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F0C77F4-3A1B-4857-ADC8-A13A58D34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Project_Stage 3 | 2/7</a:t>
            </a:r>
          </a:p>
        </p:txBody>
      </p:sp>
    </p:spTree>
    <p:extLst>
      <p:ext uri="{BB962C8B-B14F-4D97-AF65-F5344CB8AC3E}">
        <p14:creationId xmlns:p14="http://schemas.microsoft.com/office/powerpoint/2010/main" val="134472255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2EA7857-1E2B-4455-8A87-8689F7CF2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1BIDTL158 | Project_Stage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4412E1-481D-4E3D-AE2C-ACDC08C23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Theory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A82475-B7E4-46A3-817A-B74C31F8D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32DCA7-F3FF-4687-9989-8EF90E8D0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676400"/>
            <a:ext cx="9525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test basic prototypes using tools available in the Atal Idea/Tinkering Lab or Makers Space.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4BD856-C46C-47CD-9D9C-5B35A910D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0101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Build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FF3F40-2FA9-468E-9C0C-EFD945B7C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51816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04F56B-138B-4387-B18B-AE7A22E91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50101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test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C48FC4-684C-4707-BE25-A4330EB0A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51816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489A81-E5F8-4EF4-AB61-52739E30F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50101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basic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3CF61B-2417-4CF1-9A47-FE5A3798D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1816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0ED815-408E-4B96-9E85-57F3FBC34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50101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prototypes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ECFC66-B666-4832-8264-67ECD1831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51816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87A1A6-7CB1-4871-95DD-C27EB46A0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tools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0B5F477-DCE0-41D4-8188-3B0A39823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Innovation &amp; Design Thinking Lab | 1BIDTL158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74E113-D7AC-4B6A-999C-8BA03C170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Project_Stage 3 | 3/7</a:t>
            </a:r>
          </a:p>
        </p:txBody>
      </p:sp>
    </p:spTree>
    <p:extLst>
      <p:ext uri="{BB962C8B-B14F-4D97-AF65-F5344CB8AC3E}">
        <p14:creationId xmlns:p14="http://schemas.microsoft.com/office/powerpoint/2010/main" val="200906440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86C7BC-39EE-4BBC-AEA4-BE23ECA54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1BIDTL158 | Project_Stage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8CD394-6A7E-48D4-9942-A384C9C87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Required tools / components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199AAF-A4B4-4C81-A23E-6C7A6AC77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85DAE8-4282-4C3A-8F1B-8EA76E1A5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809750"/>
            <a:ext cx="90487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Laboratory manual or problem statement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Required apparatus, software, components, measuring instruments, or drawing tools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Observation table / record book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Safety and calibration checklist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8FC22F-6C69-4DDF-8BB3-F0E647936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762500"/>
            <a:ext cx="1714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2033"/>
                </a:solidFill>
              </a:defRPr>
            </a:pPr>
            <a:r>
              <a:rPr sz="1425" b="1">
                <a:solidFill>
                  <a:srgbClr val="172033"/>
                </a:solidFill>
              </a:rPr>
              <a:t>Precaution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900BD8-087E-41E1-8448-2A90C38C7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762500"/>
            <a:ext cx="704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Do not start measurement or execution until connections, inputs, and assumptions are checked.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0B8033-1525-44DD-A44E-8EA3B445E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Innovation &amp; Design Thinking Lab | 1BIDTL158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1CC83C-05B2-4BBF-89F2-FBD5186F9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Project_Stage 3 | 4/7</a:t>
            </a:r>
          </a:p>
        </p:txBody>
      </p:sp>
    </p:spTree>
    <p:extLst>
      <p:ext uri="{BB962C8B-B14F-4D97-AF65-F5344CB8AC3E}">
        <p14:creationId xmlns:p14="http://schemas.microsoft.com/office/powerpoint/2010/main" val="42873689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ED423F-8480-4822-AB6A-2BAE51181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1BIDTL158 | Project_Stage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2B3373-73B4-47F0-A7FE-206C5EDD2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Procedure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65FF1D-0CA4-4621-977B-DEC360468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3330BE-70D5-4941-8B1D-19DD1512C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7907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Read aim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D8E947-B271-48C0-A639-C5AB1CB74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9621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AD2849-9C51-48BE-BB37-30F7D59D2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17907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Set up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3F598C-7B91-49F3-A02B-80EB226F6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19621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0C50B9-A989-4B22-A0F0-153ABAECD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7907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Execute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8933F8-5884-4F33-B7E8-0C4EA11B0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9621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259A26-4670-4D5E-81FE-DD6C96191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17907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Record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EFE7DF-E8BE-43A0-B1EC-F49F434A8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19621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77DF33-B7EB-4EDB-B2F6-FB7D401CB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Conclude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C97C18-1DE9-4539-826F-E2CFA33D3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905250"/>
            <a:ext cx="8953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Write the algorithm / circuit / setup before execution.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Record each observation immediately.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Compare the result with the expected behaviour.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State the reason for any deviation.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BE9452-0278-4C8A-B263-6570E0166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Innovation &amp; Design Thinking Lab | 1BIDTL158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B4CC8B-E7FE-483F-980F-DEE11D399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Project_Stage 3 | 5/7</a:t>
            </a:r>
          </a:p>
        </p:txBody>
      </p:sp>
    </p:spTree>
    <p:extLst>
      <p:ext uri="{BB962C8B-B14F-4D97-AF65-F5344CB8AC3E}">
        <p14:creationId xmlns:p14="http://schemas.microsoft.com/office/powerpoint/2010/main" val="109445948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FA758E7-1638-4F51-B24D-D2AEB1EDD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1BIDTL158 | Project_Stage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DFBC57-F925-40B8-9E18-E12BD51B4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Observation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2296F6-A084-46D6-BAFE-C7D1E933D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24F584-DEEF-4C86-ABC3-12596E28F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752600"/>
            <a:ext cx="2000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Trial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B6B91B-AE7B-4474-A51A-B866615BC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1752600"/>
            <a:ext cx="2000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35746A-D825-4ED4-B854-5D1B4ED71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1752600"/>
            <a:ext cx="2000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Observation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C7643F-21C1-4A48-9950-B06B07299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752600"/>
            <a:ext cx="2000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Inference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E17B5E-1A80-40A9-8111-835E2310C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2669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094AE1-FE31-4A5C-BCF6-1995F3735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2669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3D6A35-AC7C-4D29-A669-09474F086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2669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B638F4-0E05-4C3E-BA98-8A6A3312A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2669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EC24AB-8C22-4B6A-9837-3D4B45352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8194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5C1259-B283-487C-9A2C-2B702276A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8194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222011-B8E7-4D47-A957-28C304E2C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8194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265582-E594-4579-9B20-6160C3584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8194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FAFA98D-D9FE-45F2-8512-525F51EE2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3718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B52F404-8F4D-431E-B65F-A89E63FB9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3718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D2ECE37-0705-4543-97D4-B41816201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3718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90FD497-88A2-491E-865F-EA7609828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3718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F0AD444-C6D5-40BC-A64B-36F11EB35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243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0939EF3-F397-4F2E-8C8A-A63B5B5EA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9243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0AA4927-7EBF-424F-9EB2-6B05EBA1C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9243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BF4C873-9A42-49F6-B13F-4741CB4B9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9243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98FB019-4032-402B-BC9C-88320D0DA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067300"/>
            <a:ext cx="8953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Expected result: the observation supports the stated principle and can be defended in viva.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181F5A0-049E-49FF-B935-1144A6954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Innovation &amp; Design Thinking Lab | 1BIDTL158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BD11508-FC80-485E-A25A-7E203D508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Project_Stage 3 | 6/7</a:t>
            </a:r>
          </a:p>
        </p:txBody>
      </p:sp>
    </p:spTree>
    <p:extLst>
      <p:ext uri="{BB962C8B-B14F-4D97-AF65-F5344CB8AC3E}">
        <p14:creationId xmlns:p14="http://schemas.microsoft.com/office/powerpoint/2010/main" val="194220885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F79779-F192-41E7-883C-FDCBE1DCE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1BIDTL158 | Project_Stage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A21F3B-6DDC-4032-AF1B-392883C3C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Errors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191EDF-E89A-45A4-8C08-F3FD0E848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AC546F-4223-4540-9780-6F19C83FB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43815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Loose or incorrect connections / inputs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Skipping calibration or dry run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Recording values without units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Not explaining why the result is valid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Ignoring safety, component rating, or setup constraints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5E9CD5-2606-4345-8BED-BFDB616F6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752600"/>
            <a:ext cx="2286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Viva questions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3374E5-0CDF-4F67-9A15-8DC0CFBDD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381250"/>
            <a:ext cx="4095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What is the aim of this project_stage?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Which principle or algorithm is used?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What changes if the input/setup changes?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How do you identify an error in the result?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409B7E-AE2B-4CC0-9E39-83B1842B2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Innovation &amp; Design Thinking Lab | 1BIDTL158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8D9928-880C-4CE5-B804-9FDF18207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Project_Stage 3 | 7/7</a:t>
            </a:r>
          </a:p>
        </p:txBody>
      </p:sp>
    </p:spTree>
    <p:extLst>
      <p:ext uri="{BB962C8B-B14F-4D97-AF65-F5344CB8AC3E}">
        <p14:creationId xmlns:p14="http://schemas.microsoft.com/office/powerpoint/2010/main" val="12402775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2026-08-24T06:38:49.4810000Z</dcterms:created>
  <dcterms:modified xsi:type="dcterms:W3CDTF">2026-08-24T06:38:49.4810000Z</dcterms:modified>
</coreProperties>
</file>