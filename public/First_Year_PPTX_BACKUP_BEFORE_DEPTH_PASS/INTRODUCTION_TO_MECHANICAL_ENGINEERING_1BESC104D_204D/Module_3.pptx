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4bb853c7eee4700" /><Relationship Type="http://schemas.openxmlformats.org/officeDocument/2006/relationships/extended-properties" Target="/docProps/app.xml" Id="Rdf17af9712c54bb1" /><Relationship Type="http://schemas.openxmlformats.org/officeDocument/2006/relationships/officeDocument" Target="/ppt/presentation.xml" Id="R719a89a42af1428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51bb638e5c94231"/>
  </p:sldMasterIdLst>
  <p:notesMasterIdLst>
    <p:notesMasterId xmlns:r="http://schemas.openxmlformats.org/officeDocument/2006/relationships" r:id="R1d49e86e65ea4575"/>
  </p:notesMasterIdLst>
  <p:sldIdLst>
    <p:sldId xmlns:r="http://schemas.openxmlformats.org/officeDocument/2006/relationships" id="256" r:id="R4adf663d5fd342ba"/>
    <p:sldId xmlns:r="http://schemas.openxmlformats.org/officeDocument/2006/relationships" id="257" r:id="R0b242f197e374a5f"/>
    <p:sldId xmlns:r="http://schemas.openxmlformats.org/officeDocument/2006/relationships" id="258" r:id="R33eeed1c51a24556"/>
    <p:sldId xmlns:r="http://schemas.openxmlformats.org/officeDocument/2006/relationships" id="259" r:id="R5575b27d40944c69"/>
    <p:sldId xmlns:r="http://schemas.openxmlformats.org/officeDocument/2006/relationships" id="260" r:id="R797ca325ffe54fd8"/>
    <p:sldId xmlns:r="http://schemas.openxmlformats.org/officeDocument/2006/relationships" id="261" r:id="R2fcdf806f627433f"/>
    <p:sldId xmlns:r="http://schemas.openxmlformats.org/officeDocument/2006/relationships" id="262" r:id="R1861b9ae80b74fdf"/>
    <p:sldId xmlns:r="http://schemas.openxmlformats.org/officeDocument/2006/relationships" id="263" r:id="Rce5df980c2be42b1"/>
    <p:sldId xmlns:r="http://schemas.openxmlformats.org/officeDocument/2006/relationships" id="264" r:id="R7cee5791a531473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767f2ba61ed4b5f" /><Relationship Type="http://schemas.openxmlformats.org/officeDocument/2006/relationships/slideMaster" Target="/ppt/slideMasters/slideMaster1.xml" Id="R151bb638e5c94231" /><Relationship Type="http://schemas.openxmlformats.org/officeDocument/2006/relationships/notesMaster" Target="/ppt/notesMasters/notesMaster1.xml" Id="R1d49e86e65ea4575" /><Relationship Type="http://schemas.openxmlformats.org/officeDocument/2006/relationships/presProps" Target="/ppt/presProps.xml" Id="Rd193c92c858c4a9d" /><Relationship Type="http://schemas.openxmlformats.org/officeDocument/2006/relationships/tableStyles" Target="/ppt/tableStyles.xml" Id="R0d24dd43c82b4bc4" /><Relationship Type="http://schemas.openxmlformats.org/officeDocument/2006/relationships/slide" Target="/ppt/slides/slide1.xml" Id="R4adf663d5fd342ba" /><Relationship Type="http://schemas.openxmlformats.org/officeDocument/2006/relationships/slide" Target="/ppt/slides/slide2.xml" Id="R0b242f197e374a5f" /><Relationship Type="http://schemas.openxmlformats.org/officeDocument/2006/relationships/slide" Target="/ppt/slides/slide3.xml" Id="R33eeed1c51a24556" /><Relationship Type="http://schemas.openxmlformats.org/officeDocument/2006/relationships/slide" Target="/ppt/slides/slide4.xml" Id="R5575b27d40944c69" /><Relationship Type="http://schemas.openxmlformats.org/officeDocument/2006/relationships/slide" Target="/ppt/slides/slide5.xml" Id="R797ca325ffe54fd8" /><Relationship Type="http://schemas.openxmlformats.org/officeDocument/2006/relationships/slide" Target="/ppt/slides/slide6.xml" Id="R2fcdf806f627433f" /><Relationship Type="http://schemas.openxmlformats.org/officeDocument/2006/relationships/slide" Target="/ppt/slides/slide7.xml" Id="R1861b9ae80b74fdf" /><Relationship Type="http://schemas.openxmlformats.org/officeDocument/2006/relationships/slide" Target="/ppt/slides/slide8.xml" Id="Rce5df980c2be42b1" /><Relationship Type="http://schemas.openxmlformats.org/officeDocument/2006/relationships/slide" Target="/ppt/slides/slide9.xml" Id="R7cee5791a531473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59ecb1366e44e1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bb17c0f6da0456e" /><Relationship Type="http://schemas.openxmlformats.org/officeDocument/2006/relationships/notesMaster" Target="/ppt/notesMasters/notesMaster1.xml" Id="Refe934cfff0d48d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c74511b37ab4598" /><Relationship Type="http://schemas.openxmlformats.org/officeDocument/2006/relationships/notesMaster" Target="/ppt/notesMasters/notesMaster1.xml" Id="R2ea2144295554c4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03a9dbe611249d6" /><Relationship Type="http://schemas.openxmlformats.org/officeDocument/2006/relationships/notesMaster" Target="/ppt/notesMasters/notesMaster1.xml" Id="Rc5939ff0c57c442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29e0add77044aad" /><Relationship Type="http://schemas.openxmlformats.org/officeDocument/2006/relationships/notesMaster" Target="/ppt/notesMasters/notesMaster1.xml" Id="Rc5473902d6cd49a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8863090d9b149c1" /><Relationship Type="http://schemas.openxmlformats.org/officeDocument/2006/relationships/notesMaster" Target="/ppt/notesMasters/notesMaster1.xml" Id="R28dfa24fad0240a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e9aae819976406a" /><Relationship Type="http://schemas.openxmlformats.org/officeDocument/2006/relationships/notesMaster" Target="/ppt/notesMasters/notesMaster1.xml" Id="R437382281a35425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1bae9a43d934a38" /><Relationship Type="http://schemas.openxmlformats.org/officeDocument/2006/relationships/notesMaster" Target="/ppt/notesMasters/notesMaster1.xml" Id="Rd4290e358a944f3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0f777b41b904ccd" /><Relationship Type="http://schemas.openxmlformats.org/officeDocument/2006/relationships/notesMaster" Target="/ppt/notesMasters/notesMaster1.xml" Id="Rc5862f38ff3747d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c93a746e46a4f22" /><Relationship Type="http://schemas.openxmlformats.org/officeDocument/2006/relationships/notesMaster" Target="/ppt/notesMasters/notesMaster1.xml" Id="Rcf3344fad94944c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e6e907cde064a7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bb2a15fcf7e4b97" /><Relationship Type="http://schemas.openxmlformats.org/officeDocument/2006/relationships/slideLayout" Target="/ppt/slideLayouts/slideLayout1.xml" Id="R10a902922fab4ed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0a902922fab4ed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23ca224e424cb0" /><Relationship Type="http://schemas.openxmlformats.org/officeDocument/2006/relationships/notesSlide" Target="/ppt/notesSlides/notesSlide1.xml" Id="Rdc2abdb3afeb4c1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9833e70d974bc4" /><Relationship Type="http://schemas.openxmlformats.org/officeDocument/2006/relationships/notesSlide" Target="/ppt/notesSlides/notesSlide2.xml" Id="Ra1f99cec1c744e4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eb8417f38141c8" /><Relationship Type="http://schemas.openxmlformats.org/officeDocument/2006/relationships/notesSlide" Target="/ppt/notesSlides/notesSlide3.xml" Id="Rdd69380013d74d9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77e5591d8e4f37" /><Relationship Type="http://schemas.openxmlformats.org/officeDocument/2006/relationships/notesSlide" Target="/ppt/notesSlides/notesSlide4.xml" Id="R499badfa5eb64da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2ecad41b83444a" /><Relationship Type="http://schemas.openxmlformats.org/officeDocument/2006/relationships/notesSlide" Target="/ppt/notesSlides/notesSlide5.xml" Id="R3f0e3ef69c5a400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3befbf72de4547" /><Relationship Type="http://schemas.openxmlformats.org/officeDocument/2006/relationships/notesSlide" Target="/ppt/notesSlides/notesSlide6.xml" Id="R65e66e30a2c447e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c9e06025f34574" /><Relationship Type="http://schemas.openxmlformats.org/officeDocument/2006/relationships/notesSlide" Target="/ppt/notesSlides/notesSlide7.xml" Id="R44bd49115e8946a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f9d5fd2978412d" /><Relationship Type="http://schemas.openxmlformats.org/officeDocument/2006/relationships/notesSlide" Target="/ppt/notesSlides/notesSlide8.xml" Id="R1312c1febe2348c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b2ea8726ee429a" /><Relationship Type="http://schemas.openxmlformats.org/officeDocument/2006/relationships/notesSlide" Target="/ppt/notesSlides/notesSlide9.xml" Id="R4b394b57beeb44f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787B0A-4E40-4198-8084-400F28C89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09F7ED-7F35-4137-8ED4-F6EE99AB6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033"/>
                </a:solidFill>
              </a:defRPr>
            </a:pPr>
            <a:r>
              <a:rPr sz="3000" b="1">
                <a:solidFill>
                  <a:srgbClr val="172033"/>
                </a:solidFill>
              </a:rPr>
              <a:t>Engineering materials: Introduction, Classification, Ferrous and Non -Ferrous metals: Types, Properties and their applic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5EAA57-362C-420B-8025-ADEEA85D9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43250"/>
            <a:ext cx="4953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Subject: INTRODUCTION TO MECHANICAL ENGINEERING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Code: 1BESC104D/204D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Semester: I/II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Teaching focus: engineering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C4FD38-2C6C-4220-AC81-D409D4DFF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Engineering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49A4BE-4B56-45FE-A553-5436EB309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EB4E8F-B457-4C0E-B05C-FB3E9CD21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materials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E16EB1-FF93-4340-B262-EF49A6547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FA3846-49AD-4DEE-92C4-70B5A8F7E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Classification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2796B3-E46F-4AE2-9D21-389239BD7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9A07C9-68B6-44D2-B8E1-D41BD6C38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Ferrous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80E992-06CD-449C-B535-9A8A68232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D919C3-6C68-4686-A0DE-57FE372E9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metals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5AAA1B-C591-4649-9B34-1C3829AE0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9052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Use the model to explain the engineering decision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C993C6-3F51-4A11-86F9-74AEF578D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INTRODUCTION TO MECHANICAL ENGINEERING | 1BESC104D/204D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6EE6E6-C134-472E-B687-21AAF36AF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1/9</a:t>
            </a:r>
          </a:p>
        </p:txBody>
      </p:sp>
    </p:spTree>
    <p:extLst>
      <p:ext uri="{BB962C8B-B14F-4D97-AF65-F5344CB8AC3E}">
        <p14:creationId xmlns:p14="http://schemas.microsoft.com/office/powerpoint/2010/main" val="191580165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539EB3-9DFE-4146-8891-093597170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1BESC104D/204D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EAD3D4-FAAC-482F-8C71-AD8D1EA4D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Learning route for this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CC3442-36FF-40FD-9D12-8D8696B41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851D58-3E3F-4275-840F-4DFD2C837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Motivation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A9A080-ECBB-4E9A-9E0B-DA09B3EC0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45022D-22AB-4035-BBD9-146A4B217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Concept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B16524-AE9E-44B5-87EE-AA51E03BA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28F834-980C-4AAE-801D-A401463DC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Working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44BA9B-038A-4D12-A558-36F563E1E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E7404E-8B09-4573-B1AD-BC293D366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Application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0B33F6-87F5-427A-9403-3D54D08CE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B67571-0C11-4150-9146-BC6C7D804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Recap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1C9BA0-E473-43B7-BAE7-CC83DD410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71950"/>
            <a:ext cx="9620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Engineering materials: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Introduction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Classification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Ferrous and Non -Ferrous metals: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Properties and their applications.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4A52CA-04A4-4043-B8CB-518F98167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INTRODUCTION TO MECHANICAL ENGINEERING | 1BESC104D/204D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580180-720D-4D70-BF41-1AE4A7884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2/9</a:t>
            </a:r>
          </a:p>
        </p:txBody>
      </p:sp>
    </p:spTree>
    <p:extLst>
      <p:ext uri="{BB962C8B-B14F-4D97-AF65-F5344CB8AC3E}">
        <p14:creationId xmlns:p14="http://schemas.microsoft.com/office/powerpoint/2010/main" val="126104514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F6173B-1ED9-4F83-92C8-9FBCC4608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1BESC104D/204D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4A74F9-2E3D-4390-8609-15A42C354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Core concepts from the official syllabus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905898-1CEC-4432-A9ED-A36A4D1AC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180F79-CD9E-4436-8D41-8C7BAE9C2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Engineering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CB08CC-2D00-4B8F-82E2-CD1786385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materials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472633-AF36-4C64-8C26-6473E17CE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Classification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3D40AC-471D-45CA-9C37-A9A40F100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Ferrous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8E4ECC-6DB3-4E92-BB89-B7973B6FB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metals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2FC3C3-3D9A-4D0B-B88E-A6EFE195C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Properties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BEDD98-F2DA-4CD5-A49F-ECCC87D11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86300"/>
            <a:ext cx="9334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Composite materials: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Introduction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Constituents of a composite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Classification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58FD39-BFB0-45FA-966F-D940F3E82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INTRODUCTION TO MECHANICAL ENGINEERING | 1BESC104D/204D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E9D26A-A0DC-49E0-8F38-ED9708D65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3/9</a:t>
            </a:r>
          </a:p>
        </p:txBody>
      </p:sp>
    </p:spTree>
    <p:extLst>
      <p:ext uri="{BB962C8B-B14F-4D97-AF65-F5344CB8AC3E}">
        <p14:creationId xmlns:p14="http://schemas.microsoft.com/office/powerpoint/2010/main" val="161684779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ACECDDF-86BA-40CA-BC0B-7345D5152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1BESC104D/204D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9E0DCF-4C7F-46A4-ADC4-09710F1E8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Concept explanation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FFF521-E679-4B0F-BB07-9184C83F0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1E5EB2-130A-4696-ACA7-BFB7778AE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81150"/>
            <a:ext cx="495300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Engineering materials: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Introduction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Classification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Ferrous and Non -Ferrous metals: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Properties and their applications.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Composite materials: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09081C-B000-4305-8958-38671B621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91150"/>
            <a:ext cx="1524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Instructor move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B1816B-BF5A-4E05-849B-B2B27B1C1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381625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Pause after each idea and ask students to connect it to the next step.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58302E-D26F-461A-945A-6B6122A67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Engineering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119A99-DE1D-4064-9BEE-4155C3201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E61177-72CC-4CF6-8CF1-703F1337A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materials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63BAFA-E22F-435D-978F-AC98A3D87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3F7B0E-F869-4D87-8C63-185DB6CD6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Classification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20CD12-524A-4C38-9206-ABD3F493D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85E552-56B1-46BB-84A8-DD8C1ECFB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Ferrous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6A3D71-8064-4EB4-B5AD-FD3C4A035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4980E9-E6FC-4116-B559-25293B01C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metals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DA857F-3A75-41C2-A783-94FA9A863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9052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Use the model to explain the engineering decision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0BFA34-BC11-4FDE-B9E9-701046666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INTRODUCTION TO MECHANICAL ENGINEERING | 1BESC104D/204D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D10D02-829B-47B5-842E-9EE615631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4/9</a:t>
            </a:r>
          </a:p>
        </p:txBody>
      </p:sp>
    </p:spTree>
    <p:extLst>
      <p:ext uri="{BB962C8B-B14F-4D97-AF65-F5344CB8AC3E}">
        <p14:creationId xmlns:p14="http://schemas.microsoft.com/office/powerpoint/2010/main" val="2110037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FDFB2E-09C5-48C1-BD58-0F57C9E0F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1BESC104D/204D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CF70E5-9C6B-4F5B-8454-6B87BDA96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Working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CDA3F8-8993-456A-B9C3-34633BC64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EDCDB1-87F4-4B9C-B013-D2C319BB2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Input condition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499E5B-5E4F-4D8F-A614-488C79DC3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C2CCC5-2D27-4C89-8498-BB7C6B75B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Principle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391F32-9A36-45B7-ABCC-7B68A60C7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DA1A22-564A-4C72-88AB-DA81F9E9C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Process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EC166A-B5FF-4B3F-871F-52597BC46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CFC2E4-3DC2-4607-BB47-E02F24353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F56EDC-8630-48FC-A97E-58ECA68F3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447C53-5C2C-4715-A7D7-D37A78F78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Interpretation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EC3DF0-1388-46B0-AD80-EE0E7E108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24300"/>
            <a:ext cx="933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Use the syllabus terms while solving; do not answer only with the final result.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Show intermediate reasoning so students can locate the step where mistakes enter.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Close the example by explaining what the result means in engineering or professional practice.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DE929D-25B3-4950-8F7B-7ED0A5824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INTRODUCTION TO MECHANICAL ENGINEERING | 1BESC104D/204D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CCE211-B552-4535-A06F-F8E6890C9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5/9</a:t>
            </a:r>
          </a:p>
        </p:txBody>
      </p:sp>
    </p:spTree>
    <p:extLst>
      <p:ext uri="{BB962C8B-B14F-4D97-AF65-F5344CB8AC3E}">
        <p14:creationId xmlns:p14="http://schemas.microsoft.com/office/powerpoint/2010/main" val="93744708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2F86BE-39F7-4AB8-BC6C-4CAA354BD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1BESC104D/204D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3C72F0-9A28-48D5-9591-B6E989355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Classroom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F0C66E-FA9D-4AE1-BF51-0F2138877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C9279E-3D61-4975-9ACC-A586630BB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00200"/>
            <a:ext cx="2286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Example prompt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13A108-0055-4148-9110-3235B318C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56210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Engineering materials: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107050-9082-4AFB-8CD5-2188A6111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09850"/>
            <a:ext cx="8953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Identify the relevant concept: Engineering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State the rule or principle using syllabus language.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Work through one small case visibly on the board.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Ask students which assumption would change the answer.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76FCAF-D16D-41FC-AD14-1B8BBECCD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143500"/>
            <a:ext cx="876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Exam angle: a complete answer names the concept, shows the working, and states the interpretation.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8325E4-968D-402D-A639-3A79DE0C2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INTRODUCTION TO MECHANICAL ENGINEERING | 1BESC104D/204D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558E7B-7478-407C-9548-13DA65711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6/9</a:t>
            </a:r>
          </a:p>
        </p:txBody>
      </p:sp>
    </p:spTree>
    <p:extLst>
      <p:ext uri="{BB962C8B-B14F-4D97-AF65-F5344CB8AC3E}">
        <p14:creationId xmlns:p14="http://schemas.microsoft.com/office/powerpoint/2010/main" val="39253101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F5A49E-66CC-47BC-8E6C-C51F8E50F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1BESC104D/204D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2647F6-E692-4AB7-BDD6-03D6ABE7A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Applications and common mistakes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0CB6D0-51FB-43D1-9FEA-FF95329FD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539B81-04E7-4290-A28D-B1F9BA1A9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00200"/>
            <a:ext cx="2095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Applications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15E6E1-9494-4F32-8780-1E465EAAB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66950"/>
            <a:ext cx="4476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Introduction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Constituents of a composite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Classification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Types of Matrix and Reinforcement materials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A45417-9F36-49B1-A7C4-638AFB87F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00200"/>
            <a:ext cx="2286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Common mistakes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E29746-5940-4F65-825D-330D02ABE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266950"/>
            <a:ext cx="4286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Writing only definitions without explanation.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Skipping intermediate working or assumptions.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Mixing similar terms without a comparison.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Not linking the result back to the application.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3F4900-72E6-4095-ACF1-53C4CECF0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INTRODUCTION TO MECHANICAL ENGINEERING | 1BESC104D/204D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E46D13-E433-4C5D-A071-45F12FFB2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7/9</a:t>
            </a:r>
          </a:p>
        </p:txBody>
      </p:sp>
    </p:spTree>
    <p:extLst>
      <p:ext uri="{BB962C8B-B14F-4D97-AF65-F5344CB8AC3E}">
        <p14:creationId xmlns:p14="http://schemas.microsoft.com/office/powerpoint/2010/main" val="15495509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B71737B-2084-474E-96B0-C81A5B476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1BESC104D/204D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D48F75-1154-4BD1-97A5-1BE70CC1D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Syllabus coverage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334112-CA88-4264-BA8D-A745AB101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D73247-370D-4F57-A273-EF8E61FCE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049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Syllabus topic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0258BC-D629-4477-981F-81444D302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5049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Teaching treatment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CE14F8-1FCF-47DF-B5F2-9A84CF531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5049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Status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546C6D-DEBF-4BB4-9BF6-EA097D3D4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859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Engineering materials: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6425FC-D10B-4E33-BA9F-764B8724F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8859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2E8B77-635B-4015-A6B5-788E87557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8859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5BE114-1D87-470A-82B4-44C9D4392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384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Introduction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8A9526-3A3B-4C6B-A32E-5C131A1BC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4384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AA5B99-18B3-4332-9F83-25C42A147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4384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246E81-F8C7-4041-83EA-12941028C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Classification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1877EA-1CF7-4162-B138-628FED417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9908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7E718B-A096-4CA5-AEFD-F8E90A1A4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9908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88EB51-2A95-42EB-9359-F886AF765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433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Ferrous and Non -Ferrous metals: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E64C2D-01A9-41D1-9266-667CA5005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5433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254DB5-9A9B-4202-B398-CD36885F1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5433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311B41C-B87F-4A2B-B3F5-E9D08A919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Properties and their applications.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D9109C8-0B99-4A0F-A64D-A73058459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957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42E56E2-3F9E-4D6E-8B1F-F51158231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0957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5F3C16A-5C07-4501-8055-21D63E59D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482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Composite materials: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2C0343C-970C-40C6-AC72-81735704A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6482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4AE0C08-87BF-4DA6-BFD5-01EAACE56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6482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9C68694-1A12-4C3E-9200-67024BCBA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006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Introduction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6AEC574-248B-4FC5-A372-CFDDFA193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2006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0363A60-CE4B-42FC-97C9-0CCB777C5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2006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9A4DB76-D2A1-468C-91CB-3B61C9BCD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INTRODUCTION TO MECHANICAL ENGINEERING | 1BESC104D/204D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7152AB5-B545-4493-AAFE-A3FFDD88B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8/9</a:t>
            </a:r>
          </a:p>
        </p:txBody>
      </p:sp>
    </p:spTree>
    <p:extLst>
      <p:ext uri="{BB962C8B-B14F-4D97-AF65-F5344CB8AC3E}">
        <p14:creationId xmlns:p14="http://schemas.microsoft.com/office/powerpoint/2010/main" val="31315484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DA290B-8229-4425-9CCF-0666BC2D4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1BESC104D/204D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4C1381-57C0-4681-93AF-E4099280F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Module recap and exam preparation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AFAD8F-9FE9-433E-A1F2-A148065D8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2F686F-A1AD-4D36-8320-86525C584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19250"/>
            <a:ext cx="9525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Key definitions: Engineering, materials, Classification, Ferrous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diagrams: use a labelled flow, setup, circuit, graph, or concept map where relevant.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working: show cause, mechanism, result, and interpretation.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Common mistakes: avoid skipped steps, unsupported claims, and unlabeled diagrams.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Practice: prepare short-answer, application, and worked-example questions from the listed topics.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4EDD77-E15B-4FDB-B126-0E74C1F5F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10150"/>
            <a:ext cx="2476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Previous VTU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D12808-2D24-42A9-B922-64501F774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010150"/>
            <a:ext cx="670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No repository-verified previous VTU questions were found for this module, so none are fabricated here.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25A3E2-5AB6-4AFE-B005-066B2067D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INTRODUCTION TO MECHANICAL ENGINEERING | 1BESC104D/204D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75B867-FD7F-4EBF-884F-31EE5C398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9/9</a:t>
            </a:r>
          </a:p>
        </p:txBody>
      </p:sp>
    </p:spTree>
    <p:extLst>
      <p:ext uri="{BB962C8B-B14F-4D97-AF65-F5344CB8AC3E}">
        <p14:creationId xmlns:p14="http://schemas.microsoft.com/office/powerpoint/2010/main" val="111312785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2026-08-24T06:38:48.6070000Z</dcterms:created>
  <dcterms:modified xsi:type="dcterms:W3CDTF">2026-08-24T06:38:48.6070000Z</dcterms:modified>
</coreProperties>
</file>