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1eafcf9b2cb4361" /><Relationship Type="http://schemas.openxmlformats.org/officeDocument/2006/relationships/extended-properties" Target="/docProps/app.xml" Id="Ra43ce61da0d045a9" /><Relationship Type="http://schemas.openxmlformats.org/officeDocument/2006/relationships/officeDocument" Target="/ppt/presentation.xml" Id="R67c2a1b124e1418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8baa0186d694386"/>
  </p:sldMasterIdLst>
  <p:notesMasterIdLst>
    <p:notesMasterId xmlns:r="http://schemas.openxmlformats.org/officeDocument/2006/relationships" r:id="R942a38c3f5b24192"/>
  </p:notesMasterIdLst>
  <p:sldIdLst>
    <p:sldId xmlns:r="http://schemas.openxmlformats.org/officeDocument/2006/relationships" id="256" r:id="R2d968f21f7ac4eed"/>
    <p:sldId xmlns:r="http://schemas.openxmlformats.org/officeDocument/2006/relationships" id="257" r:id="R21da4716de744d02"/>
    <p:sldId xmlns:r="http://schemas.openxmlformats.org/officeDocument/2006/relationships" id="258" r:id="Reff4e1017f7a4903"/>
    <p:sldId xmlns:r="http://schemas.openxmlformats.org/officeDocument/2006/relationships" id="259" r:id="Rbe635ad1083742e5"/>
    <p:sldId xmlns:r="http://schemas.openxmlformats.org/officeDocument/2006/relationships" id="260" r:id="R385430e8d3084303"/>
    <p:sldId xmlns:r="http://schemas.openxmlformats.org/officeDocument/2006/relationships" id="261" r:id="R99cf147f11fa4a2a"/>
    <p:sldId xmlns:r="http://schemas.openxmlformats.org/officeDocument/2006/relationships" id="262" r:id="Rcca01e4f95a44e8c"/>
    <p:sldId xmlns:r="http://schemas.openxmlformats.org/officeDocument/2006/relationships" id="263" r:id="Rd5f284592cd94424"/>
    <p:sldId xmlns:r="http://schemas.openxmlformats.org/officeDocument/2006/relationships" id="264" r:id="Rc8488c89f616417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056f412d99d40dc" /><Relationship Type="http://schemas.openxmlformats.org/officeDocument/2006/relationships/slideMaster" Target="/ppt/slideMasters/slideMaster1.xml" Id="Rf8baa0186d694386" /><Relationship Type="http://schemas.openxmlformats.org/officeDocument/2006/relationships/notesMaster" Target="/ppt/notesMasters/notesMaster1.xml" Id="R942a38c3f5b24192" /><Relationship Type="http://schemas.openxmlformats.org/officeDocument/2006/relationships/presProps" Target="/ppt/presProps.xml" Id="R818916997e274d19" /><Relationship Type="http://schemas.openxmlformats.org/officeDocument/2006/relationships/tableStyles" Target="/ppt/tableStyles.xml" Id="Rf78e1293d8d042bc" /><Relationship Type="http://schemas.openxmlformats.org/officeDocument/2006/relationships/slide" Target="/ppt/slides/slide1.xml" Id="R2d968f21f7ac4eed" /><Relationship Type="http://schemas.openxmlformats.org/officeDocument/2006/relationships/slide" Target="/ppt/slides/slide2.xml" Id="R21da4716de744d02" /><Relationship Type="http://schemas.openxmlformats.org/officeDocument/2006/relationships/slide" Target="/ppt/slides/slide3.xml" Id="Reff4e1017f7a4903" /><Relationship Type="http://schemas.openxmlformats.org/officeDocument/2006/relationships/slide" Target="/ppt/slides/slide4.xml" Id="Rbe635ad1083742e5" /><Relationship Type="http://schemas.openxmlformats.org/officeDocument/2006/relationships/slide" Target="/ppt/slides/slide5.xml" Id="R385430e8d3084303" /><Relationship Type="http://schemas.openxmlformats.org/officeDocument/2006/relationships/slide" Target="/ppt/slides/slide6.xml" Id="R99cf147f11fa4a2a" /><Relationship Type="http://schemas.openxmlformats.org/officeDocument/2006/relationships/slide" Target="/ppt/slides/slide7.xml" Id="Rcca01e4f95a44e8c" /><Relationship Type="http://schemas.openxmlformats.org/officeDocument/2006/relationships/slide" Target="/ppt/slides/slide8.xml" Id="Rd5f284592cd94424" /><Relationship Type="http://schemas.openxmlformats.org/officeDocument/2006/relationships/slide" Target="/ppt/slides/slide9.xml" Id="Rc8488c89f616417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7eea58b8e9f469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074840448cd4f40" /><Relationship Type="http://schemas.openxmlformats.org/officeDocument/2006/relationships/notesMaster" Target="/ppt/notesMasters/notesMaster1.xml" Id="R52770c604e164e6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d6946f39d6b40bf" /><Relationship Type="http://schemas.openxmlformats.org/officeDocument/2006/relationships/notesMaster" Target="/ppt/notesMasters/notesMaster1.xml" Id="R1328ba2b9a0a4cf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730cea055b1470f" /><Relationship Type="http://schemas.openxmlformats.org/officeDocument/2006/relationships/notesMaster" Target="/ppt/notesMasters/notesMaster1.xml" Id="R6a5271c9c173416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f0b83637d194dff" /><Relationship Type="http://schemas.openxmlformats.org/officeDocument/2006/relationships/notesMaster" Target="/ppt/notesMasters/notesMaster1.xml" Id="Rb960100ec725476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ede5e7dc8f44bb0" /><Relationship Type="http://schemas.openxmlformats.org/officeDocument/2006/relationships/notesMaster" Target="/ppt/notesMasters/notesMaster1.xml" Id="Raf7bcb66a68d491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950215fefd24615" /><Relationship Type="http://schemas.openxmlformats.org/officeDocument/2006/relationships/notesMaster" Target="/ppt/notesMasters/notesMaster1.xml" Id="Rc53101a5b00642d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aa9a4168e274fae" /><Relationship Type="http://schemas.openxmlformats.org/officeDocument/2006/relationships/notesMaster" Target="/ppt/notesMasters/notesMaster1.xml" Id="Ra1a148332d89403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5150a140c614e5b" /><Relationship Type="http://schemas.openxmlformats.org/officeDocument/2006/relationships/notesMaster" Target="/ppt/notesMasters/notesMaster1.xml" Id="Re759192fde0c4d3b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5868a6175f9491f" /><Relationship Type="http://schemas.openxmlformats.org/officeDocument/2006/relationships/notesMaster" Target="/ppt/notesMasters/notesMaster1.xml" Id="R2cf9614c814a4b1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1af917b0481411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6ca96ef892b4414" /><Relationship Type="http://schemas.openxmlformats.org/officeDocument/2006/relationships/slideLayout" Target="/ppt/slideLayouts/slideLayout1.xml" Id="Rc7ec21b74c2c4be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7ec21b74c2c4be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f7de95818f14e84" /><Relationship Type="http://schemas.openxmlformats.org/officeDocument/2006/relationships/notesSlide" Target="/ppt/notesSlides/notesSlide1.xml" Id="R8e7ddc44d99541f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1403671b51e4b61" /><Relationship Type="http://schemas.openxmlformats.org/officeDocument/2006/relationships/notesSlide" Target="/ppt/notesSlides/notesSlide2.xml" Id="R639b2f75434c41b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8d11e44acae4f41" /><Relationship Type="http://schemas.openxmlformats.org/officeDocument/2006/relationships/notesSlide" Target="/ppt/notesSlides/notesSlide3.xml" Id="R6836c77e8db6493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6ac4a9ff46e46d5" /><Relationship Type="http://schemas.openxmlformats.org/officeDocument/2006/relationships/notesSlide" Target="/ppt/notesSlides/notesSlide4.xml" Id="R02f39c6dec1d457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8d92cc5aa014650" /><Relationship Type="http://schemas.openxmlformats.org/officeDocument/2006/relationships/notesSlide" Target="/ppt/notesSlides/notesSlide5.xml" Id="R1b7be7c567ca4bd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d436104bab141c1" /><Relationship Type="http://schemas.openxmlformats.org/officeDocument/2006/relationships/notesSlide" Target="/ppt/notesSlides/notesSlide6.xml" Id="R6d825ef4315c404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667d10df6c044b9" /><Relationship Type="http://schemas.openxmlformats.org/officeDocument/2006/relationships/notesSlide" Target="/ppt/notesSlides/notesSlide7.xml" Id="R54789d10e5cd4f1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f5aa4e271114ded" /><Relationship Type="http://schemas.openxmlformats.org/officeDocument/2006/relationships/notesSlide" Target="/ppt/notesSlides/notesSlide8.xml" Id="R7cdbab6cb2db49dd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9c1d0da593d4cdf" /><Relationship Type="http://schemas.openxmlformats.org/officeDocument/2006/relationships/notesSlide" Target="/ppt/notesSlides/notesSlide9.xml" Id="Rfdc25ab2abb845d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E51CB24-48CF-4D20-8651-6E5251A91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304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6D28D9"/>
                </a:solidFill>
              </a:defRPr>
            </a:pPr>
            <a:r>
              <a:rPr sz="3750" b="1">
                <a:solidFill>
                  <a:srgbClr val="6D28D9"/>
                </a:solidFill>
              </a:rPr>
              <a:t>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C79C1E2-E81F-47CA-A63B-13525A652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7239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72033"/>
                </a:solidFill>
              </a:defRPr>
            </a:pPr>
            <a:r>
              <a:rPr sz="3000" b="1">
                <a:solidFill>
                  <a:srgbClr val="172033"/>
                </a:solidFill>
              </a:rPr>
              <a:t>Oscillators: Positive Feedback , Condition for Oscillations, Ladder Network Oscillator , Wein Bridge Oscillator , Single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9496CF2-E4A1-4665-8AD8-256100BA4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43250"/>
            <a:ext cx="4953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Subject: Introduction to Electronics and Communication Engineering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Code: 1BESC104C/204C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Semester: I/II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Teaching focus: electronics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64D156F-0249-403D-A7DD-12F4ACB5B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Input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99FA5E9-FB20-4AA6-A19D-77D3E2244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5BBD13C-BC21-4B71-BFB9-D3012EC96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System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50D6415-5D20-4F89-B87E-4228CC097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6341ACF-91D7-443A-9270-4CCD2FDF0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Law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E464D1E-40AD-4132-9E97-1E0F04421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56DA8FA-9203-4AF4-914A-60B04E9A2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Graph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86A7558-6CC6-48DB-AF03-2A757D25A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821397E-3D0F-41EC-856B-AE9FDE4DF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Meaning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D4384D6-6947-4869-BED0-44F29C97D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905250"/>
            <a:ext cx="4095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72033"/>
                </a:solidFill>
              </a:defRPr>
            </a:pPr>
            <a:r>
              <a:rPr sz="1800" b="1">
                <a:solidFill>
                  <a:srgbClr val="172033"/>
                </a:solidFill>
              </a:rPr>
              <a:t>Observe → model → calculate → interpret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A9EE499-339A-4F63-883D-BC23CC50C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Introduction to Electronics and Communication Engineering | 1BESC104C/204C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97688FC-61EE-4001-8095-E9B27CD75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2 | 1/9</a:t>
            </a:r>
          </a:p>
        </p:txBody>
      </p:sp>
    </p:spTree>
    <p:extLst>
      <p:ext uri="{BB962C8B-B14F-4D97-AF65-F5344CB8AC3E}">
        <p14:creationId xmlns:p14="http://schemas.microsoft.com/office/powerpoint/2010/main" val="46437792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0A6D5EF-8349-4518-8D15-0FD4B34BF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1BESC104C/204C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E280ACA-3728-4FCF-97F8-2EC994A56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Learning route for this module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B8613BD-0AF1-4AB2-99DC-1F1231711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93B1CCE-997E-4038-998F-69A33FC86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Motivation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0DFD6BA-10E4-48F6-98CD-88D0A48EC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3241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DC1C8DC-DD2B-4297-8F80-BA8FAB721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Concept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CAB88E5-35E6-4C74-B1E4-12BB59CDE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23241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A60E0D1-29A2-4AAA-AA99-A6E991FE9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Working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724EDAF-D2D8-49E2-92EA-720F6C836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3241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E51D544-E693-4D96-9BF3-4728738EF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Application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1D912AD-BACA-434F-BAB2-4E6885F5F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23241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E43F993-4A93-4E58-BC05-067C995F7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Recap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CCD5242-B9B4-4058-ADB8-B67137669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171950"/>
            <a:ext cx="96202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Oscillators: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Positive Feedback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Condition for Oscillations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Ladder Network Oscillator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Wein Bridge Oscillator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4C8CB9B-3DE9-40FC-8BF0-7CA23A554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Introduction to Electronics and Communication Engineering | 1BESC104C/204C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927F737-CBC7-4432-B73B-8F77A923A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2 | 2/9</a:t>
            </a:r>
          </a:p>
        </p:txBody>
      </p:sp>
    </p:spTree>
    <p:extLst>
      <p:ext uri="{BB962C8B-B14F-4D97-AF65-F5344CB8AC3E}">
        <p14:creationId xmlns:p14="http://schemas.microsoft.com/office/powerpoint/2010/main" val="116369428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8B019AA-6E42-4495-AA60-603A5FC6D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1BESC104C/204C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AE117D3-A030-4B18-A76A-824B12A2C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Core concepts from the official syllabus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BBEF86E-0B94-43C1-98D0-15F982616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E673B5F-8B71-4639-843E-BBB028216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9070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Oscillators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2A9D7F1-5B30-4D19-9BD7-E121FFF9B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179070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Positive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CD6A98F-64DB-4578-80D2-76F597C25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179070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Feedback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79307F4-AD1D-4E00-B3AB-48C0D821E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6705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Condition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6669A56-8309-4DBD-BB40-BDE884662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06705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Oscillations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FCD8090-0FCC-430A-B79B-6C02FDC25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06705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Ladder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E587968-AD42-4428-B271-9E9BCF682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686300"/>
            <a:ext cx="9334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Single-Stage Astable Oscillator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Crystal Controlled Oscillators (Only Concepts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Working, and Waveforms .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No Mathematical Derivations) Operational Amplifiers: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013C4A1-4199-4AAC-AABE-BE0B5BD93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Introduction to Electronics and Communication Engineering | 1BESC104C/204C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8E63305-9A3C-48C0-9CD0-34AFDF694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2 | 3/9</a:t>
            </a:r>
          </a:p>
        </p:txBody>
      </p:sp>
    </p:spTree>
    <p:extLst>
      <p:ext uri="{BB962C8B-B14F-4D97-AF65-F5344CB8AC3E}">
        <p14:creationId xmlns:p14="http://schemas.microsoft.com/office/powerpoint/2010/main" val="10526507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163AFD2-616C-49D7-B538-137AB0CC0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1BESC104C/204C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97A31A8-1124-4C02-B8A0-22AAF24E7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Concept explanation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CF020FC-7140-4A8C-B851-9DCAD22CC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878AD7B-34F9-4AFB-B18E-3FA383747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581150"/>
            <a:ext cx="4953000" cy="3505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Oscillators: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Positive Feedback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Condition for Oscillations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Ladder Network Oscillator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Wein Bridge Oscillator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Single-Stage Astable Oscillator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8BB97C4-E0B9-411E-BBE7-781679438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391150"/>
            <a:ext cx="1524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Instructor move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1944CB4-31B4-4855-BF1E-10D0B0A44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5381625"/>
            <a:ext cx="657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Pause after each idea and ask students to connect it to the next step.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9416D9C-8FF6-40E0-96BD-52282748C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Input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08BBC55-3ECF-4F87-8425-E25431ADA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5CF5DE2-830E-4F22-9550-32C169112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System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778E275-5C97-4C2A-8604-1E859FD82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7328BF8-3F38-47DE-8239-F43754100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Law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C7A529C-E93E-474C-9CDD-9D0FEDF76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65FF3DA-27D9-4942-822F-08E60F1E7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Graph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686F15E-1A28-44C6-9584-F340631F4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DFA4B36-DAB9-4729-B9E2-D19E3F360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Meaning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8753F16-B621-487B-B398-2E2CEE232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905250"/>
            <a:ext cx="4095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72033"/>
                </a:solidFill>
              </a:defRPr>
            </a:pPr>
            <a:r>
              <a:rPr sz="1800" b="1">
                <a:solidFill>
                  <a:srgbClr val="172033"/>
                </a:solidFill>
              </a:rPr>
              <a:t>Observe → model → calculate → interpret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90C466C-B840-4424-A22C-2FCF0E544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Introduction to Electronics and Communication Engineering | 1BESC104C/204C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110DC2A-9F31-4ED8-8FD1-1A68C7C43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2 | 4/9</a:t>
            </a:r>
          </a:p>
        </p:txBody>
      </p:sp>
    </p:spTree>
    <p:extLst>
      <p:ext uri="{BB962C8B-B14F-4D97-AF65-F5344CB8AC3E}">
        <p14:creationId xmlns:p14="http://schemas.microsoft.com/office/powerpoint/2010/main" val="152226590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ED6E6E5-34F9-421B-8A94-3FA1E0669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1BESC104C/204C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A3A0694-FC1E-4C39-814E-44D1AAA9F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Working model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6D7D803-0BA7-4A9E-934F-AA732BA54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F9F5354-CE89-4164-B983-4C0AA261A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Input condition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E18836F-EFE7-41BC-9C28-083877F38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18669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4E70082-E61C-41E5-922F-6EC2EE61D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Principle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1A7497B-1D08-474F-93B1-8F1272ABD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18669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4D57102-7321-4C69-86F6-9470DAA25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Process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314F281-91E0-4335-A317-8014CF302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18669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E8991A8-F068-492A-B3CC-B6EEF2EF6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Observation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DA0DE2D-F70B-4681-BFA7-652162859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18669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08127AB-AFA1-4A33-8372-F317F24FB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Interpretation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FFCA730-F80D-4BE7-859F-FA4DAA8BC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924300"/>
            <a:ext cx="9334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Use the syllabus terms while solving; do not answer only with the final result.</a:t>
            </a:r>
          </a:p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Show intermediate reasoning so students can locate the step where mistakes enter.</a:t>
            </a:r>
          </a:p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Close the example by explaining what the result means in engineering or professional practice.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9A3ED69-37A7-482F-AB88-C2250AEBE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Introduction to Electronics and Communication Engineering | 1BESC104C/204C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B8D7C8A-8B15-44AF-AEDC-E32E17453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2 | 5/9</a:t>
            </a:r>
          </a:p>
        </p:txBody>
      </p:sp>
    </p:spTree>
    <p:extLst>
      <p:ext uri="{BB962C8B-B14F-4D97-AF65-F5344CB8AC3E}">
        <p14:creationId xmlns:p14="http://schemas.microsoft.com/office/powerpoint/2010/main" val="155948851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E552605-4F7F-4846-B2A6-15E280AB5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1BESC104C/204C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C947AF8-8B08-41C5-B42B-A608A4A42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Classroom example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02EFA2D-FE8E-4194-A9AD-BEE547099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44C161A-B1AE-48E5-B07F-E4443806D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00200"/>
            <a:ext cx="2286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Example prompt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A72743B-B5B4-4993-BFCC-2B11D59B7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1562100"/>
            <a:ext cx="723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033"/>
                </a:solidFill>
              </a:defRPr>
            </a:pPr>
            <a:r>
              <a:rPr sz="1725" b="1">
                <a:solidFill>
                  <a:srgbClr val="172033"/>
                </a:solidFill>
              </a:rPr>
              <a:t>Oscillators: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4DE8488-4BBC-4B8C-B660-9B6012AD5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609850"/>
            <a:ext cx="8953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Identify the relevant concept: Oscillators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State the rule or principle using syllabus language.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Work through one small case visibly on the board.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Ask students which assumption would change the answer.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23F3298-25AC-4D71-A306-201B0FA95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5143500"/>
            <a:ext cx="876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Exam angle: a complete answer names the concept, shows the working, and states the interpretation.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2F10F4F-4D36-46C8-BD76-14039874C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Introduction to Electronics and Communication Engineering | 1BESC104C/204C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F4E9D96-60FB-4398-B367-8AC7EDFB3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2 | 6/9</a:t>
            </a:r>
          </a:p>
        </p:txBody>
      </p:sp>
    </p:spTree>
    <p:extLst>
      <p:ext uri="{BB962C8B-B14F-4D97-AF65-F5344CB8AC3E}">
        <p14:creationId xmlns:p14="http://schemas.microsoft.com/office/powerpoint/2010/main" val="52199787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ECF5B05-A895-4DF2-B80A-F02600CCC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1BESC104C/204C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C599257-1FE0-4C36-8C1A-F64F78AB2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Applications and common mistakes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2A3E768-4245-4B2D-99F9-8E07FE3CC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7283057-881D-4EC6-9FE8-5F9356449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600200"/>
            <a:ext cx="20955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Applications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2B6B02A-23EF-400D-873C-4A5CB7AEB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266950"/>
            <a:ext cx="44767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Crystal Controlled Oscillators (Only Concepts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Working, and Waveforms 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No Mathematical Derivations) Operational Amplifiers: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Operational Amplifier Parameters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A9C4C3A-A096-4C14-9CE0-328F9D7B6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600200"/>
            <a:ext cx="22860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Common mistakes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25F93E3-D503-436A-A57D-7266176E6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266950"/>
            <a:ext cx="42862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Writing only definitions without explanation.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Skipping intermediate working or assumptions.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Mixing similar terms without a comparison.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Not linking the result back to the application.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86917E9-1DE1-404B-B695-137226797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Introduction to Electronics and Communication Engineering | 1BESC104C/204C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E5D3937-251C-4A50-BB62-49D14405C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2 | 7/9</a:t>
            </a:r>
          </a:p>
        </p:txBody>
      </p:sp>
    </p:spTree>
    <p:extLst>
      <p:ext uri="{BB962C8B-B14F-4D97-AF65-F5344CB8AC3E}">
        <p14:creationId xmlns:p14="http://schemas.microsoft.com/office/powerpoint/2010/main" val="121869421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A477D68-01B3-4CF9-8328-4BBC3E0A9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1BESC104C/204C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E180A02-7A0A-4B90-8505-4602BA0B4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Syllabus coverage 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7B1F4E2-9727-4ED2-8267-95F61E316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B751E82-5518-4F0C-B0A4-3F1862687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04950"/>
            <a:ext cx="447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D28D9"/>
                </a:solidFill>
              </a:defRPr>
            </a:pPr>
            <a:r>
              <a:rPr sz="1125" b="1">
                <a:solidFill>
                  <a:srgbClr val="6D28D9"/>
                </a:solidFill>
              </a:rPr>
              <a:t>Syllabus topic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D13F96D-F2B2-435C-9BD8-DD32F42A2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50495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D28D9"/>
                </a:solidFill>
              </a:defRPr>
            </a:pPr>
            <a:r>
              <a:rPr sz="1125" b="1">
                <a:solidFill>
                  <a:srgbClr val="6D28D9"/>
                </a:solidFill>
              </a:rPr>
              <a:t>Teaching treatment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52EDB8F-FC6D-4711-A606-35D521056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15049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D28D9"/>
                </a:solidFill>
              </a:defRPr>
            </a:pPr>
            <a:r>
              <a:rPr sz="1125" b="1">
                <a:solidFill>
                  <a:srgbClr val="6D28D9"/>
                </a:solidFill>
              </a:rPr>
              <a:t>Status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699EDC4-6718-45ED-9CA0-B8E1A5760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8595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Oscillators: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62E3018-F1EF-47D7-9995-26EF5208A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88595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CD0E70B-E9D2-42C1-86F2-C8ABE62A6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188595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BB2D6D9-37EE-4D91-82D1-63A442996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3840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Positive Feedback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F545A50-394F-4CE6-A78C-B2AC28F99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43840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28363BA-B8C4-4EE9-946D-9CDEED288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43840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30464F5-5107-4C64-A9EF-32A89E46A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9085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Condition for Oscillations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7686FCE-7529-4AB0-94FB-65C9273EE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99085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16516AC-6F38-4BA9-9F5E-EDCD1C8E7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99085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784B204-DCEC-4A97-9027-9029A9F48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4330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Ladder Network Oscillator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9D5A5C6-4B74-4E60-9F88-D32E46124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54330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1511BE0-51F6-428A-910F-2209EB930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354330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4F81635-08BE-480A-BA33-EA657140C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9575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Wein Bridge Oscillator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044FE90-9FDE-4EAE-8412-2BF2CDA1C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09575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FFB81AE-CE10-469C-A9E4-B1673A912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409575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0E93523-5927-46C7-BF53-5EA3AF452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4820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Single-Stage Astable Oscillator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1933DD5-99C1-45F6-A701-FD9D3E90B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64820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8C13BA6-394C-4127-A66F-FBA504A4E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464820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81D49B8-C907-4A4C-888C-73A000DFB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20065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Crystal Controlled Oscillators (Only Concepts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C2956E6-5B9D-4CF6-9CD5-4B8F9F710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520065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0FD5753-210A-4FA8-80B0-028FCD8E0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520065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0FA7296-3B2B-42E1-8C51-47899BA5D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Introduction to Electronics and Communication Engineering | 1BESC104C/204C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13041A1-44FE-41CD-8196-8269205A6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2 | 8/9</a:t>
            </a:r>
          </a:p>
        </p:txBody>
      </p:sp>
    </p:spTree>
    <p:extLst>
      <p:ext uri="{BB962C8B-B14F-4D97-AF65-F5344CB8AC3E}">
        <p14:creationId xmlns:p14="http://schemas.microsoft.com/office/powerpoint/2010/main" val="9563210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3238AF6-327B-4750-B3A2-225F9B725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1BESC104C/204C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835C187-AF9C-42FC-99C4-86B4165FD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Module recap and exam preparation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68E683B-BBA2-4F08-B824-48D2A178E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F01F19E-89D8-4C10-9457-5AC61C9DD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619250"/>
            <a:ext cx="95250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Key definitions: Oscillators, Positive, Feedback, Condition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Important diagrams: use a labelled flow, setup, circuit, graph, or concept map where relevant.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Important working: show cause, mechanism, result, and interpretation.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Common mistakes: avoid skipped steps, unsupported claims, and unlabeled diagrams.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Practice: prepare short-answer, application, and worked-example questions from the listed topics.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D83A5B5-86F5-46D4-8611-1650E0A0E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010150"/>
            <a:ext cx="24765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Previous VTU Questions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9589B2B-E947-481E-AB68-DF6D95788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5010150"/>
            <a:ext cx="6705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No repository-verified previous VTU questions were found for this module, so none are fabricated here.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B741164-E426-4944-A298-783FF3C21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Introduction to Electronics and Communication Engineering | 1BESC104C/204C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5FF320B-70D0-4DC4-A7AC-D69EB166C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2 | 9/9</a:t>
            </a:r>
          </a:p>
        </p:txBody>
      </p:sp>
    </p:spTree>
    <p:extLst>
      <p:ext uri="{BB962C8B-B14F-4D97-AF65-F5344CB8AC3E}">
        <p14:creationId xmlns:p14="http://schemas.microsoft.com/office/powerpoint/2010/main" val="210772796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2026-08-24T06:38:48.2290000Z</dcterms:created>
  <dcterms:modified xsi:type="dcterms:W3CDTF">2026-08-24T06:38:48.2290000Z</dcterms:modified>
</coreProperties>
</file>