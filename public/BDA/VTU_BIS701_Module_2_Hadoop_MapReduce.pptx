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98a2b47d340f8" /><Relationship Type="http://schemas.openxmlformats.org/officeDocument/2006/relationships/extended-properties" Target="/docProps/app.xml" Id="Rcb330c6f44fc4f09" /><Relationship Type="http://schemas.openxmlformats.org/officeDocument/2006/relationships/officeDocument" Target="/ppt/presentation.xml" Id="R6c8452d9cad442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660602a48e4730"/>
  </p:sldMasterIdLst>
  <p:notesMasterIdLst>
    <p:notesMasterId xmlns:r="http://schemas.openxmlformats.org/officeDocument/2006/relationships" r:id="Rb5ef7aed20524bf2"/>
  </p:notesMasterIdLst>
  <p:sldIdLst>
    <p:sldId xmlns:r="http://schemas.openxmlformats.org/officeDocument/2006/relationships" id="256" r:id="R9e8f5b8f839f4ca0"/>
    <p:sldId xmlns:r="http://schemas.openxmlformats.org/officeDocument/2006/relationships" id="257" r:id="R9d7430f2a95c461a"/>
    <p:sldId xmlns:r="http://schemas.openxmlformats.org/officeDocument/2006/relationships" id="258" r:id="R0835d420becd4b14"/>
    <p:sldId xmlns:r="http://schemas.openxmlformats.org/officeDocument/2006/relationships" id="259" r:id="R88fdcb06484f4422"/>
    <p:sldId xmlns:r="http://schemas.openxmlformats.org/officeDocument/2006/relationships" id="260" r:id="R90087b77c97f40b0"/>
    <p:sldId xmlns:r="http://schemas.openxmlformats.org/officeDocument/2006/relationships" id="261" r:id="R1e197fddad32439a"/>
    <p:sldId xmlns:r="http://schemas.openxmlformats.org/officeDocument/2006/relationships" id="262" r:id="R3c85edb54418485f"/>
    <p:sldId xmlns:r="http://schemas.openxmlformats.org/officeDocument/2006/relationships" id="263" r:id="Rded0c4b7f8824324"/>
    <p:sldId xmlns:r="http://schemas.openxmlformats.org/officeDocument/2006/relationships" id="264" r:id="Rbdb6031a6da34de3"/>
    <p:sldId xmlns:r="http://schemas.openxmlformats.org/officeDocument/2006/relationships" id="265" r:id="Ra3eb2848bc8c4194"/>
    <p:sldId xmlns:r="http://schemas.openxmlformats.org/officeDocument/2006/relationships" id="266" r:id="R47bd948c9776432a"/>
    <p:sldId xmlns:r="http://schemas.openxmlformats.org/officeDocument/2006/relationships" id="267" r:id="Ref25be24ec904e0f"/>
    <p:sldId xmlns:r="http://schemas.openxmlformats.org/officeDocument/2006/relationships" id="268" r:id="Re1a7c6b3ee084695"/>
    <p:sldId xmlns:r="http://schemas.openxmlformats.org/officeDocument/2006/relationships" id="269" r:id="Rfd0ac4bd373c4331"/>
    <p:sldId xmlns:r="http://schemas.openxmlformats.org/officeDocument/2006/relationships" id="270" r:id="R3f56ee73ad3644fd"/>
    <p:sldId xmlns:r="http://schemas.openxmlformats.org/officeDocument/2006/relationships" id="271" r:id="R818020ab373349c2"/>
    <p:sldId xmlns:r="http://schemas.openxmlformats.org/officeDocument/2006/relationships" id="272" r:id="R9ae3cf5c1cad447d"/>
    <p:sldId xmlns:r="http://schemas.openxmlformats.org/officeDocument/2006/relationships" id="273" r:id="R9271d4c9ee384f98"/>
    <p:sldId xmlns:r="http://schemas.openxmlformats.org/officeDocument/2006/relationships" id="274" r:id="R57d3247e923b4462"/>
    <p:sldId xmlns:r="http://schemas.openxmlformats.org/officeDocument/2006/relationships" id="275" r:id="R9bd85572254f4bc1"/>
    <p:sldId xmlns:r="http://schemas.openxmlformats.org/officeDocument/2006/relationships" id="276" r:id="R3ee5fb080ada4c9e"/>
    <p:sldId xmlns:r="http://schemas.openxmlformats.org/officeDocument/2006/relationships" id="277" r:id="R1c94a7c643ba495b"/>
    <p:sldId xmlns:r="http://schemas.openxmlformats.org/officeDocument/2006/relationships" id="278" r:id="Rb097e3dc7f6142e2"/>
    <p:sldId xmlns:r="http://schemas.openxmlformats.org/officeDocument/2006/relationships" id="279" r:id="Ra0f9834fdd9d45e3"/>
    <p:sldId xmlns:r="http://schemas.openxmlformats.org/officeDocument/2006/relationships" id="280" r:id="R810c9ea131094d62"/>
    <p:sldId xmlns:r="http://schemas.openxmlformats.org/officeDocument/2006/relationships" id="281" r:id="R2d927ef3fc4f44af"/>
    <p:sldId xmlns:r="http://schemas.openxmlformats.org/officeDocument/2006/relationships" id="282" r:id="R5fc7a10ef7ff40c9"/>
    <p:sldId xmlns:r="http://schemas.openxmlformats.org/officeDocument/2006/relationships" id="283" r:id="Rd8a81384ff864da6"/>
    <p:sldId xmlns:r="http://schemas.openxmlformats.org/officeDocument/2006/relationships" id="284" r:id="R6682251041f246ef"/>
    <p:sldId xmlns:r="http://schemas.openxmlformats.org/officeDocument/2006/relationships" id="285" r:id="R39a94b5be2df4da8"/>
    <p:sldId xmlns:r="http://schemas.openxmlformats.org/officeDocument/2006/relationships" id="286" r:id="Rd031c5bc002c4f31"/>
    <p:sldId xmlns:r="http://schemas.openxmlformats.org/officeDocument/2006/relationships" id="287" r:id="R77ab57d6a4c04d37"/>
    <p:sldId xmlns:r="http://schemas.openxmlformats.org/officeDocument/2006/relationships" id="288" r:id="R005853f5ef4743a5"/>
    <p:sldId xmlns:r="http://schemas.openxmlformats.org/officeDocument/2006/relationships" id="289" r:id="R1c1de844904e4010"/>
    <p:sldId xmlns:r="http://schemas.openxmlformats.org/officeDocument/2006/relationships" id="290" r:id="R87042950e8fa4e14"/>
    <p:sldId xmlns:r="http://schemas.openxmlformats.org/officeDocument/2006/relationships" id="291" r:id="R765e0134a8d7436c"/>
    <p:sldId xmlns:r="http://schemas.openxmlformats.org/officeDocument/2006/relationships" id="292" r:id="Rc8f926e6714d4379"/>
    <p:sldId xmlns:r="http://schemas.openxmlformats.org/officeDocument/2006/relationships" id="293" r:id="R9ac376d0a88e42b6"/>
    <p:sldId xmlns:r="http://schemas.openxmlformats.org/officeDocument/2006/relationships" id="294" r:id="R0c8139cbac224d20"/>
    <p:sldId xmlns:r="http://schemas.openxmlformats.org/officeDocument/2006/relationships" id="295" r:id="R40738197f99d4402"/>
    <p:sldId xmlns:r="http://schemas.openxmlformats.org/officeDocument/2006/relationships" id="296" r:id="R37fd0054719a467e"/>
    <p:sldId xmlns:r="http://schemas.openxmlformats.org/officeDocument/2006/relationships" id="297" r:id="R1dadde88e8124dd6"/>
    <p:sldId xmlns:r="http://schemas.openxmlformats.org/officeDocument/2006/relationships" id="298" r:id="R4b6e3e7a7f3b45df"/>
    <p:sldId xmlns:r="http://schemas.openxmlformats.org/officeDocument/2006/relationships" id="299" r:id="R6a0ea9e5b23748d7"/>
    <p:sldId xmlns:r="http://schemas.openxmlformats.org/officeDocument/2006/relationships" id="300" r:id="Rb503da9beb624c4f"/>
    <p:sldId xmlns:r="http://schemas.openxmlformats.org/officeDocument/2006/relationships" id="301" r:id="R6158e6ebd54f4182"/>
    <p:sldId xmlns:r="http://schemas.openxmlformats.org/officeDocument/2006/relationships" id="302" r:id="R9830b75ee9b1475e"/>
    <p:sldId xmlns:r="http://schemas.openxmlformats.org/officeDocument/2006/relationships" id="303" r:id="Rb835a60831594060"/>
    <p:sldId xmlns:r="http://schemas.openxmlformats.org/officeDocument/2006/relationships" id="304" r:id="Ra8ed7770b7bb44d6"/>
    <p:sldId xmlns:r="http://schemas.openxmlformats.org/officeDocument/2006/relationships" id="305" r:id="R23fff12559b94e61"/>
    <p:sldId xmlns:r="http://schemas.openxmlformats.org/officeDocument/2006/relationships" id="306" r:id="Rf3ac0fa80e234815"/>
    <p:sldId xmlns:r="http://schemas.openxmlformats.org/officeDocument/2006/relationships" id="307" r:id="R4f3650a4503e4746"/>
    <p:sldId xmlns:r="http://schemas.openxmlformats.org/officeDocument/2006/relationships" id="308" r:id="R5894e671f4ab4607"/>
    <p:sldId xmlns:r="http://schemas.openxmlformats.org/officeDocument/2006/relationships" id="309" r:id="R3c1562099d6e426a"/>
    <p:sldId xmlns:r="http://schemas.openxmlformats.org/officeDocument/2006/relationships" id="310" r:id="R9383579793944599"/>
    <p:sldId xmlns:r="http://schemas.openxmlformats.org/officeDocument/2006/relationships" id="311" r:id="Ra94795df100549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78534e76dc43bc" /><Relationship Type="http://schemas.openxmlformats.org/officeDocument/2006/relationships/slideMaster" Target="/ppt/slideMasters/slideMaster1.xml" Id="Ra8660602a48e4730" /><Relationship Type="http://schemas.openxmlformats.org/officeDocument/2006/relationships/notesMaster" Target="/ppt/notesMasters/notesMaster1.xml" Id="Rb5ef7aed20524bf2" /><Relationship Type="http://schemas.openxmlformats.org/officeDocument/2006/relationships/presProps" Target="/ppt/presProps.xml" Id="Rf3fe4007b7a242bc" /><Relationship Type="http://schemas.openxmlformats.org/officeDocument/2006/relationships/tableStyles" Target="/ppt/tableStyles.xml" Id="R4decae97e2e14fd9" /><Relationship Type="http://schemas.openxmlformats.org/officeDocument/2006/relationships/slide" Target="/ppt/slides/slide1.xml" Id="R9e8f5b8f839f4ca0" /><Relationship Type="http://schemas.openxmlformats.org/officeDocument/2006/relationships/slide" Target="/ppt/slides/slide2.xml" Id="R9d7430f2a95c461a" /><Relationship Type="http://schemas.openxmlformats.org/officeDocument/2006/relationships/slide" Target="/ppt/slides/slide3.xml" Id="R0835d420becd4b14" /><Relationship Type="http://schemas.openxmlformats.org/officeDocument/2006/relationships/slide" Target="/ppt/slides/slide4.xml" Id="R88fdcb06484f4422" /><Relationship Type="http://schemas.openxmlformats.org/officeDocument/2006/relationships/slide" Target="/ppt/slides/slide5.xml" Id="R90087b77c97f40b0" /><Relationship Type="http://schemas.openxmlformats.org/officeDocument/2006/relationships/slide" Target="/ppt/slides/slide6.xml" Id="R1e197fddad32439a" /><Relationship Type="http://schemas.openxmlformats.org/officeDocument/2006/relationships/slide" Target="/ppt/slides/slide7.xml" Id="R3c85edb54418485f" /><Relationship Type="http://schemas.openxmlformats.org/officeDocument/2006/relationships/slide" Target="/ppt/slides/slide8.xml" Id="Rded0c4b7f8824324" /><Relationship Type="http://schemas.openxmlformats.org/officeDocument/2006/relationships/slide" Target="/ppt/slides/slide9.xml" Id="Rbdb6031a6da34de3" /><Relationship Type="http://schemas.openxmlformats.org/officeDocument/2006/relationships/slide" Target="/ppt/slides/slide10.xml" Id="Ra3eb2848bc8c4194" /><Relationship Type="http://schemas.openxmlformats.org/officeDocument/2006/relationships/slide" Target="/ppt/slides/slide11.xml" Id="R47bd948c9776432a" /><Relationship Type="http://schemas.openxmlformats.org/officeDocument/2006/relationships/slide" Target="/ppt/slides/slide12.xml" Id="Ref25be24ec904e0f" /><Relationship Type="http://schemas.openxmlformats.org/officeDocument/2006/relationships/slide" Target="/ppt/slides/slide13.xml" Id="Re1a7c6b3ee084695" /><Relationship Type="http://schemas.openxmlformats.org/officeDocument/2006/relationships/slide" Target="/ppt/slides/slide14.xml" Id="Rfd0ac4bd373c4331" /><Relationship Type="http://schemas.openxmlformats.org/officeDocument/2006/relationships/slide" Target="/ppt/slides/slide15.xml" Id="R3f56ee73ad3644fd" /><Relationship Type="http://schemas.openxmlformats.org/officeDocument/2006/relationships/slide" Target="/ppt/slides/slide16.xml" Id="R818020ab373349c2" /><Relationship Type="http://schemas.openxmlformats.org/officeDocument/2006/relationships/slide" Target="/ppt/slides/slide17.xml" Id="R9ae3cf5c1cad447d" /><Relationship Type="http://schemas.openxmlformats.org/officeDocument/2006/relationships/slide" Target="/ppt/slides/slide18.xml" Id="R9271d4c9ee384f98" /><Relationship Type="http://schemas.openxmlformats.org/officeDocument/2006/relationships/slide" Target="/ppt/slides/slide19.xml" Id="R57d3247e923b4462" /><Relationship Type="http://schemas.openxmlformats.org/officeDocument/2006/relationships/slide" Target="/ppt/slides/slide20.xml" Id="R9bd85572254f4bc1" /><Relationship Type="http://schemas.openxmlformats.org/officeDocument/2006/relationships/slide" Target="/ppt/slides/slide21.xml" Id="R3ee5fb080ada4c9e" /><Relationship Type="http://schemas.openxmlformats.org/officeDocument/2006/relationships/slide" Target="/ppt/slides/slide22.xml" Id="R1c94a7c643ba495b" /><Relationship Type="http://schemas.openxmlformats.org/officeDocument/2006/relationships/slide" Target="/ppt/slides/slide23.xml" Id="Rb097e3dc7f6142e2" /><Relationship Type="http://schemas.openxmlformats.org/officeDocument/2006/relationships/slide" Target="/ppt/slides/slide24.xml" Id="Ra0f9834fdd9d45e3" /><Relationship Type="http://schemas.openxmlformats.org/officeDocument/2006/relationships/slide" Target="/ppt/slides/slide25.xml" Id="R810c9ea131094d62" /><Relationship Type="http://schemas.openxmlformats.org/officeDocument/2006/relationships/slide" Target="/ppt/slides/slide26.xml" Id="R2d927ef3fc4f44af" /><Relationship Type="http://schemas.openxmlformats.org/officeDocument/2006/relationships/slide" Target="/ppt/slides/slide27.xml" Id="R5fc7a10ef7ff40c9" /><Relationship Type="http://schemas.openxmlformats.org/officeDocument/2006/relationships/slide" Target="/ppt/slides/slide28.xml" Id="Rd8a81384ff864da6" /><Relationship Type="http://schemas.openxmlformats.org/officeDocument/2006/relationships/slide" Target="/ppt/slides/slide29.xml" Id="R6682251041f246ef" /><Relationship Type="http://schemas.openxmlformats.org/officeDocument/2006/relationships/slide" Target="/ppt/slides/slide30.xml" Id="R39a94b5be2df4da8" /><Relationship Type="http://schemas.openxmlformats.org/officeDocument/2006/relationships/slide" Target="/ppt/slides/slide31.xml" Id="Rd031c5bc002c4f31" /><Relationship Type="http://schemas.openxmlformats.org/officeDocument/2006/relationships/slide" Target="/ppt/slides/slide32.xml" Id="R77ab57d6a4c04d37" /><Relationship Type="http://schemas.openxmlformats.org/officeDocument/2006/relationships/slide" Target="/ppt/slides/slide33.xml" Id="R005853f5ef4743a5" /><Relationship Type="http://schemas.openxmlformats.org/officeDocument/2006/relationships/slide" Target="/ppt/slides/slide34.xml" Id="R1c1de844904e4010" /><Relationship Type="http://schemas.openxmlformats.org/officeDocument/2006/relationships/slide" Target="/ppt/slides/slide35.xml" Id="R87042950e8fa4e14" /><Relationship Type="http://schemas.openxmlformats.org/officeDocument/2006/relationships/slide" Target="/ppt/slides/slide36.xml" Id="R765e0134a8d7436c" /><Relationship Type="http://schemas.openxmlformats.org/officeDocument/2006/relationships/slide" Target="/ppt/slides/slide37.xml" Id="Rc8f926e6714d4379" /><Relationship Type="http://schemas.openxmlformats.org/officeDocument/2006/relationships/slide" Target="/ppt/slides/slide38.xml" Id="R9ac376d0a88e42b6" /><Relationship Type="http://schemas.openxmlformats.org/officeDocument/2006/relationships/slide" Target="/ppt/slides/slide39.xml" Id="R0c8139cbac224d20" /><Relationship Type="http://schemas.openxmlformats.org/officeDocument/2006/relationships/slide" Target="/ppt/slides/slide40.xml" Id="R40738197f99d4402" /><Relationship Type="http://schemas.openxmlformats.org/officeDocument/2006/relationships/slide" Target="/ppt/slides/slide41.xml" Id="R37fd0054719a467e" /><Relationship Type="http://schemas.openxmlformats.org/officeDocument/2006/relationships/slide" Target="/ppt/slides/slide42.xml" Id="R1dadde88e8124dd6" /><Relationship Type="http://schemas.openxmlformats.org/officeDocument/2006/relationships/slide" Target="/ppt/slides/slide43.xml" Id="R4b6e3e7a7f3b45df" /><Relationship Type="http://schemas.openxmlformats.org/officeDocument/2006/relationships/slide" Target="/ppt/slides/slide44.xml" Id="R6a0ea9e5b23748d7" /><Relationship Type="http://schemas.openxmlformats.org/officeDocument/2006/relationships/slide" Target="/ppt/slides/slide45.xml" Id="Rb503da9beb624c4f" /><Relationship Type="http://schemas.openxmlformats.org/officeDocument/2006/relationships/slide" Target="/ppt/slides/slide46.xml" Id="R6158e6ebd54f4182" /><Relationship Type="http://schemas.openxmlformats.org/officeDocument/2006/relationships/slide" Target="/ppt/slides/slide47.xml" Id="R9830b75ee9b1475e" /><Relationship Type="http://schemas.openxmlformats.org/officeDocument/2006/relationships/slide" Target="/ppt/slides/slide48.xml" Id="Rb835a60831594060" /><Relationship Type="http://schemas.openxmlformats.org/officeDocument/2006/relationships/slide" Target="/ppt/slides/slide49.xml" Id="Ra8ed7770b7bb44d6" /><Relationship Type="http://schemas.openxmlformats.org/officeDocument/2006/relationships/slide" Target="/ppt/slides/slide50.xml" Id="R23fff12559b94e61" /><Relationship Type="http://schemas.openxmlformats.org/officeDocument/2006/relationships/slide" Target="/ppt/slides/slide51.xml" Id="Rf3ac0fa80e234815" /><Relationship Type="http://schemas.openxmlformats.org/officeDocument/2006/relationships/slide" Target="/ppt/slides/slide52.xml" Id="R4f3650a4503e4746" /><Relationship Type="http://schemas.openxmlformats.org/officeDocument/2006/relationships/slide" Target="/ppt/slides/slide53.xml" Id="R5894e671f4ab4607" /><Relationship Type="http://schemas.openxmlformats.org/officeDocument/2006/relationships/slide" Target="/ppt/slides/slide54.xml" Id="R3c1562099d6e426a" /><Relationship Type="http://schemas.openxmlformats.org/officeDocument/2006/relationships/slide" Target="/ppt/slides/slide55.xml" Id="R9383579793944599" /><Relationship Type="http://schemas.openxmlformats.org/officeDocument/2006/relationships/slide" Target="/ppt/slides/slide56.xml" Id="Ra94795df1005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15d4fcd2c245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1a13d0dbf4b25" /><Relationship Type="http://schemas.openxmlformats.org/officeDocument/2006/relationships/notesMaster" Target="/ppt/notesMasters/notesMaster1.xml" Id="R6d4224b152da46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fb4a8fd8404c77" /><Relationship Type="http://schemas.openxmlformats.org/officeDocument/2006/relationships/notesMaster" Target="/ppt/notesMasters/notesMaster1.xml" Id="Rbb1a09dccffd41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4539032a784f5b" /><Relationship Type="http://schemas.openxmlformats.org/officeDocument/2006/relationships/notesMaster" Target="/ppt/notesMasters/notesMaster1.xml" Id="R0448acd2c1c647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ad5aabceaa405d" /><Relationship Type="http://schemas.openxmlformats.org/officeDocument/2006/relationships/notesMaster" Target="/ppt/notesMasters/notesMaster1.xml" Id="Rb9385cc3882149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6e588aece41db" /><Relationship Type="http://schemas.openxmlformats.org/officeDocument/2006/relationships/notesMaster" Target="/ppt/notesMasters/notesMaster1.xml" Id="Rca7976303cdf44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48acdd03d4604" /><Relationship Type="http://schemas.openxmlformats.org/officeDocument/2006/relationships/notesMaster" Target="/ppt/notesMasters/notesMaster1.xml" Id="Rcde4796dd5bf4b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15885325e240bb" /><Relationship Type="http://schemas.openxmlformats.org/officeDocument/2006/relationships/notesMaster" Target="/ppt/notesMasters/notesMaster1.xml" Id="R51f9e37c16a546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44d7931eb24438" /><Relationship Type="http://schemas.openxmlformats.org/officeDocument/2006/relationships/notesMaster" Target="/ppt/notesMasters/notesMaster1.xml" Id="Rd6b42240f07340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ef27adf0c14e6b" /><Relationship Type="http://schemas.openxmlformats.org/officeDocument/2006/relationships/notesMaster" Target="/ppt/notesMasters/notesMaster1.xml" Id="R4533137b23ab48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215368a2934985" /><Relationship Type="http://schemas.openxmlformats.org/officeDocument/2006/relationships/notesMaster" Target="/ppt/notesMasters/notesMaster1.xml" Id="R2a8d20d3755140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b45ee922274a64" /><Relationship Type="http://schemas.openxmlformats.org/officeDocument/2006/relationships/notesMaster" Target="/ppt/notesMasters/notesMaster1.xml" Id="R69857d242e8047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3a3e82b79141ba" /><Relationship Type="http://schemas.openxmlformats.org/officeDocument/2006/relationships/notesMaster" Target="/ppt/notesMasters/notesMaster1.xml" Id="Rd056107aced04b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7d64ccf5de4dba" /><Relationship Type="http://schemas.openxmlformats.org/officeDocument/2006/relationships/notesMaster" Target="/ppt/notesMasters/notesMaster1.xml" Id="R7e88f17135ff45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07904450dc4fea" /><Relationship Type="http://schemas.openxmlformats.org/officeDocument/2006/relationships/notesMaster" Target="/ppt/notesMasters/notesMaster1.xml" Id="R70f725caf83a41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fbf78a2dbe4eba" /><Relationship Type="http://schemas.openxmlformats.org/officeDocument/2006/relationships/notesMaster" Target="/ppt/notesMasters/notesMaster1.xml" Id="Ra5c18dc293844c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5514951cc84866" /><Relationship Type="http://schemas.openxmlformats.org/officeDocument/2006/relationships/notesMaster" Target="/ppt/notesMasters/notesMaster1.xml" Id="Rda15ce5a9aa440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f9b0031aa54c38" /><Relationship Type="http://schemas.openxmlformats.org/officeDocument/2006/relationships/notesMaster" Target="/ppt/notesMasters/notesMaster1.xml" Id="Ra434bc09d7c64b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a0ed6886d94a41" /><Relationship Type="http://schemas.openxmlformats.org/officeDocument/2006/relationships/notesMaster" Target="/ppt/notesMasters/notesMaster1.xml" Id="R3066093e8d7643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9f8ca0cf044a08" /><Relationship Type="http://schemas.openxmlformats.org/officeDocument/2006/relationships/notesMaster" Target="/ppt/notesMasters/notesMaster1.xml" Id="R2d68e68d424246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dee4d4bbb704e34" /><Relationship Type="http://schemas.openxmlformats.org/officeDocument/2006/relationships/notesMaster" Target="/ppt/notesMasters/notesMaster1.xml" Id="R251ffc71bc3945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4f198864774d31" /><Relationship Type="http://schemas.openxmlformats.org/officeDocument/2006/relationships/notesMaster" Target="/ppt/notesMasters/notesMaster1.xml" Id="R8039eaf993b24b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b46cbc9faa40c8" /><Relationship Type="http://schemas.openxmlformats.org/officeDocument/2006/relationships/notesMaster" Target="/ppt/notesMasters/notesMaster1.xml" Id="R4f0e2124faf44ac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7ad8e5eecb4d50" /><Relationship Type="http://schemas.openxmlformats.org/officeDocument/2006/relationships/notesMaster" Target="/ppt/notesMasters/notesMaster1.xml" Id="R44234e42303b49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cf7ba8ccd94d09" /><Relationship Type="http://schemas.openxmlformats.org/officeDocument/2006/relationships/notesMaster" Target="/ppt/notesMasters/notesMaster1.xml" Id="R15a8c78330cd4d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1e7ad64b224406" /><Relationship Type="http://schemas.openxmlformats.org/officeDocument/2006/relationships/notesMaster" Target="/ppt/notesMasters/notesMaster1.xml" Id="Ra32db4e882e04d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095238e11a4ac8" /><Relationship Type="http://schemas.openxmlformats.org/officeDocument/2006/relationships/notesMaster" Target="/ppt/notesMasters/notesMaster1.xml" Id="Rc3bdbd527f7e4e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7aa9c5b5aa4465" /><Relationship Type="http://schemas.openxmlformats.org/officeDocument/2006/relationships/notesMaster" Target="/ppt/notesMasters/notesMaster1.xml" Id="R35d9e41ac01d47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00a00510a74d4f" /><Relationship Type="http://schemas.openxmlformats.org/officeDocument/2006/relationships/notesMaster" Target="/ppt/notesMasters/notesMaster1.xml" Id="Re864d647cf3d4bb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08b6eb29ce64205" /><Relationship Type="http://schemas.openxmlformats.org/officeDocument/2006/relationships/notesMaster" Target="/ppt/notesMasters/notesMaster1.xml" Id="Rcb3030a18a4b4d7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79020d1a25046b3" /><Relationship Type="http://schemas.openxmlformats.org/officeDocument/2006/relationships/notesMaster" Target="/ppt/notesMasters/notesMaster1.xml" Id="R408d0162449e43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c8adebf081b4eb6" /><Relationship Type="http://schemas.openxmlformats.org/officeDocument/2006/relationships/notesMaster" Target="/ppt/notesMasters/notesMaster1.xml" Id="Rd1ad175bb2e7415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143f2d75e31404e" /><Relationship Type="http://schemas.openxmlformats.org/officeDocument/2006/relationships/notesMaster" Target="/ppt/notesMasters/notesMaster1.xml" Id="R63bc7889891e45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f1f3fa2c9d4505" /><Relationship Type="http://schemas.openxmlformats.org/officeDocument/2006/relationships/notesMaster" Target="/ppt/notesMasters/notesMaster1.xml" Id="R11b4a45b8e70429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1ca58bd0474744" /><Relationship Type="http://schemas.openxmlformats.org/officeDocument/2006/relationships/notesMaster" Target="/ppt/notesMasters/notesMaster1.xml" Id="R12fefa48ae2e4c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9b1929a7ec3435a" /><Relationship Type="http://schemas.openxmlformats.org/officeDocument/2006/relationships/notesMaster" Target="/ppt/notesMasters/notesMaster1.xml" Id="R0a5c8880a83342a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e7514aafa094a59" /><Relationship Type="http://schemas.openxmlformats.org/officeDocument/2006/relationships/notesMaster" Target="/ppt/notesMasters/notesMaster1.xml" Id="Rc589780dd914408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8a353fa41084aa6" /><Relationship Type="http://schemas.openxmlformats.org/officeDocument/2006/relationships/notesMaster" Target="/ppt/notesMasters/notesMaster1.xml" Id="R62dd57212130423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508720ca72a4b32" /><Relationship Type="http://schemas.openxmlformats.org/officeDocument/2006/relationships/notesMaster" Target="/ppt/notesMasters/notesMaster1.xml" Id="R01679e1a91584c6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cacd9de374b460c" /><Relationship Type="http://schemas.openxmlformats.org/officeDocument/2006/relationships/notesMaster" Target="/ppt/notesMasters/notesMaster1.xml" Id="Rb2053837e9cc4ae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d242135933340c1" /><Relationship Type="http://schemas.openxmlformats.org/officeDocument/2006/relationships/notesMaster" Target="/ppt/notesMasters/notesMaster1.xml" Id="R13c518c96deb45a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6876582225447c6" /><Relationship Type="http://schemas.openxmlformats.org/officeDocument/2006/relationships/notesMaster" Target="/ppt/notesMasters/notesMaster1.xml" Id="R224eb434d6af4e8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c665e798f4b4b03" /><Relationship Type="http://schemas.openxmlformats.org/officeDocument/2006/relationships/notesMaster" Target="/ppt/notesMasters/notesMaster1.xml" Id="R279c0d6402f74b4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41f1e5bdc0b4515" /><Relationship Type="http://schemas.openxmlformats.org/officeDocument/2006/relationships/notesMaster" Target="/ppt/notesMasters/notesMaster1.xml" Id="R1210d932e3a14e9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d511b3a5f524580" /><Relationship Type="http://schemas.openxmlformats.org/officeDocument/2006/relationships/notesMaster" Target="/ppt/notesMasters/notesMaster1.xml" Id="R92736f75ee68409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017ef7936e347f1" /><Relationship Type="http://schemas.openxmlformats.org/officeDocument/2006/relationships/notesMaster" Target="/ppt/notesMasters/notesMaster1.xml" Id="R7eb88aa3b50d440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d61e2d6711a47fa" /><Relationship Type="http://schemas.openxmlformats.org/officeDocument/2006/relationships/notesMaster" Target="/ppt/notesMasters/notesMaster1.xml" Id="R122d97308f914a1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4f8c01333fb4f4d" /><Relationship Type="http://schemas.openxmlformats.org/officeDocument/2006/relationships/notesMaster" Target="/ppt/notesMasters/notesMaster1.xml" Id="R1e894c6bef194f6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814e56f575b4d85" /><Relationship Type="http://schemas.openxmlformats.org/officeDocument/2006/relationships/notesMaster" Target="/ppt/notesMasters/notesMaster1.xml" Id="Rca733111326c441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05804a9818e48d7" /><Relationship Type="http://schemas.openxmlformats.org/officeDocument/2006/relationships/notesMaster" Target="/ppt/notesMasters/notesMaster1.xml" Id="R6e4be196c10d4b7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7b1612fc296436c" /><Relationship Type="http://schemas.openxmlformats.org/officeDocument/2006/relationships/notesMaster" Target="/ppt/notesMasters/notesMaster1.xml" Id="Rfba27943a3ee4d8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7db9c4af66a476f" /><Relationship Type="http://schemas.openxmlformats.org/officeDocument/2006/relationships/notesMaster" Target="/ppt/notesMasters/notesMaster1.xml" Id="Re157487b5c0e4c1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70480b5b1f540df" /><Relationship Type="http://schemas.openxmlformats.org/officeDocument/2006/relationships/notesMaster" Target="/ppt/notesMasters/notesMaster1.xml" Id="Rd132e0fff01846f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71f9688d8a84648" /><Relationship Type="http://schemas.openxmlformats.org/officeDocument/2006/relationships/notesMaster" Target="/ppt/notesMasters/notesMaster1.xml" Id="R23e226668ce14c0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c1407df1a9a4b75" /><Relationship Type="http://schemas.openxmlformats.org/officeDocument/2006/relationships/notesMaster" Target="/ppt/notesMasters/notesMaster1.xml" Id="R408e535ae2c64cd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b5815041b1f4aaf" /><Relationship Type="http://schemas.openxmlformats.org/officeDocument/2006/relationships/notesMaster" Target="/ppt/notesMasters/notesMaster1.xml" Id="R6b752e4631a5424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cf679452cbb42d2" /><Relationship Type="http://schemas.openxmlformats.org/officeDocument/2006/relationships/notesMaster" Target="/ppt/notesMasters/notesMaster1.xml" Id="R289a7a4208a8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connecting Module 1's Big Data problem to Module 2's platform answer: Hadoop.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the module moves from system motivation to programming model.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bridge slide from Module 1 to Module 2.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Hadoop is motivated by scale, cost, and failure tolerance.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Ask: what fails first when one server receives data from thousands of sources?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Hadoop only after students see the bottleneck problem.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Frame Hadoop as an engineering compromise: scalable and fault tolerant, but requiring distributed design.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RDBMS is not bad; it is just optimized for different workloads.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major five-mark or ten-mark comparison slide.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Teach students to avoid saying Hadoop replaces every database.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search engines needed to store and process web-scale data before ordinary enterprises did.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Give the story, but keep it syllabus-level.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is the mental model they should remember for all later slides.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Hadoop as a platform surrounded by tools for different user needs.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These principles make Hadoop different from a single-server design.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website traffic logs as the cleanest first example.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prepares students for common MapReduce lab tasks.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the syllabus lab on movie lens tags.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HDFS as Hadoop's storage layer.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the NameNode as metadata manager and DataNodes as actual block storage.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process slide; animate one step at a time.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file data does not flow through the NameNode during normal read.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blocks and replicas are the heart of HDFS reliability.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Students often think NameNode stores all data; correct that clearly.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HDFS is designed for large streaming reads/writes.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bridges HDFS to MapReduce.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classroom analogy: send the question paper to rooms instead of moving all students into one room.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YARN as the manager that allows multiple processing engines to share the cluster.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that YARN separates resource management from processing logic.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makes YARN practical instead of just a definition.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YARN helped Hadoop evolve beyond only MapReduce.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MapReduce is a way of thinking: break work apart, then combine results.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most important diagram for Module 2 programming.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word count: mapper emits word, 1.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map the line 'hadoop stores data'.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word count reducer: big -&gt; [1,1] -&gt; 2.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Students should see that reducer works after shuffle/grouping.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Say shuffle is often expensive because it moves data over network.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word count: combine word counts on each mapper before sending across network.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 combiner must not change the final reducer answer.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partitioner controls reducer distribution.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example: most records have key 'India', causing one reducer to do too much.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Examples: find weather records above threshold or movie tags matching a keyword.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simple searching may not need heavy reducer logic.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MapReduce framework sorts intermediate keys before reducers.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conceptual; avoid too much code.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the trade-off: compression saves I/O but costs CPU.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common idea: choose compression based on workload, not blindly.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comprehensive revision diagram.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prevents shallow answers.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close of teaching before questions.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structure every answer: definition, diagram, process, example.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questions.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need exact definitions and one example if space allows.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should include one diagram and five clear points.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story, definition, architecture diagram, process, example, and limitations.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Module 2 using only these keywords.</a:t>
            </a:r>
          </a:p>
          <a:p xmlns:a="http://schemas.openxmlformats.org/drawingml/2006/main">
            <a:r>
              <a:t>Pause cue: pause after the visual appears, then restate the key term in simple words.</a:t>
            </a:r>
          </a:p>
          <a:p xmlns:a="http://schemas.openxmlformats.org/drawingml/2006/main">
            <a:r>
              <a:t>Pointing cue: point left-to-right through the diagram or top-to-bottom through the bullets.</a:t>
            </a:r>
          </a:p>
          <a:p xmlns:a="http://schemas.openxmlformats.org/drawingml/2006/main">
            <a:r>
              <a:t>Question to ask students: Ask students to connect this slide to a real Big Data workload.</a:t>
            </a:r>
          </a:p>
          <a:p xmlns:a="http://schemas.openxmlformats.org/drawingml/2006/main">
            <a:r>
              <a:t>Animation instructions: Fade title first; appear bullets/cards one by one; use wipe for flows; use zoom/morph only for architecture reveals.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BIS701 Big Data Analytics syllabus PDF, Module 2 checklist; TB1 listed by syllabus: Seema Acharya and Subhashini Chellappan, Big Data and Analytics, Wiley India, 2nd ed., 2019, Ch. 5 sections 5.1-5.8 and 5.10-5.12, Ch. 8 sections 8.1-8.8; supplied TB2 PDF front matter/contents: Raj Kamal and Preeti Saxena, Big Data Analytics: Introduction to Hadoop, Spark, and Machine-Learning, McGraw Hill Education, 2019. TB1 body pages are scanned in this environment, so deck content is aligned to the VTU syllabus headings and requested textbook section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af60070a147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f511d3ff00438a" /><Relationship Type="http://schemas.openxmlformats.org/officeDocument/2006/relationships/slideLayout" Target="/ppt/slideLayouts/slideLayout1.xml" Id="Rebdeca31c8ed4d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deca31c8ed4d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83a0d4514463a" /><Relationship Type="http://schemas.openxmlformats.org/officeDocument/2006/relationships/notesSlide" Target="/ppt/notesSlides/notesSlide1.xml" Id="Rdf4c1e3e814d41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d96f9dff64751" /><Relationship Type="http://schemas.openxmlformats.org/officeDocument/2006/relationships/notesSlide" Target="/ppt/notesSlides/notesSlide2.xml" Id="R2086182165d94f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f34759a2a4140" /><Relationship Type="http://schemas.openxmlformats.org/officeDocument/2006/relationships/notesSlide" Target="/ppt/notesSlides/notesSlide3.xml" Id="R4c15a43cf876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388cc4db34d22" /><Relationship Type="http://schemas.openxmlformats.org/officeDocument/2006/relationships/notesSlide" Target="/ppt/notesSlides/notesSlide4.xml" Id="R7ca3edebaf744e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d66e9060a4a5e" /><Relationship Type="http://schemas.openxmlformats.org/officeDocument/2006/relationships/notesSlide" Target="/ppt/notesSlides/notesSlide5.xml" Id="R4a99a3e2b80744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57f0e1d6244c3" /><Relationship Type="http://schemas.openxmlformats.org/officeDocument/2006/relationships/notesSlide" Target="/ppt/notesSlides/notesSlide6.xml" Id="R419b6431ea1846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ef65c1bc94e33" /><Relationship Type="http://schemas.openxmlformats.org/officeDocument/2006/relationships/notesSlide" Target="/ppt/notesSlides/notesSlide7.xml" Id="R15d32bbf541a4a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bd9c8c86644a0" /><Relationship Type="http://schemas.openxmlformats.org/officeDocument/2006/relationships/notesSlide" Target="/ppt/notesSlides/notesSlide8.xml" Id="Re0bede9e70ef4f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e68dc46af4588" /><Relationship Type="http://schemas.openxmlformats.org/officeDocument/2006/relationships/notesSlide" Target="/ppt/notesSlides/notesSlide9.xml" Id="R1cb5e54d01fb4f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e17c648f94fd8" /><Relationship Type="http://schemas.openxmlformats.org/officeDocument/2006/relationships/notesSlide" Target="/ppt/notesSlides/notesSlide10.xml" Id="R1c8ce1d1772f49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3c9e068524dbc" /><Relationship Type="http://schemas.openxmlformats.org/officeDocument/2006/relationships/notesSlide" Target="/ppt/notesSlides/notesSlide11.xml" Id="R08db0eaf53ad40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a58f574a64320" /><Relationship Type="http://schemas.openxmlformats.org/officeDocument/2006/relationships/notesSlide" Target="/ppt/notesSlides/notesSlide12.xml" Id="R204b695f06f744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6f601a3ac4bfc" /><Relationship Type="http://schemas.openxmlformats.org/officeDocument/2006/relationships/notesSlide" Target="/ppt/notesSlides/notesSlide13.xml" Id="R91b14ca15d8b45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62ac2033244bb" /><Relationship Type="http://schemas.openxmlformats.org/officeDocument/2006/relationships/notesSlide" Target="/ppt/notesSlides/notesSlide14.xml" Id="Ra3a7a6b1848946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37a38b620466b" /><Relationship Type="http://schemas.openxmlformats.org/officeDocument/2006/relationships/notesSlide" Target="/ppt/notesSlides/notesSlide15.xml" Id="R2eecbf4f059649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8dbf8b7df4cf9" /><Relationship Type="http://schemas.openxmlformats.org/officeDocument/2006/relationships/notesSlide" Target="/ppt/notesSlides/notesSlide16.xml" Id="Rda92ed13bee943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bd424bb814354" /><Relationship Type="http://schemas.openxmlformats.org/officeDocument/2006/relationships/notesSlide" Target="/ppt/notesSlides/notesSlide17.xml" Id="R800b3f2faf9547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e557a7c574e9c" /><Relationship Type="http://schemas.openxmlformats.org/officeDocument/2006/relationships/notesSlide" Target="/ppt/notesSlides/notesSlide18.xml" Id="Rf4f7ce01b28f4a4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af442edb34576" /><Relationship Type="http://schemas.openxmlformats.org/officeDocument/2006/relationships/notesSlide" Target="/ppt/notesSlides/notesSlide19.xml" Id="Rdaa08f3514b243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2e6e4364042a3" /><Relationship Type="http://schemas.openxmlformats.org/officeDocument/2006/relationships/notesSlide" Target="/ppt/notesSlides/notesSlide20.xml" Id="R63eac0e531bf45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a8f9e9c7b4a15" /><Relationship Type="http://schemas.openxmlformats.org/officeDocument/2006/relationships/notesSlide" Target="/ppt/notesSlides/notesSlide21.xml" Id="R943005f9e29b4b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15b0bbb4744d4" /><Relationship Type="http://schemas.openxmlformats.org/officeDocument/2006/relationships/notesSlide" Target="/ppt/notesSlides/notesSlide22.xml" Id="Ra84530a7e885497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29665103d411d" /><Relationship Type="http://schemas.openxmlformats.org/officeDocument/2006/relationships/notesSlide" Target="/ppt/notesSlides/notesSlide23.xml" Id="Rff898a89184b43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e080d2933482d" /><Relationship Type="http://schemas.openxmlformats.org/officeDocument/2006/relationships/notesSlide" Target="/ppt/notesSlides/notesSlide24.xml" Id="Rd67308b12116468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c8e673efc4b61" /><Relationship Type="http://schemas.openxmlformats.org/officeDocument/2006/relationships/notesSlide" Target="/ppt/notesSlides/notesSlide25.xml" Id="Rdf8c3864fdd141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0b3a7d1a44c0a" /><Relationship Type="http://schemas.openxmlformats.org/officeDocument/2006/relationships/notesSlide" Target="/ppt/notesSlides/notesSlide26.xml" Id="R726cc6811d34445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714031eb24c5c" /><Relationship Type="http://schemas.openxmlformats.org/officeDocument/2006/relationships/notesSlide" Target="/ppt/notesSlides/notesSlide27.xml" Id="Rf0fa0dffc7de48b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df80449f549b3" /><Relationship Type="http://schemas.openxmlformats.org/officeDocument/2006/relationships/notesSlide" Target="/ppt/notesSlides/notesSlide28.xml" Id="R7ddb74eaba924e5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3ce10666b4828" /><Relationship Type="http://schemas.openxmlformats.org/officeDocument/2006/relationships/notesSlide" Target="/ppt/notesSlides/notesSlide29.xml" Id="R3e16560e08064aa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6e6c8647e4cc2" /><Relationship Type="http://schemas.openxmlformats.org/officeDocument/2006/relationships/notesSlide" Target="/ppt/notesSlides/notesSlide30.xml" Id="Rcfc6184e5bcd4a4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867ab8ee5440c" /><Relationship Type="http://schemas.openxmlformats.org/officeDocument/2006/relationships/notesSlide" Target="/ppt/notesSlides/notesSlide31.xml" Id="R1019fe36ab7f4a8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3b519a96742c7" /><Relationship Type="http://schemas.openxmlformats.org/officeDocument/2006/relationships/notesSlide" Target="/ppt/notesSlides/notesSlide32.xml" Id="Rcf6a534626cf4f6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838c0a7bd40ba" /><Relationship Type="http://schemas.openxmlformats.org/officeDocument/2006/relationships/notesSlide" Target="/ppt/notesSlides/notesSlide33.xml" Id="Ra114051547bd43a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e43ba81d74ae2" /><Relationship Type="http://schemas.openxmlformats.org/officeDocument/2006/relationships/notesSlide" Target="/ppt/notesSlides/notesSlide34.xml" Id="Rb9ff4b947b5241a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d8cc2eb174d70" /><Relationship Type="http://schemas.openxmlformats.org/officeDocument/2006/relationships/notesSlide" Target="/ppt/notesSlides/notesSlide35.xml" Id="Rc70ca8d09084424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436f672c45a7" /><Relationship Type="http://schemas.openxmlformats.org/officeDocument/2006/relationships/notesSlide" Target="/ppt/notesSlides/notesSlide36.xml" Id="R5c85186a50b64f7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020f72af64337" /><Relationship Type="http://schemas.openxmlformats.org/officeDocument/2006/relationships/notesSlide" Target="/ppt/notesSlides/notesSlide37.xml" Id="Rb8704aa11c854f4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924ae1b6c4f80" /><Relationship Type="http://schemas.openxmlformats.org/officeDocument/2006/relationships/notesSlide" Target="/ppt/notesSlides/notesSlide38.xml" Id="Re0b582431d7a48f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26e4b56bb4e50" /><Relationship Type="http://schemas.openxmlformats.org/officeDocument/2006/relationships/notesSlide" Target="/ppt/notesSlides/notesSlide39.xml" Id="R8d6f12f1ff5a411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2ef17b55747f3" /><Relationship Type="http://schemas.openxmlformats.org/officeDocument/2006/relationships/notesSlide" Target="/ppt/notesSlides/notesSlide40.xml" Id="Rcd49f3f477d74ee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3b5c44026405e" /><Relationship Type="http://schemas.openxmlformats.org/officeDocument/2006/relationships/notesSlide" Target="/ppt/notesSlides/notesSlide41.xml" Id="R7aac1a26142d4e4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ee89b907c4101" /><Relationship Type="http://schemas.openxmlformats.org/officeDocument/2006/relationships/notesSlide" Target="/ppt/notesSlides/notesSlide42.xml" Id="Rc1904f90414e4fe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016d0549e4bca" /><Relationship Type="http://schemas.openxmlformats.org/officeDocument/2006/relationships/notesSlide" Target="/ppt/notesSlides/notesSlide43.xml" Id="Re746b18e4853421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5c6155b364203" /><Relationship Type="http://schemas.openxmlformats.org/officeDocument/2006/relationships/notesSlide" Target="/ppt/notesSlides/notesSlide44.xml" Id="R66f5abfdda8c4a1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e8b5a40c643f9" /><Relationship Type="http://schemas.openxmlformats.org/officeDocument/2006/relationships/notesSlide" Target="/ppt/notesSlides/notesSlide45.xml" Id="R14d2db459dca47d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8de76b5c34d04" /><Relationship Type="http://schemas.openxmlformats.org/officeDocument/2006/relationships/notesSlide" Target="/ppt/notesSlides/notesSlide46.xml" Id="R3c157324e3854f8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a69632464527" /><Relationship Type="http://schemas.openxmlformats.org/officeDocument/2006/relationships/notesSlide" Target="/ppt/notesSlides/notesSlide47.xml" Id="R937da42fa9f545d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c5d431c5d4a61" /><Relationship Type="http://schemas.openxmlformats.org/officeDocument/2006/relationships/notesSlide" Target="/ppt/notesSlides/notesSlide48.xml" Id="R3368345d9aba455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4dd3b381c40d3" /><Relationship Type="http://schemas.openxmlformats.org/officeDocument/2006/relationships/notesSlide" Target="/ppt/notesSlides/notesSlide49.xml" Id="Rbeb8640b189e4ff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f9f4d2e9445ed" /><Relationship Type="http://schemas.openxmlformats.org/officeDocument/2006/relationships/notesSlide" Target="/ppt/notesSlides/notesSlide50.xml" Id="Ra7de359ee1a945f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cdc4e42f4009" /><Relationship Type="http://schemas.openxmlformats.org/officeDocument/2006/relationships/notesSlide" Target="/ppt/notesSlides/notesSlide51.xml" Id="R9012275ac27e41e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1073a4e924d46" /><Relationship Type="http://schemas.openxmlformats.org/officeDocument/2006/relationships/notesSlide" Target="/ppt/notesSlides/notesSlide52.xml" Id="Rb67c9096770b437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11972ae4c4a74" /><Relationship Type="http://schemas.openxmlformats.org/officeDocument/2006/relationships/notesSlide" Target="/ppt/notesSlides/notesSlide53.xml" Id="R38571a1041314ca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e4af76b5f4ef0" /><Relationship Type="http://schemas.openxmlformats.org/officeDocument/2006/relationships/notesSlide" Target="/ppt/notesSlides/notesSlide54.xml" Id="R26e549c16ee342a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d86a4959a41ff" /><Relationship Type="http://schemas.openxmlformats.org/officeDocument/2006/relationships/notesSlide" Target="/ppt/notesSlides/notesSlide55.xml" Id="Rdd0836280c1c481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519a432c741c0" /><Relationship Type="http://schemas.openxmlformats.org/officeDocument/2006/relationships/notesSlide" Target="/ppt/notesSlides/notesSlide56.xml" Id="R2dacd3e44af948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1B9E8-FD17-42BD-8139-FCA60BB5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3A6A4-CCE8-4FDB-8951-518E7C8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Hadoop and MapReduce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F72CD-8F6F-407C-AF1A-A74F08EB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2 explains how Big Data is stored, processed, and managed across clusters.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5A93D-EBBD-46EF-A061-A011E5A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F0CBE-B391-4DC5-9D81-E464F039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492E0-E379-4AAA-9733-B8BB0019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5C8BE-48CD-496C-97BB-EB24751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0CA57-8C85-4422-AE5D-1A020D04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59837-0309-48F9-BDF1-096C1CBA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BIS701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A998D-D062-4B11-9C2D-A54324F1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Introduction to Hadoop • HDFS • YARN • MapReduce Programming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5BEE5-3A50-44F5-96D4-E188B1F6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E4C0C-5EB8-492D-9D4D-471A5958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817FC-56B5-438A-9498-B230CE7B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HDFS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YARN</a:t>
            </a:r>
          </a:p>
          <a:p xmlns:a="http://schemas.openxmlformats.org/drawingml/2006/main">
            <a:pPr algn="ctr">
              <a:defRPr sz="2325" b="1">
                <a:solidFill>
                  <a:srgbClr val="F8FBFF"/>
                </a:solidFill>
              </a:defRPr>
            </a:pPr>
            <a:r>
              <a:rPr sz="2325" b="1">
                <a:solidFill>
                  <a:srgbClr val="F8FBFF"/>
                </a:solidFill>
              </a:rPr>
              <a:t>MR</a:t>
            </a:r>
          </a:p>
        </p:txBody>
      </p:sp>
    </p:spTree>
    <p:extLst>
      <p:ext uri="{BB962C8B-B14F-4D97-AF65-F5344CB8AC3E}">
        <p14:creationId xmlns:p14="http://schemas.microsoft.com/office/powerpoint/2010/main" val="459875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CD2C6-625E-4C1E-A7A0-C2083607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A14B8-8C03-4189-9144-C8EBE2CB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2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9240A-6AC3-4C8B-8D56-AE174B3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VTU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CAFF-BA71-4E46-991A-C4058C0C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82C2F-519D-4615-A156-F2A39325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B37A9-DE30-48E0-80C6-BA9077EC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14AFF-64D9-4774-9763-E716D258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43ADC-99FB-4F4A-93E3-8BA79930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E2D0D-6559-417E-BE58-026CD49E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EDB06-1C6E-47E1-B1AA-B1F1E1E4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17084-9443-4515-AAB1-1FF3603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Introduce Hadoop and why it exists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90AE1-750A-48CC-89E0-1B570DA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173F3-8793-4CF1-8565-69B9E6F5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D4C54-AF09-405D-8821-E5130E50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why RDBMS is not enough for Big Data workloads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DD68C-94B0-4981-8DF6-BE7C115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694C4-B6FA-4C10-9C51-D6C568AA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4758C-AB83-4B75-81D9-5BDEAEB0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Compare RDBMS and Hadoop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D459F-71C8-4CC0-9071-B9FAAF9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46F8F-40C3-4004-8A2C-2A651D67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C2375-394B-42BF-81B6-7364FAA6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HDFS, Hadoop processing, and YARN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85DD8-27A2-4FA5-A2A3-8CBFA13E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878C4-D3A6-4958-AE09-0E44B6C6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91EF8-1B0D-438D-824D-DE3DC087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Teach MapReduce: mapper, reducer, combiner, partitioner, searching, sorting, compression</a:t>
            </a:r>
          </a:p>
        </p:txBody>
      </p:sp>
    </p:spTree>
    <p:extLst>
      <p:ext uri="{BB962C8B-B14F-4D97-AF65-F5344CB8AC3E}">
        <p14:creationId xmlns:p14="http://schemas.microsoft.com/office/powerpoint/2010/main" val="1916201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B33E9-53D4-4976-9555-B5FB55AB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9E1E9-398E-4EF5-9C1B-BABD6887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1 left us with a platform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81E7B-C1CE-4FE9-AABE-0A5A4CE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Big Data requires distributed storage and parallel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4DE1-C475-4C10-8955-6197BFC4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F7C9E-0979-4732-99D3-4C8C0430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F2882-DC79-43FD-BC78-6CFE0E24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59F8A-C2FE-4121-80BA-D8EAF889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16EEE-E10E-4BFB-820E-35C98FA7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396BB-B206-467B-9AD6-98DFAEE2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B93D3-7E91-4A4D-A4F4-936C3A2F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Big data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1D908-E997-4460-AB13-E29770D9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D2CF9-B8C5-4BC8-AECE-BDCDA25E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292A4-E8AB-4B8C-BC20-A154B760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Huge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EAAAC-0336-4A69-86D5-79B479D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9D1D9-631D-4BFD-8CBE-1295B9B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DEFB6-2109-4013-B626-DF86C981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Cluster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8EBD6-213A-49A1-927D-1C805EBB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31DA6-68DA-4B33-9286-6B81E543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CCB90-198C-4F35-86EA-91B852DC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30085-752E-4A95-B1E1-70EE8A1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3408A-B568-4C71-A994-7CB0E696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B56F5-C80C-4901-8C3D-2CBB69CC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Useful result</a:t>
            </a:r>
          </a:p>
        </p:txBody>
      </p:sp>
    </p:spTree>
    <p:extLst>
      <p:ext uri="{BB962C8B-B14F-4D97-AF65-F5344CB8AC3E}">
        <p14:creationId xmlns:p14="http://schemas.microsoft.com/office/powerpoint/2010/main" val="695376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272E6F-ACF1-43CE-81CE-01FE49FF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A3BBA-EC7A-43B7-A7B8-C6E8694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one central server becomes a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B026B-BD0E-46C6-B5D3-EAB71304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Start with the pain before naming Hadoop.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00AFD-F351-4B1B-854C-CBD68DC1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AFD3E-77BF-4222-8678-7E9F7FD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E65AC-ED8B-4FD2-931E-5E0B9C9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93143-18A4-42F2-9570-5FA5F61E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286B9-25D8-44D9-A2C8-8E8DE621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C2B25-C487-4BC4-A4E9-F9E0EE5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326E0-297C-424F-AFCC-0FDE12D0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097D1-140D-4422-A98C-CD5BBC6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Central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D631D-96B3-4AFB-B1C9-1C117B5C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4C62D-4587-4759-84DA-F55687E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30EB9-F492-48F6-9BCC-36EC30FB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BCA1F-1BAE-494D-B1D1-571EE6A1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Distributed cluster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C6418-F153-422B-B79B-D97FA2E4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8E993-ED34-46E8-8EE1-22AE750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41936-7AC5-4F9A-9AB7-A0D478E1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8C44F-77BE-4648-B55F-5D6021FA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All data moves to one machine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3D0F8-C4D0-4EE2-A5F0-0A50878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6E60C-E41F-4DD9-AD86-82F3EE0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C2DBC-A5E2-4E3D-8770-B8D7663E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CPU, disk, and network saturate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A21A6-6C3C-4B83-81EB-4A270F5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14B88-7A5B-40C7-9484-D10A1A1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9FEBB-5FFF-487C-91ED-209F607E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Upgrade cost rises sharply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6C50A-27D1-4E1A-98A8-22CCA9ED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5FB4E-1815-43B1-AE2E-6806D15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6FAAD-5F2A-45B5-B113-0436A332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Failure affects everything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30387A-8C76-4479-96EC-6202ED89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D5724-4B55-4F3B-82F1-F9BEF3FE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510E3-09C7-403C-9659-4C7B55C7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Data split across nodes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CC72A-9606-427E-94FB-B3E30DC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357A8-EDE2-4F6E-8110-B0BDE06A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BF13FD-342E-4CBE-B421-3954998E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Tasks run in parallel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7EDC1-4A5C-4F98-BC8C-7A556C05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8025D4-D1BC-470C-8887-B2787A8E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CF7BCA-42C9-4A8F-897A-7BF9CB1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Commodity hardware can be added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3A9515-72AD-4AB4-920D-11C1490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F5AA50-877B-4B57-AD68-C4B419CA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F65385-B5B7-4329-84F4-DA487E9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Failures are expected and handled</a:t>
            </a:r>
          </a:p>
        </p:txBody>
      </p:sp>
    </p:spTree>
    <p:extLst>
      <p:ext uri="{BB962C8B-B14F-4D97-AF65-F5344CB8AC3E}">
        <p14:creationId xmlns:p14="http://schemas.microsoft.com/office/powerpoint/2010/main" val="1261147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45725-C444-4C16-8A4E-6A5A016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1D6F0-5E1A-4155-BE45-24D023D5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Introducing Hadoop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29B9A-9D3F-419B-A471-76279E2A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Hadoop in engineering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2AE26-1956-488F-BBC7-4B2315ED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0275C-5F5F-4ECF-93B0-7876F9AF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8A7BE-90BD-48AC-8880-B7F5B6EE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7E256-D27C-4F02-A27C-45755E0F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2AFCA-73D2-48BC-8E00-4B3BC596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5C64B-8C77-4888-83C0-D3D1AAFD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Hadoop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9DF79-39A2-4716-B46A-E236561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 open-source framework for distributed storage and parallel processing of very large datasets across clusters of commodity machines.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A6EBE-808F-47EA-ACBD-04DAA57D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4D7EB-0866-4C2F-BA45-C78280F9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Open-source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446F3-4E39-4D4C-831D-059C0574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DC042-9A63-4C10-946F-9C068F92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243E6-9EA4-44B4-8429-F79AB6D0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Distributed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FD528-CAC4-43FC-A2FB-0BE0568F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0B6DA-16B9-4724-894B-65D3B3C9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3B59B-A540-4CC6-9E2B-E86D7E0A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HDFS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F1DA4-13C8-4E2D-B0E9-31AF304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54FE8-45A6-4D15-9C70-003CF985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3D3A5-0D4B-4E06-BD21-631A7D05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MapReduce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2CF78-953A-47C8-ADC0-F53500C9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A24B3-1C24-4612-BFB2-85C127BF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4EB58-B980-443B-8AC5-E4B99702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YARN</a:t>
            </a:r>
          </a:p>
        </p:txBody>
      </p:sp>
    </p:spTree>
    <p:extLst>
      <p:ext uri="{BB962C8B-B14F-4D97-AF65-F5344CB8AC3E}">
        <p14:creationId xmlns:p14="http://schemas.microsoft.com/office/powerpoint/2010/main" val="1610957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B4838B-0807-4B6C-B9E2-40644DB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004BA-D4A6-4692-B103-4E269F2B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Hadoop?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EDC7A-4324-449C-A8EA-20875E1B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Hadoop solves the four practical pressures of Big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8C9D7-9BE7-4150-8319-D9CEA54B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1C66F-2D24-40DB-9CEE-ECAEE5BB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A823F-A245-4F63-A1F6-31C81D0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1D385-6559-480A-8542-E857F6C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4836F-847C-4961-9A23-814D2A22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60098-C67D-4BFB-BB46-ACC4AD84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D667C-F5B0-4C85-82CD-23D586BE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70A72-BF5D-42CC-8610-CC97760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Scale-out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214EC-4245-461B-B9B9-BB7AB85F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Add more machines instead of buying one giant server.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6226D-E982-42ED-85B4-C7FA88C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43634-249C-42D2-8434-9F9E45A9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28EE4-C2FA-4167-B186-2871F52A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C4C5D-7EE6-453F-9FCB-153C846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Replicate data and recover from node failures.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D8761-1F5D-4361-83F1-F9EE07C8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C74F5-B889-4D4F-AE2E-40E0EC4D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262D6-E703-4E36-A0D9-D59A02B0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Data locality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0F930-8F7D-4BBD-98D1-8BBC41CF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Move compute closer to the data blocks.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C7FB2-6273-4AEF-9BC7-9F74F17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F0FB6-2174-4C55-92C1-6269DA70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6A41B-3F14-4E8C-98DE-1B0F89B0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Cost efficiency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D27A9-2D28-4DEC-996E-7BE4C4C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 clusters of commodity machines.</a:t>
            </a:r>
          </a:p>
        </p:txBody>
      </p:sp>
    </p:spTree>
    <p:extLst>
      <p:ext uri="{BB962C8B-B14F-4D97-AF65-F5344CB8AC3E}">
        <p14:creationId xmlns:p14="http://schemas.microsoft.com/office/powerpoint/2010/main" val="1961498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6D8B4B-731C-4F61-9792-4DC4E87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AE8CC-92C3-4FC6-B151-BA5E87F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not only RDBMS?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A7227-431B-4770-8065-9A109A4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Relational systems are powerful, but not ideal for every Big Data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0B4B7-0553-4EEF-8302-7237E064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532BE-42F3-4D67-B938-EE6CC6E2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4E063-A61A-4BE7-B017-3D6B0CA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A552F-6401-4ABF-97D4-8EFB2653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7F68D-E205-471E-90D7-EF6553D6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480C6-95F5-4B4B-B7E5-C302A14F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37D0E-3CF9-4B74-8E72-F5F7C211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DB4D1-1FB8-4A1A-9B2E-5CD3F282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RDBMS expects structured data and stable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E9E1B-745D-4AD4-B34B-1088455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89B54-6792-45A7-9C21-6B2100CB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B69C5-EDA0-4FE4-B7C1-2F08126D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Large unstructured or semi-structured files are awkward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FC432-4576-41B2-9623-90106EDA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34E55-8F88-40CA-BAA2-55BC42E5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FB37E-A349-42B4-BA52-54D47DA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Scale-up hardware becomes costly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46778-C17F-4831-8AC6-861DAA5C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7AD56-AF5B-4A03-BF70-1FE75EF0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A1B2C-09C6-4AFB-94E8-36C71E7F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Massive batch processing can overload transactional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579D5-F59E-430B-8CDF-1353DA8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1CBAE-019B-4315-AAB7-EE310F5F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F64CE-5665-47EF-8451-D5AC09B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Distributed fault tolerance is not the default design center</a:t>
            </a:r>
          </a:p>
        </p:txBody>
      </p:sp>
    </p:spTree>
    <p:extLst>
      <p:ext uri="{BB962C8B-B14F-4D97-AF65-F5344CB8AC3E}">
        <p14:creationId xmlns:p14="http://schemas.microsoft.com/office/powerpoint/2010/main" val="16820077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8AE1CF-46A6-4CC1-85A1-6E0827A3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8FEF3-656D-487F-B27C-DC26D838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RDBMS vs Hadoop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D65BB-A619-463A-8089-3B8B3CFB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exam-ready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5B802-5C0C-4870-9E61-D91F96A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EF315-E6BB-4A89-919C-BAB6CB0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F6DBB-8FED-452F-B0AD-F40992A7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23D81-285E-4FE9-8C16-5C95D53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EE696-FC27-4CE1-9947-370B12E6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BA72C-8B2E-4B04-9BBD-7113CA44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6AC59-1758-42D6-942F-107E0D5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6DC28-80C0-40E2-AE6C-6E022F4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RDBMS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7DB94-92A8-43CC-83DC-0D3D23DA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EC930-5224-4A3E-B64C-893FA4B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82CD3-DDBF-4760-9B35-C5F9D831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2B79B-19A5-49D5-B31E-4D33B4F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Hadoop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96775-4F0F-4DD4-A954-EA1D657C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7A54E-673D-4DD9-B0FF-710C8D88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D37CF-B974-4EFE-B632-47D798CA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2B558-3DE1-4B5C-8068-DE60D48F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Structured rows and columns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77280-8B72-4D65-9969-323820AE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B92FB-CFC9-45EC-AD27-27E6C41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9DBE5-D50C-44F6-8494-CDD3B942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before 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9B740-B684-4A7D-8D9C-C5EB3D89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F6F71-C6DC-43E7-BB67-C5875F63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0FB27-21DC-4AC3-87C4-5A6218C3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ACID transactions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14939-2098-4BB2-B9E6-4BA701D6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2BEF7-C07D-4A38-8A8E-FB95F7F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383074-5140-4F92-8004-C565FC8B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Scale-up tendency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BDF70-6EB7-47C7-9ED3-858BF4B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541C7-8D4E-484C-8C7B-DAA5E724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004ED5-6FAF-462D-A390-98F16243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OLTP and reporting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23E89B-C570-427D-81EB-31FC226D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122104-AB80-4F93-9407-FAF754B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0FE4A9-C818-45CA-BAB8-64C8F5EF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Files and mixed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D22E0E-FA0D-45EE-A0E3-AD02C982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5AE05E-BB47-4E74-AD1D-444F0A8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311EF7-642D-4691-BD29-BD730AE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Schema can be applied on read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901043-562D-4F0D-81EC-3BD16737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9A1197-343E-4974-BEB9-DA003EF8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7F420E-0AA4-451C-A7B3-92B6E433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Batch/distributed processing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67EE4E-4A14-4828-BFCF-91C87D07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DC0BA6-23D6-4AEC-B4CE-50EBE7F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8F915-D7BF-4327-85BB-31AD92BD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Scale-out clusters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87C40C-0D9F-4C83-ABD9-7C4D115A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1AAFBE-D20C-4DEF-B637-877D503E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D02BCB-3214-4CB5-9112-02F54DA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Best for large-scale analytics</a:t>
            </a:r>
          </a:p>
        </p:txBody>
      </p:sp>
    </p:spTree>
    <p:extLst>
      <p:ext uri="{BB962C8B-B14F-4D97-AF65-F5344CB8AC3E}">
        <p14:creationId xmlns:p14="http://schemas.microsoft.com/office/powerpoint/2010/main" val="7135885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D2BC1-D6F1-48B4-A852-F30E4261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7B2BE-AB41-428C-AB43-B45A4E38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When to choose Hadoop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D5C34-39B4-456A-B845-348F6298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cases decide the platform.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9DF39-E0C4-4D2D-921F-AE3F1AC9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4C7A6-F6F7-4840-9DA6-105F7064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F2C6C-D0FE-4B28-9634-18DFED7D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F7B0F-7128-4BA9-AED7-2A81A28B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Hadoop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F9FB4-D977-45D0-B6A4-91EAD007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3E763-D2F0-40E1-9DC3-E4C4A7F8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6B5D6-9F1F-4F3D-938D-956417FA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41469-29AB-4072-A78D-AB78096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Good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3F09B-485C-48E4-A9BC-B1E0FE26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Log processing and clickstream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A88C1-9BDA-4F56-93B1-909DED18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17AD4-CB1B-4DC5-AAC8-186278D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BC70D-F086-47E8-9B39-3F588F04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Good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B96D1-EAEE-4B52-B9D1-DCC6AC76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Large file storage and batch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5465A-C29B-4C53-A02B-C6D3DFE2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3A346-5A7C-4D3E-9975-778C4C5A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8F883-88C6-4849-96FD-83353A92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Poor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A1462-F46F-4930-9A0C-C0A4C35B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Small low-latency transactions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C40CF-C4C8-4655-BC8C-D17A2BBE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EF36C-94B1-4A9B-83A0-8E81C387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3EB3A-C5C6-423D-BE3B-3CA03C99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Poor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458F8-1686-46CF-997A-2D224FC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Frequent row-level updates</a:t>
            </a:r>
          </a:p>
        </p:txBody>
      </p:sp>
    </p:spTree>
    <p:extLst>
      <p:ext uri="{BB962C8B-B14F-4D97-AF65-F5344CB8AC3E}">
        <p14:creationId xmlns:p14="http://schemas.microsoft.com/office/powerpoint/2010/main" val="194967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E0AEE-9CDA-4A88-8964-F370D88E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9568B-6F5F-444B-A40F-B7F8BC88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Hadoop grew from web-scale search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964D1-6C1E-41C9-BFCA-91277200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Place Hadoop in historical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85D26-FECF-47A3-A5D9-4F1A6F6F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C12BE-9FF7-4D99-ACE9-E8EFA64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D1CEB-F80F-400B-88D7-45877561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0E084-0D86-4CDF-A1BD-9E6B78B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47463-5D96-4EE3-B671-E8695DD7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A4D89-52D6-4756-90BA-6ED72882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C7832-E4F1-4887-9AD5-D3942FF6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Web crawling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51739-D2AC-4EE1-A6B6-F8316388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31EA4-7547-465D-AA49-AF520B16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911E1-582F-4021-B7FF-47568CB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Distributed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DA0BA-E222-4BFF-818D-72D5D7C3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51FCF-B485-4EA7-8B1D-152F91C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362CD-D3E2-4824-BC1A-327A404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MapReduce paper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288BE-56CA-4B3D-8025-038300FF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23655-3084-4D61-91D3-7C5982E9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53F14-6B31-46CA-BEFA-58FAB6CE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Hadoop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23661-452A-4ACA-A4B4-4952A8F1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6A037-DB15-4688-AA07-152A24E0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6F080-6EED-424C-BC2D-FD1CFB16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Ecosystem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AE09F-7188-48A9-A726-654E0C5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C3C04-6F0A-4BC8-81A2-C8D29BBD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487C1D-80EE-42E7-9FDE-DED82B5D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Modern data platforms</a:t>
            </a:r>
          </a:p>
        </p:txBody>
      </p:sp>
    </p:spTree>
    <p:extLst>
      <p:ext uri="{BB962C8B-B14F-4D97-AF65-F5344CB8AC3E}">
        <p14:creationId xmlns:p14="http://schemas.microsoft.com/office/powerpoint/2010/main" val="295023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740C1-AB7E-46D2-8DC0-EA513E1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DFC33-D60D-4A82-B110-B10F9728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Hadoop history in simple 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7521F-62FE-4AC3-96CE-1252481D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Remember the evolution as ideas plus ecosystem.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FB2F7-6C10-4186-B9B5-A9E0A87F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5B428-BD4E-4B66-82F9-98C8AFC5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02D14-9F23-4F5B-8C8D-50F4220E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126D3-A24C-4A62-8051-766BCE91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99F00-FEA6-4698-887E-E56E7C4A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23D6C-560E-4A9A-A783-C1C0A26A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832F9-C711-4F4B-AC2F-08D7BC4F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76F7C-FC72-4085-BCD2-3B20DBD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Google popularized distributed file and MapReduce ideas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8AA8F-085B-43DF-AE92-E6085FCC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4D2D1-2DEC-4D2E-B3BC-B1752B0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A2674-498B-4884-8BD8-F4FEE12A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Doug Cutting's Nutch project influenced Hadoop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69A74-54D7-4143-ACEC-85C5A99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611AE-D14D-43A2-B378-5AF53EC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41D3D-02A2-477C-B6DF-F70B146A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Apache Hadoop became an open-source ecosystem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CE307-4E5B-48C6-ACEB-B743A7B5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CF047-3747-4D06-814E-9B770EF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AAF3E-363A-4D2D-A90E-63AC4A8B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HDFS, MapReduce, and YARN formed the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55702-B748-4DA5-8B26-F385D76E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A15BC-7F85-46FF-AF1E-1F3E5041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4855F-C840-40A6-BC35-91E034E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Hive, Pig, HBase, Sqoop, Flume, Oozie, and Spark expanded usage</a:t>
            </a:r>
          </a:p>
        </p:txBody>
      </p:sp>
    </p:spTree>
    <p:extLst>
      <p:ext uri="{BB962C8B-B14F-4D97-AF65-F5344CB8AC3E}">
        <p14:creationId xmlns:p14="http://schemas.microsoft.com/office/powerpoint/2010/main" val="1202906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23D97-80C1-4200-AC59-A60D2E5F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1BBFF-7C9D-4F77-B45B-B21D2344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Hadoop overview: three core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FA279-1145-4384-B776-D5482C42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Separate storage, processing, and resource management.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A5DEE-DC99-411D-9538-3EFB58C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B6F31-96A1-4AE7-A3A3-037A5533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0417B-1C86-4F06-8105-45A3093B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8EC5C-7587-4FDD-8C2F-7936E4C6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39DA8-3634-47C8-BD76-AFE6E9D5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2DB1D-CCE1-4A78-A40D-49EDB293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7E9E5-5EB6-42B9-88B5-73C56DAD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C46FE-DF2A-4F37-86E6-4E699D34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4F89C-00B0-420D-AE5D-3B346171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Distributed file storage across cluster nodes.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C15A7-A0B5-4ECE-AEAA-14F88FF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DA4DF-F1DC-4AEF-8241-E77F58AE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2D3B4-0879-418E-B534-B2F10356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MapReduce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267DC-A18F-47AC-9986-F9EA55D9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Parallel batch processing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575AB-3255-4B58-80DE-490F42F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BA469-9BE0-4F33-8358-90F7F717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85DCB-F464-4C5F-B424-34EDFB7F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YARN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D20B5-29B4-4E39-979D-4C42CD9B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Resource management and application scheduling.</a:t>
            </a:r>
          </a:p>
        </p:txBody>
      </p:sp>
    </p:spTree>
    <p:extLst>
      <p:ext uri="{BB962C8B-B14F-4D97-AF65-F5344CB8AC3E}">
        <p14:creationId xmlns:p14="http://schemas.microsoft.com/office/powerpoint/2010/main" val="19896213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1A1B8E-1216-4D77-B79D-EA00B23E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BF5D3-AD14-4571-A8EA-D8511EEE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Hadoop ecosystem is more than Hadoop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E10AA-A32D-45CF-868C-63788219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tool categories around the 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0B1E7-5606-45D5-9098-ED02C8FF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5C5A3-2014-4C8A-9635-63BD16C2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5A953-DDD4-4565-B9F7-6710A14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1C35A-3156-463E-92E5-3E004A3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45E54-3304-4049-8083-CE9676B0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CA3AD-1F9F-4EE1-BE54-EF6D3470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EB223-F9A6-4C0E-8D15-65F240C1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Hadoop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1AFB3-2D35-402B-A88C-EA612D4F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3F2CD-4B37-4CCE-BF48-0D7E0C4A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4ABFD-0D9A-4C30-978C-D34D27EF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31D34-FF7B-44A0-8B4A-33F23D27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85E90-0258-40EA-8264-071F9B65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B96FA-855B-4CC6-AAB1-D0DE4E9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5EA1F-58C6-4797-8175-A48DE72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MapReduce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4C48A-D7B9-4B53-8724-786793E9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Batch jobs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D4575-39F2-4C06-8EB1-A85B120A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4947D-8965-42EE-82D3-CB5EFD58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122E1-DC52-461D-9F1B-2FC71C85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YARN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FB95C-0D7D-401F-8FCC-3EED592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Resources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A63CE5-BD5E-4A2E-997A-245DA3E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0FBCF-DBB6-493B-907D-C40EBAFE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80997-5619-4488-8F12-28B3CC54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Hive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DC6F4-1AD4-4920-B445-B08C058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SQL-like query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2F916D-BDCB-423D-8654-41021FCB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B41C0-098A-41F4-ADCD-DFE0759F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E8923-FA9F-4538-8BFE-76CA05F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Pig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1B931-A649-4E2B-B496-3796223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326704-619A-4252-80FC-1A469A02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330799-11AE-4AD2-85FA-4B79AE2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9B248-F341-4E4A-95B2-54C92FEF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HBase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91E423-91C2-4329-8983-26CE5404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NoSQL store</a:t>
            </a:r>
          </a:p>
        </p:txBody>
      </p:sp>
    </p:spTree>
    <p:extLst>
      <p:ext uri="{BB962C8B-B14F-4D97-AF65-F5344CB8AC3E}">
        <p14:creationId xmlns:p14="http://schemas.microsoft.com/office/powerpoint/2010/main" val="5696033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EA72F-34FF-4274-91A9-613B9852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46BE0-E4C9-4590-8699-EB49FA32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Hadoop design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7FCAC-17FC-42A0-BE8C-91C8B6F1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ideas that make clusters practical.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348F6-1CDC-461A-B92C-2027A30D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5DB0F-7DFA-455D-A5A6-09065B7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69FAF-26A8-4D4D-8C21-49E5C39A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5301E-0698-493A-9860-29AC4B36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A4D22-C5CF-4D96-9094-4866BAC3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8445A-0B74-4F08-925E-8202C61A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63974-F0D1-4FA9-A786-6F22BE9F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F5BB1-1E55-46E5-A528-9C818E84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Split large files into blocks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D6D68-8DF6-4BC4-B898-FB1C6442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1674C-B7C6-4B3A-9343-83417EB9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0B044-DD9F-448D-B968-2ACF915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Replicate blocks for reliability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3B802-C328-400C-95C8-D502AD39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AE0D8-2990-482E-8D2D-05813AC6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A59EA-89C4-4669-8293-35BF95E1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Schedule computation near stored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EA1C8-BAE9-4BBF-AA3A-90EA41DF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606E8-B9CE-4D88-B048-B2747A4F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358FF-B081-4E24-8138-A4E1D0C8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Run tasks in parallel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70CB8-DF85-4C83-9D0D-34FB359C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1FFA5-F1B2-4A2C-8F5B-9DDE85E3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86956-2AB6-450C-81B1-975CF02B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Expect machine failures and recover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5820316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DB8DA-DA0F-4B80-B44A-FFC9022C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55BD8-3561-45B5-877F-96A4964A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Use case: server log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721FF-F3E2-4AFF-9326-0D4E9A79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Apply Hadoop to a concrete workload.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70799-12CC-4EA0-AAAB-0ECC038F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8805A-23C9-4B0B-9BAA-B972C17C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16C67-1FDA-4721-88A2-F4C59942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23F33-1E5E-48FA-90AE-069E91BA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Use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BD4B5-0890-4C41-A39D-CFE54D6B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FA5A2-C59E-45EC-8D91-76291EF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C8D8D-27FF-4744-943E-EC689522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Web 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F62E0-F640-498B-840E-AD58765A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78D89-591C-4E9F-83E2-0B589050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E5D35-7833-448B-A406-3B7B685F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HDFS 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D74F2-9F21-47B2-AEEE-FACD92A1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5014F-DB1C-49CF-8176-612DB4C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B4F40-B223-45A6-952D-3A96C4A0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F87E5-6936-4181-986A-44EE190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71C25-7C09-498A-BDDA-F60FA9F9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06740-FB96-4DDC-9E0C-38D49798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 counts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0BF74-34F0-47C9-AEC4-9B152881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3C6DF-3E38-446E-BFC4-7F66DB98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DB1F0-0436-451C-82D6-B4257693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Traffic insight</a:t>
            </a:r>
          </a:p>
        </p:txBody>
      </p:sp>
    </p:spTree>
    <p:extLst>
      <p:ext uri="{BB962C8B-B14F-4D97-AF65-F5344CB8AC3E}">
        <p14:creationId xmlns:p14="http://schemas.microsoft.com/office/powerpoint/2010/main" val="20484498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5C692-3C09-4563-BC29-F44BB1A0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3E9FF-3C9D-4814-8E7D-20B346F7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Use case: weather 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83BE3-2117-409C-98FB-BFA7B21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to VTU practical style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8D9C7-6F6D-4296-952A-475C9241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C60B3-3047-4BBA-B1FA-971FEFEA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7D443-2E0F-44E8-A413-13690F0F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73D44-1410-4C2B-9774-7D99A604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Use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C12FA-3A2F-4C78-A82E-590076C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A4C32-1E13-411F-B324-932E4C78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66FBC-9151-44D7-BC8C-BB6A395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Weather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F217-17AD-4CD3-ACA6-63AD6ED3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182C8-8A57-4233-8A88-78E0EA0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05165-9479-4768-9F8C-2EE1AB99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Mapper extracts year/temp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FA6E0-3B97-4168-A671-68684AE6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61C56-3EBD-400F-9BD9-E404F6CB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10F5B-BF37-4D18-97EF-917EB108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Shuffle by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874D0-39D5-48C5-9C21-CAFC99ED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CA2D1-C819-4F97-9DBD-94AC0578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B08DC-E959-4992-BA47-6FE44E1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 finds max/min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F30BE-EB52-467B-9993-67C15B26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82D54-6DA4-4560-BE06-BEB130E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66EF9-191D-4962-BFEE-2B31399E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Weather message</a:t>
            </a:r>
          </a:p>
        </p:txBody>
      </p:sp>
    </p:spTree>
    <p:extLst>
      <p:ext uri="{BB962C8B-B14F-4D97-AF65-F5344CB8AC3E}">
        <p14:creationId xmlns:p14="http://schemas.microsoft.com/office/powerpoint/2010/main" val="14094641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5B7A9-8E20-49DC-A537-4A20EEF4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F6C45-ABE4-4EDC-9B60-90C32A2E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Use case: movie recommendation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427BF-D992-4AFB-9C13-8263D734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Big Data analytics in a student-friendly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3B444-B14F-425E-A97B-65C1AAC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57D98-0848-4A0E-8E3A-8A1E3BC2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76BB5-3650-4BE7-B63F-528EAAC1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A0323-7419-402A-AE03-25A4331E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Use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CF768-0E9B-4018-9992-EB28CBFA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6C650-042D-4431-8DA0-C1DE6EC8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238FD-FC09-48BF-B8A7-06FB564C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MovieLens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8B6ED-E9E3-4D60-9DD9-A5D0C6A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A4B85-DFDE-44F4-85F4-395E90EB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97302-313D-412D-8763-3141C1A1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User ratings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F665C-A39D-4C72-AB2C-9F2CC1AA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63595-6A87-4008-B59B-A57DBFD9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7D0A3-07AE-4C5A-AC4B-C12513B4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Mapper emits movie/tag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0F3FA-658B-4B4E-8360-D3F81AF5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81014-7592-45DD-A5EC-DA1FE59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7D216-B233-4BC0-9D2E-ED62FCC2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 aggregates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C853A-0551-462F-BB0E-D3A9477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9E56D-3378-48FA-A646-D0C248A4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00054-0D9A-4B50-AFA5-5CCF531A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Recommendation features</a:t>
            </a:r>
          </a:p>
        </p:txBody>
      </p:sp>
    </p:spTree>
    <p:extLst>
      <p:ext uri="{BB962C8B-B14F-4D97-AF65-F5344CB8AC3E}">
        <p14:creationId xmlns:p14="http://schemas.microsoft.com/office/powerpoint/2010/main" val="13281663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9A81A-2DAC-4CC2-A9A0-55C7FC1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73929-D34B-4F05-A1EC-7DE1F7E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HDFS stores huge files as distributed blocks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9DC99-8727-4FD1-B06A-0CA9F85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Hadoop Distributed File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43CBB-FC52-46B1-B7AF-F75607CE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27A90-E5E9-4F32-9D71-D876516D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0A200-2144-4C8D-A3C9-F84E2E5D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C6F16-87EA-47C5-84DE-B5ECF49A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61B26-380D-467D-8CD8-387700B9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C9F28-CFA7-49BD-8208-8C2428F2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HDFS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DCF60-2EE8-467A-A8FF-F171343A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distributed file system that splits large files into blocks, stores them across DataNodes, and uses replication for fault tolerance.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5A7F5-6211-4E78-8288-91FB2CF6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3624B-DFF4-4B9C-84C1-E08A1F69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D7DBC-CDEB-4657-9F7B-564B40A2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EDE34-89DB-4A26-8A54-A1624591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6D4F3-500C-402F-ABD7-0F4F2240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NameNode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409AC-9407-4984-AEB2-DE0D31B1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0FD15-D38C-455C-8736-08724DE7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15A79-0CA4-4B49-B6CB-ED092944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C8834-478F-4696-AEBB-8FE27199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0BD5E-2DD2-4AE8-AEE2-042C066F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1AF54-6392-484A-9BA8-A5CC57B8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02693-4F4F-4417-95B1-60B0B063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3658B-9DE3-4C57-B250-D788D21D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DF898-01B9-4695-9138-304547D1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13412256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827F90-6CB6-4553-A114-AC203C74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36F81-6860-4C15-8F5D-BA1404F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HDFS architecture: NameNode and DataNodes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EAA09-F316-4C71-80DA-4E2EAC7D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master-worker storage coordination.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F73D3-3C78-438F-B444-31419A33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21516-8D77-47EA-87CC-92FD7998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AA950-14BA-4B04-A822-CD29A36C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27FBB-5813-481F-A0C3-A072F06A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BDBF8-DC0B-4C70-81D8-D649E115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A2306-C007-42B1-B34B-712204B1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725F2-D134-4CA1-BC6E-7F65ED87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HDFS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A2B81-CB08-44CC-AA67-8285A7A9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73504-E7AF-4B2E-84D6-B5401AEC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801B2-2F46-4260-A49F-0F0E015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NameNode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22F5E-4024-41AF-B329-9C9AC575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07409-8090-4654-9455-E7353546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8EFE3-63F4-4950-AC9C-FEE9761C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CC177-F0EB-4F95-B247-7FA305C0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DataNode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3E596-FD25-4808-825D-BC12C026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Blocks A,C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8FDCE-893A-43C9-9874-814B579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6C043-8013-45D4-ADB5-3BD790A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20841-6E46-4A99-A21B-CBAB2F71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DataNode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7AE8B-C85A-4FC0-B308-646FAF7F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Blocks B,D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04168-E738-4F75-9C26-DBBE1FC2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CC883-F0CD-40D9-B49D-748AB28D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96D31-9465-40EE-9CD1-500376EE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DataNode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DFD5E-4523-4A31-8D2D-D25722D1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Replicas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F6D39-CBF4-42FF-92DA-3280F76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B552F-E460-409D-A94F-2EA8B34A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CEDC1-1F07-451C-A531-8648DB7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Client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6D3A4-A515-44F6-A26B-0C8876B1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Read/write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865B2-2FDD-4CE5-B472-D6F23DD8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067DB-F664-4BBA-B281-E424F570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6A849-1C91-426C-B36F-5539909F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Checkpoint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EC6A6-59B9-4E36-B3EA-6E24E6F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Metadata backup</a:t>
            </a:r>
          </a:p>
        </p:txBody>
      </p:sp>
    </p:spTree>
    <p:extLst>
      <p:ext uri="{BB962C8B-B14F-4D97-AF65-F5344CB8AC3E}">
        <p14:creationId xmlns:p14="http://schemas.microsoft.com/office/powerpoint/2010/main" val="17891798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D82B6-0803-4603-8C41-A5607B5F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AE13E-6CA5-48BF-B44D-045117A6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How HDFS writes a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2F7F-F96D-47BE-8F54-3D03E256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write path step by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65F06-BF7D-4B11-86D4-250320F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227AF-05B5-4630-8FB8-687F4B66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EF4F2-D589-422D-BB47-3CFC102A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274C3-C03A-4EE9-B3EE-DF8D9BA9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EA94D-C2BB-4FAD-9494-EAC98A8B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C527-A99E-4B4D-A2BC-DFB5098F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2DE3C-87B4-4852-BC89-F8EA9C3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Client asks NameNode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760FB-F0BA-4B90-BD6D-D82C129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D41F4-B214-40DF-A3E9-253B386F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D40C8-EC73-4542-85A3-CB367305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File split into 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A3E59-AE38-4165-96E5-36A442D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13E23-A881-49F7-B991-A3C5BF29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2DD6B-02AC-464C-A8ED-A90936F5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Blocks sent to DataNodes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082A7-07B3-4BFB-871D-E244209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4F61E-7640-4BC4-912E-6584C2BA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BBB19-BBB2-45C1-9E64-87044A3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Replicas created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953CF-EACC-4709-B5D3-CFFBB14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58508-8B84-4588-9B53-B48987AD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C8E8D-776F-4523-B866-2B8816D8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Metadata updated</a:t>
            </a:r>
          </a:p>
        </p:txBody>
      </p:sp>
    </p:spTree>
    <p:extLst>
      <p:ext uri="{BB962C8B-B14F-4D97-AF65-F5344CB8AC3E}">
        <p14:creationId xmlns:p14="http://schemas.microsoft.com/office/powerpoint/2010/main" val="5196081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6CEED-FF7B-442A-BC76-8B99AE56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27B83-E922-4B95-8616-134EB3E3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How HDFS reads a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BD25C-BAD4-48A3-A688-C78BFD3E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read path step by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E0EF9-7DC5-468F-916D-5FD437A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11A28-D909-4C1F-A06A-4D2C2728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EC432-A086-421D-9ECB-9EEE566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D5E4E-369A-4911-A032-9083C14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D2609-32EE-41B7-8F6C-9169E70D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11529-8B2F-4EB3-8274-999E9F1B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A1F63-3901-4CE7-83B5-0F12A897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Client requests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3D2B1-9EB5-409A-A0EA-DC3CE00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6873D-CB9E-4E04-8BFC-CBB4E17C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C399D-246D-4257-B45F-0FCB4E41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NameNode returns block locations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3E07D-29CA-4443-A96E-FE515C0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B7A54-1522-4B6C-8C74-AFE8680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E90DB-516B-4D2D-9511-95F3233E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Client contacts DataNodes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070E6-53E0-4F22-93D8-D93D6A88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14768-895A-40B0-9475-8F792DCB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698D5-4151-4237-B318-D7FCD28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Blocks stream 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AFB9E-354F-4618-A540-0C92426D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C4B9A-274F-407E-AF8D-66E34DE1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46C9A-9F58-4B8E-9A4E-353FC62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File reconstructed</a:t>
            </a:r>
          </a:p>
        </p:txBody>
      </p:sp>
    </p:spTree>
    <p:extLst>
      <p:ext uri="{BB962C8B-B14F-4D97-AF65-F5344CB8AC3E}">
        <p14:creationId xmlns:p14="http://schemas.microsoft.com/office/powerpoint/2010/main" val="8782137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7CB74-BE5B-4C0B-9A12-877D46EE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16037-4E13-4336-998B-130419EF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Block size and replication make large files manageable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EFE58-0F4D-4252-A018-47AC7087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two key HDFS concepts.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678A2-9634-411A-8A5D-FECB0B20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C84CB-A03D-4A7A-A104-3CB4770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58A28-F982-4DA8-B879-CA2CC385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CDDEA-AE62-460B-8ADC-9131A1F1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3301F-B581-4E77-9938-E9593CBD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C0CFE-F4E2-4201-8DA3-715F612E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534B9-B23B-4B46-85F5-2EB79880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348B5-3C73-4918-AB2F-A0411F9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Block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6FD2A-0965-428B-9DF6-D61D5F4E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Large files are divided into fixed-size chunks so work can be distributed.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1B1E0-4151-4FB5-BF9B-5E05BE76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FC63A-A3A0-48BD-82E3-B2804CA8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2C162-1345-4EF8-B13B-789B407C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Replication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DAB0B-302F-4388-A0C4-E6F1913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Multiple copies of blocks protect against node and disk failures.</a:t>
            </a:r>
          </a:p>
        </p:txBody>
      </p:sp>
    </p:spTree>
    <p:extLst>
      <p:ext uri="{BB962C8B-B14F-4D97-AF65-F5344CB8AC3E}">
        <p14:creationId xmlns:p14="http://schemas.microsoft.com/office/powerpoint/2010/main" val="12179511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DF2EDA-0CD9-4295-991C-03DB775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74CBC-7AAA-4800-833A-6B88D40D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NameNode is metadata brain, not data warehouse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3E21F-7DC3-48FA-9745-B51416A7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a common misconception.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70E33-CFCA-48CF-9975-949FAE7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0101C-19E4-453E-83CB-EA1EEE01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0D330-4FC2-4E65-99EC-F74498E9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389EA-1142-42AE-96FB-CC6E39EC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C3FE7-AFD4-4C16-9FDA-BDCCFB0B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4B7B0-E447-4B50-BB55-3D7A8DA1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3DD1C-9947-4076-B4B9-B7593F39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4B2E7-9468-4C30-A348-13C9C785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NameNode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7A486-5BDD-45DF-A27E-538A796B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32AB9-F172-4C00-87B7-44E0753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5131F-9197-44B3-B6F2-1FF1AE8F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C82C3-4963-4B9C-8C4B-38E4F6D7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DataNode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92A89-BF7A-4512-8640-5A0A31DB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0CB6C-2F3A-4534-B84E-D85820CB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FB0D9-6455-45C5-B81F-20A3C11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3D54A-39AF-4FF4-834A-0A270EFC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Stores file namespace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31CD0-16A7-4AF1-9077-14976456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EA4E2-7E29-441F-8735-1721B5C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0E7C4-5C99-4836-BCD9-6FC82BBD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Tracks block locations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05524-66ED-46B8-B9D4-EEB42020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A520D-AD61-4E57-9AFA-0B4B30FC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8DE6D-0F79-4A53-A679-699B410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Controls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EE6A4-3C33-4C20-9278-961413B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840BF-6F8D-4239-BA61-4ED2CED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41C82-33ED-4246-9058-A5ED56A7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Coordinates read/write metadata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575F2-66D6-4C3B-8C13-4D91B901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D2C31-E691-4043-A304-3F974DE6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0D0B7-8B01-4BC8-9F50-108F2EC7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Stores actual blocks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4106F7-B201-4ADA-B8E6-0554755E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D4763-6CDB-4E9D-92FC-7BF3B16C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888D61-4DCF-4A05-AC18-E47B5E76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Serves read/write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20131F-3098-4705-ADAE-A3F00D65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05387-F40E-4E27-9FC0-B5A8DCA7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A0A4C4-85CE-41BA-B3F2-EACAD181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Sends heartbeats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6C69F6-33B4-4990-A71B-F2E645F6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2EB6B8-2356-4C0A-8D3B-C9034E2F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2ABAD4-1401-4A41-B69B-381E22C1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Reports block status</a:t>
            </a:r>
          </a:p>
        </p:txBody>
      </p:sp>
    </p:spTree>
    <p:extLst>
      <p:ext uri="{BB962C8B-B14F-4D97-AF65-F5344CB8AC3E}">
        <p14:creationId xmlns:p14="http://schemas.microsoft.com/office/powerpoint/2010/main" val="10971380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1CB0AE-DB88-4D8D-ABD4-9C9FD5DE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3F4EC-64B7-43E1-91FC-CEE60DB5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HDFS advantages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9FD49-1F88-4981-B692-95ED7A4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Balance benefits with constraints.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34C27-C855-41BD-AEC4-2C6287B3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68267-9B94-4063-9EAA-078E8A2B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B4AE6-1539-4656-B0F3-04F63AA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E2135-81CB-49C0-9E84-2E92EA5F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HDFS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ED3C0-9A98-43BF-8FD0-E18A0FA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ED9E8-07E5-4DC3-85D9-AB0A0D3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BC9CF-931B-4059-ACD4-312D0989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52138-6D90-49CD-9A1E-A5500851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F317C-1044-45E1-A25F-545F2F4C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68B59-9A53-4587-A259-D5A4DDA2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76017-94D4-4C4C-8D8B-C37711E1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959F4-8B7D-4DAB-B210-05EB74E9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27CC1-8069-46D2-A068-A4712BD7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DA455-9B0F-411F-8672-3DEAE85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1D422-43A0-45E2-839E-EB84433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9D697-C66E-48D1-97F3-715DE9B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High throughput for large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82F3D-86E0-4BFB-9700-76E7191A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DFF92-6802-4A35-A7F5-6ADEEFE7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153C5-0625-4F04-9A6C-27825770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Fault tolerant through replication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340D2-4F8D-4A94-B9C5-C11CAFA0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38228-1332-41EA-97FA-7E0C8FA1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B8D941-CBF1-42D2-AFD3-0126B469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Works on commodity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CAF8C-ABF8-4D9D-A0AB-90A6BBCE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91A7C-0AFA-4ED7-A235-4D183F81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F35C1-B537-45B3-B3DA-C79391B7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Supports data locality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A116E-E9C0-46CD-99C4-89E7B854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071DB-63F1-4BD7-B61B-A5C8744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441BF-41A8-4624-8A98-3D55D25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Not ideal for many tiny files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27D688-8761-43D1-985A-2BCF9EE8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A152C-271D-47F4-A719-E9580B5B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528F03-F311-4D95-A349-D55FFF5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Not designed for frequent random updates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EB9412-01D1-4D15-AC10-C0BB6C4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369127-1A7F-4AE7-9D2F-A50912B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B4F3F-CF57-404C-81D2-3ACF5E49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High latency for small operations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0310A6-9B8E-402F-886D-AB132B7A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A4DF9-7CC4-477C-8A74-734259DA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0A6B95-EDC9-4524-82B1-6529AB9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Metadata depends on NameNode health</a:t>
            </a:r>
          </a:p>
        </p:txBody>
      </p:sp>
    </p:spTree>
    <p:extLst>
      <p:ext uri="{BB962C8B-B14F-4D97-AF65-F5344CB8AC3E}">
        <p14:creationId xmlns:p14="http://schemas.microsoft.com/office/powerpoint/2010/main" val="16721200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3D7D8-C295-4BD0-9F22-8153C6B3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77A62-D5F7-4CB6-9F9A-686155DE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Processing data with Hadoop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BCF8B-BD34-45D4-8C22-E7B8F0B2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movement from file storage to computation.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FD9A9-5C63-45D0-A187-0B9D3A96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83475-8129-408D-99B9-80AE350E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6A71F-03B9-4EB5-A59B-40C72647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369CE-2052-4680-95EF-BB23D553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Processing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25F05-A389-44CE-82AB-391E27ED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AFB0D-FAF2-41CC-B2D5-485A2E52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BACD2-E083-4014-B6E2-82F60A2A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Input in HDFS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FD7AE-BDAD-4069-B6E2-63B3DAD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5806F-451A-453D-B85F-EC1FF057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FB44F-C28B-4C6E-B09F-6D53D2F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Job submitted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E5EBC-1F9F-401B-9456-38E5FF4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A1799-917E-426F-91D8-7322DC5C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DF724-5A9F-4D48-BA54-A233FEEA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Tasks scheduled near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358E4-1532-4E8A-97B6-ECA84A35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096EE-C46B-4680-8C94-40DCB066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96A1B-1DD1-4E81-A321-0FAC0380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68C18-A6FD-4E7B-80E2-672172E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F679A-8FC9-407F-96F1-CB2F7BD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2940A-6EEE-43FC-9E17-EB931393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Output written to HDFS</a:t>
            </a:r>
          </a:p>
        </p:txBody>
      </p:sp>
    </p:spTree>
    <p:extLst>
      <p:ext uri="{BB962C8B-B14F-4D97-AF65-F5344CB8AC3E}">
        <p14:creationId xmlns:p14="http://schemas.microsoft.com/office/powerpoint/2010/main" val="11526253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74EDD-DF92-43BA-AF0B-1AE40348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B7D00-EE80-4532-9931-090F491C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Data locality reduces network pressure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99B32-451B-4675-89C9-90F3CCD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Hadoop moves compute to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C481D-E3C9-431D-B7CF-D864ED5F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6949D-2002-43FE-B83F-4AB085A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2B798-A8FE-4B45-B66A-CFB4BA5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BF6F8-75DE-46BE-B008-1FDA5837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Processing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FE8BB-75AC-4383-A989-F0C258DA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D7D55-3E48-43BB-B96C-6047DF3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41196-7E94-4875-B1E3-CB815BA4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5197A-DB42-4338-AF6B-356DB05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Without locality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16BA2-DF0D-4E18-A7DC-F6DF211F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Huge data travels across network to compute.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C9966-28AC-49FD-BA14-52253961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3A842-B6B1-42EE-95F4-A4EB5C2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20A1B-B94C-4491-8BEE-B2D03596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With locality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9E233-0CB3-4C49-92C0-CEA9EBC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Small program runs near stored data blocks.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35C99-F3A4-4E4C-8B64-85185F7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D0DAF-9639-4EF9-8815-3D877009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4E69A-99EF-44AF-8612-A79000F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E5F1D-A489-46ED-8050-8E0250F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Less network traffic and better throughput.</a:t>
            </a:r>
          </a:p>
        </p:txBody>
      </p:sp>
    </p:spTree>
    <p:extLst>
      <p:ext uri="{BB962C8B-B14F-4D97-AF65-F5344CB8AC3E}">
        <p14:creationId xmlns:p14="http://schemas.microsoft.com/office/powerpoint/2010/main" val="9577598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0C56C-F12D-4342-A66C-545F9093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5CD7-83CA-4543-8168-3EB4FA77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YARN manages resources and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1F0B-CA14-4EB2-A380-34458429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Yet Another Resource Negotiator.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3733D-CDDA-47B9-8B3E-3A270173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9C1B3-180B-4717-8A3A-5736FD69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8D3A4-4926-4AD8-AD46-EF38F639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CC243-1D11-45D5-8918-B662D50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YARN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EC418-0CF2-4AE8-8F05-976D401D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2F830-DD4B-40B9-BB79-095234E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YARN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4B24E-1091-47A0-9350-A0584C1D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Hadoop's cluster resource management layer that allocates CPU/memory containers and coordinates application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7DAF7-6738-4CD4-A60D-CC473401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3A38B-4A96-44D8-88C6-1E0DE500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ResourceManager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0793F-4F42-4B6B-B974-1255B5E4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95ECB-02BB-44E3-8828-151587A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2F53F-DB26-4DE3-ACC1-8C66F070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NodeManager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05894-79BA-4BB7-87F2-019DA499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8280C-455D-4E67-85D6-F41A84E5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893DD-BAA5-4F91-87E4-2B623E58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ApplicationMaster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4ED1E-FA4E-4185-A1BF-B4ADFE5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4AD38-81DA-490D-843A-B6FBADA6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53101-F293-42FC-BDA9-277F8E14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Container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79540-98E7-426E-B0E5-8CEB1F93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F6F05-2D4A-471F-BF39-EFAA0D15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7174F-D329-4A48-938E-1CECD6B3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Scheduler</a:t>
            </a:r>
          </a:p>
        </p:txBody>
      </p:sp>
    </p:spTree>
    <p:extLst>
      <p:ext uri="{BB962C8B-B14F-4D97-AF65-F5344CB8AC3E}">
        <p14:creationId xmlns:p14="http://schemas.microsoft.com/office/powerpoint/2010/main" val="5968800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E16E27-E788-4C02-AE3F-4947EA49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0B955-4951-4FA2-91A8-9C760CDA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YARN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A831C-13C5-4649-8A73-6A5343A4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the major components and their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19723-7F14-4ACB-B527-E6AC79A2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43C30-2845-4789-8084-2B3E9023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11255-CEA7-4B65-83AE-FCD00971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46349-7BFC-4A4D-A326-79AD14F4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YARN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31408-3D5B-4FD5-8CA8-A3E581CE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C232D-3D93-4768-BBF6-710A1B8B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29BA6-0D25-4E7F-B06A-5C76A645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YARN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B9B76-5929-408D-961F-53857D01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B79F5-F15B-44A9-A065-F148DE9B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44129-3CE4-4929-8C1C-6F97F80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4EE3B-EE9F-4430-9673-044132C1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Submits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2F812-F44A-45E1-88EF-282AC020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F588F-27B0-460B-B671-3C70596E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75693-8E4B-485A-8E05-64CD9695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ResourceManager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13173-3E68-4141-B6F3-8E3F8833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Cluster authority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B2B7B-34A0-436E-838A-E789D0A0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86DDE-86A1-48ED-B51E-948C471B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E0637-1DEC-4588-81F9-E7D1E28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Scheduler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28909-B6C4-4C7C-928C-DA175AF1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Allocates containers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71FB8-B70F-4B18-BEBA-3A2A72DA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94C1B1-1EA0-4B7D-ADB7-A24FD380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F7F8F-9E3B-4A7D-ACB1-29DCF129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ApplicationMaster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2410B-AC01-4890-9126-33D130EF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Per-job coordinator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D55BC-A4F5-4EB9-8186-D84E841C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6EAB1-499A-4704-A7D2-EDF13CD2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DCFA2-BE05-4E48-BDBB-B78E1BF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NodeManager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C13616-A627-403A-A930-E6C17738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Node monitor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60612-A34A-4F78-89E2-4ED87B9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E05E80-C8C7-4C32-B63A-D353368E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88C524-63CA-4FE9-8BB1-2F40C83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Container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226CF4-0AFB-4862-928A-5F918103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CPU + memory</a:t>
            </a:r>
          </a:p>
        </p:txBody>
      </p:sp>
    </p:spTree>
    <p:extLst>
      <p:ext uri="{BB962C8B-B14F-4D97-AF65-F5344CB8AC3E}">
        <p14:creationId xmlns:p14="http://schemas.microsoft.com/office/powerpoint/2010/main" val="2043494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C27F8-F8B8-4ABC-87E9-CC2AAAB5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886BC-4508-4B8F-B123-63C65B11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YARN application life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75F0B-8BE6-4CC1-8FC3-04F8990D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job execution as a sequence.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6B24E-7D8D-4644-8848-7249220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1D78A-6A4B-41A9-A9C5-BCDFC44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358D2-2743-4BED-8A34-203B046A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3C4A4-EAF1-404B-8C86-D26CBCCA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YARN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3C8BA-41ED-4AA6-A4C6-9DCE07F0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275A6-566A-4E22-9478-A89CDAC0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85EEA-AC28-4920-9CBC-8FDDD70D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Client submits 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24525-37EE-4F75-A5E1-6528EB21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79796-EBDF-4387-9837-AF8BE02A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D2893-42F4-42E9-BB94-D38F7E5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ResourceManager starts 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BA9CF-8C65-4CE3-A6BF-31751C6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4F88B-E59F-4619-A8E9-E38D53A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EF72D-3E39-417B-9310-74B50650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AM requests containers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E6C12-2B08-42D2-9DC7-73BD94E6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3E3D3-603E-40A9-95CF-9A98ACF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C1F5F-6E74-4333-AB0D-9DE4EA75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NodeManagers run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1AE74-5DE6-4269-BE85-2401E188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07B04-29C1-4394-AEDC-5C03AA1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A85FC-A907-4F06-9650-A5496F13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Status and output returned</a:t>
            </a:r>
          </a:p>
        </p:txBody>
      </p:sp>
    </p:spTree>
    <p:extLst>
      <p:ext uri="{BB962C8B-B14F-4D97-AF65-F5344CB8AC3E}">
        <p14:creationId xmlns:p14="http://schemas.microsoft.com/office/powerpoint/2010/main" val="7941701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7A7796-EAE0-4B0B-882E-8B3A85E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4F6D4-9F1F-47AF-A030-15DF7A52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YARN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7838D-4642-42C6-BAB8-86B646B8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resource management to multi-tenant clusters.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1F42E-E58C-4F36-B783-B36FCB93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16B86-554F-4B32-9D39-FFD7A9C0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7AE5-C289-4A4C-91AB-9E7C8527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9CD0A-C534-4128-85D6-B4093DC5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YARN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A4194-D314-4E49-9568-F6CF654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D11D1-4D26-4D02-96FA-A1A0EA8F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A39EB-1141-48BC-9B01-9C11792D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E750C-DD77-4DFE-9903-C5B918D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Allows different applications to share one cluster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8468-9DAE-4938-8635-F5B77BA9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08395-ABDC-426F-8318-CFD08469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83FEC-F7A8-41CA-8918-57388118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Schedules CPU and memory as containers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72394-4C28-432B-AC28-E73A35A5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6AA2C-291D-412B-A9F3-CE9F1C5F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58396-5C70-4DF6-9D90-71DBA9D4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Improves cluster utilization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1EAC2-2E24-48A5-A329-6CBD171F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696C7-627A-4C25-9C94-3C619C9F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648CD-3583-4DE9-BF0D-6793DF66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Separates processing models from resource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62F4F-9ACF-4F31-B184-B9729D2B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18CA9-9AD2-4F64-804C-4BCC53D3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AA41B-B65C-4699-AE2C-8E420B6D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Supports MapReduce and other engines</a:t>
            </a:r>
          </a:p>
        </p:txBody>
      </p:sp>
    </p:spTree>
    <p:extLst>
      <p:ext uri="{BB962C8B-B14F-4D97-AF65-F5344CB8AC3E}">
        <p14:creationId xmlns:p14="http://schemas.microsoft.com/office/powerpoint/2010/main" val="16652570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BF83C-AFD5-460E-AEF4-901C6129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3300A-F80E-4013-9A44-00E73FB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MapReduce is divide and combine programming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BB947-A178-4A1E-813C-A7FBDE5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programming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E906D-AAB6-4E27-B94C-F5F28173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2AA78-D0EA-4CA9-B617-F89386D5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262CA-13B9-4DCB-A509-6062E222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5781F-7584-45D7-B602-E1A5EC10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881E8-CF07-4E70-8A1E-BAE48724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2242B-ACD0-4190-8A94-EB9D4BBC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MapReduce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087FB-4BD7-45D0-99EE-227F871F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parallel programming model that maps input records into key-value pairs, groups intermediate keys, and reduces grouped values into final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9ABAF-1F69-4EF4-BA44-AA0D7A28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5DDBB-145F-433C-B006-3B4DB7BF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88DFE-A71F-4440-8A86-EDE07783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374EB-5044-4766-89B5-29340F27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4C6E1-FCEF-4AA5-B1CC-F4EB55C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EC532-1B63-4BD4-8568-F6392755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15C55-4481-447D-A9F7-D31CA5C5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23E3C-3B82-4D54-8000-EDDE8EC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Shuffle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3194F-A10C-4536-B083-A51AC8B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6ABAD-F876-4DFB-A5A9-8F2ADCEA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05963-FAA0-485C-90C5-63750FF6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FC522-415E-4500-B78C-6CDEF5D8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D2DBC-E264-4E1C-8668-DDA6F242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E0ACAF-D315-471D-A8B7-1E88649B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935285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FAC96-E3B8-4235-8743-46EF70FF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81B44-C818-49FF-BE7F-87172D72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MapReduce flow in one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E551B-7DBA-44DC-8FD6-CF1AF5A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Visualize the complete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8F7E4-565D-4D01-925F-F4AC72C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101DF-ACFB-4FD0-842F-5AC45B67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8A62C-079A-4542-B92D-86391492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9253C-D5FF-4CF3-91BF-753FD0F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F2649-0C8F-4118-8406-F10E85B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1EA45-2896-4DEE-B5D6-098E2955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FD13F-7CFB-46B5-8F12-3C5EEF37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Input 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78B75-7D46-4887-A96A-E5070065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261B5-78BF-41EF-A8E9-410329B2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E8318-4A45-4779-87F2-E351DD86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67B01-0CD8-4D84-B63C-2AC9FD9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7AEE6-F3AC-4A42-A1B8-33342CF9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D4B19-4F8B-4573-878B-DFC3EC8B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Shuffle / sort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FC33C-E3AB-4BF6-8473-48F8380E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57925-F997-4CA0-A5BA-D6A81594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93543-BCDE-4BA9-B1A6-70A19DE0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58B8A-3B89-4C18-8AF9-7C7B0A20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4FD9F-3735-4ECF-B957-B3E07BA1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453D5-B811-4559-BB2D-190627BB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Final output</a:t>
            </a:r>
          </a:p>
        </p:txBody>
      </p:sp>
    </p:spTree>
    <p:extLst>
      <p:ext uri="{BB962C8B-B14F-4D97-AF65-F5344CB8AC3E}">
        <p14:creationId xmlns:p14="http://schemas.microsoft.com/office/powerpoint/2010/main" val="1686369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1448F8-D7F5-42B3-B2D7-AE7D5927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F9B7D-A11C-4532-94F5-2C768D1E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Mapper transforms records into key-value pairs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82BEE-B399-4C90-822F-6B61699C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mapper responsibility.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F6868-73B7-465A-BF7D-7EA744AA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7419E-DD9A-481E-AA62-1200E78B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E3D30-6FD7-464D-87F8-096F19C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51AC5-5D18-4CEA-A5A8-AD198B26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90F28-C724-4D1A-BD19-26687ACB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9B09A-7CA6-427F-AA56-9453C52E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C10DE-7C2A-4D75-B4AF-4548F5D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719DE-2D3B-4223-BAAF-1DE79F21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EF288-CA24-4E58-AFED-37AA03C8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One record or line at a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D868B-6D58-4B82-A08E-2FBFCCF6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356F5-FD02-43A1-BE65-9801248B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88876-0200-43CD-9111-E695B6A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Map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7BC3F-FD32-4C9C-B8CA-3896B73B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Extracts useful key and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4AF48-CBF8-4B50-B6AF-3E30C6F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DEB91-1163-4DA1-AAF0-2C87F637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89AEF-8F2E-49A8-ACC0-B43D6B25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CBEFA-0801-4D1C-859E-55F9950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Intermediate key-value pairs.</a:t>
            </a:r>
          </a:p>
        </p:txBody>
      </p:sp>
    </p:spTree>
    <p:extLst>
      <p:ext uri="{BB962C8B-B14F-4D97-AF65-F5344CB8AC3E}">
        <p14:creationId xmlns:p14="http://schemas.microsoft.com/office/powerpoint/2010/main" val="4218055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3125C-5E95-470C-AF78-531BA0CE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704D3-51F8-4616-AA9B-C32F7596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Mapper example: word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A6EB7-9DC3-4D08-BA0C-96F2EE1B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Make the abstract idea concrete.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935EF-B947-4869-8F62-9B48313F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0E740-755B-498B-BC14-2FE34877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440D1-7ABA-4313-B0BD-8F9D6ED6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BE9CD-84C0-4453-BC54-2D22150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24D04-19E1-4B0C-A1CB-AC7B3B16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F2BF7-074A-4F08-891E-849C8EF6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CA2AA-0EEF-46D8-AFF9-0D33961E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Line: big data big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87A68-94AB-4EDF-9B91-AD141400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1DD61-11BC-447B-93E6-FD413129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60669-D37B-441E-A89D-09F351AE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(big,1)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FF5F3-5C6C-426D-BC5E-2E3B368D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A86AF-021F-4714-BB7B-F8F2DBCD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792EF-73AE-4359-91A0-532C1BEF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(data,1)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8C127-3389-43AD-8ED7-9DB6B4A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38E00-77A4-45FE-B618-F200B238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8117B-BB67-42D5-843D-FEE603F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(big,1)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7E7B5-AAC2-4DD4-A773-5749B8A6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6B017-498B-4894-B51B-90D4ABF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70E87-743A-4541-8CA5-A3B7489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Grouped later</a:t>
            </a:r>
          </a:p>
        </p:txBody>
      </p:sp>
    </p:spTree>
    <p:extLst>
      <p:ext uri="{BB962C8B-B14F-4D97-AF65-F5344CB8AC3E}">
        <p14:creationId xmlns:p14="http://schemas.microsoft.com/office/powerpoint/2010/main" val="3426949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6D340-4BD9-4DB7-B987-EFB4CC52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1C607-8092-416A-96A4-8F4B5C18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Reducer aggregates values for each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C6A3A-4490-4152-96AF-A8109C13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reducer responsibility.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4A99E-FE2D-46FA-986D-64C0D3D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8DD0D-C546-439E-A10A-83EB10B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5C845-C47E-440D-98CF-9EECE952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E6B9E-3D1D-4554-9E87-D38FAFED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3C096-0465-4AA2-8E58-E2D5A1B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765F5-756A-4106-8C64-B4EF5426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50407-11B5-4261-BDE6-70D67206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AF3A1-5443-442A-BBEE-674D1195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Grouped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C8B14-FDBB-4502-8872-810CEAAD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All values for the same key arrive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6EBE7-4013-4D44-9EDC-CF9C129E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AFE61-5D79-4237-B79C-5EE7ECC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36E4C-9C2F-4187-92EF-AAD63E04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Reduce 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8B287-BBC7-466E-A96C-D68B20F5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Aggregates, filters, or summarizes values.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2E202-71D9-42DB-B8A0-B3A382CB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DC9BF-114E-4CC6-B5ED-B1FEB10A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9BDBC-CE90-4635-B315-72502DC3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E6C89-9335-4489-8EDD-454A6083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Final key-value result.</a:t>
            </a:r>
          </a:p>
        </p:txBody>
      </p:sp>
    </p:spTree>
    <p:extLst>
      <p:ext uri="{BB962C8B-B14F-4D97-AF65-F5344CB8AC3E}">
        <p14:creationId xmlns:p14="http://schemas.microsoft.com/office/powerpoint/2010/main" val="5927693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48A97-FFD3-42F7-A3E2-39CB326F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19EDF-59EE-4F07-9607-C98CA497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Reducer example: word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49DB-4EEA-4C2F-A98D-EFAC595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final aggregation.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A963E-875B-4BDA-A42A-A1B5069F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18E7E-C03C-4865-A82A-C4D26B7D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B6AB1-743B-4345-995A-1074EA5F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04169-B7FB-4D63-8DA4-5E5894D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313B5-4B3F-491D-82D4-D3E44E3E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DB285-D377-4BBA-BAF8-23509BC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E0EF-9DEF-4233-A211-ACB83D18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(big,[1,1])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CEA35-3549-4C42-8D97-7ABA6B16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7382A-4AB5-4305-B845-0EFCD3C3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163E8-CB06-4B88-B72D-C1973089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sum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32A78-D882-4A59-B36B-DA75999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C4F92-CED6-4D3F-8C1F-CBDF874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961C0-BEF4-4AF0-BD6E-13AA901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(big,2)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AF53B-298B-4931-AC7E-910BC5A3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78856-2821-4D01-9C4F-3279F3CA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3E876-82F7-41E9-B24F-58B79F3A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(data,[1])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CB0CE-11ED-4776-9780-E98E779D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D2AAD-9029-44D0-AA28-9EC51484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18D78-314B-4BC4-B061-46117C30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(data,1)</a:t>
            </a:r>
          </a:p>
        </p:txBody>
      </p:sp>
    </p:spTree>
    <p:extLst>
      <p:ext uri="{BB962C8B-B14F-4D97-AF65-F5344CB8AC3E}">
        <p14:creationId xmlns:p14="http://schemas.microsoft.com/office/powerpoint/2010/main" val="15357027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CC7D7-5B69-4454-9833-B479424D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446DA-AB7E-415E-8AE9-545D379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Shuffle and sort connect mapper to reducer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2E1CC-22DB-4F95-BE0B-D62A7CC5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the hidden but essential middle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C5A3F-021B-4CAC-B613-FE8EADF6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16A13-C7DE-408C-A4D8-F81146A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105FD-2357-47CD-9158-14604AAA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3F2B3-DB90-4AFA-87F2-0CA3C410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85CF6-8056-4556-A079-2CAB3801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06934-D58A-4457-B27C-90F9CCFD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2C1DA-016D-4DE4-AD04-A37630FA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Mapper outputs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D4CCF-A65D-4DD5-AC3F-9AC31F2D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8D8FD-65FE-4683-A767-2067EFFE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5D670-5C44-4572-85E0-19C02DEC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 by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6F45C-2610-4A58-892C-FED7B6A1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6E883-5F47-46D4-92B4-A159A3BC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D52FD-9087-407C-AB0D-415C6FD6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Transfer across 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A94AB-CCDC-4594-B281-AF3BFA3B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A8E9F-E665-4D60-9CD1-463FB2C8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02A42-E66C-4709-A94D-83DD5C83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Sort/group keys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CA7E9-8F7B-4B2B-831B-CB258E81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B20CA-75CD-4358-A854-15099114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58102-37D7-4F83-818E-C1F4F2A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 receives groups</a:t>
            </a:r>
          </a:p>
        </p:txBody>
      </p:sp>
    </p:spTree>
    <p:extLst>
      <p:ext uri="{BB962C8B-B14F-4D97-AF65-F5344CB8AC3E}">
        <p14:creationId xmlns:p14="http://schemas.microsoft.com/office/powerpoint/2010/main" val="7620074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68438-4BAF-4780-9124-3E877792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6DF79-2B35-445D-84DA-9EA409DE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Combiner performs local mini-reduce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722AE-1C60-4CCF-B3AF-ADFD8F6D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optimization before reducer.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FA286-C751-4FA1-8AA4-D383698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019ED-B630-44CA-816B-03AE22A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F9976-AB3F-4C42-90E3-30CCCB60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F2655-310A-4022-BD76-FE7ED622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F3385-5C5E-491D-BE49-7B98FBAF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2DACD-2D92-406D-A977-38DCC15E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Combiner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6F148-B45D-4FCF-9365-0B793890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An optional local aggregation step that reduces mapper output size before shuffle, lowering network traffic.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1A944-6464-4139-91E7-4B29089A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5A007-1CAE-46DB-96BE-F663D442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3209E-C0BB-4BDA-9135-928D525D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F42B5-6666-4228-B7F4-798FF4D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1C3A4-9A0B-4A34-BA5E-B3822A1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73477-C1C2-40B9-A67A-5CC7C29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5341F-B343-482A-9774-C8C544A1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9C662-7924-4CE2-BCB2-EC360A5C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Aggregation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C8E4A-362A-4CB8-BDA0-E48C975B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5066E-52D7-4409-8621-D256ADF1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E11D9-0CF1-40CB-A88C-815E6633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Less shuffle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B6A81-B279-4793-A25F-52970343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B4925-91A6-414A-BD71-0D2917F9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E8DFB-AA88-49C7-82E1-762F8F9E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Faster jobs</a:t>
            </a:r>
          </a:p>
        </p:txBody>
      </p:sp>
    </p:spTree>
    <p:extLst>
      <p:ext uri="{BB962C8B-B14F-4D97-AF65-F5344CB8AC3E}">
        <p14:creationId xmlns:p14="http://schemas.microsoft.com/office/powerpoint/2010/main" val="10466584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C52253-73F2-46CF-ACCA-88907408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01134-C339-455F-87C8-2012ED2E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When combiner is 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C9BDF-8213-4265-90C6-3A8CDE2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correct use and common mistakes.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8335F-F191-4D32-A7D8-419ADCCC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0B465-7B34-48D7-945B-9816363F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ACDAF-1D27-4E5E-9223-FB5BEC41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F29A0-D01C-4AB5-B44A-3A9FA826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27028-54A1-464C-80FD-9DE57470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55D2B-62AE-451D-963E-38C6185A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60F9E-3634-441C-8C87-4E7B3ACC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556EA-9949-4C07-8805-73097C19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Good for combiner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9871C-217F-491D-BC1D-8BC61EB7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C7A8C-019D-4D52-B7E3-A23BB3E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62DA6-8564-4BD7-B2ED-B6C3969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70F00-2937-459C-8ADD-E252EDD9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Be careful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BA6D5-DEB9-4BFA-ADB8-51E7FBD8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ACAFF-2FA3-4463-BBC8-E555059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05CC3-4949-4C6E-BCB9-7F6041F9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4181C-8562-40AF-9C9B-D2628883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DC206-D8D2-4B67-BA19-FA972CB0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3DC1E-F5CC-424B-B647-399007FC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8F8D7-31F0-46BE-9BD2-8BA1BACB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F2F0A-4C69-453A-BDDF-1748396D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C0F5A-865E-4CCE-8816-C6E5854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54F09-EB4F-4056-AB90-F0A7C211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Min/max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DFBC6-F7FC-4E12-AF45-CDB46CAF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CB267-FC70-4CF8-AFC1-6EEDC70B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95BE9-08D3-4A59-A025-20E35E0C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Associative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9CF3A-772E-4786-996D-CDCBC8CE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97F5CC-5DB8-4ECB-A566-6F3C021C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A15996-9F09-465C-B111-C73EAC8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Average without count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2A530D-AEF1-4343-9D56-FCA37DD3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0029A8-40F8-4814-B806-18638255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F5911E-BBA8-4DA3-9DFD-6E77CD90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Order-dependent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D8A457-3E76-4489-A41B-D7911FB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3FA99C-1DA5-475E-9780-3A14E51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B5786C-45BD-45A1-B4F0-770587A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Non-associative operations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354BD2-5E21-4291-94C4-3102014B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7880BE-0BBD-4B21-90AC-177F3A6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2B3242-70E7-4C16-BA26-F44AF9A3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Changing final meaning</a:t>
            </a:r>
          </a:p>
        </p:txBody>
      </p:sp>
    </p:spTree>
    <p:extLst>
      <p:ext uri="{BB962C8B-B14F-4D97-AF65-F5344CB8AC3E}">
        <p14:creationId xmlns:p14="http://schemas.microsoft.com/office/powerpoint/2010/main" val="14103212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D3DF60-5B2C-4D80-BBC3-43B1DA76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AC46B-41FA-45D2-B42A-A89F0A2A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Partitioner decides which reducer receives each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9C5A5-9F40-47A8-921F-596A9F12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partitioning.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7E89B-DC33-4B9D-8BEE-7B719B8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AEDB9-C0F1-47A9-93F9-0BFA1237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549F4-522F-4D0A-875B-63EEB2A7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20D88-BB6E-414E-95C2-3D99AE4D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EE643-6AC7-43B1-A614-6F0E2857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E22EC-DD59-45C8-A863-6599A52A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Partitioner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58DB8-F799-4260-8EA1-D53CDBCE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component that assigns intermediate keys to reducers, usually using a hash of the key, so all same-key values reach the same reducer.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C1B8F-2B6D-4818-BF07-C6EA781C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E8FAC-D335-4CBA-8243-6B5BAB6B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72328-7303-4FAF-AE31-BE3996D4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1FAE0-C473-4489-B27F-125FF366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99436-4B9C-4108-83B1-8D8CE6E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42B0A-ECA6-46F3-AED2-9C339CD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B2B64-D215-4094-9B42-C021E5C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FCBB5-6EAB-4B8A-9F7D-EA1915F4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3BD50-3380-45AF-9D7E-44ECD8C9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D55F68-8460-41C8-AB03-02715608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2570A-B073-4965-8781-86B3B0B1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Load balance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B7A3A-595F-422F-A3D1-A8C61881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6F363-6DDF-4B62-9F3B-DF561C6D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A534F-3804-4813-9E49-08EE991A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Same key together</a:t>
            </a:r>
          </a:p>
        </p:txBody>
      </p:sp>
    </p:spTree>
    <p:extLst>
      <p:ext uri="{BB962C8B-B14F-4D97-AF65-F5344CB8AC3E}">
        <p14:creationId xmlns:p14="http://schemas.microsoft.com/office/powerpoint/2010/main" val="16972051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3D817C-E84F-403B-8396-35C1F677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AD7A-0468-40F9-B6A1-CFF86F57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Partitioning can create balance or bottlenecks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2686-5674-431B-9A13-D9FFCDF8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why partitioning quality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57CF-7F8E-4767-AABB-A919793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1249F-B308-4EE0-8E72-0184D6E4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6F1C0-A4BA-425D-86F2-A3F7270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CFC45-1AE5-4091-8A7B-B54D968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F37D7-7175-4F07-9AA7-DA282976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5760C-496E-4DDF-B5EF-D1526716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55B89-FB1B-4AEE-9D59-EB4B5DFF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03311-7910-4ECD-B190-572E3057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Balanced partitions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9808D-78D7-456E-BAD0-541AD9CE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88C57-DC77-4084-A522-20C4E44F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5A08B-D248-49B0-9BAB-7C9F5803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F8A61-1AEE-417C-B8C6-57DB839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Skewed partitions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7B004-72E7-4D2C-A892-2F8806BD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BFB22-485D-4EC1-9C9C-75961344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71DE7-5129-4541-9317-13DD435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0DAA4-39BA-4A5B-B1AA-5CAE5686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Keys spread evenly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FE4D5-C696-4687-9148-C1A58444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DAEF2-FC83-4C12-BC8E-19D7EC11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85E3D-1A9A-4448-BDAD-A594BA7E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Reducers finish together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C50E7-5303-46D1-B605-D4014CF5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46F67-07AF-4B6D-99C0-57958C02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A3B50-4F0A-435C-9083-F91BDB84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cluster utilization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C9D21-0E28-441D-B434-CC9700B3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29086-2A83-49F2-88A4-DAB99A07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9615B-BABA-4D36-A3A5-7495FBC8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One reducer gets hot key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0D12E-BCD7-47AE-9B32-36A529B8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331628-6927-43C7-9DB7-0B9AB643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0D456B-5876-4D23-96EE-B87F4640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Slow final job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55FF3-01BD-4B3E-B6EA-D5171167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4BA13-2ABF-4D0B-800D-27367BD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DF0749-90C3-41AB-AD8A-DCD6E7DC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Wasted parallelism</a:t>
            </a:r>
          </a:p>
        </p:txBody>
      </p:sp>
    </p:spTree>
    <p:extLst>
      <p:ext uri="{BB962C8B-B14F-4D97-AF65-F5344CB8AC3E}">
        <p14:creationId xmlns:p14="http://schemas.microsoft.com/office/powerpoint/2010/main" val="43000257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1E04E7-0701-4429-9E49-B2F85F76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B7542-C631-4C84-97F5-8E01711B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Searching with MapReduce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EA824-5D15-4E08-B1FA-5BAB955F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Apply MapReduce to find matching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482CB-E491-4593-AB96-1D88FB4C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91088-0EF1-4994-9A1B-A96A878D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A3F91-0D09-467A-81AA-1FF7595D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D8AD2-6C14-42AC-AE56-D9EA0CC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Searching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18285-6D35-4362-9910-147D8943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5DEBA-8B9C-468D-BBC3-9406ED4C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397AD-A1AF-4847-B424-BF97656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Input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39ABF-8974-4B3B-BE0B-134847DF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C7879-58E1-4ADD-992E-32530130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59FB4-4AE0-43B3-9372-D9E5B9FF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Mapper checks condition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C2A21-7AC7-44C9-A7D0-3AF29E2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AC158-39DE-401B-9DCC-F041ACF1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1C602-6D06-46F2-855D-D2B60C88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Emit matching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307BF-0CD1-41CE-9461-F4F0009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E8E1A-879C-4EEE-B6A0-BE87C058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F3566-9DDA-44FA-85F5-88614482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 optional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1EC1A-E527-4CCC-8ECA-F3D1231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7339C-880B-4806-835B-7F89580D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63D3E-3BD0-42CF-9BE8-0C4D227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Search results</a:t>
            </a:r>
          </a:p>
        </p:txBody>
      </p:sp>
    </p:spTree>
    <p:extLst>
      <p:ext uri="{BB962C8B-B14F-4D97-AF65-F5344CB8AC3E}">
        <p14:creationId xmlns:p14="http://schemas.microsoft.com/office/powerpoint/2010/main" val="67821451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3DD0A-5A80-4E72-99FF-DA4AD68A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42DE1-7B4B-4B1C-913A-A4C66AF5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Search example: filter weather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8EE8D-4615-4295-8404-47C125B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practical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ADAC3-8B5A-40B2-AAFC-7591D0D0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0701E-1D59-4CDA-9B71-87F06330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61EC5-BE61-4E91-8AE0-3846CB99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738AD-79DE-4730-BEE6-95755447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Searching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529-FD9B-4C80-BF1C-B33A0B8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703AD-4DEC-49A6-932E-23AD3E23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D4C9B-3EB5-4D2E-A282-EDB327F5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F9734-9740-44A5-97C3-6864F25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55C2B-875B-40C5-AF4F-5B88E1C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temperature &gt; 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A0737-AF69-4560-911D-F4BC121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5013E-E87F-4408-9D98-0A4F1E59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57C3E-5C22-4275-8F27-E6EEA8C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Mapper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1AFF8-E971-4BFA-96CA-1EF9E97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Emit date and station for matching 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8B497-C044-43EC-BB64-E164A88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DDF1F-2A4D-4362-AEEF-FD64123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89966-0DCF-46E0-8FBC-D749C54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Reducer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1A5E1-77C7-4089-87F4-3DC2F305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Group or summarize matches if needed</a:t>
            </a:r>
          </a:p>
        </p:txBody>
      </p:sp>
    </p:spTree>
    <p:extLst>
      <p:ext uri="{BB962C8B-B14F-4D97-AF65-F5344CB8AC3E}">
        <p14:creationId xmlns:p14="http://schemas.microsoft.com/office/powerpoint/2010/main" val="49037064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61A2A-8032-429F-B9ED-F320C35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FE029-4048-4CD3-89A2-74A037E5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Sorting with MapReduce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E3C27-A16F-4479-925D-96FBD3B2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ordering in distributed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60B4E-2AB5-41EB-B62C-E99ABF3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740E5-8DBD-4F8A-963D-31DC899F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0B64A-9405-4A5C-9A48-697815C1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A7F99-A7EE-46C3-A711-370F56BF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1F7D8-50ED-4CD0-A46F-203B2A10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C6431-BBE8-4FB9-A4A9-F0BA087A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A35E1-7790-4F76-B3D7-D905C089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 keys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9D691-D89E-4888-8B3F-C94A1701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7280E-639A-417B-BEA2-FEDE73C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32176-96ED-46B7-A3AA-D41964F4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 keys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5E7B0-C06C-49C9-A51D-F2245710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5B606-7DA1-4A57-8B5A-F80B132F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7B4CE-E1EE-4AB1-9142-6341C845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Shuffle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D213C-B7BC-433B-9544-857F003B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D89C6-C262-4A25-81F3-12393294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A47CB-B724-40D1-A9B3-58281EB9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Sort within partitions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EFC7E-07D1-427C-99EB-4151837E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FEB102-6B6F-4C85-BB30-735945FD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6F72E-B1C2-4B83-B9D7-D09E3139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 ordered groups</a:t>
            </a:r>
          </a:p>
        </p:txBody>
      </p:sp>
    </p:spTree>
    <p:extLst>
      <p:ext uri="{BB962C8B-B14F-4D97-AF65-F5344CB8AC3E}">
        <p14:creationId xmlns:p14="http://schemas.microsoft.com/office/powerpoint/2010/main" val="1737534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E88E3A-2C68-4AB2-9FB4-22672EC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72959-3551-4E22-915B-7195E0CF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Secondary sorting solves ordering within grouped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7B045-3EC6-4791-96C1-3B20E8E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idea at high level.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AB6F5-A25F-4D1C-8228-94FDFEE6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217B4-013E-42D7-8571-8CFCBE19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0DB4A-A5FA-446A-921E-1314219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2002D-FD3C-40BD-A2CF-52110746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C693C-6310-43E2-A0CB-D256B74D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51B2F-E5E8-49DF-8DE0-0A194231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51E23-B747-4C6A-8516-1DCD3C2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75C1A-D180-49F8-A775-85A24DE9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Primary key controls grouping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C87C9-8684-4478-ABED-02DCA033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B2CDA-3A67-46C3-ADD1-45F95331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F7960-F8EA-470C-BBD8-F40349AA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Secondary key controls value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CBF0F-8166-4F25-8CCF-4A39A66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A0EAC-BD74-43CD-8DC7-F02970B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32F04-AE31-403D-87CC-2B1CE981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Useful for time-series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DC2C3-EC8A-4DCA-A4F4-EB30F43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956F1-BE99-4B05-BDB6-DB1DA30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ABBB8-F6C6-48CF-9CB9-39A15C3C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Requires careful composite key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2240B-3377-413F-B47B-D91847FA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D4148-6FD1-4D2A-8932-477B457B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B6576-0BBE-4649-B4F1-B832316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Often appears in advanced MapReduce tasks</a:t>
            </a:r>
          </a:p>
        </p:txBody>
      </p:sp>
    </p:spTree>
    <p:extLst>
      <p:ext uri="{BB962C8B-B14F-4D97-AF65-F5344CB8AC3E}">
        <p14:creationId xmlns:p14="http://schemas.microsoft.com/office/powerpoint/2010/main" val="210371477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50062-4E96-4E7E-B7CF-86F3E90E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55FFA-49D6-4740-A632-EB2D28B6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Compression reduces storage and network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B7060-C962-4A99-8572-156B93A2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compression matters in Hadoop.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4CCC1-F35C-4890-A7BC-4950D7E3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6F17D-6EDA-4C3E-B632-D7EE1DDC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77819-B6F0-43EC-8679-A4778222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58754-7ACA-4065-901C-275FF348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B2CF6-7232-41D1-81C8-74C22A32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F1366-C96C-4FC2-8094-5F5FC27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9F1C"/>
                </a:solidFill>
              </a:defRPr>
            </a:pPr>
            <a:r>
              <a:rPr sz="3900" b="1">
                <a:solidFill>
                  <a:srgbClr val="FF9F1C"/>
                </a:solidFill>
              </a:rPr>
              <a:t>Compression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68FA1-5834-4BF6-B63E-E7D783A9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Encoding data using fewer bytes so Hadoop jobs read, write, store, and shuffle less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18FB0-7CFC-4E6A-AEF0-7EA7BD48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EE0AD-F396-4BF1-8DC0-8C5C2CE9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ADA7D-041E-4752-A0DB-67E09B7C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539F6-E58E-46F3-82F0-26730FF1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367C9-3587-46DA-973C-41B91AF2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I/O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881DD-BBFF-42FA-B885-371CF8C0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73E11-6804-479B-AE6B-84E38110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697F9-E9CF-4736-9E5D-A01515BD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7DD48-ED5B-48B7-B118-2A0F0336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74DF6-63BA-4E3E-9ADC-735DB196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21243-CA0D-4531-9E42-852DC3C9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Codec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06CC4-1418-4E36-9C07-8A472499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8B4F0-F11B-4087-BC71-8E5F060C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4BE1F-4406-4DE7-8E6A-7DE3A614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Trade-off</a:t>
            </a:r>
          </a:p>
        </p:txBody>
      </p:sp>
    </p:spTree>
    <p:extLst>
      <p:ext uri="{BB962C8B-B14F-4D97-AF65-F5344CB8AC3E}">
        <p14:creationId xmlns:p14="http://schemas.microsoft.com/office/powerpoint/2010/main" val="156132027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582F6B-F644-4C1A-9C96-C4D31194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71A07-8299-41AA-803F-7DC121AC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Compression choices affect splitting and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642F2-86BF-44F2-800B-8B4A5AEE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exam-friendly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F8202-DD56-4307-BE93-AE0EDFD6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914E4-EAF7-45C4-9D25-8EEFB2AB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1A97C-0733-4C26-9B00-117055CA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07F55-0742-4281-88A8-019C4CF8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Compression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D385C-A725-4CB8-BC7E-9E5449B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14062-9441-49B9-8E18-97388709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88D62-569C-4598-8F99-3E4EA70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F9D3B-04A8-472C-B639-956180F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Benefits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CE7EB-7874-4CE6-B2D3-FAF626B8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CFD49-4FFB-4CFB-8131-7937C13D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4C0D4-EBE7-4F9D-B3DF-5565138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67798-1970-44FA-8F25-E7D4BB5E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Trade-offs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54205-E8A3-4B99-A768-C6F2E21A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621BC-7EFB-47FC-BF96-F3827D46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4615A-09D1-4601-BAD4-A658AA7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48A9B-FB7E-4F2A-BCEE-F66DBA2D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Less disk 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68F3C-E850-4AE4-81EA-31B50FBB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BBD00-6CF9-45C7-B84B-357965B9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5333B9-0C09-47E7-AEFE-08115A87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Less network transfer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8AB96-00A0-4782-96A1-FBBAB38C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4A49B-2E54-4233-A6B2-04E3DBC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EE9C9-B175-4284-AFA1-55F7C7A1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Faster I/O-heavy jobs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C3038-EEC6-40CB-BA71-318E2FC4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0E574-D3A7-4D8A-B146-115E3577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41AB8-2C5F-4231-BD64-9964542F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Lower storage cost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01F314-3626-4C70-B033-87F0923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8B003-DE58-4BCB-BAD5-318EAA1F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7BAD2-BB6C-470A-8DEB-2EDA393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CPU overhead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63AA02-40B1-4470-BA4B-53C4CF0B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C4BF1F-927C-4D6B-94FE-9E879E91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CE2EBA-B770-4353-B938-7EBDAAA1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Some formats not splittable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AC538-E35E-43E2-8784-EC4D0CB9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EDEBF-C5D3-4596-8EA8-53B316D0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23353F-15AF-405D-9F4C-AEBBF1A4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Codec choice matters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046190-4020-4777-AEB0-5C52285D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6F1F38-A7ED-42BF-B4D2-F169F60E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946DB8-A16C-41AB-AFC3-5CB7BF93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Debugging can be harder</a:t>
            </a:r>
          </a:p>
        </p:txBody>
      </p:sp>
    </p:spTree>
    <p:extLst>
      <p:ext uri="{BB962C8B-B14F-4D97-AF65-F5344CB8AC3E}">
        <p14:creationId xmlns:p14="http://schemas.microsoft.com/office/powerpoint/2010/main" val="69156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D0CCD-3548-44C6-8553-E3D5E40C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26748-A64D-4C9D-968D-87530219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Putting it all together: job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8AD7B-E537-476A-87C8-3CE624B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the full MapReduce execution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F728B-3567-4F0E-9B77-58CF372B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72448-CCFC-48B1-8832-909B433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B8D9A-EF06-457D-84AB-B559EF5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A8571-D5E4-4E2B-B48D-6A526104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60963-0B16-4988-AD9A-94E2429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FF4FC-3E0D-4846-86C7-35A73B9F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FFAA6-59EA-4626-A648-3EE7DCDF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InputFormat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07EE7-FE00-48E1-8FD0-CBC7B2C1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A75EA-41B0-4320-B1B1-5D15514D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71F46-5335-4F86-B300-82596182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Mapper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68B4C-6983-44FD-8EF9-DB3DBAB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CD44F-2FE0-47BD-84A9-388FFA55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AFB00-1178-4F07-BA5F-51F1D709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Combiner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6A2AF-B53A-4309-96D5-8836F556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1DAA3-5DAF-412A-900D-0DA19FD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8F518-CD61-420D-9FB2-613EED98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E4B8A-B00F-4F47-8018-D4BE66E0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A4A02-6DA9-4458-839B-312C4834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03AEB-D50E-49E3-9DA5-DED345D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Shuffle/sort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3C17E-C132-4357-BEE7-1FCBB4FD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C40EB-B102-4CE4-B199-39C9CE8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05125"/>
            <a:ext cx="1476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57815-3D7F-4F95-886B-5B8D63B0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76575"/>
            <a:ext cx="12477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Reducer</a:t>
            </a:r>
          </a:p>
        </p:txBody>
      </p:sp>
    </p:spTree>
    <p:extLst>
      <p:ext uri="{BB962C8B-B14F-4D97-AF65-F5344CB8AC3E}">
        <p14:creationId xmlns:p14="http://schemas.microsoft.com/office/powerpoint/2010/main" val="127759235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05E2C-7A29-4455-BB2C-4AC247DC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745CE-EDE6-4CDD-9EB0-5B5A0849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Common MapReduce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8AEDC-0AC8-439C-94FE-F66B6FE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Correct misconceptions before exam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CD037-6C44-46A7-B366-B0C38F8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19F35-5791-482C-932C-521BAD92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1F13A-00B0-4A1D-B022-42941C68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9EB39-DE51-4728-9CC0-49D0687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MapReduce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2865F-A0A3-4D1D-B0A4-5A26701B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10FF5-03E9-4098-B864-1CCDF714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5F950-2A90-4636-ABE5-B385523E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E2047-2F68-41F2-BC52-16BE15C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Mapper does not usually see the whole dataset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A8469-3DE5-4CAA-8369-8C3E279D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E7F1D-3311-4B59-8697-3B9A39DF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7888D-79AB-4664-ABDB-A43D4C26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Reducer receives grouped values for a 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30CF0-94F7-4BC4-9182-F04C352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A9D14-71B0-472B-8A5D-1BA0D1DA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6573F-410F-4F9E-ACD2-255F3BF3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Combiner is optional and must be logically safe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1FAC5-D8D1-4CF3-9133-BFC5F60D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BBDEE-8931-46EA-A9A7-7BA08E7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94F7B-8206-4830-A559-1C6358AB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Partitioner affects which reducer receives a 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B7D6A-1C31-48D5-B75A-3881539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539E7-A6EB-4D34-8BBC-640537E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B1B32-0297-433F-B73A-2B0DA99F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Shuffle/sort can dominate job time</a:t>
            </a:r>
          </a:p>
        </p:txBody>
      </p:sp>
    </p:spTree>
    <p:extLst>
      <p:ext uri="{BB962C8B-B14F-4D97-AF65-F5344CB8AC3E}">
        <p14:creationId xmlns:p14="http://schemas.microsoft.com/office/powerpoint/2010/main" val="62499860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224129-5DF8-4803-8CB3-A3B2B04E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68B35-FD19-40DA-B182-BFD19EBF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2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44DD7-CF7E-4B06-966C-EEC1C9B6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C262F-2962-4A09-BC92-86FD4AD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FD49-5050-4F62-9228-1214CA4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4BD69-16CB-427E-9A13-0E0A140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A3D88-7A97-454E-8C20-C97D931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Module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D2231-C5D4-44E5-9B0E-1BC2B55A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0A395-8CB8-4D7A-AA39-906887B8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1A145-E96C-454D-8FBD-5E4D8725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08847-C999-4734-836A-17ACABE1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F681C-D89D-4151-8D67-1492EAA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E3C74-A7C4-44E1-91A6-1C977502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Hadoop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3927D-633A-4289-8353-B30909AE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Why Hadoop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B7237-7007-48EF-9D98-69234EF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197AB-07BB-4396-A973-13F2620A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96A0D-96E1-4D1D-9559-510DAA8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RDBMS vs Hadoop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47200E-D744-4B9C-AC80-25A5E317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2C5D74-AD7C-401E-B558-CE62CB40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DC9A0-8808-4165-874B-216A51F3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2839F-2F53-405E-A9B5-29E8E139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HDFS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69AE6-9A70-4293-85C5-BA061532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C8EB10-1711-483D-8121-3C0AE6E0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1C455-9C80-4C6D-8AA8-96A24AB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99F0A-9EF5-4FF5-AB7A-63F2D9E6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YARN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C971B-8810-44F4-967E-487B0AB4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Resources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4D4E1-60C0-421A-A844-563E4B33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99EDE-E5EF-45F4-9744-1FA90666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640F54-73B7-412B-953B-9C5FD66D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MapReduce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AFB65-77C4-4232-A31A-DBBC7C0D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Programming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9305D0-448C-44F6-9146-E6EF731B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60880-FBD1-4E5F-8F84-2AD09756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E4E074-E038-4CE4-B3FD-1D1CA579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Optimizations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C0518C-A9A1-4FCA-A167-68D5DEC0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Combiner/partitioner/compression</a:t>
            </a:r>
          </a:p>
        </p:txBody>
      </p:sp>
    </p:spTree>
    <p:extLst>
      <p:ext uri="{BB962C8B-B14F-4D97-AF65-F5344CB8AC3E}">
        <p14:creationId xmlns:p14="http://schemas.microsoft.com/office/powerpoint/2010/main" val="4179972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1827F-C738-40A3-B0CC-E0FBCE4C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19F1E-F0A5-453F-BE32-AE9FA27B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BE4AA-03D0-4143-A27F-FC72EEF4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CE847-3ADE-426B-A206-0175489F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229B1-45C0-4A89-8810-1B828EA3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3952C-4D81-4F4F-930B-0D2EC280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1D80F-02BF-473D-9A5B-DA77EE72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Module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71B80-8A85-4AA2-A411-D2CBEE3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03279-2B21-4BF6-AE25-E1959D92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DEBC4-BF90-4FE8-9F09-7AC4DC91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52666-BAF5-48A1-8C14-15E756C0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diagrams for HDFS, YARN, and MapReduce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8E7A5-D075-43D3-9747-96BAD1D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FE613-F925-4B2C-B130-1F311ED1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0C9B9-CC8A-4BCD-9EB2-926C117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comparisons, write table format with at least five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908B7-37E6-4F29-84CD-52005A6F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6CB1C-17C8-48F4-BBF8-17DAFB77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E9F45-4711-41FE-82D7-915F8C3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MapReduce answers, always mention key-value 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DE033-1F3D-4882-B067-D69D1A1F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76EAF-8CB8-4B0C-823A-D2D481D5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CB018D-D9BF-40F7-BEDA-A592C47F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HDFS answers, mention block, replication, NameNode, DataNode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837B5-8D0E-47AD-83FA-6B4A388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27A40-855D-4861-89B5-9337020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B27A2-57B5-48CF-BD70-F274D71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YARN answers, mention ResourceManager, NodeManager, ApplicationMaster, container</a:t>
            </a:r>
          </a:p>
        </p:txBody>
      </p:sp>
    </p:spTree>
    <p:extLst>
      <p:ext uri="{BB962C8B-B14F-4D97-AF65-F5344CB8AC3E}">
        <p14:creationId xmlns:p14="http://schemas.microsoft.com/office/powerpoint/2010/main" val="19398206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7C04C-918A-4CD1-ACAB-879478B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08848-D93D-4A7F-ADD7-E3E9040F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F4C0F-BFB4-4C12-93D5-A5F0FC25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253CF-473B-4C73-9FFB-7FA71F08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57A9F-140E-4117-990B-38DEE50F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785A9-3931-404E-9198-759A17FA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72B1D-5C9D-4890-9BDD-91BEF09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Module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641FE-DD17-4B9E-B5CC-0679B7F6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8ADB6-DE34-4B49-92DA-0B115F26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Hadoop?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C5971-5534-4CEE-9B08-244E04B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Why Hadoop?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0F250-4060-419F-B053-00BDDAB1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Why not only RDBMS?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3292-B981-403B-B689-698059D2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RDBMS vs Hadoop?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AA455-3732-4C54-BE8D-0FD22195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What is HDFS?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B1E62-63F0-458C-9FD5-251B1C5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What is a block?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5C8C1-CC2D-4ADA-B823-5B9AEDE6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replication?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ABC11-A694-4009-86DF-0E051B26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NameNode role?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FC439-3643-4832-9646-3CCBBD46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DataNode role?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22B7B-7392-4A38-AED2-CA13C450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What is data locality?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E249F-9277-435B-91D3-515E0C8F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What is YARN?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C276D-7F16-4AAE-9EEA-C266FC12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ResourceManager role?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2399F-C9B6-42D6-A04F-27D576B5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NodeManager role?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9C41C-63DD-4EA6-8A5A-E25B54D2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What is ApplicationMaster?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F5363-8EB1-45E3-AAA1-B0BCA449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What is MapReduce?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5D90A-60CB-4DBA-BE65-B82EE9CA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Mapper role?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36B9B-60DF-441C-8BF9-25F9062B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Reducer role?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72759-95A5-4717-98E4-24F4E253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Combiner role?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F00D3-863F-4D52-ADAA-D0BAAF0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Partitioner role?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85D35-7969-4123-8D78-439872E9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Why compression?</a:t>
            </a:r>
          </a:p>
        </p:txBody>
      </p:sp>
    </p:spTree>
    <p:extLst>
      <p:ext uri="{BB962C8B-B14F-4D97-AF65-F5344CB8AC3E}">
        <p14:creationId xmlns:p14="http://schemas.microsoft.com/office/powerpoint/2010/main" val="33082240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693C3-60F2-4FAD-9506-B2E723AF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960B5-5EDF-47C1-BA20-B5E408D1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3BDF5-5086-4B0E-80A5-0DBED8D1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E4414-FC6C-4755-9B34-2256F8CD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37A5B-E9D3-4ADA-9819-E72721C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014E4-63B0-45DE-8E20-18AEA245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91AD3-C9AC-4057-BE96-3AEC959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Module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64A68-ED86-4488-BE6B-22036155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83E08-71CD-47B3-A18F-CA269657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Hadoop.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9F0C7-FF3E-4E59-8264-21A5A4C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Expand HDFS.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B9108-6600-4599-BBD7-BDFD066B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NameNode?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2D648-5EF5-4FF7-8B4A-06E372B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What is DataNode?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2E698-FC12-465D-B997-20ACAC98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Define YARN.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20F6E-15C3-46E6-92A6-F82D1AD8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What is a container?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79C49-9D9E-41C4-B0D6-5C69548C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Define MapReduce.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E7E31-1C5C-4B04-A32F-AA906F44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mapper?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BDB45-23B6-4B1E-AD58-72293A4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What is reducer?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51884-59C5-4A63-995F-E71F2602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What is combiner?</a:t>
            </a:r>
          </a:p>
        </p:txBody>
      </p:sp>
    </p:spTree>
    <p:extLst>
      <p:ext uri="{BB962C8B-B14F-4D97-AF65-F5344CB8AC3E}">
        <p14:creationId xmlns:p14="http://schemas.microsoft.com/office/powerpoint/2010/main" val="180729827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7CA9E-A53C-432F-9018-EC311504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1F060-1985-4110-B564-F9107F4A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A53BC-8F69-4C1B-ACFE-9660732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1732E-99EB-4772-A4D7-E5071AC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7DC8B-1ED9-429D-A90F-9982D0FD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CADF-099F-44E6-A958-58FF6EB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C4ECA-DDD9-4C4A-A6CF-7484D09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Module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F0473-E205-4708-9478-FDDA997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C243F-0F5C-4FB6-8D69-BF918A34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why Hadoop is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F472B-D4BF-4280-B496-78AEAF82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Differentiate RDBMS and Hadoop.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2FD0F-4AC6-4C48-A17D-724A198B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Hadoop overview.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2C9E4-12C9-44DA-86E7-EC4AACE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HDFS architecture.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331F5-2AE6-431B-AF3F-37D0E1D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HDFS read/write process.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E4E8-A47C-42F3-9043-6B8EDE41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YARN architecture.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E3670-18F7-408E-81B4-914F514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MapReduce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C8174-41A0-4B04-93CE-BDD38F2D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mapper and reducer with example.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BF003-93B5-4D51-9F7D-6A111680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combiner and partitioner.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5CF8D-40A1-4F7D-9F12-6903CE7F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Explain searching, sorting, and compression.</a:t>
            </a:r>
          </a:p>
        </p:txBody>
      </p:sp>
    </p:spTree>
    <p:extLst>
      <p:ext uri="{BB962C8B-B14F-4D97-AF65-F5344CB8AC3E}">
        <p14:creationId xmlns:p14="http://schemas.microsoft.com/office/powerpoint/2010/main" val="151894022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8658A-43A9-42B7-86A9-6B60051F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CA51C-F3FB-4DAA-8A70-F0BB0417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65238-393B-4A3F-937B-0AF38826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85710-7A77-4C41-B3C4-ACA2B34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DDBC3-3D05-4AD4-8329-6AC86A73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444D8-A364-487B-9971-0DB22E4A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56CEB-414A-427E-849A-3BBBFA26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Module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1349A-08A0-4D76-8DA3-D2E90C8A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19ABA-3BD6-486B-8503-AF34E895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Hadoop, need, history, overview, and use cases.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C5C2B-8946-4798-BBA7-1512934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HDFS architecture and file read/write process.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78893-FFED-44BB-B9EB-17B61EF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YARN architecture and application life 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56D05-8417-4817-A6B9-B4BC0FB0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MapReduce programming with mapper, reducer, shuffle and sort.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47DA7-54C6-4007-93F2-243BF5AE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combiner, partitioner, searching, sorting, and compression.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A62B5-CDB8-4BE3-81F4-539B137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FCBC0-4C83-4381-929A-6C91E880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60AB8-8022-42A5-92F7-5C3CC80A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EF113-833E-4FA2-98D5-55FECA2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AA4CE-6802-4BDE-AE7D-C8B9AA5D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54900457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CC0FA-F89E-4DD6-9242-E203495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68BFA-9C7F-40B8-B546-508AC03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9A431-A231-4592-9E8E-925ADD4D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86BD3-292D-4EB6-82DF-6872960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B0CF3-4FC8-442F-9A62-CF9AE0A2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F382D-E897-4C57-9680-73257C2B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BIS701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4C128-63C0-42FC-8C4F-952357ED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Module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C3723-94C1-4403-988F-C344742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9C037-DBC7-4E70-89EA-21474080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143A9-5BA2-4ACB-81FB-B2A4CBB8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581B8-DF78-486B-A068-B719813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52E83-B05F-4A78-A343-37CB03E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Hadoop; HDFS; NameNode; DataNode; block; replication; rack awareness; data locality; MapReduce; mapper; reducer; shuffle; sort; combiner; partitioner; YARN; ResourceManager; NodeManager; ApplicationMaster; container; searching; sorting; compression.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A3B08-F047-4EB1-AE50-74DD088F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8A291-3830-4F7D-85E0-F6A509F0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6FD5B-EA99-434A-82A9-9BAA747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5D8B-55AB-4472-A513-68827FC0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10306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WHY Hadoop -&gt; HDFS stores -&gt; YARN manages -&gt; MapReduce processes -&gt; combiner/partitioner/compression optimize.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E8238-35B0-4733-B8FA-AA076522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08BE9-A606-48C9-8954-CFB121BA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8BCA8-C6E2-4A00-B93D-768094E9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CB92E-C51C-42E3-8203-C5FE398F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29275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architecture diagram + stepwise working + example + limitation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254067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2026-08-05T04:39:33.7040000Z</dcterms:created>
  <dcterms:modified xsi:type="dcterms:W3CDTF">2026-08-05T04:39:33.7040000Z</dcterms:modified>
</coreProperties>
</file>