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76b3a2c0fa941a2" /><Relationship Type="http://schemas.openxmlformats.org/officeDocument/2006/relationships/extended-properties" Target="/docProps/app.xml" Id="Rc9e4c47bdfe14971" /><Relationship Type="http://schemas.openxmlformats.org/officeDocument/2006/relationships/officeDocument" Target="/ppt/presentation.xml" Id="R84f0dfc648fd4ed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cce5b98052c4b39"/>
  </p:sldMasterIdLst>
  <p:notesMasterIdLst>
    <p:notesMasterId xmlns:r="http://schemas.openxmlformats.org/officeDocument/2006/relationships" r:id="Re9dffdae8b284e56"/>
  </p:notesMasterIdLst>
  <p:sldIdLst>
    <p:sldId xmlns:r="http://schemas.openxmlformats.org/officeDocument/2006/relationships" id="256" r:id="R9c68a8566e5a47b8"/>
    <p:sldId xmlns:r="http://schemas.openxmlformats.org/officeDocument/2006/relationships" id="257" r:id="Rcee396a69c3b47a6"/>
    <p:sldId xmlns:r="http://schemas.openxmlformats.org/officeDocument/2006/relationships" id="258" r:id="R6387a24b8950463c"/>
    <p:sldId xmlns:r="http://schemas.openxmlformats.org/officeDocument/2006/relationships" id="259" r:id="R48e1780b44dd45bf"/>
    <p:sldId xmlns:r="http://schemas.openxmlformats.org/officeDocument/2006/relationships" id="260" r:id="R9a293df3be5545fc"/>
    <p:sldId xmlns:r="http://schemas.openxmlformats.org/officeDocument/2006/relationships" id="261" r:id="R543fe2e7ae664dfb"/>
    <p:sldId xmlns:r="http://schemas.openxmlformats.org/officeDocument/2006/relationships" id="262" r:id="Rddef7e27aed4405c"/>
    <p:sldId xmlns:r="http://schemas.openxmlformats.org/officeDocument/2006/relationships" id="263" r:id="R5f5fe48a66b34f8e"/>
    <p:sldId xmlns:r="http://schemas.openxmlformats.org/officeDocument/2006/relationships" id="264" r:id="Raea77bc491554cf2"/>
    <p:sldId xmlns:r="http://schemas.openxmlformats.org/officeDocument/2006/relationships" id="265" r:id="Rb5a0d75ba6324d5c"/>
    <p:sldId xmlns:r="http://schemas.openxmlformats.org/officeDocument/2006/relationships" id="266" r:id="R2b2431bba01347ff"/>
    <p:sldId xmlns:r="http://schemas.openxmlformats.org/officeDocument/2006/relationships" id="267" r:id="R7bccc8834d664825"/>
    <p:sldId xmlns:r="http://schemas.openxmlformats.org/officeDocument/2006/relationships" id="268" r:id="R9e90c92118954b68"/>
    <p:sldId xmlns:r="http://schemas.openxmlformats.org/officeDocument/2006/relationships" id="269" r:id="R2886d99319fe4627"/>
    <p:sldId xmlns:r="http://schemas.openxmlformats.org/officeDocument/2006/relationships" id="270" r:id="R9bfb38840ef64958"/>
    <p:sldId xmlns:r="http://schemas.openxmlformats.org/officeDocument/2006/relationships" id="271" r:id="R2c3c9f9cfcff4247"/>
    <p:sldId xmlns:r="http://schemas.openxmlformats.org/officeDocument/2006/relationships" id="272" r:id="R88ee02c8bac142fc"/>
    <p:sldId xmlns:r="http://schemas.openxmlformats.org/officeDocument/2006/relationships" id="273" r:id="R623d6a17ff054b5c"/>
    <p:sldId xmlns:r="http://schemas.openxmlformats.org/officeDocument/2006/relationships" id="274" r:id="Rda355694c8b94fb6"/>
    <p:sldId xmlns:r="http://schemas.openxmlformats.org/officeDocument/2006/relationships" id="275" r:id="R362d4344e7584b24"/>
    <p:sldId xmlns:r="http://schemas.openxmlformats.org/officeDocument/2006/relationships" id="276" r:id="R01c7481523cd4e90"/>
    <p:sldId xmlns:r="http://schemas.openxmlformats.org/officeDocument/2006/relationships" id="277" r:id="Rad30c485ceb444b5"/>
    <p:sldId xmlns:r="http://schemas.openxmlformats.org/officeDocument/2006/relationships" id="278" r:id="Rf6a13c3665bf4884"/>
    <p:sldId xmlns:r="http://schemas.openxmlformats.org/officeDocument/2006/relationships" id="279" r:id="Ra93a69558b594ccc"/>
    <p:sldId xmlns:r="http://schemas.openxmlformats.org/officeDocument/2006/relationships" id="280" r:id="R340972db54ca40d3"/>
    <p:sldId xmlns:r="http://schemas.openxmlformats.org/officeDocument/2006/relationships" id="281" r:id="R36314bb7076e4d73"/>
    <p:sldId xmlns:r="http://schemas.openxmlformats.org/officeDocument/2006/relationships" id="282" r:id="R6dca5d1c5bdf4b92"/>
    <p:sldId xmlns:r="http://schemas.openxmlformats.org/officeDocument/2006/relationships" id="283" r:id="R05f6fac8bfd84690"/>
    <p:sldId xmlns:r="http://schemas.openxmlformats.org/officeDocument/2006/relationships" id="284" r:id="R0e8821567e5b4feb"/>
    <p:sldId xmlns:r="http://schemas.openxmlformats.org/officeDocument/2006/relationships" id="285" r:id="Rdc524e7cc6624a35"/>
    <p:sldId xmlns:r="http://schemas.openxmlformats.org/officeDocument/2006/relationships" id="286" r:id="Rb1cc724e53f34887"/>
    <p:sldId xmlns:r="http://schemas.openxmlformats.org/officeDocument/2006/relationships" id="287" r:id="R40807da5d611411e"/>
    <p:sldId xmlns:r="http://schemas.openxmlformats.org/officeDocument/2006/relationships" id="288" r:id="R84ea62640a8240cc"/>
    <p:sldId xmlns:r="http://schemas.openxmlformats.org/officeDocument/2006/relationships" id="289" r:id="R37117043cd0c41d9"/>
    <p:sldId xmlns:r="http://schemas.openxmlformats.org/officeDocument/2006/relationships" id="290" r:id="R75fd1110227c4fa4"/>
    <p:sldId xmlns:r="http://schemas.openxmlformats.org/officeDocument/2006/relationships" id="291" r:id="R56d40de62e4e4451"/>
    <p:sldId xmlns:r="http://schemas.openxmlformats.org/officeDocument/2006/relationships" id="292" r:id="Rd9c40f46c71b442f"/>
    <p:sldId xmlns:r="http://schemas.openxmlformats.org/officeDocument/2006/relationships" id="293" r:id="R4913db8dd8cf4571"/>
    <p:sldId xmlns:r="http://schemas.openxmlformats.org/officeDocument/2006/relationships" id="294" r:id="R0166d4cbfd18400c"/>
    <p:sldId xmlns:r="http://schemas.openxmlformats.org/officeDocument/2006/relationships" id="295" r:id="R40df8b88ac4c4de4"/>
    <p:sldId xmlns:r="http://schemas.openxmlformats.org/officeDocument/2006/relationships" id="296" r:id="Rd88ae1754e7646c3"/>
    <p:sldId xmlns:r="http://schemas.openxmlformats.org/officeDocument/2006/relationships" id="297" r:id="Rcea8f86ae6b04978"/>
    <p:sldId xmlns:r="http://schemas.openxmlformats.org/officeDocument/2006/relationships" id="298" r:id="R6dc01015827d48fd"/>
    <p:sldId xmlns:r="http://schemas.openxmlformats.org/officeDocument/2006/relationships" id="299" r:id="Rb1aa53f0bd8b449a"/>
    <p:sldId xmlns:r="http://schemas.openxmlformats.org/officeDocument/2006/relationships" id="300" r:id="R56f5a4c5c8f04725"/>
    <p:sldId xmlns:r="http://schemas.openxmlformats.org/officeDocument/2006/relationships" id="301" r:id="R653d45c4f3c541e8"/>
    <p:sldId xmlns:r="http://schemas.openxmlformats.org/officeDocument/2006/relationships" id="302" r:id="Rfa31bbbc3ab743e3"/>
    <p:sldId xmlns:r="http://schemas.openxmlformats.org/officeDocument/2006/relationships" id="303" r:id="R5c9a1a58f2a34ed8"/>
    <p:sldId xmlns:r="http://schemas.openxmlformats.org/officeDocument/2006/relationships" id="304" r:id="R11e76010e2744661"/>
    <p:sldId xmlns:r="http://schemas.openxmlformats.org/officeDocument/2006/relationships" id="305" r:id="Raffe0f7d9a2446b0"/>
    <p:sldId xmlns:r="http://schemas.openxmlformats.org/officeDocument/2006/relationships" id="306" r:id="Rc824b08895db4729"/>
    <p:sldId xmlns:r="http://schemas.openxmlformats.org/officeDocument/2006/relationships" id="307" r:id="Rcb7bffde24f5407c"/>
    <p:sldId xmlns:r="http://schemas.openxmlformats.org/officeDocument/2006/relationships" id="308" r:id="R011b2ae60b264d11"/>
    <p:sldId xmlns:r="http://schemas.openxmlformats.org/officeDocument/2006/relationships" id="309" r:id="R30eaf3d733cb454d"/>
    <p:sldId xmlns:r="http://schemas.openxmlformats.org/officeDocument/2006/relationships" id="310" r:id="Rdca693e0e8bc4a51"/>
    <p:sldId xmlns:r="http://schemas.openxmlformats.org/officeDocument/2006/relationships" id="311" r:id="Rd9497d65593f476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80ba0a7b5114a9c" /><Relationship Type="http://schemas.openxmlformats.org/officeDocument/2006/relationships/slideMaster" Target="/ppt/slideMasters/slideMaster1.xml" Id="Rccce5b98052c4b39" /><Relationship Type="http://schemas.openxmlformats.org/officeDocument/2006/relationships/notesMaster" Target="/ppt/notesMasters/notesMaster1.xml" Id="Re9dffdae8b284e56" /><Relationship Type="http://schemas.openxmlformats.org/officeDocument/2006/relationships/presProps" Target="/ppt/presProps.xml" Id="Rfc33a18ad48d4cf6" /><Relationship Type="http://schemas.openxmlformats.org/officeDocument/2006/relationships/tableStyles" Target="/ppt/tableStyles.xml" Id="R7b37737db8a04e4b" /><Relationship Type="http://schemas.openxmlformats.org/officeDocument/2006/relationships/slide" Target="/ppt/slides/slide1.xml" Id="R9c68a8566e5a47b8" /><Relationship Type="http://schemas.openxmlformats.org/officeDocument/2006/relationships/slide" Target="/ppt/slides/slide2.xml" Id="Rcee396a69c3b47a6" /><Relationship Type="http://schemas.openxmlformats.org/officeDocument/2006/relationships/slide" Target="/ppt/slides/slide3.xml" Id="R6387a24b8950463c" /><Relationship Type="http://schemas.openxmlformats.org/officeDocument/2006/relationships/slide" Target="/ppt/slides/slide4.xml" Id="R48e1780b44dd45bf" /><Relationship Type="http://schemas.openxmlformats.org/officeDocument/2006/relationships/slide" Target="/ppt/slides/slide5.xml" Id="R9a293df3be5545fc" /><Relationship Type="http://schemas.openxmlformats.org/officeDocument/2006/relationships/slide" Target="/ppt/slides/slide6.xml" Id="R543fe2e7ae664dfb" /><Relationship Type="http://schemas.openxmlformats.org/officeDocument/2006/relationships/slide" Target="/ppt/slides/slide7.xml" Id="Rddef7e27aed4405c" /><Relationship Type="http://schemas.openxmlformats.org/officeDocument/2006/relationships/slide" Target="/ppt/slides/slide8.xml" Id="R5f5fe48a66b34f8e" /><Relationship Type="http://schemas.openxmlformats.org/officeDocument/2006/relationships/slide" Target="/ppt/slides/slide9.xml" Id="Raea77bc491554cf2" /><Relationship Type="http://schemas.openxmlformats.org/officeDocument/2006/relationships/slide" Target="/ppt/slides/slide10.xml" Id="Rb5a0d75ba6324d5c" /><Relationship Type="http://schemas.openxmlformats.org/officeDocument/2006/relationships/slide" Target="/ppt/slides/slide11.xml" Id="R2b2431bba01347ff" /><Relationship Type="http://schemas.openxmlformats.org/officeDocument/2006/relationships/slide" Target="/ppt/slides/slide12.xml" Id="R7bccc8834d664825" /><Relationship Type="http://schemas.openxmlformats.org/officeDocument/2006/relationships/slide" Target="/ppt/slides/slide13.xml" Id="R9e90c92118954b68" /><Relationship Type="http://schemas.openxmlformats.org/officeDocument/2006/relationships/slide" Target="/ppt/slides/slide14.xml" Id="R2886d99319fe4627" /><Relationship Type="http://schemas.openxmlformats.org/officeDocument/2006/relationships/slide" Target="/ppt/slides/slide15.xml" Id="R9bfb38840ef64958" /><Relationship Type="http://schemas.openxmlformats.org/officeDocument/2006/relationships/slide" Target="/ppt/slides/slide16.xml" Id="R2c3c9f9cfcff4247" /><Relationship Type="http://schemas.openxmlformats.org/officeDocument/2006/relationships/slide" Target="/ppt/slides/slide17.xml" Id="R88ee02c8bac142fc" /><Relationship Type="http://schemas.openxmlformats.org/officeDocument/2006/relationships/slide" Target="/ppt/slides/slide18.xml" Id="R623d6a17ff054b5c" /><Relationship Type="http://schemas.openxmlformats.org/officeDocument/2006/relationships/slide" Target="/ppt/slides/slide19.xml" Id="Rda355694c8b94fb6" /><Relationship Type="http://schemas.openxmlformats.org/officeDocument/2006/relationships/slide" Target="/ppt/slides/slide20.xml" Id="R362d4344e7584b24" /><Relationship Type="http://schemas.openxmlformats.org/officeDocument/2006/relationships/slide" Target="/ppt/slides/slide21.xml" Id="R01c7481523cd4e90" /><Relationship Type="http://schemas.openxmlformats.org/officeDocument/2006/relationships/slide" Target="/ppt/slides/slide22.xml" Id="Rad30c485ceb444b5" /><Relationship Type="http://schemas.openxmlformats.org/officeDocument/2006/relationships/slide" Target="/ppt/slides/slide23.xml" Id="Rf6a13c3665bf4884" /><Relationship Type="http://schemas.openxmlformats.org/officeDocument/2006/relationships/slide" Target="/ppt/slides/slide24.xml" Id="Ra93a69558b594ccc" /><Relationship Type="http://schemas.openxmlformats.org/officeDocument/2006/relationships/slide" Target="/ppt/slides/slide25.xml" Id="R340972db54ca40d3" /><Relationship Type="http://schemas.openxmlformats.org/officeDocument/2006/relationships/slide" Target="/ppt/slides/slide26.xml" Id="R36314bb7076e4d73" /><Relationship Type="http://schemas.openxmlformats.org/officeDocument/2006/relationships/slide" Target="/ppt/slides/slide27.xml" Id="R6dca5d1c5bdf4b92" /><Relationship Type="http://schemas.openxmlformats.org/officeDocument/2006/relationships/slide" Target="/ppt/slides/slide28.xml" Id="R05f6fac8bfd84690" /><Relationship Type="http://schemas.openxmlformats.org/officeDocument/2006/relationships/slide" Target="/ppt/slides/slide29.xml" Id="R0e8821567e5b4feb" /><Relationship Type="http://schemas.openxmlformats.org/officeDocument/2006/relationships/slide" Target="/ppt/slides/slide30.xml" Id="Rdc524e7cc6624a35" /><Relationship Type="http://schemas.openxmlformats.org/officeDocument/2006/relationships/slide" Target="/ppt/slides/slide31.xml" Id="Rb1cc724e53f34887" /><Relationship Type="http://schemas.openxmlformats.org/officeDocument/2006/relationships/slide" Target="/ppt/slides/slide32.xml" Id="R40807da5d611411e" /><Relationship Type="http://schemas.openxmlformats.org/officeDocument/2006/relationships/slide" Target="/ppt/slides/slide33.xml" Id="R84ea62640a8240cc" /><Relationship Type="http://schemas.openxmlformats.org/officeDocument/2006/relationships/slide" Target="/ppt/slides/slide34.xml" Id="R37117043cd0c41d9" /><Relationship Type="http://schemas.openxmlformats.org/officeDocument/2006/relationships/slide" Target="/ppt/slides/slide35.xml" Id="R75fd1110227c4fa4" /><Relationship Type="http://schemas.openxmlformats.org/officeDocument/2006/relationships/slide" Target="/ppt/slides/slide36.xml" Id="R56d40de62e4e4451" /><Relationship Type="http://schemas.openxmlformats.org/officeDocument/2006/relationships/slide" Target="/ppt/slides/slide37.xml" Id="Rd9c40f46c71b442f" /><Relationship Type="http://schemas.openxmlformats.org/officeDocument/2006/relationships/slide" Target="/ppt/slides/slide38.xml" Id="R4913db8dd8cf4571" /><Relationship Type="http://schemas.openxmlformats.org/officeDocument/2006/relationships/slide" Target="/ppt/slides/slide39.xml" Id="R0166d4cbfd18400c" /><Relationship Type="http://schemas.openxmlformats.org/officeDocument/2006/relationships/slide" Target="/ppt/slides/slide40.xml" Id="R40df8b88ac4c4de4" /><Relationship Type="http://schemas.openxmlformats.org/officeDocument/2006/relationships/slide" Target="/ppt/slides/slide41.xml" Id="Rd88ae1754e7646c3" /><Relationship Type="http://schemas.openxmlformats.org/officeDocument/2006/relationships/slide" Target="/ppt/slides/slide42.xml" Id="Rcea8f86ae6b04978" /><Relationship Type="http://schemas.openxmlformats.org/officeDocument/2006/relationships/slide" Target="/ppt/slides/slide43.xml" Id="R6dc01015827d48fd" /><Relationship Type="http://schemas.openxmlformats.org/officeDocument/2006/relationships/slide" Target="/ppt/slides/slide44.xml" Id="Rb1aa53f0bd8b449a" /><Relationship Type="http://schemas.openxmlformats.org/officeDocument/2006/relationships/slide" Target="/ppt/slides/slide45.xml" Id="R56f5a4c5c8f04725" /><Relationship Type="http://schemas.openxmlformats.org/officeDocument/2006/relationships/slide" Target="/ppt/slides/slide46.xml" Id="R653d45c4f3c541e8" /><Relationship Type="http://schemas.openxmlformats.org/officeDocument/2006/relationships/slide" Target="/ppt/slides/slide47.xml" Id="Rfa31bbbc3ab743e3" /><Relationship Type="http://schemas.openxmlformats.org/officeDocument/2006/relationships/slide" Target="/ppt/slides/slide48.xml" Id="R5c9a1a58f2a34ed8" /><Relationship Type="http://schemas.openxmlformats.org/officeDocument/2006/relationships/slide" Target="/ppt/slides/slide49.xml" Id="R11e76010e2744661" /><Relationship Type="http://schemas.openxmlformats.org/officeDocument/2006/relationships/slide" Target="/ppt/slides/slide50.xml" Id="Raffe0f7d9a2446b0" /><Relationship Type="http://schemas.openxmlformats.org/officeDocument/2006/relationships/slide" Target="/ppt/slides/slide51.xml" Id="Rc824b08895db4729" /><Relationship Type="http://schemas.openxmlformats.org/officeDocument/2006/relationships/slide" Target="/ppt/slides/slide52.xml" Id="Rcb7bffde24f5407c" /><Relationship Type="http://schemas.openxmlformats.org/officeDocument/2006/relationships/slide" Target="/ppt/slides/slide53.xml" Id="R011b2ae60b264d11" /><Relationship Type="http://schemas.openxmlformats.org/officeDocument/2006/relationships/slide" Target="/ppt/slides/slide54.xml" Id="R30eaf3d733cb454d" /><Relationship Type="http://schemas.openxmlformats.org/officeDocument/2006/relationships/slide" Target="/ppt/slides/slide55.xml" Id="Rdca693e0e8bc4a51" /><Relationship Type="http://schemas.openxmlformats.org/officeDocument/2006/relationships/slide" Target="/ppt/slides/slide56.xml" Id="Rd9497d65593f476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d2a28ce0a94b6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76eadac36d849c3" /><Relationship Type="http://schemas.openxmlformats.org/officeDocument/2006/relationships/notesMaster" Target="/ppt/notesMasters/notesMaster1.xml" Id="R7ed25628455a427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ed60b2fd76642b2" /><Relationship Type="http://schemas.openxmlformats.org/officeDocument/2006/relationships/notesMaster" Target="/ppt/notesMasters/notesMaster1.xml" Id="Rd6f0df0490c3401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b6be9b0db1e4605" /><Relationship Type="http://schemas.openxmlformats.org/officeDocument/2006/relationships/notesMaster" Target="/ppt/notesMasters/notesMaster1.xml" Id="R01b25078254542f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7a0bdf37494440e" /><Relationship Type="http://schemas.openxmlformats.org/officeDocument/2006/relationships/notesMaster" Target="/ppt/notesMasters/notesMaster1.xml" Id="R06ac9c43118f430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621c25693bb4c25" /><Relationship Type="http://schemas.openxmlformats.org/officeDocument/2006/relationships/notesMaster" Target="/ppt/notesMasters/notesMaster1.xml" Id="Rf4af60fb604d4e6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08fb4ef2b2f4d89" /><Relationship Type="http://schemas.openxmlformats.org/officeDocument/2006/relationships/notesMaster" Target="/ppt/notesMasters/notesMaster1.xml" Id="R94874adfe2344da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a9c365e23174bc5" /><Relationship Type="http://schemas.openxmlformats.org/officeDocument/2006/relationships/notesMaster" Target="/ppt/notesMasters/notesMaster1.xml" Id="Rd1f0635853a54fc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972681ddba84884" /><Relationship Type="http://schemas.openxmlformats.org/officeDocument/2006/relationships/notesMaster" Target="/ppt/notesMasters/notesMaster1.xml" Id="R25efe85a589b411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e8659f854e24176" /><Relationship Type="http://schemas.openxmlformats.org/officeDocument/2006/relationships/notesMaster" Target="/ppt/notesMasters/notesMaster1.xml" Id="R3e5d197c086f46c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f7d1a80da7c418c" /><Relationship Type="http://schemas.openxmlformats.org/officeDocument/2006/relationships/notesMaster" Target="/ppt/notesMasters/notesMaster1.xml" Id="Re899256521d7425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ed10cc9893b41ce" /><Relationship Type="http://schemas.openxmlformats.org/officeDocument/2006/relationships/notesMaster" Target="/ppt/notesMasters/notesMaster1.xml" Id="Rfd01840736624e6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4c98884af93403f" /><Relationship Type="http://schemas.openxmlformats.org/officeDocument/2006/relationships/notesMaster" Target="/ppt/notesMasters/notesMaster1.xml" Id="R9e16abb455bd458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0f225f53a5e4e72" /><Relationship Type="http://schemas.openxmlformats.org/officeDocument/2006/relationships/notesMaster" Target="/ppt/notesMasters/notesMaster1.xml" Id="Raf3ebdcfe8104e5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447b500de144a41" /><Relationship Type="http://schemas.openxmlformats.org/officeDocument/2006/relationships/notesMaster" Target="/ppt/notesMasters/notesMaster1.xml" Id="Re7d7db905ffb431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f85ed24579d43b5" /><Relationship Type="http://schemas.openxmlformats.org/officeDocument/2006/relationships/notesMaster" Target="/ppt/notesMasters/notesMaster1.xml" Id="R693861707c044c7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e71e37c2c2c45f4" /><Relationship Type="http://schemas.openxmlformats.org/officeDocument/2006/relationships/notesMaster" Target="/ppt/notesMasters/notesMaster1.xml" Id="R2232a111b34643a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3a0a5844d1142f5" /><Relationship Type="http://schemas.openxmlformats.org/officeDocument/2006/relationships/notesMaster" Target="/ppt/notesMasters/notesMaster1.xml" Id="R05df102a9fa1402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2cc1bcccceb45ef" /><Relationship Type="http://schemas.openxmlformats.org/officeDocument/2006/relationships/notesMaster" Target="/ppt/notesMasters/notesMaster1.xml" Id="R9345df66c60a41e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f4663e52e5a4e49" /><Relationship Type="http://schemas.openxmlformats.org/officeDocument/2006/relationships/notesMaster" Target="/ppt/notesMasters/notesMaster1.xml" Id="R76bfc3622511467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e95787d0e404ae8" /><Relationship Type="http://schemas.openxmlformats.org/officeDocument/2006/relationships/notesMaster" Target="/ppt/notesMasters/notesMaster1.xml" Id="Rc69765e32a3c493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d3354c8a1024c7d" /><Relationship Type="http://schemas.openxmlformats.org/officeDocument/2006/relationships/notesMaster" Target="/ppt/notesMasters/notesMaster1.xml" Id="R83a86806ac38470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6c17d04ee7c4836" /><Relationship Type="http://schemas.openxmlformats.org/officeDocument/2006/relationships/notesMaster" Target="/ppt/notesMasters/notesMaster1.xml" Id="Rf02eb984d8ab4fd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7fb48b72679473e" /><Relationship Type="http://schemas.openxmlformats.org/officeDocument/2006/relationships/notesMaster" Target="/ppt/notesMasters/notesMaster1.xml" Id="R29c41c458ce14ea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9cafea53711462a" /><Relationship Type="http://schemas.openxmlformats.org/officeDocument/2006/relationships/notesMaster" Target="/ppt/notesMasters/notesMaster1.xml" Id="R64525ea2b73b4c2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5065df670444031" /><Relationship Type="http://schemas.openxmlformats.org/officeDocument/2006/relationships/notesMaster" Target="/ppt/notesMasters/notesMaster1.xml" Id="R40a9eefc846a443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a44e3bc98804aa4" /><Relationship Type="http://schemas.openxmlformats.org/officeDocument/2006/relationships/notesMaster" Target="/ppt/notesMasters/notesMaster1.xml" Id="R9a3da04665344d2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57237c5a67347cb" /><Relationship Type="http://schemas.openxmlformats.org/officeDocument/2006/relationships/notesMaster" Target="/ppt/notesMasters/notesMaster1.xml" Id="Rf95ac84b1f9048c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6ed3dd85b7a42c5" /><Relationship Type="http://schemas.openxmlformats.org/officeDocument/2006/relationships/notesMaster" Target="/ppt/notesMasters/notesMaster1.xml" Id="Rf23e2aced3364ce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7c7051d8302a443d" /><Relationship Type="http://schemas.openxmlformats.org/officeDocument/2006/relationships/notesMaster" Target="/ppt/notesMasters/notesMaster1.xml" Id="Ra1e0723fe202497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fa0f7bacd5d14b4e" /><Relationship Type="http://schemas.openxmlformats.org/officeDocument/2006/relationships/notesMaster" Target="/ppt/notesMasters/notesMaster1.xml" Id="R25c87209f4414084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bb73159a088946b3" /><Relationship Type="http://schemas.openxmlformats.org/officeDocument/2006/relationships/notesMaster" Target="/ppt/notesMasters/notesMaster1.xml" Id="R6c92e15d6ce64ce5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f44bfe4bac4742ce" /><Relationship Type="http://schemas.openxmlformats.org/officeDocument/2006/relationships/notesMaster" Target="/ppt/notesMasters/notesMaster1.xml" Id="Rce2defa3b74c4849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327879b5673941fb" /><Relationship Type="http://schemas.openxmlformats.org/officeDocument/2006/relationships/notesMaster" Target="/ppt/notesMasters/notesMaster1.xml" Id="Re676a9949efc4eb6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44beaf3e50ec48f9" /><Relationship Type="http://schemas.openxmlformats.org/officeDocument/2006/relationships/notesMaster" Target="/ppt/notesMasters/notesMaster1.xml" Id="R9cd1a3061c6d472c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84141ba7d84f4cb6" /><Relationship Type="http://schemas.openxmlformats.org/officeDocument/2006/relationships/notesMaster" Target="/ppt/notesMasters/notesMaster1.xml" Id="R1072fa1504ef44bf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93503648ba49480d" /><Relationship Type="http://schemas.openxmlformats.org/officeDocument/2006/relationships/notesMaster" Target="/ppt/notesMasters/notesMaster1.xml" Id="R03f313b356ab474d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f374030e2ee04d3d" /><Relationship Type="http://schemas.openxmlformats.org/officeDocument/2006/relationships/notesMaster" Target="/ppt/notesMasters/notesMaster1.xml" Id="R2d14e98cba634385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5a3fb653c87b49ff" /><Relationship Type="http://schemas.openxmlformats.org/officeDocument/2006/relationships/notesMaster" Target="/ppt/notesMasters/notesMaster1.xml" Id="R2d3d1542b125419a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ae9c917256f44117" /><Relationship Type="http://schemas.openxmlformats.org/officeDocument/2006/relationships/notesMaster" Target="/ppt/notesMasters/notesMaster1.xml" Id="R80372bd94e1f48d2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f190f131deca4f50" /><Relationship Type="http://schemas.openxmlformats.org/officeDocument/2006/relationships/notesMaster" Target="/ppt/notesMasters/notesMaster1.xml" Id="R5706ff2942d54ffe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05351bf7b1e947d0" /><Relationship Type="http://schemas.openxmlformats.org/officeDocument/2006/relationships/notesMaster" Target="/ppt/notesMasters/notesMaster1.xml" Id="Re6e21eabbc57460d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71dfd51b433f47e6" /><Relationship Type="http://schemas.openxmlformats.org/officeDocument/2006/relationships/notesMaster" Target="/ppt/notesMasters/notesMaster1.xml" Id="R9c1a890302784309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ae93e0574e02436c" /><Relationship Type="http://schemas.openxmlformats.org/officeDocument/2006/relationships/notesMaster" Target="/ppt/notesMasters/notesMaster1.xml" Id="R417386e3841a4109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949a758bfe194c48" /><Relationship Type="http://schemas.openxmlformats.org/officeDocument/2006/relationships/notesMaster" Target="/ppt/notesMasters/notesMaster1.xml" Id="R27e32742ee8b46ea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c8ab5244d0904c27" /><Relationship Type="http://schemas.openxmlformats.org/officeDocument/2006/relationships/notesMaster" Target="/ppt/notesMasters/notesMaster1.xml" Id="R12f87922013e4d95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d14a3bbf9d2f4382" /><Relationship Type="http://schemas.openxmlformats.org/officeDocument/2006/relationships/notesMaster" Target="/ppt/notesMasters/notesMaster1.xml" Id="R63c0a06b2bcc4f19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a77610f731a14876" /><Relationship Type="http://schemas.openxmlformats.org/officeDocument/2006/relationships/notesMaster" Target="/ppt/notesMasters/notesMaster1.xml" Id="R9333df72d1c6478b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4e368221d09f4bf3" /><Relationship Type="http://schemas.openxmlformats.org/officeDocument/2006/relationships/notesMaster" Target="/ppt/notesMasters/notesMaster1.xml" Id="Rb9db13c2addc4759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0da598578ca347a8" /><Relationship Type="http://schemas.openxmlformats.org/officeDocument/2006/relationships/notesMaster" Target="/ppt/notesMasters/notesMaster1.xml" Id="Rffbaaa05f61a402d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97e302eaae25484a" /><Relationship Type="http://schemas.openxmlformats.org/officeDocument/2006/relationships/notesMaster" Target="/ppt/notesMasters/notesMaster1.xml" Id="R74910182e6e84604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009b3898f0f44ae3" /><Relationship Type="http://schemas.openxmlformats.org/officeDocument/2006/relationships/notesMaster" Target="/ppt/notesMasters/notesMaster1.xml" Id="R7a6d6cea5e0843c3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bc28ecdd1ec44206" /><Relationship Type="http://schemas.openxmlformats.org/officeDocument/2006/relationships/notesMaster" Target="/ppt/notesMasters/notesMaster1.xml" Id="R0178f90d481a4b48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63331711b1b542b2" /><Relationship Type="http://schemas.openxmlformats.org/officeDocument/2006/relationships/notesMaster" Target="/ppt/notesMasters/notesMaster1.xml" Id="R4478b1ef1fc7499d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1b2bed2508924b48" /><Relationship Type="http://schemas.openxmlformats.org/officeDocument/2006/relationships/notesMaster" Target="/ppt/notesMasters/notesMaster1.xml" Id="Re4d2d59738d14cea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a0702d34e4fd40cc" /><Relationship Type="http://schemas.openxmlformats.org/officeDocument/2006/relationships/notesMaster" Target="/ppt/notesMasters/notesMaster1.xml" Id="R72f83e2abec542cc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6ec9aeff8b3d4f3d" /><Relationship Type="http://schemas.openxmlformats.org/officeDocument/2006/relationships/notesMaster" Target="/ppt/notesMasters/notesMaster1.xml" Id="Rb92c14c5556d473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Open by connecting Module 2: Hadoop stores and processes data, but users need easier languages than raw MapReduce.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syntax slides, point to the keyword being introduced.</a:t>
            </a:r>
          </a:p>
          <a:p xmlns:a="http://schemas.openxmlformats.org/drawingml/2006/main">
            <a:r>
              <a:t>Question to ask students: Ask students where this fits in the Hadoop ecosystem.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4 checklist; TB1 listed by syllabus: Seema Acharya and Subhashini Chellappan, Big Data and Analytics, Wiley India, 2nd ed., 2019, Ch. 9 sections 9.1-9.6 and 9.8, Ch. 10 sections 10.1-10.15 and 10.22.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Tell students this is the module where Hadoop becomes easier for analysts and data engineers.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syntax slides, point to the keyword being introduced.</a:t>
            </a:r>
          </a:p>
          <a:p xmlns:a="http://schemas.openxmlformats.org/drawingml/2006/main">
            <a:r>
              <a:t>Question to ask students: Ask students where this fits in the Hadoop ecosystem.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4 checklist; TB1 listed by syllabus: Seema Acharya and Subhashini Chellappan, Big Data and Analytics, Wiley India, 2nd ed., 2019, Ch. 9 sections 9.1-9.6 and 9.8, Ch. 10 sections 10.1-10.15 and 10.22.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this as the transition from Hadoop core to ecosystem tools.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syntax slides, point to the keyword being introduced.</a:t>
            </a:r>
          </a:p>
          <a:p xmlns:a="http://schemas.openxmlformats.org/drawingml/2006/main">
            <a:r>
              <a:t>Question to ask students: Ask students where this fits in the Hadoop ecosystem.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4 checklist; TB1 listed by syllabus: Seema Acharya and Subhashini Chellappan, Big Data and Analytics, Wiley India, 2nd ed., 2019, Ch. 9 sections 9.1-9.6 and 9.8, Ch. 10 sections 10.1-10.15 and 10.22.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Define Hive as SQL-like access over Hadoop data, not as a traditional OLTP database.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syntax slides, point to the keyword being introduced.</a:t>
            </a:r>
          </a:p>
          <a:p xmlns:a="http://schemas.openxmlformats.org/drawingml/2006/main">
            <a:r>
              <a:t>Question to ask students: Ask students where this fits in the Hadoop ecosystem.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4 checklist; TB1 listed by syllabus: Seema Acharya and Subhashini Chellappan, Big Data and Analytics, Wiley India, 2nd ed., 2019, Ch. 9 sections 9.1-9.6 and 9.8, Ch. 10 sections 10.1-10.15 and 10.22.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that Hive reduces the need to hand-code MapReduce for every analytical query.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syntax slides, point to the keyword being introduced.</a:t>
            </a:r>
          </a:p>
          <a:p xmlns:a="http://schemas.openxmlformats.org/drawingml/2006/main">
            <a:r>
              <a:t>Question to ask students: Ask students where this fits in the Hadoop ecosystem.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4 checklist; TB1 listed by syllabus: Seema Acharya and Subhashini Chellappan, Big Data and Analytics, Wiley India, 2nd ed., 2019, Ch. 9 sections 9.1-9.6 and 9.8, Ch. 10 sections 10.1-10.15 and 10.22.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Stress that Hive is designed for large analytical workloads, not small transaction systems.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syntax slides, point to the keyword being introduced.</a:t>
            </a:r>
          </a:p>
          <a:p xmlns:a="http://schemas.openxmlformats.org/drawingml/2006/main">
            <a:r>
              <a:t>Question to ask students: Ask students where this fits in the Hadoop ecosystem.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4 checklist; TB1 listed by syllabus: Seema Acharya and Subhashini Chellappan, Big Data and Analytics, Wiley India, 2nd ed., 2019, Ch. 9 sections 9.1-9.6 and 9.8, Ch. 10 sections 10.1-10.15 and 10.22.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Walk from user query through driver, compiler, metastore, execution engine and HDFS.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syntax slides, point to the keyword being introduced.</a:t>
            </a:r>
          </a:p>
          <a:p xmlns:a="http://schemas.openxmlformats.org/drawingml/2006/main">
            <a:r>
              <a:t>Question to ask students: Ask students where this fits in the Hadoop ecosystem.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4 checklist; TB1 listed by syllabus: Seema Acharya and Subhashini Chellappan, Big Data and Analytics, Wiley India, 2nd ed., 2019, Ch. 9 sections 9.1-9.6 and 9.8, Ch. 10 sections 10.1-10.15 and 10.22.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This slide is useful for a five-mark architecture answer.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syntax slides, point to the keyword being introduced.</a:t>
            </a:r>
          </a:p>
          <a:p xmlns:a="http://schemas.openxmlformats.org/drawingml/2006/main">
            <a:r>
              <a:t>Question to ask students: Ask students where this fits in the Hadoop ecosystem.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4 checklist; TB1 listed by syllabus: Seema Acharya and Subhashini Chellappan, Big Data and Analytics, Wiley India, 2nd ed., 2019, Ch. 9 sections 9.1-9.6 and 9.8, Ch. 10 sections 10.1-10.15 and 10.22.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Animate each step and ask students which step needs metadata.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syntax slides, point to the keyword being introduced.</a:t>
            </a:r>
          </a:p>
          <a:p xmlns:a="http://schemas.openxmlformats.org/drawingml/2006/main">
            <a:r>
              <a:t>Question to ask students: Ask students where this fits in the Hadoop ecosystem.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4 checklist; TB1 listed by syllabus: Seema Acharya and Subhashini Chellappan, Big Data and Analytics, Wiley India, 2nd ed., 2019, Ch. 9 sections 9.1-9.6 and 9.8, Ch. 10 sections 10.1-10.15 and 10.22.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Compare metastore to a library catalog: it knows where data is and how it is structured.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syntax slides, point to the keyword being introduced.</a:t>
            </a:r>
          </a:p>
          <a:p xmlns:a="http://schemas.openxmlformats.org/drawingml/2006/main">
            <a:r>
              <a:t>Question to ask students: Ask students where this fits in the Hadoop ecosystem.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4 checklist; TB1 listed by syllabus: Seema Acharya and Subhashini Chellappan, Big Data and Analytics, Wiley India, 2nd ed., 2019, Ch. 9 sections 9.1-9.6 and 9.8, Ch. 10 sections 10.1-10.15 and 10.22.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student marks data to show INT, STRING, DECIMAL and DATE.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syntax slides, point to the keyword being introduced.</a:t>
            </a:r>
          </a:p>
          <a:p xmlns:a="http://schemas.openxmlformats.org/drawingml/2006/main">
            <a:r>
              <a:t>Question to ask students: Ask students where this fits in the Hadoop ecosystem.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4 checklist; TB1 listed by syllabus: Seema Acharya and Subhashini Chellappan, Big Data and Analytics, Wiley India, 2nd ed., 2019, Ch. 9 sections 9.1-9.6 and 9.8, Ch. 10 sections 10.1-10.15 and 10.22.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that complex types help represent semi-structured records.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syntax slides, point to the keyword being introduced.</a:t>
            </a:r>
          </a:p>
          <a:p xmlns:a="http://schemas.openxmlformats.org/drawingml/2006/main">
            <a:r>
              <a:t>Question to ask students: Ask students where this fits in the Hadoop ecosystem.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4 checklist; TB1 listed by syllabus: Seema Acharya and Subhashini Chellappan, Big Data and Analytics, Wiley India, 2nd ed., 2019, Ch. 9 sections 9.1-9.6 and 9.8, Ch. 10 sections 10.1-10.15 and 10.22.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The syllabus names Hive file formats and RCFile; mention modern formats briefly as context.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syntax slides, point to the keyword being introduced.</a:t>
            </a:r>
          </a:p>
          <a:p xmlns:a="http://schemas.openxmlformats.org/drawingml/2006/main">
            <a:r>
              <a:t>Question to ask students: Ask students where this fits in the Hadoop ecosystem.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4 checklist; TB1 listed by syllabus: Seema Acharya and Subhashini Chellappan, Big Data and Analytics, Wiley India, 2nd ed., 2019, Ch. 9 sections 9.1-9.6 and 9.8, Ch. 10 sections 10.1-10.15 and 10.22.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query SELECT name, cgpa to show why reading only selected columns helps.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syntax slides, point to the keyword being introduced.</a:t>
            </a:r>
          </a:p>
          <a:p xmlns:a="http://schemas.openxmlformats.org/drawingml/2006/main">
            <a:r>
              <a:t>Question to ask students: Ask students where this fits in the Hadoop ecosystem.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4 checklist; TB1 listed by syllabus: Seema Acharya and Subhashini Chellappan, Big Data and Analytics, Wiley India, 2nd ed., 2019, Ch. 9 sections 9.1-9.6 and 9.8, Ch. 10 sections 10.1-10.15 and 10.22.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Define RCFile as row-columnar: row groups with column-wise storage inside each group.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syntax slides, point to the keyword being introduced.</a:t>
            </a:r>
          </a:p>
          <a:p xmlns:a="http://schemas.openxmlformats.org/drawingml/2006/main">
            <a:r>
              <a:t>Question to ask students: Ask students where this fits in the Hadoop ecosystem.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4 checklist; TB1 listed by syllabus: Seema Acharya and Subhashini Chellappan, Big Data and Analytics, Wiley India, 2nd ed., 2019, Ch. 9 sections 9.1-9.6 and 9.8, Ch. 10 sections 10.1-10.15 and 10.22.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that Hive tables describe data structure and location.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syntax slides, point to the keyword being introduced.</a:t>
            </a:r>
          </a:p>
          <a:p xmlns:a="http://schemas.openxmlformats.org/drawingml/2006/main">
            <a:r>
              <a:t>Question to ask students: Ask students where this fits in the Hadoop ecosystem.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4 checklist; TB1 listed by syllabus: Seema Acharya and Subhashini Chellappan, Big Data and Analytics, Wiley India, 2nd ed., 2019, Ch. 9 sections 9.1-9.6 and 9.8, Ch. 10 sections 10.1-10.15 and 10.22.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This is a common exam and lab distinction.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syntax slides, point to the keyword being introduced.</a:t>
            </a:r>
          </a:p>
          <a:p xmlns:a="http://schemas.openxmlformats.org/drawingml/2006/main">
            <a:r>
              <a:t>Question to ask students: Ask students where this fits in the Hadoop ecosystem.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4 checklist; TB1 listed by syllabus: Seema Acharya and Subhashini Chellappan, Big Data and Analytics, Wiley India, 2nd ed., 2019, Ch. 9 sections 9.1-9.6 and 9.8, Ch. 10 sections 10.1-10.15 and 10.22.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that Hive maps files in HDFS/local paths to table structure.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syntax slides, point to the keyword being introduced.</a:t>
            </a:r>
          </a:p>
          <a:p xmlns:a="http://schemas.openxmlformats.org/drawingml/2006/main">
            <a:r>
              <a:t>Question to ask students: Ask students where this fits in the Hadoop ecosystem.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4 checklist; TB1 listed by syllabus: Seema Acharya and Subhashini Chellappan, Big Data and Analytics, Wiley India, 2nd ed., 2019, Ch. 9 sections 9.1-9.6 and 9.8, Ch. 10 sections 10.1-10.15 and 10.22.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Point to SELECT, FROM and WHERE as the basic HQL skeleton.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syntax slides, point to the keyword being introduced.</a:t>
            </a:r>
          </a:p>
          <a:p xmlns:a="http://schemas.openxmlformats.org/drawingml/2006/main">
            <a:r>
              <a:t>Question to ask students: Ask students where this fits in the Hadoop ecosystem.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4 checklist; TB1 listed by syllabus: Seema Acharya and Subhashini Chellappan, Big Data and Analytics, Wiley India, 2nd ed., 2019, Ch. 9 sections 9.1-9.6 and 9.8, Ch. 10 sections 10.1-10.15 and 10.22.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how GROUP BY forms departments and aggregate functions summarize each group.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syntax slides, point to the keyword being introduced.</a:t>
            </a:r>
          </a:p>
          <a:p xmlns:a="http://schemas.openxmlformats.org/drawingml/2006/main">
            <a:r>
              <a:t>Question to ask students: Ask students where this fits in the Hadoop ecosystem.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4 checklist; TB1 listed by syllabus: Seema Acharya and Subhashini Chellappan, Big Data and Analytics, Wiley India, 2nd ed., 2019, Ch. 9 sections 9.1-9.6 and 9.8, Ch. 10 sections 10.1-10.15 and 10.22.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year/month partitioning for log data as the example.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syntax slides, point to the keyword being introduced.</a:t>
            </a:r>
          </a:p>
          <a:p xmlns:a="http://schemas.openxmlformats.org/drawingml/2006/main">
            <a:r>
              <a:t>Question to ask students: Ask students where this fits in the Hadoop ecosystem.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4 checklist; TB1 listed by syllabus: Seema Acharya and Subhashini Chellappan, Big Data and Analytics, Wiley India, 2nd ed., 2019, Ch. 9 sections 9.1-9.6 and 9.8, Ch. 10 sections 10.1-10.15 and 10.22.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Keep it conceptual; partitions divide by values, buckets divide by hash.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syntax slides, point to the keyword being introduced.</a:t>
            </a:r>
          </a:p>
          <a:p xmlns:a="http://schemas.openxmlformats.org/drawingml/2006/main">
            <a:r>
              <a:t>Question to ask students: Ask students where this fits in the Hadoop ecosystem.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4 checklist; TB1 listed by syllabus: Seema Acharya and Subhashini Chellappan, Big Data and Analytics, Wiley India, 2nd ed., 2019, Ch. 9 sections 9.1-9.6 and 9.8, Ch. 10 sections 10.1-10.15 and 10.22.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view as a saved query, not a separately stored table in the ordinary case.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syntax slides, point to the keyword being introduced.</a:t>
            </a:r>
          </a:p>
          <a:p xmlns:a="http://schemas.openxmlformats.org/drawingml/2006/main">
            <a:r>
              <a:t>Question to ask students: Ask students where this fits in the Hadoop ecosystem.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4 checklist; TB1 listed by syllabus: Seema Acharya and Subhashini Chellappan, Big Data and Analytics, Wiley India, 2nd ed., 2019, Ch. 9 sections 9.1-9.6 and 9.8, Ch. 10 sections 10.1-10.15 and 10.22.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Give examples like custom grade calculation, string cleaning or domain-specific parsing.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syntax slides, point to the keyword being introduced.</a:t>
            </a:r>
          </a:p>
          <a:p xmlns:a="http://schemas.openxmlformats.org/drawingml/2006/main">
            <a:r>
              <a:t>Question to ask students: Ask students where this fits in the Hadoop ecosystem.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4 checklist; TB1 listed by syllabus: Seema Acharya and Subhashini Chellappan, Big Data and Analytics, Wiley India, 2nd ed., 2019, Ch. 9 sections 9.1-9.6 and 9.8, Ch. 10 sections 10.1-10.15 and 10.22.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This makes UDF feel like engineering judgment, not just a definition.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syntax slides, point to the keyword being introduced.</a:t>
            </a:r>
          </a:p>
          <a:p xmlns:a="http://schemas.openxmlformats.org/drawingml/2006/main">
            <a:r>
              <a:t>Question to ask students: Ask students where this fits in the Hadoop ecosystem.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4 checklist; TB1 listed by syllabus: Seema Acharya and Subhashini Chellappan, Big Data and Analytics, Wiley India, 2nd ed., 2019, Ch. 9 sections 9.1-9.6 and 9.8, Ch. 10 sections 10.1-10.15 and 10.22.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Contrast Pig with Hive: Pig describes transformations step by step.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syntax slides, point to the keyword being introduced.</a:t>
            </a:r>
          </a:p>
          <a:p xmlns:a="http://schemas.openxmlformats.org/drawingml/2006/main">
            <a:r>
              <a:t>Question to ask students: Ask students where this fits in the Hadoop ecosystem.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4 checklist; TB1 listed by syllabus: Seema Acharya and Subhashini Chellappan, Big Data and Analytics, Wiley India, 2nd ed., 2019, Ch. 9 sections 9.1-9.6 and 9.8, Ch. 10 sections 10.1-10.15 and 10.22.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that Pig is popular for messy data preparation pipelines.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syntax slides, point to the keyword being introduced.</a:t>
            </a:r>
          </a:p>
          <a:p xmlns:a="http://schemas.openxmlformats.org/drawingml/2006/main">
            <a:r>
              <a:t>Question to ask students: Ask students where this fits in the Hadoop ecosystem.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4 checklist; TB1 listed by syllabus: Seema Acharya and Subhashini Chellappan, Big Data and Analytics, Wiley India, 2nd ed., 2019, Ch. 9 sections 9.1-9.6 and 9.8, Ch. 10 sections 10.1-10.15 and 10.22.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Walk from Pig Latin script to execution on Hadoop.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syntax slides, point to the keyword being introduced.</a:t>
            </a:r>
          </a:p>
          <a:p xmlns:a="http://schemas.openxmlformats.org/drawingml/2006/main">
            <a:r>
              <a:t>Question to ask students: Ask students where this fits in the Hadoop ecosystem.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4 checklist; TB1 listed by syllabus: Seema Acharya and Subhashini Chellappan, Big Data and Analytics, Wiley India, 2nd ed., 2019, Ch. 9 sections 9.1-9.6 and 9.8, Ch. 10 sections 10.1-10.15 and 10.22.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that Pig users write scripts, while Hadoop executes the resulting jobs.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syntax slides, point to the keyword being introduced.</a:t>
            </a:r>
          </a:p>
          <a:p xmlns:a="http://schemas.openxmlformats.org/drawingml/2006/main">
            <a:r>
              <a:t>Question to ask students: Ask students where this fits in the Hadoop ecosystem.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4 checklist; TB1 listed by syllabus: Seema Acharya and Subhashini Chellappan, Big Data and Analytics, Wiley India, 2nd ed., 2019, Ch. 9 sections 9.1-9.6 and 9.8, Ch. 10 sections 10.1-10.15 and 10.22.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the phrase: Pig scripts read like a data processing recipe.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syntax slides, point to the keyword being introduced.</a:t>
            </a:r>
          </a:p>
          <a:p xmlns:a="http://schemas.openxmlformats.org/drawingml/2006/main">
            <a:r>
              <a:t>Question to ask students: Ask students where this fits in the Hadoop ecosystem.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4 checklist; TB1 listed by syllabus: Seema Acharya and Subhashini Chellappan, Big Data and Analytics, Wiley India, 2nd ed., 2019, Ch. 9 sections 9.1-9.6 and 9.8, Ch. 10 sections 10.1-10.15 and 10.22.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Ask which use case matches the lab item: sort, group, join, project and filter data.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syntax slides, point to the keyword being introduced.</a:t>
            </a:r>
          </a:p>
          <a:p xmlns:a="http://schemas.openxmlformats.org/drawingml/2006/main">
            <a:r>
              <a:t>Question to ask students: Ask students where this fits in the Hadoop ecosystem.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4 checklist; TB1 listed by syllabus: Seema Acharya and Subhashini Chellappan, Big Data and Analytics, Wiley India, 2nd ed., 2019, Ch. 9 sections 9.1-9.6 and 9.8, Ch. 10 sections 10.1-10.15 and 10.22.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LOAD, FILTER, FOREACH and DUMP in one story.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syntax slides, point to the keyword being introduced.</a:t>
            </a:r>
          </a:p>
          <a:p xmlns:a="http://schemas.openxmlformats.org/drawingml/2006/main">
            <a:r>
              <a:t>Question to ask students: Ask students where this fits in the Hadoop ecosystem.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4 checklist; TB1 listed by syllabus: Seema Acharya and Subhashini Chellappan, Big Data and Analytics, Wiley India, 2nd ed., 2019, Ch. 9 sections 9.1-9.6 and 9.8, Ch. 10 sections 10.1-10.15 and 10.22.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Clarify tuple, bag and map because they reappear in complex data examples.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syntax slides, point to the keyword being introduced.</a:t>
            </a:r>
          </a:p>
          <a:p xmlns:a="http://schemas.openxmlformats.org/drawingml/2006/main">
            <a:r>
              <a:t>Question to ask students: Ask students where this fits in the Hadoop ecosystem.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4 checklist; TB1 listed by syllabus: Seema Acharya and Subhashini Chellappan, Big Data and Analytics, Wiley India, 2nd ed., 2019, Ch. 9 sections 9.1-9.6 and 9.8, Ch. 10 sections 10.1-10.15 and 10.22.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Mention that students usually use Grunt shell or script files in labs.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syntax slides, point to the keyword being introduced.</a:t>
            </a:r>
          </a:p>
          <a:p xmlns:a="http://schemas.openxmlformats.org/drawingml/2006/main">
            <a:r>
              <a:t>Question to ask students: Ask students where this fits in the Hadoop ecosystem.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4 checklist; TB1 listed by syllabus: Seema Acharya and Subhashini Chellappan, Big Data and Analytics, Wiley India, 2nd ed., 2019, Ch. 9 sections 9.1-9.6 and 9.8, Ch. 10 sections 10.1-10.15 and 10.22.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This is a likely short-answer comparison.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syntax slides, point to the keyword being introduced.</a:t>
            </a:r>
          </a:p>
          <a:p xmlns:a="http://schemas.openxmlformats.org/drawingml/2006/main">
            <a:r>
              <a:t>Question to ask students: Ask students where this fits in the Hadoop ecosystem.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4 checklist; TB1 listed by syllabus: Seema Acharya and Subhashini Chellappan, Big Data and Analytics, Wiley India, 2nd ed., 2019, Ch. 9 sections 9.1-9.6 and 9.8, Ch. 10 sections 10.1-10.15 and 10.22.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that Pig scripts usually read from and write to HDFS paths.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syntax slides, point to the keyword being introduced.</a:t>
            </a:r>
          </a:p>
          <a:p xmlns:a="http://schemas.openxmlformats.org/drawingml/2006/main">
            <a:r>
              <a:t>Question to ask students: Ask students where this fits in the Hadoop ecosystem.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4 checklist; TB1 listed by syllabus: Seema Acharya and Subhashini Chellappan, Big Data and Analytics, Wiley India, 2nd ed., 2019, Ch. 9 sections 9.1-9.6 and 9.8, Ch. 10 sections 10.1-10.15 and 10.22.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Say these are the verbs of Pig Latin.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syntax slides, point to the keyword being introduced.</a:t>
            </a:r>
          </a:p>
          <a:p xmlns:a="http://schemas.openxmlformats.org/drawingml/2006/main">
            <a:r>
              <a:t>Question to ask students: Ask students where this fits in the Hadoop ecosystem.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4 checklist; TB1 listed by syllabus: Seema Acharya and Subhashini Chellappan, Big Data and Analytics, Wiley India, 2nd ed., 2019, Ch. 9 sections 9.1-9.6 and 9.8, Ch. 10 sections 10.1-10.15 and 10.22.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Point to JOIN, ORDER and LIMIT as common lab tasks.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syntax slides, point to the keyword being introduced.</a:t>
            </a:r>
          </a:p>
          <a:p xmlns:a="http://schemas.openxmlformats.org/drawingml/2006/main">
            <a:r>
              <a:t>Question to ask students: Ask students where this fits in the Hadoop ecosystem.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4 checklist; TB1 listed by syllabus: Seema Acharya and Subhashini Chellappan, Big Data and Analytics, Wiley India, 2nd ed., 2019, Ch. 9 sections 9.1-9.6 and 9.8, Ch. 10 sections 10.1-10.15 and 10.22.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Connect directly to the practical component: sort, group, join, project and filter.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syntax slides, point to the keyword being introduced.</a:t>
            </a:r>
          </a:p>
          <a:p xmlns:a="http://schemas.openxmlformats.org/drawingml/2006/main">
            <a:r>
              <a:t>Question to ask students: Ask students where this fits in the Hadoop ecosystem.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4 checklist; TB1 listed by syllabus: Seema Acharya and Subhashini Chellappan, Big Data and Analytics, Wiley India, 2nd ed., 2019, Ch. 9 sections 9.1-9.6 and 9.8, Ch. 10 sections 10.1-10.15 and 10.22.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that eval functions are used inside FOREACH...GENERATE.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syntax slides, point to the keyword being introduced.</a:t>
            </a:r>
          </a:p>
          <a:p xmlns:a="http://schemas.openxmlformats.org/drawingml/2006/main">
            <a:r>
              <a:t>Question to ask students: Ask students where this fits in the Hadoop ecosystem.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4 checklist; TB1 listed by syllabus: Seema Acharya and Subhashini Chellappan, Big Data and Analytics, Wiley India, 2nd ed., 2019, Ch. 9 sections 9.1-9.6 and 9.8, Ch. 10 sections 10.1-10.15 and 10.22.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group is the grouping key and students is the bag for that department.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syntax slides, point to the keyword being introduced.</a:t>
            </a:r>
          </a:p>
          <a:p xmlns:a="http://schemas.openxmlformats.org/drawingml/2006/main">
            <a:r>
              <a:t>Question to ask students: Ask students where this fits in the Hadoop ecosystem.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4 checklist; TB1 listed by syllabus: Seema Acharya and Subhashini Chellappan, Big Data and Analytics, Wiley India, 2nd ed., 2019, Ch. 9 sections 9.1-9.6 and 9.8, Ch. 10 sections 10.1-10.15 and 10.22.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simple notation so students can recognize examples in code.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syntax slides, point to the keyword being introduced.</a:t>
            </a:r>
          </a:p>
          <a:p xmlns:a="http://schemas.openxmlformats.org/drawingml/2006/main">
            <a:r>
              <a:t>Question to ask students: Ask students where this fits in the Hadoop ecosystem.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4 checklist; TB1 listed by syllabus: Seema Acharya and Subhashini Chellappan, Big Data and Analytics, Wiley India, 2nd ed., 2019, Ch. 9 sections 9.1-9.6 and 9.8, Ch. 10 sections 10.1-10.15 and 10.22.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that grouping produces one record per department with a bag of matching students.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syntax slides, point to the keyword being introduced.</a:t>
            </a:r>
          </a:p>
          <a:p xmlns:a="http://schemas.openxmlformats.org/drawingml/2006/main">
            <a:r>
              <a:t>Question to ask students: Ask students where this fits in the Hadoop ecosystem.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4 checklist; TB1 listed by syllabus: Seema Acharya and Subhashini Chellappan, Big Data and Analytics, Wiley India, 2nd ed., 2019, Ch. 9 sections 9.1-9.6 and 9.8, Ch. 10 sections 10.1-10.15 and 10.22.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Piggy Bank as a toolbox for Pig.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syntax slides, point to the keyword being introduced.</a:t>
            </a:r>
          </a:p>
          <a:p xmlns:a="http://schemas.openxmlformats.org/drawingml/2006/main">
            <a:r>
              <a:t>Question to ask students: Ask students where this fits in the Hadoop ecosystem.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4 checklist; TB1 listed by syllabus: Seema Acharya and Subhashini Chellappan, Big Data and Analytics, Wiley India, 2nd ed., 2019, Ch. 9 sections 9.1-9.6 and 9.8, Ch. 10 sections 10.1-10.15 and 10.22.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Keep it practical and short.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syntax slides, point to the keyword being introduced.</a:t>
            </a:r>
          </a:p>
          <a:p xmlns:a="http://schemas.openxmlformats.org/drawingml/2006/main">
            <a:r>
              <a:t>Question to ask students: Ask students where this fits in the Hadoop ecosystem.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4 checklist; TB1 listed by syllabus: Seema Acharya and Subhashini Chellappan, Big Data and Analytics, Wiley India, 2nd ed., 2019, Ch. 9 sections 9.1-9.6 and 9.8, Ch. 10 sections 10.1-10.15 and 10.22.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Mention Java UDFs commonly, with scripting options depending on environment.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syntax slides, point to the keyword being introduced.</a:t>
            </a:r>
          </a:p>
          <a:p xmlns:a="http://schemas.openxmlformats.org/drawingml/2006/main">
            <a:r>
              <a:t>Question to ask students: Ask students where this fits in the Hadoop ecosystem.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4 checklist; TB1 listed by syllabus: Seema Acharya and Subhashini Chellappan, Big Data and Analytics, Wiley India, 2nd ed., 2019, Ch. 9 sections 9.1-9.6 and 9.8, Ch. 10 sections 10.1-10.15 and 10.22.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a grade-classification function as an easy example.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syntax slides, point to the keyword being introduced.</a:t>
            </a:r>
          </a:p>
          <a:p xmlns:a="http://schemas.openxmlformats.org/drawingml/2006/main">
            <a:r>
              <a:t>Question to ask students: Ask students where this fits in the Hadoop ecosystem.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4 checklist; TB1 listed by syllabus: Seema Acharya and Subhashini Chellappan, Big Data and Analytics, Wiley India, 2nd ed., 2019, Ch. 9 sections 9.1-9.6 and 9.8, Ch. 10 sections 10.1-10.15 and 10.22.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This is one of the most important Module 4 comparison slides.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syntax slides, point to the keyword being introduced.</a:t>
            </a:r>
          </a:p>
          <a:p xmlns:a="http://schemas.openxmlformats.org/drawingml/2006/main">
            <a:r>
              <a:t>Question to ask students: Ask students where this fits in the Hadoop ecosystem.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4 checklist; TB1 listed by syllabus: Seema Acharya and Subhashini Chellappan, Big Data and Analytics, Wiley India, 2nd ed., 2019, Ch. 9 sections 9.1-9.6 and 9.8, Ch. 10 sections 10.1-10.15 and 10.22.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that both can coexist in the same Hadoop ecosystem.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syntax slides, point to the keyword being introduced.</a:t>
            </a:r>
          </a:p>
          <a:p xmlns:a="http://schemas.openxmlformats.org/drawingml/2006/main">
            <a:r>
              <a:t>Question to ask students: Ask students where this fits in the Hadoop ecosystem.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4 checklist; TB1 listed by syllabus: Seema Acharya and Subhashini Chellappan, Big Data and Analytics, Wiley India, 2nd ed., 2019, Ch. 9 sections 9.1-9.6 and 9.8, Ch. 10 sections 10.1-10.15 and 10.22.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this as the end-of-teaching summary.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syntax slides, point to the keyword being introduced.</a:t>
            </a:r>
          </a:p>
          <a:p xmlns:a="http://schemas.openxmlformats.org/drawingml/2006/main">
            <a:r>
              <a:t>Question to ask students: Ask students where this fits in the Hadoop ecosystem.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4 checklist; TB1 listed by syllabus: Seema Acharya and Subhashini Chellappan, Big Data and Analytics, Wiley India, 2nd ed., 2019, Ch. 9 sections 9.1-9.6 and 9.8, Ch. 10 sections 10.1-10.15 and 10.22.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Tell students to include syntax wherever the question asks for query language or Pig Latin.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syntax slides, point to the keyword being introduced.</a:t>
            </a:r>
          </a:p>
          <a:p xmlns:a="http://schemas.openxmlformats.org/drawingml/2006/main">
            <a:r>
              <a:t>Question to ask students: Ask students where this fits in the Hadoop ecosystem.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4 checklist; TB1 listed by syllabus: Seema Acharya and Subhashini Chellappan, Big Data and Analytics, Wiley India, 2nd ed., 2019, Ch. 9 sections 9.1-9.6 and 9.8, Ch. 10 sections 10.1-10.15 and 10.22.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Run these as rapid-fire viva questions.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syntax slides, point to the keyword being introduced.</a:t>
            </a:r>
          </a:p>
          <a:p xmlns:a="http://schemas.openxmlformats.org/drawingml/2006/main">
            <a:r>
              <a:t>Question to ask students: Ask students where this fits in the Hadoop ecosystem.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4 checklist; TB1 listed by syllabus: Seema Acharya and Subhashini Chellappan, Big Data and Analytics, Wiley India, 2nd ed., 2019, Ch. 9 sections 9.1-9.6 and 9.8, Ch. 10 sections 10.1-10.15 and 10.22.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Two-mark answers need compact definitions.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syntax slides, point to the keyword being introduced.</a:t>
            </a:r>
          </a:p>
          <a:p xmlns:a="http://schemas.openxmlformats.org/drawingml/2006/main">
            <a:r>
              <a:t>Question to ask students: Ask students where this fits in the Hadoop ecosystem.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4 checklist; TB1 listed by syllabus: Seema Acharya and Subhashini Chellappan, Big Data and Analytics, Wiley India, 2nd ed., 2019, Ch. 9 sections 9.1-9.6 and 9.8, Ch. 10 sections 10.1-10.15 and 10.22.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Five-mark answers should include a diagram or syntax example.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syntax slides, point to the keyword being introduced.</a:t>
            </a:r>
          </a:p>
          <a:p xmlns:a="http://schemas.openxmlformats.org/drawingml/2006/main">
            <a:r>
              <a:t>Question to ask students: Ask students where this fits in the Hadoop ecosystem.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4 checklist; TB1 listed by syllabus: Seema Acharya and Subhashini Chellappan, Big Data and Analytics, Wiley India, 2nd ed., 2019, Ch. 9 sections 9.1-9.6 and 9.8, Ch. 10 sections 10.1-10.15 and 10.22.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Long answers need definition, architecture/process diagram, syntax and use case.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syntax slides, point to the keyword being introduced.</a:t>
            </a:r>
          </a:p>
          <a:p xmlns:a="http://schemas.openxmlformats.org/drawingml/2006/main">
            <a:r>
              <a:t>Question to ask students: Ask students where this fits in the Hadoop ecosystem.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4 checklist; TB1 listed by syllabus: Seema Acharya and Subhashini Chellappan, Big Data and Analytics, Wiley India, 2nd ed., 2019, Ch. 9 sections 9.1-9.6 and 9.8, Ch. 10 sections 10.1-10.15 and 10.22.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End by asking students to explain the module using only these keywords.</a:t>
            </a:r>
          </a:p>
          <a:p xmlns:a="http://schemas.openxmlformats.org/drawingml/2006/main">
            <a:r>
              <a:t>Pause cue: pause after the main visual appears, then restate the concept in one sentence.</a:t>
            </a:r>
          </a:p>
          <a:p xmlns:a="http://schemas.openxmlformats.org/drawingml/2006/main">
            <a:r>
              <a:t>Pointing cue: point through flows left-to-right; for syntax slides, point to the keyword being introduced.</a:t>
            </a:r>
          </a:p>
          <a:p xmlns:a="http://schemas.openxmlformats.org/drawingml/2006/main">
            <a:r>
              <a:t>Question to ask students: Ask students where this fits in the Hadoop ecosystem.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4 checklist; TB1 listed by syllabus: Seema Acharya and Subhashini Chellappan, Big Data and Analytics, Wiley India, 2nd ed., 2019, Ch. 9 sections 9.1-9.6 and 9.8, Ch. 10 sections 10.1-10.15 and 10.22.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67cc0e9195479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97fd4df6104741" /><Relationship Type="http://schemas.openxmlformats.org/officeDocument/2006/relationships/slideLayout" Target="/ppt/slideLayouts/slideLayout1.xml" Id="Ra387b9cdbfa3496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387b9cdbfa3496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3b482823694afc" /><Relationship Type="http://schemas.openxmlformats.org/officeDocument/2006/relationships/notesSlide" Target="/ppt/notesSlides/notesSlide1.xml" Id="Rfe43a2095c5a421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b1f8fbe5bf4b7b" /><Relationship Type="http://schemas.openxmlformats.org/officeDocument/2006/relationships/notesSlide" Target="/ppt/notesSlides/notesSlide2.xml" Id="Ree1ba2e67aaa4ae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d52ff14cbe41a0" /><Relationship Type="http://schemas.openxmlformats.org/officeDocument/2006/relationships/notesSlide" Target="/ppt/notesSlides/notesSlide3.xml" Id="Rdabe54e842b0424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61e473f0094266" /><Relationship Type="http://schemas.openxmlformats.org/officeDocument/2006/relationships/notesSlide" Target="/ppt/notesSlides/notesSlide4.xml" Id="R5d54199e82554b0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c59539e507419a" /><Relationship Type="http://schemas.openxmlformats.org/officeDocument/2006/relationships/notesSlide" Target="/ppt/notesSlides/notesSlide5.xml" Id="Rd6a54d65e69243f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a74df4a19c4fa5" /><Relationship Type="http://schemas.openxmlformats.org/officeDocument/2006/relationships/notesSlide" Target="/ppt/notesSlides/notesSlide6.xml" Id="R85ad1a8e1e2a461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d58cf97ea34cd2" /><Relationship Type="http://schemas.openxmlformats.org/officeDocument/2006/relationships/notesSlide" Target="/ppt/notesSlides/notesSlide7.xml" Id="Ra64e078da1944fc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b4945864294ee6" /><Relationship Type="http://schemas.openxmlformats.org/officeDocument/2006/relationships/notesSlide" Target="/ppt/notesSlides/notesSlide8.xml" Id="Rdb04d729a7fa4c4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36b27764504495" /><Relationship Type="http://schemas.openxmlformats.org/officeDocument/2006/relationships/notesSlide" Target="/ppt/notesSlides/notesSlide9.xml" Id="R243aa5619ad141d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02a62080fa46bd" /><Relationship Type="http://schemas.openxmlformats.org/officeDocument/2006/relationships/notesSlide" Target="/ppt/notesSlides/notesSlide10.xml" Id="Re6beac0b6c8a450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d538abc7464125" /><Relationship Type="http://schemas.openxmlformats.org/officeDocument/2006/relationships/notesSlide" Target="/ppt/notesSlides/notesSlide11.xml" Id="Re6295b383cb8447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ae93c2fd0e4a0c" /><Relationship Type="http://schemas.openxmlformats.org/officeDocument/2006/relationships/notesSlide" Target="/ppt/notesSlides/notesSlide12.xml" Id="R83c0b17c2d23437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11030767914048" /><Relationship Type="http://schemas.openxmlformats.org/officeDocument/2006/relationships/notesSlide" Target="/ppt/notesSlides/notesSlide13.xml" Id="Rc1e5497c40d9453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057b699cc544d4" /><Relationship Type="http://schemas.openxmlformats.org/officeDocument/2006/relationships/notesSlide" Target="/ppt/notesSlides/notesSlide14.xml" Id="R627d3f8e730c455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86aca05304404c" /><Relationship Type="http://schemas.openxmlformats.org/officeDocument/2006/relationships/notesSlide" Target="/ppt/notesSlides/notesSlide15.xml" Id="R469dabcff6e84e5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d8ea8adf034fce" /><Relationship Type="http://schemas.openxmlformats.org/officeDocument/2006/relationships/notesSlide" Target="/ppt/notesSlides/notesSlide16.xml" Id="Rfcbea0af50a24bc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7d37efbe614b02" /><Relationship Type="http://schemas.openxmlformats.org/officeDocument/2006/relationships/notesSlide" Target="/ppt/notesSlides/notesSlide17.xml" Id="R20a7605504bd4cf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24c21df4e5490a" /><Relationship Type="http://schemas.openxmlformats.org/officeDocument/2006/relationships/notesSlide" Target="/ppt/notesSlides/notesSlide18.xml" Id="R4607402b527a4d2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0a3290a32c46d8" /><Relationship Type="http://schemas.openxmlformats.org/officeDocument/2006/relationships/notesSlide" Target="/ppt/notesSlides/notesSlide19.xml" Id="R5851679661bd49c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9111b14e1446ec" /><Relationship Type="http://schemas.openxmlformats.org/officeDocument/2006/relationships/notesSlide" Target="/ppt/notesSlides/notesSlide20.xml" Id="Rca824f920087495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92e61a8b6640bf" /><Relationship Type="http://schemas.openxmlformats.org/officeDocument/2006/relationships/notesSlide" Target="/ppt/notesSlides/notesSlide21.xml" Id="R3f44831ed1c3496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6f1a2ab08e4de4" /><Relationship Type="http://schemas.openxmlformats.org/officeDocument/2006/relationships/notesSlide" Target="/ppt/notesSlides/notesSlide22.xml" Id="R556c62fcb5d14da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edac36bfe847e6" /><Relationship Type="http://schemas.openxmlformats.org/officeDocument/2006/relationships/notesSlide" Target="/ppt/notesSlides/notesSlide23.xml" Id="R3866a558ea4e4b0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516e35900c476f" /><Relationship Type="http://schemas.openxmlformats.org/officeDocument/2006/relationships/notesSlide" Target="/ppt/notesSlides/notesSlide24.xml" Id="Rf07f61314fd94a4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ff43aa55fb451c" /><Relationship Type="http://schemas.openxmlformats.org/officeDocument/2006/relationships/notesSlide" Target="/ppt/notesSlides/notesSlide25.xml" Id="R864fb39b1a3a49f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df24cd9bdb46fd" /><Relationship Type="http://schemas.openxmlformats.org/officeDocument/2006/relationships/notesSlide" Target="/ppt/notesSlides/notesSlide26.xml" Id="Rc0fa9e4278ed41e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4b4f9779264edf" /><Relationship Type="http://schemas.openxmlformats.org/officeDocument/2006/relationships/notesSlide" Target="/ppt/notesSlides/notesSlide27.xml" Id="R369aabde0dce42c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db316e65f5400d" /><Relationship Type="http://schemas.openxmlformats.org/officeDocument/2006/relationships/notesSlide" Target="/ppt/notesSlides/notesSlide28.xml" Id="R35b1c3658ced45f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e60f179fda43c6" /><Relationship Type="http://schemas.openxmlformats.org/officeDocument/2006/relationships/notesSlide" Target="/ppt/notesSlides/notesSlide29.xml" Id="R50cf6e619d664485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fe7c7adf864b52" /><Relationship Type="http://schemas.openxmlformats.org/officeDocument/2006/relationships/notesSlide" Target="/ppt/notesSlides/notesSlide30.xml" Id="R05c586d4365f4e99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38559464174c5f" /><Relationship Type="http://schemas.openxmlformats.org/officeDocument/2006/relationships/notesSlide" Target="/ppt/notesSlides/notesSlide31.xml" Id="Re1a6accced3348a1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18cc67e9d64c46" /><Relationship Type="http://schemas.openxmlformats.org/officeDocument/2006/relationships/notesSlide" Target="/ppt/notesSlides/notesSlide32.xml" Id="Rb0d62524849445b0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bc11ace06d4922" /><Relationship Type="http://schemas.openxmlformats.org/officeDocument/2006/relationships/notesSlide" Target="/ppt/notesSlides/notesSlide33.xml" Id="Ra74d0f1a04a04418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7df626e2b4496c" /><Relationship Type="http://schemas.openxmlformats.org/officeDocument/2006/relationships/notesSlide" Target="/ppt/notesSlides/notesSlide34.xml" Id="R2b7ac677b66b4384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cbfdb6ece9448a" /><Relationship Type="http://schemas.openxmlformats.org/officeDocument/2006/relationships/notesSlide" Target="/ppt/notesSlides/notesSlide35.xml" Id="R5c2d54889b8745ed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117e1cea2b47ad" /><Relationship Type="http://schemas.openxmlformats.org/officeDocument/2006/relationships/notesSlide" Target="/ppt/notesSlides/notesSlide36.xml" Id="Rd17eaedc6f7a45b0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0d057be58f41a9" /><Relationship Type="http://schemas.openxmlformats.org/officeDocument/2006/relationships/notesSlide" Target="/ppt/notesSlides/notesSlide37.xml" Id="R7e8da75193414abb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1f815e10ea4572" /><Relationship Type="http://schemas.openxmlformats.org/officeDocument/2006/relationships/notesSlide" Target="/ppt/notesSlides/notesSlide38.xml" Id="Rf28619c959984f0a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e202ecf3a5468f" /><Relationship Type="http://schemas.openxmlformats.org/officeDocument/2006/relationships/notesSlide" Target="/ppt/notesSlides/notesSlide39.xml" Id="Rb57b7cce086e47a4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6387e2e95346af" /><Relationship Type="http://schemas.openxmlformats.org/officeDocument/2006/relationships/notesSlide" Target="/ppt/notesSlides/notesSlide40.xml" Id="Re54bfd6d745441a1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1a78c205614094" /><Relationship Type="http://schemas.openxmlformats.org/officeDocument/2006/relationships/notesSlide" Target="/ppt/notesSlides/notesSlide41.xml" Id="Rf48ea1ca13054445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3616aae3d24864" /><Relationship Type="http://schemas.openxmlformats.org/officeDocument/2006/relationships/notesSlide" Target="/ppt/notesSlides/notesSlide42.xml" Id="Rc1536d923e484ee0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f2d23318124ec9" /><Relationship Type="http://schemas.openxmlformats.org/officeDocument/2006/relationships/notesSlide" Target="/ppt/notesSlides/notesSlide43.xml" Id="R0906e47284dc489d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74e292ae834140" /><Relationship Type="http://schemas.openxmlformats.org/officeDocument/2006/relationships/notesSlide" Target="/ppt/notesSlides/notesSlide44.xml" Id="R1b1853a5ee5f4f2c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bbeee89bb84052" /><Relationship Type="http://schemas.openxmlformats.org/officeDocument/2006/relationships/notesSlide" Target="/ppt/notesSlides/notesSlide45.xml" Id="Ref7e4e4aa8254655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2048533d1d4569" /><Relationship Type="http://schemas.openxmlformats.org/officeDocument/2006/relationships/notesSlide" Target="/ppt/notesSlides/notesSlide46.xml" Id="R1a61fbd70ea14783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f7afc93fb04e3e" /><Relationship Type="http://schemas.openxmlformats.org/officeDocument/2006/relationships/notesSlide" Target="/ppt/notesSlides/notesSlide47.xml" Id="Rc3f13efe1da3409b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c6b121fe5946c2" /><Relationship Type="http://schemas.openxmlformats.org/officeDocument/2006/relationships/notesSlide" Target="/ppt/notesSlides/notesSlide48.xml" Id="R510d1d85faec4053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e90134b16c421e" /><Relationship Type="http://schemas.openxmlformats.org/officeDocument/2006/relationships/notesSlide" Target="/ppt/notesSlides/notesSlide49.xml" Id="Raf000e6e91a54ce9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c957a4380b41f6" /><Relationship Type="http://schemas.openxmlformats.org/officeDocument/2006/relationships/notesSlide" Target="/ppt/notesSlides/notesSlide50.xml" Id="R038f2bf2ece24571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e07e71ad904390" /><Relationship Type="http://schemas.openxmlformats.org/officeDocument/2006/relationships/notesSlide" Target="/ppt/notesSlides/notesSlide51.xml" Id="Rce1d3a68e59245ff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64162ab4584804" /><Relationship Type="http://schemas.openxmlformats.org/officeDocument/2006/relationships/notesSlide" Target="/ppt/notesSlides/notesSlide52.xml" Id="R3a385890c4744603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308c84979147b6" /><Relationship Type="http://schemas.openxmlformats.org/officeDocument/2006/relationships/notesSlide" Target="/ppt/notesSlides/notesSlide53.xml" Id="Ra332c04537674c15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7a0aac80194069" /><Relationship Type="http://schemas.openxmlformats.org/officeDocument/2006/relationships/notesSlide" Target="/ppt/notesSlides/notesSlide54.xml" Id="Ra6814c90766c4b36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3d4667e8f54981" /><Relationship Type="http://schemas.openxmlformats.org/officeDocument/2006/relationships/notesSlide" Target="/ppt/notesSlides/notesSlide55.xml" Id="R036545f596534cb5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e73523c20b4ab5" /><Relationship Type="http://schemas.openxmlformats.org/officeDocument/2006/relationships/notesSlide" Target="/ppt/notesSlides/notesSlide56.xml" Id="R4795cdd625f4472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8D1E6D-B91A-4ABC-AF06-17BB8AE5D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2AED63-9E60-4230-AF65-B6134634D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Hive and Pig on Hadoop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1FFBD4-BA79-4601-8748-9ED50AC23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Module 4 teaches SQL-style and data-flow tools for processing data on Hadoop.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DC97D4-85D6-46E8-8CB9-09E99F9A4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3FCA4D-F93B-41AF-98C4-62167EE40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1E502A-26F1-433A-AB2F-663EEAC36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EA36F8-02AC-44C5-AE15-C5288F0EA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Opening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A05A24-7907-4DF2-B0B7-FFA3B16F6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78E774-2490-4A84-AA48-8BE1A2397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5334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8FBFF"/>
                </a:solidFill>
              </a:defRPr>
            </a:pPr>
            <a:r>
              <a:rPr sz="4650" b="1">
                <a:solidFill>
                  <a:srgbClr val="F8FBFF"/>
                </a:solidFill>
              </a:rPr>
              <a:t>VTU BIS701</a:t>
            </a:r>
          </a:p>
          <a:p xmlns:a="http://schemas.openxmlformats.org/drawingml/2006/main">
            <a:pPr>
              <a:defRPr sz="4650" b="1">
                <a:solidFill>
                  <a:srgbClr val="F8FBFF"/>
                </a:solidFill>
              </a:defRPr>
            </a:pPr>
            <a:r>
              <a:rPr sz="4650" b="1">
                <a:solidFill>
                  <a:srgbClr val="F8FBFF"/>
                </a:solidFill>
              </a:rPr>
              <a:t>Module 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54C775-6ADF-4662-9102-42533FE18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67125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B8C7D9"/>
                </a:solidFill>
              </a:defRPr>
            </a:pPr>
            <a:r>
              <a:rPr sz="1800">
                <a:solidFill>
                  <a:srgbClr val="B8C7D9"/>
                </a:solidFill>
              </a:rPr>
              <a:t>Hive • HQL • RCFile • UDF • Pig • Pig Latin • Operators • Pig vs Hive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F8678D-FBF0-465E-BC7C-49B2F6B9A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285875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C69"/>
          </a:solidFill>
          <a:ln xmlns:a="http://schemas.openxmlformats.org/drawingml/2006/main" w="19050">
            <a:solidFill>
              <a:srgbClr val="2C6CA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FF404E-23FC-4229-9A35-5E1B35EA5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955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7D12DE-3636-4EC1-B689-7D3932588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238375"/>
            <a:ext cx="2571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8FBFF"/>
                </a:solidFill>
              </a:defRPr>
            </a:pPr>
            <a:r>
              <a:rPr sz="2325" b="1">
                <a:solidFill>
                  <a:srgbClr val="F8FBFF"/>
                </a:solidFill>
              </a:rPr>
              <a:t>HIVE</a:t>
            </a:r>
          </a:p>
          <a:p xmlns:a="http://schemas.openxmlformats.org/drawingml/2006/main">
            <a:pPr algn="ctr">
              <a:defRPr sz="2325" b="1">
                <a:solidFill>
                  <a:srgbClr val="F8FBFF"/>
                </a:solidFill>
              </a:defRPr>
            </a:pPr>
            <a:r>
              <a:rPr sz="2325" b="1">
                <a:solidFill>
                  <a:srgbClr val="F8FBFF"/>
                </a:solidFill>
              </a:rPr>
              <a:t>PIG</a:t>
            </a:r>
          </a:p>
          <a:p xmlns:a="http://schemas.openxmlformats.org/drawingml/2006/main">
            <a:pPr algn="ctr">
              <a:defRPr sz="2325" b="1">
                <a:solidFill>
                  <a:srgbClr val="F8FBFF"/>
                </a:solidFill>
              </a:defRPr>
            </a:pPr>
            <a:r>
              <a:rPr sz="2325" b="1">
                <a:solidFill>
                  <a:srgbClr val="F8FBFF"/>
                </a:solidFill>
              </a:rPr>
              <a:t>HQL</a:t>
            </a:r>
          </a:p>
        </p:txBody>
      </p:sp>
    </p:spTree>
    <p:extLst>
      <p:ext uri="{BB962C8B-B14F-4D97-AF65-F5344CB8AC3E}">
        <p14:creationId xmlns:p14="http://schemas.microsoft.com/office/powerpoint/2010/main" val="18639401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F6AA0B-1787-4B7E-909B-75BB269A0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7817F6-3C17-440F-8721-A36648A0B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Module 4 learning journey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53EBC0-4CEE-4B0E-8C91-7D17F5FCA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Use the VTU syllabus as the checklist.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87FFE8-BA6A-4D00-8503-61BEFD56C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2FEBDD-3805-453C-833E-49F06B2CE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B48D17-375C-426D-A4C4-B3F497C55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46BB8D-56F6-491C-9F4B-D77C05F6E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Opening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BB7321-72AC-482A-B0D7-BA573698D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1EF290-F5EB-4A22-A580-C33269A5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26DC9B-B909-4D78-AFD3-53A80534F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F562D3-0A69-4DCD-8F44-CEAF0D48F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16954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Explain Hive, architecture, data types, file formats, HQL, RCFile and UDF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EBB829-4ABB-40EE-A7E5-4F2A0D637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9C1687-D812-4675-8D07-862807B65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E134AE-D880-47F9-9F8C-F3B7A3988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2098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Explain Pig, anatomy, philosophy, use cases and Pig on Hadoop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31E22A-D5F5-4013-B99F-04228EC69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4DD9E7-5768-4D7F-8172-4B685BB0E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5348F6-6B8A-4159-B857-67EBA572F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7241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Teach Pig Latin overview, data types and execution modes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DEB14C-14F7-4A44-9A5A-2F8662F3D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C67312-DDA2-4665-ACCB-9FC66A034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FAF49D-C3AD-47B8-8772-C648EDC7B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2385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Cover HDFS commands, relational/eval operators and complex data types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977AAB-B04D-42B1-9C11-FEEE0307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05C13A-D86A-4BAA-951B-3B1C77AC2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6C7B7F-01EB-4BF9-B393-6A8C0458E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7528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Explain Piggy Bank, UDF and Pig vs Hive</a:t>
            </a:r>
          </a:p>
        </p:txBody>
      </p:sp>
    </p:spTree>
    <p:extLst>
      <p:ext uri="{BB962C8B-B14F-4D97-AF65-F5344CB8AC3E}">
        <p14:creationId xmlns:p14="http://schemas.microsoft.com/office/powerpoint/2010/main" val="11258335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E0AE32-962B-495B-9053-89A992888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885BE3-2B49-4EFD-AC0C-48D2BECC8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Why tools above Hadoop are needed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71ED69-ED79-434B-BBDD-123268172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Raw MapReduce is powerful but verbose for common analysis.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30E41E-0047-42B0-AC77-72B72B971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0633B3-62FD-454E-BD20-B7285AD32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F7CD5F-59BC-4EC1-86B3-CE598E101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51F058-148E-43B5-BF4C-17819C23B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Opening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54C852-BA24-4F2A-B0F7-EB88DD20B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7ACBA1-21C6-4FF2-9836-3A6FD5C38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9DEC31-23B3-45C8-AAC9-F4381FD4D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Raw data in HDFS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F50216-FE8E-49CD-BF8A-240B07529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F48055-FB78-48A1-95D0-721FC69D8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412FC5-DD29-4C9B-A77B-E7A96C834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Need query or transform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3BE4E8-0A81-4A6C-8BF3-55F08D662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7CFBC3-2E21-4CAF-99A4-496454525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2065A1-4B2F-4887-AC76-A3798EA54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Hive or Pig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4FE275-479B-4279-9131-008FD5D26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F6231E-10D1-4C03-A62F-89FDF3E7D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50E7DB-76A5-4CF7-9998-4F1ACFB70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MapReduce/Tez jobs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26DF23-7669-4889-8A30-CC2F2D8E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1443BD-BE56-4D17-A3D6-ADF6BBFD2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C260AF-77C0-40BA-9A24-D3592351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Analytics output</a:t>
            </a:r>
          </a:p>
        </p:txBody>
      </p:sp>
    </p:spTree>
    <p:extLst>
      <p:ext uri="{BB962C8B-B14F-4D97-AF65-F5344CB8AC3E}">
        <p14:creationId xmlns:p14="http://schemas.microsoft.com/office/powerpoint/2010/main" val="12193479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AB7977-3547-4AFB-90EF-629578A4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595FC7-B9E9-4E78-B653-6C163D266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What is Hive?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CD7918-08D8-493A-86BE-679AC012D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Define Hive as the data warehouse layer of Hadoop.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D4C1AC-08A4-4C96-82AC-04C5B74E8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2A26C3-2215-4D06-85C6-67CE9421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08BEEB-9640-4D74-BEED-0AEEAB7C2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8049C9-9DEC-421A-8F25-8AC661096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Hive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B5C93C-A360-4F1D-A0BC-90573BCCB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E49C7B-562C-4A43-A3F1-FFE9B96CF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9F1C"/>
                </a:solidFill>
              </a:defRPr>
            </a:pPr>
            <a:r>
              <a:rPr sz="3900" b="1">
                <a:solidFill>
                  <a:srgbClr val="FF9F1C"/>
                </a:solidFill>
              </a:rPr>
              <a:t>Hive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DFF7E8-ECE2-4239-A1DB-B1CE717A5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9906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8FBFF"/>
                </a:solidFill>
              </a:defRPr>
            </a:pPr>
            <a:r>
              <a:rPr sz="2175">
                <a:solidFill>
                  <a:srgbClr val="F8FBFF"/>
                </a:solidFill>
              </a:rPr>
              <a:t>A Hadoop data warehouse system that lets users query large datasets in HDFS using SQL-like Hive Query Language.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7106AF-95F0-4B3E-93B5-E2D666853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FBF9C7-6114-4916-B926-619CEBA09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Warehouse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AE3F0E-4C5E-4078-915B-382CE49F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33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6C7C9F-28C9-46BB-A831-2CADEA444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18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C12B7D-EA0F-4B72-A183-D3811FD9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48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HDFS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BE7DFD-D75F-41D8-9312-87183D63A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964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767FD7-8154-4144-A0DF-6F95EE7FA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49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C50F12-99DD-4F5D-82F0-5D2EAECA4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779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HQL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EED264-1C0C-4566-BC11-2075A9CC1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95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5DA410-C2DE-4365-998D-CF3B6DA15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12CCA4-7110-4485-BF00-6913AAA3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10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Schema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A0EF0C-D988-48B4-B618-5F0DEAE14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26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C8235B-8DB8-41C1-AD2D-6D477961F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211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E16FF9-CDC2-4AB8-B813-CD645C9AB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641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Batch analytics</a:t>
            </a:r>
          </a:p>
        </p:txBody>
      </p:sp>
    </p:spTree>
    <p:extLst>
      <p:ext uri="{BB962C8B-B14F-4D97-AF65-F5344CB8AC3E}">
        <p14:creationId xmlns:p14="http://schemas.microsoft.com/office/powerpoint/2010/main" val="83599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D508A5-BEE8-4AE0-BD85-B1746B8D6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B6C832-78E4-4CE8-8E61-38032F89C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Why Hive?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E859E0-B919-4DA1-A422-DF7A6B3B1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Hive makes Hadoop accessible to SQL users.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20EFF5-33EA-4C71-B263-B6C5C2E30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3C20A7-02F0-49B4-8FFA-4704C36E0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C11E28-B7E7-4FB7-84EF-F2CC7BED2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086C82-9889-4B11-937A-E0542324D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Hive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0CFA8E-25C4-4E47-A815-7FB77D9F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7D404D-5959-4518-B81D-851C90D0D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8186DE-AD8E-4817-B05D-94F6563DD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19E4B7-9C4C-4CA0-ACDD-408AFB7DB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6215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SQL-like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BF61A5-9F1E-442C-A77E-F4492B331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4315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Analysts can write familiar SELECT queries.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D111AA-9E7F-4A06-83D6-D5FD1CA0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788B37-0402-4590-84ED-29A39A84E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4903EC-5B5F-46EF-BF43-4412FB99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6215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Scales on Hadoop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A1C1D6-C91C-4480-844C-5DC9401E8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4315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Queries run over large HDFS datasets.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C96874-FC66-446B-B2B6-652F6E5A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EF820C-0F39-4AEC-B6F1-CA2F30012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60978D-3D1A-4493-A127-E2259F7AF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7190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Schema on read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7F9357-5425-448C-9FF8-0C99DFCCE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5290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Structure is applied when data is queried.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62AA7B-60A5-403C-B819-BCC52A583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9AEA68-5C04-422F-9F85-1EEFE9E65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F89BFD-C30C-4731-8218-585E88EF4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7190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ETL friendly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6326EB-1DBE-4FD3-AB12-A3BDFA59B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15290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Supports summarization and transformation workflows.</a:t>
            </a:r>
          </a:p>
        </p:txBody>
      </p:sp>
    </p:spTree>
    <p:extLst>
      <p:ext uri="{BB962C8B-B14F-4D97-AF65-F5344CB8AC3E}">
        <p14:creationId xmlns:p14="http://schemas.microsoft.com/office/powerpoint/2010/main" val="9869531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3FBE0FA-70FE-4692-8C4A-1DD74E3E2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D7760B-5DCD-4D9E-803B-72C198106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Hive is not a transactional RDBMS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6FE5F6-8E2F-41F0-AE95-3CD7A9BA2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Correct the most common misconception.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F71805-714E-41EE-9CCA-4F3A8A722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BD4416-606A-4B8C-BC3C-D261F67E3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B2BBC2-DC14-4FFE-9E30-CB8CDA03F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F8E061-47FA-479B-A344-262BD8F65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Hive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5E5B16-A66F-4425-981F-477923A08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99C683-63DD-4D83-8DD3-34F2DF33A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08C070-D28F-43B7-88FF-63FAF14F8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909C3B-702E-44F9-B406-876F7BF48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Traditional RDBMS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DBDB60-7401-4919-A408-65A99CF4E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45910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DE0034-358D-404F-97FE-A8BF75C14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9CEC63-9CDE-4623-B016-43720CD98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1E2AAF-ABDC-40CE-AEB6-5CB274CB0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7165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Hive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F9072F-3BDE-4189-A04D-777182D60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52650"/>
            <a:ext cx="45910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E62527-513C-4B85-B779-A7D569591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5AE8C4-40F9-4AF5-9961-2E60C5804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05879D-0514-4C47-9D6F-9A628877F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86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Low-latency transactions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62DA08-0803-453B-8F17-C45568A4E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F06FF2-84F0-48D2-8CDD-7F0FE95C1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5F5A05-8E68-47C5-A431-9088F4D8D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003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Frequent updates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7AB79B-09FF-4FBD-8684-8C5DB2188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D85A22-E0C0-490F-B4FE-9F7D7978E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9CEEA2-AF64-4063-BAFE-641F528B9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147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Normalized tables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E815BE-1F90-4C60-A358-7DF0BE195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F70143-394A-4B23-8C38-8967FD6DF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DEF021-7402-48F8-82AD-4CA45F518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290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OLTP focus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41A8C0-3D4F-494A-A815-D240907B4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24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3D52B8-15C2-4A24-927C-0CF1A097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241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9B40D1-3AEF-4590-A7C7-02DA01FFB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86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High-latency batch queries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328837-A9C2-4672-8795-E9BFAAEF5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38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ED81B69-EF69-4F04-A499-BBBE0507C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384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2E69E48-CDF9-49DC-9714-DE91C97F7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003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Large scans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B30F513-99D7-4C12-A31A-E72085330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9185F01-1F21-4BFF-93CC-F3718113F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12FE7A3-AFD9-4219-A0B1-CC02AB311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147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Schema on read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F4B92A3-1C62-4111-AE6B-54D19848E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67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24A04B4-F53C-4C9C-98E0-66C549149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671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9621BDE-F5FF-43A6-9DDA-0B5789448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290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Analytics/ETL focus</a:t>
            </a:r>
          </a:p>
        </p:txBody>
      </p:sp>
    </p:spTree>
    <p:extLst>
      <p:ext uri="{BB962C8B-B14F-4D97-AF65-F5344CB8AC3E}">
        <p14:creationId xmlns:p14="http://schemas.microsoft.com/office/powerpoint/2010/main" val="17937642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84810AD-A9F3-44DD-9313-5D690C56F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BF008D-6BCE-4495-B1C7-6F9AAFF77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Hive architecture at a glance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A3CEB7-851B-4C1A-ACEC-298A5CE81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how an HQL query becomes a Hadoop job.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4D8900-1B4D-4FD0-8A95-702508BF6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3681BC-29F3-4A2F-801D-771A24B04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9E1F78-B042-462D-A7F8-AC3FB5724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9D3B22-A4D0-4C59-84CD-277D71889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Hive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5EA1BA-EC4A-4C27-8682-A976A59A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EB5B64-3857-405D-A445-D69BC4A10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81300"/>
            <a:ext cx="24765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0E80F7-45B3-405A-A3A1-410188DEB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0956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7111F"/>
                </a:solidFill>
              </a:defRPr>
            </a:pPr>
            <a:r>
              <a:rPr sz="2250" b="1">
                <a:solidFill>
                  <a:srgbClr val="07111F"/>
                </a:solidFill>
              </a:rPr>
              <a:t>Hive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4C0647-25E1-46DA-B70F-D112C8803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05000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9815D7-3EB6-4CCF-A6B2-CDEDD4B68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0500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5D595F-B43C-4259-8377-E22F392D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057400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User / CLI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E99700-AC9F-4704-90D6-F57A1A7E4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438400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Submits HQL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30C8DE-20C1-4F62-9C91-4CC8C5CC2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619250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D419AA-ECE7-45F4-9777-E5C36B786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61925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819FB4-7A1C-43DD-BFF8-493FE85C8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771650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EC4B6"/>
                </a:solidFill>
              </a:defRPr>
            </a:pPr>
            <a:r>
              <a:rPr sz="1725" b="1">
                <a:solidFill>
                  <a:srgbClr val="2EC4B6"/>
                </a:solidFill>
              </a:rPr>
              <a:t>Driver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54151A-0046-44CC-A9BC-7343DF8AA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152650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Manages query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1F73F3-1F48-4DC5-B992-14D05A0F3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905000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C5213B-2E0D-4697-BC81-BBDD548C8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90500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C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9988F7-1A3C-4DD9-9BF2-0D8B4C31C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057400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7C8FF"/>
                </a:solidFill>
              </a:defRPr>
            </a:pPr>
            <a:r>
              <a:rPr sz="1725" b="1">
                <a:solidFill>
                  <a:srgbClr val="77C8FF"/>
                </a:solidFill>
              </a:rPr>
              <a:t>Compiler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BA09DC-A87D-407D-BFFF-E0DAB0A24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438400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Creates plan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D06501-C3D7-4E4B-B413-4E0EE2ED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29125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C0323A-A0A0-48F9-888C-AA295E69A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29125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86FED5-73E0-460B-A58F-8A22B2BB2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581525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BF69"/>
                </a:solidFill>
              </a:defRPr>
            </a:pPr>
            <a:r>
              <a:rPr sz="1725" b="1">
                <a:solidFill>
                  <a:srgbClr val="FFBF69"/>
                </a:solidFill>
              </a:rPr>
              <a:t>Metastore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ED29A6-6F12-43E1-AB75-7EA0F9B31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962525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Stores schema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4E6B38-F4B5-4794-BB33-AFE15FC84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810125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288393-B9AA-4925-916A-7D03022D9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810125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C882E1-BEB7-492E-B42C-2C4ADF3F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962525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EC4B6"/>
                </a:solidFill>
              </a:defRPr>
            </a:pPr>
            <a:r>
              <a:rPr sz="1725" b="1">
                <a:solidFill>
                  <a:srgbClr val="2EC4B6"/>
                </a:solidFill>
              </a:rPr>
              <a:t>Execution engine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9DB7A5-6AAB-44F4-8D96-4187064BC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343525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Runs jobs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54B499-5377-44A0-B160-7BDF2F605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29125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8746C3-EF24-4425-BD1A-B7C8FFD1A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29125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86208CA-4654-49E3-B200-7D81F40A5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581525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HDFS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9E62C4B-D03B-4559-BFA1-76FC62C20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962525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Stores data</a:t>
            </a:r>
          </a:p>
        </p:txBody>
      </p:sp>
    </p:spTree>
    <p:extLst>
      <p:ext uri="{BB962C8B-B14F-4D97-AF65-F5344CB8AC3E}">
        <p14:creationId xmlns:p14="http://schemas.microsoft.com/office/powerpoint/2010/main" val="8502570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BE0CF9-2CAC-4E00-9238-DE1F9415A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60C0F8-70B3-45FA-8DBB-CFE99E0AE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Hive components and their responsibilities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B942C8-F308-4F11-8BD2-3E82A3367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Break the architecture into teachable parts.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EA0738-248E-4F50-883F-C309F1AB1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34D756-BAE6-4923-A5C8-2B0A85117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EFB56C-0F2F-453C-9544-B580BB831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8C4893-B27A-4281-A48D-2E171D0F0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Hive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7D3A48-03B3-4A03-9C95-2C093A27D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1F111A-0CE1-4798-BFC0-FDA4246EA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2B066A-70A8-489B-8962-AE3CF6597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4E0618-47CB-4DF9-90BB-2EF4AD539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16954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User interface accepts HiveQL commands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F08481-6EB9-4170-9B6F-E66632E53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B68784-BCC9-4DD4-A67A-43AC36D11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41FD8F-BF7B-4328-BA99-44E9F6307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2098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Driver manages session and query life cycle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B68C5B-C50E-438C-8890-DFB24C18E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FA2958-A37D-43F2-9F7D-11B2731AB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DCAE62-48DC-4CED-BC69-AB5FB32F3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7241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Compiler parses HQL and creates execution plan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D9E0DB-0A64-4BE3-8E16-0D4044036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B0234C-5D27-443C-BFE2-0D598D65F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CC6768-E073-40D5-816F-2B662F9C0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2385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Metastore stores table, partition and schema metadata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F29A93-8452-4351-B373-0B63C7D2C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44EEE5-ABD6-47EC-8438-C46D90838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373DC3-0754-472F-BFF2-99C6CAF0B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7528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Execution engine submits jobs to Hadoop processing layer</a:t>
            </a:r>
          </a:p>
        </p:txBody>
      </p:sp>
    </p:spTree>
    <p:extLst>
      <p:ext uri="{BB962C8B-B14F-4D97-AF65-F5344CB8AC3E}">
        <p14:creationId xmlns:p14="http://schemas.microsoft.com/office/powerpoint/2010/main" val="5469585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BC4AE4-FFD1-4FB7-9EF0-D335467DD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D2871F-7BB0-4D3B-A44A-52059058C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Hive query life cycle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1DA3E3-C3AF-409C-AD33-A990F02BD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working process step by step.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82660F-2F98-4060-927D-72E35921B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24AE59-1DE1-4BBC-8D8E-73940E29B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20A54C-F792-4D69-9E69-788D49675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82CAA7-37F2-458A-9910-7AD23799A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Hive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5B5F69-7186-4EF5-A9C3-420C8FD03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779D80-88BF-4080-816B-2ADF5912F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3FB925-D164-4069-92E4-4BEC73CF6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Write HQL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DBFFEA-6F96-429E-8562-390288E57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29B03E-613D-4461-8FC0-B9C2EBAFC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F5181B-F930-408E-ACD2-62B30F578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Parse and compile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B6DEE7-E628-4555-9113-07E72E644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7532FA-234E-4CBA-B765-BDE40504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0EC852-D5B7-455C-941D-29E1D04EB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Check metastore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E3DBA1-B3A4-4149-972F-EEBCB1AE0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14A5A4-1B4D-4EEB-BF0A-86C8A9E75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54D7E7-AEDB-40EC-948F-5270A51C7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Execute Hadoop job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A7F0EB-B518-45DA-92D0-C932563B1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560749-9EC2-437D-BE80-16457F60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17D982-5C2B-4558-A8A0-44C258F05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Return result</a:t>
            </a:r>
          </a:p>
        </p:txBody>
      </p:sp>
    </p:spTree>
    <p:extLst>
      <p:ext uri="{BB962C8B-B14F-4D97-AF65-F5344CB8AC3E}">
        <p14:creationId xmlns:p14="http://schemas.microsoft.com/office/powerpoint/2010/main" val="1089393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D9E8E9-1819-49EF-9838-CB576929C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C5603F-4938-4AD7-8790-10287C864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Hive metastore is the memory of Hive tables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BAD7B7-4C4D-477B-ADB0-7B5F59CA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why metadata matters.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53E40E-BA6C-4B21-9910-69E96B846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5AEC5C-B920-4C3E-8712-4123148B0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81CC58-3C8A-49B0-B62C-EBF0D92D6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6B02EE-E683-49D5-A2B6-7179B3079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Hive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9E4158-BB36-4CAE-A72F-9857B36DE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E12F6B-6B6D-4CB5-ACBF-F60A45912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9F1C"/>
                </a:solidFill>
              </a:defRPr>
            </a:pPr>
            <a:r>
              <a:rPr sz="3900" b="1">
                <a:solidFill>
                  <a:srgbClr val="FF9F1C"/>
                </a:solidFill>
              </a:rPr>
              <a:t>Metastore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F9AE38-7B0D-498D-B77B-90C318A80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9906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8FBFF"/>
                </a:solidFill>
              </a:defRPr>
            </a:pPr>
            <a:r>
              <a:rPr sz="2175">
                <a:solidFill>
                  <a:srgbClr val="F8FBFF"/>
                </a:solidFill>
              </a:rPr>
              <a:t>A repository that stores metadata such as databases, tables, columns, partitions, locations and file formats.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70B82F-436C-4F03-8A90-4AA131B2A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5CD1AB-4094-45D9-98F5-58D4476D8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Database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61EE15-3C75-4F74-8923-6C99C6F4C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33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BE7244-CD34-4CEF-B08B-382090714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18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0DF13E-DFF3-4E9B-8D1F-5491025FD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48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Table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5E9CE6-2A09-485C-A820-71A4593B3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964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120E8F-53E3-40C6-BA53-7AF3B4EBA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49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90098A-B13A-4E37-9F83-0C97A5835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779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Column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26780A-0A90-499A-A2BC-D647EADCD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95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E60589-0551-4245-B428-57E957BEF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B9297E-4867-4E10-9ABA-81C60A618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10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Partition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37F8A6-3FE9-433B-90A3-49D82537B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26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CEEECD-B7F9-4D5F-9FA1-A63CB5A1B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211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3167E4-493B-4E4C-9D13-CD9D2AA63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641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Location</a:t>
            </a:r>
          </a:p>
        </p:txBody>
      </p:sp>
    </p:spTree>
    <p:extLst>
      <p:ext uri="{BB962C8B-B14F-4D97-AF65-F5344CB8AC3E}">
        <p14:creationId xmlns:p14="http://schemas.microsoft.com/office/powerpoint/2010/main" val="119036793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C94F75-08C3-4990-BC1E-4DBA9E862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AE7831-E39A-47A8-98A8-D35E461E0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Hive data types: primitive types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1FFA48-7049-441A-B9B2-CCBDE84EB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Introduce common simple types.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D633AD-3596-49B3-AD7A-888B081E1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5602D4-8CA5-49F7-BE4F-460F25842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7E182C-C4BE-4984-A600-F2412C6EE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0EC2AF-DDF4-442E-9492-6A7E95786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Hive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743BC1-E209-40B1-931E-DF1E7A35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AC7046-6FC6-47B1-B70F-831A82837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F574AD-6127-4596-B34F-1ADF754E6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8C8896-BABD-4E74-8CD0-78D37D74A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16954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TINYINT, SMALLINT, INT, BIGINT for integer values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D2E4C4-A095-411C-8B86-695EBBD70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9B0904-0E21-4C3F-84BB-4DBEA471F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A60FEB-F094-4466-9E24-AE003CD3D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2098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FLOAT, DOUBLE, DECIMAL for numeric values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2C20B0-5B31-4A27-A4DF-FFE32302C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5DD777-9795-4370-9B91-73121A330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8AB836-9D5D-4E49-9F1C-654D740D0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7241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STRING, CHAR, VARCHAR for text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50A75A-5B06-44BB-895B-7DD5DEC95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78D394-D8DC-4B12-83E8-C83FDBA48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465B50-079A-4CA1-A423-01CF11072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2385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BOOLEAN for true/false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0A3D86-0EE1-497D-9062-BFDC67507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466A94-3B2A-47F9-A024-A239D829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08951A-C976-473B-A608-156506FF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7528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DATE and TIMESTAMP for time values</a:t>
            </a:r>
          </a:p>
        </p:txBody>
      </p:sp>
    </p:spTree>
    <p:extLst>
      <p:ext uri="{BB962C8B-B14F-4D97-AF65-F5344CB8AC3E}">
        <p14:creationId xmlns:p14="http://schemas.microsoft.com/office/powerpoint/2010/main" val="21210100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1665C5-B0E9-499E-B877-42F367D5E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58A27C-6595-48D2-A093-A89F5EBC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Hive data types: complex types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D171E4-E39F-4668-9B8B-D2B8642DE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data beyond flat columns.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B439BE-E27D-4867-A976-3B1446B02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4CBD62-91FA-4537-8599-2301A9587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99EB19-CE9C-493D-B0FD-9C14CD4B0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B76961-1C81-4C34-A933-0AD1561DE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Hive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D31371-B5D4-49FF-8C28-B56F6E860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50B019-E2E8-41F1-B199-22649F37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304800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356B5A-5928-4B1A-9859-36CF6974A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762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518DE7-0B9B-4E65-90D1-6049BCD71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027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ARRAY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D94E52-C2D4-4A3C-BE90-C62F61C3E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81275"/>
            <a:ext cx="2686050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Ordered list of same-type values.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784310-716C-4AB4-85B3-796685E92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47875"/>
            <a:ext cx="304800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013DF9-061D-4BA7-913D-4569E7155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47875"/>
            <a:ext cx="762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451C25-1019-4E8F-82D0-FF87CF483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0027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MAP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8EADE5-70F5-4B42-A893-854744F57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81275"/>
            <a:ext cx="2686050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Key-value collection.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8ABA71-94C6-435C-925B-8F751C025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47875"/>
            <a:ext cx="304800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F526A3-F551-4C9B-8689-8872E2173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47875"/>
            <a:ext cx="762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A9D86B-E48F-4819-A341-E4C329952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027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EC4B6"/>
                </a:solidFill>
              </a:defRPr>
            </a:pPr>
            <a:r>
              <a:rPr sz="1725" b="1">
                <a:solidFill>
                  <a:srgbClr val="2EC4B6"/>
                </a:solidFill>
              </a:rPr>
              <a:t>STRUCT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CA595D-4582-4CC1-B454-B5014252C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81275"/>
            <a:ext cx="2686050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Grouped fields with names and types.</a:t>
            </a:r>
          </a:p>
        </p:txBody>
      </p:sp>
    </p:spTree>
    <p:extLst>
      <p:ext uri="{BB962C8B-B14F-4D97-AF65-F5344CB8AC3E}">
        <p14:creationId xmlns:p14="http://schemas.microsoft.com/office/powerpoint/2010/main" val="46010656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334407-A88E-4226-9F4E-A4083262A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67CA29-5E88-4ACD-A2A7-5D7FF148C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Hive file formats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7E2723-DCC7-4DA8-A4D0-0EB317B8C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why storage format changes performance.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EDFC6E-1A38-42A2-81B5-A6223F05F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C82483-F287-4DE4-8F54-18411797B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09A00D-35CE-422B-8FE3-EAD8B1668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4CCF12-A23F-4B83-A2BA-1D77238AE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Hive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0CC5AB-C916-4261-8B9B-A1ABDAC17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F9C319-5226-4923-9CD0-36D4D852C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6D410D-3681-4E71-B5C2-E1AF239C1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BD17E7-5B39-4710-ACEB-D4AE7EBFA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6215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TextFile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5343F4-154C-433D-BDC7-719B98E6D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4315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Simple and human-readable, but less efficient.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76314B-34DA-41F5-A57E-0935E54B3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CCF55D-3B61-414A-8A0C-E3DCC0274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6F1DFA-44C9-4841-8BDD-9329BD3BC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6215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SequenceFile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781886-455D-4F2F-868B-74F4878B5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4315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Binary key-value Hadoop format.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943669-976F-4C84-9255-4BBA63C41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EBABD9-B1B9-4C77-B9C1-27CD4E99C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C314CA-011E-4549-B910-AA9DB0F5C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7190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RCFile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4FB036-BE07-4946-8DFA-E4875663F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5290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Columnar storage for Hive workloads.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DF475E-C727-4A22-90C1-89DA6EEE4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8BBE63-090D-44FE-BDB8-671E1AB8B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39ABE9-A28B-47E7-8B56-9A4A2924A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7190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ORC/Parquet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9FAE3C-2EE0-49DF-B5DB-D1A1E37D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15290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Modern optimized columnar analytics formats.</a:t>
            </a:r>
          </a:p>
        </p:txBody>
      </p:sp>
    </p:spTree>
    <p:extLst>
      <p:ext uri="{BB962C8B-B14F-4D97-AF65-F5344CB8AC3E}">
        <p14:creationId xmlns:p14="http://schemas.microsoft.com/office/powerpoint/2010/main" val="77025064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8FC08CD-BB51-468E-A4D0-16CE4E0B5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C3054B-EAFB-4DEF-82C2-361A81215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Row format vs columnar format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70B187-0A6F-4592-A68C-A6E8DAEB7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Motivate RCFile and analytics formats.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9D64C4-2E8B-4B28-939F-BDC186EBD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B0D410-F2D7-4C67-BE5A-08EE4495E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7A976B-F181-4C34-9DAA-FEEF98A9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600835-84DA-45EB-B831-7A5BA1704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Hive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132355-3849-41A1-910A-DAA52E81F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6C4E68-3BF0-4B87-B787-897DF212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20D9A9-A57F-4F3D-8604-B91227FAA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52F53F-0B91-442D-BC67-122B049AF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Row-oriented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6D7F66-93E9-47B6-BEA5-60B2AAC73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45910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4F480A-5B88-4D73-B692-F3BB992D9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14B10A-D538-4DEF-A04D-9420520AF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82FE55-3495-4B95-A696-5B12F74DE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7165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Column-oriented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4F29B0-8294-4B68-A928-8D7638EA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52650"/>
            <a:ext cx="45910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D2C11C-E1A8-4051-A13D-2E61E7696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31593E-B6D3-40B3-BA29-E778938AF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01B950-779B-4139-A300-CD17FC7F1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86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Stores complete rows together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3E507F-9E32-4FDC-92AE-F177022F9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91D12B-135B-4422-8D99-E0AF4F1BE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C4F711-FD5F-4118-BF79-D49370C72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003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Good for writing records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A8FF62-6C21-4E26-8F98-1C35D0B11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BE68FC-F1AA-40CC-931A-2D020F912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460CF3-B552-448F-8AAC-9F1B0F7EB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147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Reads full rows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517B00-2E4C-4577-B61F-A10E11B10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DF0403-9CDC-4C2C-AF15-8E8FDB7D5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3E5887-29A8-4EBF-B92F-AF9537B5A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290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Simple layout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120CFF-3D73-429A-9C1C-D574E32D8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24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618B03-6E34-4436-8277-9E09BA66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241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5FF878-5634-40D9-BC1C-F8A76FE0D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86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Stores column chunks together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9B8B1C-5581-41E4-852A-DF8CAC3E2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38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EFEAEAA-60C0-4109-9E44-903009C04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384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97ECFC4-C543-4D07-9292-A7DDE3FE4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003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Good for selected columns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0A34B70-5B53-4ADE-98C8-7387ACA0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36EB26-7A80-4397-B8C5-CF95A2493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C6D32CE-9B24-4328-A3B3-A718B5218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147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Better compression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750DB61-D2F5-45D2-B353-291681093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67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192D0F2-CC66-4C97-9C5E-551408C74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671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7CFB8F5-A419-4072-820F-FF2FAD258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290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Efficient analytics scans</a:t>
            </a:r>
          </a:p>
        </p:txBody>
      </p:sp>
    </p:spTree>
    <p:extLst>
      <p:ext uri="{BB962C8B-B14F-4D97-AF65-F5344CB8AC3E}">
        <p14:creationId xmlns:p14="http://schemas.microsoft.com/office/powerpoint/2010/main" val="81088743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68DD77-0843-44E6-A00D-9C42066B7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493B84-E11B-46B9-87E8-478B2CF9C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RCFile implementation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F7AF9F-FD85-4F01-9552-A1E30F8B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RCFile without overloading details.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AFE633-DD10-40C2-A864-24A7404E6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658B9E-DFFB-4F6C-A4D3-35777FE39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20BE09-EA07-4991-96E8-150F34D6A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1B8D1C-4169-4496-B058-6E3579D31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Hive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129503-AC17-4B67-8C1C-B6554E117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4976D6-5D46-463D-B8F8-CF92C01F3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19AFFB-5D8B-44B7-8F48-6862280A5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Split data into row groups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1B46BC-3661-475F-82E7-98CAFBBFC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767D97-D560-49CD-AD31-38B48511B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708EB1-6CF4-4A56-A2CB-256A5061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Store column chunks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4521E9-F6EE-4308-9B04-B816CD4C7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8E913A-FC6C-42CC-8935-122B7AA15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812AFE-16E5-4AB6-8BDD-28C325580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Compress blocks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1F10FE-687D-47AB-8527-F436734FD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770E88-6719-4B69-8963-6981E3F25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487496-77BB-4103-8531-7F8D90258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Read needed columns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B1B4B8-4151-432B-8E2A-22862C99B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28939C-35B7-4312-B228-8F34894F6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8D560E-D73F-43B0-82A1-298E6E7E4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Return rows to query</a:t>
            </a:r>
          </a:p>
        </p:txBody>
      </p:sp>
    </p:spTree>
    <p:extLst>
      <p:ext uri="{BB962C8B-B14F-4D97-AF65-F5344CB8AC3E}">
        <p14:creationId xmlns:p14="http://schemas.microsoft.com/office/powerpoint/2010/main" val="97480225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4B54B1-FA9F-4509-BF72-BA4064FF8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4452C5-A67D-4F61-A5B9-3F647C90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Hive databases and tables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805F66-4F19-44EB-AD82-05C172D00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Teach basic DDL.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6BADE9-A2C9-454D-95D5-5DAA44F7A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284FCB-050D-4E62-89A2-9822AC1C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1A8A44-0241-4AA4-B4F9-9DA3AFF0D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20317C-87EC-4F1F-B9D2-AF3A780B2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Hive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CD7AD2-7CEB-40AF-BD92-AA381DC8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C9F8FF-6069-41A7-A78B-8494BE5CC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09750"/>
            <a:ext cx="6191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116484-CF9C-47E6-BED1-E151B7C68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43125"/>
            <a:ext cx="5572125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FBF69"/>
                </a:solidFill>
              </a:defRPr>
            </a:pPr>
            <a:r>
              <a:rPr sz="1725">
                <a:solidFill>
                  <a:srgbClr val="FFBF69"/>
                </a:solidFill>
              </a:rPr>
              <a:t>CREATE DATABASE college;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>
                <a:solidFill>
                  <a:srgbClr val="FFBF69"/>
                </a:solidFill>
              </a:defRPr>
            </a:pPr>
            <a:r>
              <a:rPr sz="1725">
                <a:solidFill>
                  <a:srgbClr val="FFBF69"/>
                </a:solidFill>
              </a:rPr>
              <a:t>USE college;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>
                <a:solidFill>
                  <a:srgbClr val="FFBF69"/>
                </a:solidFill>
              </a:defRPr>
            </a:pPr>
            <a:r>
              <a:rPr sz="1725">
                <a:solidFill>
                  <a:srgbClr val="FFBF69"/>
                </a:solidFill>
              </a:rPr>
              <a:t>CREATE TABLE students (</a:t>
            </a:r>
          </a:p>
          <a:p xmlns:a="http://schemas.openxmlformats.org/drawingml/2006/main">
            <a:pPr>
              <a:defRPr sz="1725">
                <a:solidFill>
                  <a:srgbClr val="FFBF69"/>
                </a:solidFill>
              </a:defRPr>
            </a:pPr>
            <a:r>
              <a:rPr sz="1725">
                <a:solidFill>
                  <a:srgbClr val="FFBF69"/>
                </a:solidFill>
              </a:rPr>
              <a:t>  usn STRING,</a:t>
            </a:r>
          </a:p>
          <a:p xmlns:a="http://schemas.openxmlformats.org/drawingml/2006/main">
            <a:pPr>
              <a:defRPr sz="1725">
                <a:solidFill>
                  <a:srgbClr val="FFBF69"/>
                </a:solidFill>
              </a:defRPr>
            </a:pPr>
            <a:r>
              <a:rPr sz="1725">
                <a:solidFill>
                  <a:srgbClr val="FFBF69"/>
                </a:solidFill>
              </a:rPr>
              <a:t>  name STRING,</a:t>
            </a:r>
          </a:p>
          <a:p xmlns:a="http://schemas.openxmlformats.org/drawingml/2006/main">
            <a:pPr>
              <a:defRPr sz="1725">
                <a:solidFill>
                  <a:srgbClr val="FFBF69"/>
                </a:solidFill>
              </a:defRPr>
            </a:pPr>
            <a:r>
              <a:rPr sz="1725">
                <a:solidFill>
                  <a:srgbClr val="FFBF69"/>
                </a:solidFill>
              </a:rPr>
              <a:t>  cgpa DOUBLE</a:t>
            </a:r>
          </a:p>
          <a:p xmlns:a="http://schemas.openxmlformats.org/drawingml/2006/main">
            <a:pPr>
              <a:defRPr sz="1725">
                <a:solidFill>
                  <a:srgbClr val="FFBF69"/>
                </a:solidFill>
              </a:defRPr>
            </a:pPr>
            <a:r>
              <a:rPr sz="1725">
                <a:solidFill>
                  <a:srgbClr val="FFBF69"/>
                </a:solidFill>
              </a:rPr>
              <a:t>);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16F43C-018C-4650-8389-5DC28C930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33625"/>
            <a:ext cx="3238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88A92E-B1DD-4052-892F-B8C904CF0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33625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08EE2C-1A8B-4823-92C8-17B0080CB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486025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Syntax idea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B76F95-4DFF-4335-B796-46BE5F49F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867025"/>
            <a:ext cx="28765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Read the command by identifying the operation, input relation/table, transformation, and output.</a:t>
            </a:r>
          </a:p>
        </p:txBody>
      </p:sp>
    </p:spTree>
    <p:extLst>
      <p:ext uri="{BB962C8B-B14F-4D97-AF65-F5344CB8AC3E}">
        <p14:creationId xmlns:p14="http://schemas.microsoft.com/office/powerpoint/2010/main" val="38356710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8C517E9-00CE-4E3C-BEC7-FC2193393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4D4388-C8B7-42F7-B84E-4E505681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Managed table vs external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C2BD61-7834-4754-9E81-D892EB8A6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ownership of data.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674702-DC90-42AE-A05D-758268D98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81C70E-0464-4A5B-8802-EA373C2EE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02C476-1CB1-47D7-8543-5BFD4DA6C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3576F8-9574-4CAC-A206-DF601854F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Hive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D478CB-C6FC-44E7-ADB1-0783F13D7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BA74FA-1004-4CC5-BB51-6C2DB6BA7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4792F2-79FD-4A7F-A8BD-CD9E6EDA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382A8F-D1F5-4998-A83B-F5FEBCD60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Managed table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36C39A-0854-4284-85A4-1914313F7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45910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2CF358-3E50-4257-98B2-D986A65BE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DBDD35-1768-4134-B47D-C81A11817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519F55-E15A-4506-9CBC-14A246A48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7165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External table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054848-442B-488C-9903-DC429DF34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52650"/>
            <a:ext cx="45910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E87A9A-2CEB-46DC-9453-FB464D963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40AD95-2794-4DB4-BC3E-A16CF27E7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F7660F-87F4-439F-B578-3A240545D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86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Hive owns table data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97609B-39B2-4783-96A9-913F2E287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8F3F1C-B816-4F64-B98E-2CDE66AEC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D3CADE-2C13-496D-BB59-5021F98B5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003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DROP removes metadata and data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BED551-3A76-4063-A3D2-216532E9B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DF10C8-7B6D-40E7-BE72-05BCFA091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A994BC-7F67-4F85-95C9-A045B033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147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Good for Hive-controlled data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2710E2-4020-440C-A65D-E13E3708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4BFCA8-83D6-4292-910F-1F94120ED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5151F6-4F9A-42E5-843E-998F9A7F9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290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Default table type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211AC7-E829-4501-BEF1-E5F07BD17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24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49E19B-0857-4F08-AC06-2F71B11BE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241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C6BED1-D8E9-4418-8B72-4873267CB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86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Hive only manages metadata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76B6A40-0A8E-4509-A76F-5C086133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38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1D6EDE2-761C-41AC-AF2B-A3713AD2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384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2F932A2-C8FD-4A8F-A458-62B432FBD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003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DROP keeps underlying data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7560DE9-3BB6-401C-AD0D-63A2763CB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50D3A2D-3723-41E1-83F9-C8B863FA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9230412-972C-4D68-98C0-4D3B78681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147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Good for shared HDFS data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5C6779D-B9A6-44F4-A9AD-1FF1E486D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67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1E6FFB6-422D-4ED6-9FC0-715FBBA1C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671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43AF8A1-7559-4BD7-824E-56C96DDE3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290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Location specified explicitly</a:t>
            </a:r>
          </a:p>
        </p:txBody>
      </p:sp>
    </p:spTree>
    <p:extLst>
      <p:ext uri="{BB962C8B-B14F-4D97-AF65-F5344CB8AC3E}">
        <p14:creationId xmlns:p14="http://schemas.microsoft.com/office/powerpoint/2010/main" val="50550199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636372-8662-4D43-8A64-16253A8EC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54DF72-5707-4B5F-A7DC-AF8C9DAF3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Load data into Hive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983CC3-16A6-4A8B-AA03-1B532831D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loading workflow.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43AB0D-1991-4CCA-9946-B97F089CF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78405D-9581-4B4F-9ED1-2A649BF8E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31F8FB-3BF4-44A9-9E80-1F4133E9A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C4815B-AE4A-4741-8CAA-C3B7538D6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Hive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A8B92A-EEBB-4EE8-9974-DAB6DFBDF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369B73-445A-4FA3-B93A-DE788B136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09750"/>
            <a:ext cx="6191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AA081E-B506-4038-A071-22513AC1A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43125"/>
            <a:ext cx="5572125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FBF69"/>
                </a:solidFill>
              </a:defRPr>
            </a:pPr>
            <a:r>
              <a:rPr sz="1725">
                <a:solidFill>
                  <a:srgbClr val="FFBF69"/>
                </a:solidFill>
              </a:rPr>
              <a:t>LOAD DATA INPATH '/data/students.csv'</a:t>
            </a:r>
          </a:p>
          <a:p xmlns:a="http://schemas.openxmlformats.org/drawingml/2006/main">
            <a:pPr>
              <a:defRPr sz="1725">
                <a:solidFill>
                  <a:srgbClr val="FFBF69"/>
                </a:solidFill>
              </a:defRPr>
            </a:pPr>
            <a:r>
              <a:rPr sz="1725">
                <a:solidFill>
                  <a:srgbClr val="FFBF69"/>
                </a:solidFill>
              </a:rPr>
              <a:t>INTO TABLE students;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DA634E-4A43-40B6-9FA2-E2098475D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33625"/>
            <a:ext cx="3238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1120FD-35D7-4979-B2BF-9640BBF13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33625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2F3129-AF1A-452A-B48D-98E4CFEB6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486025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Syntax idea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8E4E6D-E9B4-452B-985B-DB8F75564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867025"/>
            <a:ext cx="28765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Read the command by identifying the operation, input relation/table, transformation, and output.</a:t>
            </a:r>
          </a:p>
        </p:txBody>
      </p:sp>
    </p:spTree>
    <p:extLst>
      <p:ext uri="{BB962C8B-B14F-4D97-AF65-F5344CB8AC3E}">
        <p14:creationId xmlns:p14="http://schemas.microsoft.com/office/powerpoint/2010/main" val="198518578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F490F9-2B1C-4F28-ACE5-15576BF53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0C9F33-3006-4E3D-B49C-F5E078057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Basic HQL SELECT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28E502-88FE-42B5-9187-8B67214D6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Teach first query pattern.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6EA489-C9E9-41A5-8EB6-48815D848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204CCB-8FF0-4FEF-8C7D-90363015F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E8A1B6-6CB6-4D8C-B953-D58837391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447B5F-618C-4243-9FC8-053EF4F2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Hive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D06E55-A7AE-4903-BBE8-0E6B6B67A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4B6463-8719-4791-8BBF-AE3A709AF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09750"/>
            <a:ext cx="6191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C2776E-3114-4A7B-A82B-B398F86D6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43125"/>
            <a:ext cx="5572125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FBF69"/>
                </a:solidFill>
              </a:defRPr>
            </a:pPr>
            <a:r>
              <a:rPr sz="1725">
                <a:solidFill>
                  <a:srgbClr val="FFBF69"/>
                </a:solidFill>
              </a:rPr>
              <a:t>SELECT name, cgpa</a:t>
            </a:r>
          </a:p>
          <a:p xmlns:a="http://schemas.openxmlformats.org/drawingml/2006/main">
            <a:pPr>
              <a:defRPr sz="1725">
                <a:solidFill>
                  <a:srgbClr val="FFBF69"/>
                </a:solidFill>
              </a:defRPr>
            </a:pPr>
            <a:r>
              <a:rPr sz="1725">
                <a:solidFill>
                  <a:srgbClr val="FFBF69"/>
                </a:solidFill>
              </a:rPr>
              <a:t>FROM students</a:t>
            </a:r>
          </a:p>
          <a:p xmlns:a="http://schemas.openxmlformats.org/drawingml/2006/main">
            <a:pPr>
              <a:defRPr sz="1725">
                <a:solidFill>
                  <a:srgbClr val="FFBF69"/>
                </a:solidFill>
              </a:defRPr>
            </a:pPr>
            <a:r>
              <a:rPr sz="1725">
                <a:solidFill>
                  <a:srgbClr val="FFBF69"/>
                </a:solidFill>
              </a:rPr>
              <a:t>WHERE cgpa &gt;= 8.0;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67DE12-E1F9-415D-AB91-552385A5B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33625"/>
            <a:ext cx="3238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8A2BE0-B871-4FED-8816-E185A0670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33625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DF7D89-0927-4DD4-893A-661BE5624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486025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Syntax idea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BB6B1F-955B-40B7-8814-5491AE7C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867025"/>
            <a:ext cx="28765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Read the command by identifying the operation, input relation/table, transformation, and output.</a:t>
            </a:r>
          </a:p>
        </p:txBody>
      </p:sp>
    </p:spTree>
    <p:extLst>
      <p:ext uri="{BB962C8B-B14F-4D97-AF65-F5344CB8AC3E}">
        <p14:creationId xmlns:p14="http://schemas.microsoft.com/office/powerpoint/2010/main" val="74033242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786CD5-9AAC-404D-B30B-1EF58644E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5A3D75-4C85-4039-90A4-4A457F69E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Group and aggregate in HQL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901B53-2133-4F6A-B610-04D92DC6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Teach summary queries.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DA01EF-A92F-445E-A318-CD2312042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A516B3-BC00-4CD8-BDB8-8135D4FFD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607355-105D-4B74-99C0-02B884741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56D09A-42DE-49F0-8FA7-4F3FFCE88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Hive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08CC83-2EF5-492C-8238-3BD11641A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F6D1F2-5B32-4BDE-BAFD-CB1E1E05A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09750"/>
            <a:ext cx="6191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17852E-1E29-4AA6-9421-9E28A188E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43125"/>
            <a:ext cx="5572125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FBF69"/>
                </a:solidFill>
              </a:defRPr>
            </a:pPr>
            <a:r>
              <a:rPr sz="1725">
                <a:solidFill>
                  <a:srgbClr val="FFBF69"/>
                </a:solidFill>
              </a:rPr>
              <a:t>SELECT dept, AVG(cgpa) AS avg_cgpa</a:t>
            </a:r>
          </a:p>
          <a:p xmlns:a="http://schemas.openxmlformats.org/drawingml/2006/main">
            <a:pPr>
              <a:defRPr sz="1725">
                <a:solidFill>
                  <a:srgbClr val="FFBF69"/>
                </a:solidFill>
              </a:defRPr>
            </a:pPr>
            <a:r>
              <a:rPr sz="1725">
                <a:solidFill>
                  <a:srgbClr val="FFBF69"/>
                </a:solidFill>
              </a:rPr>
              <a:t>FROM students</a:t>
            </a:r>
          </a:p>
          <a:p xmlns:a="http://schemas.openxmlformats.org/drawingml/2006/main">
            <a:pPr>
              <a:defRPr sz="1725">
                <a:solidFill>
                  <a:srgbClr val="FFBF69"/>
                </a:solidFill>
              </a:defRPr>
            </a:pPr>
            <a:r>
              <a:rPr sz="1725">
                <a:solidFill>
                  <a:srgbClr val="FFBF69"/>
                </a:solidFill>
              </a:rPr>
              <a:t>GROUP BY dept</a:t>
            </a:r>
          </a:p>
          <a:p xmlns:a="http://schemas.openxmlformats.org/drawingml/2006/main">
            <a:pPr>
              <a:defRPr sz="1725">
                <a:solidFill>
                  <a:srgbClr val="FFBF69"/>
                </a:solidFill>
              </a:defRPr>
            </a:pPr>
            <a:r>
              <a:rPr sz="1725">
                <a:solidFill>
                  <a:srgbClr val="FFBF69"/>
                </a:solidFill>
              </a:rPr>
              <a:t>ORDER BY avg_cgpa DESC;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02216C-07AC-43B0-B99C-0A011DC7A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33625"/>
            <a:ext cx="3238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317ADF-2173-4615-8663-1DF5517C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33625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A1B9E0-6B4A-4FD0-BE82-AEE2EF651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486025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Syntax idea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C98634-CEB8-4E8C-BB47-2425C21A9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867025"/>
            <a:ext cx="28765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Read the command by identifying the operation, input relation/table, transformation, and output.</a:t>
            </a:r>
          </a:p>
        </p:txBody>
      </p:sp>
    </p:spTree>
    <p:extLst>
      <p:ext uri="{BB962C8B-B14F-4D97-AF65-F5344CB8AC3E}">
        <p14:creationId xmlns:p14="http://schemas.microsoft.com/office/powerpoint/2010/main" val="118901868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B94922-A8CC-406B-BCA1-5ACB33F2C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6F2DE4-8DE8-4B55-9213-FBB30F19F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Partitions reduce unnecessary scanning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3EE3C9-74F0-4358-A738-3303CB6E1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partitioning concept.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6AC427-D9C5-4798-923F-D4547861B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42A6AC-3FEE-497F-9293-272B3F07B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346AC9-CA7D-4B3F-8101-759FB589E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F60E4C-0D7C-4B89-AA99-777511DD3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Hive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648DA6-5C40-42B4-A66A-A7289AD5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1529A0-4241-4C50-ADD1-C4C93780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9F1C"/>
                </a:solidFill>
              </a:defRPr>
            </a:pPr>
            <a:r>
              <a:rPr sz="3900" b="1">
                <a:solidFill>
                  <a:srgbClr val="FF9F1C"/>
                </a:solidFill>
              </a:rPr>
              <a:t>Partition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2017B5-F322-4B24-9166-3A89E1FBC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9906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8FBFF"/>
                </a:solidFill>
              </a:defRPr>
            </a:pPr>
            <a:r>
              <a:rPr sz="2175">
                <a:solidFill>
                  <a:srgbClr val="F8FBFF"/>
                </a:solidFill>
              </a:rPr>
              <a:t>A way of dividing a Hive table into directory-based groups using partition columns so queries can skip irrelevant data.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1E0FED-0641-4C00-A799-C4490E7DA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0C3DFD-B1D6-4A76-B6E2-16A0898CC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Partition column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792426-DD8D-41A1-BB36-106E301B6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33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AA8511-F8F2-4F5B-A74F-E75BC380D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18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B55B1B-FD11-4D23-9E88-08F469F55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48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Directory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EC61FD-9B24-4CE1-B25D-C045695F8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964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7B80F0-35A2-41A5-ACCE-906EBB59A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49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19D913-62BA-4487-A239-7C4368B64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779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Pruning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C9602C-821D-4F8F-A7F5-EAAB95B1E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95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91FF54-9508-415F-B95F-A32AE90D7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840AF7-80D3-4E2B-B084-09F91048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10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Faster scan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113876-C543-4643-BD8F-6FADC8A96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26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E52227-CB8D-4AC5-B284-BBEB3AE62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211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F6FCD5-8334-4F05-9376-B7F7A39E8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641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Metadata</a:t>
            </a:r>
          </a:p>
        </p:txBody>
      </p:sp>
    </p:spTree>
    <p:extLst>
      <p:ext uri="{BB962C8B-B14F-4D97-AF65-F5344CB8AC3E}">
        <p14:creationId xmlns:p14="http://schemas.microsoft.com/office/powerpoint/2010/main" val="67132173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5F8A4C-3D38-480F-B044-71E8EB355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73FA95-148D-41DA-8457-C629F58C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Bucketing organizes data into fixed buckets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11FFCD-831A-4657-8F50-293D1C417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Introduce bucketing at high level.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7A20B9-BF78-4A4C-AC24-07BD7616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16A0A1-0A1D-4814-A3FF-D30C288DE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EBA619-F8D9-4538-9EF0-5CC3ECE0F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28DD0B-F8D4-435E-8A06-755A459C1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Hive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1D2BE2-493F-4613-B75C-B8DD0943C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A6A254-92F9-45E2-8273-4002C40F6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14B4E8-5103-4E3F-BDA8-F9D212101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Choose bucket column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8756FE-0D37-49D1-930C-E0E3C8C22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CA3C47-09D5-46F9-B04D-116BB7B20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80F0AA-57A1-4764-A6EB-921EF2CDC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Hash value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3E7355-02CD-4773-80A2-891CE6489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47BDDE-094C-441B-9F5E-D68B44A37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445DE1-32EE-493E-907E-B723D46FC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Assign bucket number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61874D-3053-4217-9E39-4B4FB34D9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0F9D8D-3DCB-4E0F-A14C-C109D7220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B7F73F-485A-425C-BEBC-DDB1BCF51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Store bucket file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495DCD-5913-4F51-87A8-28721B4E1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62FA92-9F88-46B2-9B82-736233937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6F8F6D-39EF-424A-9896-7B0E1FD5C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Optimize joins/sampling</a:t>
            </a:r>
          </a:p>
        </p:txBody>
      </p:sp>
    </p:spTree>
    <p:extLst>
      <p:ext uri="{BB962C8B-B14F-4D97-AF65-F5344CB8AC3E}">
        <p14:creationId xmlns:p14="http://schemas.microsoft.com/office/powerpoint/2010/main" val="202288004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BFE6BD-13C2-49FC-BFA7-856DCEC7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7FF72D-4512-4FDE-A867-4CFAD962B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Views simplify repeated queries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79D739-B537-4C40-BD47-A4482E3AF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Cover syllabus practical relation to views.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6F1864-7EFF-42A4-AA87-940C08283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02C5B7-7605-4079-B3A9-A6D3DB141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ED4395-64DE-40FC-88FA-246FA5714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192B79-B949-456E-9E3A-8079B2A3E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Hive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391FDF-5CDD-4C84-A7D5-932EEB6D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D697A8-D28A-4692-96F5-01ADE61C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09750"/>
            <a:ext cx="6191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9EFAC8-3362-442E-8B96-72B908E8F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43125"/>
            <a:ext cx="5572125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FBF69"/>
                </a:solidFill>
              </a:defRPr>
            </a:pPr>
            <a:r>
              <a:rPr sz="1725">
                <a:solidFill>
                  <a:srgbClr val="FFBF69"/>
                </a:solidFill>
              </a:rPr>
              <a:t>CREATE VIEW high_cgpa AS</a:t>
            </a:r>
          </a:p>
          <a:p xmlns:a="http://schemas.openxmlformats.org/drawingml/2006/main">
            <a:pPr>
              <a:defRPr sz="1725">
                <a:solidFill>
                  <a:srgbClr val="FFBF69"/>
                </a:solidFill>
              </a:defRPr>
            </a:pPr>
            <a:r>
              <a:rPr sz="1725">
                <a:solidFill>
                  <a:srgbClr val="FFBF69"/>
                </a:solidFill>
              </a:rPr>
              <a:t>SELECT usn, name, cgpa</a:t>
            </a:r>
          </a:p>
          <a:p xmlns:a="http://schemas.openxmlformats.org/drawingml/2006/main">
            <a:pPr>
              <a:defRPr sz="1725">
                <a:solidFill>
                  <a:srgbClr val="FFBF69"/>
                </a:solidFill>
              </a:defRPr>
            </a:pPr>
            <a:r>
              <a:rPr sz="1725">
                <a:solidFill>
                  <a:srgbClr val="FFBF69"/>
                </a:solidFill>
              </a:rPr>
              <a:t>FROM students</a:t>
            </a:r>
          </a:p>
          <a:p xmlns:a="http://schemas.openxmlformats.org/drawingml/2006/main">
            <a:pPr>
              <a:defRPr sz="1725">
                <a:solidFill>
                  <a:srgbClr val="FFBF69"/>
                </a:solidFill>
              </a:defRPr>
            </a:pPr>
            <a:r>
              <a:rPr sz="1725">
                <a:solidFill>
                  <a:srgbClr val="FFBF69"/>
                </a:solidFill>
              </a:rPr>
              <a:t>WHERE cgpa &gt;= 8.0;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A25FC0-171E-4202-BCD4-308644A8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33625"/>
            <a:ext cx="3238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381BB7-FA55-4982-BE0E-97F2CF677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33625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0C009C-3A19-42D3-B30F-A955797AA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486025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Syntax idea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62085C-24AE-4FE8-A3C9-453CBA218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867025"/>
            <a:ext cx="28765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Read the command by identifying the operation, input relation/table, transformation, and output.</a:t>
            </a:r>
          </a:p>
        </p:txBody>
      </p:sp>
    </p:spTree>
    <p:extLst>
      <p:ext uri="{BB962C8B-B14F-4D97-AF65-F5344CB8AC3E}">
        <p14:creationId xmlns:p14="http://schemas.microsoft.com/office/powerpoint/2010/main" val="87234119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F720D7-72A2-46A2-8158-CF4029881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DB4639-F7B5-4CCB-BD72-D023D95A3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User Defined Functions in Hive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E919AC-129E-461A-9098-2FFD8F0DB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UDF purpose.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83A5DE-2D71-4584-BA3B-781C4821C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5F8006-C398-4C53-AAD1-F1F0BB88C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6948FD-D5F0-471E-A88B-C07C93EC4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A0ACB0-7B9F-4E8C-A156-A247BBE5B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Hive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1317A8-C9F6-48E1-8F56-1C234540F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C772D7-62C0-4C48-81B3-8057778A1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9F1C"/>
                </a:solidFill>
              </a:defRPr>
            </a:pPr>
            <a:r>
              <a:rPr sz="3900" b="1">
                <a:solidFill>
                  <a:srgbClr val="FF9F1C"/>
                </a:solidFill>
              </a:rPr>
              <a:t>UDF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2743E4-AFF8-4682-AE0D-92D402191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9906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8FBFF"/>
                </a:solidFill>
              </a:defRPr>
            </a:pPr>
            <a:r>
              <a:rPr sz="2175">
                <a:solidFill>
                  <a:srgbClr val="F8FBFF"/>
                </a:solidFill>
              </a:rPr>
              <a:t>A custom function added to Hive when built-in functions cannot express the required transformation.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A3BD20-2209-4E9F-8980-3AE13D260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C1E654-BDFC-4A08-A63B-58EBEB27A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Custom logic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4C5ACC-A2F1-4EA5-A278-42830D56D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33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3E561A-1F60-4B27-90EC-FB5A009B0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18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0C49C8-F4F8-4730-85E7-086DE640D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48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Function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22D0BD-C603-4703-9D6B-0F18E3097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964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53A62B-36F8-44F2-A316-CECB81899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49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3B5D12-1721-4E0F-82BB-7E7AEF752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779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Reusable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7B7373-8982-4BFD-802C-C3F89341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95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CE3C39-7ACF-44D8-8E93-FF7ECA4ED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006593-A25B-455D-A472-2514399B0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10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HQL call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800124-6E70-4874-9B12-909235D24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26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3192B8-DF59-40F5-9910-870B87ABC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211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3EA84C-A1CD-4654-A8B7-0BB02836E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641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Extension</a:t>
            </a:r>
          </a:p>
        </p:txBody>
      </p:sp>
    </p:spTree>
    <p:extLst>
      <p:ext uri="{BB962C8B-B14F-4D97-AF65-F5344CB8AC3E}">
        <p14:creationId xmlns:p14="http://schemas.microsoft.com/office/powerpoint/2010/main" val="206287523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534A0E-DDA8-4BAC-BCB0-3B5447B7B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FEDCBB-10DA-49CB-A0D9-7537E0704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When to use a Hive UDF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96B5A5-D918-4E47-A06B-76D446753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Give practical decision rules.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890F94-9D6A-47D7-814D-BFEB5D7D7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0CCD0A-DFBE-4717-8EC6-81A20A05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315227-2376-4BBE-A119-CF1A17D47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77F493-4B2B-477D-B722-81A4AF5FA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Hive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D063C9-6AAD-40D0-B46D-31BB4EDD3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7A31D2-3138-480E-9ACB-2C8FBB4A3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81D921-4789-4554-8CE8-F61E8C28F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BCA1B7-82DA-4A6F-91F4-C065FF78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16954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Use built-in functions first when possible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7FE0FC-7E6A-405C-8545-D731E4466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784172-6F9B-465A-8A03-A3CDA6315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CA7E63-43FA-4715-96F2-CD5B27F8F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2098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Use UDF for repeated custom transformation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CB4EA0-2F7E-4C6B-8029-ECD4301BE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ECF186-1F7B-4FEE-892D-A9D478C10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87CFCA-AE99-464C-B136-39F0E6A38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7241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Keep UDF logic deterministic and testable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A24EE9-8B34-43CC-A743-5784DA84A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384D22-EB38-46E6-B727-5024F0AD4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490EBD-9D98-421C-9379-09A3E01F7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2385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Avoid UDF when SQL can express the operation clearly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ABD13B-4BC8-4F2D-8960-D56A04448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6CF36F-8B2A-42D7-8C7F-8190D95C2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B036DF-1ADF-4103-ABF1-6E52F51DA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7528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Document input and output types</a:t>
            </a:r>
          </a:p>
        </p:txBody>
      </p:sp>
    </p:spTree>
    <p:extLst>
      <p:ext uri="{BB962C8B-B14F-4D97-AF65-F5344CB8AC3E}">
        <p14:creationId xmlns:p14="http://schemas.microsoft.com/office/powerpoint/2010/main" val="106044055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55DC33-7168-4853-9C29-E54C2120F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601BA5-6423-417E-8DC7-DADFFC717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What is Pig?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208343-8EE5-40C2-91D3-0811CFD12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Define Pig as a data-flow platform on Hadoop.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D91F88-DA9D-4F89-8BA9-E67C0D422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67A4EA-72F7-4BC9-B14D-7D8EF5303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752A2B-1DA5-4128-8C7A-99E0FB83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0F5E3C-D400-4230-B4FD-13343E9B1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Pig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4C42AD-AA47-4781-9661-E189B2897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9FFE14-5CD4-4510-BB2B-D0CE7BC77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9F1C"/>
                </a:solidFill>
              </a:defRPr>
            </a:pPr>
            <a:r>
              <a:rPr sz="3900" b="1">
                <a:solidFill>
                  <a:srgbClr val="FF9F1C"/>
                </a:solidFill>
              </a:rPr>
              <a:t>Pig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FF9707-8FAC-4540-9315-251B49814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9906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8FBFF"/>
                </a:solidFill>
              </a:defRPr>
            </a:pPr>
            <a:r>
              <a:rPr sz="2175">
                <a:solidFill>
                  <a:srgbClr val="F8FBFF"/>
                </a:solidFill>
              </a:rPr>
              <a:t>A Hadoop platform for analyzing large datasets using Pig Latin, a procedural data-flow language that compiles into execution jobs.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D065CE-7EB1-4001-9718-19022298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6BC777-AE4E-44C4-AE4B-18CC6A61F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Data 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9B31BB-11F0-4D6C-AD15-6ED00803E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33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74A564-3AA1-43C8-92D5-74C88FC5E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18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CBD523-3B94-4DBE-80E3-44242ED00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48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Pig Latin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C6A3BD-1E4D-4196-B122-932AE7903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964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3CE702-04D2-428B-925E-120C9120F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49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A88075-1031-4F9D-B228-0E263C9BA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779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Hadoop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A67C07-0195-43E1-AB67-3ACD6551A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95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C8AA3A-6ED9-4EED-991B-280E29CFA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4B8A8B-CA3D-4023-B3F4-98E5515E2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10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ETL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018280-E30C-4BE8-98A0-457BF72C8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26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352B34-77C6-4BF2-9692-F477C8AA8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211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3FBA3E-EB5C-47D0-B637-2D28CAEE0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641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Script</a:t>
            </a:r>
          </a:p>
        </p:txBody>
      </p:sp>
    </p:spTree>
    <p:extLst>
      <p:ext uri="{BB962C8B-B14F-4D97-AF65-F5344CB8AC3E}">
        <p14:creationId xmlns:p14="http://schemas.microsoft.com/office/powerpoint/2010/main" val="37961411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2E419B-B37E-4ABF-9E43-34555A8E6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FF2D96-EB1F-4D74-A5A6-79321E2FA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Why Pig?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DAF3C2-6888-4056-A007-DAD1E3773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Pig is useful when transformations are procedural.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F79ED6-474C-43B8-9C19-5C1D45B4E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A9E293-1428-4BAA-9733-9F2ED3767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F5172A-23FE-43BA-AA4F-EBA97459F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BF4BBB-8557-4386-97C8-AE1C38D14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Pig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6595BB-5AB8-4E4D-8419-8B7A7313B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B5C3B9-3606-4CFB-88AE-1CE591702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A0ED00-FA92-42BC-9EE3-094F1DCE6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9FC5EC-9DC6-4A5C-9473-B531F1051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6215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Data-flow thinking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5195F5-C200-4EBD-A12A-A30662955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4315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Describe how data changes step by step.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BCF7B9-E20E-4DDC-B9B4-6C50754FC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5AC535-9EA1-47F3-8EA2-7E6772EEB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D7DCBA-3FD5-443F-BAF2-352D25927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6215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ETL strength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65AA3C-DC62-4D59-BBDF-39FCE7791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4315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Clean, join, group and transform raw data.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51C7FE-378A-4C63-A7E9-62B83CF1A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8C2C5D-54F7-47F5-8726-729787F64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1EFC38-75D1-49E8-9570-A143DD3CD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7190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Less Java code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8B28B3-2AA1-4472-BC62-96C445061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5290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Avoid writing raw MapReduce for common jobs.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169C34-BB7B-48ED-B584-D6113F9D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0B1E11-9A80-483C-A6F3-B9FB0854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CE6D67-8C2E-4049-9F9D-4802A2C3D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7190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Extensible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55A5E6-AC6F-4143-B11D-B026BD833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15290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Supports UDFs and Piggy Bank functions.</a:t>
            </a:r>
          </a:p>
        </p:txBody>
      </p:sp>
    </p:spTree>
    <p:extLst>
      <p:ext uri="{BB962C8B-B14F-4D97-AF65-F5344CB8AC3E}">
        <p14:creationId xmlns:p14="http://schemas.microsoft.com/office/powerpoint/2010/main" val="186510810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1C182CB-4117-4EB9-B044-D6F868F97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3DEA17-8F31-4B40-A8BA-18C634645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Anatomy of Pig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4FD2BB-A867-406E-BFAD-B3A9D1464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major parts of Pig system.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FAC33D-CADC-4B7C-9FD8-4FBBC376A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837C44-4B2C-4272-A292-451363F70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076BAB-9C81-4210-9494-931EE3536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536289-BE37-44C4-B576-DEC5901C0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Pig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BA57A6-51AB-451F-B554-579EBBACA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D318F2-FA85-4ECA-B2EC-144D0F0B0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81300"/>
            <a:ext cx="24765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404B2C-8CD4-4D28-8931-F7A2B11B7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0956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7111F"/>
                </a:solidFill>
              </a:defRPr>
            </a:pPr>
            <a:r>
              <a:rPr sz="2250" b="1">
                <a:solidFill>
                  <a:srgbClr val="07111F"/>
                </a:solidFill>
              </a:rPr>
              <a:t>Pig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76613F-0530-4A6B-999F-A52B381AC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05000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C615C3-59A8-4F43-A930-6396D28C0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0500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DD77C7-E1E6-45DB-997E-53AD94D8B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057400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Pig Latin script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105A67-AA32-4F02-81BD-C4014D1FF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438400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User program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F6AB64-DDD1-4B3A-B6E1-7B9048418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619250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C948DD-5DF6-4348-9C09-D441C7661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61925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D9ABAD-487B-4E2D-8163-6960972AA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771650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EC4B6"/>
                </a:solidFill>
              </a:defRPr>
            </a:pPr>
            <a:r>
              <a:rPr sz="1725" b="1">
                <a:solidFill>
                  <a:srgbClr val="2EC4B6"/>
                </a:solidFill>
              </a:rPr>
              <a:t>Parser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5A89EA-4D17-46AF-BD03-533B176F4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152650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Checks syntax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87E0D0-2048-4880-BEB6-144299C66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905000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9F1AEE-667B-4C2C-AF36-820588CB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90500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C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319117-0CFF-4109-8713-F1A33C360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057400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7C8FF"/>
                </a:solidFill>
              </a:defRPr>
            </a:pPr>
            <a:r>
              <a:rPr sz="1725" b="1">
                <a:solidFill>
                  <a:srgbClr val="77C8FF"/>
                </a:solidFill>
              </a:rPr>
              <a:t>Optimizer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ACDA0B-693F-47F4-B6E3-FEF119EBD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438400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Improves plan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3F7CA9-96CE-4763-A3CA-6DE558D24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29125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F25A5C-A5AD-49AB-AF5A-93ED7B82D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29125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BCD75A-4933-479D-81E1-6BA7C0A89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581525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BF69"/>
                </a:solidFill>
              </a:defRPr>
            </a:pPr>
            <a:r>
              <a:rPr sz="1725" b="1">
                <a:solidFill>
                  <a:srgbClr val="FFBF69"/>
                </a:solidFill>
              </a:rPr>
              <a:t>Compiler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E08E91-3D81-4055-97CE-49A211AE8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962525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Creates jobs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7E48C9-A325-4C34-8370-CCBC0BC36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810125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B90B30-68EB-4C2A-8224-48072D563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810125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F3A726-7621-425C-AFDA-8BFD7930F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962525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EC4B6"/>
                </a:solidFill>
              </a:defRPr>
            </a:pPr>
            <a:r>
              <a:rPr sz="1725" b="1">
                <a:solidFill>
                  <a:srgbClr val="2EC4B6"/>
                </a:solidFill>
              </a:rPr>
              <a:t>Execution engine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464B56-2618-4FE2-89BB-3AEEABEF3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343525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Runs on Hadoop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B52CD7-F84F-4017-984E-28CAE1BA2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29125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5D7C4D-D2F3-4233-B013-31A5140F5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29125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079AC8-9ACE-44D6-9DF1-7C064E6F6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581525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HDFS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76B0ED3-5E1B-41FD-9CCF-331EACB35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962525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Input/output</a:t>
            </a:r>
          </a:p>
        </p:txBody>
      </p:sp>
    </p:spTree>
    <p:extLst>
      <p:ext uri="{BB962C8B-B14F-4D97-AF65-F5344CB8AC3E}">
        <p14:creationId xmlns:p14="http://schemas.microsoft.com/office/powerpoint/2010/main" val="192048104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B78B07-1A0D-4F52-A94D-2B1B98E38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88DA1E-2F5D-4E03-AE84-DAA51275C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Pig on Hadoop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480751-7BA3-4E41-82D1-6CDB14623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how Pig uses Hadoop underneath.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CBF4BD-5272-4A39-878D-317E83971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C10728-0408-42EC-976A-35A710803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A69C00-321B-4268-B92E-3A1C64732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DD6F1D-AE8C-496D-8C92-4A19EDCE9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Pig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BDB1DD-A6C7-4360-8158-884B73505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52DC97-5531-4F2D-83D9-AE4D37218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93E769-DF68-49EE-BBED-C8F6D202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Pig Latin script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3D85C9-85AF-47C1-AE44-7BA5D40F4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E037E5-38DF-48E5-B902-3CBB9D430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E8751B-A832-4084-9AFB-0027C6A7F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Logical plan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0EB2A7-8EB1-40B3-8A34-D8DB52956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416C0D-890A-4A26-85CD-A36E14EDB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D1B38B-E932-40D9-8E65-45308E462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Physical plan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F0E616-023F-4952-9F85-69949E67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15241A-6D85-4B7C-BC37-9DB88FC6F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8733EA-42A4-424F-AC5D-CA0352B4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MapReduce jobs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3B08A7-4A6D-42C8-99F0-2E826874A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0C3627-88F5-4CBD-B2D6-60C65578A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FFFD66-D09C-46AE-BE17-E07147582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HDFS output</a:t>
            </a:r>
          </a:p>
        </p:txBody>
      </p:sp>
    </p:spTree>
    <p:extLst>
      <p:ext uri="{BB962C8B-B14F-4D97-AF65-F5344CB8AC3E}">
        <p14:creationId xmlns:p14="http://schemas.microsoft.com/office/powerpoint/2010/main" val="203231456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318F60-6BB0-4875-B9F3-C9174AF95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27D86A-DD4F-441D-A842-45CBB6190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Pig philosophy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D29A21-76BE-46B3-B85B-21F65C230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the style of Pig programming.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C9BD3A-D0F4-4E3A-A263-C612BEB70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691D18-8D45-4F00-8C7D-C52D446C2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E2FBB0-879B-4872-A074-78EED13BF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2EF2D3-8588-49D1-AA13-68EC84A02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Pig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F34061-3F3B-483E-9FF7-6CE575065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175C5D-F0A3-4F72-AC35-60C9E6FEA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F60B36-E13C-4818-9814-56DF3E03D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E2EFD4-BF0E-480D-9DC6-DC271E4E9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16954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Data is transformed through named relations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4B2CF6-BF3D-4066-A839-751EC715E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09FFCD-CD9B-43D0-910A-1361F0559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6B39F5-68DB-4975-B791-E157DFF4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2098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Each statement creates a new relation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488807-31A7-4644-B432-DDF7B1961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EEC2EC-EA44-4EAF-AAA0-46BEA529D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5460D0-EC1F-4065-A1B8-E20632AB7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7241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Operations form a pipeline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B76354-ED38-4E90-A05E-A4E368ABC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7A7438-1877-4E85-A0BE-C17ADA933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C2D25D-998D-447C-89D9-B534BE27C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2385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Execution is lazy until output is requested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23BA98-DB67-41EF-BDD0-93E76F98C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1D6078-01A9-4788-A9DF-FD310C0A7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3A7DC3-7B74-4AEC-8385-15D19C49B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7528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Designed for exploration and ETL</a:t>
            </a:r>
          </a:p>
        </p:txBody>
      </p:sp>
    </p:spTree>
    <p:extLst>
      <p:ext uri="{BB962C8B-B14F-4D97-AF65-F5344CB8AC3E}">
        <p14:creationId xmlns:p14="http://schemas.microsoft.com/office/powerpoint/2010/main" val="863698287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F20603-B044-4E4D-A3DB-B3E553310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AA8C5A-2A61-47C8-8668-6D7C5827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Use cases for Pig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4F3F9D-D4F7-4A15-BF74-6AA749616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Connect to practical workloads.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5ADD11-BBE8-4ED0-9B01-46DEEA88E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F6CEFF-D169-4777-91B4-746F4FA9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BDAF4B-B6E7-4251-870F-9B9FB01F6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E07F35-027B-4C2F-8025-343A697C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Pig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E506DC-A38D-4CDD-B46D-0BC66343A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1E0E73-7572-4BEB-8BEA-D17353E6B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43FB35-29A4-41A4-B1A4-6CE2E1F94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4660D2-0A15-4ECD-8E88-D37E2D27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16954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Clean raw log files before loading into Hive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788EC2-211A-40D5-A8DA-EA88266C3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D2CDF8-E621-461F-8DFC-6B1AE3CF1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5DB6FB-B9D9-4A67-B8F0-B9174EE13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2098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Join large datasets stored in HDFS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223347-FD72-4999-923A-5E99E68FB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8AEC23-0B95-4941-8CE5-B47C9890B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AAC9D4-D715-4CC3-BB2F-BCBB07A71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7241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Group and summarize clickstream records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1D20CC-CB60-45CE-91E0-699C39621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375761-4CB9-4C7A-A5F7-BCF208DF1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B61032-6A85-4DA1-98F1-E5743BAD2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2385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Filter noisy or incomplete records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125C7F-8858-49DE-8EE9-CF7A402CC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2C1499-B82D-44E6-B703-B59300387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C58556-C889-4441-8E22-16D476225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7528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Prepare data for analytics and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608220635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1BFE32-C803-423C-8B9F-9F499FDD1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FF61E7-0ADA-48EF-B6E3-CDFB68843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Pig Latin overview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C0A82D-6449-462B-BAB3-4013F1A5D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Introduce the basic script shape.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0A25F8-8848-4949-BD4E-AF291AD45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35C50C-C2BA-4412-A991-419D32A07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0F480F-EE1F-4C67-8940-99FC82545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255FF1-299C-4CCE-8E5B-E40934193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Pig Latin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96AC3F-317B-4708-8644-B7138AAB3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D073FB-E6C7-4839-BC7B-88AB0B81C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09750"/>
            <a:ext cx="6191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4D3876-3FAD-44FC-B032-5B55896E9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43125"/>
            <a:ext cx="5572125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FBF69"/>
                </a:solidFill>
              </a:defRPr>
            </a:pPr>
            <a:r>
              <a:rPr sz="1725">
                <a:solidFill>
                  <a:srgbClr val="FFBF69"/>
                </a:solidFill>
              </a:rPr>
              <a:t>A = LOAD 'students.csv' USING PigStorage(',');</a:t>
            </a:r>
          </a:p>
          <a:p xmlns:a="http://schemas.openxmlformats.org/drawingml/2006/main">
            <a:pPr>
              <a:defRPr sz="1725">
                <a:solidFill>
                  <a:srgbClr val="FFBF69"/>
                </a:solidFill>
              </a:defRPr>
            </a:pPr>
            <a:r>
              <a:rPr sz="1725">
                <a:solidFill>
                  <a:srgbClr val="FFBF69"/>
                </a:solidFill>
              </a:rPr>
              <a:t>B = FILTER A BY cgpa &gt;= 8.0;</a:t>
            </a:r>
          </a:p>
          <a:p xmlns:a="http://schemas.openxmlformats.org/drawingml/2006/main">
            <a:pPr>
              <a:defRPr sz="1725">
                <a:solidFill>
                  <a:srgbClr val="FFBF69"/>
                </a:solidFill>
              </a:defRPr>
            </a:pPr>
            <a:r>
              <a:rPr sz="1725">
                <a:solidFill>
                  <a:srgbClr val="FFBF69"/>
                </a:solidFill>
              </a:rPr>
              <a:t>C = FOREACH B GENERATE name, cgpa;</a:t>
            </a:r>
          </a:p>
          <a:p xmlns:a="http://schemas.openxmlformats.org/drawingml/2006/main">
            <a:pPr>
              <a:defRPr sz="1725">
                <a:solidFill>
                  <a:srgbClr val="FFBF69"/>
                </a:solidFill>
              </a:defRPr>
            </a:pPr>
            <a:r>
              <a:rPr sz="1725">
                <a:solidFill>
                  <a:srgbClr val="FFBF69"/>
                </a:solidFill>
              </a:rPr>
              <a:t>DUMP C;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D5BAE3-038E-44F5-85B4-2B0396728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33625"/>
            <a:ext cx="3238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4AA03A-5FEE-40BA-8FD9-DC87C2102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33625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8FF44D-F48F-4088-B92C-B82337F3E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486025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Syntax idea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37A6A8-145B-4E31-AFBC-D05D91E98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867025"/>
            <a:ext cx="28765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Read the command by identifying the operation, input relation/table, transformation, and output.</a:t>
            </a:r>
          </a:p>
        </p:txBody>
      </p:sp>
    </p:spTree>
    <p:extLst>
      <p:ext uri="{BB962C8B-B14F-4D97-AF65-F5344CB8AC3E}">
        <p14:creationId xmlns:p14="http://schemas.microsoft.com/office/powerpoint/2010/main" val="192714183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7EAB9C-F0F3-475F-B9BC-A6FE7CA79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8E3881-CC40-484A-87DB-14E829A1A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Pig data types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DBD3B2-2EC7-4CB0-8F89-DF87FAFFB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Summarize Pig primitive and complex types.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5E7081-96EE-479B-AD77-636A9FA1F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988B0B-DD25-4D92-91D1-06B053807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9B18F9-083D-41B4-A16B-2AC6786B1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76417A-3A15-46B2-B582-471B0AD7B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Pig Latin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37AC95-521F-4948-A46E-C62785792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D5E967-8051-417F-8437-F226DB562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25A0E4-212E-4AA0-BB77-52EBC740A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6A612A-E2CC-46D9-B356-B818B404E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6215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Primitive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328076-541B-475E-BA6A-436D9FADA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4315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int, long, float, double, chararray, bytearray, boolean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E77C5A-2471-4E24-B4A6-EF345FECA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2848D5-6C39-4568-96D0-EC7D38BCE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B5982C-3576-48D2-8EBD-ABD558C3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6215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Tuple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5EDA41-DDF2-444C-9A7A-2609CA546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4315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Ordered set of fields.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CD5477-9680-4767-8545-1C2B50E7B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66C2A0-9F68-42BA-9D85-6CCE0C5C0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2BDAB1-6421-4EB4-8389-A587A6699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7190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Bag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7568D7-9E4A-4D91-9960-27BDF6D2D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5290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Collection of tuples.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DF6DD1-6DDC-4A36-B78F-DFE27223B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B8F4E4-68F7-4B2D-B986-B73DF1BF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C50686-728C-4414-B56F-4CD1F466B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7190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Map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CA92CF-CA68-4C19-B4BD-87C36EA0C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15290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Key-value pairs.</a:t>
            </a:r>
          </a:p>
        </p:txBody>
      </p:sp>
    </p:spTree>
    <p:extLst>
      <p:ext uri="{BB962C8B-B14F-4D97-AF65-F5344CB8AC3E}">
        <p14:creationId xmlns:p14="http://schemas.microsoft.com/office/powerpoint/2010/main" val="24143940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0E8221-126E-4CE3-A00E-FCF489E19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9E1452-0976-4BC6-B446-8344748CF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Running Pig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76759B-9E6A-444A-A3D6-0BD15E79D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ways to execute scripts.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692636-D9F5-4824-9078-27ADBD8E8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1E8670-0260-4F96-B627-EC6CC523E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ADA38D-AF53-458A-B7E5-BB62178BA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F844A4-43C2-46AA-87C5-64A77E742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Pig Latin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AC988E-D84A-403C-AAB5-7742B6678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819A2C-4408-4ABD-9497-844A52E6E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304800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C81278-3F32-42F5-8618-6E24F2189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762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BF3389-4D3E-4FC1-8CFC-2E7EB0CC8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027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Interactive shell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950FE8-F14B-4197-86F0-5F36E15C4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81275"/>
            <a:ext cx="2686050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Grunt shell for commands.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E1B318-39D7-4829-9573-2FFB0516B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47875"/>
            <a:ext cx="304800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C0B60D-DDE9-44AC-83E3-8676065AC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47875"/>
            <a:ext cx="762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E834A7-B5BB-423E-93A3-C23F41532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0027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Script file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761E8D-D76B-49B9-B53E-354B8ACD5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81275"/>
            <a:ext cx="2686050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Run saved .pig scripts.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03E46A-2AC7-41F4-98CB-5C84FBCAD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47875"/>
            <a:ext cx="304800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D8E737-7636-4AE4-B901-6136BDC80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47875"/>
            <a:ext cx="762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9DD7C9-E962-47B2-B51F-6D17C5180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027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EC4B6"/>
                </a:solidFill>
              </a:defRPr>
            </a:pPr>
            <a:r>
              <a:rPr sz="1725" b="1">
                <a:solidFill>
                  <a:srgbClr val="2EC4B6"/>
                </a:solidFill>
              </a:rPr>
              <a:t>Embedded use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AAC5F8-D300-4E9E-88DA-55DE0850F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81275"/>
            <a:ext cx="2686050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Pig logic can be invoked from programs.</a:t>
            </a:r>
          </a:p>
        </p:txBody>
      </p:sp>
    </p:spTree>
    <p:extLst>
      <p:ext uri="{BB962C8B-B14F-4D97-AF65-F5344CB8AC3E}">
        <p14:creationId xmlns:p14="http://schemas.microsoft.com/office/powerpoint/2010/main" val="182893392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437D870-6110-47FB-86FC-1FA9913EC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8394F6-9404-4F07-9D8A-A77875A8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Execution modes of Pig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E4BCE4-23D4-4923-8F0F-56466F07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Compare local and MapReduce modes.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EC915A-89FF-4904-A61B-AC6C7E8F5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DE9C1D-AEC4-40C0-A79C-89A28F1C0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29257B-C07C-4232-8411-8F194E0A5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975DB2-E6B2-4F3D-805D-F6F49A4A0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Pig Latin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FEF993-783F-466B-BE3F-5935F42D5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14AAA2-A2F5-432A-9885-6BC0836AE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A705FC-192D-47C7-A9F3-58DE72F0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9568CA-A36D-4651-911C-EC07D97B1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Local mode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C637BF-25B7-45C7-B9AF-116DD5B02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45910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8CE2A1-5B52-4232-80C6-C4702E23B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24D59A-26DA-4E6F-BCC2-B8835928A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26F690-336D-4763-8DD8-86894456F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7165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MapReduce mode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457462-5BDD-452F-9C47-B20DE8973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52650"/>
            <a:ext cx="45910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283DA6-4DCE-4AFA-AA6E-3183C7C04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A2977D-4FBA-4D6B-AEF0-3A41127C2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780460-D411-498F-A50E-3BA832872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86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Runs on local machine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62F204-5E83-44E2-ADD4-4E24EEABB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616ECD-0F4D-4778-9F79-F542C2D18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896B18-0860-4C46-A81B-DDB6033BA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003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Good for small samples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4847C0-3605-4F66-8150-301A7BE62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BE285A-ECC7-4EFE-AC9B-6908B1EC6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21B2FD-926A-47B1-8E16-260B3467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147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No Hadoop cluster needed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8FFC02-C5DB-4B1D-B677-94924EA7D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300252-8865-45FD-AD46-4DA21EFA1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0E9CE8-5702-47DA-B6FF-473091EB0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290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Fast for testing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A69D60-B0F6-45F3-91DD-6D67038C6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24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80A12B-BE29-4A2E-A988-5DAC0C146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241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859E63-949E-4DDB-A2AB-F8F34A61E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86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Runs on Hadoop cluster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46BC77-8D48-4931-8DFD-577E12C04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38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33B190-63FD-4C00-90B6-6D98CE767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384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EF54F14-9677-4A2D-B23F-E2BCBB5DC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003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Uses HDFS input/output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435E88E-597F-4691-A864-704257BD6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50E60D0-5BB7-4AB2-B5FE-9B6A4E3F8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E3879A6-ED96-41C6-B08D-3C7046875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147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Good for large data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CF9771B-707D-4218-810C-885DB8D57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67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A12C614-1C3D-4ECE-B81C-3768653A0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671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D2FBB9B-5C37-40DC-971B-7E993C784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290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Production-style execution</a:t>
            </a:r>
          </a:p>
        </p:txBody>
      </p:sp>
    </p:spTree>
    <p:extLst>
      <p:ext uri="{BB962C8B-B14F-4D97-AF65-F5344CB8AC3E}">
        <p14:creationId xmlns:p14="http://schemas.microsoft.com/office/powerpoint/2010/main" val="152172325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51C77D-BDE0-4666-BEF4-1CA8B149A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ADFE86-6F9B-4CC9-8884-C8A2E4315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Useful HDFS commands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784144-8B33-468E-A771-C71A4C117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Connect file handling to Pig workflows.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670433-BE82-4C50-B070-5D8B88FCE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2A2214-B2DF-499B-9B2C-FFFF8EE89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8D989E-6758-46E2-B7A7-4CE5206C3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E92D83-6FE4-4B4E-B916-862B2A40E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Pig Latin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0A83F9-B879-4FB2-91D7-C2192FE4F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FF1170-9901-45F6-B82F-66EF9C7F8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09750"/>
            <a:ext cx="6191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8941E0-B315-438A-8A38-8C5DB0F30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43125"/>
            <a:ext cx="5572125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FBF69"/>
                </a:solidFill>
              </a:defRPr>
            </a:pPr>
            <a:r>
              <a:rPr sz="1725">
                <a:solidFill>
                  <a:srgbClr val="FFBF69"/>
                </a:solidFill>
              </a:rPr>
              <a:t>hdfs dfs -ls /data</a:t>
            </a:r>
          </a:p>
          <a:p xmlns:a="http://schemas.openxmlformats.org/drawingml/2006/main">
            <a:pPr>
              <a:defRPr sz="1725">
                <a:solidFill>
                  <a:srgbClr val="FFBF69"/>
                </a:solidFill>
              </a:defRPr>
            </a:pPr>
            <a:r>
              <a:rPr sz="1725">
                <a:solidFill>
                  <a:srgbClr val="FFBF69"/>
                </a:solidFill>
              </a:rPr>
              <a:t>hdfs dfs -mkdir /pig/input</a:t>
            </a:r>
          </a:p>
          <a:p xmlns:a="http://schemas.openxmlformats.org/drawingml/2006/main">
            <a:pPr>
              <a:defRPr sz="1725">
                <a:solidFill>
                  <a:srgbClr val="FFBF69"/>
                </a:solidFill>
              </a:defRPr>
            </a:pPr>
            <a:r>
              <a:rPr sz="1725">
                <a:solidFill>
                  <a:srgbClr val="FFBF69"/>
                </a:solidFill>
              </a:rPr>
              <a:t>hdfs dfs -put students.csv /pig/input</a:t>
            </a:r>
          </a:p>
          <a:p xmlns:a="http://schemas.openxmlformats.org/drawingml/2006/main">
            <a:pPr>
              <a:defRPr sz="1725">
                <a:solidFill>
                  <a:srgbClr val="FFBF69"/>
                </a:solidFill>
              </a:defRPr>
            </a:pPr>
            <a:r>
              <a:rPr sz="1725">
                <a:solidFill>
                  <a:srgbClr val="FFBF69"/>
                </a:solidFill>
              </a:rPr>
              <a:t>hdfs dfs -cat /pig/output/part-r-00000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F91B29-CA2F-4897-9D7A-507668911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33625"/>
            <a:ext cx="3238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54454A-D9F9-4EA2-AB7E-32F4E0577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33625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FED085-AD5C-4FD3-AF16-5AED6871A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486025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HDFS command pattern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15ECFB-8226-4C92-89F7-5F2E6B6D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867025"/>
            <a:ext cx="28765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Read the command by identifying the operation, input relation/table, transformation, and output.</a:t>
            </a:r>
          </a:p>
        </p:txBody>
      </p:sp>
    </p:spTree>
    <p:extLst>
      <p:ext uri="{BB962C8B-B14F-4D97-AF65-F5344CB8AC3E}">
        <p14:creationId xmlns:p14="http://schemas.microsoft.com/office/powerpoint/2010/main" val="1756360637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AB1099-66FC-4DD5-A972-9332296C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C05947-0400-4688-8192-5E471F165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Relational operators in Pig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852007-152E-4469-9D38-A216E9129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Introduce core transformations.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DB4318-4088-4BAA-B70F-B97696925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90F9B1-82E6-473F-8A06-FDE9AA0A6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737AFE-CE6C-4910-80FC-F48F80A52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1FBD83-E8B8-4C46-A693-EDED24652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Operators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4E04A5-25AF-48BE-8A53-634B6C649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6885D2-42C2-4032-9CA4-1DAAC9AA2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477BF4-4738-475C-BF2B-500209E2F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43A362-CEB6-443E-A6F7-80FC5B55E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6215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LOAD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999339-5FFC-4770-BEAF-DF6E9CF0B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4315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Read data into a relation.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8A4CE8-32D1-4E9C-BBA9-5027C4706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1E807F-F62D-4628-8780-99DE4366D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442714-0018-4443-BB34-1F1E88C10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6215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FILTER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197684-61C0-48EA-9135-CD0067D6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4315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Select rows matching a condition.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F05435-CE71-44C2-9D50-7B7F68FC1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BF30AF-56D6-4B42-B238-8BDB0A87A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16BB27-1A55-4FBC-9613-469B19E9F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7190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FOREACH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8BDF92-563F-4EA8-8BC0-F2FCC430B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5290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Project or transform fields.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BF5BFA-3F13-4BF2-99C3-359F878C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7AFAEA-6921-4967-807F-5D279FEB0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A1C0A2-7F31-4264-9A3A-27F70FFB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7190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GROUP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7A053B-D9A8-4DCF-85A4-FBD85A553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15290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Collect records by key.</a:t>
            </a:r>
          </a:p>
        </p:txBody>
      </p:sp>
    </p:spTree>
    <p:extLst>
      <p:ext uri="{BB962C8B-B14F-4D97-AF65-F5344CB8AC3E}">
        <p14:creationId xmlns:p14="http://schemas.microsoft.com/office/powerpoint/2010/main" val="592801058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274F11-DE93-4E17-9520-404EB12D7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DF3A26-1064-462F-B0BD-7C96C8C8C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Join, order and limit in Pig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F3496D-0EF2-43C9-9107-6729498BD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Cover common relational operations.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95EC91-DB25-419C-ABE7-99FC945E7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90EEB8-F3A9-4FDB-86B6-F0DAE74C0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2814B2-C50F-4252-86ED-7AFA2D19E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2C33A0-AA41-4B14-A802-7F6CFB0F9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Operators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0E2DDA-EEDF-497B-AEC5-21F74FD15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81A3CF-705A-45E5-A09E-5BF4E361C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09750"/>
            <a:ext cx="6191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EEF8D9-F58D-4DF5-8857-AF18F3505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43125"/>
            <a:ext cx="5572125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FBF69"/>
                </a:solidFill>
              </a:defRPr>
            </a:pPr>
            <a:r>
              <a:rPr sz="1725">
                <a:solidFill>
                  <a:srgbClr val="FFBF69"/>
                </a:solidFill>
              </a:rPr>
              <a:t>J = JOIN students BY dept, departments BY dept;</a:t>
            </a:r>
          </a:p>
          <a:p xmlns:a="http://schemas.openxmlformats.org/drawingml/2006/main">
            <a:pPr>
              <a:defRPr sz="1725">
                <a:solidFill>
                  <a:srgbClr val="FFBF69"/>
                </a:solidFill>
              </a:defRPr>
            </a:pPr>
            <a:r>
              <a:rPr sz="1725">
                <a:solidFill>
                  <a:srgbClr val="FFBF69"/>
                </a:solidFill>
              </a:rPr>
              <a:t>S = ORDER students BY cgpa DESC;</a:t>
            </a:r>
          </a:p>
          <a:p xmlns:a="http://schemas.openxmlformats.org/drawingml/2006/main">
            <a:pPr>
              <a:defRPr sz="1725">
                <a:solidFill>
                  <a:srgbClr val="FFBF69"/>
                </a:solidFill>
              </a:defRPr>
            </a:pPr>
            <a:r>
              <a:rPr sz="1725">
                <a:solidFill>
                  <a:srgbClr val="FFBF69"/>
                </a:solidFill>
              </a:rPr>
              <a:t>T = LIMIT S 10;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1327EC-18A6-4492-A347-9749A300B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33625"/>
            <a:ext cx="3238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2B53BC-0938-4157-AE1C-F6AE2A0D3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33625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8858E3-7AC7-496F-BDB3-719E2BCFB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486025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Syntax idea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8B986F-98DF-4779-97AD-A027391A9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867025"/>
            <a:ext cx="28765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Read the command by identifying the operation, input relation/table, transformation, and output.</a:t>
            </a:r>
          </a:p>
        </p:txBody>
      </p:sp>
    </p:spTree>
    <p:extLst>
      <p:ext uri="{BB962C8B-B14F-4D97-AF65-F5344CB8AC3E}">
        <p14:creationId xmlns:p14="http://schemas.microsoft.com/office/powerpoint/2010/main" val="1703644764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CCA01A-D797-42E4-8FD3-76A01D6B0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719C4F-2E4C-44AB-895B-0373B3162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Project and filter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A67084-1789-4E00-9F36-579C7BBD1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lab-focused query pattern.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3870DD-F6F5-47F7-8989-F378349A9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9B1EF9-A281-472C-8B32-A221EB09F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E8D70E-7BD3-4239-BA0E-2B08EA922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03251F-7876-43A0-B5C3-5CE04E18E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Operators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C2446E-B87A-48E8-86D2-309AE7A13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3BC9FD-1BF9-4FDF-B915-FCED07AC9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ACEF86-1FA9-4B4D-B894-7A16A0B3B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LOAD data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6F710F-A97C-44A9-90B2-1F3075B45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A291B5-D51C-49F1-9559-12414C89E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6B3447-7DE3-4A61-92B9-8FBB22F77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FILTER rows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9AFACA-836E-4D0F-BCCE-18D7F9648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5A5963-763D-446A-8C2F-DBFE8F3F4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6EC540-BC35-4D61-84FA-9F04AF4C3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FOREACH project fields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BC82F3-D3EB-4B63-8D24-CAAFC1C57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2C5EAA-3A99-4816-85F5-ADEF5759C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4050D3-1105-413D-8534-642F44D64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ORDER result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E7040B-6B50-482C-9CF4-0AFC1FA3E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827655-F7FC-467D-8596-1C032A56C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AF7032-5FC0-4440-A47E-319498CBA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STORE output</a:t>
            </a:r>
          </a:p>
        </p:txBody>
      </p:sp>
    </p:spTree>
    <p:extLst>
      <p:ext uri="{BB962C8B-B14F-4D97-AF65-F5344CB8AC3E}">
        <p14:creationId xmlns:p14="http://schemas.microsoft.com/office/powerpoint/2010/main" val="1310131728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3098F8-8F78-43D1-9D50-887DFA1B0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4FE3FA-CB26-4A6F-B683-B5B504F50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Eval functions in Pig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9E6F88-857D-44B1-BAB8-4D973B5EC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built-in calculation functions.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8991E5-8618-41A7-A4B5-868A416AC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D15A62-E6B2-4761-8AD3-0E2D0EC49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2FA038-DC6D-4649-A4A2-E5CC2F56D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BF56A4-7F7F-4945-AC29-9A25A1A57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Operators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CDC664-FC01-4FF6-B298-3DFC8AADB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AEB735-8A85-4409-8B7A-77CCBE883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651F2B-76ED-43D6-8507-DFD163A18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1D6EBD-AAE0-4A6E-955D-2BFBF82A2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16954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COUNT counts tuples in a bag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F5404E-4F11-497A-B380-2022829B8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906214-DFAF-4CF7-9942-B201DD251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700A93-3FA9-464D-A8DC-F50D0B718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2098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SUM adds numeric values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A83B65-B04C-4B10-861B-D47BB0180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D482F3-9B90-4E16-A808-DEAAD6E2A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AACA84-D133-4F8A-8404-4ADEF2CF6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7241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AVG computes mean value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B123FE-55B7-4EF7-AFBD-8CBF75AD8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A0579D-0196-4020-9942-23C3623FC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84C4E6-8856-4B52-8DDF-2729C82ED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2385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MIN and MAX find extremes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A0859C-AC3F-4BCE-96C6-7251F8A9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11C51D-15D3-4858-9E3B-034011A05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E9D35B-411A-43A4-94D1-73A4E0A69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7528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CONCAT and SUBSTRING work on strings</a:t>
            </a:r>
          </a:p>
        </p:txBody>
      </p:sp>
    </p:spTree>
    <p:extLst>
      <p:ext uri="{BB962C8B-B14F-4D97-AF65-F5344CB8AC3E}">
        <p14:creationId xmlns:p14="http://schemas.microsoft.com/office/powerpoint/2010/main" val="60225104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AD1904-24CB-448B-ACC3-09A38E26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7DBC74-7ECB-4596-8D1D-5178B8303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Eval function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B1F9B5-748A-4627-B35B-B7E26F32F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aggregation syntax.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E1C15B-F834-4C1C-A668-354A91A0F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DCE2FE-9855-47D4-9E96-FD9B17D4A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950B11-36A4-4713-9BEF-7BFD463A0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EE0B71-A77F-40CA-85B2-E810AA800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Operators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D46A94-D1A9-4576-82E2-9DB1733B7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FA3A67-D073-4E80-8C49-BE95585D6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09750"/>
            <a:ext cx="6191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16F01E-B46B-4CD6-97C4-DEC140EE8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43125"/>
            <a:ext cx="5572125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FBF69"/>
                </a:solidFill>
              </a:defRPr>
            </a:pPr>
            <a:r>
              <a:rPr sz="1725">
                <a:solidFill>
                  <a:srgbClr val="FFBF69"/>
                </a:solidFill>
              </a:rPr>
              <a:t>G = GROUP students BY dept;</a:t>
            </a:r>
          </a:p>
          <a:p xmlns:a="http://schemas.openxmlformats.org/drawingml/2006/main">
            <a:pPr>
              <a:defRPr sz="1725">
                <a:solidFill>
                  <a:srgbClr val="FFBF69"/>
                </a:solidFill>
              </a:defRPr>
            </a:pPr>
            <a:r>
              <a:rPr sz="1725">
                <a:solidFill>
                  <a:srgbClr val="FFBF69"/>
                </a:solidFill>
              </a:rPr>
              <a:t>R = FOREACH G GENERATE group,</a:t>
            </a:r>
          </a:p>
          <a:p xmlns:a="http://schemas.openxmlformats.org/drawingml/2006/main">
            <a:pPr>
              <a:defRPr sz="1725">
                <a:solidFill>
                  <a:srgbClr val="FFBF69"/>
                </a:solidFill>
              </a:defRPr>
            </a:pPr>
            <a:r>
              <a:rPr sz="1725">
                <a:solidFill>
                  <a:srgbClr val="FFBF69"/>
                </a:solidFill>
              </a:rPr>
              <a:t>    COUNT(students),</a:t>
            </a:r>
          </a:p>
          <a:p xmlns:a="http://schemas.openxmlformats.org/drawingml/2006/main">
            <a:pPr>
              <a:defRPr sz="1725">
                <a:solidFill>
                  <a:srgbClr val="FFBF69"/>
                </a:solidFill>
              </a:defRPr>
            </a:pPr>
            <a:r>
              <a:rPr sz="1725">
                <a:solidFill>
                  <a:srgbClr val="FFBF69"/>
                </a:solidFill>
              </a:rPr>
              <a:t>    AVG(students.cgpa);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AD255A-7F10-4EF4-A99A-606334199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33625"/>
            <a:ext cx="3238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3431E3-C1AD-4CFD-998C-63D13F2BF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33625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36F8E8-03B5-4D6D-983D-C32E16292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486025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Syntax idea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6D88B9-2D52-4C63-B916-4378038B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867025"/>
            <a:ext cx="28765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Read the command by identifying the operation, input relation/table, transformation, and output.</a:t>
            </a:r>
          </a:p>
        </p:txBody>
      </p:sp>
    </p:spTree>
    <p:extLst>
      <p:ext uri="{BB962C8B-B14F-4D97-AF65-F5344CB8AC3E}">
        <p14:creationId xmlns:p14="http://schemas.microsoft.com/office/powerpoint/2010/main" val="903292400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EDA8B0-CC13-4C97-ABA3-6642DA66D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71AA5E-B9DC-4CCE-BDF2-A8D591499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Complex data types in Pig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1CFCC3-E125-42A0-B22B-012397984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tuple, bag and map visually.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7B0C25-F584-469F-B0EA-47CE265A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1D2BFB-AC58-4199-A550-9D92271B1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165A48-F59E-453A-93A6-57234E2D8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DEF4AE-0D5E-425C-BC44-111BA42A7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Complex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34D0D2-654D-48E1-9419-DACA0CFFF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AD73BD-FAE4-44EA-856F-44257C374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304800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2224C9-5D2B-4CCF-9079-4B7EDACC9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762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9F9033-773E-4EDC-8DE9-FF310E509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027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Tuple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69874A-E96B-4ADC-9D0D-F27DE97C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81275"/>
            <a:ext cx="2686050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One ordered record: (101,'Asha',8.6).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43F3C9-B435-4DB4-A22D-4821DBC1F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47875"/>
            <a:ext cx="304800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393A3D-8F1F-4D1E-9418-525A32D6B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47875"/>
            <a:ext cx="762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CCCCF2-88FE-424F-AB29-F97899DC8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0027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Bag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045B01-D51C-4CF5-AD61-555E646E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81275"/>
            <a:ext cx="2686050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A collection of tuples: {(1),(2),(3)}.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67BA03-E2AE-44A1-B669-406FB21D4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47875"/>
            <a:ext cx="304800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85ED06-954F-4F79-BACD-06D6E016A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47875"/>
            <a:ext cx="762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76C1CB-1F21-4F18-80D7-2CABD0C4F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027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EC4B6"/>
                </a:solidFill>
              </a:defRPr>
            </a:pPr>
            <a:r>
              <a:rPr sz="1725" b="1">
                <a:solidFill>
                  <a:srgbClr val="2EC4B6"/>
                </a:solidFill>
              </a:rPr>
              <a:t>Map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B67776-C0BB-4DE9-A242-DD93DE0B9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81275"/>
            <a:ext cx="2686050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Key-value lookup: ['city'#'Mysuru'].</a:t>
            </a:r>
          </a:p>
        </p:txBody>
      </p:sp>
    </p:spTree>
    <p:extLst>
      <p:ext uri="{BB962C8B-B14F-4D97-AF65-F5344CB8AC3E}">
        <p14:creationId xmlns:p14="http://schemas.microsoft.com/office/powerpoint/2010/main" val="1376630727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FDAD89-4EE2-42EB-8BDE-24FF8B0A0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6FCEA4-1B0E-49BB-8A31-10CC2B1BE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Bag example in Pig grouping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A03B6E-80A1-4770-98CE-7418152D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why GROUP creates bags.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17C5C5-41B4-45E0-9DDC-05ED7373B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92128B-2CE5-4039-903D-5BD05DB58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3DA1B4-7435-40DC-A157-A671B9463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7C2380-5E90-4100-85EF-D17B34E18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Complex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3C7AAA-C3B8-409A-B799-DD4E0FC00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E13DD9-669C-4A50-AD04-8A2403E34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09750"/>
            <a:ext cx="6191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80836B-AA99-4364-BAE9-1C172EEB1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43125"/>
            <a:ext cx="5572125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FBF69"/>
                </a:solidFill>
              </a:defRPr>
            </a:pPr>
            <a:r>
              <a:rPr sz="1725">
                <a:solidFill>
                  <a:srgbClr val="FFBF69"/>
                </a:solidFill>
              </a:rPr>
              <a:t>G = GROUP students BY dept;</a:t>
            </a:r>
          </a:p>
          <a:p xmlns:a="http://schemas.openxmlformats.org/drawingml/2006/main">
            <a:pPr>
              <a:defRPr sz="1725">
                <a:solidFill>
                  <a:srgbClr val="FFBF69"/>
                </a:solidFill>
              </a:defRPr>
            </a:pPr>
            <a:r>
              <a:rPr sz="1725">
                <a:solidFill>
                  <a:srgbClr val="FFBF69"/>
                </a:solidFill>
              </a:rPr>
              <a:t>-- Each group contains a bag of student tuples</a:t>
            </a:r>
          </a:p>
          <a:p xmlns:a="http://schemas.openxmlformats.org/drawingml/2006/main">
            <a:pPr>
              <a:defRPr sz="1725">
                <a:solidFill>
                  <a:srgbClr val="FFBF69"/>
                </a:solidFill>
              </a:defRPr>
            </a:pPr>
            <a:r>
              <a:rPr sz="1725">
                <a:solidFill>
                  <a:srgbClr val="FFBF69"/>
                </a:solidFill>
              </a:rPr>
              <a:t>DUMP G;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C5CE38-DF4A-465C-9A6E-770720984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33625"/>
            <a:ext cx="3238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7042FF-2EB9-4AAE-8FDB-31A82B706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33625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268682-ECA2-4C26-B3E6-813043545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486025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Syntax idea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88C183-5E42-4A24-9DB6-30B5ACF25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867025"/>
            <a:ext cx="28765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Read the command by identifying the operation, input relation/table, transformation, and output.</a:t>
            </a:r>
          </a:p>
        </p:txBody>
      </p:sp>
    </p:spTree>
    <p:extLst>
      <p:ext uri="{BB962C8B-B14F-4D97-AF65-F5344CB8AC3E}">
        <p14:creationId xmlns:p14="http://schemas.microsoft.com/office/powerpoint/2010/main" val="1564003189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E6FE92-1028-43E9-B3F5-4D7D628AC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9E7D69-B083-4E9A-9884-97A0B99D0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Piggy Bank extends Pig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C9EC45-3FBC-472A-B82A-B5919C2A8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Introduce contributed reusable functions.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A95147-919B-45C6-8E8A-FBC010788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167585-B9A9-4DF4-AC40-2CF2EA233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5DE452-75CC-46C5-9EF0-9F81760B1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A08025-C964-4A8D-B16E-7C99D08E7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Piggy Bank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7CBE6A-A5B5-4429-8472-34F037FB5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CA9066-9945-428C-839F-949B8A103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9F1C"/>
                </a:solidFill>
              </a:defRPr>
            </a:pPr>
            <a:r>
              <a:rPr sz="3900" b="1">
                <a:solidFill>
                  <a:srgbClr val="FF9F1C"/>
                </a:solidFill>
              </a:rPr>
              <a:t>Piggy Bank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353017-2C73-4DC3-B7BF-14259DCF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9906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8FBFF"/>
                </a:solidFill>
              </a:defRPr>
            </a:pPr>
            <a:r>
              <a:rPr sz="2175">
                <a:solidFill>
                  <a:srgbClr val="F8FBFF"/>
                </a:solidFill>
              </a:rPr>
              <a:t>A collection of contributed Pig functions and loaders that can be reused instead of writing every custom function from scratch.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6EA66C-EB37-4066-A550-D8AA53733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A3D6B0-511E-4DE0-AF5A-871641361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Reusable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501A14-62B6-42EC-B6F2-A242EA75A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33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AACF50-D0A2-4617-A577-1CF7FCC1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18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07ACF8-8668-4B1A-907F-28BAE8A7E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48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Loaders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408C50-6BB7-43C9-A27B-40F282A9D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964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1AF59D-8805-4506-8496-93DF0D04F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49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400862-436C-4CCF-BA09-742C87EDF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779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Functions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FF2476-16B2-4360-A3C6-8AA4FC35B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95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98A01D-D962-4C1E-BAAB-A509A473E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E5553D-5B6F-4B52-839D-1C8CF9C0A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10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Community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8C90A7-840E-447D-B7BC-5C5D04ADB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26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016EF4-7BBB-40C1-9C41-293AFD052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211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CC2916-5207-45D1-BF04-D63C96C72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641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Extension</a:t>
            </a:r>
          </a:p>
        </p:txBody>
      </p:sp>
    </p:spTree>
    <p:extLst>
      <p:ext uri="{BB962C8B-B14F-4D97-AF65-F5344CB8AC3E}">
        <p14:creationId xmlns:p14="http://schemas.microsoft.com/office/powerpoint/2010/main" val="1292360579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C06AFD-AACA-44B9-9205-C30A96A8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E79589-F85C-4122-821B-BB33ADA2B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When Piggy Bank helps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547954-41BA-4E34-A69E-3FF0FC1D3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Give use cases.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F66B96-F7D8-49E1-99D8-8423CA246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244C1A-F8CC-449F-A0C0-5F16A7667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2DDF1B-0DA7-436E-B0D1-9C333A27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0C84BD-5658-417C-9492-1CC154618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Piggy Bank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23A02C-5B6F-4C6B-B054-9C79F596A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59A64B-E460-49F7-8463-D795214A4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8DBA43-8545-41EA-B2F4-77956DCB4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2CE177-6FA6-407B-92CB-71352B87D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16954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Reading special file formats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4A003E-1F5A-446F-92B2-64C3F34E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5295D4-6525-42CF-86E2-DBC9B9320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C3F1CE-3EB3-479F-8455-58C298FAA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2098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Parsing strings or logs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7AF401-F85A-47A6-92AC-032BFCF0F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631C9C-5110-4D7F-A432-1E62F4056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4D6B98-0230-420B-A9BA-A9CC48C20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7241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Using contributed statistical functions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12E2BE-1723-405E-A0AD-8EB83D51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B15897-45E4-4355-B185-7306DE733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48E924-9BBE-4855-B346-D5466A46F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2385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Avoiding duplicate custom code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83B779-0FCE-47D6-A511-7310027E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B78CAD-583B-49F8-AD7E-656EA562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29155C-D0A4-41B0-BE05-E40230D03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7528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Speeding up script development</a:t>
            </a:r>
          </a:p>
        </p:txBody>
      </p:sp>
    </p:spTree>
    <p:extLst>
      <p:ext uri="{BB962C8B-B14F-4D97-AF65-F5344CB8AC3E}">
        <p14:creationId xmlns:p14="http://schemas.microsoft.com/office/powerpoint/2010/main" val="2067306197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3500F3-84E3-452E-9C7E-764CE73B4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3892E0-726E-404D-8052-B5DBA78D1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User Defined Functions in Pig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0D89AF-71F8-43E4-ABA8-5466F550B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why UDFs are needed.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A1BB5D-54A3-4D00-9897-9C56FE285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E2164E-D62B-4831-9EFE-1BF9643A2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94391A-3DC8-470D-B1FF-FAB163E16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F38AD3-7C62-427F-A3BB-688E4EF01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UDF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606403-3E50-41E4-820A-73870ED55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EFF60B-2E5C-4C63-8F84-44463841E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9F1C"/>
                </a:solidFill>
              </a:defRPr>
            </a:pPr>
            <a:r>
              <a:rPr sz="3900" b="1">
                <a:solidFill>
                  <a:srgbClr val="FF9F1C"/>
                </a:solidFill>
              </a:rPr>
              <a:t>Pig UDF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E889CF-F80B-4616-AE29-DC40545CA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9906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8FBFF"/>
                </a:solidFill>
              </a:defRPr>
            </a:pPr>
            <a:r>
              <a:rPr sz="2175">
                <a:solidFill>
                  <a:srgbClr val="F8FBFF"/>
                </a:solidFill>
              </a:rPr>
              <a:t>A custom function used in Pig Latin when built-in operators or eval functions cannot perform a required transformation.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2353E2-52F4-484F-BE68-0F37ABE25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66346A-2E7E-45AC-A709-70667EAF6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Custom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EE0029-476D-427F-9EA9-337A38B20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33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F63937-1047-46EB-996D-AC25681D1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18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F59602-572F-4F8A-A0AD-D47EA7A3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48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Java/Python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E228C5-585C-4BB9-AAED-7BA850D08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964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CBAD2F-BEA0-4531-A121-F0FC3CC63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49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9DDEDE-0B91-4539-B3FA-83DEE3BAA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779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Register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5AFB7C-D941-444D-8D9E-E5DE31317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95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1FFF8E-14CC-43C7-9A6A-CD878FBD5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AA45C6-4A8A-4490-ACF1-F3E4C9E1E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10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Call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04CDAE-BDA5-4E64-89C0-AC6C17D80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26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8A8F29-8CA1-4553-AA8B-E181C0A25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211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4CA719-B451-424A-8DAD-7EF7B9ECE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641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Reuse</a:t>
            </a:r>
          </a:p>
        </p:txBody>
      </p:sp>
    </p:spTree>
    <p:extLst>
      <p:ext uri="{BB962C8B-B14F-4D97-AF65-F5344CB8AC3E}">
        <p14:creationId xmlns:p14="http://schemas.microsoft.com/office/powerpoint/2010/main" val="1558634196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77821B-E6AF-4A48-BB57-6349752A6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005D73-3921-497E-9A82-96AE70B01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Pig UDF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9BF1C5-D7BF-4BA0-8E25-969F866A1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process.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96BFC2-984F-45B7-B569-A8F7C8B7E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B17095-3018-4B3D-93BD-B36ADC2BB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C4C650-7C81-4CD3-8A29-EA9A3B805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FA6416-04D9-499E-987A-A9F07E21D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UDF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28B217-4A69-44F9-B1B8-01DCF407A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D2D12A-C601-401D-B20D-F05A3C2AF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EA3112-61B8-43D5-92AE-24985E674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Write function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94A0FE-C056-4AB9-9038-265F87244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F93BB0-52F6-4AD7-9C6B-6F952CCE1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406888-2AD7-4606-B43E-376F904AE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Package/register UDF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F8BEBD-B6AC-4B1D-A5C0-7780B2955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28B297-5830-4C81-AE6C-6FE6EAE7C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D89088-8C5A-475B-B849-0B5555772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Call in Pig Latin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34C748-09EF-4EBC-9134-0CF8CE06A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344730-10A1-4294-939B-657C3116F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4725EA-01C3-4629-ABFB-603E11D5A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Run script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4DB226-1BC6-4676-B7A7-345434D83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1A06A3-56F2-4CC3-BA52-4EF6E1C18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1D9E47-441E-440A-8749-060BEECA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Validate output</a:t>
            </a:r>
          </a:p>
        </p:txBody>
      </p:sp>
    </p:spTree>
    <p:extLst>
      <p:ext uri="{BB962C8B-B14F-4D97-AF65-F5344CB8AC3E}">
        <p14:creationId xmlns:p14="http://schemas.microsoft.com/office/powerpoint/2010/main" val="347478118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EE46523-2CF8-44AD-9917-BFBF20674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BCD228-AB39-4AE2-94C2-2CB376A3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Pig vs Hive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0ED76E-7C29-4765-9807-249E62039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Give the exam-ready comparison.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845A80-4DD8-4795-A475-1C2B8024A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4CE4E3-DA01-4423-95CE-71AEEAF6E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EA0F5C-C9CA-48A5-8CDB-DAC801329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608788-BF9C-4AED-A496-D1071F106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Comparison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0D1874-69BA-4120-BB2A-EF511E9E8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0E09CE-1C0C-4DB1-AA84-1786B64E6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EBCD6E-CD14-413F-A095-7C62010EE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E41AA4-BE0C-4975-9E30-1BE242525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Hive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39775C-870F-431E-9D02-2D63AC0E7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45910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49D8B3-E33C-40C0-880B-C156EF10E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375144-37C8-4BCE-A04C-8E5AE76E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F2D2F8-EEEE-4C57-AD88-B569AEE39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7165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Pig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92FBDC-F7C9-40B8-8AF7-7FA150142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52650"/>
            <a:ext cx="45910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CBE3FB-B63E-45E0-B845-1396C55F4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5C9FFA-FC73-45DA-8B6D-FBE52641E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1F3A2A-EA61-428A-999C-AAC069A94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86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SQL-like declarative language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792B97-5D88-4A83-9EEF-B3DC1001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B8C67E-3870-4110-815A-22BED3188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BBF053-6CE0-456A-A733-87470F97F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003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Best for structured analysis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279B26-A23D-4CD9-A6AB-175ADF82E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20E757-02C5-4103-AB00-6E7BDA0CF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0C8D85-8707-494E-8AA3-A5C2D95C8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147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Good for data warehouse queries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225C92-697C-4FE2-83DC-05125A01C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8D12CC-EBC4-4CB9-8676-D01792C88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FA2F2B-B28E-4264-B17C-972195012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290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Schema/table oriented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EF6350-7A70-464B-BBD7-2E0488989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24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8C6593-560D-40F1-A0C9-E0AEB4B06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241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570ADD-E75E-41D3-B10F-0854A8229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86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Procedural data-flow language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F25D6C-0864-4EC2-BD3B-5A97D7448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38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38921DD-BDA7-42BF-8824-9293A1007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384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54B6793-C3FF-4F6F-A487-A6D1D1E3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003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Best for ETL pipelines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65F7045-5580-4DA3-AF64-FB81419B3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1CEE179-7936-488D-811E-37D939BFB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B1BD1BF-DA68-44DE-8156-E2DA99922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147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Good for messy transformations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90F413B-54A4-45C3-A9F0-E681A8CFB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67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339B0B6-048E-459A-A798-9D7229DEA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671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8DF4912-B27D-464E-AEFD-7D98C1B02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290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Relation/pipeline oriented</a:t>
            </a:r>
          </a:p>
        </p:txBody>
      </p:sp>
    </p:spTree>
    <p:extLst>
      <p:ext uri="{BB962C8B-B14F-4D97-AF65-F5344CB8AC3E}">
        <p14:creationId xmlns:p14="http://schemas.microsoft.com/office/powerpoint/2010/main" val="1261169926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D3F4BF-9903-41A1-85B8-3DCC746AB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AB6A46-10FF-4852-B605-EF59519E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Choosing Hive or Pig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2E3CF7-252E-4DFD-BDEF-6A6A15625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Use workload-based decision rules.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65BB60-47DC-474E-BD54-FF51A9583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BA0F55-850B-46B8-A4B8-EDE0D2BF5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83BB62-5D1C-4FC5-BE69-DC8493911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638805-5470-44CB-9F7C-AD72B6F9F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Comparison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322CCE-FB19-4C16-A5FE-1A1C39F19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C45496-3D24-42E3-AF2A-F8333A166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8CF4D4-DDB4-4890-A692-997C32974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AC88EB-CCEF-4498-B6E6-7021113E4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6215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Use Hive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242CAF-71BC-4D71-B680-11193C630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4315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Business-style SQL reporting.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AF9F69-95B6-4046-84DC-91EE18825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122952-5665-46BB-8562-787C18E00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488D5C-2A3E-42DC-8F02-EACA67CA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6215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Use Hive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D95DBC-5B6A-4ECC-9FD9-4E650E369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4315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Summaries over structured tables.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7366B3-CB6D-4C9E-B916-0ECAE1FEB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A439F6-8F58-4188-86E2-007D9ED36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31FEDC-6BBD-4B88-8A38-4698C2158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7190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Use Pig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B7B0AC-320E-4FA5-B195-8CE1B0F6A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5290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Stepwise data cleaning pipeline.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91B8D9-D382-4160-BADA-8C9B3BCCA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775F13-EFFE-45E0-9CF3-D273F378C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FC0868-02BF-4BB1-B22D-FC921BF1E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7190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Use Pig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817FBC-7197-438E-983F-D250A237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15290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Complex transformations before analytics.</a:t>
            </a:r>
          </a:p>
        </p:txBody>
      </p:sp>
    </p:spTree>
    <p:extLst>
      <p:ext uri="{BB962C8B-B14F-4D97-AF65-F5344CB8AC3E}">
        <p14:creationId xmlns:p14="http://schemas.microsoft.com/office/powerpoint/2010/main" val="1393378328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5995FF8-1D18-4779-AACA-7AB783AB9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7587F2-593F-4D47-9F39-C57D32DFC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Module 4 in one mind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B7AD77-74D2-4D55-A6A1-21C2F578E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Connect all major headings.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903039-E9E1-49FE-AC5E-47CE1180D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B1BA6D-10E7-444F-ABF7-E01C5580A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A74DE0-059D-464A-ADB4-866973D37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B0B2E5-5AF9-4077-8434-84E847032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527379-BC68-437C-9A9C-BDBFD2C16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50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D52E84-70B7-4E00-82B0-E3451FF7F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81300"/>
            <a:ext cx="24765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BDDCAE-F28F-4B4F-9CF2-415356E4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0956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7111F"/>
                </a:solidFill>
              </a:defRPr>
            </a:pPr>
            <a:r>
              <a:rPr sz="2250" b="1">
                <a:solidFill>
                  <a:srgbClr val="07111F"/>
                </a:solidFill>
              </a:rPr>
              <a:t>Module 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818D23-6F63-4817-8C6A-D4EB15CE3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05000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115403-98B9-42F1-9F56-020C596FF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0500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EFA2A5-1B16-46F4-B5B2-B396166B0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057400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Hive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25B22A-6525-4AE9-A55A-2F087D6E0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438400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HQL/warehouse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858DE7-0470-4404-BE39-D7191CC49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619250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AD1620-65F2-4E79-88FC-B7258F762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61925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961B32-D0F4-4CC0-AC57-348084C5A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771650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EC4B6"/>
                </a:solidFill>
              </a:defRPr>
            </a:pPr>
            <a:r>
              <a:rPr sz="1725" b="1">
                <a:solidFill>
                  <a:srgbClr val="2EC4B6"/>
                </a:solidFill>
              </a:rPr>
              <a:t>Hive internals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4FFA03-C240-4748-99B6-AE4B16CC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152650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Metastore/architecture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BD7012-C244-4424-B8E2-5CD2B6ECA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905000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AD6A77-0EA9-44E1-BF29-2A88731AE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90500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C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95A39D-D458-4C8D-A331-B09AF9BC6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057400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7C8FF"/>
                </a:solidFill>
              </a:defRPr>
            </a:pPr>
            <a:r>
              <a:rPr sz="1725" b="1">
                <a:solidFill>
                  <a:srgbClr val="77C8FF"/>
                </a:solidFill>
              </a:rPr>
              <a:t>File formats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B81451-0142-48E9-8E74-8ED3E30FF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438400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RCFile/UDF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2E2A7F-6612-4B66-B54E-39ECD417D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29125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A51700-95D2-4130-8F7E-5E5C16EE8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29125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B6CAE7-2DCF-493E-90C9-B15779FD9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581525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BF69"/>
                </a:solidFill>
              </a:defRPr>
            </a:pPr>
            <a:r>
              <a:rPr sz="1725" b="1">
                <a:solidFill>
                  <a:srgbClr val="FFBF69"/>
                </a:solidFill>
              </a:rPr>
              <a:t>Pig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0566FC-0DA7-4ABE-B7D7-C0024AA4E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962525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Data-flow scripts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34734F-EC10-4323-B0E9-05CC0F9EB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810125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65701F-B240-40C1-8F57-61DA797A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810125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DAC5CB-BAAD-4DFB-BC6C-1AC6D68DC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962525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EC4B6"/>
                </a:solidFill>
              </a:defRPr>
            </a:pPr>
            <a:r>
              <a:rPr sz="1725" b="1">
                <a:solidFill>
                  <a:srgbClr val="2EC4B6"/>
                </a:solidFill>
              </a:rPr>
              <a:t>Pig Latin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2D5A84-9E11-46CD-ADBF-147512E08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343525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Operators/types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6777816-EBC5-4552-9363-EEC2C176C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29125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B422E6-6168-464D-AFEB-DE2606DC0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29125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919F44-535D-43BB-9EE2-E02C118A1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581525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Pig vs Hive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E2251E4-84BD-473F-BC88-B02E18B5A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962525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Comparison</a:t>
            </a:r>
          </a:p>
        </p:txBody>
      </p:sp>
    </p:spTree>
    <p:extLst>
      <p:ext uri="{BB962C8B-B14F-4D97-AF65-F5344CB8AC3E}">
        <p14:creationId xmlns:p14="http://schemas.microsoft.com/office/powerpoint/2010/main" val="1136433846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4252AD-D0B8-4984-A608-D9D9A7559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A438E4-4D88-4771-8728-DBF897D8A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Exam-writing shortcuts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51AFB3-7EE4-4088-93C4-ED145FB70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Turn concepts into marks.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4B74FF-9370-49C5-8763-0CCD205D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61E40D-368C-4A82-AA04-80B04449D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ADED9D-064D-48FD-A92B-1AA4EA56B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38D8A1-A397-4A5B-9B54-156DAD25F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C21AE2-419A-4BF7-AED8-41FB81D79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51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4D15B9-BB51-479D-8AF3-E6165EE8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8A7A8C-AA62-48EA-BC98-C17C340C9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A9BACC-A023-45F5-BD01-81DE8DC11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16954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For Hive, draw architecture and mention metastore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7D6821-4FD3-4F94-8240-B6657F85A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C745CD-0925-4AC9-8B58-045FEB7DC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D06994-9C4D-4BDB-A686-ADA375776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2098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For HQL, write CREATE TABLE and SELECT examples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1B0A9F-F3C6-4F21-AE6F-5D0B2E5CD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AD5239-C35C-4AE7-862C-B9D9B0793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75FCE1-71AD-40AA-8A48-67B514BDA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7241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For file formats, compare row and column storage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AC6FA6-E858-458B-BBB4-1CA1F3EC0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FD885F-FA96-4AC3-8570-6FCDCDEE3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E773E6-9F5C-4F54-8B7E-7B4D6AB0A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2385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For Pig, draw Pig Latin to MapReduce flow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BDD6FF-2D0F-4C01-A6AC-109CA2ED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7D6B0A-70AA-4C12-87D0-5C1456CF8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30BA9F-0C15-4BDD-95A5-ED8F41CC1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7528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For Pig vs Hive, use a two-column comparison table</a:t>
            </a:r>
          </a:p>
        </p:txBody>
      </p:sp>
    </p:spTree>
    <p:extLst>
      <p:ext uri="{BB962C8B-B14F-4D97-AF65-F5344CB8AC3E}">
        <p14:creationId xmlns:p14="http://schemas.microsoft.com/office/powerpoint/2010/main" val="264355134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01C8CF-0C02-426E-B599-FD24E9F30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70995A-9B79-40C6-AA45-2F511C143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20 important viva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4A876B-CBEC-4F80-9B2D-BBB3F8469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Rapid oral revision.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9A4C3C-BAF4-4A3F-88AD-A84A73588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B08BFE-34EC-405B-9188-64B437A71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58113B-C191-4C88-8E98-5A2F9305E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4A8BE8-DE6C-4375-8A4B-C3DEB3320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DE134F-D47F-49A4-AD7E-00524657B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52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708AB4-9F05-42B4-8DE1-3FABF5F4D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1. What is Hive?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76D305-10D1-4BE7-9A58-A3E22B242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716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2. Why Hive?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3F7426-E705-4AED-BA2C-365DA08E9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3. What is HQL?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D3E1AB-8363-4742-92BF-A7C737C29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051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4. What is Hive metastore?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65469F-B0A2-4CD1-94CF-4FA2456F8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5. Name Hive data types.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E409E7-DFF5-4D2B-8D3A-54D9F5438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385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6. What is RCFile?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5D7FF7-2A54-4C03-AEE0-12127DE05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7. What is Hive UDF?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CDA681-DA7A-4142-A92E-FE0F5C8BA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720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8. Managed vs external table?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98A026-78FE-4E8D-9610-21F9C9148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9. What is partitioning?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9C84D5-3FB1-46CD-9762-1404E0570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054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10. What is Pig?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A4BB05-F966-4C45-8807-87796458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5049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11. Why Pig?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038B67-AC9C-4626-9B55-1D498E43D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716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12. What is Pig Latin?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EE43A0-EA71-4F6D-85DA-CBECE37BC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384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13. What is Grunt shell?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10FB56-FD14-448D-8F31-F4315F1B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9051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14. Local vs MapReduce mode?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556273-DD82-4864-B3C4-EE987282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718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15. What is LOAD?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F08075-D45E-48F2-B0E1-05F5A975C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8385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16. What is FILTER?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81B456-A604-4EB6-9EE3-C01E03C0D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3053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17. What is FOREACH?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5AD5DF-288A-4C74-B25C-2F797C373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720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18. What is a bag?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1391C4-E08F-4258-A870-ED08D0F82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2387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19. What is Piggy Bank?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C0F120-3BEF-49D8-96B4-EF60DDA73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7054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20. Pig vs Hive?</a:t>
            </a:r>
          </a:p>
        </p:txBody>
      </p:sp>
    </p:spTree>
    <p:extLst>
      <p:ext uri="{BB962C8B-B14F-4D97-AF65-F5344CB8AC3E}">
        <p14:creationId xmlns:p14="http://schemas.microsoft.com/office/powerpoint/2010/main" val="1786974029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C61D60-2C71-45EC-9A9A-33B991BD3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12C735-115F-4AC2-A547-452CD2A3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10 two-mark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E3CE65-D57D-43EE-B085-C21AE268D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Practice short answers.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A61857-EC92-4F18-95E6-B11C3D84F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633F6D-E58F-413F-961C-0AF8608CE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E6D625-E9F5-4746-BC36-173C43299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B5C2C7-CFA4-4651-94A2-671064865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302FC0-5CEF-4AD6-B0FE-BFD5753B0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53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84B22C-406A-4A9E-85C3-A896A42F4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1. Define Hive.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18B895-0A7B-45BB-AD23-8E348330A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716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2. What is HQL?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59B776-583F-401F-A317-49558DF8F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3. What is metastore?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D68F7F-A9C9-4B0A-B0BB-D6B8BE9F0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051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4. Name two Hive file formats.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D315F6-A4CB-4566-8562-8BA554179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5. What is RCFile?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8B9DFA-1C83-4DF9-9D05-203C33D29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385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6. Define Pig.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8A3D7B-0638-43BB-9F3B-DEDC2E1AE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7. What is Pig Latin?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ABA818-E920-4CF1-B609-E7A4AF8C4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720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8. What is Grunt shell?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77A8B1-C984-4CC3-A4A9-570CC0B53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9. What is Piggy Bank?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C27CA1-F639-40F0-90B7-D6BCDEFEF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054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10. Define Pig UDF.</a:t>
            </a:r>
          </a:p>
        </p:txBody>
      </p:sp>
    </p:spTree>
    <p:extLst>
      <p:ext uri="{BB962C8B-B14F-4D97-AF65-F5344CB8AC3E}">
        <p14:creationId xmlns:p14="http://schemas.microsoft.com/office/powerpoint/2010/main" val="2059023934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EB7709-A6B9-4B63-A3DE-09A331ED6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4AA0F4-2222-4768-BC6C-B6691AD19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10 five-mark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24A978-DAE8-4831-811D-F04932102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Practice medium answers.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73B382-7E3E-4E58-9F0F-1DD31BE91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3A9828-8983-45FB-817E-298AD936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9A5800-D724-4E77-938E-B3723B01E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E9E212-A135-460E-AA37-091F08E26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15D4EA-41C3-49D8-B826-77CE47AB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54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EA6DAB-3502-47F3-9B7F-CBC43BF36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1. Explain Hive architecture.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CBF330-1437-4436-AB75-70017F825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716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2. Explain Hive data types.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BE0565-EA35-4E9F-9EC5-F9614699D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3. Explain Hive file formats and RCFile.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E94961-B647-498B-99BC-883F4166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051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4. Explain HQL with examples.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E8A1F5-4134-4306-B94C-FA9C00461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5. Explain Hive UDF.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76C8DC-4B1B-4002-A80F-0838A186E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385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6. Explain Pig anatomy.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3DAD0A-D981-44E5-8B80-A8CBEB182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7. Explain Pig on Hadoop.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40ABD3-1741-4249-9E70-BB867EEB2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720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8. Explain Pig Latin operators.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3D7EBC-130E-4B54-BBAD-C641D3C5E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9. Explain complex data types in Pig.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91D8C0-9DA0-4FE5-83E4-C9278C343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054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10. Compare Pig and Hive.</a:t>
            </a:r>
          </a:p>
        </p:txBody>
      </p:sp>
    </p:spTree>
    <p:extLst>
      <p:ext uri="{BB962C8B-B14F-4D97-AF65-F5344CB8AC3E}">
        <p14:creationId xmlns:p14="http://schemas.microsoft.com/office/powerpoint/2010/main" val="1268364214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F554A6-CAF6-4192-85BB-096F30ADB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ADCC65-0E79-4D70-A6CE-BEC67D6AA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10 ten-mark questions and VTU placeholders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A2B74A-3AF1-457C-8CA6-BA91BF169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Practice long-answer structure.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976F98-5165-4BB8-AF6F-8BF0528DD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066B24-D7BE-4A21-ACA9-6E610F4A2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8D0E8B-DB3B-4613-A909-2A739E0E4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AAE85B-0474-4098-BC44-751DA2FB7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9F3AA3-34E3-4836-9AFB-04EA3B598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55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AB5347-72B0-4C5D-B623-FAEFFFE64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1. Explain Hive architecture, metastore, HQL and file formats.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BAB3EE-674D-4904-A846-344AC3192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716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2. Explain Hive data types, RCFile and UDF with examples.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842E2F-2ADC-485E-907F-336D9BA76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3. Explain Pig, anatomy, philosophy, use cases and Pig on Hadoop.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6E240D-8EE4-473B-BEA9-98BBC847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051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4. Explain Pig Latin overview, data types, execution modes and HDFS commands.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F68EBD-F6A8-45BC-A0AF-66F20D590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5. Explain Pig relational operators, eval functions, complex types, Piggy Bank, UDF and Pig vs Hive.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81FB36-3B50-44D8-804E-BD20B6F30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385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6. Previous VTU Q1 placeholder: fill from past paper.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763291-E070-42BD-8FF7-E031C7082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7. Previous VTU Q2 placeholder: fill from past paper.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B50BD2-E022-4820-AB4D-F340DCF06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720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8. Previous VTU Q3 placeholder: fill from past paper.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9962D2-C894-4816-A031-52E9B11DC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9. Previous VTU Q4 placeholder: fill from past paper.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B9C217-2AD5-4844-9335-96DB934FE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054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10. Previous VTU Q5 placeholder: fill from past paper.</a:t>
            </a:r>
          </a:p>
        </p:txBody>
      </p:sp>
    </p:spTree>
    <p:extLst>
      <p:ext uri="{BB962C8B-B14F-4D97-AF65-F5344CB8AC3E}">
        <p14:creationId xmlns:p14="http://schemas.microsoft.com/office/powerpoint/2010/main" val="1689279914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6C5156-11C5-416F-8D24-C71961061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6731A6-A5E5-4139-AA88-2365FA8B6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One-page revision and keyword sheet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FC7D4B-6282-4968-A833-8E96EEA75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Close with the must-remember terms.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5B4541-DE7C-4929-97E1-F81D1A87F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8DF01C-3BFA-45AF-9ADF-28FAA2150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4C400B-2F2E-417D-9156-D4E13978A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BF39F9-6B02-45F8-8B12-EB06BE87D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AE87E6-671E-4EA9-BE83-404C95D2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56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D1E096-846F-4B29-84A2-76733E9D2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0668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2F59F8-97A8-430E-97C0-82DAFCCC8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5219E9-75E2-4B31-A56A-9C7CD5FEA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66900"/>
            <a:ext cx="1030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Keywords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395F73-E401-4E9C-BED3-1B1B806D2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47900"/>
            <a:ext cx="103060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Hive; HQL; metastore; driver; compiler; execution engine; managed table; external table; partition; bucket; TextFile; SequenceFile; RCFile; UDF; Pig; Pig Latin; Grunt; local mode; MapReduce mode; LOAD; FILTER; FOREACH; GROUP; JOIN; ORDER; LIMIT; tuple; bag; map; Piggy Bank; Pig vs Hive.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C37A20-6A22-464B-90DB-6C2507862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10668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D26F87-4B8A-40D6-BCDC-D35B35B3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76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7EDD01-DEEA-453F-A553-76E813EAE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67150"/>
            <a:ext cx="1030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Memory path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322570-3FE7-4488-A764-27629895E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48150"/>
            <a:ext cx="10306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WHY tools above Hadoop -&gt; Hive for SQL warehouse queries -&gt; Pig for data-flow ETL -&gt; UDFs extend both -&gt; compare Pig and Hive by workload.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DEC0A4-0975-4E22-9CA8-C89DF9E99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10668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E65FE7-452D-4964-B9BA-C66DB18DC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7276E7-744F-4117-8A83-8497D26FA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95900"/>
            <a:ext cx="1030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EC4B6"/>
                </a:solidFill>
              </a:defRPr>
            </a:pPr>
            <a:r>
              <a:rPr sz="1725" b="1">
                <a:solidFill>
                  <a:srgbClr val="2EC4B6"/>
                </a:solidFill>
              </a:rPr>
              <a:t>Exam answer formula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BBE089-B2B5-465A-B2C6-ED7214E5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676900"/>
            <a:ext cx="10306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Definition + architecture/process diagram + syntax example + use case + comparison = strong answer.</a:t>
            </a:r>
          </a:p>
        </p:txBody>
      </p:sp>
    </p:spTree>
    <p:extLst>
      <p:ext uri="{BB962C8B-B14F-4D97-AF65-F5344CB8AC3E}">
        <p14:creationId xmlns:p14="http://schemas.microsoft.com/office/powerpoint/2010/main" val="9464351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2026-08-05T05:31:36.2250000Z</dcterms:created>
  <dcterms:modified xsi:type="dcterms:W3CDTF">2026-08-05T05:31:36.2250000Z</dcterms:modified>
</coreProperties>
</file>