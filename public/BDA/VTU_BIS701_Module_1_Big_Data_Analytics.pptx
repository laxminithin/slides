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be58b0fb15e4be0" /><Relationship Type="http://schemas.openxmlformats.org/officeDocument/2006/relationships/extended-properties" Target="/docProps/app.xml" Id="R9b34a3e2daa64f03" /><Relationship Type="http://schemas.openxmlformats.org/officeDocument/2006/relationships/officeDocument" Target="/ppt/presentation.xml" Id="R46baed6d269342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e623ff8b409440b"/>
  </p:sldMasterIdLst>
  <p:notesMasterIdLst>
    <p:notesMasterId xmlns:r="http://schemas.openxmlformats.org/officeDocument/2006/relationships" r:id="Raa7d9803ab384630"/>
  </p:notesMasterIdLst>
  <p:sldIdLst>
    <p:sldId xmlns:r="http://schemas.openxmlformats.org/officeDocument/2006/relationships" id="256" r:id="Rae5feb5d51584e9d"/>
    <p:sldId xmlns:r="http://schemas.openxmlformats.org/officeDocument/2006/relationships" id="257" r:id="Rd8556274c0c64601"/>
    <p:sldId xmlns:r="http://schemas.openxmlformats.org/officeDocument/2006/relationships" id="258" r:id="Rb9cdeda5955f4129"/>
    <p:sldId xmlns:r="http://schemas.openxmlformats.org/officeDocument/2006/relationships" id="259" r:id="R4734179644f54ed5"/>
    <p:sldId xmlns:r="http://schemas.openxmlformats.org/officeDocument/2006/relationships" id="260" r:id="Rf23f10e170e948c8"/>
    <p:sldId xmlns:r="http://schemas.openxmlformats.org/officeDocument/2006/relationships" id="261" r:id="R64568f3ea2c04e2d"/>
    <p:sldId xmlns:r="http://schemas.openxmlformats.org/officeDocument/2006/relationships" id="262" r:id="Rbe725a841fa64946"/>
    <p:sldId xmlns:r="http://schemas.openxmlformats.org/officeDocument/2006/relationships" id="263" r:id="R972c74771c62432f"/>
    <p:sldId xmlns:r="http://schemas.openxmlformats.org/officeDocument/2006/relationships" id="264" r:id="R55355f8aa20947a2"/>
    <p:sldId xmlns:r="http://schemas.openxmlformats.org/officeDocument/2006/relationships" id="265" r:id="R668f552e32a44302"/>
    <p:sldId xmlns:r="http://schemas.openxmlformats.org/officeDocument/2006/relationships" id="266" r:id="Rbfb0077169df43b8"/>
    <p:sldId xmlns:r="http://schemas.openxmlformats.org/officeDocument/2006/relationships" id="267" r:id="Rce0efa121ce54665"/>
    <p:sldId xmlns:r="http://schemas.openxmlformats.org/officeDocument/2006/relationships" id="268" r:id="R9cd320e3150443c0"/>
    <p:sldId xmlns:r="http://schemas.openxmlformats.org/officeDocument/2006/relationships" id="269" r:id="Rd4ba8ad102e44b25"/>
    <p:sldId xmlns:r="http://schemas.openxmlformats.org/officeDocument/2006/relationships" id="270" r:id="R8b2c12607fc249ef"/>
    <p:sldId xmlns:r="http://schemas.openxmlformats.org/officeDocument/2006/relationships" id="271" r:id="R52772c2f4d48466a"/>
    <p:sldId xmlns:r="http://schemas.openxmlformats.org/officeDocument/2006/relationships" id="272" r:id="R4968e72988fa4478"/>
    <p:sldId xmlns:r="http://schemas.openxmlformats.org/officeDocument/2006/relationships" id="273" r:id="Rebb8b9b065cd4a1c"/>
    <p:sldId xmlns:r="http://schemas.openxmlformats.org/officeDocument/2006/relationships" id="274" r:id="Rba98a6806d8d4a6d"/>
    <p:sldId xmlns:r="http://schemas.openxmlformats.org/officeDocument/2006/relationships" id="275" r:id="R9cfdeaf5cc4a458a"/>
    <p:sldId xmlns:r="http://schemas.openxmlformats.org/officeDocument/2006/relationships" id="276" r:id="R5361f36a5ee346ac"/>
    <p:sldId xmlns:r="http://schemas.openxmlformats.org/officeDocument/2006/relationships" id="277" r:id="Rb47d218b692b48f8"/>
    <p:sldId xmlns:r="http://schemas.openxmlformats.org/officeDocument/2006/relationships" id="278" r:id="Rb9839cfa67f44295"/>
    <p:sldId xmlns:r="http://schemas.openxmlformats.org/officeDocument/2006/relationships" id="279" r:id="R749fe4f014d34669"/>
    <p:sldId xmlns:r="http://schemas.openxmlformats.org/officeDocument/2006/relationships" id="280" r:id="Rf569fb63aeeb4058"/>
    <p:sldId xmlns:r="http://schemas.openxmlformats.org/officeDocument/2006/relationships" id="281" r:id="R57255f23affc4e74"/>
    <p:sldId xmlns:r="http://schemas.openxmlformats.org/officeDocument/2006/relationships" id="282" r:id="Rf6ab357b07254731"/>
    <p:sldId xmlns:r="http://schemas.openxmlformats.org/officeDocument/2006/relationships" id="283" r:id="Rb13e17cffd0846e2"/>
    <p:sldId xmlns:r="http://schemas.openxmlformats.org/officeDocument/2006/relationships" id="284" r:id="R81043cc0b4144a6a"/>
    <p:sldId xmlns:r="http://schemas.openxmlformats.org/officeDocument/2006/relationships" id="285" r:id="Rc77d8046f3d5454a"/>
    <p:sldId xmlns:r="http://schemas.openxmlformats.org/officeDocument/2006/relationships" id="286" r:id="Rf924976993bf4c6a"/>
    <p:sldId xmlns:r="http://schemas.openxmlformats.org/officeDocument/2006/relationships" id="287" r:id="R9c4834b5495c402d"/>
    <p:sldId xmlns:r="http://schemas.openxmlformats.org/officeDocument/2006/relationships" id="288" r:id="Rc5e6f52103c84f1f"/>
    <p:sldId xmlns:r="http://schemas.openxmlformats.org/officeDocument/2006/relationships" id="289" r:id="R3bc1f3f2062a4285"/>
    <p:sldId xmlns:r="http://schemas.openxmlformats.org/officeDocument/2006/relationships" id="290" r:id="R1d214c65d9ec4bb2"/>
    <p:sldId xmlns:r="http://schemas.openxmlformats.org/officeDocument/2006/relationships" id="291" r:id="Re14ffee5781745ce"/>
    <p:sldId xmlns:r="http://schemas.openxmlformats.org/officeDocument/2006/relationships" id="292" r:id="Rcd09a41a72544c0f"/>
    <p:sldId xmlns:r="http://schemas.openxmlformats.org/officeDocument/2006/relationships" id="293" r:id="R8a3105720e9f4c86"/>
    <p:sldId xmlns:r="http://schemas.openxmlformats.org/officeDocument/2006/relationships" id="294" r:id="Rb945bb707f2b46ee"/>
    <p:sldId xmlns:r="http://schemas.openxmlformats.org/officeDocument/2006/relationships" id="295" r:id="Raec6e3b353234f60"/>
    <p:sldId xmlns:r="http://schemas.openxmlformats.org/officeDocument/2006/relationships" id="296" r:id="Rccd1ec26eb0942a8"/>
    <p:sldId xmlns:r="http://schemas.openxmlformats.org/officeDocument/2006/relationships" id="297" r:id="R54110e4d4dcf49f4"/>
    <p:sldId xmlns:r="http://schemas.openxmlformats.org/officeDocument/2006/relationships" id="298" r:id="R5810bbf2551448f3"/>
    <p:sldId xmlns:r="http://schemas.openxmlformats.org/officeDocument/2006/relationships" id="299" r:id="Rc29b6925430d4066"/>
    <p:sldId xmlns:r="http://schemas.openxmlformats.org/officeDocument/2006/relationships" id="300" r:id="R75ef24f139164426"/>
    <p:sldId xmlns:r="http://schemas.openxmlformats.org/officeDocument/2006/relationships" id="301" r:id="Rce9e887b6acf4c29"/>
    <p:sldId xmlns:r="http://schemas.openxmlformats.org/officeDocument/2006/relationships" id="302" r:id="R5a28b4caf6344c1e"/>
    <p:sldId xmlns:r="http://schemas.openxmlformats.org/officeDocument/2006/relationships" id="303" r:id="Ref1a1e7fbdea46b3"/>
    <p:sldId xmlns:r="http://schemas.openxmlformats.org/officeDocument/2006/relationships" id="304" r:id="Rb5625b2997b64f8b"/>
    <p:sldId xmlns:r="http://schemas.openxmlformats.org/officeDocument/2006/relationships" id="305" r:id="Ra58c6790d3774e1f"/>
    <p:sldId xmlns:r="http://schemas.openxmlformats.org/officeDocument/2006/relationships" id="306" r:id="R95b2905fa9954622"/>
    <p:sldId xmlns:r="http://schemas.openxmlformats.org/officeDocument/2006/relationships" id="307" r:id="R761df8e44ec34ccc"/>
    <p:sldId xmlns:r="http://schemas.openxmlformats.org/officeDocument/2006/relationships" id="308" r:id="R4d9cf6c0d8c34073"/>
    <p:sldId xmlns:r="http://schemas.openxmlformats.org/officeDocument/2006/relationships" id="309" r:id="R13e45f1387f44696"/>
    <p:sldId xmlns:r="http://schemas.openxmlformats.org/officeDocument/2006/relationships" id="310" r:id="Rc0a4c1896f504ea8"/>
    <p:sldId xmlns:r="http://schemas.openxmlformats.org/officeDocument/2006/relationships" id="311" r:id="R6aa144f74ba64bd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a9b11a5d29e4ef1" /><Relationship Type="http://schemas.openxmlformats.org/officeDocument/2006/relationships/slideMaster" Target="/ppt/slideMasters/slideMaster1.xml" Id="R0e623ff8b409440b" /><Relationship Type="http://schemas.openxmlformats.org/officeDocument/2006/relationships/notesMaster" Target="/ppt/notesMasters/notesMaster1.xml" Id="Raa7d9803ab384630" /><Relationship Type="http://schemas.openxmlformats.org/officeDocument/2006/relationships/presProps" Target="/ppt/presProps.xml" Id="Rf55e010f359543e2" /><Relationship Type="http://schemas.openxmlformats.org/officeDocument/2006/relationships/tableStyles" Target="/ppt/tableStyles.xml" Id="Rf49abb4cd6594131" /><Relationship Type="http://schemas.openxmlformats.org/officeDocument/2006/relationships/slide" Target="/ppt/slides/slide1.xml" Id="Rae5feb5d51584e9d" /><Relationship Type="http://schemas.openxmlformats.org/officeDocument/2006/relationships/slide" Target="/ppt/slides/slide2.xml" Id="Rd8556274c0c64601" /><Relationship Type="http://schemas.openxmlformats.org/officeDocument/2006/relationships/slide" Target="/ppt/slides/slide3.xml" Id="Rb9cdeda5955f4129" /><Relationship Type="http://schemas.openxmlformats.org/officeDocument/2006/relationships/slide" Target="/ppt/slides/slide4.xml" Id="R4734179644f54ed5" /><Relationship Type="http://schemas.openxmlformats.org/officeDocument/2006/relationships/slide" Target="/ppt/slides/slide5.xml" Id="Rf23f10e170e948c8" /><Relationship Type="http://schemas.openxmlformats.org/officeDocument/2006/relationships/slide" Target="/ppt/slides/slide6.xml" Id="R64568f3ea2c04e2d" /><Relationship Type="http://schemas.openxmlformats.org/officeDocument/2006/relationships/slide" Target="/ppt/slides/slide7.xml" Id="Rbe725a841fa64946" /><Relationship Type="http://schemas.openxmlformats.org/officeDocument/2006/relationships/slide" Target="/ppt/slides/slide8.xml" Id="R972c74771c62432f" /><Relationship Type="http://schemas.openxmlformats.org/officeDocument/2006/relationships/slide" Target="/ppt/slides/slide9.xml" Id="R55355f8aa20947a2" /><Relationship Type="http://schemas.openxmlformats.org/officeDocument/2006/relationships/slide" Target="/ppt/slides/slide10.xml" Id="R668f552e32a44302" /><Relationship Type="http://schemas.openxmlformats.org/officeDocument/2006/relationships/slide" Target="/ppt/slides/slide11.xml" Id="Rbfb0077169df43b8" /><Relationship Type="http://schemas.openxmlformats.org/officeDocument/2006/relationships/slide" Target="/ppt/slides/slide12.xml" Id="Rce0efa121ce54665" /><Relationship Type="http://schemas.openxmlformats.org/officeDocument/2006/relationships/slide" Target="/ppt/slides/slide13.xml" Id="R9cd320e3150443c0" /><Relationship Type="http://schemas.openxmlformats.org/officeDocument/2006/relationships/slide" Target="/ppt/slides/slide14.xml" Id="Rd4ba8ad102e44b25" /><Relationship Type="http://schemas.openxmlformats.org/officeDocument/2006/relationships/slide" Target="/ppt/slides/slide15.xml" Id="R8b2c12607fc249ef" /><Relationship Type="http://schemas.openxmlformats.org/officeDocument/2006/relationships/slide" Target="/ppt/slides/slide16.xml" Id="R52772c2f4d48466a" /><Relationship Type="http://schemas.openxmlformats.org/officeDocument/2006/relationships/slide" Target="/ppt/slides/slide17.xml" Id="R4968e72988fa4478" /><Relationship Type="http://schemas.openxmlformats.org/officeDocument/2006/relationships/slide" Target="/ppt/slides/slide18.xml" Id="Rebb8b9b065cd4a1c" /><Relationship Type="http://schemas.openxmlformats.org/officeDocument/2006/relationships/slide" Target="/ppt/slides/slide19.xml" Id="Rba98a6806d8d4a6d" /><Relationship Type="http://schemas.openxmlformats.org/officeDocument/2006/relationships/slide" Target="/ppt/slides/slide20.xml" Id="R9cfdeaf5cc4a458a" /><Relationship Type="http://schemas.openxmlformats.org/officeDocument/2006/relationships/slide" Target="/ppt/slides/slide21.xml" Id="R5361f36a5ee346ac" /><Relationship Type="http://schemas.openxmlformats.org/officeDocument/2006/relationships/slide" Target="/ppt/slides/slide22.xml" Id="Rb47d218b692b48f8" /><Relationship Type="http://schemas.openxmlformats.org/officeDocument/2006/relationships/slide" Target="/ppt/slides/slide23.xml" Id="Rb9839cfa67f44295" /><Relationship Type="http://schemas.openxmlformats.org/officeDocument/2006/relationships/slide" Target="/ppt/slides/slide24.xml" Id="R749fe4f014d34669" /><Relationship Type="http://schemas.openxmlformats.org/officeDocument/2006/relationships/slide" Target="/ppt/slides/slide25.xml" Id="Rf569fb63aeeb4058" /><Relationship Type="http://schemas.openxmlformats.org/officeDocument/2006/relationships/slide" Target="/ppt/slides/slide26.xml" Id="R57255f23affc4e74" /><Relationship Type="http://schemas.openxmlformats.org/officeDocument/2006/relationships/slide" Target="/ppt/slides/slide27.xml" Id="Rf6ab357b07254731" /><Relationship Type="http://schemas.openxmlformats.org/officeDocument/2006/relationships/slide" Target="/ppt/slides/slide28.xml" Id="Rb13e17cffd0846e2" /><Relationship Type="http://schemas.openxmlformats.org/officeDocument/2006/relationships/slide" Target="/ppt/slides/slide29.xml" Id="R81043cc0b4144a6a" /><Relationship Type="http://schemas.openxmlformats.org/officeDocument/2006/relationships/slide" Target="/ppt/slides/slide30.xml" Id="Rc77d8046f3d5454a" /><Relationship Type="http://schemas.openxmlformats.org/officeDocument/2006/relationships/slide" Target="/ppt/slides/slide31.xml" Id="Rf924976993bf4c6a" /><Relationship Type="http://schemas.openxmlformats.org/officeDocument/2006/relationships/slide" Target="/ppt/slides/slide32.xml" Id="R9c4834b5495c402d" /><Relationship Type="http://schemas.openxmlformats.org/officeDocument/2006/relationships/slide" Target="/ppt/slides/slide33.xml" Id="Rc5e6f52103c84f1f" /><Relationship Type="http://schemas.openxmlformats.org/officeDocument/2006/relationships/slide" Target="/ppt/slides/slide34.xml" Id="R3bc1f3f2062a4285" /><Relationship Type="http://schemas.openxmlformats.org/officeDocument/2006/relationships/slide" Target="/ppt/slides/slide35.xml" Id="R1d214c65d9ec4bb2" /><Relationship Type="http://schemas.openxmlformats.org/officeDocument/2006/relationships/slide" Target="/ppt/slides/slide36.xml" Id="Re14ffee5781745ce" /><Relationship Type="http://schemas.openxmlformats.org/officeDocument/2006/relationships/slide" Target="/ppt/slides/slide37.xml" Id="Rcd09a41a72544c0f" /><Relationship Type="http://schemas.openxmlformats.org/officeDocument/2006/relationships/slide" Target="/ppt/slides/slide38.xml" Id="R8a3105720e9f4c86" /><Relationship Type="http://schemas.openxmlformats.org/officeDocument/2006/relationships/slide" Target="/ppt/slides/slide39.xml" Id="Rb945bb707f2b46ee" /><Relationship Type="http://schemas.openxmlformats.org/officeDocument/2006/relationships/slide" Target="/ppt/slides/slide40.xml" Id="Raec6e3b353234f60" /><Relationship Type="http://schemas.openxmlformats.org/officeDocument/2006/relationships/slide" Target="/ppt/slides/slide41.xml" Id="Rccd1ec26eb0942a8" /><Relationship Type="http://schemas.openxmlformats.org/officeDocument/2006/relationships/slide" Target="/ppt/slides/slide42.xml" Id="R54110e4d4dcf49f4" /><Relationship Type="http://schemas.openxmlformats.org/officeDocument/2006/relationships/slide" Target="/ppt/slides/slide43.xml" Id="R5810bbf2551448f3" /><Relationship Type="http://schemas.openxmlformats.org/officeDocument/2006/relationships/slide" Target="/ppt/slides/slide44.xml" Id="Rc29b6925430d4066" /><Relationship Type="http://schemas.openxmlformats.org/officeDocument/2006/relationships/slide" Target="/ppt/slides/slide45.xml" Id="R75ef24f139164426" /><Relationship Type="http://schemas.openxmlformats.org/officeDocument/2006/relationships/slide" Target="/ppt/slides/slide46.xml" Id="Rce9e887b6acf4c29" /><Relationship Type="http://schemas.openxmlformats.org/officeDocument/2006/relationships/slide" Target="/ppt/slides/slide47.xml" Id="R5a28b4caf6344c1e" /><Relationship Type="http://schemas.openxmlformats.org/officeDocument/2006/relationships/slide" Target="/ppt/slides/slide48.xml" Id="Ref1a1e7fbdea46b3" /><Relationship Type="http://schemas.openxmlformats.org/officeDocument/2006/relationships/slide" Target="/ppt/slides/slide49.xml" Id="Rb5625b2997b64f8b" /><Relationship Type="http://schemas.openxmlformats.org/officeDocument/2006/relationships/slide" Target="/ppt/slides/slide50.xml" Id="Ra58c6790d3774e1f" /><Relationship Type="http://schemas.openxmlformats.org/officeDocument/2006/relationships/slide" Target="/ppt/slides/slide51.xml" Id="R95b2905fa9954622" /><Relationship Type="http://schemas.openxmlformats.org/officeDocument/2006/relationships/slide" Target="/ppt/slides/slide52.xml" Id="R761df8e44ec34ccc" /><Relationship Type="http://schemas.openxmlformats.org/officeDocument/2006/relationships/slide" Target="/ppt/slides/slide53.xml" Id="R4d9cf6c0d8c34073" /><Relationship Type="http://schemas.openxmlformats.org/officeDocument/2006/relationships/slide" Target="/ppt/slides/slide54.xml" Id="R13e45f1387f44696" /><Relationship Type="http://schemas.openxmlformats.org/officeDocument/2006/relationships/slide" Target="/ppt/slides/slide55.xml" Id="Rc0a4c1896f504ea8" /><Relationship Type="http://schemas.openxmlformats.org/officeDocument/2006/relationships/slide" Target="/ppt/slides/slide56.xml" Id="R6aa144f74ba64bd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925d7fbf8774e6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1481e98da7c4dc8" /><Relationship Type="http://schemas.openxmlformats.org/officeDocument/2006/relationships/notesMaster" Target="/ppt/notesMasters/notesMaster1.xml" Id="R9f8704a972684c2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0f2efa466914c75" /><Relationship Type="http://schemas.openxmlformats.org/officeDocument/2006/relationships/notesMaster" Target="/ppt/notesMasters/notesMaster1.xml" Id="R4db03f73e7044a9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7f20b1e697645ec" /><Relationship Type="http://schemas.openxmlformats.org/officeDocument/2006/relationships/notesMaster" Target="/ppt/notesMasters/notesMaster1.xml" Id="R4c0a76c6511045d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f08d788ca4c436d" /><Relationship Type="http://schemas.openxmlformats.org/officeDocument/2006/relationships/notesMaster" Target="/ppt/notesMasters/notesMaster1.xml" Id="R0aea6646f2404a2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c47ac6e4f844046" /><Relationship Type="http://schemas.openxmlformats.org/officeDocument/2006/relationships/notesMaster" Target="/ppt/notesMasters/notesMaster1.xml" Id="Rd64f674297f84f8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82f7ce16efd4af1" /><Relationship Type="http://schemas.openxmlformats.org/officeDocument/2006/relationships/notesMaster" Target="/ppt/notesMasters/notesMaster1.xml" Id="R05acbce053e648c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366081d3f6349c2" /><Relationship Type="http://schemas.openxmlformats.org/officeDocument/2006/relationships/notesMaster" Target="/ppt/notesMasters/notesMaster1.xml" Id="R6b0acfcf951a489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27f5d5fac7146c5" /><Relationship Type="http://schemas.openxmlformats.org/officeDocument/2006/relationships/notesMaster" Target="/ppt/notesMasters/notesMaster1.xml" Id="Rbbdd4b4b1648422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d5c03de2a074c03" /><Relationship Type="http://schemas.openxmlformats.org/officeDocument/2006/relationships/notesMaster" Target="/ppt/notesMasters/notesMaster1.xml" Id="Rff13e3ca6f1b49e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d347d8a8dee4666" /><Relationship Type="http://schemas.openxmlformats.org/officeDocument/2006/relationships/notesMaster" Target="/ppt/notesMasters/notesMaster1.xml" Id="Rad7b1b77ec50436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1ca69ce25dc4f73" /><Relationship Type="http://schemas.openxmlformats.org/officeDocument/2006/relationships/notesMaster" Target="/ppt/notesMasters/notesMaster1.xml" Id="R55a80f9ee508404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d29ac9f0fd848ec" /><Relationship Type="http://schemas.openxmlformats.org/officeDocument/2006/relationships/notesMaster" Target="/ppt/notesMasters/notesMaster1.xml" Id="R4c79d0c21d2d459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56d90d7b0684e1d" /><Relationship Type="http://schemas.openxmlformats.org/officeDocument/2006/relationships/notesMaster" Target="/ppt/notesMasters/notesMaster1.xml" Id="Rbcd1c22d5d4a492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4429a3c50424f91" /><Relationship Type="http://schemas.openxmlformats.org/officeDocument/2006/relationships/notesMaster" Target="/ppt/notesMasters/notesMaster1.xml" Id="Rb862b95b998c466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8686a2bb4ba4ebe" /><Relationship Type="http://schemas.openxmlformats.org/officeDocument/2006/relationships/notesMaster" Target="/ppt/notesMasters/notesMaster1.xml" Id="R5db1ab8ee533437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4f4c498e5de4370" /><Relationship Type="http://schemas.openxmlformats.org/officeDocument/2006/relationships/notesMaster" Target="/ppt/notesMasters/notesMaster1.xml" Id="R54f6954ff40a48c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6b3db8d69d34c4a" /><Relationship Type="http://schemas.openxmlformats.org/officeDocument/2006/relationships/notesMaster" Target="/ppt/notesMasters/notesMaster1.xml" Id="R83fbc19f503b454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1727344a0ba488d" /><Relationship Type="http://schemas.openxmlformats.org/officeDocument/2006/relationships/notesMaster" Target="/ppt/notesMasters/notesMaster1.xml" Id="R6327540271814bd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c056a8d844342c2" /><Relationship Type="http://schemas.openxmlformats.org/officeDocument/2006/relationships/notesMaster" Target="/ppt/notesMasters/notesMaster1.xml" Id="Rb02b264fac294fb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691c51f98404a55" /><Relationship Type="http://schemas.openxmlformats.org/officeDocument/2006/relationships/notesMaster" Target="/ppt/notesMasters/notesMaster1.xml" Id="Rca8b8444cfa54e5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30b529adcf940a1" /><Relationship Type="http://schemas.openxmlformats.org/officeDocument/2006/relationships/notesMaster" Target="/ppt/notesMasters/notesMaster1.xml" Id="Rfcb9c26234ac43f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6c9640766e9409f" /><Relationship Type="http://schemas.openxmlformats.org/officeDocument/2006/relationships/notesMaster" Target="/ppt/notesMasters/notesMaster1.xml" Id="Rfbf434a06223466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03e52d7be79495f" /><Relationship Type="http://schemas.openxmlformats.org/officeDocument/2006/relationships/notesMaster" Target="/ppt/notesMasters/notesMaster1.xml" Id="R93a3dfbd66c84ac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e15b8934ae545e1" /><Relationship Type="http://schemas.openxmlformats.org/officeDocument/2006/relationships/notesMaster" Target="/ppt/notesMasters/notesMaster1.xml" Id="R7c052b7bacc846a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95fc085754a48b2" /><Relationship Type="http://schemas.openxmlformats.org/officeDocument/2006/relationships/notesMaster" Target="/ppt/notesMasters/notesMaster1.xml" Id="Rbbc1a49cf52a4f9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99270f40928413e" /><Relationship Type="http://schemas.openxmlformats.org/officeDocument/2006/relationships/notesMaster" Target="/ppt/notesMasters/notesMaster1.xml" Id="R04bb6780cb604ea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d865348af75434a" /><Relationship Type="http://schemas.openxmlformats.org/officeDocument/2006/relationships/notesMaster" Target="/ppt/notesMasters/notesMaster1.xml" Id="R9034ac66ef4b48da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c1789cebd9684264" /><Relationship Type="http://schemas.openxmlformats.org/officeDocument/2006/relationships/notesMaster" Target="/ppt/notesMasters/notesMaster1.xml" Id="R86a74d61630647c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d8274b2ac759469d" /><Relationship Type="http://schemas.openxmlformats.org/officeDocument/2006/relationships/notesMaster" Target="/ppt/notesMasters/notesMaster1.xml" Id="Rb86d4d9cd7344948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4cba7cdce054225" /><Relationship Type="http://schemas.openxmlformats.org/officeDocument/2006/relationships/notesMaster" Target="/ppt/notesMasters/notesMaster1.xml" Id="R258cdc22b2a94ef1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965b94690bc94f5e" /><Relationship Type="http://schemas.openxmlformats.org/officeDocument/2006/relationships/notesMaster" Target="/ppt/notesMasters/notesMaster1.xml" Id="R7ef3bca23d804c52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15b0d8c929ce45c6" /><Relationship Type="http://schemas.openxmlformats.org/officeDocument/2006/relationships/notesMaster" Target="/ppt/notesMasters/notesMaster1.xml" Id="Rd4896936a2504105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f9defa1920cd4047" /><Relationship Type="http://schemas.openxmlformats.org/officeDocument/2006/relationships/notesMaster" Target="/ppt/notesMasters/notesMaster1.xml" Id="Rfb8e9a6bf7064b91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a929c74733dd478b" /><Relationship Type="http://schemas.openxmlformats.org/officeDocument/2006/relationships/notesMaster" Target="/ppt/notesMasters/notesMaster1.xml" Id="R5c87bbf96eea4d4b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5c927b62f9e2459e" /><Relationship Type="http://schemas.openxmlformats.org/officeDocument/2006/relationships/notesMaster" Target="/ppt/notesMasters/notesMaster1.xml" Id="R66404283e1434aaf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e68fbf0283e44765" /><Relationship Type="http://schemas.openxmlformats.org/officeDocument/2006/relationships/notesMaster" Target="/ppt/notesMasters/notesMaster1.xml" Id="Ra8f836333b444ef6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b744aa4a87c74284" /><Relationship Type="http://schemas.openxmlformats.org/officeDocument/2006/relationships/notesMaster" Target="/ppt/notesMasters/notesMaster1.xml" Id="Racc0b17146a94359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d1817ffd33944205" /><Relationship Type="http://schemas.openxmlformats.org/officeDocument/2006/relationships/notesMaster" Target="/ppt/notesMasters/notesMaster1.xml" Id="Rec2088235f1349a5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56a40bde57d14e5b" /><Relationship Type="http://schemas.openxmlformats.org/officeDocument/2006/relationships/notesMaster" Target="/ppt/notesMasters/notesMaster1.xml" Id="Rf448fdd7ea0a4720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9bdbb9361cde4394" /><Relationship Type="http://schemas.openxmlformats.org/officeDocument/2006/relationships/notesMaster" Target="/ppt/notesMasters/notesMaster1.xml" Id="Rb2331b81c11846e9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a1cf70549f3545df" /><Relationship Type="http://schemas.openxmlformats.org/officeDocument/2006/relationships/notesMaster" Target="/ppt/notesMasters/notesMaster1.xml" Id="Ra018ee6401f94b1a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b2c574e3486b4aa6" /><Relationship Type="http://schemas.openxmlformats.org/officeDocument/2006/relationships/notesMaster" Target="/ppt/notesMasters/notesMaster1.xml" Id="R394fc0e6148b4718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933dee7442ec415e" /><Relationship Type="http://schemas.openxmlformats.org/officeDocument/2006/relationships/notesMaster" Target="/ppt/notesMasters/notesMaster1.xml" Id="Rb32d815ef6364085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5ceb45d3674f4b99" /><Relationship Type="http://schemas.openxmlformats.org/officeDocument/2006/relationships/notesMaster" Target="/ppt/notesMasters/notesMaster1.xml" Id="Ra35532d2ad734d74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b3cfbed1691e4a17" /><Relationship Type="http://schemas.openxmlformats.org/officeDocument/2006/relationships/notesMaster" Target="/ppt/notesMasters/notesMaster1.xml" Id="Rea8d3df986cb4251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0197adb1f2344828" /><Relationship Type="http://schemas.openxmlformats.org/officeDocument/2006/relationships/notesMaster" Target="/ppt/notesMasters/notesMaster1.xml" Id="Rdd34bf417eb44edf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c1b50f5df6de4448" /><Relationship Type="http://schemas.openxmlformats.org/officeDocument/2006/relationships/notesMaster" Target="/ppt/notesMasters/notesMaster1.xml" Id="Rcd64de28ed0c43f6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05fe23c448c647c8" /><Relationship Type="http://schemas.openxmlformats.org/officeDocument/2006/relationships/notesMaster" Target="/ppt/notesMasters/notesMaster1.xml" Id="Ra137f99b9a344c8d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c092dfedaba1472d" /><Relationship Type="http://schemas.openxmlformats.org/officeDocument/2006/relationships/notesMaster" Target="/ppt/notesMasters/notesMaster1.xml" Id="R6ff3fa9dd69d4a79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808f0e2d43d6475b" /><Relationship Type="http://schemas.openxmlformats.org/officeDocument/2006/relationships/notesMaster" Target="/ppt/notesMasters/notesMaster1.xml" Id="Rb7a0ea038ce1432b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ebde1fdf29dc4936" /><Relationship Type="http://schemas.openxmlformats.org/officeDocument/2006/relationships/notesMaster" Target="/ppt/notesMasters/notesMaster1.xml" Id="R413ad133999d4647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436fe64229ea4d91" /><Relationship Type="http://schemas.openxmlformats.org/officeDocument/2006/relationships/notesMaster" Target="/ppt/notesMasters/notesMaster1.xml" Id="Rb61fce025077405f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67ca480e72cd413e" /><Relationship Type="http://schemas.openxmlformats.org/officeDocument/2006/relationships/notesMaster" Target="/ppt/notesMasters/notesMaster1.xml" Id="Rff58f6ae92614249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969d6117b65f4b1b" /><Relationship Type="http://schemas.openxmlformats.org/officeDocument/2006/relationships/notesMaster" Target="/ppt/notesMasters/notesMaster1.xml" Id="R5676082d7fd5418d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7a88001ce7fb49a2" /><Relationship Type="http://schemas.openxmlformats.org/officeDocument/2006/relationships/notesMaster" Target="/ppt/notesMasters/notesMaster1.xml" Id="R2a887fded8f34e8d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306d85b720a244a7" /><Relationship Type="http://schemas.openxmlformats.org/officeDocument/2006/relationships/notesMaster" Target="/ppt/notesMasters/notesMaster1.xml" Id="R61c0bf0aa6c14be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Open with familiar platforms: Google, Netflix, Amazon, Instagram, ChatGPT. Emphasize that every click, stream, search, sensor reading, and transaction creates data that must be stored, processed, and converted into decisions.</a:t>
            </a:r>
          </a:p>
          <a:p xmlns:a="http://schemas.openxmlformats.org/drawingml/2006/main">
            <a:r>
              <a:t>Pause cue: Pause after the main visual appears.</a:t>
            </a:r>
          </a:p>
          <a:p xmlns:a="http://schemas.openxmlformats.org/drawingml/2006/main">
            <a:r>
              <a:t>Pointing cue: Point to the central diagram.</a:t>
            </a:r>
          </a:p>
          <a:p xmlns:a="http://schemas.openxmlformats.org/drawingml/2006/main">
            <a:r>
              <a:t>Question to ask students: Ask: where have you seen this idea in real systems?</a:t>
            </a:r>
          </a:p>
          <a:p xmlns:a="http://schemas.openxmlformats.org/drawingml/2006/main">
            <a:r>
              <a:t>Animation instructions: Fade title; appear key parts one by one.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1 checklist; TB1 listed by syllabus: Seema Acharya and Subhashini Chellappan, Big Data and Analytics, Wiley India, 2nd ed., 2019; supplied TB2 PDF front matter/contents: Raj Kamal and Preeti Saxena, Big Data Analytics: Introduction to Hadoop, Spark, and Machine-Learning, McGraw Hill Education, 2019. The TB1 PDF is scanned in this environment, so body text was not machine-extractable; deck content is aligned to the syllabus headings and requested TB1 sections.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Tell students that the module is not a collection of definitions; it is a story of why ordinary databases became insufficient and how analytics platforms emerged.</a:t>
            </a:r>
          </a:p>
          <a:p xmlns:a="http://schemas.openxmlformats.org/drawingml/2006/main">
            <a:r>
              <a:t>Pause cue: Pause after the main visual appears.</a:t>
            </a:r>
          </a:p>
          <a:p xmlns:a="http://schemas.openxmlformats.org/drawingml/2006/main">
            <a:r>
              <a:t>Pointing cue: Point to the central diagram.</a:t>
            </a:r>
          </a:p>
          <a:p xmlns:a="http://schemas.openxmlformats.org/drawingml/2006/main">
            <a:r>
              <a:t>Question to ask students: Ask: where have you seen this idea in real systems?</a:t>
            </a:r>
          </a:p>
          <a:p xmlns:a="http://schemas.openxmlformats.org/drawingml/2006/main">
            <a:r>
              <a:t>Animation instructions: Fade title; appear key parts one by one.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1 checklist; TB1 listed by syllabus: Seema Acharya and Subhashini Chellappan, Big Data and Analytics, Wiley India, 2nd ed., 2019; supplied TB2 PDF front matter/contents: Raj Kamal and Preeti Saxena, Big Data Analytics: Introduction to Hadoop, Spark, and Machine-Learning, McGraw Hill Education, 2019. The TB1 PDF is scanned in this environment, so body text was not machine-extractable; deck content is aligned to the syllabus headings and requested TB1 sections.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Ask students to imagine one day of data from a large college campus: attendance, Wi-Fi logs, LMS activity, library usage, fees, exams, and CCTV metadata.</a:t>
            </a:r>
          </a:p>
          <a:p xmlns:a="http://schemas.openxmlformats.org/drawingml/2006/main">
            <a:r>
              <a:t>Pause cue: Pause after the main visual appears.</a:t>
            </a:r>
          </a:p>
          <a:p xmlns:a="http://schemas.openxmlformats.org/drawingml/2006/main">
            <a:r>
              <a:t>Pointing cue: Point to the central diagram.</a:t>
            </a:r>
          </a:p>
          <a:p xmlns:a="http://schemas.openxmlformats.org/drawingml/2006/main">
            <a:r>
              <a:t>Question to ask students: Ask: where have you seen this idea in real systems?</a:t>
            </a:r>
          </a:p>
          <a:p xmlns:a="http://schemas.openxmlformats.org/drawingml/2006/main">
            <a:r>
              <a:t>Animation instructions: Fade title; appear key parts one by one.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1 checklist; TB1 listed by syllabus: Seema Acharya and Subhashini Chellappan, Big Data and Analytics, Wiley India, 2nd ed., 2019; supplied TB2 PDF front matter/contents: Raj Kamal and Preeti Saxena, Big Data Analytics: Introduction to Hadoop, Spark, and Machine-Learning, McGraw Hill Education, 2019. The TB1 PDF is scanned in this environment, so body text was not machine-extractable; deck content is aligned to the syllabus headings and requested TB1 sections.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that relational databases are excellent for structured transactions, but Big Data adds scale, speed, diversity, and uncertainty. This creates the need for distributed systems and new analytics approaches.</a:t>
            </a:r>
          </a:p>
          <a:p xmlns:a="http://schemas.openxmlformats.org/drawingml/2006/main">
            <a:r>
              <a:t>Pause cue: Pause after the main visual appears.</a:t>
            </a:r>
          </a:p>
          <a:p xmlns:a="http://schemas.openxmlformats.org/drawingml/2006/main">
            <a:r>
              <a:t>Pointing cue: Point to the central diagram.</a:t>
            </a:r>
          </a:p>
          <a:p xmlns:a="http://schemas.openxmlformats.org/drawingml/2006/main">
            <a:r>
              <a:t>Question to ask students: Ask: where have you seen this idea in real systems?</a:t>
            </a:r>
          </a:p>
          <a:p xmlns:a="http://schemas.openxmlformats.org/drawingml/2006/main">
            <a:r>
              <a:t>Animation instructions: Fade title; appear key parts one by one.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1 checklist; TB1 listed by syllabus: Seema Acharya and Subhashini Chellappan, Big Data and Analytics, Wiley India, 2nd ed., 2019; supplied TB2 PDF front matter/contents: Raj Kamal and Preeti Saxena, Big Data Analytics: Introduction to Hadoop, Spark, and Machine-Learning, McGraw Hill Education, 2019. The TB1 PDF is scanned in this environment, so body text was not machine-extractable; deck content is aligned to the syllabus headings and requested TB1 sections.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marks as an example: 72 is data; 72/100 in Big Data Analytics is information; knowing the student is strong in theory but weak in lab is knowledge; assigning practice is decision.</a:t>
            </a:r>
          </a:p>
          <a:p xmlns:a="http://schemas.openxmlformats.org/drawingml/2006/main">
            <a:r>
              <a:t>Pause cue: Pause after the main visual appears.</a:t>
            </a:r>
          </a:p>
          <a:p xmlns:a="http://schemas.openxmlformats.org/drawingml/2006/main">
            <a:r>
              <a:t>Pointing cue: Point to the central diagram.</a:t>
            </a:r>
          </a:p>
          <a:p xmlns:a="http://schemas.openxmlformats.org/drawingml/2006/main">
            <a:r>
              <a:t>Question to ask students: Ask: where have you seen this idea in real systems?</a:t>
            </a:r>
          </a:p>
          <a:p xmlns:a="http://schemas.openxmlformats.org/drawingml/2006/main">
            <a:r>
              <a:t>Animation instructions: Fade title; appear key parts one by one.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1 checklist; TB1 listed by syllabus: Seema Acharya and Subhashini Chellappan, Big Data and Analytics, Wiley India, 2nd ed., 2019; supplied TB2 PDF front matter/contents: Raj Kamal and Preeti Saxena, Big Data Analytics: Introduction to Hadoop, Spark, and Machine-Learning, McGraw Hill Education, 2019. The TB1 PDF is scanned in this environment, so body text was not machine-extractable; deck content is aligned to the syllabus headings and requested TB1 sections.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Frame classification as an engineering decision: before choosing SQL, NoSQL, HDFS, Spark, or ML tools, ask what shape the data has.</a:t>
            </a:r>
          </a:p>
          <a:p xmlns:a="http://schemas.openxmlformats.org/drawingml/2006/main">
            <a:r>
              <a:t>Pause cue: Pause after the main visual appears.</a:t>
            </a:r>
          </a:p>
          <a:p xmlns:a="http://schemas.openxmlformats.org/drawingml/2006/main">
            <a:r>
              <a:t>Pointing cue: Point to the central diagram.</a:t>
            </a:r>
          </a:p>
          <a:p xmlns:a="http://schemas.openxmlformats.org/drawingml/2006/main">
            <a:r>
              <a:t>Question to ask students: Ask: where have you seen this idea in real systems?</a:t>
            </a:r>
          </a:p>
          <a:p xmlns:a="http://schemas.openxmlformats.org/drawingml/2006/main">
            <a:r>
              <a:t>Animation instructions: Fade title; appear key parts one by one.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1 checklist; TB1 listed by syllabus: Seema Acharya and Subhashini Chellappan, Big Data and Analytics, Wiley India, 2nd ed., 2019; supplied TB2 PDF front matter/contents: Raj Kamal and Preeti Saxena, Big Data Analytics: Introduction to Hadoop, Spark, and Machine-Learning, McGraw Hill Education, 2019. The TB1 PDF is scanned in this environment, so body text was not machine-extractable; deck content is aligned to the syllabus headings and requested TB1 sections.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that structured data is easiest for SQL because the schema is known before storage: columns, data types, primary keys, and relationships are predefined.</a:t>
            </a:r>
          </a:p>
          <a:p xmlns:a="http://schemas.openxmlformats.org/drawingml/2006/main">
            <a:r>
              <a:t>Pause cue: Pause after the main visual appears.</a:t>
            </a:r>
          </a:p>
          <a:p xmlns:a="http://schemas.openxmlformats.org/drawingml/2006/main">
            <a:r>
              <a:t>Pointing cue: Point to the central diagram.</a:t>
            </a:r>
          </a:p>
          <a:p xmlns:a="http://schemas.openxmlformats.org/drawingml/2006/main">
            <a:r>
              <a:t>Question to ask students: Ask: where have you seen this idea in real systems?</a:t>
            </a:r>
          </a:p>
          <a:p xmlns:a="http://schemas.openxmlformats.org/drawingml/2006/main">
            <a:r>
              <a:t>Animation instructions: Fade title; appear key parts one by one.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1 checklist; TB1 listed by syllabus: Seema Acharya and Subhashini Chellappan, Big Data and Analytics, Wiley India, 2nd ed., 2019; supplied TB2 PDF front matter/contents: Raj Kamal and Preeti Saxena, Big Data Analytics: Introduction to Hadoop, Spark, and Machine-Learning, McGraw Hill Education, 2019. The TB1 PDF is scanned in this environment, so body text was not machine-extractable; deck content is aligned to the syllabus headings and requested TB1 sections.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Point out that semi-structured data has labels and hierarchy but not necessarily a fixed table for every record. This is why document stores and log analytics are useful.</a:t>
            </a:r>
          </a:p>
          <a:p xmlns:a="http://schemas.openxmlformats.org/drawingml/2006/main">
            <a:r>
              <a:t>Pause cue: Pause after the main visual appears.</a:t>
            </a:r>
          </a:p>
          <a:p xmlns:a="http://schemas.openxmlformats.org/drawingml/2006/main">
            <a:r>
              <a:t>Pointing cue: Point to the central diagram.</a:t>
            </a:r>
          </a:p>
          <a:p xmlns:a="http://schemas.openxmlformats.org/drawingml/2006/main">
            <a:r>
              <a:t>Question to ask students: Ask: where have you seen this idea in real systems?</a:t>
            </a:r>
          </a:p>
          <a:p xmlns:a="http://schemas.openxmlformats.org/drawingml/2006/main">
            <a:r>
              <a:t>Animation instructions: Fade title; appear key parts one by one.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1 checklist; TB1 listed by syllabus: Seema Acharya and Subhashini Chellappan, Big Data and Analytics, Wiley India, 2nd ed., 2019; supplied TB2 PDF front matter/contents: Raj Kamal and Preeti Saxena, Big Data Analytics: Introduction to Hadoop, Spark, and Machine-Learning, McGraw Hill Education, 2019. The TB1 PDF is scanned in this environment, so body text was not machine-extractable; deck content is aligned to the syllabus headings and requested TB1 sections.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examples: sentiment from reviews, objects from images, topics from documents, anomalies from audio. The raw file is not directly a row-column table.</a:t>
            </a:r>
          </a:p>
          <a:p xmlns:a="http://schemas.openxmlformats.org/drawingml/2006/main">
            <a:r>
              <a:t>Pause cue: Pause after the main visual appears.</a:t>
            </a:r>
          </a:p>
          <a:p xmlns:a="http://schemas.openxmlformats.org/drawingml/2006/main">
            <a:r>
              <a:t>Pointing cue: Point to the central diagram.</a:t>
            </a:r>
          </a:p>
          <a:p xmlns:a="http://schemas.openxmlformats.org/drawingml/2006/main">
            <a:r>
              <a:t>Question to ask students: Ask: where have you seen this idea in real systems?</a:t>
            </a:r>
          </a:p>
          <a:p xmlns:a="http://schemas.openxmlformats.org/drawingml/2006/main">
            <a:r>
              <a:t>Animation instructions: Fade title; appear key parts one by one.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1 checklist; TB1 listed by syllabus: Seema Acharya and Subhashini Chellappan, Big Data and Analytics, Wiley India, 2nd ed., 2019; supplied TB2 PDF front matter/contents: Raj Kamal and Preeti Saxena, Big Data Analytics: Introduction to Hadoop, Spark, and Machine-Learning, McGraw Hill Education, 2019. The TB1 PDF is scanned in this environment, so body text was not machine-extractable; deck content is aligned to the syllabus headings and requested TB1 sections.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Clarify that real systems often mix all three. A shopping platform has relational orders, JSON clickstream events, and unstructured reviews/images.</a:t>
            </a:r>
          </a:p>
          <a:p xmlns:a="http://schemas.openxmlformats.org/drawingml/2006/main">
            <a:r>
              <a:t>Pause cue: Pause after the main visual appears.</a:t>
            </a:r>
          </a:p>
          <a:p xmlns:a="http://schemas.openxmlformats.org/drawingml/2006/main">
            <a:r>
              <a:t>Pointing cue: Point to the central diagram.</a:t>
            </a:r>
          </a:p>
          <a:p xmlns:a="http://schemas.openxmlformats.org/drawingml/2006/main">
            <a:r>
              <a:t>Question to ask students: Ask: where have you seen this idea in real systems?</a:t>
            </a:r>
          </a:p>
          <a:p xmlns:a="http://schemas.openxmlformats.org/drawingml/2006/main">
            <a:r>
              <a:t>Animation instructions: Fade title; appear key parts one by one.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1 checklist; TB1 listed by syllabus: Seema Acharya and Subhashini Chellappan, Big Data and Analytics, Wiley India, 2nd ed., 2019; supplied TB2 PDF front matter/contents: Raj Kamal and Preeti Saxena, Big Data Analytics: Introduction to Hadoop, Spark, and Machine-Learning, McGraw Hill Education, 2019. The TB1 PDF is scanned in this environment, so body text was not machine-extractable; deck content is aligned to the syllabus headings and requested TB1 sections.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that Big Data did not appear suddenly; it grew from transaction processing, data warehouses, web-scale systems, cloud storage, distributed computing, and machine learning.</a:t>
            </a:r>
          </a:p>
          <a:p xmlns:a="http://schemas.openxmlformats.org/drawingml/2006/main">
            <a:r>
              <a:t>Pause cue: Pause after the main visual appears.</a:t>
            </a:r>
          </a:p>
          <a:p xmlns:a="http://schemas.openxmlformats.org/drawingml/2006/main">
            <a:r>
              <a:t>Pointing cue: Point to the central diagram.</a:t>
            </a:r>
          </a:p>
          <a:p xmlns:a="http://schemas.openxmlformats.org/drawingml/2006/main">
            <a:r>
              <a:t>Question to ask students: Ask: where have you seen this idea in real systems?</a:t>
            </a:r>
          </a:p>
          <a:p xmlns:a="http://schemas.openxmlformats.org/drawingml/2006/main">
            <a:r>
              <a:t>Animation instructions: Fade title; appear key parts one by one.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1 checklist; TB1 listed by syllabus: Seema Acharya and Subhashini Chellappan, Big Data and Analytics, Wiley India, 2nd ed., 2019; supplied TB2 PDF front matter/contents: Raj Kamal and Preeti Saxena, Big Data Analytics: Introduction to Hadoop, Spark, and Machine-Learning, McGraw Hill Education, 2019. The TB1 PDF is scanned in this environment, so body text was not machine-extractable; deck content is aligned to the syllabus headings and requested TB1 sections.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the staircase to show that bigger data is not just a larger file; it changes architecture, cost, transfer time, processing model, and failure handling.</a:t>
            </a:r>
          </a:p>
          <a:p xmlns:a="http://schemas.openxmlformats.org/drawingml/2006/main">
            <a:r>
              <a:t>Pause cue: Pause after the main visual appears.</a:t>
            </a:r>
          </a:p>
          <a:p xmlns:a="http://schemas.openxmlformats.org/drawingml/2006/main">
            <a:r>
              <a:t>Pointing cue: Point to the central diagram.</a:t>
            </a:r>
          </a:p>
          <a:p xmlns:a="http://schemas.openxmlformats.org/drawingml/2006/main">
            <a:r>
              <a:t>Question to ask students: Ask: where have you seen this idea in real systems?</a:t>
            </a:r>
          </a:p>
          <a:p xmlns:a="http://schemas.openxmlformats.org/drawingml/2006/main">
            <a:r>
              <a:t>Animation instructions: Fade title; appear key parts one by one.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1 checklist; TB1 listed by syllabus: Seema Acharya and Subhashini Chellappan, Big Data and Analytics, Wiley India, 2nd ed., 2019; supplied TB2 PDF front matter/contents: Raj Kamal and Preeti Saxena, Big Data Analytics: Introduction to Hadoop, Spark, and Machine-Learning, McGraw Hill Education, 2019. The TB1 PDF is scanned in this environment, so body text was not machine-extractable; deck content is aligned to the syllabus headings and requested TB1 sections.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Define data exhaust as the by-product of digital activity. Ask which source on the slide is most common in students' daily lives.</a:t>
            </a:r>
          </a:p>
          <a:p xmlns:a="http://schemas.openxmlformats.org/drawingml/2006/main">
            <a:r>
              <a:t>Pause cue: Pause after the main visual appears.</a:t>
            </a:r>
          </a:p>
          <a:p xmlns:a="http://schemas.openxmlformats.org/drawingml/2006/main">
            <a:r>
              <a:t>Pointing cue: Point to the central diagram.</a:t>
            </a:r>
          </a:p>
          <a:p xmlns:a="http://schemas.openxmlformats.org/drawingml/2006/main">
            <a:r>
              <a:t>Question to ask students: Ask: where have you seen this idea in real systems?</a:t>
            </a:r>
          </a:p>
          <a:p xmlns:a="http://schemas.openxmlformats.org/drawingml/2006/main">
            <a:r>
              <a:t>Animation instructions: Fade title; appear key parts one by one.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1 checklist; TB1 listed by syllabus: Seema Acharya and Subhashini Chellappan, Big Data and Analytics, Wiley India, 2nd ed., 2019; supplied TB2 PDF front matter/contents: Raj Kamal and Preeti Saxena, Big Data Analytics: Introduction to Hadoop, Spark, and Machine-Learning, McGraw Hill Education, 2019. The TB1 PDF is scanned in this environment, so body text was not machine-extractable; deck content is aligned to the syllabus headings and requested TB1 sections.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Distinguish scale-up from scale-out. Scale-up buys a bigger server; scale-out adds more commodity machines and coordinates them.</a:t>
            </a:r>
          </a:p>
          <a:p xmlns:a="http://schemas.openxmlformats.org/drawingml/2006/main">
            <a:r>
              <a:t>Pause cue: Pause after the main visual appears.</a:t>
            </a:r>
          </a:p>
          <a:p xmlns:a="http://schemas.openxmlformats.org/drawingml/2006/main">
            <a:r>
              <a:t>Pointing cue: Point to the central diagram.</a:t>
            </a:r>
          </a:p>
          <a:p xmlns:a="http://schemas.openxmlformats.org/drawingml/2006/main">
            <a:r>
              <a:t>Question to ask students: Ask: where have you seen this idea in real systems?</a:t>
            </a:r>
          </a:p>
          <a:p xmlns:a="http://schemas.openxmlformats.org/drawingml/2006/main">
            <a:r>
              <a:t>Animation instructions: Fade title; appear key parts one by one.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1 checklist; TB1 listed by syllabus: Seema Acharya and Subhashini Chellappan, Big Data and Analytics, Wiley India, 2nd ed., 2019; supplied TB2 PDF front matter/contents: Raj Kamal and Preeti Saxena, Big Data Analytics: Introduction to Hadoop, Spark, and Machine-Learning, McGraw Hill Education, 2019. The TB1 PDF is scanned in this environment, so body text was not machine-extractable; deck content is aligned to the syllabus headings and requested TB1 sections.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Emphasize that Big Data is not only big size. It is data that forces a different architecture or method.</a:t>
            </a:r>
          </a:p>
          <a:p xmlns:a="http://schemas.openxmlformats.org/drawingml/2006/main">
            <a:r>
              <a:t>Pause cue: Pause after the main visual appears.</a:t>
            </a:r>
          </a:p>
          <a:p xmlns:a="http://schemas.openxmlformats.org/drawingml/2006/main">
            <a:r>
              <a:t>Pointing cue: Point to the central diagram.</a:t>
            </a:r>
          </a:p>
          <a:p xmlns:a="http://schemas.openxmlformats.org/drawingml/2006/main">
            <a:r>
              <a:t>Question to ask students: Ask: where have you seen this idea in real systems?</a:t>
            </a:r>
          </a:p>
          <a:p xmlns:a="http://schemas.openxmlformats.org/drawingml/2006/main">
            <a:r>
              <a:t>Animation instructions: Fade title; appear key parts one by one.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1 checklist; TB1 listed by syllabus: Seema Acharya and Subhashini Chellappan, Big Data and Analytics, Wiley India, 2nd ed., 2019; supplied TB2 PDF front matter/contents: Raj Kamal and Preeti Saxena, Big Data Analytics: Introduction to Hadoop, Spark, and Machine-Learning, McGraw Hill Education, 2019. The TB1 PDF is scanned in this environment, so body text was not machine-extractable; deck content is aligned to the syllabus headings and requested TB1 sections.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Give the simplest classroom definition: Big Data is data that breaks the comfort zone of traditional tools and requires distributed storage and analytics.</a:t>
            </a:r>
          </a:p>
          <a:p xmlns:a="http://schemas.openxmlformats.org/drawingml/2006/main">
            <a:r>
              <a:t>Pause cue: Pause after the main visual appears.</a:t>
            </a:r>
          </a:p>
          <a:p xmlns:a="http://schemas.openxmlformats.org/drawingml/2006/main">
            <a:r>
              <a:t>Pointing cue: Point to the central diagram.</a:t>
            </a:r>
          </a:p>
          <a:p xmlns:a="http://schemas.openxmlformats.org/drawingml/2006/main">
            <a:r>
              <a:t>Question to ask students: Ask: where have you seen this idea in real systems?</a:t>
            </a:r>
          </a:p>
          <a:p xmlns:a="http://schemas.openxmlformats.org/drawingml/2006/main">
            <a:r>
              <a:t>Animation instructions: Fade title; appear key parts one by one.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1 checklist; TB1 listed by syllabus: Seema Acharya and Subhashini Chellappan, Big Data and Analytics, Wiley India, 2nd ed., 2019; supplied TB2 PDF front matter/contents: Raj Kamal and Preeti Saxena, Big Data Analytics: Introduction to Hadoop, Spark, and Machine-Learning, McGraw Hill Education, 2019. The TB1 PDF is scanned in this environment, so body text was not machine-extractable; deck content is aligned to the syllabus headings and requested TB1 sections.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Introduce Volume, Velocity, Variety, Veracity, and Value. Mention that some textbooks also discuss variability and visualization, but the 5Vs are the exam-friendly core.</a:t>
            </a:r>
          </a:p>
          <a:p xmlns:a="http://schemas.openxmlformats.org/drawingml/2006/main">
            <a:r>
              <a:t>Pause cue: Pause after the main visual appears.</a:t>
            </a:r>
          </a:p>
          <a:p xmlns:a="http://schemas.openxmlformats.org/drawingml/2006/main">
            <a:r>
              <a:t>Pointing cue: Point to the central diagram.</a:t>
            </a:r>
          </a:p>
          <a:p xmlns:a="http://schemas.openxmlformats.org/drawingml/2006/main">
            <a:r>
              <a:t>Question to ask students: Ask: where have you seen this idea in real systems?</a:t>
            </a:r>
          </a:p>
          <a:p xmlns:a="http://schemas.openxmlformats.org/drawingml/2006/main">
            <a:r>
              <a:t>Animation instructions: Fade title; appear key parts one by one.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1 checklist; TB1 listed by syllabus: Seema Acharya and Subhashini Chellappan, Big Data and Analytics, Wiley India, 2nd ed., 2019; supplied TB2 PDF front matter/contents: Raj Kamal and Preeti Saxena, Big Data Analytics: Introduction to Hadoop, Spark, and Machine-Learning, McGraw Hill Education, 2019. The TB1 PDF is scanned in this environment, so body text was not machine-extractable; deck content is aligned to the syllabus headings and requested TB1 sections.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Ask students to classify Instagram data: photos are unstructured, captions are text, likes are structured events, and activity logs are semi-structured.</a:t>
            </a:r>
          </a:p>
          <a:p xmlns:a="http://schemas.openxmlformats.org/drawingml/2006/main">
            <a:r>
              <a:t>Pause cue: Pause after the main visual appears.</a:t>
            </a:r>
          </a:p>
          <a:p xmlns:a="http://schemas.openxmlformats.org/drawingml/2006/main">
            <a:r>
              <a:t>Pointing cue: Point to the central diagram.</a:t>
            </a:r>
          </a:p>
          <a:p xmlns:a="http://schemas.openxmlformats.org/drawingml/2006/main">
            <a:r>
              <a:t>Question to ask students: Ask: where have you seen this idea in real systems?</a:t>
            </a:r>
          </a:p>
          <a:p xmlns:a="http://schemas.openxmlformats.org/drawingml/2006/main">
            <a:r>
              <a:t>Animation instructions: Fade title; appear key parts one by one.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1 checklist; TB1 listed by syllabus: Seema Acharya and Subhashini Chellappan, Big Data and Analytics, Wiley India, 2nd ed., 2019; supplied TB2 PDF front matter/contents: Raj Kamal and Preeti Saxena, Big Data Analytics: Introduction to Hadoop, Spark, and Machine-Learning, McGraw Hill Education, 2019. The TB1 PDF is scanned in this environment, so body text was not machine-extractable; deck content is aligned to the syllabus headings and requested TB1 sections.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that huge data with poor veracity can produce confident but wrong analytics. Value is the business or scientific benefit extracted after analysis.</a:t>
            </a:r>
          </a:p>
          <a:p xmlns:a="http://schemas.openxmlformats.org/drawingml/2006/main">
            <a:r>
              <a:t>Pause cue: Pause after the main visual appears.</a:t>
            </a:r>
          </a:p>
          <a:p xmlns:a="http://schemas.openxmlformats.org/drawingml/2006/main">
            <a:r>
              <a:t>Pointing cue: Point to the central diagram.</a:t>
            </a:r>
          </a:p>
          <a:p xmlns:a="http://schemas.openxmlformats.org/drawingml/2006/main">
            <a:r>
              <a:t>Question to ask students: Ask: where have you seen this idea in real systems?</a:t>
            </a:r>
          </a:p>
          <a:p xmlns:a="http://schemas.openxmlformats.org/drawingml/2006/main">
            <a:r>
              <a:t>Animation instructions: Fade title; appear key parts one by one.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1 checklist; TB1 listed by syllabus: Seema Acharya and Subhashini Chellappan, Big Data and Analytics, Wiley India, 2nd ed., 2019; supplied TB2 PDF front matter/contents: Raj Kamal and Preeti Saxena, Big Data Analytics: Introduction to Hadoop, Spark, and Machine-Learning, McGraw Hill Education, 2019. The TB1 PDF is scanned in this environment, so body text was not machine-extractable; deck content is aligned to the syllabus headings and requested TB1 sections.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the question-first flow: why not just sample a few records? Because rare patterns, fraud, failures, and personalization need broader evidence.</a:t>
            </a:r>
          </a:p>
          <a:p xmlns:a="http://schemas.openxmlformats.org/drawingml/2006/main">
            <a:r>
              <a:t>Pause cue: Pause after the main visual appears.</a:t>
            </a:r>
          </a:p>
          <a:p xmlns:a="http://schemas.openxmlformats.org/drawingml/2006/main">
            <a:r>
              <a:t>Pointing cue: Point to the central diagram.</a:t>
            </a:r>
          </a:p>
          <a:p xmlns:a="http://schemas.openxmlformats.org/drawingml/2006/main">
            <a:r>
              <a:t>Question to ask students: Ask: where have you seen this idea in real systems?</a:t>
            </a:r>
          </a:p>
          <a:p xmlns:a="http://schemas.openxmlformats.org/drawingml/2006/main">
            <a:r>
              <a:t>Animation instructions: Fade title; appear key parts one by one.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1 checklist; TB1 listed by syllabus: Seema Acharya and Subhashini Chellappan, Big Data and Analytics, Wiley India, 2nd ed., 2019; supplied TB2 PDF front matter/contents: Raj Kamal and Preeti Saxena, Big Data Analytics: Introduction to Hadoop, Spark, and Machine-Learning, McGraw Hill Education, 2019. The TB1 PDF is scanned in this environment, so body text was not machine-extractable; deck content is aligned to the syllabus headings and requested TB1 sections.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Give examples: recommendation systems, route optimization, preventive maintenance, and customer segmentation.</a:t>
            </a:r>
          </a:p>
          <a:p xmlns:a="http://schemas.openxmlformats.org/drawingml/2006/main">
            <a:r>
              <a:t>Pause cue: Pause after the main visual appears.</a:t>
            </a:r>
          </a:p>
          <a:p xmlns:a="http://schemas.openxmlformats.org/drawingml/2006/main">
            <a:r>
              <a:t>Pointing cue: Point to the central diagram.</a:t>
            </a:r>
          </a:p>
          <a:p xmlns:a="http://schemas.openxmlformats.org/drawingml/2006/main">
            <a:r>
              <a:t>Question to ask students: Ask: where have you seen this idea in real systems?</a:t>
            </a:r>
          </a:p>
          <a:p xmlns:a="http://schemas.openxmlformats.org/drawingml/2006/main">
            <a:r>
              <a:t>Animation instructions: Fade title; appear key parts one by one.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1 checklist; TB1 listed by syllabus: Seema Acharya and Subhashini Chellappan, Big Data and Analytics, Wiley India, 2nd ed., 2019; supplied TB2 PDF front matter/contents: Raj Kamal and Preeti Saxena, Big Data Analytics: Introduction to Hadoop, Spark, and Machine-Learning, McGraw Hill Education, 2019. The TB1 PDF is scanned in this environment, so body text was not machine-extractable; deck content is aligned to the syllabus headings and requested TB1 sections.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Stress that Big Data is not magic. It creates new problems: distributed failures, privacy, governance, security, and shortage of skilled engineers.</a:t>
            </a:r>
          </a:p>
          <a:p xmlns:a="http://schemas.openxmlformats.org/drawingml/2006/main">
            <a:r>
              <a:t>Pause cue: Pause after the main visual appears.</a:t>
            </a:r>
          </a:p>
          <a:p xmlns:a="http://schemas.openxmlformats.org/drawingml/2006/main">
            <a:r>
              <a:t>Pointing cue: Point to the central diagram.</a:t>
            </a:r>
          </a:p>
          <a:p xmlns:a="http://schemas.openxmlformats.org/drawingml/2006/main">
            <a:r>
              <a:t>Question to ask students: Ask: where have you seen this idea in real systems?</a:t>
            </a:r>
          </a:p>
          <a:p xmlns:a="http://schemas.openxmlformats.org/drawingml/2006/main">
            <a:r>
              <a:t>Animation instructions: Fade title; appear key parts one by one.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1 checklist; TB1 listed by syllabus: Seema Acharya and Subhashini Chellappan, Big Data and Analytics, Wiley India, 2nd ed., 2019; supplied TB2 PDF front matter/contents: Raj Kamal and Preeti Saxena, Big Data Analytics: Introduction to Hadoop, Spark, and Machine-Learning, McGraw Hill Education, 2019. The TB1 PDF is scanned in this environment, so body text was not machine-extractable; deck content is aligned to the syllabus headings and requested TB1 sections.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Pause here for a quick oral check. Ask students to explain why a 5 GB clean SQL table may be less Big Data-like than a 1 GB mixed stream of logs, images, and uncertain events.</a:t>
            </a:r>
          </a:p>
          <a:p xmlns:a="http://schemas.openxmlformats.org/drawingml/2006/main">
            <a:r>
              <a:t>Pause cue: Pause after the main visual appears.</a:t>
            </a:r>
          </a:p>
          <a:p xmlns:a="http://schemas.openxmlformats.org/drawingml/2006/main">
            <a:r>
              <a:t>Pointing cue: Point to the central diagram.</a:t>
            </a:r>
          </a:p>
          <a:p xmlns:a="http://schemas.openxmlformats.org/drawingml/2006/main">
            <a:r>
              <a:t>Question to ask students: Ask: where have you seen this idea in real systems?</a:t>
            </a:r>
          </a:p>
          <a:p xmlns:a="http://schemas.openxmlformats.org/drawingml/2006/main">
            <a:r>
              <a:t>Animation instructions: Fade title; appear key parts one by one.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1 checklist; TB1 listed by syllabus: Seema Acharya and Subhashini Chellappan, Big Data and Analytics, Wiley India, 2nd ed., 2019; supplied TB2 PDF front matter/contents: Raj Kamal and Preeti Saxena, Big Data Analytics: Introduction to Hadoop, Spark, and Machine-Learning, McGraw Hill Education, 2019. The TB1 PDF is scanned in this environment, so body text was not machine-extractable; deck content is aligned to the syllabus headings and requested TB1 sections.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Define traditional BI as reporting and analysis over structured, cleaned, historical enterprise data. It is excellent for standard business reporting.</a:t>
            </a:r>
          </a:p>
          <a:p xmlns:a="http://schemas.openxmlformats.org/drawingml/2006/main">
            <a:r>
              <a:t>Pause cue: Pause after the main visual appears.</a:t>
            </a:r>
          </a:p>
          <a:p xmlns:a="http://schemas.openxmlformats.org/drawingml/2006/main">
            <a:r>
              <a:t>Pointing cue: Point to the central diagram.</a:t>
            </a:r>
          </a:p>
          <a:p xmlns:a="http://schemas.openxmlformats.org/drawingml/2006/main">
            <a:r>
              <a:t>Question to ask students: Ask: where have you seen this idea in real systems?</a:t>
            </a:r>
          </a:p>
          <a:p xmlns:a="http://schemas.openxmlformats.org/drawingml/2006/main">
            <a:r>
              <a:t>Animation instructions: Fade title; appear key parts one by one.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1 checklist; TB1 listed by syllabus: Seema Acharya and Subhashini Chellappan, Big Data and Analytics, Wiley India, 2nd ed., 2019; supplied TB2 PDF front matter/contents: Raj Kamal and Preeti Saxena, Big Data Analytics: Introduction to Hadoop, Spark, and Machine-Learning, McGraw Hill Education, 2019. The TB1 PDF is scanned in this environment, so body text was not machine-extractable; deck content is aligned to the syllabus headings and requested TB1 sections.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Example: monthly sales by region. The columns, transformations, and dashboards are known in advance.</a:t>
            </a:r>
          </a:p>
          <a:p xmlns:a="http://schemas.openxmlformats.org/drawingml/2006/main">
            <a:r>
              <a:t>Pause cue: Pause after the main visual appears.</a:t>
            </a:r>
          </a:p>
          <a:p xmlns:a="http://schemas.openxmlformats.org/drawingml/2006/main">
            <a:r>
              <a:t>Pointing cue: Point to the central diagram.</a:t>
            </a:r>
          </a:p>
          <a:p xmlns:a="http://schemas.openxmlformats.org/drawingml/2006/main">
            <a:r>
              <a:t>Question to ask students: Ask: where have you seen this idea in real systems?</a:t>
            </a:r>
          </a:p>
          <a:p xmlns:a="http://schemas.openxmlformats.org/drawingml/2006/main">
            <a:r>
              <a:t>Animation instructions: Fade title; appear key parts one by one.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1 checklist; TB1 listed by syllabus: Seema Acharya and Subhashini Chellappan, Big Data and Analytics, Wiley India, 2nd ed., 2019; supplied TB2 PDF front matter/contents: Raj Kamal and Preeti Saxena, Big Data Analytics: Introduction to Hadoop, Spark, and Machine-Learning, McGraw Hill Education, 2019. The TB1 PDF is scanned in this environment, so body text was not machine-extractable; deck content is aligned to the syllabus headings and requested TB1 sections.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Say that BI is not obsolete; it is limited for web logs, sensor streams, unstructured content, and exploratory analysis at massive scale.</a:t>
            </a:r>
          </a:p>
          <a:p xmlns:a="http://schemas.openxmlformats.org/drawingml/2006/main">
            <a:r>
              <a:t>Pause cue: Pause after the main visual appears.</a:t>
            </a:r>
          </a:p>
          <a:p xmlns:a="http://schemas.openxmlformats.org/drawingml/2006/main">
            <a:r>
              <a:t>Pointing cue: Point to the central diagram.</a:t>
            </a:r>
          </a:p>
          <a:p xmlns:a="http://schemas.openxmlformats.org/drawingml/2006/main">
            <a:r>
              <a:t>Question to ask students: Ask: where have you seen this idea in real systems?</a:t>
            </a:r>
          </a:p>
          <a:p xmlns:a="http://schemas.openxmlformats.org/drawingml/2006/main">
            <a:r>
              <a:t>Animation instructions: Fade title; appear key parts one by one.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1 checklist; TB1 listed by syllabus: Seema Acharya and Subhashini Chellappan, Big Data and Analytics, Wiley India, 2nd ed., 2019; supplied TB2 PDF front matter/contents: Raj Kamal and Preeti Saxena, Big Data Analytics: Introduction to Hadoop, Spark, and Machine-Learning, McGraw Hill Education, 2019. The TB1 PDF is scanned in this environment, so body text was not machine-extractable; deck content is aligned to the syllabus headings and requested TB1 sections.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This slide is a likely exam answer. Ask students to write any four comparison points.</a:t>
            </a:r>
          </a:p>
          <a:p xmlns:a="http://schemas.openxmlformats.org/drawingml/2006/main">
            <a:r>
              <a:t>Pause cue: Pause after the main visual appears.</a:t>
            </a:r>
          </a:p>
          <a:p xmlns:a="http://schemas.openxmlformats.org/drawingml/2006/main">
            <a:r>
              <a:t>Pointing cue: Point to the central diagram.</a:t>
            </a:r>
          </a:p>
          <a:p xmlns:a="http://schemas.openxmlformats.org/drawingml/2006/main">
            <a:r>
              <a:t>Question to ask students: Ask: where have you seen this idea in real systems?</a:t>
            </a:r>
          </a:p>
          <a:p xmlns:a="http://schemas.openxmlformats.org/drawingml/2006/main">
            <a:r>
              <a:t>Animation instructions: Fade title; appear key parts one by one.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1 checklist; TB1 listed by syllabus: Seema Acharya and Subhashini Chellappan, Big Data and Analytics, Wiley India, 2nd ed., 2019; supplied TB2 PDF front matter/contents: Raj Kamal and Preeti Saxena, Big Data Analytics: Introduction to Hadoop, Spark, and Machine-Learning, McGraw Hill Education, 2019. The TB1 PDF is scanned in this environment, so body text was not machine-extractable; deck content is aligned to the syllabus headings and requested TB1 sections.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that many organizations use both: Big Data platforms prepare insight, while BI dashboards communicate it.</a:t>
            </a:r>
          </a:p>
          <a:p xmlns:a="http://schemas.openxmlformats.org/drawingml/2006/main">
            <a:r>
              <a:t>Pause cue: Pause after the main visual appears.</a:t>
            </a:r>
          </a:p>
          <a:p xmlns:a="http://schemas.openxmlformats.org/drawingml/2006/main">
            <a:r>
              <a:t>Pointing cue: Point to the central diagram.</a:t>
            </a:r>
          </a:p>
          <a:p xmlns:a="http://schemas.openxmlformats.org/drawingml/2006/main">
            <a:r>
              <a:t>Question to ask students: Ask: where have you seen this idea in real systems?</a:t>
            </a:r>
          </a:p>
          <a:p xmlns:a="http://schemas.openxmlformats.org/drawingml/2006/main">
            <a:r>
              <a:t>Animation instructions: Fade title; appear key parts one by one.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1 checklist; TB1 listed by syllabus: Seema Acharya and Subhashini Chellappan, Big Data and Analytics, Wiley India, 2nd ed., 2019; supplied TB2 PDF front matter/contents: Raj Kamal and Preeti Saxena, Big Data Analytics: Introduction to Hadoop, Spark, and Machine-Learning, McGraw Hill Education, 2019. The TB1 PDF is scanned in this environment, so body text was not machine-extractable; deck content is aligned to the syllabus headings and requested TB1 sections.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that warehouses are optimized for reading and analysis rather than day-to-day transaction updates.</a:t>
            </a:r>
          </a:p>
          <a:p xmlns:a="http://schemas.openxmlformats.org/drawingml/2006/main">
            <a:r>
              <a:t>Pause cue: Pause after the main visual appears.</a:t>
            </a:r>
          </a:p>
          <a:p xmlns:a="http://schemas.openxmlformats.org/drawingml/2006/main">
            <a:r>
              <a:t>Pointing cue: Point to the central diagram.</a:t>
            </a:r>
          </a:p>
          <a:p xmlns:a="http://schemas.openxmlformats.org/drawingml/2006/main">
            <a:r>
              <a:t>Question to ask students: Ask: where have you seen this idea in real systems?</a:t>
            </a:r>
          </a:p>
          <a:p xmlns:a="http://schemas.openxmlformats.org/drawingml/2006/main">
            <a:r>
              <a:t>Animation instructions: Fade title; appear key parts one by one.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1 checklist; TB1 listed by syllabus: Seema Acharya and Subhashini Chellappan, Big Data and Analytics, Wiley India, 2nd ed., 2019; supplied TB2 PDF front matter/contents: Raj Kamal and Preeti Saxena, Big Data Analytics: Introduction to Hadoop, Spark, and Machine-Learning, McGraw Hill Education, 2019. The TB1 PDF is scanned in this environment, so body text was not machine-extractable; deck content is aligned to the syllabus headings and requested TB1 sections.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Point left to right. Mention source systems such as ERP, CRM, billing, and operational databases.</a:t>
            </a:r>
          </a:p>
          <a:p xmlns:a="http://schemas.openxmlformats.org/drawingml/2006/main">
            <a:r>
              <a:t>Pause cue: Pause after the main visual appears.</a:t>
            </a:r>
          </a:p>
          <a:p xmlns:a="http://schemas.openxmlformats.org/drawingml/2006/main">
            <a:r>
              <a:t>Pointing cue: Point to the central diagram.</a:t>
            </a:r>
          </a:p>
          <a:p xmlns:a="http://schemas.openxmlformats.org/drawingml/2006/main">
            <a:r>
              <a:t>Question to ask students: Ask: where have you seen this idea in real systems?</a:t>
            </a:r>
          </a:p>
          <a:p xmlns:a="http://schemas.openxmlformats.org/drawingml/2006/main">
            <a:r>
              <a:t>Animation instructions: Fade title; appear key parts one by one.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1 checklist; TB1 listed by syllabus: Seema Acharya and Subhashini Chellappan, Big Data and Analytics, Wiley India, 2nd ed., 2019; supplied TB2 PDF front matter/contents: Raj Kamal and Preeti Saxena, Big Data Analytics: Introduction to Hadoop, Spark, and Machine-Learning, McGraw Hill Education, 2019. The TB1 PDF is scanned in this environment, so body text was not machine-extractable; deck content is aligned to the syllabus headings and requested TB1 sections.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a student marks example: extract marks from subject systems, transform into SGPA/CGPA formats, load into a warehouse for reports.</a:t>
            </a:r>
          </a:p>
          <a:p xmlns:a="http://schemas.openxmlformats.org/drawingml/2006/main">
            <a:r>
              <a:t>Pause cue: Pause after the main visual appears.</a:t>
            </a:r>
          </a:p>
          <a:p xmlns:a="http://schemas.openxmlformats.org/drawingml/2006/main">
            <a:r>
              <a:t>Pointing cue: Point to the central diagram.</a:t>
            </a:r>
          </a:p>
          <a:p xmlns:a="http://schemas.openxmlformats.org/drawingml/2006/main">
            <a:r>
              <a:t>Question to ask students: Ask: where have you seen this idea in real systems?</a:t>
            </a:r>
          </a:p>
          <a:p xmlns:a="http://schemas.openxmlformats.org/drawingml/2006/main">
            <a:r>
              <a:t>Animation instructions: Fade title; appear key parts one by one.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1 checklist; TB1 listed by syllabus: Seema Acharya and Subhashini Chellappan, Big Data and Analytics, Wiley India, 2nd ed., 2019; supplied TB2 PDF front matter/contents: Raj Kamal and Preeti Saxena, Big Data Analytics: Introduction to Hadoop, Spark, and Machine-Learning, McGraw Hill Education, 2019. The TB1 PDF is scanned in this environment, so body text was not machine-extractable; deck content is aligned to the syllabus headings and requested TB1 sections.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Clarify that a warehouse remains valuable for trusted reporting. Big Data complements it for raw, diverse, high-scale analysis.</a:t>
            </a:r>
          </a:p>
          <a:p xmlns:a="http://schemas.openxmlformats.org/drawingml/2006/main">
            <a:r>
              <a:t>Pause cue: Pause after the main visual appears.</a:t>
            </a:r>
          </a:p>
          <a:p xmlns:a="http://schemas.openxmlformats.org/drawingml/2006/main">
            <a:r>
              <a:t>Pointing cue: Point to the central diagram.</a:t>
            </a:r>
          </a:p>
          <a:p xmlns:a="http://schemas.openxmlformats.org/drawingml/2006/main">
            <a:r>
              <a:t>Question to ask students: Ask: where have you seen this idea in real systems?</a:t>
            </a:r>
          </a:p>
          <a:p xmlns:a="http://schemas.openxmlformats.org/drawingml/2006/main">
            <a:r>
              <a:t>Animation instructions: Fade title; appear key parts one by one.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1 checklist; TB1 listed by syllabus: Seema Acharya and Subhashini Chellappan, Big Data and Analytics, Wiley India, 2nd ed., 2019; supplied TB2 PDF front matter/contents: Raj Kamal and Preeti Saxena, Big Data Analytics: Introduction to Hadoop, Spark, and Machine-Learning, McGraw Hill Education, 2019. The TB1 PDF is scanned in this environment, so body text was not machine-extractable; deck content is aligned to the syllabus headings and requested TB1 sections.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the slogan: instead of moving huge data to one processor, keep data distributed and run computation near it.</a:t>
            </a:r>
          </a:p>
          <a:p xmlns:a="http://schemas.openxmlformats.org/drawingml/2006/main">
            <a:r>
              <a:t>Pause cue: Pause after the main visual appears.</a:t>
            </a:r>
          </a:p>
          <a:p xmlns:a="http://schemas.openxmlformats.org/drawingml/2006/main">
            <a:r>
              <a:t>Pointing cue: Point to the central diagram.</a:t>
            </a:r>
          </a:p>
          <a:p xmlns:a="http://schemas.openxmlformats.org/drawingml/2006/main">
            <a:r>
              <a:t>Question to ask students: Ask: where have you seen this idea in real systems?</a:t>
            </a:r>
          </a:p>
          <a:p xmlns:a="http://schemas.openxmlformats.org/drawingml/2006/main">
            <a:r>
              <a:t>Animation instructions: Fade title; appear key parts one by one.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1 checklist; TB1 listed by syllabus: Seema Acharya and Subhashini Chellappan, Big Data and Analytics, Wiley India, 2nd ed., 2019; supplied TB2 PDF front matter/contents: Raj Kamal and Preeti Saxena, Big Data Analytics: Introduction to Hadoop, Spark, and Machine-Learning, McGraw Hill Education, 2019. The TB1 PDF is scanned in this environment, so body text was not machine-extractable; deck content is aligned to the syllabus headings and requested TB1 sections.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Introduce HDFS for storage, MapReduce for processing model, YARN for resource management, and ecosystem tools such as Hive, Pig, HBase, Sqoop, Flume, Oozie, Zookeeper, and Spark.</a:t>
            </a:r>
          </a:p>
          <a:p xmlns:a="http://schemas.openxmlformats.org/drawingml/2006/main">
            <a:r>
              <a:t>Pause cue: Pause after the main visual appears.</a:t>
            </a:r>
          </a:p>
          <a:p xmlns:a="http://schemas.openxmlformats.org/drawingml/2006/main">
            <a:r>
              <a:t>Pointing cue: Point to the central diagram.</a:t>
            </a:r>
          </a:p>
          <a:p xmlns:a="http://schemas.openxmlformats.org/drawingml/2006/main">
            <a:r>
              <a:t>Question to ask students: Ask: where have you seen this idea in real systems?</a:t>
            </a:r>
          </a:p>
          <a:p xmlns:a="http://schemas.openxmlformats.org/drawingml/2006/main">
            <a:r>
              <a:t>Animation instructions: Fade title; appear key parts one by one.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1 checklist; TB1 listed by syllabus: Seema Acharya and Subhashini Chellappan, Big Data and Analytics, Wiley India, 2nd ed., 2019; supplied TB2 PDF front matter/contents: Raj Kamal and Preeti Saxena, Big Data Analytics: Introduction to Hadoop, Spark, and Machine-Learning, McGraw Hill Education, 2019. The TB1 PDF is scanned in this environment, so body text was not machine-extractable; deck content is aligned to the syllabus headings and requested TB1 sections.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a library analogy: HDFS shelves the books across many rooms; MapReduce sends workers to read pieces; YARN assigns rooms and workers.</a:t>
            </a:r>
          </a:p>
          <a:p xmlns:a="http://schemas.openxmlformats.org/drawingml/2006/main">
            <a:r>
              <a:t>Pause cue: Pause after the main visual appears.</a:t>
            </a:r>
          </a:p>
          <a:p xmlns:a="http://schemas.openxmlformats.org/drawingml/2006/main">
            <a:r>
              <a:t>Pointing cue: Point to the central diagram.</a:t>
            </a:r>
          </a:p>
          <a:p xmlns:a="http://schemas.openxmlformats.org/drawingml/2006/main">
            <a:r>
              <a:t>Question to ask students: Ask: where have you seen this idea in real systems?</a:t>
            </a:r>
          </a:p>
          <a:p xmlns:a="http://schemas.openxmlformats.org/drawingml/2006/main">
            <a:r>
              <a:t>Animation instructions: Fade title; appear key parts one by one.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1 checklist; TB1 listed by syllabus: Seema Acharya and Subhashini Chellappan, Big Data and Analytics, Wiley India, 2nd ed., 2019; supplied TB2 PDF front matter/contents: Raj Kamal and Preeti Saxena, Big Data Analytics: Introduction to Hadoop, Spark, and Machine-Learning, McGraw Hill Education, 2019. The TB1 PDF is scanned in this environment, so body text was not machine-extractable; deck content is aligned to the syllabus headings and requested TB1 sections.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that Hadoop can store raw high-scale data and preprocess it before refined data flows to BI systems.</a:t>
            </a:r>
          </a:p>
          <a:p xmlns:a="http://schemas.openxmlformats.org/drawingml/2006/main">
            <a:r>
              <a:t>Pause cue: Pause after the main visual appears.</a:t>
            </a:r>
          </a:p>
          <a:p xmlns:a="http://schemas.openxmlformats.org/drawingml/2006/main">
            <a:r>
              <a:t>Pointing cue: Point to the central diagram.</a:t>
            </a:r>
          </a:p>
          <a:p xmlns:a="http://schemas.openxmlformats.org/drawingml/2006/main">
            <a:r>
              <a:t>Question to ask students: Ask: where have you seen this idea in real systems?</a:t>
            </a:r>
          </a:p>
          <a:p xmlns:a="http://schemas.openxmlformats.org/drawingml/2006/main">
            <a:r>
              <a:t>Animation instructions: Fade title; appear key parts one by one.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1 checklist; TB1 listed by syllabus: Seema Acharya and Subhashini Chellappan, Big Data and Analytics, Wiley India, 2nd ed., 2019; supplied TB2 PDF front matter/contents: Raj Kamal and Preeti Saxena, Big Data Analytics: Introduction to Hadoop, Spark, and Machine-Learning, McGraw Hill Education, 2019. The TB1 PDF is scanned in this environment, so body text was not machine-extractable; deck content is aligned to the syllabus headings and requested TB1 sections.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This is a prerequisite glimpse for Module 2. Keep it high-level and avoid deep MapReduce programming details.</a:t>
            </a:r>
          </a:p>
          <a:p xmlns:a="http://schemas.openxmlformats.org/drawingml/2006/main">
            <a:r>
              <a:t>Pause cue: Pause after the main visual appears.</a:t>
            </a:r>
          </a:p>
          <a:p xmlns:a="http://schemas.openxmlformats.org/drawingml/2006/main">
            <a:r>
              <a:t>Pointing cue: Point to the central diagram.</a:t>
            </a:r>
          </a:p>
          <a:p xmlns:a="http://schemas.openxmlformats.org/drawingml/2006/main">
            <a:r>
              <a:t>Question to ask students: Ask: where have you seen this idea in real systems?</a:t>
            </a:r>
          </a:p>
          <a:p xmlns:a="http://schemas.openxmlformats.org/drawingml/2006/main">
            <a:r>
              <a:t>Animation instructions: Fade title; appear key parts one by one.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1 checklist; TB1 listed by syllabus: Seema Acharya and Subhashini Chellappan, Big Data and Analytics, Wiley India, 2nd ed., 2019; supplied TB2 PDF front matter/contents: Raj Kamal and Preeti Saxena, Big Data Analytics: Introduction to Hadoop, Spark, and Machine-Learning, McGraw Hill Education, 2019. The TB1 PDF is scanned in this environment, so body text was not machine-extractable; deck content is aligned to the syllabus headings and requested TB1 sections.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Distinguish storage from analytics. Storing terabytes is not the goal; insight and action are the goal.</a:t>
            </a:r>
          </a:p>
          <a:p xmlns:a="http://schemas.openxmlformats.org/drawingml/2006/main">
            <a:r>
              <a:t>Pause cue: Pause after the main visual appears.</a:t>
            </a:r>
          </a:p>
          <a:p xmlns:a="http://schemas.openxmlformats.org/drawingml/2006/main">
            <a:r>
              <a:t>Pointing cue: Point to the central diagram.</a:t>
            </a:r>
          </a:p>
          <a:p xmlns:a="http://schemas.openxmlformats.org/drawingml/2006/main">
            <a:r>
              <a:t>Question to ask students: Ask: where have you seen this idea in real systems?</a:t>
            </a:r>
          </a:p>
          <a:p xmlns:a="http://schemas.openxmlformats.org/drawingml/2006/main">
            <a:r>
              <a:t>Animation instructions: Fade title; appear key parts one by one.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1 checklist; TB1 listed by syllabus: Seema Acharya and Subhashini Chellappan, Big Data and Analytics, Wiley India, 2nd ed., 2019; supplied TB2 PDF front matter/contents: Raj Kamal and Preeti Saxena, Big Data Analytics: Introduction to Hadoop, Spark, and Machine-Learning, McGraw Hill Education, 2019. The TB1 PDF is scanned in this environment, so body text was not machine-extractable; deck content is aligned to the syllabus headings and requested TB1 sections.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Make students repeat the four questions aloud. This classification is simple and highly useful in exams and interviews.</a:t>
            </a:r>
          </a:p>
          <a:p xmlns:a="http://schemas.openxmlformats.org/drawingml/2006/main">
            <a:r>
              <a:t>Pause cue: Pause after the main visual appears.</a:t>
            </a:r>
          </a:p>
          <a:p xmlns:a="http://schemas.openxmlformats.org/drawingml/2006/main">
            <a:r>
              <a:t>Pointing cue: Point to the central diagram.</a:t>
            </a:r>
          </a:p>
          <a:p xmlns:a="http://schemas.openxmlformats.org/drawingml/2006/main">
            <a:r>
              <a:t>Question to ask students: Ask: where have you seen this idea in real systems?</a:t>
            </a:r>
          </a:p>
          <a:p xmlns:a="http://schemas.openxmlformats.org/drawingml/2006/main">
            <a:r>
              <a:t>Animation instructions: Fade title; appear key parts one by one.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1 checklist; TB1 listed by syllabus: Seema Acharya and Subhashini Chellappan, Big Data and Analytics, Wiley India, 2nd ed., 2019; supplied TB2 PDF front matter/contents: Raj Kamal and Preeti Saxena, Big Data Analytics: Introduction to Hadoop, Spark, and Machine-Learning, McGraw Hill Education, 2019. The TB1 PDF is scanned in this environment, so body text was not machine-extractable; deck content is aligned to the syllabus headings and requested TB1 sections.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Example: attendance dropped last week is descriptive; finding it dropped mainly in Monday 8 AM classes is diagnostic.</a:t>
            </a:r>
          </a:p>
          <a:p xmlns:a="http://schemas.openxmlformats.org/drawingml/2006/main">
            <a:r>
              <a:t>Pause cue: Pause after the main visual appears.</a:t>
            </a:r>
          </a:p>
          <a:p xmlns:a="http://schemas.openxmlformats.org/drawingml/2006/main">
            <a:r>
              <a:t>Pointing cue: Point to the central diagram.</a:t>
            </a:r>
          </a:p>
          <a:p xmlns:a="http://schemas.openxmlformats.org/drawingml/2006/main">
            <a:r>
              <a:t>Question to ask students: Ask: where have you seen this idea in real systems?</a:t>
            </a:r>
          </a:p>
          <a:p xmlns:a="http://schemas.openxmlformats.org/drawingml/2006/main">
            <a:r>
              <a:t>Animation instructions: Fade title; appear key parts one by one.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1 checklist; TB1 listed by syllabus: Seema Acharya and Subhashini Chellappan, Big Data and Analytics, Wiley India, 2nd ed., 2019; supplied TB2 PDF front matter/contents: Raj Kamal and Preeti Saxena, Big Data Analytics: Introduction to Hadoop, Spark, and Machine-Learning, McGraw Hill Education, 2019. The TB1 PDF is scanned in this environment, so body text was not machine-extractable; deck content is aligned to the syllabus headings and requested TB1 sections.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that prediction says what is likely; prescription suggests what to do next.</a:t>
            </a:r>
          </a:p>
          <a:p xmlns:a="http://schemas.openxmlformats.org/drawingml/2006/main">
            <a:r>
              <a:t>Pause cue: Pause after the main visual appears.</a:t>
            </a:r>
          </a:p>
          <a:p xmlns:a="http://schemas.openxmlformats.org/drawingml/2006/main">
            <a:r>
              <a:t>Pointing cue: Point to the central diagram.</a:t>
            </a:r>
          </a:p>
          <a:p xmlns:a="http://schemas.openxmlformats.org/drawingml/2006/main">
            <a:r>
              <a:t>Question to ask students: Ask: where have you seen this idea in real systems?</a:t>
            </a:r>
          </a:p>
          <a:p xmlns:a="http://schemas.openxmlformats.org/drawingml/2006/main">
            <a:r>
              <a:t>Animation instructions: Fade title; appear key parts one by one.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1 checklist; TB1 listed by syllabus: Seema Acharya and Subhashini Chellappan, Big Data and Analytics, Wiley India, 2nd ed., 2019; supplied TB2 PDF front matter/contents: Raj Kamal and Preeti Saxena, Big Data Analytics: Introduction to Hadoop, Spark, and Machine-Learning, McGraw Hill Education, 2019. The TB1 PDF is scanned in this environment, so body text was not machine-extractable; deck content is aligned to the syllabus headings and requested TB1 sections.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Give healthcare, education, retail, transport, and cybersecurity examples. Ask students which one has the highest social impact.</a:t>
            </a:r>
          </a:p>
          <a:p xmlns:a="http://schemas.openxmlformats.org/drawingml/2006/main">
            <a:r>
              <a:t>Pause cue: Pause after the main visual appears.</a:t>
            </a:r>
          </a:p>
          <a:p xmlns:a="http://schemas.openxmlformats.org/drawingml/2006/main">
            <a:r>
              <a:t>Pointing cue: Point to the central diagram.</a:t>
            </a:r>
          </a:p>
          <a:p xmlns:a="http://schemas.openxmlformats.org/drawingml/2006/main">
            <a:r>
              <a:t>Question to ask students: Ask: where have you seen this idea in real systems?</a:t>
            </a:r>
          </a:p>
          <a:p xmlns:a="http://schemas.openxmlformats.org/drawingml/2006/main">
            <a:r>
              <a:t>Animation instructions: Fade title; appear key parts one by one.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1 checklist; TB1 listed by syllabus: Seema Acharya and Subhashini Chellappan, Big Data and Analytics, Wiley India, 2nd ed., 2019; supplied TB2 PDF front matter/contents: Raj Kamal and Preeti Saxena, Big Data Analytics: Introduction to Hadoop, Spark, and Machine-Learning, McGraw Hill Education, 2019. The TB1 PDF is scanned in this environment, so body text was not machine-extractable; deck content is aligned to the syllabus headings and requested TB1 sections.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Walk through industries: retail recommends, banking detects fraud, healthcare predicts risk, transport optimizes routes, education monitors performance, manufacturing predicts machine failure.</a:t>
            </a:r>
          </a:p>
          <a:p xmlns:a="http://schemas.openxmlformats.org/drawingml/2006/main">
            <a:r>
              <a:t>Pause cue: Pause after the main visual appears.</a:t>
            </a:r>
          </a:p>
          <a:p xmlns:a="http://schemas.openxmlformats.org/drawingml/2006/main">
            <a:r>
              <a:t>Pointing cue: Point to the central diagram.</a:t>
            </a:r>
          </a:p>
          <a:p xmlns:a="http://schemas.openxmlformats.org/drawingml/2006/main">
            <a:r>
              <a:t>Question to ask students: Ask: where have you seen this idea in real systems?</a:t>
            </a:r>
          </a:p>
          <a:p xmlns:a="http://schemas.openxmlformats.org/drawingml/2006/main">
            <a:r>
              <a:t>Animation instructions: Fade title; appear key parts one by one.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1 checklist; TB1 listed by syllabus: Seema Acharya and Subhashini Chellappan, Big Data and Analytics, Wiley India, 2nd ed., 2019; supplied TB2 PDF front matter/contents: Raj Kamal and Preeti Saxena, Big Data Analytics: Introduction to Hadoop, Spark, and Machine-Learning, McGraw Hill Education, 2019. The TB1 PDF is scanned in this environment, so body text was not machine-extractable; deck content is aligned to the syllabus headings and requested TB1 sections.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that tools are easier to remember by function: store, process, query, analyze, visualize, manage.</a:t>
            </a:r>
          </a:p>
          <a:p xmlns:a="http://schemas.openxmlformats.org/drawingml/2006/main">
            <a:r>
              <a:t>Pause cue: Pause after the main visual appears.</a:t>
            </a:r>
          </a:p>
          <a:p xmlns:a="http://schemas.openxmlformats.org/drawingml/2006/main">
            <a:r>
              <a:t>Pointing cue: Point to the central diagram.</a:t>
            </a:r>
          </a:p>
          <a:p xmlns:a="http://schemas.openxmlformats.org/drawingml/2006/main">
            <a:r>
              <a:t>Question to ask students: Ask: where have you seen this idea in real systems?</a:t>
            </a:r>
          </a:p>
          <a:p xmlns:a="http://schemas.openxmlformats.org/drawingml/2006/main">
            <a:r>
              <a:t>Animation instructions: Fade title; appear key parts one by one.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1 checklist; TB1 listed by syllabus: Seema Acharya and Subhashini Chellappan, Big Data and Analytics, Wiley India, 2nd ed., 2019; supplied TB2 PDF front matter/contents: Raj Kamal and Preeti Saxena, Big Data Analytics: Introduction to Hadoop, Spark, and Machine-Learning, McGraw Hill Education, 2019. The TB1 PDF is scanned in this environment, so body text was not machine-extractable; deck content is aligned to the syllabus headings and requested TB1 sections.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Clarify that NoSQL means not only SQL, not anti-SQL. It complements relational databases when flexibility and scale matter.</a:t>
            </a:r>
          </a:p>
          <a:p xmlns:a="http://schemas.openxmlformats.org/drawingml/2006/main">
            <a:r>
              <a:t>Pause cue: Pause after the main visual appears.</a:t>
            </a:r>
          </a:p>
          <a:p xmlns:a="http://schemas.openxmlformats.org/drawingml/2006/main">
            <a:r>
              <a:t>Pointing cue: Point to the central diagram.</a:t>
            </a:r>
          </a:p>
          <a:p xmlns:a="http://schemas.openxmlformats.org/drawingml/2006/main">
            <a:r>
              <a:t>Question to ask students: Ask: where have you seen this idea in real systems?</a:t>
            </a:r>
          </a:p>
          <a:p xmlns:a="http://schemas.openxmlformats.org/drawingml/2006/main">
            <a:r>
              <a:t>Animation instructions: Fade title; appear key parts one by one.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1 checklist; TB1 listed by syllabus: Seema Acharya and Subhashini Chellappan, Big Data and Analytics, Wiley India, 2nd ed., 2019; supplied TB2 PDF front matter/contents: Raj Kamal and Preeti Saxena, Big Data Analytics: Introduction to Hadoop, Spark, and Machine-Learning, McGraw Hill Education, 2019. The TB1 PDF is scanned in this environment, so body text was not machine-extractable; deck content is aligned to the syllabus headings and requested TB1 sections.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Examples to mention: session store for key-value, product catalog for document, event data for column-family, social network for graph.</a:t>
            </a:r>
          </a:p>
          <a:p xmlns:a="http://schemas.openxmlformats.org/drawingml/2006/main">
            <a:r>
              <a:t>Pause cue: Pause after the main visual appears.</a:t>
            </a:r>
          </a:p>
          <a:p xmlns:a="http://schemas.openxmlformats.org/drawingml/2006/main">
            <a:r>
              <a:t>Pointing cue: Point to the central diagram.</a:t>
            </a:r>
          </a:p>
          <a:p xmlns:a="http://schemas.openxmlformats.org/drawingml/2006/main">
            <a:r>
              <a:t>Question to ask students: Ask: where have you seen this idea in real systems?</a:t>
            </a:r>
          </a:p>
          <a:p xmlns:a="http://schemas.openxmlformats.org/drawingml/2006/main">
            <a:r>
              <a:t>Animation instructions: Fade title; appear key parts one by one.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1 checklist; TB1 listed by syllabus: Seema Acharya and Subhashini Chellappan, Big Data and Analytics, Wiley India, 2nd ed., 2019; supplied TB2 PDF front matter/contents: Raj Kamal and Preeti Saxena, Big Data Analytics: Introduction to Hadoop, Spark, and Machine-Learning, McGraw Hill Education, 2019. The TB1 PDF is scanned in this environment, so body text was not machine-extractable; deck content is aligned to the syllabus headings and requested TB1 sections.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Keep this as an overview; later modules deepen Hadoop, Hive, Pig, MongoDB, and Spark.</a:t>
            </a:r>
          </a:p>
          <a:p xmlns:a="http://schemas.openxmlformats.org/drawingml/2006/main">
            <a:r>
              <a:t>Pause cue: Pause after the main visual appears.</a:t>
            </a:r>
          </a:p>
          <a:p xmlns:a="http://schemas.openxmlformats.org/drawingml/2006/main">
            <a:r>
              <a:t>Pointing cue: Point to the central diagram.</a:t>
            </a:r>
          </a:p>
          <a:p xmlns:a="http://schemas.openxmlformats.org/drawingml/2006/main">
            <a:r>
              <a:t>Question to ask students: Ask: where have you seen this idea in real systems?</a:t>
            </a:r>
          </a:p>
          <a:p xmlns:a="http://schemas.openxmlformats.org/drawingml/2006/main">
            <a:r>
              <a:t>Animation instructions: Fade title; appear key parts one by one.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1 checklist; TB1 listed by syllabus: Seema Acharya and Subhashini Chellappan, Big Data and Analytics, Wiley India, 2nd ed., 2019; supplied TB2 PDF front matter/contents: Raj Kamal and Preeti Saxena, Big Data Analytics: Introduction to Hadoop, Spark, and Machine-Learning, McGraw Hill Education, 2019. The TB1 PDF is scanned in this environment, so body text was not machine-extractable; deck content is aligned to the syllabus headings and requested TB1 sections.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that Hadoop gives a platform foundation, while ecosystem tools make it easier for different user groups: developers, analysts, administrators, and data engineers.</a:t>
            </a:r>
          </a:p>
          <a:p xmlns:a="http://schemas.openxmlformats.org/drawingml/2006/main">
            <a:r>
              <a:t>Pause cue: Pause after the main visual appears.</a:t>
            </a:r>
          </a:p>
          <a:p xmlns:a="http://schemas.openxmlformats.org/drawingml/2006/main">
            <a:r>
              <a:t>Pointing cue: Point to the central diagram.</a:t>
            </a:r>
          </a:p>
          <a:p xmlns:a="http://schemas.openxmlformats.org/drawingml/2006/main">
            <a:r>
              <a:t>Question to ask students: Ask: where have you seen this idea in real systems?</a:t>
            </a:r>
          </a:p>
          <a:p xmlns:a="http://schemas.openxmlformats.org/drawingml/2006/main">
            <a:r>
              <a:t>Animation instructions: Fade title; appear key parts one by one.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1 checklist; TB1 listed by syllabus: Seema Acharya and Subhashini Chellappan, Big Data and Analytics, Wiley India, 2nd ed., 2019; supplied TB2 PDF front matter/contents: Raj Kamal and Preeti Saxena, Big Data Analytics: Introduction to Hadoop, Spark, and Machine-Learning, McGraw Hill Education, 2019. The TB1 PDF is scanned in this environment, so body text was not machine-extractable; deck content is aligned to the syllabus headings and requested TB1 sections.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this as an exam/interview memory slide: storage problem suggests HDFS/NoSQL; batch processing suggests MapReduce/Spark; SQL-style analysis suggests Hive; dashboards suggest BI tools.</a:t>
            </a:r>
          </a:p>
          <a:p xmlns:a="http://schemas.openxmlformats.org/drawingml/2006/main">
            <a:r>
              <a:t>Pause cue: Pause after the main visual appears.</a:t>
            </a:r>
          </a:p>
          <a:p xmlns:a="http://schemas.openxmlformats.org/drawingml/2006/main">
            <a:r>
              <a:t>Pointing cue: Point to the central diagram.</a:t>
            </a:r>
          </a:p>
          <a:p xmlns:a="http://schemas.openxmlformats.org/drawingml/2006/main">
            <a:r>
              <a:t>Question to ask students: Ask: where have you seen this idea in real systems?</a:t>
            </a:r>
          </a:p>
          <a:p xmlns:a="http://schemas.openxmlformats.org/drawingml/2006/main">
            <a:r>
              <a:t>Animation instructions: Fade title; appear key parts one by one.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1 checklist; TB1 listed by syllabus: Seema Acharya and Subhashini Chellappan, Big Data and Analytics, Wiley India, 2nd ed., 2019; supplied TB2 PDF front matter/contents: Raj Kamal and Preeti Saxena, Big Data Analytics: Introduction to Hadoop, Spark, and Machine-Learning, McGraw Hill Education, 2019. The TB1 PDF is scanned in this environment, so body text was not machine-extractable; deck content is aligned to the syllabus headings and requested TB1 sections.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this as the end-of-teaching summary. Ask students to close notebooks and reconstruct the map from memory.</a:t>
            </a:r>
          </a:p>
          <a:p xmlns:a="http://schemas.openxmlformats.org/drawingml/2006/main">
            <a:r>
              <a:t>Pause cue: Pause after the main visual appears.</a:t>
            </a:r>
          </a:p>
          <a:p xmlns:a="http://schemas.openxmlformats.org/drawingml/2006/main">
            <a:r>
              <a:t>Pointing cue: Point to the central diagram.</a:t>
            </a:r>
          </a:p>
          <a:p xmlns:a="http://schemas.openxmlformats.org/drawingml/2006/main">
            <a:r>
              <a:t>Question to ask students: Ask: where have you seen this idea in real systems?</a:t>
            </a:r>
          </a:p>
          <a:p xmlns:a="http://schemas.openxmlformats.org/drawingml/2006/main">
            <a:r>
              <a:t>Animation instructions: Fade title; appear key parts one by one.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1 checklist; TB1 listed by syllabus: Seema Acharya and Subhashini Chellappan, Big Data and Analytics, Wiley India, 2nd ed., 2019; supplied TB2 PDF front matter/contents: Raj Kamal and Preeti Saxena, Big Data Analytics: Introduction to Hadoop, Spark, and Machine-Learning, McGraw Hill Education, 2019. The TB1 PDF is scanned in this environment, so body text was not machine-extractable; deck content is aligned to the syllabus headings and requested TB1 sections.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Tell students that marks come from structure: definition, diagram, explanation, example, and conclusion.</a:t>
            </a:r>
          </a:p>
          <a:p xmlns:a="http://schemas.openxmlformats.org/drawingml/2006/main">
            <a:r>
              <a:t>Pause cue: Pause after the main visual appears.</a:t>
            </a:r>
          </a:p>
          <a:p xmlns:a="http://schemas.openxmlformats.org/drawingml/2006/main">
            <a:r>
              <a:t>Pointing cue: Point to the central diagram.</a:t>
            </a:r>
          </a:p>
          <a:p xmlns:a="http://schemas.openxmlformats.org/drawingml/2006/main">
            <a:r>
              <a:t>Question to ask students: Ask: where have you seen this idea in real systems?</a:t>
            </a:r>
          </a:p>
          <a:p xmlns:a="http://schemas.openxmlformats.org/drawingml/2006/main">
            <a:r>
              <a:t>Animation instructions: Fade title; appear key parts one by one.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1 checklist; TB1 listed by syllabus: Seema Acharya and Subhashini Chellappan, Big Data and Analytics, Wiley India, 2nd ed., 2019; supplied TB2 PDF front matter/contents: Raj Kamal and Preeti Saxena, Big Data Analytics: Introduction to Hadoop, Spark, and Machine-Learning, McGraw Hill Education, 2019. The TB1 PDF is scanned in this environment, so body text was not machine-extractable; deck content is aligned to the syllabus headings and requested TB1 sections.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this as rapid-fire revision. Pause after every fifth question and let students answer without reading.</a:t>
            </a:r>
          </a:p>
          <a:p xmlns:a="http://schemas.openxmlformats.org/drawingml/2006/main">
            <a:r>
              <a:t>Pause cue: Pause after the main visual appears.</a:t>
            </a:r>
          </a:p>
          <a:p xmlns:a="http://schemas.openxmlformats.org/drawingml/2006/main">
            <a:r>
              <a:t>Pointing cue: Point to the central diagram.</a:t>
            </a:r>
          </a:p>
          <a:p xmlns:a="http://schemas.openxmlformats.org/drawingml/2006/main">
            <a:r>
              <a:t>Question to ask students: Ask: where have you seen this idea in real systems?</a:t>
            </a:r>
          </a:p>
          <a:p xmlns:a="http://schemas.openxmlformats.org/drawingml/2006/main">
            <a:r>
              <a:t>Animation instructions: Fade title; appear key parts one by one.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1 checklist; TB1 listed by syllabus: Seema Acharya and Subhashini Chellappan, Big Data and Analytics, Wiley India, 2nd ed., 2019; supplied TB2 PDF front matter/contents: Raj Kamal and Preeti Saxena, Big Data Analytics: Introduction to Hadoop, Spark, and Machine-Learning, McGraw Hill Education, 2019. The TB1 PDF is scanned in this environment, so body text was not machine-extractable; deck content is aligned to the syllabus headings and requested TB1 sections.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Tell students two-mark answers need precision, not paragraphs. One definition plus one example is often enough.</a:t>
            </a:r>
          </a:p>
          <a:p xmlns:a="http://schemas.openxmlformats.org/drawingml/2006/main">
            <a:r>
              <a:t>Pause cue: Pause after the main visual appears.</a:t>
            </a:r>
          </a:p>
          <a:p xmlns:a="http://schemas.openxmlformats.org/drawingml/2006/main">
            <a:r>
              <a:t>Pointing cue: Point to the central diagram.</a:t>
            </a:r>
          </a:p>
          <a:p xmlns:a="http://schemas.openxmlformats.org/drawingml/2006/main">
            <a:r>
              <a:t>Question to ask students: Ask: where have you seen this idea in real systems?</a:t>
            </a:r>
          </a:p>
          <a:p xmlns:a="http://schemas.openxmlformats.org/drawingml/2006/main">
            <a:r>
              <a:t>Animation instructions: Fade title; appear key parts one by one.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1 checklist; TB1 listed by syllabus: Seema Acharya and Subhashini Chellappan, Big Data and Analytics, Wiley India, 2nd ed., 2019; supplied TB2 PDF front matter/contents: Raj Kamal and Preeti Saxena, Big Data Analytics: Introduction to Hadoop, Spark, and Machine-Learning, McGraw Hill Education, 2019. The TB1 PDF is scanned in this environment, so body text was not machine-extractable; deck content is aligned to the syllabus headings and requested TB1 sections.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For five-mark answers, students should write a compact diagram, 4-5 bullets, and one real example.</a:t>
            </a:r>
          </a:p>
          <a:p xmlns:a="http://schemas.openxmlformats.org/drawingml/2006/main">
            <a:r>
              <a:t>Pause cue: Pause after the main visual appears.</a:t>
            </a:r>
          </a:p>
          <a:p xmlns:a="http://schemas.openxmlformats.org/drawingml/2006/main">
            <a:r>
              <a:t>Pointing cue: Point to the central diagram.</a:t>
            </a:r>
          </a:p>
          <a:p xmlns:a="http://schemas.openxmlformats.org/drawingml/2006/main">
            <a:r>
              <a:t>Question to ask students: Ask: where have you seen this idea in real systems?</a:t>
            </a:r>
          </a:p>
          <a:p xmlns:a="http://schemas.openxmlformats.org/drawingml/2006/main">
            <a:r>
              <a:t>Animation instructions: Fade title; appear key parts one by one.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1 checklist; TB1 listed by syllabus: Seema Acharya and Subhashini Chellappan, Big Data and Analytics, Wiley India, 2nd ed., 2019; supplied TB2 PDF front matter/contents: Raj Kamal and Preeti Saxena, Big Data Analytics: Introduction to Hadoop, Spark, and Machine-Learning, McGraw Hill Education, 2019. The TB1 PDF is scanned in this environment, so body text was not machine-extractable; deck content is aligned to the syllabus headings and requested TB1 sections.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Long answers need a flow: hook, definition, diagram, explanation, example, advantages/challenges, and conclusion.</a:t>
            </a:r>
          </a:p>
          <a:p xmlns:a="http://schemas.openxmlformats.org/drawingml/2006/main">
            <a:r>
              <a:t>Pause cue: Pause after the main visual appears.</a:t>
            </a:r>
          </a:p>
          <a:p xmlns:a="http://schemas.openxmlformats.org/drawingml/2006/main">
            <a:r>
              <a:t>Pointing cue: Point to the central diagram.</a:t>
            </a:r>
          </a:p>
          <a:p xmlns:a="http://schemas.openxmlformats.org/drawingml/2006/main">
            <a:r>
              <a:t>Question to ask students: Ask: where have you seen this idea in real systems?</a:t>
            </a:r>
          </a:p>
          <a:p xmlns:a="http://schemas.openxmlformats.org/drawingml/2006/main">
            <a:r>
              <a:t>Animation instructions: Fade title; appear key parts one by one.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1 checklist; TB1 listed by syllabus: Seema Acharya and Subhashini Chellappan, Big Data and Analytics, Wiley India, 2nd ed., 2019; supplied TB2 PDF front matter/contents: Raj Kamal and Preeti Saxena, Big Data Analytics: Introduction to Hadoop, Spark, and Machine-Learning, McGraw Hill Education, 2019. The TB1 PDF is scanned in this environment, so body text was not machine-extractable; deck content is aligned to the syllabus headings and requested TB1 sections.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End by asking students to explain the full module using only the keywords on this slide: Data classes, 5Vs, BI, warehouse, ETL, Hadoop, HDFS, MapReduce, YARN, analytics classes, NoSQL, tools.</a:t>
            </a:r>
          </a:p>
          <a:p xmlns:a="http://schemas.openxmlformats.org/drawingml/2006/main">
            <a:r>
              <a:t>Pause cue: Pause after the main visual appears.</a:t>
            </a:r>
          </a:p>
          <a:p xmlns:a="http://schemas.openxmlformats.org/drawingml/2006/main">
            <a:r>
              <a:t>Pointing cue: Point to the central diagram.</a:t>
            </a:r>
          </a:p>
          <a:p xmlns:a="http://schemas.openxmlformats.org/drawingml/2006/main">
            <a:r>
              <a:t>Question to ask students: Ask: where have you seen this idea in real systems?</a:t>
            </a:r>
          </a:p>
          <a:p xmlns:a="http://schemas.openxmlformats.org/drawingml/2006/main">
            <a:r>
              <a:t>Animation instructions: Fade title; appear key parts one by one.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1 checklist; TB1 listed by syllabus: Seema Acharya and Subhashini Chellappan, Big Data and Analytics, Wiley India, 2nd ed., 2019; supplied TB2 PDF front matter/contents: Raj Kamal and Preeti Saxena, Big Data Analytics: Introduction to Hadoop, Spark, and Machine-Learning, McGraw Hill Education, 2019. The TB1 PDF is scanned in this environment, so body text was not machine-extractable; deck content is aligned to the syllabus headings and requested TB1 sections.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2af87905e345c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7631febf94b445d" /><Relationship Type="http://schemas.openxmlformats.org/officeDocument/2006/relationships/slideLayout" Target="/ppt/slideLayouts/slideLayout1.xml" Id="Ra77805141645413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7805141645413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2e1ec3742249e3" /><Relationship Type="http://schemas.openxmlformats.org/officeDocument/2006/relationships/notesSlide" Target="/ppt/notesSlides/notesSlide1.xml" Id="Rfc955c86930c455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d3ed9dae7340d6" /><Relationship Type="http://schemas.openxmlformats.org/officeDocument/2006/relationships/notesSlide" Target="/ppt/notesSlides/notesSlide2.xml" Id="R4116e6b00dfc478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7ea77141624717" /><Relationship Type="http://schemas.openxmlformats.org/officeDocument/2006/relationships/notesSlide" Target="/ppt/notesSlides/notesSlide3.xml" Id="R7c5e67c58dd14df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3a49bbe08649ab" /><Relationship Type="http://schemas.openxmlformats.org/officeDocument/2006/relationships/notesSlide" Target="/ppt/notesSlides/notesSlide4.xml" Id="Re30d5b9b7eef495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c6ed9e2601481b" /><Relationship Type="http://schemas.openxmlformats.org/officeDocument/2006/relationships/notesSlide" Target="/ppt/notesSlides/notesSlide5.xml" Id="Rba28a032e09e488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caaa13432d4e5c" /><Relationship Type="http://schemas.openxmlformats.org/officeDocument/2006/relationships/notesSlide" Target="/ppt/notesSlides/notesSlide6.xml" Id="R4c45a7adaf914b7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ec740b331445cd" /><Relationship Type="http://schemas.openxmlformats.org/officeDocument/2006/relationships/notesSlide" Target="/ppt/notesSlides/notesSlide7.xml" Id="R5bf49d6f3ccf422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167702f28f48ad" /><Relationship Type="http://schemas.openxmlformats.org/officeDocument/2006/relationships/notesSlide" Target="/ppt/notesSlides/notesSlide8.xml" Id="R853ff9eece5c49c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f4398b1b2f4551" /><Relationship Type="http://schemas.openxmlformats.org/officeDocument/2006/relationships/notesSlide" Target="/ppt/notesSlides/notesSlide9.xml" Id="Ra6f8efb6d343411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f68b4b11d0443c" /><Relationship Type="http://schemas.openxmlformats.org/officeDocument/2006/relationships/notesSlide" Target="/ppt/notesSlides/notesSlide10.xml" Id="R288463c871c644b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4cdd0802394c3e" /><Relationship Type="http://schemas.openxmlformats.org/officeDocument/2006/relationships/notesSlide" Target="/ppt/notesSlides/notesSlide11.xml" Id="R7cbd059937e74a4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0ef97807204ccf" /><Relationship Type="http://schemas.openxmlformats.org/officeDocument/2006/relationships/notesSlide" Target="/ppt/notesSlides/notesSlide12.xml" Id="Rdec92c778138402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df56b6b60447c0" /><Relationship Type="http://schemas.openxmlformats.org/officeDocument/2006/relationships/notesSlide" Target="/ppt/notesSlides/notesSlide13.xml" Id="R3f3e885f958c40c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8bac05822845f8" /><Relationship Type="http://schemas.openxmlformats.org/officeDocument/2006/relationships/notesSlide" Target="/ppt/notesSlides/notesSlide14.xml" Id="R49ca35e04171484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e2fcf69ab04a5d" /><Relationship Type="http://schemas.openxmlformats.org/officeDocument/2006/relationships/notesSlide" Target="/ppt/notesSlides/notesSlide15.xml" Id="R520808ac089d4f8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1e29c977ca48e9" /><Relationship Type="http://schemas.openxmlformats.org/officeDocument/2006/relationships/notesSlide" Target="/ppt/notesSlides/notesSlide16.xml" Id="R5e415d82a57e479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cc2afdcc0b47f1" /><Relationship Type="http://schemas.openxmlformats.org/officeDocument/2006/relationships/notesSlide" Target="/ppt/notesSlides/notesSlide17.xml" Id="R3109c7ed90a8409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fa8282aaca4a62" /><Relationship Type="http://schemas.openxmlformats.org/officeDocument/2006/relationships/notesSlide" Target="/ppt/notesSlides/notesSlide18.xml" Id="R4bbcaea7afbb416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0d95f17f7149be" /><Relationship Type="http://schemas.openxmlformats.org/officeDocument/2006/relationships/notesSlide" Target="/ppt/notesSlides/notesSlide19.xml" Id="Rdf9d342a5940471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aa9e56bc694dbd" /><Relationship Type="http://schemas.openxmlformats.org/officeDocument/2006/relationships/notesSlide" Target="/ppt/notesSlides/notesSlide20.xml" Id="R6e1fb4e60f8f452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4407277b7f4470" /><Relationship Type="http://schemas.openxmlformats.org/officeDocument/2006/relationships/notesSlide" Target="/ppt/notesSlides/notesSlide21.xml" Id="R8ec31b26ae21402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8937c353554d43" /><Relationship Type="http://schemas.openxmlformats.org/officeDocument/2006/relationships/notesSlide" Target="/ppt/notesSlides/notesSlide22.xml" Id="R4b1f6f097daa405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0cc7c2d2b646d0" /><Relationship Type="http://schemas.openxmlformats.org/officeDocument/2006/relationships/notesSlide" Target="/ppt/notesSlides/notesSlide23.xml" Id="Rb8489c72901e492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fa8e08ebc54494" /><Relationship Type="http://schemas.openxmlformats.org/officeDocument/2006/relationships/notesSlide" Target="/ppt/notesSlides/notesSlide24.xml" Id="R4d3ab5b76710481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2b296e3d38498d" /><Relationship Type="http://schemas.openxmlformats.org/officeDocument/2006/relationships/notesSlide" Target="/ppt/notesSlides/notesSlide25.xml" Id="R5b2415840fcc4a6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e362a13e3e48dd" /><Relationship Type="http://schemas.openxmlformats.org/officeDocument/2006/relationships/notesSlide" Target="/ppt/notesSlides/notesSlide26.xml" Id="Racd9217e0e5f4b8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1d3d9e77c14fa5" /><Relationship Type="http://schemas.openxmlformats.org/officeDocument/2006/relationships/notesSlide" Target="/ppt/notesSlides/notesSlide27.xml" Id="R283034e632634a4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cf08e5ae514053" /><Relationship Type="http://schemas.openxmlformats.org/officeDocument/2006/relationships/notesSlide" Target="/ppt/notesSlides/notesSlide28.xml" Id="R42d59d288a0842a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88cd99d3b149bb" /><Relationship Type="http://schemas.openxmlformats.org/officeDocument/2006/relationships/notesSlide" Target="/ppt/notesSlides/notesSlide29.xml" Id="R61cead433e94450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365482401d4f29" /><Relationship Type="http://schemas.openxmlformats.org/officeDocument/2006/relationships/notesSlide" Target="/ppt/notesSlides/notesSlide30.xml" Id="Rb7ba63910388424c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3a9fbd774d483c" /><Relationship Type="http://schemas.openxmlformats.org/officeDocument/2006/relationships/notesSlide" Target="/ppt/notesSlides/notesSlide31.xml" Id="R5f460c9d159e41c6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2e652b247b4695" /><Relationship Type="http://schemas.openxmlformats.org/officeDocument/2006/relationships/notesSlide" Target="/ppt/notesSlides/notesSlide32.xml" Id="R730ceefbef80460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7800c6086b4e5e" /><Relationship Type="http://schemas.openxmlformats.org/officeDocument/2006/relationships/notesSlide" Target="/ppt/notesSlides/notesSlide33.xml" Id="R239176616ad84eda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764a35f4bd42fb" /><Relationship Type="http://schemas.openxmlformats.org/officeDocument/2006/relationships/notesSlide" Target="/ppt/notesSlides/notesSlide34.xml" Id="Rd59c52f5b4d84f4c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7d0366754c4ac8" /><Relationship Type="http://schemas.openxmlformats.org/officeDocument/2006/relationships/notesSlide" Target="/ppt/notesSlides/notesSlide35.xml" Id="R3c8f3d6bd6064690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e58fbcee7d4a39" /><Relationship Type="http://schemas.openxmlformats.org/officeDocument/2006/relationships/notesSlide" Target="/ppt/notesSlides/notesSlide36.xml" Id="R242b15a2caa14530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44f5ad484d42b5" /><Relationship Type="http://schemas.openxmlformats.org/officeDocument/2006/relationships/notesSlide" Target="/ppt/notesSlides/notesSlide37.xml" Id="Rdb3163f521b84ad1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7c1db7de264bf9" /><Relationship Type="http://schemas.openxmlformats.org/officeDocument/2006/relationships/notesSlide" Target="/ppt/notesSlides/notesSlide38.xml" Id="R867a16236aed4db5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2a2d4ae4ff4a22" /><Relationship Type="http://schemas.openxmlformats.org/officeDocument/2006/relationships/notesSlide" Target="/ppt/notesSlides/notesSlide39.xml" Id="R613b8ce0233c41e7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dbaf4c1d9940b9" /><Relationship Type="http://schemas.openxmlformats.org/officeDocument/2006/relationships/notesSlide" Target="/ppt/notesSlides/notesSlide40.xml" Id="Rb362caa1dccc4cff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6f399f482f4a24" /><Relationship Type="http://schemas.openxmlformats.org/officeDocument/2006/relationships/notesSlide" Target="/ppt/notesSlides/notesSlide41.xml" Id="R2581b14d54ee48ec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44b702fe354beb" /><Relationship Type="http://schemas.openxmlformats.org/officeDocument/2006/relationships/notesSlide" Target="/ppt/notesSlides/notesSlide42.xml" Id="R037b9cac551b4a0f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62ef1ff34f4216" /><Relationship Type="http://schemas.openxmlformats.org/officeDocument/2006/relationships/notesSlide" Target="/ppt/notesSlides/notesSlide43.xml" Id="R76eeabda3a7d4847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b157ee25124008" /><Relationship Type="http://schemas.openxmlformats.org/officeDocument/2006/relationships/notesSlide" Target="/ppt/notesSlides/notesSlide44.xml" Id="R2f89d093fd5443de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08e25bbb464b0d" /><Relationship Type="http://schemas.openxmlformats.org/officeDocument/2006/relationships/notesSlide" Target="/ppt/notesSlides/notesSlide45.xml" Id="R01f9677cce72466c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b14ee4e9db41be" /><Relationship Type="http://schemas.openxmlformats.org/officeDocument/2006/relationships/notesSlide" Target="/ppt/notesSlides/notesSlide46.xml" Id="R29b0c445a6124c1b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c7d499bbd84e8f" /><Relationship Type="http://schemas.openxmlformats.org/officeDocument/2006/relationships/notesSlide" Target="/ppt/notesSlides/notesSlide47.xml" Id="R122878fe3ac04b5f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7ad64de7d449b0" /><Relationship Type="http://schemas.openxmlformats.org/officeDocument/2006/relationships/notesSlide" Target="/ppt/notesSlides/notesSlide48.xml" Id="R163476af70234516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2862b1c3ee400c" /><Relationship Type="http://schemas.openxmlformats.org/officeDocument/2006/relationships/notesSlide" Target="/ppt/notesSlides/notesSlide49.xml" Id="Ra0a66ef4d754472e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3ecd266ff244dc" /><Relationship Type="http://schemas.openxmlformats.org/officeDocument/2006/relationships/notesSlide" Target="/ppt/notesSlides/notesSlide50.xml" Id="R39db943495ee4be2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d8629698974fd7" /><Relationship Type="http://schemas.openxmlformats.org/officeDocument/2006/relationships/notesSlide" Target="/ppt/notesSlides/notesSlide51.xml" Id="Ra0d7082e96e64a30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5b9ab4ba6841ce" /><Relationship Type="http://schemas.openxmlformats.org/officeDocument/2006/relationships/notesSlide" Target="/ppt/notesSlides/notesSlide52.xml" Id="Rede821c0b87c4141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2391bcb1b4474f" /><Relationship Type="http://schemas.openxmlformats.org/officeDocument/2006/relationships/notesSlide" Target="/ppt/notesSlides/notesSlide53.xml" Id="R6f278c5b15c24b88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7246529554460e" /><Relationship Type="http://schemas.openxmlformats.org/officeDocument/2006/relationships/notesSlide" Target="/ppt/notesSlides/notesSlide54.xml" Id="R97f8eb6e767d4800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01fffa605c445e" /><Relationship Type="http://schemas.openxmlformats.org/officeDocument/2006/relationships/notesSlide" Target="/ppt/notesSlides/notesSlide55.xml" Id="Rcc10178d0cd2498a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ffda8f6c3e4d97" /><Relationship Type="http://schemas.openxmlformats.org/officeDocument/2006/relationships/notesSlide" Target="/ppt/notesSlides/notesSlide56.xml" Id="Rdaa539e0eb6f4a4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979172-32A9-4555-8E16-B6F6D1ED4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76E67F3-2B9F-4DDE-9942-060012BC8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BFF"/>
                </a:solidFill>
              </a:defRPr>
            </a:pPr>
            <a:r>
              <a:rPr sz="2850" b="1">
                <a:solidFill>
                  <a:srgbClr val="F8FBFF"/>
                </a:solidFill>
              </a:rPr>
              <a:t>Big Data Analytics</a:t>
            </a:r>
          </a:p>
        </p:txBody>
      </p:sp>
      <p:sp>
        <p:nvSpPr>
          <p:cNvPr id="3" name="objective">
            <a:extLst xmlns:a="http://schemas.openxmlformats.org/drawingml/2006/main">
              <a:ext uri="{FF2B5EF4-FFF2-40B4-BE49-F238E27FC236}">
                <a16:creationId xmlns:a16="http://schemas.microsoft.com/office/drawing/2014/main" id="{A48AA93D-41A1-40D9-92E8-59076ECEF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Module 1 starts with the question: how do we learn from data that is too large, fast, and diverse for traditional systems?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1CF596-98EE-4F00-89F4-F0D6AC1A0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956B6B-C234-452F-8576-D5349EE77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83C0A53-FD30-4745-9D77-FA52521D3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211494B-7922-45D1-9B18-075FA176A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Opening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0C80EFF-CB67-46E7-80EB-C6F06AE6E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01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472E407-14FC-4716-A51B-5A6B5CB13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5334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8FBFF"/>
                </a:solidFill>
              </a:defRPr>
            </a:pPr>
            <a:r>
              <a:rPr sz="4650" b="1">
                <a:solidFill>
                  <a:srgbClr val="F8FBFF"/>
                </a:solidFill>
              </a:rPr>
              <a:t>VTU BIS701</a:t>
            </a:r>
          </a:p>
          <a:p xmlns:a="http://schemas.openxmlformats.org/drawingml/2006/main">
            <a:pPr>
              <a:defRPr sz="4650" b="1">
                <a:solidFill>
                  <a:srgbClr val="F8FBFF"/>
                </a:solidFill>
              </a:defRPr>
            </a:pPr>
            <a:r>
              <a:rPr sz="4650" b="1">
                <a:solidFill>
                  <a:srgbClr val="F8FBFF"/>
                </a:solidFill>
              </a:rPr>
              <a:t>Module 1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60D365D-E386-4105-9DD8-D9CD42FDF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67125"/>
            <a:ext cx="571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B8C7D9"/>
                </a:solidFill>
              </a:defRPr>
            </a:pPr>
            <a:r>
              <a:rPr sz="1800">
                <a:solidFill>
                  <a:srgbClr val="B8C7D9"/>
                </a:solidFill>
              </a:rPr>
              <a:t>Classification • Characteristics • Evolution • BI vs Big Data • Hadoop • Analytics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757EAD-6B9E-455D-9B4E-41126FB08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285875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C69"/>
          </a:solidFill>
          <a:ln xmlns:a="http://schemas.openxmlformats.org/drawingml/2006/main" w="19050">
            <a:solidFill>
              <a:srgbClr val="2C6CA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158572-EDE1-4F4D-B315-C8EC78CC4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955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3DF67A0-9172-4744-ABDA-24EFBB23E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190750"/>
            <a:ext cx="2571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8FBFF"/>
                </a:solidFill>
              </a:defRPr>
            </a:pPr>
            <a:r>
              <a:rPr sz="2550" b="1">
                <a:solidFill>
                  <a:srgbClr val="F8FBFF"/>
                </a:solidFill>
              </a:rPr>
              <a:t>DATA</a:t>
            </a:r>
          </a:p>
          <a:p xmlns:a="http://schemas.openxmlformats.org/drawingml/2006/main">
            <a:pPr algn="ctr">
              <a:defRPr sz="2550" b="1">
                <a:solidFill>
                  <a:srgbClr val="F8FBFF"/>
                </a:solidFill>
              </a:defRPr>
            </a:pPr>
            <a:r>
              <a:rPr sz="2550" b="1">
                <a:solidFill>
                  <a:srgbClr val="F8FBFF"/>
                </a:solidFill>
              </a:rPr>
              <a:t>→</a:t>
            </a:r>
          </a:p>
          <a:p xmlns:a="http://schemas.openxmlformats.org/drawingml/2006/main">
            <a:pPr algn="ctr">
              <a:defRPr sz="2550" b="1">
                <a:solidFill>
                  <a:srgbClr val="F8FBFF"/>
                </a:solidFill>
              </a:defRPr>
            </a:pPr>
            <a:r>
              <a:rPr sz="2550" b="1">
                <a:solidFill>
                  <a:srgbClr val="F8FBFF"/>
                </a:solidFill>
              </a:rPr>
              <a:t>INSIGHT</a:t>
            </a:r>
          </a:p>
        </p:txBody>
      </p:sp>
    </p:spTree>
    <p:extLst>
      <p:ext uri="{BB962C8B-B14F-4D97-AF65-F5344CB8AC3E}">
        <p14:creationId xmlns:p14="http://schemas.microsoft.com/office/powerpoint/2010/main" val="9856820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557215-3FFF-4AEC-B032-62A61ACD0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0557A9F-C62C-4FFF-88DB-CD40A34EC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BFF"/>
                </a:solidFill>
              </a:defRPr>
            </a:pPr>
            <a:r>
              <a:rPr sz="2850" b="1">
                <a:solidFill>
                  <a:srgbClr val="F8FBFF"/>
                </a:solidFill>
              </a:rPr>
              <a:t>What students should be able to teach back</a:t>
            </a:r>
          </a:p>
        </p:txBody>
      </p:sp>
      <p:sp>
        <p:nvSpPr>
          <p:cNvPr id="3" name="objective">
            <a:extLst xmlns:a="http://schemas.openxmlformats.org/drawingml/2006/main">
              <a:ext uri="{FF2B5EF4-FFF2-40B4-BE49-F238E27FC236}">
                <a16:creationId xmlns:a16="http://schemas.microsoft.com/office/drawing/2014/main" id="{B37CD777-A7C7-48B7-90B4-1A3856165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Use the syllabus as the checklist for the whole module.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106A41-BD74-4F65-9282-50D36C176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8E8390-C8C3-465A-B55D-931FD9C2A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8631B74-E7B8-4B86-BE01-B4B4ECAD5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B20BA11-98E6-4B3C-B64D-11692B351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Opening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334EAE6-56F6-4E41-B00A-9386FC65C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7B6FFE-4879-4E54-B93A-E525AAB83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A16DC6C-13D4-4B64-9DFA-6FD9C60F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18E79BA-92A3-4AAD-9767-6A52AAA41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16954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8FBFF"/>
                </a:solidFill>
              </a:defRPr>
            </a:pPr>
            <a:r>
              <a:rPr sz="1800">
                <a:solidFill>
                  <a:srgbClr val="F8FBFF"/>
                </a:solidFill>
              </a:rPr>
              <a:t>Classify data as structured, semi-structured, or unstructured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B29498-C65A-4B13-811D-4C00203C9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6A339DF-DBBC-473E-961E-FF80DD998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40E29282-8990-4ACA-84AF-7D35DFB3D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2098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8FBFF"/>
                </a:solidFill>
              </a:defRPr>
            </a:pPr>
            <a:r>
              <a:rPr sz="1800">
                <a:solidFill>
                  <a:srgbClr val="F8FBFF"/>
                </a:solidFill>
              </a:rPr>
              <a:t>Explain Big Data evolution, definition, characteristics, advantages, and challenges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32F650-76BC-4182-A4A9-B8FDEAB02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40F6BBB-13C7-492E-BC6B-E572665FC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AB2DC00C-1790-4C16-A8FA-530ED22AC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7241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8FBFF"/>
                </a:solidFill>
              </a:defRPr>
            </a:pPr>
            <a:r>
              <a:rPr sz="1800">
                <a:solidFill>
                  <a:srgbClr val="F8FBFF"/>
                </a:solidFill>
              </a:rPr>
              <a:t>Compare Traditional BI, data warehouses, and Hadoop environments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DFA1FC-E5FD-4530-A9D7-CDEFB6673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B89E886-364A-497E-951B-8DD91BCE7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B3C3A3AF-41AE-4AAD-ACE4-388241B7E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2385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8FBFF"/>
                </a:solidFill>
              </a:defRPr>
            </a:pPr>
            <a:r>
              <a:rPr sz="1800">
                <a:solidFill>
                  <a:srgbClr val="F8FBFF"/>
                </a:solidFill>
              </a:rPr>
              <a:t>Classify analytics and connect it to business applications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629172-865E-4475-AE72-89825F45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FAC948D0-8A54-410E-BF37-62B95E1A8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B8882CD6-34C4-46FC-BD5A-BA2606485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7528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8FBFF"/>
                </a:solidFill>
              </a:defRPr>
            </a:pPr>
            <a:r>
              <a:rPr sz="1800">
                <a:solidFill>
                  <a:srgbClr val="F8FBFF"/>
                </a:solidFill>
              </a:rPr>
              <a:t>Identify Hadoop, NoSQL, and analytical tools in a Big Data ecosystem</a:t>
            </a:r>
          </a:p>
        </p:txBody>
      </p:sp>
    </p:spTree>
    <p:extLst>
      <p:ext uri="{BB962C8B-B14F-4D97-AF65-F5344CB8AC3E}">
        <p14:creationId xmlns:p14="http://schemas.microsoft.com/office/powerpoint/2010/main" val="18161020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4014DD-8F10-4300-8E41-968DBF3F4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50F84E8-DB5C-4BC2-8928-09C795E87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BFF"/>
                </a:solidFill>
              </a:defRPr>
            </a:pPr>
            <a:r>
              <a:rPr sz="2850" b="1">
                <a:solidFill>
                  <a:srgbClr val="F8FBFF"/>
                </a:solidFill>
              </a:rPr>
              <a:t>The world started generating data faster than systems could absorb</a:t>
            </a:r>
          </a:p>
        </p:txBody>
      </p:sp>
      <p:sp>
        <p:nvSpPr>
          <p:cNvPr id="3" name="objective">
            <a:extLst xmlns:a="http://schemas.openxmlformats.org/drawingml/2006/main">
              <a:ext uri="{FF2B5EF4-FFF2-40B4-BE49-F238E27FC236}">
                <a16:creationId xmlns:a16="http://schemas.microsoft.com/office/drawing/2014/main" id="{CDBBA81B-6A2E-4DC2-ADC9-D51B04235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Begin with the real-world pressure before definitions.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78E3B2-0861-41D7-9105-14BCB4F57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30B6EE-651F-4E41-B55D-82FF2CE16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7E8263E-8E99-4A1D-B733-5F2B31823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3FE24DD-2095-45DC-9355-2D1F77422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Opening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8280CE9-D90F-4837-AB16-4D9799A8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03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14290BF-B231-49BF-A3D0-FDD30149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19250"/>
            <a:ext cx="495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9F1C"/>
                </a:solidFill>
              </a:defRPr>
            </a:pPr>
            <a:r>
              <a:rPr sz="4350" b="1">
                <a:solidFill>
                  <a:srgbClr val="FF9F1C"/>
                </a:solidFill>
              </a:rPr>
              <a:t>TB → PB → EB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4C20A99-F0D6-4CAB-83A1-0AE48414D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524125"/>
            <a:ext cx="495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F8FBFF"/>
                </a:solidFill>
              </a:defRPr>
            </a:pPr>
            <a:r>
              <a:rPr sz="1875">
                <a:solidFill>
                  <a:srgbClr val="F8FBFF"/>
                </a:solidFill>
              </a:rPr>
              <a:t>Searches, payments, videos, logs, sensors, apps, and chats continuously produce data.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CEA32E-AFF8-4CB5-A717-089A20B70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52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D8590E7-6CAF-4B1B-B654-6838447D9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52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A5F8A7C-0081-43CC-84CB-AC5DE63AA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714500"/>
            <a:ext cx="3676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Google indexes and ranks web-scale information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DFA50E-6C94-4ECA-BB3E-D34A006C8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66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E7D70D06-C611-4CBC-ABF3-299A6D066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669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1BC6699-0D6E-4466-957B-E89698408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228850"/>
            <a:ext cx="3676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Netflix records viewing behavior and recommendations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9B47ED-5028-4699-A339-5761F1A6A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813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CEDC49F5-212D-4092-ABB6-4A0B339C5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813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B50C628D-04D2-476C-8984-7A31065C4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743200"/>
            <a:ext cx="3676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Banks detect fraud from transaction streams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934FF8-FF42-4783-AB0E-CB285636D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956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91BA8410-B46E-40FB-B753-7C349C6C1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956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FD1DC5D0-E745-4AC2-BEAB-2A8F907BE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257550"/>
            <a:ext cx="3676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Hospitals collect images, lab reports, and monitoring data</a:t>
            </a:r>
          </a:p>
        </p:txBody>
      </p:sp>
    </p:spTree>
    <p:extLst>
      <p:ext uri="{BB962C8B-B14F-4D97-AF65-F5344CB8AC3E}">
        <p14:creationId xmlns:p14="http://schemas.microsoft.com/office/powerpoint/2010/main" val="8948919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87FD0CB-F2A2-4314-AE56-8414D1BD9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B1C687E-14E5-4B75-857C-893300032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BFF"/>
                </a:solidFill>
              </a:defRPr>
            </a:pPr>
            <a:r>
              <a:rPr sz="2850" b="1">
                <a:solidFill>
                  <a:srgbClr val="F8FBFF"/>
                </a:solidFill>
              </a:rPr>
              <a:t>The core tension: can one SQL server handle everything?</a:t>
            </a:r>
          </a:p>
        </p:txBody>
      </p:sp>
      <p:sp>
        <p:nvSpPr>
          <p:cNvPr id="3" name="objective">
            <a:extLst xmlns:a="http://schemas.openxmlformats.org/drawingml/2006/main">
              <a:ext uri="{FF2B5EF4-FFF2-40B4-BE49-F238E27FC236}">
                <a16:creationId xmlns:a16="http://schemas.microsoft.com/office/drawing/2014/main" id="{837D93B4-7C3B-4EB9-89F0-EF7E386E1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Motivate distributed storage and analytics.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E3E5CE-2F13-4FCD-B22B-E0EE724E4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6CB520-D26B-4FDA-9616-215DFAC09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DF3D7A3-366E-4628-BFFD-3A29E063E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453A5B0-2A85-419F-A09E-EBB8CA014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Opening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41AA33F-8934-4D96-9734-F1A867A99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DA19B9-3A8B-4836-9FE6-552C352D3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3CCDFB-A5A9-4D5F-A49D-81354B137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719770A-D9FF-4BA6-B43D-C60F6E8CB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459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5A7FF"/>
                </a:solidFill>
              </a:defRPr>
            </a:pPr>
            <a:r>
              <a:rPr sz="1800" b="1">
                <a:solidFill>
                  <a:srgbClr val="35A7FF"/>
                </a:solidFill>
              </a:rPr>
              <a:t>Single SQL server comfort zone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0CD72C9-8D5B-444E-A943-16768CF6C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4591050" cy="3371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DA9BC5-A07D-4EEF-947D-A7AA38C93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1B6B7D-D287-4EC6-A6E0-415240E3C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A8BD5FB-DEC8-46CD-AA83-78B35E9DF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71650"/>
            <a:ext cx="459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9F1C"/>
                </a:solidFill>
              </a:defRPr>
            </a:pPr>
            <a:r>
              <a:rPr sz="1800" b="1">
                <a:solidFill>
                  <a:srgbClr val="FF9F1C"/>
                </a:solidFill>
              </a:rPr>
              <a:t>Big Data pressure zone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A50D9DB-20EF-4FC0-880C-B10618013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52650"/>
            <a:ext cx="4591050" cy="3371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5FC582-BF82-4133-9E66-A8F9D28E6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AB4D2D06-244F-47BC-87DA-36085F5E4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D903F08E-2E07-4F7A-9AAB-69A500F65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86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Clean rows and columns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CB5B20-A45D-4A36-B32D-106E8D32E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2DDE8594-AB0F-49D5-925A-6D9C381C7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39580693-4700-4C96-95CC-D4BEEDE01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003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Known schema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35C229-A12B-4380-9702-1CF3DD7EF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E1558C8F-628A-4907-B23F-67E4FC52C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93E96E23-1CF3-4E32-AD85-66D139DBA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Moderate volume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4DEE14-A696-43E3-8984-AF8E2B10C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B6CE33F9-E880-441A-9DFD-5FE0522FE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C1DDE4B1-ECB0-4C96-BF23-4657D58DC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290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Periodic reports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532733-8754-4FDA-8F5C-8A61A5EC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24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2724E4A7-CAD4-41FD-AAC9-1AB7C8273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241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EE918A1A-0ECD-4D6C-A845-B8B900486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86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Large and distributed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039C7CA-34C5-438D-BC57-FE979ADC2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38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BE711BC3-5B95-43CF-AC34-4C8898EAE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384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A8E1636D-1A0D-4CD1-A307-6FBF2FC34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003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Fast streams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6ADD346-90DC-434C-9875-9C667AFC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892CF265-A27D-4CF8-BFB4-ABB3322BB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87E71E29-65B8-4A67-B467-425B8EDD7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147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Mixed formats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D68B0BF-8334-468E-A9C5-8A444B9FB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67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901EE751-3705-40DB-867C-5F0E8FB0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671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7EAAE045-4F19-4BCF-8BCA-A3B427C4D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290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Exploratory analytics</a:t>
            </a:r>
          </a:p>
        </p:txBody>
      </p:sp>
    </p:spTree>
    <p:extLst>
      <p:ext uri="{BB962C8B-B14F-4D97-AF65-F5344CB8AC3E}">
        <p14:creationId xmlns:p14="http://schemas.microsoft.com/office/powerpoint/2010/main" val="20114868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BA56FB-9967-47DE-A74E-4DFE4F64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159584E-500F-494D-BC5E-A1DF2422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BFF"/>
                </a:solidFill>
              </a:defRPr>
            </a:pPr>
            <a:r>
              <a:rPr sz="2850" b="1">
                <a:solidFill>
                  <a:srgbClr val="F8FBFF"/>
                </a:solidFill>
              </a:rPr>
              <a:t>Data becomes useful only after context and interpretation</a:t>
            </a:r>
          </a:p>
        </p:txBody>
      </p:sp>
      <p:sp>
        <p:nvSpPr>
          <p:cNvPr id="3" name="objective">
            <a:extLst xmlns:a="http://schemas.openxmlformats.org/drawingml/2006/main">
              <a:ext uri="{FF2B5EF4-FFF2-40B4-BE49-F238E27FC236}">
                <a16:creationId xmlns:a16="http://schemas.microsoft.com/office/drawing/2014/main" id="{9B251F26-959B-47AC-8EDB-1FFE36676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Separate data, information, and knowledge.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0BBB31-CEF2-4ECF-97E9-5D4A58F2E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90EC76-CBA2-4E58-8780-E27505FF7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7182CD3-477E-4039-8DE2-431152B12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A541360-A05E-48F1-BA50-D715B74CA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Data Fundamentals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F3DA9C0-C875-4189-8C74-FE6240CB8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06425F-45C5-49DF-8F8F-9F7803E99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19375"/>
            <a:ext cx="2243138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6976F5B-3B24-4FBF-8FAF-42F590ED0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90825"/>
            <a:ext cx="1976438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BFF"/>
                </a:solidFill>
              </a:defRPr>
            </a:pPr>
            <a:r>
              <a:rPr sz="1500" b="1">
                <a:solidFill>
                  <a:srgbClr val="F8FBFF"/>
                </a:solidFill>
              </a:rPr>
              <a:t>Raw data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FF0992-DDEB-4987-9374-FD751B72C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1838" y="2905125"/>
            <a:ext cx="285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10C3EF-E0FA-4F8C-A206-560017FFF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788" y="2619375"/>
            <a:ext cx="2243138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3E31703-6C4F-4AF3-B7BF-741E8E7DD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7138" y="2790825"/>
            <a:ext cx="1976438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BFF"/>
                </a:solidFill>
              </a:defRPr>
            </a:pPr>
            <a:r>
              <a:rPr sz="1500" b="1">
                <a:solidFill>
                  <a:srgbClr val="F8FBFF"/>
                </a:solidFill>
              </a:rPr>
              <a:t>Information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1CEB08-090B-4385-B5B9-82B981E63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905125"/>
            <a:ext cx="285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380796-97C6-4DB5-A4D4-5E442AF50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619375"/>
            <a:ext cx="2243138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F6EBDF9-CDF9-4133-896E-58BF9A30A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790825"/>
            <a:ext cx="1976438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BFF"/>
                </a:solidFill>
              </a:defRPr>
            </a:pPr>
            <a:r>
              <a:rPr sz="1500" b="1">
                <a:solidFill>
                  <a:srgbClr val="F8FBFF"/>
                </a:solidFill>
              </a:rPr>
              <a:t>Knowledge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C3CEAB-859C-4B11-B2E9-84B5B11A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4413" y="2905125"/>
            <a:ext cx="285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C49DBC-B863-4789-B684-1FB96804F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6363" y="2619375"/>
            <a:ext cx="2243138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B5925FD6-E387-4CA7-946F-645ECD048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9713" y="2790825"/>
            <a:ext cx="1976438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BFF"/>
                </a:solidFill>
              </a:defRPr>
            </a:pPr>
            <a:r>
              <a:rPr sz="1500" b="1">
                <a:solidFill>
                  <a:srgbClr val="F8FBFF"/>
                </a:solidFill>
              </a:rPr>
              <a:t>Decision</a:t>
            </a:r>
          </a:p>
        </p:txBody>
      </p:sp>
    </p:spTree>
    <p:extLst>
      <p:ext uri="{BB962C8B-B14F-4D97-AF65-F5344CB8AC3E}">
        <p14:creationId xmlns:p14="http://schemas.microsoft.com/office/powerpoint/2010/main" val="7469664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628644-4CEA-4293-ABD5-7EB809D08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5E31429-3687-4F6F-BA15-A18B572E9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BFF"/>
                </a:solidFill>
              </a:defRPr>
            </a:pPr>
            <a:r>
              <a:rPr sz="2850" b="1">
                <a:solidFill>
                  <a:srgbClr val="F8FBFF"/>
                </a:solidFill>
              </a:rPr>
              <a:t>Data classification is the first design decision</a:t>
            </a:r>
          </a:p>
        </p:txBody>
      </p:sp>
      <p:sp>
        <p:nvSpPr>
          <p:cNvPr id="3" name="objective">
            <a:extLst xmlns:a="http://schemas.openxmlformats.org/drawingml/2006/main">
              <a:ext uri="{FF2B5EF4-FFF2-40B4-BE49-F238E27FC236}">
                <a16:creationId xmlns:a16="http://schemas.microsoft.com/office/drawing/2014/main" id="{D9ABAE55-D357-45AC-BD57-A15845F59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why data type determines storage and processing choices.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B53DE4-C574-43A8-9D9C-EEC250942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982336-EDE2-4D27-9742-7456ED43C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3922064-67C3-473D-9F68-BD494049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E726844-4755-4B68-90B5-CC0FD8F20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Data Fundamentals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C600A8F-A38E-4393-9237-20E2509DC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D80FF2-19E6-4D89-9395-CFB7C134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30480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300C7E-A589-4E69-9213-5FBCA19DF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762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B52293E5-4D9D-4C8C-AB84-3A5CE7504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0275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5A7FF"/>
                </a:solidFill>
              </a:defRPr>
            </a:pPr>
            <a:r>
              <a:rPr sz="1800" b="1">
                <a:solidFill>
                  <a:srgbClr val="35A7FF"/>
                </a:solidFill>
              </a:rPr>
              <a:t>Structured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1AAD439-9AA7-4F14-AA57-5A0EED567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81275"/>
            <a:ext cx="2686050" cy="1800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Fixed schema: rows, columns, keys, constraints.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F7398F-F310-4CE1-8656-09B8B488B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47875"/>
            <a:ext cx="30480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C35A9E-613A-4892-88DB-73B5F3305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47875"/>
            <a:ext cx="762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125833F-AF22-4A55-921B-BC31D06F5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00275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9F1C"/>
                </a:solidFill>
              </a:defRPr>
            </a:pPr>
            <a:r>
              <a:rPr sz="1800" b="1">
                <a:solidFill>
                  <a:srgbClr val="FF9F1C"/>
                </a:solidFill>
              </a:rPr>
              <a:t>Semi-structured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CC84592-9A74-4D15-8D01-D60F34020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81275"/>
            <a:ext cx="2686050" cy="1800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Flexible tags/keys: JSON, XML, logs, metadata.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638E35-A3AD-40B9-A22A-324C41B10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7875"/>
            <a:ext cx="30480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0D5744-E101-45DF-B6CF-35A954DFE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7875"/>
            <a:ext cx="762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8853DB8A-EF86-420E-9F71-F67D17A85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0275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EC4B6"/>
                </a:solidFill>
              </a:defRPr>
            </a:pPr>
            <a:r>
              <a:rPr sz="1800" b="1">
                <a:solidFill>
                  <a:srgbClr val="2EC4B6"/>
                </a:solidFill>
              </a:rPr>
              <a:t>Unstructured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54DD2A1A-EE30-4248-AD66-45D12359D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81275"/>
            <a:ext cx="2686050" cy="1800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Free-form content: text, images, video, audio.</a:t>
            </a:r>
          </a:p>
        </p:txBody>
      </p:sp>
    </p:spTree>
    <p:extLst>
      <p:ext uri="{BB962C8B-B14F-4D97-AF65-F5344CB8AC3E}">
        <p14:creationId xmlns:p14="http://schemas.microsoft.com/office/powerpoint/2010/main" val="10041287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E18976-C5C0-4B1D-BC3F-41A07A615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08F7134-2EAE-477A-A7C9-54A90668B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BFF"/>
                </a:solidFill>
              </a:defRPr>
            </a:pPr>
            <a:r>
              <a:rPr sz="2850" b="1">
                <a:solidFill>
                  <a:srgbClr val="F8FBFF"/>
                </a:solidFill>
              </a:rPr>
              <a:t>Structured data behaves like a disciplined table</a:t>
            </a:r>
          </a:p>
        </p:txBody>
      </p:sp>
      <p:sp>
        <p:nvSpPr>
          <p:cNvPr id="3" name="objective">
            <a:extLst xmlns:a="http://schemas.openxmlformats.org/drawingml/2006/main">
              <a:ext uri="{FF2B5EF4-FFF2-40B4-BE49-F238E27FC236}">
                <a16:creationId xmlns:a16="http://schemas.microsoft.com/office/drawing/2014/main" id="{C60EA67E-439F-47FE-9D01-D67F7A7D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Define structured data in engineering language.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A372BA-9A7D-46E5-9C2B-F8EE58DFD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7C4F64-043E-42C3-ADB8-9D93880A1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EAA6EFC-1B8C-4587-8168-1C8F74853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DB6C7CE-F056-41C9-8537-EE95FD25C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Data Fundamentals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CDED330-CD6F-4BB3-8BD3-5EE3CB29E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4F757C-112C-473A-8D96-764E373B0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2952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956320-301F-4638-BD41-B728116DC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B5B280B-9366-4CED-B844-3E93371E6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59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5A7FF"/>
                </a:solidFill>
              </a:defRPr>
            </a:pPr>
            <a:r>
              <a:rPr sz="1800" b="1">
                <a:solidFill>
                  <a:srgbClr val="35A7FF"/>
                </a:solidFill>
              </a:rPr>
              <a:t>Rows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7B82A18-6C63-46AC-BDA3-E7FB94305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33650"/>
            <a:ext cx="25908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Each record follows the same structure.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7A070A-A980-40AF-ACC8-637047D9C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000250"/>
            <a:ext cx="2952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F204B4-D5A8-4D08-A342-4614C8D50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00025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BE73126-7522-47B1-A742-A5255D6DB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152650"/>
            <a:ext cx="259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9F1C"/>
                </a:solidFill>
              </a:defRPr>
            </a:pPr>
            <a:r>
              <a:rPr sz="1800" b="1">
                <a:solidFill>
                  <a:srgbClr val="FF9F1C"/>
                </a:solidFill>
              </a:rPr>
              <a:t>Columns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46FA24E-90E4-4A26-ABB7-3ABCB79E4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533650"/>
            <a:ext cx="25908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Each attribute has a defined name and type.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75BDE2-12FE-4175-A532-118F55AF4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0250"/>
            <a:ext cx="2952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3FAEE0-0C59-4B66-A594-7792EF865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025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E3D20F68-4ED7-4F8A-ABDF-671FED50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52650"/>
            <a:ext cx="259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EC4B6"/>
                </a:solidFill>
              </a:defRPr>
            </a:pPr>
            <a:r>
              <a:rPr sz="1800" b="1">
                <a:solidFill>
                  <a:srgbClr val="2EC4B6"/>
                </a:solidFill>
              </a:rPr>
              <a:t>Schema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77CAD3C1-37A4-495F-B0A5-C5F03EA18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33650"/>
            <a:ext cx="25908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Rules exist before data is stored.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3AAAED-E1E3-411C-999B-59EEC3E81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762500"/>
            <a:ext cx="20288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5D7188"/>
            </a:solidFill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94087A34-98CB-4E1C-8195-820525FEB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933950"/>
            <a:ext cx="1762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BFF"/>
                </a:solidFill>
              </a:defRPr>
            </a:pPr>
            <a:r>
              <a:rPr sz="1500" b="1">
                <a:solidFill>
                  <a:srgbClr val="F8FBFF"/>
                </a:solidFill>
              </a:rPr>
              <a:t>Student_ID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ED0FD8-A7FE-4D36-AD39-7229079BF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048250"/>
            <a:ext cx="285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7DB7DB-1ABB-4924-9130-C3F87FA59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762500"/>
            <a:ext cx="20288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5D7188"/>
            </a:solidFill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8691A058-D7B2-46CE-9448-C7C46AA30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933950"/>
            <a:ext cx="1762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BFF"/>
                </a:solidFill>
              </a:defRPr>
            </a:pPr>
            <a:r>
              <a:rPr sz="1500" b="1">
                <a:solidFill>
                  <a:srgbClr val="F8FBFF"/>
                </a:solidFill>
              </a:rPr>
              <a:t>Name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1171AA-9FFC-41C5-B809-DD99E55AB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048250"/>
            <a:ext cx="285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91CA28-C793-4418-896A-48497ED3E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762500"/>
            <a:ext cx="20288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5D7188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AEF5E473-4414-46E1-B9BD-F34BEB1C3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933950"/>
            <a:ext cx="1762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BFF"/>
                </a:solidFill>
              </a:defRPr>
            </a:pPr>
            <a:r>
              <a:rPr sz="1500" b="1">
                <a:solidFill>
                  <a:srgbClr val="F8FBFF"/>
                </a:solidFill>
              </a:rPr>
              <a:t>Marks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69AE73-C91E-4E51-8619-BD558F12C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048250"/>
            <a:ext cx="285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C735DE-40F7-4A2D-A83A-76FF76877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762500"/>
            <a:ext cx="20288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5D7188"/>
            </a:solidFill>
            <a:prstDash val="solid"/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1A13E873-2306-42A4-82E1-37F8AF410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933950"/>
            <a:ext cx="1762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BFF"/>
                </a:solidFill>
              </a:defRPr>
            </a:pPr>
            <a:r>
              <a:rPr sz="1500" b="1">
                <a:solidFill>
                  <a:srgbClr val="F8FBFF"/>
                </a:solidFill>
              </a:rPr>
              <a:t>Grade</a:t>
            </a:r>
          </a:p>
        </p:txBody>
      </p:sp>
    </p:spTree>
    <p:extLst>
      <p:ext uri="{BB962C8B-B14F-4D97-AF65-F5344CB8AC3E}">
        <p14:creationId xmlns:p14="http://schemas.microsoft.com/office/powerpoint/2010/main" val="3516444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4B9C09-D306-4956-8E4C-EE08AA0A0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AD09EB5-75A5-4FA2-852E-40389B734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BFF"/>
                </a:solidFill>
              </a:defRPr>
            </a:pPr>
            <a:r>
              <a:rPr sz="2850" b="1">
                <a:solidFill>
                  <a:srgbClr val="F8FBFF"/>
                </a:solidFill>
              </a:rPr>
              <a:t>Semi-structured data keeps meaning without rigid rows</a:t>
            </a:r>
          </a:p>
        </p:txBody>
      </p:sp>
      <p:sp>
        <p:nvSpPr>
          <p:cNvPr id="3" name="objective">
            <a:extLst xmlns:a="http://schemas.openxmlformats.org/drawingml/2006/main">
              <a:ext uri="{FF2B5EF4-FFF2-40B4-BE49-F238E27FC236}">
                <a16:creationId xmlns:a16="http://schemas.microsoft.com/office/drawing/2014/main" id="{EA8B3DEB-27E7-4CC3-AD49-EDC506898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why logs, JSON, and XML need flexible systems.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70AADF-E7E8-4D27-B84D-A625F1E3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4A44D4-CE42-4475-B10F-E1BC7F1F0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83DB771-41EC-4EAB-88A8-6E4601668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CD6260C-A22C-4C67-9FD9-5439C9F3D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Data Fundamentals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190CEE9-7A58-47CC-90D8-4442CAA3A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426103-CA92-4129-A001-52B697D19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09750"/>
            <a:ext cx="447675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408A987-94C9-4645-93D0-1765DCD25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38375"/>
            <a:ext cx="3714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FFBF69"/>
                </a:solidFill>
              </a:defRPr>
            </a:pPr>
            <a:r>
              <a:rPr sz="1950">
                <a:solidFill>
                  <a:srgbClr val="FFBF69"/>
                </a:solidFill>
              </a:rPr>
              <a:t>{ id: 42,</a:t>
            </a:r>
          </a:p>
          <a:p xmlns:a="http://schemas.openxmlformats.org/drawingml/2006/main">
            <a:pPr>
              <a:defRPr sz="1950">
                <a:solidFill>
                  <a:srgbClr val="FFBF69"/>
                </a:solidFill>
              </a:defRPr>
            </a:pPr>
            <a:r>
              <a:rPr sz="1950">
                <a:solidFill>
                  <a:srgbClr val="FFBF69"/>
                </a:solidFill>
              </a:rPr>
              <a:t>  event: 'login',</a:t>
            </a:r>
          </a:p>
          <a:p xmlns:a="http://schemas.openxmlformats.org/drawingml/2006/main">
            <a:pPr>
              <a:defRPr sz="1950">
                <a:solidFill>
                  <a:srgbClr val="FFBF69"/>
                </a:solidFill>
              </a:defRPr>
            </a:pPr>
            <a:r>
              <a:rPr sz="1950">
                <a:solidFill>
                  <a:srgbClr val="FFBF69"/>
                </a:solidFill>
              </a:rPr>
              <a:t>  device: 'mobile',</a:t>
            </a:r>
          </a:p>
          <a:p xmlns:a="http://schemas.openxmlformats.org/drawingml/2006/main">
            <a:pPr>
              <a:defRPr sz="1950">
                <a:solidFill>
                  <a:srgbClr val="FFBF69"/>
                </a:solidFill>
              </a:defRPr>
            </a:pPr>
            <a:r>
              <a:rPr sz="1950">
                <a:solidFill>
                  <a:srgbClr val="FFBF69"/>
                </a:solidFill>
              </a:rPr>
              <a:t>  location: 'Mysuru' 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387CAA-23BA-4BF3-89DC-DBFF24D6F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952625"/>
            <a:ext cx="4095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14CA5E-7940-41D4-88F4-D6535B0E3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952625"/>
            <a:ext cx="762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5F93929-6BFB-4FDF-BC9E-8111E2E6A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105025"/>
            <a:ext cx="3733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9F1C"/>
                </a:solidFill>
              </a:defRPr>
            </a:pPr>
            <a:r>
              <a:rPr sz="1800" b="1">
                <a:solidFill>
                  <a:srgbClr val="FF9F1C"/>
                </a:solidFill>
              </a:rPr>
              <a:t>Why it matters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BB5C87ED-6996-4433-AFBF-951CA5D32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486025"/>
            <a:ext cx="37338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Keys provide meaning, but fields may vary across records. Flexible systems handle this better than rigid tables.</a:t>
            </a:r>
          </a:p>
        </p:txBody>
      </p:sp>
    </p:spTree>
    <p:extLst>
      <p:ext uri="{BB962C8B-B14F-4D97-AF65-F5344CB8AC3E}">
        <p14:creationId xmlns:p14="http://schemas.microsoft.com/office/powerpoint/2010/main" val="8370837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68B6A7-474D-409E-AC5B-1E6E76C4A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7B24C2A-5A93-4E61-9174-3F08B7682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BFF"/>
                </a:solidFill>
              </a:defRPr>
            </a:pPr>
            <a:r>
              <a:rPr sz="2850" b="1">
                <a:solidFill>
                  <a:srgbClr val="F8FBFF"/>
                </a:solidFill>
              </a:rPr>
              <a:t>Unstructured data needs extraction before analysis</a:t>
            </a:r>
          </a:p>
        </p:txBody>
      </p:sp>
      <p:sp>
        <p:nvSpPr>
          <p:cNvPr id="3" name="objective">
            <a:extLst xmlns:a="http://schemas.openxmlformats.org/drawingml/2006/main">
              <a:ext uri="{FF2B5EF4-FFF2-40B4-BE49-F238E27FC236}">
                <a16:creationId xmlns:a16="http://schemas.microsoft.com/office/drawing/2014/main" id="{0C0DF077-1CB3-431B-8379-A528AD4DF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why free-form content is hard for traditional BI.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AE17BF-DE0D-4373-846D-6C1C9A1A9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49CFDA-8813-458F-8640-F3013D792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21D2BD6-CFCC-47E0-9F89-1143C454D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6B0CE63-A3D1-456B-B16C-CB1742C34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Data Fundamentals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3C081D9-4E87-46EF-BAFA-21E048C14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179941-0ABA-4AD0-83D5-A42DAF65B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2386013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3824418-B1EC-4746-BB21-03CC53A0A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2119313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BFF"/>
                </a:solidFill>
              </a:defRPr>
            </a:pPr>
            <a:r>
              <a:rPr sz="1500" b="1">
                <a:solidFill>
                  <a:srgbClr val="F8FBFF"/>
                </a:solidFill>
              </a:rPr>
              <a:t>Image / text / audio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5B9831-61F0-494B-B73E-D16ADE291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963" y="3143250"/>
            <a:ext cx="285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F5BC48-0F7E-483C-BB20-7C0258AE8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0913" y="2857500"/>
            <a:ext cx="2386013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27F3237-4D85-4D28-8D00-AFB4E5403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4263" y="3028950"/>
            <a:ext cx="2119313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BFF"/>
                </a:solidFill>
              </a:defRPr>
            </a:pPr>
            <a:r>
              <a:rPr sz="1500" b="1">
                <a:solidFill>
                  <a:srgbClr val="F8FBFF"/>
                </a:solidFill>
              </a:rPr>
              <a:t>Extract features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B99408-3666-480A-91C5-BB43F4E7E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143250"/>
            <a:ext cx="285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CBF270-A4A6-4551-8258-96A52F497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857500"/>
            <a:ext cx="2386013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CAB2F71-ABCB-4173-A332-9E9370042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028950"/>
            <a:ext cx="2119313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BFF"/>
                </a:solidFill>
              </a:defRPr>
            </a:pPr>
            <a:r>
              <a:rPr sz="1500" b="1">
                <a:solidFill>
                  <a:srgbClr val="F8FBFF"/>
                </a:solidFill>
              </a:rPr>
              <a:t>Store metadata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6D5AA0-950D-480D-9D75-AC57C3C7A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7288" y="3143250"/>
            <a:ext cx="285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BC90B5-CC3E-4856-89A0-3BCE49C65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238" y="2857500"/>
            <a:ext cx="2386013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AD2346CC-03F9-4C6E-8BBE-622F81554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2588" y="3028950"/>
            <a:ext cx="2119313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BFF"/>
                </a:solidFill>
              </a:defRPr>
            </a:pPr>
            <a:r>
              <a:rPr sz="1500" b="1">
                <a:solidFill>
                  <a:srgbClr val="F8FBFF"/>
                </a:solidFill>
              </a:rPr>
              <a:t>Analyze patterns</a:t>
            </a:r>
          </a:p>
        </p:txBody>
      </p:sp>
    </p:spTree>
    <p:extLst>
      <p:ext uri="{BB962C8B-B14F-4D97-AF65-F5344CB8AC3E}">
        <p14:creationId xmlns:p14="http://schemas.microsoft.com/office/powerpoint/2010/main" val="191414161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B9669E-4040-473D-B5B3-A4BEF0429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2473E41-A45B-4FF1-B6AE-0E81FDEC5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BFF"/>
                </a:solidFill>
              </a:defRPr>
            </a:pPr>
            <a:r>
              <a:rPr sz="2850" b="1">
                <a:solidFill>
                  <a:srgbClr val="F8FBFF"/>
                </a:solidFill>
              </a:rPr>
              <a:t>The three data classes lead to different platform choices</a:t>
            </a:r>
          </a:p>
        </p:txBody>
      </p:sp>
      <p:sp>
        <p:nvSpPr>
          <p:cNvPr id="3" name="objective">
            <a:extLst xmlns:a="http://schemas.openxmlformats.org/drawingml/2006/main">
              <a:ext uri="{FF2B5EF4-FFF2-40B4-BE49-F238E27FC236}">
                <a16:creationId xmlns:a16="http://schemas.microsoft.com/office/drawing/2014/main" id="{C4625EF2-7D9D-48CA-835C-C37723CD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Compare storage and analytics implications.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AFE5B1-9C9F-44BC-9997-BA405877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DA8FAE-1623-4E67-B7E0-452501A63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014387C-BA24-4905-811A-1839E3BA8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AD7BA04-BE5E-45EE-8579-84195BEEB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Data Fundamentals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C8C1F41-B610-4924-BBAD-897BD7FAF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BD19FB-E855-4233-AC51-024C4147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31432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3CC599-BEE1-482E-AC5D-13AEAF6CF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762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51922EA-7826-446F-955C-C1351FAC7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6215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5A7FF"/>
                </a:solidFill>
              </a:defRPr>
            </a:pPr>
            <a:r>
              <a:rPr sz="1800" b="1">
                <a:solidFill>
                  <a:srgbClr val="35A7FF"/>
                </a:solidFill>
              </a:rPr>
              <a:t>Structured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CCBD111-7EE0-4616-8E10-27633A23C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43150"/>
            <a:ext cx="27813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SQL tables, high consistency, predefined schema.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58A2F2-3CFB-46FE-9CAC-F27A26613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809750"/>
            <a:ext cx="31432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9DCE57-6BC8-4F7A-B774-D142D80A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809750"/>
            <a:ext cx="762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E77DEA3F-CC57-476A-9D62-3C0CAF076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96215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9F1C"/>
                </a:solidFill>
              </a:defRPr>
            </a:pPr>
            <a:r>
              <a:rPr sz="1800" b="1">
                <a:solidFill>
                  <a:srgbClr val="FF9F1C"/>
                </a:solidFill>
              </a:rPr>
              <a:t>Semi-structured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7C00D99-9B3B-4EBF-9C59-2C53D0940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343150"/>
            <a:ext cx="27813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JSON/XML/logs, flexible schema, nested fields.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EDAB47-64CB-460D-9EDF-6ABC19D80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09750"/>
            <a:ext cx="31432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51C15E-C0F5-4F7C-878C-88FEE9FC1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09750"/>
            <a:ext cx="762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9F36D179-AB82-42B2-B3E7-64221A1F8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6215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EC4B6"/>
                </a:solidFill>
              </a:defRPr>
            </a:pPr>
            <a:r>
              <a:rPr sz="1800" b="1">
                <a:solidFill>
                  <a:srgbClr val="2EC4B6"/>
                </a:solidFill>
              </a:rPr>
              <a:t>Unstructured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43EB1821-2FB2-41C4-892F-1034B5613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43150"/>
            <a:ext cx="27813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Text/images/audio/video, feature extraction needed.</a:t>
            </a:r>
          </a:p>
        </p:txBody>
      </p:sp>
    </p:spTree>
    <p:extLst>
      <p:ext uri="{BB962C8B-B14F-4D97-AF65-F5344CB8AC3E}">
        <p14:creationId xmlns:p14="http://schemas.microsoft.com/office/powerpoint/2010/main" val="64953492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C8A046-1B2D-4EAD-A6C3-CCCADE1D0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3930B5B-C359-4899-9310-232C987E9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BFF"/>
                </a:solidFill>
              </a:defRPr>
            </a:pPr>
            <a:r>
              <a:rPr sz="2850" b="1">
                <a:solidFill>
                  <a:srgbClr val="F8FBFF"/>
                </a:solidFill>
              </a:rPr>
              <a:t>Big Data evolved from reporting to large-scale learning</a:t>
            </a:r>
          </a:p>
        </p:txBody>
      </p:sp>
      <p:sp>
        <p:nvSpPr>
          <p:cNvPr id="3" name="objective">
            <a:extLst xmlns:a="http://schemas.openxmlformats.org/drawingml/2006/main">
              <a:ext uri="{FF2B5EF4-FFF2-40B4-BE49-F238E27FC236}">
                <a16:creationId xmlns:a16="http://schemas.microsoft.com/office/drawing/2014/main" id="{325CE73C-074B-48AC-9334-D032E971A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Place Big Data in computing history.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E1AC02-02FA-480B-AB1D-812A17F1C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20E197-E8F8-4FB6-9E2D-D4F3B68DC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DAF13B9-22E0-4215-B141-B5294D29D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926C163-789F-4E93-86FC-CEB2AC984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Evolution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444F303-7D21-4FE6-AD86-A8FD45E4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7629B6-5ADE-4825-A883-D27A033C6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52750"/>
            <a:ext cx="15081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825422C-865C-4273-B318-037295FF2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12414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BFF"/>
                </a:solidFill>
              </a:defRPr>
            </a:pPr>
            <a:r>
              <a:rPr sz="1500" b="1">
                <a:solidFill>
                  <a:srgbClr val="F8FBFF"/>
                </a:solidFill>
              </a:rPr>
              <a:t>1960s files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CAEDBB-77EA-412A-8368-8B0BD22E8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0575" y="3238500"/>
            <a:ext cx="285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137546-8205-47D5-ADEE-244C62AFB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2525" y="2952750"/>
            <a:ext cx="15081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4EB321A-6573-4E12-ACFB-791B5C7EA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5875" y="3124200"/>
            <a:ext cx="12414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BFF"/>
                </a:solidFill>
              </a:defRPr>
            </a:pPr>
            <a:r>
              <a:rPr sz="1500" b="1">
                <a:solidFill>
                  <a:srgbClr val="F8FBFF"/>
                </a:solidFill>
              </a:rPr>
              <a:t>1970s RDBMS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A5D04A-5642-4B90-94BF-D2DDB3DF0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6850" y="3238500"/>
            <a:ext cx="285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F75EAA-C0C8-4B7E-82C3-76B266416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2952750"/>
            <a:ext cx="15081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50D2E562-2AAE-48AA-ADEA-0B4A3A580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2150" y="3124200"/>
            <a:ext cx="12414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BFF"/>
                </a:solidFill>
              </a:defRPr>
            </a:pPr>
            <a:r>
              <a:rPr sz="1500" b="1">
                <a:solidFill>
                  <a:srgbClr val="F8FBFF"/>
                </a:solidFill>
              </a:rPr>
              <a:t>1990s DW/BI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BCB826-9138-4B97-9FD4-384508F1C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238500"/>
            <a:ext cx="285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3F6E17-6003-4A2C-8451-9F21CAF60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952750"/>
            <a:ext cx="15081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BFA40CC4-32DA-44FA-955A-CACE50311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124200"/>
            <a:ext cx="12414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BFF"/>
                </a:solidFill>
              </a:defRPr>
            </a:pPr>
            <a:r>
              <a:rPr sz="1500" b="1">
                <a:solidFill>
                  <a:srgbClr val="F8FBFF"/>
                </a:solidFill>
              </a:rPr>
              <a:t>2000s web scale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7BF8C0-C0E1-4C80-8E10-33E265A1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9400" y="3238500"/>
            <a:ext cx="285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632E5C-F059-4423-9B17-1DBF0F882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1350" y="2952750"/>
            <a:ext cx="15081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6D633F35-5DBF-4E8B-BD3F-BFECDFD07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0" y="3124200"/>
            <a:ext cx="12414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BFF"/>
                </a:solidFill>
              </a:defRPr>
            </a:pPr>
            <a:r>
              <a:rPr sz="1500" b="1">
                <a:solidFill>
                  <a:srgbClr val="F8FBFF"/>
                </a:solidFill>
              </a:rPr>
              <a:t>2010s Hadoop/Spark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92AC57-B3D6-44BA-81AE-A64D503B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675" y="3238500"/>
            <a:ext cx="285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DCA547-2502-42EC-9BE2-C9C1A4927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7625" y="2952750"/>
            <a:ext cx="15081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4EF7F099-0453-48A8-83EF-6EEC82166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0975" y="3124200"/>
            <a:ext cx="12414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BFF"/>
                </a:solidFill>
              </a:defRPr>
            </a:pPr>
            <a:r>
              <a:rPr sz="1500" b="1">
                <a:solidFill>
                  <a:srgbClr val="F8FBFF"/>
                </a:solidFill>
              </a:rPr>
              <a:t>Today AI analytics</a:t>
            </a:r>
          </a:p>
        </p:txBody>
      </p:sp>
    </p:spTree>
    <p:extLst>
      <p:ext uri="{BB962C8B-B14F-4D97-AF65-F5344CB8AC3E}">
        <p14:creationId xmlns:p14="http://schemas.microsoft.com/office/powerpoint/2010/main" val="163567345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20FC14-9685-4DDB-B470-3CB206ABF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D8C3D8D-CE0A-42B4-ACA0-676F8B40E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BFF"/>
                </a:solidFill>
              </a:defRPr>
            </a:pPr>
            <a:r>
              <a:rPr sz="2850" b="1">
                <a:solidFill>
                  <a:srgbClr val="F8FBFF"/>
                </a:solidFill>
              </a:rPr>
              <a:t>Data growth changed the unit of thinking</a:t>
            </a:r>
          </a:p>
        </p:txBody>
      </p:sp>
      <p:sp>
        <p:nvSpPr>
          <p:cNvPr id="3" name="objective">
            <a:extLst xmlns:a="http://schemas.openxmlformats.org/drawingml/2006/main">
              <a:ext uri="{FF2B5EF4-FFF2-40B4-BE49-F238E27FC236}">
                <a16:creationId xmlns:a16="http://schemas.microsoft.com/office/drawing/2014/main" id="{7958C847-D35D-4772-B3E6-6B0F9E6F8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why megabytes and gigabytes were no longer enough.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48918C-4E79-488B-8D81-138DAF944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9803E9-9A65-4447-89F4-CB77E4CE6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DBE5740-DF81-4B77-9A6C-68A66923C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B303184-3241-45BB-9BE3-D89E900E8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Evolution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1ECC780-3BB3-4FCC-A908-8B020D28E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9F1293-DC43-479E-A26F-7078F54D3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62500"/>
            <a:ext cx="1333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1755EC8-A776-4E98-AAAE-B62231273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10125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7111F"/>
                </a:solidFill>
              </a:defRPr>
            </a:pPr>
            <a:r>
              <a:rPr sz="2100" b="1">
                <a:solidFill>
                  <a:srgbClr val="07111F"/>
                </a:solidFill>
              </a:rPr>
              <a:t>MB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E1D08C-2128-4958-84EF-B44F5F8D3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210050"/>
            <a:ext cx="1333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4B38FC4-FEE7-4CCD-9E32-F19E6B713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257675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7111F"/>
                </a:solidFill>
              </a:defRPr>
            </a:pPr>
            <a:r>
              <a:rPr sz="2100" b="1">
                <a:solidFill>
                  <a:srgbClr val="07111F"/>
                </a:solidFill>
              </a:rPr>
              <a:t>GB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456C16-6A33-4CE8-917A-AD3F1865F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57600"/>
            <a:ext cx="13335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AF3CDA34-6EED-482D-94D2-2DBC79AC0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705225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7111F"/>
                </a:solidFill>
              </a:defRPr>
            </a:pPr>
            <a:r>
              <a:rPr sz="2100" b="1">
                <a:solidFill>
                  <a:srgbClr val="07111F"/>
                </a:solidFill>
              </a:rPr>
              <a:t>TB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237EA0-3422-446C-8029-4D63E5722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05150"/>
            <a:ext cx="13335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F3D72BF-7A54-4EB4-9028-65AB0BEFE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52775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7111F"/>
                </a:solidFill>
              </a:defRPr>
            </a:pPr>
            <a:r>
              <a:rPr sz="2100" b="1">
                <a:solidFill>
                  <a:srgbClr val="07111F"/>
                </a:solidFill>
              </a:rPr>
              <a:t>PB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606B80-4155-47BA-A54E-DD9F6E88D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52700"/>
            <a:ext cx="133350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AA520DB0-37AC-4FA9-902F-E6F6C051A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00325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7111F"/>
                </a:solidFill>
              </a:defRPr>
            </a:pPr>
            <a:r>
              <a:rPr sz="2100" b="1">
                <a:solidFill>
                  <a:srgbClr val="07111F"/>
                </a:solidFill>
              </a:rPr>
              <a:t>EB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198FE1FD-F44A-435F-BD41-BD284347A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762125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8FBFF"/>
                </a:solidFill>
              </a:defRPr>
            </a:pPr>
            <a:r>
              <a:rPr sz="2100">
                <a:solidFill>
                  <a:srgbClr val="F8FBFF"/>
                </a:solidFill>
              </a:rPr>
              <a:t>Every jump changes storage, processing, network transfer, and fault tolerance.</a:t>
            </a:r>
          </a:p>
        </p:txBody>
      </p:sp>
    </p:spTree>
    <p:extLst>
      <p:ext uri="{BB962C8B-B14F-4D97-AF65-F5344CB8AC3E}">
        <p14:creationId xmlns:p14="http://schemas.microsoft.com/office/powerpoint/2010/main" val="191335127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08C6F54-C7C8-4AEE-8951-F8ECA0CD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CBAE401-F2AA-411D-9AE2-B8EB9ACEA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BFF"/>
                </a:solidFill>
              </a:defRPr>
            </a:pPr>
            <a:r>
              <a:rPr sz="2850" b="1">
                <a:solidFill>
                  <a:srgbClr val="F8FBFF"/>
                </a:solidFill>
              </a:rPr>
              <a:t>Digital transformation created continuous data trails</a:t>
            </a:r>
          </a:p>
        </p:txBody>
      </p:sp>
      <p:sp>
        <p:nvSpPr>
          <p:cNvPr id="3" name="objective">
            <a:extLst xmlns:a="http://schemas.openxmlformats.org/drawingml/2006/main">
              <a:ext uri="{FF2B5EF4-FFF2-40B4-BE49-F238E27FC236}">
                <a16:creationId xmlns:a16="http://schemas.microsoft.com/office/drawing/2014/main" id="{616FB87B-EEBA-4EEF-9CF3-CC17616F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Connect modern services to Big Data sources.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44565B-E966-4DEB-AE48-6C80DEBEF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51F3E7-76E2-4753-AFF9-828C6AB79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F733881-F156-436E-9389-9B376111D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60224FB-0A52-4B61-9C9F-D6BA748E1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Evolution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D0F7FC5-7AD8-4A6C-94BF-675D28A2F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C01528-0A62-4063-BD10-7192315FA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14625"/>
            <a:ext cx="24765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515D44A-116B-4BF4-AB45-79175DC9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480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7111F"/>
                </a:solidFill>
              </a:defRPr>
            </a:pPr>
            <a:r>
              <a:rPr sz="2100" b="1">
                <a:solidFill>
                  <a:srgbClr val="07111F"/>
                </a:solidFill>
              </a:rPr>
              <a:t>Data exhaust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2555A9-055D-4534-872B-5437574DE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271462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E98676-EA21-4723-BC62-C523DD2AC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0E2A8C6-4932-4AE6-B105-186B38E89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05025"/>
            <a:ext cx="2352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EC4B6"/>
                </a:solidFill>
              </a:defRPr>
            </a:pPr>
            <a:r>
              <a:rPr sz="1800" b="1">
                <a:solidFill>
                  <a:srgbClr val="2EC4B6"/>
                </a:solidFill>
              </a:rPr>
              <a:t>Transactions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0341451B-BE9D-4BAE-AE66-181A22748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86025"/>
            <a:ext cx="2352675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B0F175-0580-4780-9CBB-5BA175158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619250"/>
            <a:ext cx="271462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357E3A-F3DC-47CA-A8F7-4BB721066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61925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D21275FD-0D8C-43D2-A4AC-D62FF6BB2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1771650"/>
            <a:ext cx="2352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5A7FF"/>
                </a:solidFill>
              </a:defRPr>
            </a:pPr>
            <a:r>
              <a:rPr sz="1800" b="1">
                <a:solidFill>
                  <a:srgbClr val="35A7FF"/>
                </a:solidFill>
              </a:rPr>
              <a:t>Social media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1C9E45A3-34FE-46BE-B7FD-19D9A2AC1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152650"/>
            <a:ext cx="2352675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7EB2A5-D289-412A-8E5E-89CDE7FD8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952625"/>
            <a:ext cx="271462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A539B3-E43A-4051-8B1B-16561F3BB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952625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9BE8F419-C7ED-4C37-A9E0-583148ED8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105025"/>
            <a:ext cx="2352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EC4B6"/>
                </a:solidFill>
              </a:defRPr>
            </a:pPr>
            <a:r>
              <a:rPr sz="1800" b="1">
                <a:solidFill>
                  <a:srgbClr val="2EC4B6"/>
                </a:solidFill>
              </a:rPr>
              <a:t>Sensors/IoT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B214B57E-C70E-489B-B10A-D8F33071E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486025"/>
            <a:ext cx="2352675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4DA9AC-FAE6-4F1D-841D-374F333F2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33875"/>
            <a:ext cx="271462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17BE87-8927-43FB-BCFF-54E329216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33875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DA37131F-D0AE-4F96-9D25-6E276E263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86275"/>
            <a:ext cx="2352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5A7FF"/>
                </a:solidFill>
              </a:defRPr>
            </a:pPr>
            <a:r>
              <a:rPr sz="1800" b="1">
                <a:solidFill>
                  <a:srgbClr val="35A7FF"/>
                </a:solidFill>
              </a:rPr>
              <a:t>Web logs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E72B78DE-EFD6-4687-8FCC-A8C9BCF26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67275"/>
            <a:ext cx="2352675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2F7BBF-272A-4C82-9E6B-D2CEDCD86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762500"/>
            <a:ext cx="271462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2B47FC-449E-4337-B208-0BC3F3AB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7625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EBB3A378-E280-41D0-90C6-C952D93D0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914900"/>
            <a:ext cx="2352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EC4B6"/>
                </a:solidFill>
              </a:defRPr>
            </a:pPr>
            <a:r>
              <a:rPr sz="1800" b="1">
                <a:solidFill>
                  <a:srgbClr val="2EC4B6"/>
                </a:solidFill>
              </a:rPr>
              <a:t>Mobile apps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D0F01171-5037-4A7B-9FA0-EEA158ED7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295900"/>
            <a:ext cx="2352675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47E502-7627-4113-BFD3-D3AB25D5F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333875"/>
            <a:ext cx="271462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26A5DE3-16FF-4D01-BA57-145F97BC5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333875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1264C211-46BF-4248-9A7B-C3D83957E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486275"/>
            <a:ext cx="2352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5A7FF"/>
                </a:solidFill>
              </a:defRPr>
            </a:pPr>
            <a:r>
              <a:rPr sz="1800" b="1">
                <a:solidFill>
                  <a:srgbClr val="35A7FF"/>
                </a:solidFill>
              </a:rPr>
              <a:t>Scientific data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5A385E56-BE7C-4905-A17D-8B1F7E1AE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867275"/>
            <a:ext cx="2352675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91250298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3472CBE-E251-4B7D-B825-9E443AFA0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8E0A3A8-4188-4F6D-BE82-4A60AC32B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BFF"/>
                </a:solidFill>
              </a:defRPr>
            </a:pPr>
            <a:r>
              <a:rPr sz="2850" b="1">
                <a:solidFill>
                  <a:srgbClr val="F8FBFF"/>
                </a:solidFill>
              </a:rPr>
              <a:t>Evolution is a shift from single-machine control to distributed coordination</a:t>
            </a:r>
          </a:p>
        </p:txBody>
      </p:sp>
      <p:sp>
        <p:nvSpPr>
          <p:cNvPr id="3" name="objective">
            <a:extLst xmlns:a="http://schemas.openxmlformats.org/drawingml/2006/main">
              <a:ext uri="{FF2B5EF4-FFF2-40B4-BE49-F238E27FC236}">
                <a16:creationId xmlns:a16="http://schemas.microsoft.com/office/drawing/2014/main" id="{DFCE2E67-56BD-4D6E-B852-ACD484B6A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the architectural change.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ACF47A-08D0-4E50-B38E-9D8B7D1D9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6ACE72-9B9F-49B9-921C-0056E014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E4B3A1E-C553-4D73-AC85-ACF0C0548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F47B22B-6723-439C-99A6-AF5948F30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Evolution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91C54E3-7F3A-4FE3-9A9E-C3677689D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F819C4-6400-40E3-964B-0FD7645D6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584A23-D469-4E44-99B1-AF290ED94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44A3156-7091-4489-B52D-B5CE4A68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459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5A7FF"/>
                </a:solidFill>
              </a:defRPr>
            </a:pPr>
            <a:r>
              <a:rPr sz="1800" b="1">
                <a:solidFill>
                  <a:srgbClr val="35A7FF"/>
                </a:solidFill>
              </a:rPr>
              <a:t>Earlier systems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54269E5-53C1-43F5-9B09-CBEE7988D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4591050" cy="3371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4B5B5E-7157-459A-8BBC-609206255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F8A7F4-E006-48F8-9690-BE26A8EAE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E61F17C-1ADD-43F9-AB20-377AE0951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71650"/>
            <a:ext cx="459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9F1C"/>
                </a:solidFill>
              </a:defRPr>
            </a:pPr>
            <a:r>
              <a:rPr sz="1800" b="1">
                <a:solidFill>
                  <a:srgbClr val="FF9F1C"/>
                </a:solidFill>
              </a:rPr>
              <a:t>Big Data systems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4F6828A-3447-459D-A7DD-9829A54E9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52650"/>
            <a:ext cx="4591050" cy="3371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62702B-F04C-4AD2-A21F-BE55CC3DC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1AF0C96-11A6-4D72-9CD6-736C91D95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603CCD4-C1CF-4EFA-BAF7-251B32EE7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86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Central server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BC132B-8238-4C69-A8F7-9B601B6AD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0F0BD520-5372-42B0-B2A1-6C5417CAC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992B556E-2527-4E72-80C0-3D5754CBE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003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Structured records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BFBBAC-85E9-4F88-ADCE-9BAB11724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3A969E73-F5B7-4F15-95A9-29EFAD995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B55C763E-CCCB-4170-AECA-703E24A1A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Batch reports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1C79DA-62F1-4E51-BFB7-86318D4B6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E2BFC167-227D-491C-922F-8F0F2C389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F9B3AEF2-6045-45CD-8D52-4F7337CAA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290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Scale-up hardware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08A22F-C972-4FF7-837F-17DB1C1FD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24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087189AF-B8FF-4C59-BCB8-D258C442C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241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BB327652-1012-4345-9B28-9FDEA1C59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86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Clusters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A0F773-CA66-4BDF-BC66-ABC59F8AC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38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3FDF82DB-3CD3-4E64-980F-73A356B18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384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A09ACF54-32F6-4DAD-B667-C1544B52D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003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Mixed data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E8A24AC-1A16-4D26-8263-52CD9B592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4F5BC975-B469-4DAA-93B1-FDF33E2FC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D9EE54CA-86F8-4A8D-89E9-0B11AD949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147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Parallel processing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1C78BBC-B2C1-4190-B403-52EF9ABA9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67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C96E0E34-4BAF-46EE-9E47-A45242CC2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671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A4FF5FC3-C1F5-479B-9CE5-F04841858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290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Scale-out nodes</a:t>
            </a:r>
          </a:p>
        </p:txBody>
      </p:sp>
    </p:spTree>
    <p:extLst>
      <p:ext uri="{BB962C8B-B14F-4D97-AF65-F5344CB8AC3E}">
        <p14:creationId xmlns:p14="http://schemas.microsoft.com/office/powerpoint/2010/main" val="77100834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04E32B-C62D-4F0B-9E73-7F24F9E4E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C1B4886-5103-4265-9A98-838A0A2D2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BFF"/>
                </a:solidFill>
              </a:defRPr>
            </a:pPr>
            <a:r>
              <a:rPr sz="2850" b="1">
                <a:solidFill>
                  <a:srgbClr val="F8FBFF"/>
                </a:solidFill>
              </a:rPr>
              <a:t>Big Data is defined by limits of traditional processing</a:t>
            </a:r>
          </a:p>
        </p:txBody>
      </p:sp>
      <p:sp>
        <p:nvSpPr>
          <p:cNvPr id="3" name="objective">
            <a:extLst xmlns:a="http://schemas.openxmlformats.org/drawingml/2006/main">
              <a:ext uri="{FF2B5EF4-FFF2-40B4-BE49-F238E27FC236}">
                <a16:creationId xmlns:a16="http://schemas.microsoft.com/office/drawing/2014/main" id="{8924A914-9EA6-4895-9326-E9C002296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Introduce the definition after the need is clear.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C68036-7D21-4DA4-9F6E-8BA4406CD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4D87BB-5D72-4202-8485-22E80E59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C3F5DBE-545D-4678-AA22-0B8E8BAD3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D49903A-402C-4C8B-B19E-3BE4CC490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Big Data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A108BB0-9A31-4646-8C1A-6EC1DCD93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15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B29824F-34FC-4010-9547-EDB90426B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9F1C"/>
                </a:solidFill>
              </a:defRPr>
            </a:pPr>
            <a:r>
              <a:rPr sz="3900" b="1">
                <a:solidFill>
                  <a:srgbClr val="FF9F1C"/>
                </a:solidFill>
              </a:rPr>
              <a:t>Big Data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04C8CE3-3FC9-470C-86CD-3C87ED422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9906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8FBFF"/>
                </a:solidFill>
              </a:defRPr>
            </a:pPr>
            <a:r>
              <a:rPr sz="2175">
                <a:solidFill>
                  <a:srgbClr val="F8FBFF"/>
                </a:solidFill>
              </a:rPr>
              <a:t>Datasets whose volume, speed, variety, or complexity exceed the ability of conventional database and BI tools to capture, store, manage, process, and analyze them effectively.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A7FDFB-2874-4757-90AF-57985A296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166878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24ED302-A556-4678-A1C6-0A4CB9F1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648200"/>
            <a:ext cx="140208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BFF"/>
                </a:solidFill>
              </a:defRPr>
            </a:pPr>
            <a:r>
              <a:rPr sz="1500" b="1">
                <a:solidFill>
                  <a:srgbClr val="F8FBFF"/>
                </a:solidFill>
              </a:rPr>
              <a:t>Volume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2965B5-A412-449C-9D28-A209BAA97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855" y="4762500"/>
            <a:ext cx="285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AB5337-A806-4EB7-8CDD-3601E5334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1805" y="4476750"/>
            <a:ext cx="166878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E523F8D-364A-4937-8E2C-3379805B1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5155" y="4648200"/>
            <a:ext cx="140208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BFF"/>
                </a:solidFill>
              </a:defRPr>
            </a:pPr>
            <a:r>
              <a:rPr sz="1500" b="1">
                <a:solidFill>
                  <a:srgbClr val="F8FBFF"/>
                </a:solidFill>
              </a:rPr>
              <a:t>Velocity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916EC4-9F6C-41D5-856D-A93E38DD8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6785" y="4762500"/>
            <a:ext cx="285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28F3CA-08EC-4ACA-BD49-FE791865D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8735" y="4476750"/>
            <a:ext cx="166878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416268EA-25A6-41FC-9C55-60684EA36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2085" y="4648200"/>
            <a:ext cx="140208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BFF"/>
                </a:solidFill>
              </a:defRPr>
            </a:pPr>
            <a:r>
              <a:rPr sz="1500" b="1">
                <a:solidFill>
                  <a:srgbClr val="F8FBFF"/>
                </a:solidFill>
              </a:rPr>
              <a:t>Variety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E6B3A4-8CD8-4E33-9C70-86AE66434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3715" y="4762500"/>
            <a:ext cx="285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923565-D813-4535-A4BC-EBF3F62F2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5665" y="4476750"/>
            <a:ext cx="166878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8864DD36-B0FA-439E-8595-256A34D54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9015" y="4648200"/>
            <a:ext cx="140208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BFF"/>
                </a:solidFill>
              </a:defRPr>
            </a:pPr>
            <a:r>
              <a:rPr sz="1500" b="1">
                <a:solidFill>
                  <a:srgbClr val="F8FBFF"/>
                </a:solidFill>
              </a:rPr>
              <a:t>Complexity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28131C-3B28-443D-B223-B0EFF05E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0645" y="4762500"/>
            <a:ext cx="285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774639-7CBE-4647-9769-B83410C67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2595" y="4476750"/>
            <a:ext cx="166878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906F7F6F-648A-45C6-869F-0C7FBAAD5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5945" y="4648200"/>
            <a:ext cx="140208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BFF"/>
                </a:solidFill>
              </a:defRPr>
            </a:pPr>
            <a:r>
              <a:rPr sz="1500" b="1">
                <a:solidFill>
                  <a:srgbClr val="F8FBFF"/>
                </a:solidFill>
              </a:rPr>
              <a:t>Analytics</a:t>
            </a:r>
          </a:p>
        </p:txBody>
      </p:sp>
    </p:spTree>
    <p:extLst>
      <p:ext uri="{BB962C8B-B14F-4D97-AF65-F5344CB8AC3E}">
        <p14:creationId xmlns:p14="http://schemas.microsoft.com/office/powerpoint/2010/main" val="100298977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E62FA2-10E1-4305-8EC4-2BAC1E8CE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B97618F-BF40-4794-AC4A-FA1B388AF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BFF"/>
                </a:solidFill>
              </a:defRPr>
            </a:pPr>
            <a:r>
              <a:rPr sz="2850" b="1">
                <a:solidFill>
                  <a:srgbClr val="F8FBFF"/>
                </a:solidFill>
              </a:rPr>
              <a:t>What is Big Data?</a:t>
            </a:r>
          </a:p>
        </p:txBody>
      </p:sp>
      <p:sp>
        <p:nvSpPr>
          <p:cNvPr id="3" name="objective">
            <a:extLst xmlns:a="http://schemas.openxmlformats.org/drawingml/2006/main">
              <a:ext uri="{FF2B5EF4-FFF2-40B4-BE49-F238E27FC236}">
                <a16:creationId xmlns:a16="http://schemas.microsoft.com/office/drawing/2014/main" id="{ADC2D680-58EF-4C83-BF09-C83175AE7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Convert the definition into an engineering mental model.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BD28D7-EA19-4BC9-AD22-30A830C00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4265CD-3C99-4504-ADFC-8A40C248D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3E75080-A2EC-4DE8-AEDB-6643B79B7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57DD199-7DC4-454F-96A3-F380215F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Big Data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724C6C5-D8B9-4ED6-81AC-7487E64C0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4A5234-EE54-435A-9B32-0DB36A30D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30480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456A98-5811-44DB-94B3-701235EBB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762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3ED4892-A279-4F9F-8CA1-C3DE3C9A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0275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5A7FF"/>
                </a:solidFill>
              </a:defRPr>
            </a:pPr>
            <a:r>
              <a:rPr sz="1800" b="1">
                <a:solidFill>
                  <a:srgbClr val="35A7FF"/>
                </a:solidFill>
              </a:rPr>
              <a:t>Too large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A4A46E5-BFA2-432A-A8BA-37DF26A06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81275"/>
            <a:ext cx="2686050" cy="1800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Data may not fit on one machine or one database.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8C3F52-03BD-4636-B76B-7F27AC29C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47875"/>
            <a:ext cx="30480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55490A-AE3A-41EE-A514-8FDA323B2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47875"/>
            <a:ext cx="762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69BFBF0-A278-431E-9A2E-A753E7E16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00275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9F1C"/>
                </a:solidFill>
              </a:defRPr>
            </a:pPr>
            <a:r>
              <a:rPr sz="1800" b="1">
                <a:solidFill>
                  <a:srgbClr val="FF9F1C"/>
                </a:solidFill>
              </a:rPr>
              <a:t>Too fast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0556995-15DF-4F3A-A67E-6B1BF1AD2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81275"/>
            <a:ext cx="2686050" cy="1800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Data may arrive faster than batch systems can process.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7232C3-2209-4F48-9704-AB56082BB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7875"/>
            <a:ext cx="30480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F5B493-400E-4D85-8376-774D6987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7875"/>
            <a:ext cx="762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D0E074D3-A363-4A6F-A225-B6B4C4907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0275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EC4B6"/>
                </a:solidFill>
              </a:defRPr>
            </a:pPr>
            <a:r>
              <a:rPr sz="1800" b="1">
                <a:solidFill>
                  <a:srgbClr val="2EC4B6"/>
                </a:solidFill>
              </a:rPr>
              <a:t>Too mixed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1F49B8F4-A2A4-4E9D-9C5F-EF7D4724F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81275"/>
            <a:ext cx="2686050" cy="1800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Data may include tables, logs, documents, images, and streams.</a:t>
            </a:r>
          </a:p>
        </p:txBody>
      </p:sp>
    </p:spTree>
    <p:extLst>
      <p:ext uri="{BB962C8B-B14F-4D97-AF65-F5344CB8AC3E}">
        <p14:creationId xmlns:p14="http://schemas.microsoft.com/office/powerpoint/2010/main" val="97777328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BD791D-34B0-4856-B497-2A784FFA9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428B336-84EB-40FA-93E2-7C33C4BFD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BFF"/>
                </a:solidFill>
              </a:defRPr>
            </a:pPr>
            <a:r>
              <a:rPr sz="2850" b="1">
                <a:solidFill>
                  <a:srgbClr val="F8FBFF"/>
                </a:solidFill>
              </a:rPr>
              <a:t>The 5Vs describe the pressure Big Data creates</a:t>
            </a:r>
          </a:p>
        </p:txBody>
      </p:sp>
      <p:sp>
        <p:nvSpPr>
          <p:cNvPr id="3" name="objective">
            <a:extLst xmlns:a="http://schemas.openxmlformats.org/drawingml/2006/main">
              <a:ext uri="{FF2B5EF4-FFF2-40B4-BE49-F238E27FC236}">
                <a16:creationId xmlns:a16="http://schemas.microsoft.com/office/drawing/2014/main" id="{8A6C9641-303A-4996-9411-2F45BF06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the standard characteristics.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5814BD-77C5-4276-A937-90EADB05A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0E8E59-3C64-42B3-9B86-F78EE9F96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DA3EBB8-D0EB-4347-8754-7650EC1DC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5189742-EF1D-4B89-9324-7FEE106DB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Big Data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D2B9424-9890-4580-96DA-FFABAA22B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DFAD6C-66E1-48DD-A8BD-A33D26A68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667000"/>
            <a:ext cx="238125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6BD2486-996E-4484-9762-92410B0B5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990850"/>
            <a:ext cx="123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07111F"/>
                </a:solidFill>
              </a:defRPr>
            </a:pPr>
            <a:r>
              <a:rPr sz="3150" b="1">
                <a:solidFill>
                  <a:srgbClr val="07111F"/>
                </a:solidFill>
              </a:rPr>
              <a:t>5Vs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BCD6D8-D56D-48F5-94AC-EFB70020D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571625"/>
            <a:ext cx="2190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3B2C41-97C9-49B5-A0DA-65EA2F3A4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571625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04C1E37-CFB9-4C9B-BFB6-144F99C0E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724025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5A7FF"/>
                </a:solidFill>
              </a:defRPr>
            </a:pPr>
            <a:r>
              <a:rPr sz="1800" b="1">
                <a:solidFill>
                  <a:srgbClr val="35A7FF"/>
                </a:solidFill>
              </a:rPr>
              <a:t>Volume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B59EF92A-2787-4D86-B9E4-92FE314D1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105025"/>
            <a:ext cx="18288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B19DAA-127C-4526-9DE0-59A60BA54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76500"/>
            <a:ext cx="2190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7CAE9A-1A9B-4549-AF11-CBF3D8337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7650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93403DDA-D892-44F8-AC32-911376C6B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2890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9F1C"/>
                </a:solidFill>
              </a:defRPr>
            </a:pPr>
            <a:r>
              <a:rPr sz="1800" b="1">
                <a:solidFill>
                  <a:srgbClr val="FF9F1C"/>
                </a:solidFill>
              </a:rPr>
              <a:t>Velocity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AA90F89-D431-4A9A-B771-345246062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009900"/>
            <a:ext cx="18288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B2E822-24C1-4E61-811F-FF8E9D9F1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762500"/>
            <a:ext cx="2190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DFF20F-2DCA-47A6-99CC-61FFCB122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76250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D3793521-4FD8-406B-B0C0-47E10536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491490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EC4B6"/>
                </a:solidFill>
              </a:defRPr>
            </a:pPr>
            <a:r>
              <a:rPr sz="1800" b="1">
                <a:solidFill>
                  <a:srgbClr val="2EC4B6"/>
                </a:solidFill>
              </a:rPr>
              <a:t>Variety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66E579C3-0C32-4FAC-804B-108EF4001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5295900"/>
            <a:ext cx="18288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B6BFFB-12BB-4F22-8330-C0A967844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762500"/>
            <a:ext cx="2190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FD0C88-0A85-4B9F-8D7F-76B117F3D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76250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0075A9A7-7FB8-48C1-83FA-7A987FCA8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91490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6B6B"/>
                </a:solidFill>
              </a:defRPr>
            </a:pPr>
            <a:r>
              <a:rPr sz="1800" b="1">
                <a:solidFill>
                  <a:srgbClr val="FF6B6B"/>
                </a:solidFill>
              </a:rPr>
              <a:t>Veracity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40042530-A41A-4095-B281-A4700C9C3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295900"/>
            <a:ext cx="18288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FD4E36-9830-4A82-A0DB-BB8F49D6E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476500"/>
            <a:ext cx="2190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8F381F-2915-442E-9DA7-18EFECDCA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47650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C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7080B89C-B93E-47BB-9BD9-E53E56F41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62890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77C8FF"/>
                </a:solidFill>
              </a:defRPr>
            </a:pPr>
            <a:r>
              <a:rPr sz="1800" b="1">
                <a:solidFill>
                  <a:srgbClr val="77C8FF"/>
                </a:solidFill>
              </a:rPr>
              <a:t>Value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45837450-F38A-492A-9A7E-7B2B83F03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009900"/>
            <a:ext cx="18288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17403120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21200B-CBAB-425E-9D1E-9BCBAB944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71F3A2B-3616-461B-B71B-07EB73A9C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BFF"/>
                </a:solidFill>
              </a:defRPr>
            </a:pPr>
            <a:r>
              <a:rPr sz="2850" b="1">
                <a:solidFill>
                  <a:srgbClr val="F8FBFF"/>
                </a:solidFill>
              </a:rPr>
              <a:t>Volume, Velocity, and Variety describe scale, speed, and shape</a:t>
            </a:r>
          </a:p>
        </p:txBody>
      </p:sp>
      <p:sp>
        <p:nvSpPr>
          <p:cNvPr id="3" name="objective">
            <a:extLst xmlns:a="http://schemas.openxmlformats.org/drawingml/2006/main">
              <a:ext uri="{FF2B5EF4-FFF2-40B4-BE49-F238E27FC236}">
                <a16:creationId xmlns:a16="http://schemas.microsoft.com/office/drawing/2014/main" id="{573A97C1-63AE-4702-B33E-ABBEDD49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Teach the first three characteristics with examples.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01EABD-C574-4357-BD0D-9A34EF363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5A0BF4-F470-4F0B-AA8C-9FA141737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56444BF-ED90-4541-A5E0-3ED125A4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6763F1F-7F70-4EBE-833B-6C5E3C90E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Big Data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7DB45F7-7D9E-4677-8E3D-A48AF4766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4E0E05-A2D1-4EEF-AABE-C70C3C84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30480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DD8274-9F00-4050-A778-61BBFA093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762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03DFB54-22A2-42E7-B9AA-819B88EED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0275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5A7FF"/>
                </a:solidFill>
              </a:defRPr>
            </a:pPr>
            <a:r>
              <a:rPr sz="1800" b="1">
                <a:solidFill>
                  <a:srgbClr val="35A7FF"/>
                </a:solidFill>
              </a:rPr>
              <a:t>Volume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8C30454-1194-470F-98FD-32090B3AA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81275"/>
            <a:ext cx="2686050" cy="1800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Large quantities: logs, videos, transactions, sensor readings.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067D15-81B9-4104-9D17-F4256226D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47875"/>
            <a:ext cx="30480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50645F-4D3F-4061-AE71-14F833F14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47875"/>
            <a:ext cx="762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0C18FAF-9CFD-4FFE-B3FE-253BEC379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00275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9F1C"/>
                </a:solidFill>
              </a:defRPr>
            </a:pPr>
            <a:r>
              <a:rPr sz="1800" b="1">
                <a:solidFill>
                  <a:srgbClr val="FF9F1C"/>
                </a:solidFill>
              </a:rPr>
              <a:t>Velocity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5FF8C2EB-CEA4-4118-987C-43E3754BF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81275"/>
            <a:ext cx="2686050" cy="1800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Rapid arrival: live clicks, stock prices, fraud signals.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45F52E-ED38-4FE5-B588-E20435E0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7875"/>
            <a:ext cx="30480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25CEB0-27B9-4427-8F28-B6CEB140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7875"/>
            <a:ext cx="762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9B8A1C5F-1288-473E-9EFD-5D41A2452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0275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EC4B6"/>
                </a:solidFill>
              </a:defRPr>
            </a:pPr>
            <a:r>
              <a:rPr sz="1800" b="1">
                <a:solidFill>
                  <a:srgbClr val="2EC4B6"/>
                </a:solidFill>
              </a:rPr>
              <a:t>Variety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06000094-B033-43EA-BC38-DCF02C64B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81275"/>
            <a:ext cx="2686050" cy="1800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Different formats: tables, JSON, text, images, audio.</a:t>
            </a:r>
          </a:p>
        </p:txBody>
      </p:sp>
    </p:spTree>
    <p:extLst>
      <p:ext uri="{BB962C8B-B14F-4D97-AF65-F5344CB8AC3E}">
        <p14:creationId xmlns:p14="http://schemas.microsoft.com/office/powerpoint/2010/main" val="56745260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E74D8F-051D-4AD5-804C-7244F540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56CC01D-A357-4938-A981-1C102B974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BFF"/>
                </a:solidFill>
              </a:defRPr>
            </a:pPr>
            <a:r>
              <a:rPr sz="2850" b="1">
                <a:solidFill>
                  <a:srgbClr val="F8FBFF"/>
                </a:solidFill>
              </a:rPr>
              <a:t>Veracity and Value decide whether analytics is trustworthy</a:t>
            </a:r>
          </a:p>
        </p:txBody>
      </p:sp>
      <p:sp>
        <p:nvSpPr>
          <p:cNvPr id="3" name="objective">
            <a:extLst xmlns:a="http://schemas.openxmlformats.org/drawingml/2006/main">
              <a:ext uri="{FF2B5EF4-FFF2-40B4-BE49-F238E27FC236}">
                <a16:creationId xmlns:a16="http://schemas.microsoft.com/office/drawing/2014/main" id="{4501D550-ADB2-46A7-964F-6F61C4C2F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that data quality and usefulness matter.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EB3207-512B-4303-B155-453E5D4E8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21F4C2-7F3A-4385-82C5-765FF7816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09E05FA-8CA7-443C-8A46-FF5C58398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BD9295F-A6BB-4542-A078-CC3064974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Big Data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B243B3F-70D7-4859-BC38-D2AD82E5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1CAC5A-2EC2-4247-8632-F6573B6BF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95500"/>
            <a:ext cx="4476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4692FA-B1F4-47C7-972E-D14D41C36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9550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FF7453D-F098-458A-8724-6A7341AA5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247900"/>
            <a:ext cx="411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5A7FF"/>
                </a:solidFill>
              </a:defRPr>
            </a:pPr>
            <a:r>
              <a:rPr sz="1800" b="1">
                <a:solidFill>
                  <a:srgbClr val="35A7FF"/>
                </a:solidFill>
              </a:rPr>
              <a:t>Veracity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154F894-BF80-4F73-A2D2-5C6C99D4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628900"/>
            <a:ext cx="411480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Noise, missing values, bias, duplicates, uncertain sources.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241BB2-F9B9-4E80-8665-75F8D9190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095500"/>
            <a:ext cx="4476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474B9A-A04F-42C1-9511-B7C0BAD98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09550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1928933-C0F3-4CFB-B55F-B50A86101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247900"/>
            <a:ext cx="411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9F1C"/>
                </a:solidFill>
              </a:defRPr>
            </a:pPr>
            <a:r>
              <a:rPr sz="1800" b="1">
                <a:solidFill>
                  <a:srgbClr val="FF9F1C"/>
                </a:solidFill>
              </a:rPr>
              <a:t>Value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76B9D99-24FA-43B9-AC95-336020FB4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628900"/>
            <a:ext cx="411480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Useful insight, better decisions, automation, prediction, optimization.</a:t>
            </a:r>
          </a:p>
        </p:txBody>
      </p:sp>
    </p:spTree>
    <p:extLst>
      <p:ext uri="{BB962C8B-B14F-4D97-AF65-F5344CB8AC3E}">
        <p14:creationId xmlns:p14="http://schemas.microsoft.com/office/powerpoint/2010/main" val="118805792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37762D-29B5-4EF2-BBAA-32AE595C6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1044B05-CF89-4672-8D82-EDBB89A2E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BFF"/>
                </a:solidFill>
              </a:defRPr>
            </a:pPr>
            <a:r>
              <a:rPr sz="2850" b="1">
                <a:solidFill>
                  <a:srgbClr val="F8FBFF"/>
                </a:solidFill>
              </a:rPr>
              <a:t>Why Big Data?</a:t>
            </a:r>
          </a:p>
        </p:txBody>
      </p:sp>
      <p:sp>
        <p:nvSpPr>
          <p:cNvPr id="3" name="objective">
            <a:extLst xmlns:a="http://schemas.openxmlformats.org/drawingml/2006/main">
              <a:ext uri="{FF2B5EF4-FFF2-40B4-BE49-F238E27FC236}">
                <a16:creationId xmlns:a16="http://schemas.microsoft.com/office/drawing/2014/main" id="{9EF53B27-43AF-4DF3-9E8B-9C5C66346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Link Big Data to decisions that were previously impossible or slow.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4C8B54-3E13-4A43-841B-2585A0F1A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51401E-C880-411C-9520-A5AB50297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82A9FAB-EE96-4EFE-B071-74FCC54E5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A119C13-B36D-439B-AC87-CEE8B3DDD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Big Data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7DAC605-4265-4FB2-8F37-D25D20844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2752E0-6C73-4BF6-B62F-63E15B691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B937A5A-5E32-4F78-820C-B524C4930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EE1CCD8-5394-44B4-BD75-14CFFEFD7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16954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8FBFF"/>
                </a:solidFill>
              </a:defRPr>
            </a:pPr>
            <a:r>
              <a:rPr sz="1800">
                <a:solidFill>
                  <a:srgbClr val="F8FBFF"/>
                </a:solidFill>
              </a:rPr>
              <a:t>Detect patterns across millions of records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D4CDE3-4FA3-459E-AE8A-39EA486CE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3E23739-0843-490C-AC9F-F0B6C26D8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7EA0FD1A-44F7-41E5-9A01-8E4A87C92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2098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8FBFF"/>
                </a:solidFill>
              </a:defRPr>
            </a:pPr>
            <a:r>
              <a:rPr sz="1800">
                <a:solidFill>
                  <a:srgbClr val="F8FBFF"/>
                </a:solidFill>
              </a:rPr>
              <a:t>Personalize recommendations at user level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061DEE-1259-44DF-B49D-1C4D2737E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B0899949-95BB-4591-BB65-DE14C8A8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F27300B9-13CC-4899-975B-356F03244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7241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8FBFF"/>
                </a:solidFill>
              </a:defRPr>
            </a:pPr>
            <a:r>
              <a:rPr sz="1800">
                <a:solidFill>
                  <a:srgbClr val="F8FBFF"/>
                </a:solidFill>
              </a:rPr>
              <a:t>Monitor systems in near real time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5DAA98-BBA6-495E-8843-EACE77413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C7486C03-5CF0-4F31-AA70-F5E5980B2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B0E529A2-4F4F-4E94-AFE8-4EA4CEBF7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2385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8FBFF"/>
                </a:solidFill>
              </a:defRPr>
            </a:pPr>
            <a:r>
              <a:rPr sz="1800">
                <a:solidFill>
                  <a:srgbClr val="F8FBFF"/>
                </a:solidFill>
              </a:rPr>
              <a:t>Predict failures, risk, demand, or fraud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28E107-C0C7-4335-B307-27224C227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78617BCE-8E15-42E5-8DF6-ACE4914E3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BA154CA2-A909-46DC-A979-BD5BB0551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7528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8FBFF"/>
                </a:solidFill>
              </a:defRPr>
            </a:pPr>
            <a:r>
              <a:rPr sz="1800">
                <a:solidFill>
                  <a:srgbClr val="F8FBFF"/>
                </a:solidFill>
              </a:rPr>
              <a:t>Discover new knowledge from mixed datasets</a:t>
            </a:r>
          </a:p>
        </p:txBody>
      </p:sp>
    </p:spTree>
    <p:extLst>
      <p:ext uri="{BB962C8B-B14F-4D97-AF65-F5344CB8AC3E}">
        <p14:creationId xmlns:p14="http://schemas.microsoft.com/office/powerpoint/2010/main" val="165256781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3EA5E4-5027-46D7-991B-BC66109DF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81C8675-5417-4987-BADF-A5DE9E94F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BFF"/>
                </a:solidFill>
              </a:defRPr>
            </a:pPr>
            <a:r>
              <a:rPr sz="2850" b="1">
                <a:solidFill>
                  <a:srgbClr val="F8FBFF"/>
                </a:solidFill>
              </a:rPr>
              <a:t>Big Data advantages come from scale plus analytics</a:t>
            </a:r>
          </a:p>
        </p:txBody>
      </p:sp>
      <p:sp>
        <p:nvSpPr>
          <p:cNvPr id="3" name="objective">
            <a:extLst xmlns:a="http://schemas.openxmlformats.org/drawingml/2006/main">
              <a:ext uri="{FF2B5EF4-FFF2-40B4-BE49-F238E27FC236}">
                <a16:creationId xmlns:a16="http://schemas.microsoft.com/office/drawing/2014/main" id="{0A1B73BC-A906-4965-9497-85DC276A2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Summarize benefits without overselling.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013B44-1C75-422C-B624-04ECAB2A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2856B8-8C85-4220-9E7F-13EC74C67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D779637-2F94-4643-BACD-A3FCA5A7C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44F2CB8-8371-4B36-AD31-28E3EE132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Big Data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B93DDF6-2504-4A75-BCAA-068B39BD9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51E218-E5FE-492B-BA64-8784B5432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5225B9-D3B0-4E7B-9183-A3DE2B897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1407D8C-85BB-442D-A347-5AA62CD82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62150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5A7FF"/>
                </a:solidFill>
              </a:defRPr>
            </a:pPr>
            <a:r>
              <a:rPr sz="1800" b="1">
                <a:solidFill>
                  <a:srgbClr val="35A7FF"/>
                </a:solidFill>
              </a:rPr>
              <a:t>Better decisions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80FA75A-816B-4758-88CE-8896BF009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43150"/>
            <a:ext cx="40195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Evidence from more complete data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42EE84-09B0-48F6-8F0B-7E0861ECA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4B096A-A7A7-4779-A687-689868262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E96CA5D-A6AB-47A7-AE50-C1CA45DD9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62150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9F1C"/>
                </a:solidFill>
              </a:defRPr>
            </a:pPr>
            <a:r>
              <a:rPr sz="1800" b="1">
                <a:solidFill>
                  <a:srgbClr val="FF9F1C"/>
                </a:solidFill>
              </a:rPr>
              <a:t>Faster response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D32C40C-35F2-4E2B-B5BC-EF45EF4AE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43150"/>
            <a:ext cx="40195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Near real-time alerts and dashboards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3F6A26-2874-4964-997F-17A5FC95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54D62A-AA22-4AA5-A297-37276AE07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31F813B8-1B41-41A5-98CB-76EDE82B0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71900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5A7FF"/>
                </a:solidFill>
              </a:defRPr>
            </a:pPr>
            <a:r>
              <a:rPr sz="1800" b="1">
                <a:solidFill>
                  <a:srgbClr val="35A7FF"/>
                </a:solidFill>
              </a:rPr>
              <a:t>Personalization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299050DC-6FB5-493D-BD1F-65E816078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52900"/>
            <a:ext cx="40195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User-level recommendations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E0E5AC-7B2A-4D75-A716-4A7CC1939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AADB7A-3887-477E-8658-E70832EDD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FAAC592A-6A03-4E0E-9A1D-6EF6D9670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71900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9F1C"/>
                </a:solidFill>
              </a:defRPr>
            </a:pPr>
            <a:r>
              <a:rPr sz="1800" b="1">
                <a:solidFill>
                  <a:srgbClr val="FF9F1C"/>
                </a:solidFill>
              </a:rPr>
              <a:t>Innovation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A97E9335-E90D-4905-9BE9-2EF3B0D16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52900"/>
            <a:ext cx="40195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New products from data-driven insight</a:t>
            </a:r>
          </a:p>
        </p:txBody>
      </p:sp>
    </p:spTree>
    <p:extLst>
      <p:ext uri="{BB962C8B-B14F-4D97-AF65-F5344CB8AC3E}">
        <p14:creationId xmlns:p14="http://schemas.microsoft.com/office/powerpoint/2010/main" val="142279932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80B96E4-1DDC-45F0-BFF7-7BC9DEC2D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844CECA-1C61-4A2C-B8A3-1C7A57A2F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BFF"/>
                </a:solidFill>
              </a:defRPr>
            </a:pPr>
            <a:r>
              <a:rPr sz="2850" b="1">
                <a:solidFill>
                  <a:srgbClr val="F8FBFF"/>
                </a:solidFill>
              </a:rPr>
              <a:t>Big Data challenges are engineering and governance problems</a:t>
            </a:r>
          </a:p>
        </p:txBody>
      </p:sp>
      <p:sp>
        <p:nvSpPr>
          <p:cNvPr id="3" name="objective">
            <a:extLst xmlns:a="http://schemas.openxmlformats.org/drawingml/2006/main">
              <a:ext uri="{FF2B5EF4-FFF2-40B4-BE49-F238E27FC236}">
                <a16:creationId xmlns:a16="http://schemas.microsoft.com/office/drawing/2014/main" id="{E5B2A3A0-1AC2-4C18-B23B-BC7C31D07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Cover limitations and risks.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E289CB-2DC6-4A99-83D0-03C728F89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1EB3DA-4AC5-434F-B5E2-843AAFC7F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5D21085-090C-4AC1-8E5C-7157E10A4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4EF1423-FC14-4069-BCAB-D55073EF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Big Data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56398A3-4AED-4BC6-B1FB-9645D99C9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C81A2B-FD79-48D6-9916-1C894A0E4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62125"/>
            <a:ext cx="285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5A31C4-A824-4604-A8B7-83FBE775B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62125"/>
            <a:ext cx="762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B97AF982-1A1C-45CC-A4FE-9E8E38B3E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1914525"/>
            <a:ext cx="2495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6B6B"/>
                </a:solidFill>
              </a:defRPr>
            </a:pPr>
            <a:r>
              <a:rPr sz="1800" b="1">
                <a:solidFill>
                  <a:srgbClr val="FF6B6B"/>
                </a:solidFill>
              </a:rPr>
              <a:t>Storage cost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30751E5-D495-4E43-B07B-066D8A37F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295525"/>
            <a:ext cx="2495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21AC75-9344-4833-98F7-AD02B4877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62125"/>
            <a:ext cx="285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1668AC-261C-4E34-8F9B-22B91BE1E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62125"/>
            <a:ext cx="762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DFEC016-CC74-4159-9EDE-153E2AB74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914525"/>
            <a:ext cx="2495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9F1C"/>
                </a:solidFill>
              </a:defRPr>
            </a:pPr>
            <a:r>
              <a:rPr sz="1800" b="1">
                <a:solidFill>
                  <a:srgbClr val="FF9F1C"/>
                </a:solidFill>
              </a:rPr>
              <a:t>Processing complexity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E0030F9-749C-43AE-AEFA-26641461A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95525"/>
            <a:ext cx="2495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9B00AD-4638-4CC1-8D6F-255ECAB4A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62125"/>
            <a:ext cx="285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92288E-94E2-4AC8-B59A-E4A7EA664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62125"/>
            <a:ext cx="762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677455FA-D916-411B-A8E7-AE0631291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914525"/>
            <a:ext cx="2495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5A7FF"/>
                </a:solidFill>
              </a:defRPr>
            </a:pPr>
            <a:r>
              <a:rPr sz="1800" b="1">
                <a:solidFill>
                  <a:srgbClr val="35A7FF"/>
                </a:solidFill>
              </a:rPr>
              <a:t>Data quality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F95F993B-5E25-4EF4-839C-3E878D59A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295525"/>
            <a:ext cx="2495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3060E2-F8EB-443B-8B1B-98D795813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33750"/>
            <a:ext cx="285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774FF4-0E86-4CD3-B468-7877471EB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33750"/>
            <a:ext cx="762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A3866F1C-1F04-475F-B6D9-59601EA64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486150"/>
            <a:ext cx="2495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EC4B6"/>
                </a:solidFill>
              </a:defRPr>
            </a:pPr>
            <a:r>
              <a:rPr sz="1800" b="1">
                <a:solidFill>
                  <a:srgbClr val="2EC4B6"/>
                </a:solidFill>
              </a:rPr>
              <a:t>Security/privacy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D55AA490-8B51-4060-9F09-3DEE9F411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867150"/>
            <a:ext cx="2495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12AA13-6756-4101-8945-0B27B4300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33750"/>
            <a:ext cx="285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132B9C-3E66-4B3D-B0D5-6030962BD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33750"/>
            <a:ext cx="762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C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09CEE033-B0C3-498C-85F7-EDAF22E7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86150"/>
            <a:ext cx="2495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77C8FF"/>
                </a:solidFill>
              </a:defRPr>
            </a:pPr>
            <a:r>
              <a:rPr sz="1800" b="1">
                <a:solidFill>
                  <a:srgbClr val="77C8FF"/>
                </a:solidFill>
              </a:rPr>
              <a:t>Skill gap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0BA857A4-4E35-4BD8-A315-DCC96B4B1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867150"/>
            <a:ext cx="2495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52B7C0-84D5-43F8-B118-295D1F0B3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333750"/>
            <a:ext cx="285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E6364A-65AF-4DBB-9792-8BD97DFF4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333750"/>
            <a:ext cx="762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A485BE2A-CD70-42D9-B7D1-E8EDE301C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486150"/>
            <a:ext cx="2495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BF69"/>
                </a:solidFill>
              </a:defRPr>
            </a:pPr>
            <a:r>
              <a:rPr sz="1800" b="1">
                <a:solidFill>
                  <a:srgbClr val="FFBF69"/>
                </a:solidFill>
              </a:rPr>
              <a:t>Tool integration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FF5177EB-8228-4CBB-A3FA-294F8A50E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867150"/>
            <a:ext cx="2495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99885212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9C0824-5AA8-434A-8755-267A82D8C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3291098-47F8-4AF6-9C42-4DBE0D90B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BFF"/>
                </a:solidFill>
              </a:defRPr>
            </a:pPr>
            <a:r>
              <a:rPr sz="2850" b="1">
                <a:solidFill>
                  <a:srgbClr val="F8FBFF"/>
                </a:solidFill>
              </a:rPr>
              <a:t>Common mistakes: Big Data is not just a bigger spreadsheet</a:t>
            </a:r>
          </a:p>
        </p:txBody>
      </p:sp>
      <p:sp>
        <p:nvSpPr>
          <p:cNvPr id="3" name="objective">
            <a:extLst xmlns:a="http://schemas.openxmlformats.org/drawingml/2006/main">
              <a:ext uri="{FF2B5EF4-FFF2-40B4-BE49-F238E27FC236}">
                <a16:creationId xmlns:a16="http://schemas.microsoft.com/office/drawing/2014/main" id="{378412B8-3C33-44BF-BB4D-FB163E79F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Correct misconceptions before moving to architecture.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971552-D923-48B2-B701-19E95DB2C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72A5E4-E1D0-4577-8788-70FF84352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2B684BA-1CFB-4D27-8419-6836947AB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C53DE93-6AAE-4FB2-9ADE-B6CB3FF6A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Big Data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804F0A2-36F7-4FBC-B24C-104398F4A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8CECD3-C39D-4D65-BAE9-700E8EE7D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762125"/>
            <a:ext cx="4476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824BA8-03DA-461C-A170-8A52B31A6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762125"/>
            <a:ext cx="76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88F97AB-252B-4F9F-88D4-3A29A7DFA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1914525"/>
            <a:ext cx="411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6B6B"/>
                </a:solidFill>
              </a:defRPr>
            </a:pPr>
            <a:r>
              <a:rPr sz="1800" b="1">
                <a:solidFill>
                  <a:srgbClr val="FF6B6B"/>
                </a:solidFill>
              </a:rPr>
              <a:t>Mistake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1D5B225-8F9D-48F8-A6B3-6DE377389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295525"/>
            <a:ext cx="4114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Thinking size alone defines Big Data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4C5017-3F50-48EC-8B41-8C0475798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62125"/>
            <a:ext cx="4476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AF4981-53D5-4048-976F-FE580480A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62125"/>
            <a:ext cx="76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BCF8F76-6254-4477-9847-84AECC44A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14525"/>
            <a:ext cx="411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EC4B6"/>
                </a:solidFill>
              </a:defRPr>
            </a:pPr>
            <a:r>
              <a:rPr sz="1800" b="1">
                <a:solidFill>
                  <a:srgbClr val="2EC4B6"/>
                </a:solidFill>
              </a:rPr>
              <a:t>Clarify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814B21E-9759-4868-B5E7-8C9D9BB8B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95525"/>
            <a:ext cx="4114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Architecture changes because of volume, velocity, variety, and complexity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A6B367-F76B-484D-B2EA-996C9D642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381375"/>
            <a:ext cx="4476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004D70-231D-492F-A406-F7C91AF76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381375"/>
            <a:ext cx="76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996AA6B2-3068-450D-B3CA-B8CFE32C5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533775"/>
            <a:ext cx="411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6B6B"/>
                </a:solidFill>
              </a:defRPr>
            </a:pPr>
            <a:r>
              <a:rPr sz="1800" b="1">
                <a:solidFill>
                  <a:srgbClr val="FF6B6B"/>
                </a:solidFill>
              </a:rPr>
              <a:t>Mistake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C8C41413-1184-4615-ABDA-DF37630A5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914775"/>
            <a:ext cx="4114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Assuming more data always means better truth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B5A3EF-C738-425A-AFAA-D5D894960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81375"/>
            <a:ext cx="4476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EED00E-9878-4823-B338-05D00CD29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81375"/>
            <a:ext cx="76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6B616A0F-3C41-48A7-8452-3A427975D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533775"/>
            <a:ext cx="411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EC4B6"/>
                </a:solidFill>
              </a:defRPr>
            </a:pPr>
            <a:r>
              <a:rPr sz="1800" b="1">
                <a:solidFill>
                  <a:srgbClr val="2EC4B6"/>
                </a:solidFill>
              </a:rPr>
              <a:t>Clarify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6DD944DC-F5D6-465E-9363-B81745246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14775"/>
            <a:ext cx="4114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Bad data quality can amplify wrong conclusions</a:t>
            </a:r>
          </a:p>
        </p:txBody>
      </p:sp>
    </p:spTree>
    <p:extLst>
      <p:ext uri="{BB962C8B-B14F-4D97-AF65-F5344CB8AC3E}">
        <p14:creationId xmlns:p14="http://schemas.microsoft.com/office/powerpoint/2010/main" val="196943083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C6CCF9-48FB-465C-9F68-5AE784F3C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739B6C0-01B5-4003-B8C4-E83D13ACF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BFF"/>
                </a:solidFill>
              </a:defRPr>
            </a:pPr>
            <a:r>
              <a:rPr sz="2850" b="1">
                <a:solidFill>
                  <a:srgbClr val="F8FBFF"/>
                </a:solidFill>
              </a:rPr>
              <a:t>Traditional BI answers known questions from curated data</a:t>
            </a:r>
          </a:p>
        </p:txBody>
      </p:sp>
      <p:sp>
        <p:nvSpPr>
          <p:cNvPr id="3" name="objective">
            <a:extLst xmlns:a="http://schemas.openxmlformats.org/drawingml/2006/main">
              <a:ext uri="{FF2B5EF4-FFF2-40B4-BE49-F238E27FC236}">
                <a16:creationId xmlns:a16="http://schemas.microsoft.com/office/drawing/2014/main" id="{8BA24726-1566-463E-A1CE-1550D1647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Introduce BI before comparing it with Big Data.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5B166C-4F67-4BF6-A2E1-1DE9E9DE6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D25639-A1A3-4D5C-AFDB-FA1377131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B7460E6-485C-4270-81D0-2418199B3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A5EB7E4-D727-4692-9BB7-AFE4243DA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BI vs Big Data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7EE6028-AD54-4FD5-A34A-F2A560DB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78F0DB-0BB5-418F-9C5D-C25D90454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19375"/>
            <a:ext cx="2243138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7067522-DAE0-4E95-ADAE-2F7C3DD32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90825"/>
            <a:ext cx="1976438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BFF"/>
                </a:solidFill>
              </a:defRPr>
            </a:pPr>
            <a:r>
              <a:rPr sz="1500" b="1">
                <a:solidFill>
                  <a:srgbClr val="F8FBFF"/>
                </a:solidFill>
              </a:rPr>
              <a:t>Operational DB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4BC1CA-FC06-4A73-B8DC-15F68A739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1838" y="2905125"/>
            <a:ext cx="285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5B5589-7B4B-4433-BBEC-A6AEDD509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788" y="2619375"/>
            <a:ext cx="2243138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71796B8-6F75-4424-A42B-84A560046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7138" y="2790825"/>
            <a:ext cx="1976438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BFF"/>
                </a:solidFill>
              </a:defRPr>
            </a:pPr>
            <a:r>
              <a:rPr sz="1500" b="1">
                <a:solidFill>
                  <a:srgbClr val="F8FBFF"/>
                </a:solidFill>
              </a:rPr>
              <a:t>ETL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DF1A4A-B744-40FE-9ECF-BC45EADF6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905125"/>
            <a:ext cx="285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A245D8-FB07-4CC8-BBF5-F50B86215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619375"/>
            <a:ext cx="2243138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2B1FBDC-A15F-410B-858D-4296ED11C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790825"/>
            <a:ext cx="1976438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BFF"/>
                </a:solidFill>
              </a:defRPr>
            </a:pPr>
            <a:r>
              <a:rPr sz="1500" b="1">
                <a:solidFill>
                  <a:srgbClr val="F8FBFF"/>
                </a:solidFill>
              </a:rPr>
              <a:t>Data warehouse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8BB3FB-145B-496E-A547-EE310F505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4413" y="2905125"/>
            <a:ext cx="285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9D7D9D-A349-4FE4-899E-F79AD5F3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6363" y="2619375"/>
            <a:ext cx="2243138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183ABF18-5F36-452E-A551-E4BB199ED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9713" y="2790825"/>
            <a:ext cx="1976438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BFF"/>
                </a:solidFill>
              </a:defRPr>
            </a:pPr>
            <a:r>
              <a:rPr sz="1500" b="1">
                <a:solidFill>
                  <a:srgbClr val="F8FBFF"/>
                </a:solidFill>
              </a:rPr>
              <a:t>Reports / dashboards</a:t>
            </a:r>
          </a:p>
        </p:txBody>
      </p:sp>
    </p:spTree>
    <p:extLst>
      <p:ext uri="{BB962C8B-B14F-4D97-AF65-F5344CB8AC3E}">
        <p14:creationId xmlns:p14="http://schemas.microsoft.com/office/powerpoint/2010/main" val="150544977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9F47A4-F9BE-4A37-9CBE-E53EF4B47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7277ECB-4C1D-4C4A-A017-A864E6A0B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BFF"/>
                </a:solidFill>
              </a:defRPr>
            </a:pPr>
            <a:r>
              <a:rPr sz="2850" b="1">
                <a:solidFill>
                  <a:srgbClr val="F8FBFF"/>
                </a:solidFill>
              </a:rPr>
              <a:t>BI begins with a business question and a stable schema</a:t>
            </a:r>
          </a:p>
        </p:txBody>
      </p:sp>
      <p:sp>
        <p:nvSpPr>
          <p:cNvPr id="3" name="objective">
            <a:extLst xmlns:a="http://schemas.openxmlformats.org/drawingml/2006/main">
              <a:ext uri="{FF2B5EF4-FFF2-40B4-BE49-F238E27FC236}">
                <a16:creationId xmlns:a16="http://schemas.microsoft.com/office/drawing/2014/main" id="{432E4470-58F4-494B-B47F-88F79BB6B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the traditional workflow.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4A1675-8C03-4B42-8558-719A8B459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AF092A-6596-4F49-AFAD-497DC3C49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3D2E855-242F-489E-A0AD-B67A9B8C0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2709405-14BF-48FB-B3D3-F598CEF31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BI vs Big Data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D030745-3E69-4E2E-848A-93E3DA9BB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D1B6F8-AABE-450A-89A5-E29551888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0"/>
            <a:ext cx="185928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D4CD51C-88AD-458F-B95D-0EC50790E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28950"/>
            <a:ext cx="159258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BFF"/>
                </a:solidFill>
              </a:defRPr>
            </a:pPr>
            <a:r>
              <a:rPr sz="1500" b="1">
                <a:solidFill>
                  <a:srgbClr val="F8FBFF"/>
                </a:solidFill>
              </a:rPr>
              <a:t>Define metrics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957E3E-E7F4-4017-8187-347118DD5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6980" y="3143250"/>
            <a:ext cx="285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8D7A9C-8C48-4F0A-8BFB-8470833D3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8930" y="2857500"/>
            <a:ext cx="185928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39C5898-6ED3-45DD-BF92-1E4FBE05A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2280" y="3028950"/>
            <a:ext cx="159258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BFF"/>
                </a:solidFill>
              </a:defRPr>
            </a:pPr>
            <a:r>
              <a:rPr sz="1500" b="1">
                <a:solidFill>
                  <a:srgbClr val="F8FBFF"/>
                </a:solidFill>
              </a:rPr>
              <a:t>Extract data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01F7F4-D3B1-491C-A840-0693B9AE4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4410" y="3143250"/>
            <a:ext cx="285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B758D9-BC31-4411-9755-72675D7E0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2857500"/>
            <a:ext cx="185928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5577D55-BE6A-423D-9996-3384A80AA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9710" y="3028950"/>
            <a:ext cx="159258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BFF"/>
                </a:solidFill>
              </a:defRPr>
            </a:pPr>
            <a:r>
              <a:rPr sz="1500" b="1">
                <a:solidFill>
                  <a:srgbClr val="F8FBFF"/>
                </a:solidFill>
              </a:rPr>
              <a:t>Clean &amp; transform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5331EF-90F4-4684-BEE9-9E5762774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1840" y="3143250"/>
            <a:ext cx="285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D6D2FE-6A1A-4847-870D-A9805DEB8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790" y="2857500"/>
            <a:ext cx="185928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C71EFD5D-A172-4DC6-BD33-7AA5E9211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7140" y="3028950"/>
            <a:ext cx="159258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BFF"/>
                </a:solidFill>
              </a:defRPr>
            </a:pPr>
            <a:r>
              <a:rPr sz="1500" b="1">
                <a:solidFill>
                  <a:srgbClr val="F8FBFF"/>
                </a:solidFill>
              </a:rPr>
              <a:t>Load warehouse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379648-E2AC-484F-B4EF-6FA5B0B68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9270" y="3143250"/>
            <a:ext cx="285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C20E4E-B467-44E5-91D3-8E22CA4C9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1220" y="2857500"/>
            <a:ext cx="185928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1A3BD1B5-E5EB-48BF-BDD6-396BAA1B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4570" y="3028950"/>
            <a:ext cx="159258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BFF"/>
                </a:solidFill>
              </a:defRPr>
            </a:pPr>
            <a:r>
              <a:rPr sz="1500" b="1">
                <a:solidFill>
                  <a:srgbClr val="F8FBFF"/>
                </a:solidFill>
              </a:rPr>
              <a:t>Query reports</a:t>
            </a:r>
          </a:p>
        </p:txBody>
      </p:sp>
    </p:spTree>
    <p:extLst>
      <p:ext uri="{BB962C8B-B14F-4D97-AF65-F5344CB8AC3E}">
        <p14:creationId xmlns:p14="http://schemas.microsoft.com/office/powerpoint/2010/main" val="210943299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DDDD22-C5F9-44BC-8BE8-4FA43F7FC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492E073-7E9D-455E-9103-9CE57C253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BFF"/>
                </a:solidFill>
              </a:defRPr>
            </a:pPr>
            <a:r>
              <a:rPr sz="2850" b="1">
                <a:solidFill>
                  <a:srgbClr val="F8FBFF"/>
                </a:solidFill>
              </a:rPr>
              <a:t>Traditional BI struggles when data arrives fast, raw, and varied</a:t>
            </a:r>
          </a:p>
        </p:txBody>
      </p:sp>
      <p:sp>
        <p:nvSpPr>
          <p:cNvPr id="3" name="objective">
            <a:extLst xmlns:a="http://schemas.openxmlformats.org/drawingml/2006/main">
              <a:ext uri="{FF2B5EF4-FFF2-40B4-BE49-F238E27FC236}">
                <a16:creationId xmlns:a16="http://schemas.microsoft.com/office/drawing/2014/main" id="{BDCA589A-84F7-4291-AE94-26E2563B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limitations without dismissing BI.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ABD929-D9D1-406B-BE55-57965E581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2B41D6-FCE5-4314-8B36-9DAD8E7AE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1E68DC4-9A95-4BF9-A729-9F71D38F9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37F983B-0CE5-4F78-B6DB-F578D25EB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BI vs Big Data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2BA0B76-D22A-4275-B788-10CDA509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D564EB-1D64-4D98-ACB6-3B470AA0B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52750"/>
            <a:ext cx="155257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DC70DF2-1B44-4628-8DD0-9D118E90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124200"/>
            <a:ext cx="1285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BFF"/>
                </a:solidFill>
              </a:defRPr>
            </a:pPr>
            <a:r>
              <a:rPr sz="1500" b="1">
                <a:solidFill>
                  <a:srgbClr val="F8FBFF"/>
                </a:solidFill>
              </a:rPr>
              <a:t>Tables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5F463A-71E9-4171-9507-60891A73B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238500"/>
            <a:ext cx="285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B287CB-338E-43B3-8D76-693C47FBB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952750"/>
            <a:ext cx="155257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86F4B04-6C80-4DDA-ABDA-5FD2B37CD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124200"/>
            <a:ext cx="1285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BFF"/>
                </a:solidFill>
              </a:defRPr>
            </a:pPr>
            <a:r>
              <a:rPr sz="1500" b="1">
                <a:solidFill>
                  <a:srgbClr val="F8FBFF"/>
                </a:solidFill>
              </a:rPr>
              <a:t>ETL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5859EB-6396-47E4-8FF5-C1482FA6E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38500"/>
            <a:ext cx="285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396A0E-A98F-42B0-8BD3-3DE2185C1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952750"/>
            <a:ext cx="155257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8BDB89FB-47AE-4B10-BAA0-D2645C4BD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124200"/>
            <a:ext cx="1285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BFF"/>
                </a:solidFill>
              </a:defRPr>
            </a:pPr>
            <a:r>
              <a:rPr sz="1500" b="1">
                <a:solidFill>
                  <a:srgbClr val="F8FBFF"/>
                </a:solidFill>
              </a:rPr>
              <a:t>Warehouse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051E32-CE41-4C46-91FA-A87E3FB0D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238500"/>
            <a:ext cx="285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64CB93-4483-49CD-BE7C-1D0C63160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952750"/>
            <a:ext cx="155257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C31E730-73C9-42DE-AF1E-A142BEBDD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124200"/>
            <a:ext cx="1285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BFF"/>
                </a:solidFill>
              </a:defRPr>
            </a:pPr>
            <a:r>
              <a:rPr sz="1500" b="1">
                <a:solidFill>
                  <a:srgbClr val="F8FBFF"/>
                </a:solidFill>
              </a:rPr>
              <a:t>Reports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CDDE40-935E-4FB3-B7CC-5A0BAE5BD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28875"/>
            <a:ext cx="1809750" cy="1809750"/>
          </a:xfrm>
          <a:prstGeom xmlns:a="http://schemas.openxmlformats.org/drawingml/2006/main" prst="octagon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94C128DF-5A19-4E46-8AD9-81FA7BECC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876550"/>
            <a:ext cx="1238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8FBFF"/>
                </a:solidFill>
              </a:defRPr>
            </a:pPr>
            <a:r>
              <a:rPr sz="2250" b="1">
                <a:solidFill>
                  <a:srgbClr val="F8FBFF"/>
                </a:solidFill>
              </a:rPr>
              <a:t>Raw</a:t>
            </a:r>
          </a:p>
          <a:p xmlns:a="http://schemas.openxmlformats.org/drawingml/2006/main">
            <a:pPr algn="ctr">
              <a:defRPr sz="2250" b="1">
                <a:solidFill>
                  <a:srgbClr val="F8FBFF"/>
                </a:solidFill>
              </a:defRPr>
            </a:pPr>
            <a:r>
              <a:rPr sz="2250" b="1">
                <a:solidFill>
                  <a:srgbClr val="F8FBFF"/>
                </a:solidFill>
              </a:rPr>
              <a:t>Fast</a:t>
            </a:r>
          </a:p>
          <a:p xmlns:a="http://schemas.openxmlformats.org/drawingml/2006/main">
            <a:pPr algn="ctr">
              <a:defRPr sz="2250" b="1">
                <a:solidFill>
                  <a:srgbClr val="F8FBFF"/>
                </a:solidFill>
              </a:defRPr>
            </a:pPr>
            <a:r>
              <a:rPr sz="2250" b="1">
                <a:solidFill>
                  <a:srgbClr val="F8FBFF"/>
                </a:solidFill>
              </a:rPr>
              <a:t>Varied</a:t>
            </a:r>
          </a:p>
        </p:txBody>
      </p:sp>
    </p:spTree>
    <p:extLst>
      <p:ext uri="{BB962C8B-B14F-4D97-AF65-F5344CB8AC3E}">
        <p14:creationId xmlns:p14="http://schemas.microsoft.com/office/powerpoint/2010/main" val="29051965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80A2425-E2D8-49F7-8971-AA31DFC92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B7CB5E7-E341-40A3-B3FB-DB919ED2F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BFF"/>
                </a:solidFill>
              </a:defRPr>
            </a:pPr>
            <a:r>
              <a:rPr sz="2850" b="1">
                <a:solidFill>
                  <a:srgbClr val="F8FBFF"/>
                </a:solidFill>
              </a:rPr>
              <a:t>Traditional BI vs Big Data</a:t>
            </a:r>
          </a:p>
        </p:txBody>
      </p:sp>
      <p:sp>
        <p:nvSpPr>
          <p:cNvPr id="3" name="objective">
            <a:extLst xmlns:a="http://schemas.openxmlformats.org/drawingml/2006/main">
              <a:ext uri="{FF2B5EF4-FFF2-40B4-BE49-F238E27FC236}">
                <a16:creationId xmlns:a16="http://schemas.microsoft.com/office/drawing/2014/main" id="{C4BF40C9-4196-4224-8745-187325FF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Give the exam-ready side-by-side comparison.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21734C-1274-4350-B3D0-890984F8A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7805EF-841C-452C-A0DA-C52BB37D5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F748F16-8CD2-492B-A518-7EE97505F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348B46C-D3D1-4F1B-8AC1-680811A02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BI vs Big Data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188ABC7-1B5E-4912-98F9-1352BE9F6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9DBDA9-38A0-46F4-B6F7-210C7078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B70506-42A7-4BD4-B789-C57748F3C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5669F68-0227-4E82-A077-C64A697AF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459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5A7FF"/>
                </a:solidFill>
              </a:defRPr>
            </a:pPr>
            <a:r>
              <a:rPr sz="1800" b="1">
                <a:solidFill>
                  <a:srgbClr val="35A7FF"/>
                </a:solidFill>
              </a:rPr>
              <a:t>Traditional BI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FFBE544-0F2F-43FF-A00D-F31CFE798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4591050" cy="3371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CD6E3E-03E4-484C-B23B-D9D21EC6C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CE5315-C262-455C-BF10-4BEE0B9A3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20924725-07B5-4A28-8BC1-FD32AE613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71650"/>
            <a:ext cx="459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9F1C"/>
                </a:solidFill>
              </a:defRPr>
            </a:pPr>
            <a:r>
              <a:rPr sz="1800" b="1">
                <a:solidFill>
                  <a:srgbClr val="FF9F1C"/>
                </a:solidFill>
              </a:rPr>
              <a:t>Big Data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559DF7E-82E3-42E5-930F-A5430A83A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52650"/>
            <a:ext cx="4591050" cy="3371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77D1F0-5F31-40D7-8C29-D753DDCB6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133B37D-3BF6-4696-A2F3-33D133209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6FA2F623-5475-4E47-8E8E-FDDB3242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86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Structured data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8E63BE-D2B7-4FA6-A577-33301B432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A88B3352-82F8-468F-8A8B-CA7E3713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75C36F23-E6CF-4E2D-8E66-CD5441092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003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Schema before storage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76473A-A3CD-483D-BE4A-CA431819F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D93C8606-8C11-4C2C-AC24-95B103EF4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D42E8190-E90D-4C12-BA5E-B794D2F3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Central warehouse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5D5CAE-99B1-4D87-922F-BF0A83806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3FCAAD6F-37A5-416E-B842-51ABD8C0E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95DC47BD-D689-4F19-AEFC-D65A42DC6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290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Historical reporting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52CF0F-9E9C-4BB7-9EBC-2A476472A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815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3F13938B-0D87-4115-9A9F-CB1BEA6E0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815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6D81EB14-E688-48B7-9CF9-222CD69D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3434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Scale-up tendency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392F8A1-29A6-45ED-AD9A-40CAF0899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24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44D8CC14-EBB0-4555-9D6B-9FA2350F1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241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762A19AE-987E-4D90-B0F5-77980EC2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86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Structured + semi + unstructured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7483F9F-4FBC-4694-B4D2-DA25CA8A5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38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B8C7EC03-CB60-4F2E-A5DE-5F5C68B48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384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9EE4C95A-01D0-4EE6-B4C1-759306B54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003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Schema can be flexible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4B193ED-A578-4550-B4BE-E78B7433C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065D17C8-C633-442E-BE13-022834155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8829838D-29A6-48F2-B982-2A563C94B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147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Distributed storage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EDE4635-37B1-4271-BEB9-8A4F26965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67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text">
            <a:extLst xmlns:a="http://schemas.openxmlformats.org/drawingml/2006/main">
              <a:ext uri="{FF2B5EF4-FFF2-40B4-BE49-F238E27FC236}">
                <a16:creationId xmlns:a16="http://schemas.microsoft.com/office/drawing/2014/main" id="{25BB95DD-C706-4D8E-9155-8F5B3AD2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671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43" name="text">
            <a:extLst xmlns:a="http://schemas.openxmlformats.org/drawingml/2006/main">
              <a:ext uri="{FF2B5EF4-FFF2-40B4-BE49-F238E27FC236}">
                <a16:creationId xmlns:a16="http://schemas.microsoft.com/office/drawing/2014/main" id="{8EFFA1EB-7B4F-4A1D-9C30-F56B28660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290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Exploration + prediction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5D171FF-D345-4D06-A6D0-5F4A4FA2D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3815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text">
            <a:extLst xmlns:a="http://schemas.openxmlformats.org/drawingml/2006/main">
              <a:ext uri="{FF2B5EF4-FFF2-40B4-BE49-F238E27FC236}">
                <a16:creationId xmlns:a16="http://schemas.microsoft.com/office/drawing/2014/main" id="{41B1BC8E-2506-448F-963B-35B9E05E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3815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46" name="text">
            <a:extLst xmlns:a="http://schemas.openxmlformats.org/drawingml/2006/main">
              <a:ext uri="{FF2B5EF4-FFF2-40B4-BE49-F238E27FC236}">
                <a16:creationId xmlns:a16="http://schemas.microsoft.com/office/drawing/2014/main" id="{0AEA7DAA-38D4-48A4-A1A7-432057FF0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3434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Scale-out clusters</a:t>
            </a:r>
          </a:p>
        </p:txBody>
      </p:sp>
    </p:spTree>
    <p:extLst>
      <p:ext uri="{BB962C8B-B14F-4D97-AF65-F5344CB8AC3E}">
        <p14:creationId xmlns:p14="http://schemas.microsoft.com/office/powerpoint/2010/main" val="93408632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76F976-0E49-4B40-9584-83C95C09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9AF4CF0-F5FD-41B9-BEAA-87DF1D529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BFF"/>
                </a:solidFill>
              </a:defRPr>
            </a:pPr>
            <a:r>
              <a:rPr sz="2850" b="1">
                <a:solidFill>
                  <a:srgbClr val="F8FBFF"/>
                </a:solidFill>
              </a:rPr>
              <a:t>Use cases decide whether BI or Big Data is the better fit</a:t>
            </a:r>
          </a:p>
        </p:txBody>
      </p:sp>
      <p:sp>
        <p:nvSpPr>
          <p:cNvPr id="3" name="objective">
            <a:extLst xmlns:a="http://schemas.openxmlformats.org/drawingml/2006/main">
              <a:ext uri="{FF2B5EF4-FFF2-40B4-BE49-F238E27FC236}">
                <a16:creationId xmlns:a16="http://schemas.microsoft.com/office/drawing/2014/main" id="{7AF3BEBF-E700-4295-85E7-34049D808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Apply the comparison.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535B55-1AB4-4394-A000-082337DBB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10856C-E058-419E-BD1F-16B1842A4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F4E565E-F2BB-4536-9490-EA53F6F07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AB7AE3A-D9A6-4215-BD47-6FB33BFC6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BI vs Big Data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07DE545-7705-459E-BB12-C4C42FEA7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99087E-65AE-4A07-8DBB-E711757D8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05879B-06C2-4749-B5C1-E98CA4E09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F938FB4-07D3-491A-A983-D331ED21E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62150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5A7FF"/>
                </a:solidFill>
              </a:defRPr>
            </a:pPr>
            <a:r>
              <a:rPr sz="1800" b="1">
                <a:solidFill>
                  <a:srgbClr val="35A7FF"/>
                </a:solidFill>
              </a:rPr>
              <a:t>BI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5D35644-1A51-4C66-9F2A-C7D4E1D72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43150"/>
            <a:ext cx="40195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Quarterly revenue report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B11309-6068-4D3F-BA12-B5290411D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E51E1A-3E21-4619-967F-B5EBAC64C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93C62B17-C66D-4932-9FBC-77664DF93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62150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9F1C"/>
                </a:solidFill>
              </a:defRPr>
            </a:pPr>
            <a:r>
              <a:rPr sz="1800" b="1">
                <a:solidFill>
                  <a:srgbClr val="FF9F1C"/>
                </a:solidFill>
              </a:rPr>
              <a:t>BI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15D81D1-FBF5-4E93-90FD-235D69328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43150"/>
            <a:ext cx="40195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Inventory by warehouse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138804-C101-4795-AD3E-31D6D9BBE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ECFE20-3CB1-4062-BA7A-F3618F6B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B5930892-FD7E-4E07-9CF8-AF4C0FC32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71900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5A7FF"/>
                </a:solidFill>
              </a:defRPr>
            </a:pPr>
            <a:r>
              <a:rPr sz="1800" b="1">
                <a:solidFill>
                  <a:srgbClr val="35A7FF"/>
                </a:solidFill>
              </a:rPr>
              <a:t>Big Data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6770405C-6826-4A47-A2DF-3A6A2EC74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52900"/>
            <a:ext cx="40195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Clickstream recommendation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AAE95D-DE51-4C2C-AF65-FCC494B39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8B3A7C-F4E4-4338-A648-067472EEF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F42C0222-892F-4A42-905E-131FD1AB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71900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9F1C"/>
                </a:solidFill>
              </a:defRPr>
            </a:pPr>
            <a:r>
              <a:rPr sz="1800" b="1">
                <a:solidFill>
                  <a:srgbClr val="FF9F1C"/>
                </a:solidFill>
              </a:rPr>
              <a:t>Big Data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40F55939-BB1C-42AD-BA58-7576A3167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52900"/>
            <a:ext cx="40195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Fraud detection from transaction streams</a:t>
            </a:r>
          </a:p>
        </p:txBody>
      </p:sp>
    </p:spTree>
    <p:extLst>
      <p:ext uri="{BB962C8B-B14F-4D97-AF65-F5344CB8AC3E}">
        <p14:creationId xmlns:p14="http://schemas.microsoft.com/office/powerpoint/2010/main" val="12439993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55EF6B-8F7C-45DF-9521-6B7F26DE4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BDD2C2F-08C3-4076-B475-54F6AD0C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BFF"/>
                </a:solidFill>
              </a:defRPr>
            </a:pPr>
            <a:r>
              <a:rPr sz="2850" b="1">
                <a:solidFill>
                  <a:srgbClr val="F8FBFF"/>
                </a:solidFill>
              </a:rPr>
              <a:t>A data warehouse is the classic home of enterprise BI</a:t>
            </a:r>
          </a:p>
        </p:txBody>
      </p:sp>
      <p:sp>
        <p:nvSpPr>
          <p:cNvPr id="3" name="objective">
            <a:extLst xmlns:a="http://schemas.openxmlformats.org/drawingml/2006/main">
              <a:ext uri="{FF2B5EF4-FFF2-40B4-BE49-F238E27FC236}">
                <a16:creationId xmlns:a16="http://schemas.microsoft.com/office/drawing/2014/main" id="{1558BCEC-AD13-4F22-B90C-FF45A6D1A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Define the warehouse role.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0ADBAD-3417-49C5-840D-514A27631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63AE57-AFC1-47AD-A94A-7143C9A0F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EA7E275-E42C-4D37-A8EF-28EDE1617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CDE4ABD-F681-471F-A59B-2AC048468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Data Warehouse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E1B92E4-51E2-412B-BFD8-C20DBA5A4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29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83CD740-5022-462A-BC84-50D379426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9F1C"/>
                </a:solidFill>
              </a:defRPr>
            </a:pPr>
            <a:r>
              <a:rPr sz="3900" b="1">
                <a:solidFill>
                  <a:srgbClr val="FF9F1C"/>
                </a:solidFill>
              </a:rPr>
              <a:t>Data Warehouse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1C9013A-405A-41A5-A915-C7642064B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9906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8FBFF"/>
                </a:solidFill>
              </a:defRPr>
            </a:pPr>
            <a:r>
              <a:rPr sz="2175">
                <a:solidFill>
                  <a:srgbClr val="F8FBFF"/>
                </a:solidFill>
              </a:rPr>
              <a:t>A centralized, integrated, historical repository that stores cleaned enterprise data for querying, reporting, and decision support.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35FA8D-D528-436A-AF65-F4898C51F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166878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C3304D5-DEA3-4302-8860-FE932ACBF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648200"/>
            <a:ext cx="140208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BFF"/>
                </a:solidFill>
              </a:defRPr>
            </a:pPr>
            <a:r>
              <a:rPr sz="1500" b="1">
                <a:solidFill>
                  <a:srgbClr val="F8FBFF"/>
                </a:solidFill>
              </a:rPr>
              <a:t>Centralized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3C2E33-D87C-427D-BB0B-D4DAFEFC1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855" y="4762500"/>
            <a:ext cx="285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1542CB-E5E0-40B8-A087-BE4578837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1805" y="4476750"/>
            <a:ext cx="166878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771600C-3B42-4EC7-8E34-B81E756ED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5155" y="4648200"/>
            <a:ext cx="140208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BFF"/>
                </a:solidFill>
              </a:defRPr>
            </a:pPr>
            <a:r>
              <a:rPr sz="1500" b="1">
                <a:solidFill>
                  <a:srgbClr val="F8FBFF"/>
                </a:solidFill>
              </a:rPr>
              <a:t>Integrated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82BD6C-3AB5-4728-94AB-C84DC49D1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6785" y="4762500"/>
            <a:ext cx="285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711CC3-B0C2-48E6-B6DA-7563F65E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8735" y="4476750"/>
            <a:ext cx="166878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A287C765-B1C7-41A9-9F46-A9F7CCB2E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2085" y="4648200"/>
            <a:ext cx="140208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BFF"/>
                </a:solidFill>
              </a:defRPr>
            </a:pPr>
            <a:r>
              <a:rPr sz="1500" b="1">
                <a:solidFill>
                  <a:srgbClr val="F8FBFF"/>
                </a:solidFill>
              </a:rPr>
              <a:t>Historical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3816F3-6942-4C77-8889-6C97E83FC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3715" y="4762500"/>
            <a:ext cx="285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A07A55-52BA-4EEC-877C-E3D0A722B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5665" y="4476750"/>
            <a:ext cx="166878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D1ADB1BB-9FCE-45AB-95E0-4F9D4E0A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9015" y="4648200"/>
            <a:ext cx="140208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BFF"/>
                </a:solidFill>
              </a:defRPr>
            </a:pPr>
            <a:r>
              <a:rPr sz="1500" b="1">
                <a:solidFill>
                  <a:srgbClr val="F8FBFF"/>
                </a:solidFill>
              </a:rPr>
              <a:t>Cleaned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0DB0DA-D75D-4BFD-BD8B-5B780E214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0645" y="4762500"/>
            <a:ext cx="285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6D7EEC-5F2D-44BE-AEDA-24D6CFAD6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2595" y="4476750"/>
            <a:ext cx="166878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4B6045E0-5198-4275-9452-B090A1BCE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5945" y="4648200"/>
            <a:ext cx="140208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BFF"/>
                </a:solidFill>
              </a:defRPr>
            </a:pPr>
            <a:r>
              <a:rPr sz="1500" b="1">
                <a:solidFill>
                  <a:srgbClr val="F8FBFF"/>
                </a:solidFill>
              </a:rPr>
              <a:t>Decision support</a:t>
            </a:r>
          </a:p>
        </p:txBody>
      </p:sp>
    </p:spTree>
    <p:extLst>
      <p:ext uri="{BB962C8B-B14F-4D97-AF65-F5344CB8AC3E}">
        <p14:creationId xmlns:p14="http://schemas.microsoft.com/office/powerpoint/2010/main" val="166595703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4B6C36-9691-4237-A51D-6F7610999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374FB43-2A8D-426D-BEA9-2FAA84CC6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BFF"/>
                </a:solidFill>
              </a:defRPr>
            </a:pPr>
            <a:r>
              <a:rPr sz="2850" b="1">
                <a:solidFill>
                  <a:srgbClr val="F8FBFF"/>
                </a:solidFill>
              </a:rPr>
              <a:t>Typical warehouse architecture moves data through layers</a:t>
            </a:r>
          </a:p>
        </p:txBody>
      </p:sp>
      <p:sp>
        <p:nvSpPr>
          <p:cNvPr id="3" name="objective">
            <a:extLst xmlns:a="http://schemas.openxmlformats.org/drawingml/2006/main">
              <a:ext uri="{FF2B5EF4-FFF2-40B4-BE49-F238E27FC236}">
                <a16:creationId xmlns:a16="http://schemas.microsoft.com/office/drawing/2014/main" id="{220D6FDB-F0A8-413D-BE95-555D1695B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Visualize source-to-report flow.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D5119F-F88B-4F2B-BE88-AE872ABCB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C58299-53EC-4EC7-9D97-09A5CF48B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32E1A88-26D5-4113-99CA-358F7A3CB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A27F47D-FCF2-427A-9213-BEC6BAC93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Data Warehouse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DAEAD0C-F7F9-4F02-945E-A5026D386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759763-DEC7-421A-8875-5A904831A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4446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AEE9F9E-9D60-4974-8A38-B672348A1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11779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BFF"/>
                </a:solidFill>
              </a:defRPr>
            </a:pPr>
            <a:r>
              <a:rPr sz="1500" b="1">
                <a:solidFill>
                  <a:srgbClr val="F8FBFF"/>
                </a:solidFill>
              </a:rPr>
              <a:t>Source systems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3AC99F-F444-4D55-A89E-117323B28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7575" y="3143250"/>
            <a:ext cx="285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7247F3-BB63-4233-936D-0056F480D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9525" y="2857500"/>
            <a:ext cx="14446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D3B1E11-6DD0-472C-AC9D-BB74C357B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2875" y="3028950"/>
            <a:ext cx="11779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BFF"/>
                </a:solidFill>
              </a:defRPr>
            </a:pPr>
            <a:r>
              <a:rPr sz="1500" b="1">
                <a:solidFill>
                  <a:srgbClr val="F8FBFF"/>
                </a:solidFill>
              </a:rPr>
              <a:t>Staging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8F9CEF-A7A7-41F0-8E04-F278868B1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0350" y="3143250"/>
            <a:ext cx="285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CA5F82-52B5-44B7-A62C-8BF6A511D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2300" y="2857500"/>
            <a:ext cx="14446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825A1098-5088-44C5-AE89-3E1D5F0FB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650" y="3028950"/>
            <a:ext cx="11779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BFF"/>
                </a:solidFill>
              </a:defRPr>
            </a:pPr>
            <a:r>
              <a:rPr sz="1500" b="1">
                <a:solidFill>
                  <a:srgbClr val="F8FBFF"/>
                </a:solidFill>
              </a:rPr>
              <a:t>ETL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010333-9534-4EEE-AF3D-B535DE7D8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143250"/>
            <a:ext cx="285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2C952B-6D41-4A92-8437-3E0713481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857500"/>
            <a:ext cx="14446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607294A-45F3-459B-A030-96E32CB3D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028950"/>
            <a:ext cx="11779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BFF"/>
                </a:solidFill>
              </a:defRPr>
            </a:pPr>
            <a:r>
              <a:rPr sz="1500" b="1">
                <a:solidFill>
                  <a:srgbClr val="F8FBFF"/>
                </a:solidFill>
              </a:rPr>
              <a:t>Warehouse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3E304F-2536-4842-9DEF-09A869BF7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5900" y="3143250"/>
            <a:ext cx="285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B07E47-9129-40D9-AA36-6D8833005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7850" y="2857500"/>
            <a:ext cx="14446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C6B99CC6-B5E0-4BCA-BD8B-3813D448C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200" y="3028950"/>
            <a:ext cx="11779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BFF"/>
                </a:solidFill>
              </a:defRPr>
            </a:pPr>
            <a:r>
              <a:rPr sz="1500" b="1">
                <a:solidFill>
                  <a:srgbClr val="F8FBFF"/>
                </a:solidFill>
              </a:rPr>
              <a:t>Data marts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386B58-EF9B-44B1-ADD2-2FCBBEEFB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8675" y="3143250"/>
            <a:ext cx="285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A3A741-4EBB-4C75-86A4-158B0936A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0625" y="2857500"/>
            <a:ext cx="14446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5229D467-495D-4A68-A0E9-69B5DC48C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975" y="3028950"/>
            <a:ext cx="11779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BFF"/>
                </a:solidFill>
              </a:defRPr>
            </a:pPr>
            <a:r>
              <a:rPr sz="1500" b="1">
                <a:solidFill>
                  <a:srgbClr val="F8FBFF"/>
                </a:solidFill>
              </a:rPr>
              <a:t>BI reports</a:t>
            </a:r>
          </a:p>
        </p:txBody>
      </p:sp>
    </p:spTree>
    <p:extLst>
      <p:ext uri="{BB962C8B-B14F-4D97-AF65-F5344CB8AC3E}">
        <p14:creationId xmlns:p14="http://schemas.microsoft.com/office/powerpoint/2010/main" val="129924462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24141B-D140-411D-9E40-E68FD0CAA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6BAA0C1-6169-48A8-85EB-5BBF35EC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BFF"/>
                </a:solidFill>
              </a:defRPr>
            </a:pPr>
            <a:r>
              <a:rPr sz="2850" b="1">
                <a:solidFill>
                  <a:srgbClr val="F8FBFF"/>
                </a:solidFill>
              </a:rPr>
              <a:t>ETL turns operational data into analysis-ready data</a:t>
            </a:r>
          </a:p>
        </p:txBody>
      </p:sp>
      <p:sp>
        <p:nvSpPr>
          <p:cNvPr id="3" name="objective">
            <a:extLst xmlns:a="http://schemas.openxmlformats.org/drawingml/2006/main">
              <a:ext uri="{FF2B5EF4-FFF2-40B4-BE49-F238E27FC236}">
                <a16:creationId xmlns:a16="http://schemas.microsoft.com/office/drawing/2014/main" id="{04C21165-A02B-4A30-A8CB-D9E0A0688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extract, transform, load.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776789-9C65-4CA8-A687-C929E6159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AEA35B-9D44-457A-827F-054A1D0F3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BB6444E-FD6A-4465-A718-365D5680A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EA318CF-D2A4-4CFA-AEA7-06656CBD9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Data Warehouse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DE9FAA3-B4FB-471D-AAAB-956797E4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A35DCA-EA48-4DA2-9973-68B8260AD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01E40D-1C19-4CB0-9B06-0A2EE315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271E1DD-B89B-46C6-9918-A0CD939AB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459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5A7FF"/>
                </a:solidFill>
              </a:defRPr>
            </a:pPr>
            <a:r>
              <a:rPr sz="1800" b="1">
                <a:solidFill>
                  <a:srgbClr val="35A7FF"/>
                </a:solidFill>
              </a:rPr>
              <a:t>Extract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3CD11F0-9159-42F8-9EC5-29E580A78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4591050" cy="3371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B3AED5-68C8-4029-83CC-EF207C573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9AB677-9CD0-4C52-A594-2B8485D93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2C97318-FFE7-41FB-8D77-2DDB9E801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71650"/>
            <a:ext cx="459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9F1C"/>
                </a:solidFill>
              </a:defRPr>
            </a:pPr>
            <a:r>
              <a:rPr sz="1800" b="1">
                <a:solidFill>
                  <a:srgbClr val="FF9F1C"/>
                </a:solidFill>
              </a:rPr>
              <a:t>Transform + Load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7B1025F-4456-4293-B482-36DA370CE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52650"/>
            <a:ext cx="4591050" cy="3371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F4D1F6-4A3A-4946-A51E-BC3122A55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3ED8147B-0E03-43B5-9CB4-36C36B21D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1E48DCB8-8579-472F-BDE2-277CAEE89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86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Read from databases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B5485F-FDA7-416B-982D-56110DA70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41ADB519-AE31-44C7-8E29-B8A1EBB8A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3A60E127-AB57-4EC1-99D1-8AE6456E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003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Collect files and logs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F0A37E-2945-4B88-AE31-A7FC7C2DA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D47CE8A4-B4D5-4E2B-AD1D-68C8198EE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D1E23DCD-12DE-4AC7-9025-CE11B329C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Copy operational data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7A8DD6-B52F-4A8E-99BE-E5DB3D216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24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F8C9147A-4514-4619-AE3D-FF0D7612A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241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BBFE3881-37C0-42F7-89D2-FB25B14DF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86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Clean and standardize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2A8567-150C-4DEC-8355-70509CF3C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38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B7BDFFEE-B9FA-4722-9486-CBD04666A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384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5BD29F48-5E59-46DF-90A1-59D82414D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003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Join and aggregate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E1CEE4-5D93-45E0-88B8-02199CEDE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57C2DBFA-A8A5-4921-8B44-B51C57881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CC7E81B5-B933-40B4-AABA-54284BF78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147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Store for analysis</a:t>
            </a:r>
          </a:p>
        </p:txBody>
      </p:sp>
    </p:spTree>
    <p:extLst>
      <p:ext uri="{BB962C8B-B14F-4D97-AF65-F5344CB8AC3E}">
        <p14:creationId xmlns:p14="http://schemas.microsoft.com/office/powerpoint/2010/main" val="170577243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30E416-2C3A-44B9-B9DC-4222FE1C5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410FF10-1F15-4279-B7CF-B0CC66956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BFF"/>
                </a:solidFill>
              </a:defRPr>
            </a:pPr>
            <a:r>
              <a:rPr sz="2850" b="1">
                <a:solidFill>
                  <a:srgbClr val="F8FBFF"/>
                </a:solidFill>
              </a:rPr>
              <a:t>Warehouse bottlenecks appear when volume and variety rise</a:t>
            </a:r>
          </a:p>
        </p:txBody>
      </p:sp>
      <p:sp>
        <p:nvSpPr>
          <p:cNvPr id="3" name="objective">
            <a:extLst xmlns:a="http://schemas.openxmlformats.org/drawingml/2006/main">
              <a:ext uri="{FF2B5EF4-FFF2-40B4-BE49-F238E27FC236}">
                <a16:creationId xmlns:a16="http://schemas.microsoft.com/office/drawing/2014/main" id="{F9239BFB-22D0-421C-B042-54A466D1B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Connect warehouse limits to Big Data need.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633E54-8626-4EDF-BF99-0976932BF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EC0B3C-E29E-4599-A9D5-5EC47869D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65EC892-7CFA-4C12-9E63-DFC143CC5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1307A8D-2277-4D9C-8486-8D788E5C5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Data Warehouse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26A85A0-EF60-425C-A352-F961ECE41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E32AA3-84E5-4CC2-A8AA-E7556FF52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33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BBDA207-55F8-4B09-A19F-2ED51789E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335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8247880-7F83-4FA4-8245-33AEAE1DD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95450"/>
            <a:ext cx="9201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8FBFF"/>
                </a:solidFill>
              </a:defRPr>
            </a:pPr>
            <a:r>
              <a:rPr sz="1800">
                <a:solidFill>
                  <a:srgbClr val="F8FBFF"/>
                </a:solidFill>
              </a:rPr>
              <a:t>Rigid schema slows new data onboarding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A99C4F-C0C9-43EB-9E93-E98C5CE33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47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649C8D2-2FE8-46AB-A3AB-F2EA82980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479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78CBCEC1-F05C-479F-B6E7-5F2B409BB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09800"/>
            <a:ext cx="9201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8FBFF"/>
                </a:solidFill>
              </a:defRPr>
            </a:pPr>
            <a:r>
              <a:rPr sz="1800">
                <a:solidFill>
                  <a:srgbClr val="F8FBFF"/>
                </a:solidFill>
              </a:rPr>
              <a:t>Central storage becomes expensive at massive scale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F8D24B-0966-473A-AD26-13D24C5B1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163523D-E452-48CB-A27B-D1CB93CB0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73B400C0-2306-4708-A483-BC6E67F39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724150"/>
            <a:ext cx="9201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8FBFF"/>
                </a:solidFill>
              </a:defRPr>
            </a:pPr>
            <a:r>
              <a:rPr sz="1800">
                <a:solidFill>
                  <a:srgbClr val="F8FBFF"/>
                </a:solidFill>
              </a:rPr>
              <a:t>Batch ETL delays fresh insight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CFC07B-3024-4583-8657-9918F2C14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76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DE1A591F-F7D7-43B4-8D3F-EBC7A1BE4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76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871E69C8-0F21-44C2-B4C7-99AAD2EC8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38500"/>
            <a:ext cx="9201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8FBFF"/>
                </a:solidFill>
              </a:defRPr>
            </a:pPr>
            <a:r>
              <a:rPr sz="1800">
                <a:solidFill>
                  <a:srgbClr val="F8FBFF"/>
                </a:solidFill>
              </a:rPr>
              <a:t>Unstructured data needs preprocessing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B6F0BB-2949-423A-BD7A-91FFB5633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BCD4FC07-4BBB-440A-9B91-3375ACE23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909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B711C79A-4DB9-404C-9A41-3AD2915C4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52850"/>
            <a:ext cx="9201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8FBFF"/>
                </a:solidFill>
              </a:defRPr>
            </a:pPr>
            <a:r>
              <a:rPr sz="1800">
                <a:solidFill>
                  <a:srgbClr val="F8FBFF"/>
                </a:solidFill>
              </a:rPr>
              <a:t>Exploratory analytics may overload the warehouse</a:t>
            </a:r>
          </a:p>
        </p:txBody>
      </p:sp>
    </p:spTree>
    <p:extLst>
      <p:ext uri="{BB962C8B-B14F-4D97-AF65-F5344CB8AC3E}">
        <p14:creationId xmlns:p14="http://schemas.microsoft.com/office/powerpoint/2010/main" val="30223013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6EEC37-68B1-427E-9C5A-06BAFAD23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97BFD51-734F-432C-960A-C15E0ABB8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BFF"/>
                </a:solidFill>
              </a:defRPr>
            </a:pPr>
            <a:r>
              <a:rPr sz="2850" b="1">
                <a:solidFill>
                  <a:srgbClr val="F8FBFF"/>
                </a:solidFill>
              </a:rPr>
              <a:t>Hadoop changes the strategy: move compute to distributed data</a:t>
            </a:r>
          </a:p>
        </p:txBody>
      </p:sp>
      <p:sp>
        <p:nvSpPr>
          <p:cNvPr id="3" name="objective">
            <a:extLst xmlns:a="http://schemas.openxmlformats.org/drawingml/2006/main">
              <a:ext uri="{FF2B5EF4-FFF2-40B4-BE49-F238E27FC236}">
                <a16:creationId xmlns:a16="http://schemas.microsoft.com/office/drawing/2014/main" id="{86657941-36C8-4DB0-95A8-4DA262027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Introduce the Hadoop environment.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997FC9-32C6-4423-8BA4-3693220D8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50C3EA-403F-481E-99F1-3B7DBF3BA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40E10F9-3CC1-4570-B625-14F7B2A0D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49EE495-930E-4CB1-9F34-7CFC7F994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Hadoop Environment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F49ECC2-1461-435F-BC98-ACEEFBA24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33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A939592-4614-4B5A-B08C-96FBE5F33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9F1C"/>
                </a:solidFill>
              </a:defRPr>
            </a:pPr>
            <a:r>
              <a:rPr sz="3900" b="1">
                <a:solidFill>
                  <a:srgbClr val="FF9F1C"/>
                </a:solidFill>
              </a:rPr>
              <a:t>Hadoop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5D003F7-F4FD-40B0-A96F-4E9637913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9906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8FBFF"/>
                </a:solidFill>
              </a:defRPr>
            </a:pPr>
            <a:r>
              <a:rPr sz="2175">
                <a:solidFill>
                  <a:srgbClr val="F8FBFF"/>
                </a:solidFill>
              </a:rPr>
              <a:t>An open-source ecosystem for distributed storage and parallel processing of large datasets across clusters of commodity machines.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87DDEF-3404-4A98-B525-7DEF39194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2195513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724D8D1-5036-481A-89C6-51088725D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648200"/>
            <a:ext cx="1928813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BFF"/>
                </a:solidFill>
              </a:defRPr>
            </a:pPr>
            <a:r>
              <a:rPr sz="1500" b="1">
                <a:solidFill>
                  <a:srgbClr val="F8FBFF"/>
                </a:solidFill>
              </a:rPr>
              <a:t>Distributed storage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41AD9D-FA20-4C59-87D7-08A2F7F8F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6588" y="4762500"/>
            <a:ext cx="285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1D0B80-1C0F-45DB-8D33-F79DC6B09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538" y="4476750"/>
            <a:ext cx="2195513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02AA742-10AB-4509-BC1A-3CCD5E82B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1888" y="4648200"/>
            <a:ext cx="1928813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BFF"/>
                </a:solidFill>
              </a:defRPr>
            </a:pPr>
            <a:r>
              <a:rPr sz="1500" b="1">
                <a:solidFill>
                  <a:srgbClr val="F8FBFF"/>
                </a:solidFill>
              </a:rPr>
              <a:t>Parallel processing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0690E1-9E05-458A-BDFE-50D04E181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762500"/>
            <a:ext cx="285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3B3F21-7A33-4F86-80AC-9F7F880B5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76750"/>
            <a:ext cx="2195513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CD1696B9-47C7-4180-B76D-45DBDFC83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48200"/>
            <a:ext cx="1928813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BFF"/>
                </a:solidFill>
              </a:defRPr>
            </a:pPr>
            <a:r>
              <a:rPr sz="1500" b="1">
                <a:solidFill>
                  <a:srgbClr val="F8FBFF"/>
                </a:solidFill>
              </a:rPr>
              <a:t>Commodity cluster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9F2A15-0B4B-4EAA-BB6C-2E409D75C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3913" y="4762500"/>
            <a:ext cx="285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B25179-F5E0-4873-B64A-72A918999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863" y="4476750"/>
            <a:ext cx="2195513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0CDFD4FE-1006-4CC2-A7CC-39F9B0840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9213" y="4648200"/>
            <a:ext cx="1928813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BFF"/>
                </a:solidFill>
              </a:defRPr>
            </a:pPr>
            <a:r>
              <a:rPr sz="1500" b="1">
                <a:solidFill>
                  <a:srgbClr val="F8FBFF"/>
                </a:solidFill>
              </a:rPr>
              <a:t>Fault tolerance</a:t>
            </a:r>
          </a:p>
        </p:txBody>
      </p:sp>
    </p:spTree>
    <p:extLst>
      <p:ext uri="{BB962C8B-B14F-4D97-AF65-F5344CB8AC3E}">
        <p14:creationId xmlns:p14="http://schemas.microsoft.com/office/powerpoint/2010/main" val="652540066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0A53E7-1D78-4ED6-9007-01760F011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CD414FE-A770-4A0E-BA7D-3D53E8109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BFF"/>
                </a:solidFill>
              </a:defRPr>
            </a:pPr>
            <a:r>
              <a:rPr sz="2850" b="1">
                <a:solidFill>
                  <a:srgbClr val="F8FBFF"/>
                </a:solidFill>
              </a:rPr>
              <a:t>A Hadoop environment is an ecosystem, not one tool</a:t>
            </a:r>
          </a:p>
        </p:txBody>
      </p:sp>
      <p:sp>
        <p:nvSpPr>
          <p:cNvPr id="3" name="objective">
            <a:extLst xmlns:a="http://schemas.openxmlformats.org/drawingml/2006/main">
              <a:ext uri="{FF2B5EF4-FFF2-40B4-BE49-F238E27FC236}">
                <a16:creationId xmlns:a16="http://schemas.microsoft.com/office/drawing/2014/main" id="{5398E90B-F4F5-4ABD-9940-AB016B87C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where components fit.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B18620-02CA-4ED6-8F6C-62A461075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2B011B-6C16-4614-BF2E-F4617623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EB42145-C347-4B6F-8714-1E9D1E3A2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8ECF885-5983-4805-9447-2457799F3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Hadoop Environment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6D1D84B-8F2B-44FF-A337-70821DEA9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0D9636-CD37-487F-B52E-9D330A33C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2381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BB6479-3D58-45AC-9D19-0A169B0E0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76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159D7F9-BDCE-4B1D-AA19-3B1BED875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105025"/>
            <a:ext cx="201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5A7FF"/>
                </a:solidFill>
              </a:defRPr>
            </a:pPr>
            <a:r>
              <a:rPr sz="1800" b="1">
                <a:solidFill>
                  <a:srgbClr val="35A7FF"/>
                </a:solidFill>
              </a:rPr>
              <a:t>Storage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9826386-2E6B-4068-8BDD-ACF33E1A9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486025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HDFS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9DA64E-3753-4D71-A35F-9673D89CE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952625"/>
            <a:ext cx="2857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6D6C65-C1F0-441A-845C-E02C104A8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952625"/>
            <a:ext cx="76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F64ACF3-3183-46C2-B0FA-60478550D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105025"/>
            <a:ext cx="2495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9F1C"/>
                </a:solidFill>
              </a:defRPr>
            </a:pPr>
            <a:r>
              <a:rPr sz="1800" b="1">
                <a:solidFill>
                  <a:srgbClr val="FF9F1C"/>
                </a:solidFill>
              </a:rPr>
              <a:t>Processing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03C4EBD-64E8-4004-A5C4-AA6B6991C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486025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MapReduce, Spark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AD9379-F119-4285-AA9F-251DC2EC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952625"/>
            <a:ext cx="2857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ABECDD-7697-4750-863A-866D4AE29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952625"/>
            <a:ext cx="76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BDC2143B-E27A-4290-985D-09ED5AAD7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105025"/>
            <a:ext cx="2495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EC4B6"/>
                </a:solidFill>
              </a:defRPr>
            </a:pPr>
            <a:r>
              <a:rPr sz="1800" b="1">
                <a:solidFill>
                  <a:srgbClr val="2EC4B6"/>
                </a:solidFill>
              </a:rPr>
              <a:t>Resource mgmt.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D3095103-ECEB-46D4-9EC1-7970CA25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486025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YARN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AD74E6-811C-449A-9D38-FE93A12C1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810000"/>
            <a:ext cx="2857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877171-36C3-4D92-A773-E9BC41893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810000"/>
            <a:ext cx="76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C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B86B9973-7476-4B40-8411-AEC33C84B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962400"/>
            <a:ext cx="2495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77C8FF"/>
                </a:solidFill>
              </a:defRPr>
            </a:pPr>
            <a:r>
              <a:rPr sz="1800" b="1">
                <a:solidFill>
                  <a:srgbClr val="77C8FF"/>
                </a:solidFill>
              </a:rPr>
              <a:t>Query/scripting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360D0D6D-8CAE-4A12-8A80-F1C21E660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34340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Hive, Pig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A259B9-3B59-4ED4-92F5-ABDCB1925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810000"/>
            <a:ext cx="4095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388437-DF0F-4DD0-A0E0-675EDB0F0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810000"/>
            <a:ext cx="76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BE4CEB4D-4DBF-4B7E-80B6-6DD57E52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962400"/>
            <a:ext cx="3733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BF69"/>
                </a:solidFill>
              </a:defRPr>
            </a:pPr>
            <a:r>
              <a:rPr sz="1800" b="1">
                <a:solidFill>
                  <a:srgbClr val="FFBF69"/>
                </a:solidFill>
              </a:rPr>
              <a:t>Coordination/admin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B4D96B35-ACC1-4CB8-BE11-D5DBEFCBF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343400"/>
            <a:ext cx="373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Zookeeper, Ambari, Oozie</a:t>
            </a:r>
          </a:p>
        </p:txBody>
      </p:sp>
    </p:spTree>
    <p:extLst>
      <p:ext uri="{BB962C8B-B14F-4D97-AF65-F5344CB8AC3E}">
        <p14:creationId xmlns:p14="http://schemas.microsoft.com/office/powerpoint/2010/main" val="169063567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80ADC6-2D82-4E27-B6D8-AA5C3AC2A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76046A1-3A1F-4856-8E4F-D6F6DCA3B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BFF"/>
                </a:solidFill>
              </a:defRPr>
            </a:pPr>
            <a:r>
              <a:rPr sz="2850" b="1">
                <a:solidFill>
                  <a:srgbClr val="F8FBFF"/>
                </a:solidFill>
              </a:rPr>
              <a:t>HDFS, MapReduce, and YARN form the core mental model</a:t>
            </a:r>
          </a:p>
        </p:txBody>
      </p:sp>
      <p:sp>
        <p:nvSpPr>
          <p:cNvPr id="3" name="objective">
            <a:extLst xmlns:a="http://schemas.openxmlformats.org/drawingml/2006/main">
              <a:ext uri="{FF2B5EF4-FFF2-40B4-BE49-F238E27FC236}">
                <a16:creationId xmlns:a16="http://schemas.microsoft.com/office/drawing/2014/main" id="{BB2B221A-86C2-4377-A1E5-0EF36B38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Give the high-level architecture.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E1739A-36DE-4828-9FA2-D453EF860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5DD5A9-F7D6-421E-80CB-B296B7CCF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D36039F-E122-44DB-8164-9766860D0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84D2DEE-CB56-4245-A667-A7B62918A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Hadoop Environment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681FC11-12A0-47D5-85E5-962FBE7EB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1A2B4C-B561-4342-BBAE-E663F0BC0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30480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5CA517-D665-4BB1-90D1-38D319C9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762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EEB3B5B-EFFE-4EAB-BC9C-3B8C9B2F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0275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5A7FF"/>
                </a:solidFill>
              </a:defRPr>
            </a:pPr>
            <a:r>
              <a:rPr sz="1800" b="1">
                <a:solidFill>
                  <a:srgbClr val="35A7FF"/>
                </a:solidFill>
              </a:rPr>
              <a:t>HDFS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042119F-11E6-4741-8701-3EAD902A8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81275"/>
            <a:ext cx="2686050" cy="1800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Splits and stores large files across cluster nodes.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2E385B-FE76-41DE-A019-DF5E7712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47875"/>
            <a:ext cx="30480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2DA30B-6137-446B-A5C1-769C69637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47875"/>
            <a:ext cx="762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6D1DF3B-3782-4DDC-A3DF-E814370C6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00275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9F1C"/>
                </a:solidFill>
              </a:defRPr>
            </a:pPr>
            <a:r>
              <a:rPr sz="1800" b="1">
                <a:solidFill>
                  <a:srgbClr val="FF9F1C"/>
                </a:solidFill>
              </a:rPr>
              <a:t>MapReduce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A4B711A-87EB-4890-A932-AE9087EE5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81275"/>
            <a:ext cx="2686050" cy="1800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Processes data in parallel using map and reduce tasks.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015D4C-4DCC-47D2-8101-8F071D3AB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7875"/>
            <a:ext cx="30480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B0EA97-87F4-44B3-B37E-9C7BD295C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7875"/>
            <a:ext cx="762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79AF840-AD3A-4BDE-A3AA-931BCB0CF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0275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EC4B6"/>
                </a:solidFill>
              </a:defRPr>
            </a:pPr>
            <a:r>
              <a:rPr sz="1800" b="1">
                <a:solidFill>
                  <a:srgbClr val="2EC4B6"/>
                </a:solidFill>
              </a:rPr>
              <a:t>YARN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82CB256D-007F-4846-974A-2B6A910E4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81275"/>
            <a:ext cx="2686050" cy="1800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Allocates cluster resources and schedules applications.</a:t>
            </a:r>
          </a:p>
        </p:txBody>
      </p:sp>
    </p:spTree>
    <p:extLst>
      <p:ext uri="{BB962C8B-B14F-4D97-AF65-F5344CB8AC3E}">
        <p14:creationId xmlns:p14="http://schemas.microsoft.com/office/powerpoint/2010/main" val="865779427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F0570C-EA9D-4A31-81B7-497FBD0BA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0BEA6D0-947D-4588-8EB9-7B82F9374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BFF"/>
                </a:solidFill>
              </a:defRPr>
            </a:pPr>
            <a:r>
              <a:rPr sz="2850" b="1">
                <a:solidFill>
                  <a:srgbClr val="F8FBFF"/>
                </a:solidFill>
              </a:rPr>
              <a:t>Where Hadoop fits against the warehouse</a:t>
            </a:r>
          </a:p>
        </p:txBody>
      </p:sp>
      <p:sp>
        <p:nvSpPr>
          <p:cNvPr id="3" name="objective">
            <a:extLst xmlns:a="http://schemas.openxmlformats.org/drawingml/2006/main">
              <a:ext uri="{FF2B5EF4-FFF2-40B4-BE49-F238E27FC236}">
                <a16:creationId xmlns:a16="http://schemas.microsoft.com/office/drawing/2014/main" id="{67B9B8C5-A306-417C-ACBA-7565C2F69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Compare roles in a combined architecture.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E8CB00-9454-484A-8F3B-41A6FC6A0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2E7349-8362-498D-A925-252471894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552DFCA-F351-479B-9BE1-622EBE973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022DA92-6C14-475D-B879-1CB0A9022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Hadoop Environment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070D7DF-0522-4BCD-A1AD-0D8E6FCD7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D11F40-8DFE-4F7E-B414-A49FCF641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82118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574C9C8-6FA5-443E-8E19-55BEB1BBB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155448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BFF"/>
                </a:solidFill>
              </a:defRPr>
            </a:pPr>
            <a:r>
              <a:rPr sz="1500" b="1">
                <a:solidFill>
                  <a:srgbClr val="F8FBFF"/>
                </a:solidFill>
              </a:rPr>
              <a:t>Raw data lake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C4C187-E98F-46EF-9BF1-E47DB480A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4130" y="3143250"/>
            <a:ext cx="285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B33C25-0F6B-490C-AE5D-AB061180F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2857500"/>
            <a:ext cx="182118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3686AA0-615C-4CEA-8164-3CE039F4F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9430" y="3028950"/>
            <a:ext cx="155448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BFF"/>
                </a:solidFill>
              </a:defRPr>
            </a:pPr>
            <a:r>
              <a:rPr sz="1500" b="1">
                <a:solidFill>
                  <a:srgbClr val="F8FBFF"/>
                </a:solidFill>
              </a:rPr>
              <a:t>Hadoop storage/process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477331-6459-443F-8B8B-DED901C29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3460" y="3143250"/>
            <a:ext cx="285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4272F1-AA8F-4B18-8EED-02EA7491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410" y="2857500"/>
            <a:ext cx="182118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C6AD5AB-F862-428A-9064-65719A52A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8760" y="3028950"/>
            <a:ext cx="155448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BFF"/>
                </a:solidFill>
              </a:defRPr>
            </a:pPr>
            <a:r>
              <a:rPr sz="1500" b="1">
                <a:solidFill>
                  <a:srgbClr val="F8FBFF"/>
                </a:solidFill>
              </a:rPr>
              <a:t>Prepared datasets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9B4258-C0D7-441B-90CD-82677C433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790" y="3143250"/>
            <a:ext cx="285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B654BC-02DD-46A3-A496-488A1BC34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4740" y="2857500"/>
            <a:ext cx="182118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6F556079-1FA6-455B-A0C3-BBEF8749C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8090" y="3028950"/>
            <a:ext cx="155448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BFF"/>
                </a:solidFill>
              </a:defRPr>
            </a:pPr>
            <a:r>
              <a:rPr sz="1500" b="1">
                <a:solidFill>
                  <a:srgbClr val="F8FBFF"/>
                </a:solidFill>
              </a:rPr>
              <a:t>Warehouse / marts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F467DF-E413-4383-97A7-867B774BD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2120" y="3143250"/>
            <a:ext cx="285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F0CA36-7423-4F4F-9080-6BB1F3B8F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4070" y="2857500"/>
            <a:ext cx="182118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C8673D31-75C4-4B06-BD73-43BCF4F16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7420" y="3028950"/>
            <a:ext cx="155448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BFF"/>
                </a:solidFill>
              </a:defRPr>
            </a:pPr>
            <a:r>
              <a:rPr sz="1500" b="1">
                <a:solidFill>
                  <a:srgbClr val="F8FBFF"/>
                </a:solidFill>
              </a:rPr>
              <a:t>Dashboards &amp; ML</a:t>
            </a:r>
          </a:p>
        </p:txBody>
      </p:sp>
    </p:spTree>
    <p:extLst>
      <p:ext uri="{BB962C8B-B14F-4D97-AF65-F5344CB8AC3E}">
        <p14:creationId xmlns:p14="http://schemas.microsoft.com/office/powerpoint/2010/main" val="955488478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165EF1-409B-468C-8C7F-7005438CC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7FC1937-401B-4F94-ADF0-F68EA6E0C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BFF"/>
                </a:solidFill>
              </a:defRPr>
            </a:pPr>
            <a:r>
              <a:rPr sz="2850" b="1">
                <a:solidFill>
                  <a:srgbClr val="F8FBFF"/>
                </a:solidFill>
              </a:rPr>
              <a:t>Hadoop processing follows divide, process, combine</a:t>
            </a:r>
          </a:p>
        </p:txBody>
      </p:sp>
      <p:sp>
        <p:nvSpPr>
          <p:cNvPr id="3" name="objective">
            <a:extLst xmlns:a="http://schemas.openxmlformats.org/drawingml/2006/main">
              <a:ext uri="{FF2B5EF4-FFF2-40B4-BE49-F238E27FC236}">
                <a16:creationId xmlns:a16="http://schemas.microsoft.com/office/drawing/2014/main" id="{3346B0A2-B8EF-4ABF-8791-114D1E6C1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the core distributed process.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F20DA2-326A-4EBD-A0E5-2A152AF5E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B095CE-2592-42AA-9665-7085A5F4D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C197837-3523-4BC9-B2B9-28B801E83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53A90F8-D84B-44EF-8748-2A1289199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Hadoop Environment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D90EB7E-ADA1-427B-AAEA-B22087F6D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7EC602-40B4-4850-9AC1-D75053B33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0"/>
            <a:ext cx="185928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F5B0BDC-D2C8-47B2-86CE-A1A431E55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28950"/>
            <a:ext cx="159258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BFF"/>
                </a:solidFill>
              </a:defRPr>
            </a:pPr>
            <a:r>
              <a:rPr sz="1500" b="1">
                <a:solidFill>
                  <a:srgbClr val="F8FBFF"/>
                </a:solidFill>
              </a:rPr>
              <a:t>Split data blocks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A25F8C-81DA-46E6-82E9-A20B5F98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6980" y="3143250"/>
            <a:ext cx="285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EFFE56-EF73-4684-9FBC-1B07E440F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8930" y="2857500"/>
            <a:ext cx="185928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E4AEAEF-EB72-40D1-B0F3-4BEA290AC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2280" y="3028950"/>
            <a:ext cx="159258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BFF"/>
                </a:solidFill>
              </a:defRPr>
            </a:pPr>
            <a:r>
              <a:rPr sz="1500" b="1">
                <a:solidFill>
                  <a:srgbClr val="F8FBFF"/>
                </a:solidFill>
              </a:rPr>
              <a:t>Map in parallel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1DA352-9F2D-4FB1-B9FD-3379C53FD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4410" y="3143250"/>
            <a:ext cx="285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F51236-6583-4F51-A1A5-76C8AC892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2857500"/>
            <a:ext cx="185928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55700C5-5CD0-4471-AE5F-9D205AEC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9710" y="3028950"/>
            <a:ext cx="159258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BFF"/>
                </a:solidFill>
              </a:defRPr>
            </a:pPr>
            <a:r>
              <a:rPr sz="1500" b="1">
                <a:solidFill>
                  <a:srgbClr val="F8FBFF"/>
                </a:solidFill>
              </a:rPr>
              <a:t>Shuffle/sort keys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C82824-81AF-4F6F-A8B9-3E0A2226C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1840" y="3143250"/>
            <a:ext cx="285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B539EE-7681-4F74-9514-B64C358EC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790" y="2857500"/>
            <a:ext cx="185928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D971280-332C-4880-8289-1914D8D23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7140" y="3028950"/>
            <a:ext cx="159258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BFF"/>
                </a:solidFill>
              </a:defRPr>
            </a:pPr>
            <a:r>
              <a:rPr sz="1500" b="1">
                <a:solidFill>
                  <a:srgbClr val="F8FBFF"/>
                </a:solidFill>
              </a:rPr>
              <a:t>Reduce results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AE6760-1C75-409D-8832-B97D541F6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9270" y="3143250"/>
            <a:ext cx="285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B3CD6D-47DD-49AA-96B6-03DC08FBD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1220" y="2857500"/>
            <a:ext cx="185928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DE86EF18-CAD7-4534-BED9-A203245F7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4570" y="3028950"/>
            <a:ext cx="159258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BFF"/>
                </a:solidFill>
              </a:defRPr>
            </a:pPr>
            <a:r>
              <a:rPr sz="1500" b="1">
                <a:solidFill>
                  <a:srgbClr val="F8FBFF"/>
                </a:solidFill>
              </a:rPr>
              <a:t>Write output</a:t>
            </a:r>
          </a:p>
        </p:txBody>
      </p:sp>
    </p:spTree>
    <p:extLst>
      <p:ext uri="{BB962C8B-B14F-4D97-AF65-F5344CB8AC3E}">
        <p14:creationId xmlns:p14="http://schemas.microsoft.com/office/powerpoint/2010/main" val="2117925865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395EF6-D67D-4954-93C1-58C154C17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C276B74-A506-40E3-8105-F17269699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BFF"/>
                </a:solidFill>
              </a:defRPr>
            </a:pPr>
            <a:r>
              <a:rPr sz="2850" b="1">
                <a:solidFill>
                  <a:srgbClr val="F8FBFF"/>
                </a:solidFill>
              </a:rPr>
              <a:t>Big Data Analytics converts large-scale data into action</a:t>
            </a:r>
          </a:p>
        </p:txBody>
      </p:sp>
      <p:sp>
        <p:nvSpPr>
          <p:cNvPr id="3" name="objective">
            <a:extLst xmlns:a="http://schemas.openxmlformats.org/drawingml/2006/main">
              <a:ext uri="{FF2B5EF4-FFF2-40B4-BE49-F238E27FC236}">
                <a16:creationId xmlns:a16="http://schemas.microsoft.com/office/drawing/2014/main" id="{4A253368-3C60-4D36-A35D-B998CE61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Define analytics after the platforms are clear.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FA4598-C126-4C86-B5E5-F6F8A2CC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C80269-1DCB-45C2-83BD-EED8BC0E1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46FBCBA-456A-457F-AB7F-CBCEBF6B1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BF092F3-9084-4257-936F-BE535839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Analytics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C51F16C-6BA1-423A-896D-815AD6501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38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AF54BA4-ADAE-48F1-8C23-E8286C993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9F1C"/>
                </a:solidFill>
              </a:defRPr>
            </a:pPr>
            <a:r>
              <a:rPr sz="3900" b="1">
                <a:solidFill>
                  <a:srgbClr val="FF9F1C"/>
                </a:solidFill>
              </a:rPr>
              <a:t>Big Data Analytics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DEF67C4-DC96-4890-9741-C5EF36512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9906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8FBFF"/>
                </a:solidFill>
              </a:defRPr>
            </a:pPr>
            <a:r>
              <a:rPr sz="2175">
                <a:solidFill>
                  <a:srgbClr val="F8FBFF"/>
                </a:solidFill>
              </a:rPr>
              <a:t>The process of examining large, diverse, and fast-moving datasets to discover patterns, correlations, trends, predictions, and decisions.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1CCB87-A18B-4E70-9FEB-2951663BC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166878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F3C7BD2-1B2C-4E12-B6BA-E4A660CFF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648200"/>
            <a:ext cx="140208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BFF"/>
                </a:solidFill>
              </a:defRPr>
            </a:pPr>
            <a:r>
              <a:rPr sz="1500" b="1">
                <a:solidFill>
                  <a:srgbClr val="F8FBFF"/>
                </a:solidFill>
              </a:rPr>
              <a:t>Patterns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C18102-AEEF-4126-8F4A-7BE7C2C10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855" y="4762500"/>
            <a:ext cx="285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9F363D-9BC6-4DA5-96DA-EF5B095CB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1805" y="4476750"/>
            <a:ext cx="166878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703AF33-FCE8-4D46-A725-DA5239B2D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5155" y="4648200"/>
            <a:ext cx="140208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BFF"/>
                </a:solidFill>
              </a:defRPr>
            </a:pPr>
            <a:r>
              <a:rPr sz="1500" b="1">
                <a:solidFill>
                  <a:srgbClr val="F8FBFF"/>
                </a:solidFill>
              </a:rPr>
              <a:t>Correlations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A3F0F8-591A-4063-A112-F46795A07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6785" y="4762500"/>
            <a:ext cx="285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3EDBAD-5102-47EA-A4D1-8B051CC08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8735" y="4476750"/>
            <a:ext cx="166878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669D1640-78A5-431C-A9C0-37F37EB50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2085" y="4648200"/>
            <a:ext cx="140208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BFF"/>
                </a:solidFill>
              </a:defRPr>
            </a:pPr>
            <a:r>
              <a:rPr sz="1500" b="1">
                <a:solidFill>
                  <a:srgbClr val="F8FBFF"/>
                </a:solidFill>
              </a:rPr>
              <a:t>Trends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0CADCA-A16B-4711-9D83-6D61D1A7F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3715" y="4762500"/>
            <a:ext cx="285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62957D-4BA1-403F-A3BB-49EDA25BC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5665" y="4476750"/>
            <a:ext cx="166878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2F3A3ED1-9E8F-47B9-BDD5-9C5F4DB32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9015" y="4648200"/>
            <a:ext cx="140208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BFF"/>
                </a:solidFill>
              </a:defRPr>
            </a:pPr>
            <a:r>
              <a:rPr sz="1500" b="1">
                <a:solidFill>
                  <a:srgbClr val="F8FBFF"/>
                </a:solidFill>
              </a:rPr>
              <a:t>Predictions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0875AA-81D0-46F9-A179-29654324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0645" y="4762500"/>
            <a:ext cx="285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365CAA-8DDA-4302-BFB8-86C20C0A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2595" y="4476750"/>
            <a:ext cx="166878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54754B36-B687-487D-B57A-348D007F6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5945" y="4648200"/>
            <a:ext cx="140208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BFF"/>
                </a:solidFill>
              </a:defRPr>
            </a:pPr>
            <a:r>
              <a:rPr sz="1500" b="1">
                <a:solidFill>
                  <a:srgbClr val="F8FBFF"/>
                </a:solidFill>
              </a:rPr>
              <a:t>Decisions</a:t>
            </a:r>
          </a:p>
        </p:txBody>
      </p:sp>
    </p:spTree>
    <p:extLst>
      <p:ext uri="{BB962C8B-B14F-4D97-AF65-F5344CB8AC3E}">
        <p14:creationId xmlns:p14="http://schemas.microsoft.com/office/powerpoint/2010/main" val="1286263828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555090-CB40-4A76-8F16-422A265BA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39CCBE6-1B94-46B2-9D06-FD0A65A50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BFF"/>
                </a:solidFill>
              </a:defRPr>
            </a:pPr>
            <a:r>
              <a:rPr sz="2850" b="1">
                <a:solidFill>
                  <a:srgbClr val="F8FBFF"/>
                </a:solidFill>
              </a:rPr>
              <a:t>Analytics asks four levels of questions</a:t>
            </a:r>
          </a:p>
        </p:txBody>
      </p:sp>
      <p:sp>
        <p:nvSpPr>
          <p:cNvPr id="3" name="objective">
            <a:extLst xmlns:a="http://schemas.openxmlformats.org/drawingml/2006/main">
              <a:ext uri="{FF2B5EF4-FFF2-40B4-BE49-F238E27FC236}">
                <a16:creationId xmlns:a16="http://schemas.microsoft.com/office/drawing/2014/main" id="{185A7518-3A60-44A7-B6B2-087937585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Classify analytics.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B4A8E1-B811-443D-AE18-FE1384636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3ECD3B-5ED2-4B82-9613-59693F9B7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EE9926D-5C91-4581-87F2-082FE21B9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E8757BF-15BB-4EF7-AA15-6E2CDEA60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Analytics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EAF908C-3B1B-4562-A9DE-5E8FC6F30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F2B9A3-27B4-43AD-B082-B0675F4D3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429125"/>
            <a:ext cx="18573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E78B493-934B-4D15-97B7-E14C10ED7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524375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11F"/>
                </a:solidFill>
              </a:defRPr>
            </a:pPr>
            <a:r>
              <a:rPr sz="1500" b="1">
                <a:solidFill>
                  <a:srgbClr val="07111F"/>
                </a:solidFill>
              </a:rPr>
              <a:t>Descriptive</a:t>
            </a:r>
          </a:p>
          <a:p xmlns:a="http://schemas.openxmlformats.org/drawingml/2006/main">
            <a:pPr algn="ctr">
              <a:defRPr sz="1500" b="1">
                <a:solidFill>
                  <a:srgbClr val="07111F"/>
                </a:solidFill>
              </a:defRPr>
            </a:pPr>
            <a:r>
              <a:rPr sz="1500" b="1">
                <a:solidFill>
                  <a:srgbClr val="07111F"/>
                </a:solidFill>
              </a:rPr>
              <a:t>What happened?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79B5AF-239F-4895-9BFF-4EB4C2727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714750"/>
            <a:ext cx="18573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070CE94-7B20-4825-90FD-0F508F18A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8100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11F"/>
                </a:solidFill>
              </a:defRPr>
            </a:pPr>
            <a:r>
              <a:rPr sz="1500" b="1">
                <a:solidFill>
                  <a:srgbClr val="07111F"/>
                </a:solidFill>
              </a:rPr>
              <a:t>Diagnostic</a:t>
            </a:r>
          </a:p>
          <a:p xmlns:a="http://schemas.openxmlformats.org/drawingml/2006/main">
            <a:pPr algn="ctr">
              <a:defRPr sz="1500" b="1">
                <a:solidFill>
                  <a:srgbClr val="07111F"/>
                </a:solidFill>
              </a:defRPr>
            </a:pPr>
            <a:r>
              <a:rPr sz="1500" b="1">
                <a:solidFill>
                  <a:srgbClr val="07111F"/>
                </a:solidFill>
              </a:rPr>
              <a:t>Why did it happen?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7DE22E-38F0-4DF0-ACD2-70A8E4F46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00375"/>
            <a:ext cx="185737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5369ABD2-A153-413E-B7D1-2E287AFEF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095625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11F"/>
                </a:solidFill>
              </a:defRPr>
            </a:pPr>
            <a:r>
              <a:rPr sz="1500" b="1">
                <a:solidFill>
                  <a:srgbClr val="07111F"/>
                </a:solidFill>
              </a:rPr>
              <a:t>Predictive</a:t>
            </a:r>
          </a:p>
          <a:p xmlns:a="http://schemas.openxmlformats.org/drawingml/2006/main">
            <a:pPr algn="ctr">
              <a:defRPr sz="1500" b="1">
                <a:solidFill>
                  <a:srgbClr val="07111F"/>
                </a:solidFill>
              </a:defRPr>
            </a:pPr>
            <a:r>
              <a:rPr sz="1500" b="1">
                <a:solidFill>
                  <a:srgbClr val="07111F"/>
                </a:solidFill>
              </a:rPr>
              <a:t>What may happen?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CED125-E5DC-483E-AE43-57B1D2DCC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286000"/>
            <a:ext cx="1857375" cy="2809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D97465B-8E0A-44A5-866A-9A5392A9D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8125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11F"/>
                </a:solidFill>
              </a:defRPr>
            </a:pPr>
            <a:r>
              <a:rPr sz="1500" b="1">
                <a:solidFill>
                  <a:srgbClr val="07111F"/>
                </a:solidFill>
              </a:rPr>
              <a:t>Prescriptive</a:t>
            </a:r>
          </a:p>
          <a:p xmlns:a="http://schemas.openxmlformats.org/drawingml/2006/main">
            <a:pPr algn="ctr">
              <a:defRPr sz="1500" b="1">
                <a:solidFill>
                  <a:srgbClr val="07111F"/>
                </a:solidFill>
              </a:defRPr>
            </a:pPr>
            <a:r>
              <a:rPr sz="1500" b="1">
                <a:solidFill>
                  <a:srgbClr val="07111F"/>
                </a:solidFill>
              </a:rPr>
              <a:t>What should we do?</a:t>
            </a:r>
          </a:p>
        </p:txBody>
      </p:sp>
    </p:spTree>
    <p:extLst>
      <p:ext uri="{BB962C8B-B14F-4D97-AF65-F5344CB8AC3E}">
        <p14:creationId xmlns:p14="http://schemas.microsoft.com/office/powerpoint/2010/main" val="1883376004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21918-538A-4B42-BA5B-76E877050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B10BB81-5920-48E6-8BDE-E76AFE7C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BFF"/>
                </a:solidFill>
              </a:defRPr>
            </a:pPr>
            <a:r>
              <a:rPr sz="2850" b="1">
                <a:solidFill>
                  <a:srgbClr val="F8FBFF"/>
                </a:solidFill>
              </a:rPr>
              <a:t>Descriptive and diagnostic analytics explain the past</a:t>
            </a:r>
          </a:p>
        </p:txBody>
      </p:sp>
      <p:sp>
        <p:nvSpPr>
          <p:cNvPr id="3" name="objective">
            <a:extLst xmlns:a="http://schemas.openxmlformats.org/drawingml/2006/main">
              <a:ext uri="{FF2B5EF4-FFF2-40B4-BE49-F238E27FC236}">
                <a16:creationId xmlns:a16="http://schemas.microsoft.com/office/drawing/2014/main" id="{C7598C00-B4A3-48F0-A607-F37ADE1FD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Separate reporting from root-cause analysis.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5A4E28-6AC3-4768-8423-5990C126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1A0E12-3A86-4C0A-A188-09AE168ED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BD1063D-DFCD-4A41-BA79-78E1E6294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9A93B3D-1A2D-4268-B31E-7B04E7B81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Analytics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C461C43-7407-4740-9D78-6751B61BC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37D00B-0012-433A-BF27-4D440E4EC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95500"/>
            <a:ext cx="4476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30D3AA-E679-4229-B432-1D4ECFAE8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9550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C526667-D0F4-4588-807F-0590457E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247900"/>
            <a:ext cx="411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5A7FF"/>
                </a:solidFill>
              </a:defRPr>
            </a:pPr>
            <a:r>
              <a:rPr sz="1800" b="1">
                <a:solidFill>
                  <a:srgbClr val="35A7FF"/>
                </a:solidFill>
              </a:rPr>
              <a:t>Descriptive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3761FA8-5FFC-4D5F-97AD-73CAF3B2F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628900"/>
            <a:ext cx="411480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Dashboards, summaries, KPIs, counts, averages, trends.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EE29A1-1B2A-4528-ACE3-045A0E5D2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095500"/>
            <a:ext cx="4476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C7910E-47B9-47B7-9460-FCEAA7FC2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09550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94F00C6-01F3-4072-AFE8-59723F057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247900"/>
            <a:ext cx="411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9F1C"/>
                </a:solidFill>
              </a:defRPr>
            </a:pPr>
            <a:r>
              <a:rPr sz="1800" b="1">
                <a:solidFill>
                  <a:srgbClr val="FF9F1C"/>
                </a:solidFill>
              </a:rPr>
              <a:t>Diagnostic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55178F7-A8B4-4ACC-A64C-2B3903E4D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628900"/>
            <a:ext cx="411480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Drill-down, correlation, comparison, root-cause analysis.</a:t>
            </a:r>
          </a:p>
        </p:txBody>
      </p:sp>
    </p:spTree>
    <p:extLst>
      <p:ext uri="{BB962C8B-B14F-4D97-AF65-F5344CB8AC3E}">
        <p14:creationId xmlns:p14="http://schemas.microsoft.com/office/powerpoint/2010/main" val="1191778295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746145-F9DB-4215-AA21-3B61C88F9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602D85A-8763-47B9-8CD7-8A4F2E4AE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BFF"/>
                </a:solidFill>
              </a:defRPr>
            </a:pPr>
            <a:r>
              <a:rPr sz="2850" b="1">
                <a:solidFill>
                  <a:srgbClr val="F8FBFF"/>
                </a:solidFill>
              </a:rPr>
              <a:t>Predictive and prescriptive analytics guide future action</a:t>
            </a:r>
          </a:p>
        </p:txBody>
      </p:sp>
      <p:sp>
        <p:nvSpPr>
          <p:cNvPr id="3" name="objective">
            <a:extLst xmlns:a="http://schemas.openxmlformats.org/drawingml/2006/main">
              <a:ext uri="{FF2B5EF4-FFF2-40B4-BE49-F238E27FC236}">
                <a16:creationId xmlns:a16="http://schemas.microsoft.com/office/drawing/2014/main" id="{E5EB4618-4ACB-476A-B5C0-67F7886E9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Connect analytics to ML and optimization.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57E79A-53C3-47B3-BAE9-8AC14F3F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24F41D-9DDC-4BF7-925A-275F0F87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1FBC92C-957B-483B-BDEB-BA7571552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ACE47A4-1B5B-4397-B412-3959FE0BD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Analytics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188BCB4-D180-4980-BD24-C3231A0BE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06521F-EF32-458B-A314-925B98B98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95500"/>
            <a:ext cx="4476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246B3B-8843-41B3-9EBE-947021FA8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9550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4CD2CDC-6D53-465E-B680-C57EF2E9D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247900"/>
            <a:ext cx="411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5A7FF"/>
                </a:solidFill>
              </a:defRPr>
            </a:pPr>
            <a:r>
              <a:rPr sz="1800" b="1">
                <a:solidFill>
                  <a:srgbClr val="35A7FF"/>
                </a:solidFill>
              </a:rPr>
              <a:t>Predictive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D78D511-8320-4C60-A322-B83CA335D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628900"/>
            <a:ext cx="411480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Forecast demand, risk, churn, marks, failures, fraud probability.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53C27D-DCC1-4DE9-9600-21C1C7889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095500"/>
            <a:ext cx="4476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A9E58E-1242-4AB5-9B8A-E77898501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09550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8F33B58-2C78-4B9B-B205-D84BB2F67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247900"/>
            <a:ext cx="411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9F1C"/>
                </a:solidFill>
              </a:defRPr>
            </a:pPr>
            <a:r>
              <a:rPr sz="1800" b="1">
                <a:solidFill>
                  <a:srgbClr val="FF9F1C"/>
                </a:solidFill>
              </a:rPr>
              <a:t>Prescriptive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5D5BFBAF-EE1D-4346-95EA-1EEBA4C98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628900"/>
            <a:ext cx="411480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Recommend actions: reorder stock, block transaction, allocate resources.</a:t>
            </a:r>
          </a:p>
        </p:txBody>
      </p:sp>
    </p:spTree>
    <p:extLst>
      <p:ext uri="{BB962C8B-B14F-4D97-AF65-F5344CB8AC3E}">
        <p14:creationId xmlns:p14="http://schemas.microsoft.com/office/powerpoint/2010/main" val="2027478430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816354-33AA-4EFD-9831-50501F4F0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303734B-D02A-4AF0-957D-D6147E4AE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BFF"/>
                </a:solidFill>
              </a:defRPr>
            </a:pPr>
            <a:r>
              <a:rPr sz="2850" b="1">
                <a:solidFill>
                  <a:srgbClr val="F8FBFF"/>
                </a:solidFill>
              </a:rPr>
              <a:t>Importance of Big Data Analytics</a:t>
            </a:r>
          </a:p>
        </p:txBody>
      </p:sp>
      <p:sp>
        <p:nvSpPr>
          <p:cNvPr id="3" name="objective">
            <a:extLst xmlns:a="http://schemas.openxmlformats.org/drawingml/2006/main">
              <a:ext uri="{FF2B5EF4-FFF2-40B4-BE49-F238E27FC236}">
                <a16:creationId xmlns:a16="http://schemas.microsoft.com/office/drawing/2014/main" id="{EFADDC5C-0517-432B-B4C0-EECFE36B9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why analytics matters to organizations.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B5F2EB-E68F-4EA3-BA08-98A9A721D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0B9D99-F02C-4C63-B0A5-BECD40BA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98BF6A2-D836-487D-8F19-FDAFEC9E5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AD62EB0-5090-4358-AEA7-7F325E4AA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Analytics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DA7D5C8-2FD9-45DC-82ED-1002F0078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26DACB-9AF9-4E0B-9281-473CE72F8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55F7CAC-E9D0-4718-85B4-840E0FE7B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EB23D88-A0A8-44F0-9DAA-30E0889C0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16954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8FBFF"/>
                </a:solidFill>
              </a:defRPr>
            </a:pPr>
            <a:r>
              <a:rPr sz="1800">
                <a:solidFill>
                  <a:srgbClr val="F8FBFF"/>
                </a:solidFill>
              </a:rPr>
              <a:t>Turns raw data into measurable insight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EA8069-FDFA-480F-8FFC-7429E7B0D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7680B6A-1934-414C-8189-707E5BE1C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7985B76F-B3FC-48B2-A869-7480C5975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2098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8FBFF"/>
                </a:solidFill>
              </a:defRPr>
            </a:pPr>
            <a:r>
              <a:rPr sz="1800">
                <a:solidFill>
                  <a:srgbClr val="F8FBFF"/>
                </a:solidFill>
              </a:rPr>
              <a:t>Improves speed and quality of decisions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012E40-C05D-46C4-A096-BD3ACCCD2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BED54DC0-2B97-4F0D-A185-BACB5A3B3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07D309DC-844A-48DE-B299-005C11B53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7241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8FBFF"/>
                </a:solidFill>
              </a:defRPr>
            </a:pPr>
            <a:r>
              <a:rPr sz="1800">
                <a:solidFill>
                  <a:srgbClr val="F8FBFF"/>
                </a:solidFill>
              </a:rPr>
              <a:t>Finds patterns invisible to manual analysis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2C7331-75BB-44F0-BE10-91BD7135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2034BCA8-A748-4576-B82E-9A85FA714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1CE2E512-4685-4DEA-87E7-56291CE2A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2385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8FBFF"/>
                </a:solidFill>
              </a:defRPr>
            </a:pPr>
            <a:r>
              <a:rPr sz="1800">
                <a:solidFill>
                  <a:srgbClr val="F8FBFF"/>
                </a:solidFill>
              </a:rPr>
              <a:t>Supports automation and personalization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25C310-675F-457C-9844-7D4961B0C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66C64EC4-9068-4E87-AC16-84152A2C7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36E49A84-7967-415B-B0CB-DFB8C2DCF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7528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8FBFF"/>
                </a:solidFill>
              </a:defRPr>
            </a:pPr>
            <a:r>
              <a:rPr sz="1800">
                <a:solidFill>
                  <a:srgbClr val="F8FBFF"/>
                </a:solidFill>
              </a:rPr>
              <a:t>Creates competitive advantage and public value</a:t>
            </a:r>
          </a:p>
        </p:txBody>
      </p:sp>
    </p:spTree>
    <p:extLst>
      <p:ext uri="{BB962C8B-B14F-4D97-AF65-F5344CB8AC3E}">
        <p14:creationId xmlns:p14="http://schemas.microsoft.com/office/powerpoint/2010/main" val="1171088883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100669-A64D-4F41-A181-4AE741DB5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3310D5C-4CFF-4584-AEA6-629EDDE71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BFF"/>
                </a:solidFill>
              </a:defRPr>
            </a:pPr>
            <a:r>
              <a:rPr sz="2850" b="1">
                <a:solidFill>
                  <a:srgbClr val="F8FBFF"/>
                </a:solidFill>
              </a:rPr>
              <a:t>Analytics applications appear wherever decisions repeat</a:t>
            </a:r>
          </a:p>
        </p:txBody>
      </p:sp>
      <p:sp>
        <p:nvSpPr>
          <p:cNvPr id="3" name="objective">
            <a:extLst xmlns:a="http://schemas.openxmlformats.org/drawingml/2006/main">
              <a:ext uri="{FF2B5EF4-FFF2-40B4-BE49-F238E27FC236}">
                <a16:creationId xmlns:a16="http://schemas.microsoft.com/office/drawing/2014/main" id="{7C5AC0EA-4459-4C5B-AB53-E6AFB6E9D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Map industries to analytics tasks.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76BC8C-2C0D-4BBD-93FC-097F47AF7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5295CA-B464-4B8B-ACDC-FB3B842EC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9F3FA70-53E8-42F4-9BB9-11B31A825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ED93151-D679-4644-A294-78ACBF498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Analytics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042B931-6BFF-4256-89ED-87FD6DAE2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B2CE28-6453-4BD5-8E58-E61308CB7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714500"/>
            <a:ext cx="4191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95C6CD-73F4-441C-8EE0-95BA98F32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714500"/>
            <a:ext cx="762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CEA2182-4D2E-461E-AD76-0862727D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866900"/>
            <a:ext cx="3829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5A7FF"/>
                </a:solidFill>
              </a:defRPr>
            </a:pPr>
            <a:r>
              <a:rPr sz="1800" b="1">
                <a:solidFill>
                  <a:srgbClr val="35A7FF"/>
                </a:solidFill>
              </a:rPr>
              <a:t>Retail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9FFE41B-C6A6-4953-83B2-BE59B0535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247900"/>
            <a:ext cx="3829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Recommendations, basket analysis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DF8CD8-F4E9-45BB-A9D4-A8314D712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4191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34E206-6AFA-41CB-93BA-56A5272DE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762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97C1A00E-35AC-4247-BC51-263592940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66900"/>
            <a:ext cx="3829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9F1C"/>
                </a:solidFill>
              </a:defRPr>
            </a:pPr>
            <a:r>
              <a:rPr sz="1800" b="1">
                <a:solidFill>
                  <a:srgbClr val="FF9F1C"/>
                </a:solidFill>
              </a:rPr>
              <a:t>Banking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8277D9FE-4B40-4DAB-A6EC-3E47309ED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47900"/>
            <a:ext cx="3829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Fraud and risk scoring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A4B443-377B-40CF-8760-05031834A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05125"/>
            <a:ext cx="4191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624605-1756-4B21-80B1-82D03C85A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05125"/>
            <a:ext cx="762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8BBE0898-2A8F-4FEE-8153-D0CE22DC6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57525"/>
            <a:ext cx="3829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5A7FF"/>
                </a:solidFill>
              </a:defRPr>
            </a:pPr>
            <a:r>
              <a:rPr sz="1800" b="1">
                <a:solidFill>
                  <a:srgbClr val="35A7FF"/>
                </a:solidFill>
              </a:rPr>
              <a:t>Healthcare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40ECF406-7BD2-4714-A001-B35E7F8A8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38525"/>
            <a:ext cx="3829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Patient risk and image analytics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570586-6BDF-432F-B16A-F13572847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05125"/>
            <a:ext cx="4191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A9106C-244F-4E60-8100-F843B27A6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05125"/>
            <a:ext cx="762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E84B81E8-1FDD-43D4-AA08-E09018335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57525"/>
            <a:ext cx="3829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9F1C"/>
                </a:solidFill>
              </a:defRPr>
            </a:pPr>
            <a:r>
              <a:rPr sz="1800" b="1">
                <a:solidFill>
                  <a:srgbClr val="FF9F1C"/>
                </a:solidFill>
              </a:rPr>
              <a:t>Transport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01813FE6-110F-4CED-B52F-289560A1F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38525"/>
            <a:ext cx="3829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Route and demand optimization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A1B2C2-C169-4A1A-BC29-8FF3BD69F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95750"/>
            <a:ext cx="4191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CD57C7-4A3D-46B6-8E78-9C5BF7B53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95750"/>
            <a:ext cx="762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239ED900-B899-4795-BB38-398AA707A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48150"/>
            <a:ext cx="3829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5A7FF"/>
                </a:solidFill>
              </a:defRPr>
            </a:pPr>
            <a:r>
              <a:rPr sz="1800" b="1">
                <a:solidFill>
                  <a:srgbClr val="35A7FF"/>
                </a:solidFill>
              </a:rPr>
              <a:t>Education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F6FDF4E2-9230-488A-80D7-BC695CA3C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29150"/>
            <a:ext cx="3829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Performance and dropout insight</a:t>
            </a:r>
          </a:p>
        </p:txBody>
      </p:sp>
    </p:spTree>
    <p:extLst>
      <p:ext uri="{BB962C8B-B14F-4D97-AF65-F5344CB8AC3E}">
        <p14:creationId xmlns:p14="http://schemas.microsoft.com/office/powerpoint/2010/main" val="340909650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779417-6D94-45D9-B336-224952C1D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331D550-F818-4BC1-A090-84330CBA8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BFF"/>
                </a:solidFill>
              </a:defRPr>
            </a:pPr>
            <a:r>
              <a:rPr sz="2850" b="1">
                <a:solidFill>
                  <a:srgbClr val="F8FBFF"/>
                </a:solidFill>
              </a:rPr>
              <a:t>Big Data technology stacks solve storage, processing, querying, and visualization</a:t>
            </a:r>
          </a:p>
        </p:txBody>
      </p:sp>
      <p:sp>
        <p:nvSpPr>
          <p:cNvPr id="3" name="objective">
            <a:extLst xmlns:a="http://schemas.openxmlformats.org/drawingml/2006/main">
              <a:ext uri="{FF2B5EF4-FFF2-40B4-BE49-F238E27FC236}">
                <a16:creationId xmlns:a16="http://schemas.microsoft.com/office/drawing/2014/main" id="{B904F42C-94AF-4A6E-955D-A16F09BD2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Organize tools by job.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097036-D980-4FC1-902D-BA64200AE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EEA2C2-BD55-4025-9B3B-D1C19ECED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2127F39-BAB8-40C4-9BF6-D9DE96E61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D4EFF8A-6719-498B-BF11-696D5D3CD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Technologies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A7B3602-06A5-43C3-948D-1C847AFB2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77A292-1B92-459E-84EC-94AFBBB0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809750"/>
            <a:ext cx="7620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9BF6371-F67B-446F-8063-BD9E03AED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050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111F"/>
                </a:solidFill>
              </a:defRPr>
            </a:pPr>
            <a:r>
              <a:rPr sz="1800" b="1">
                <a:solidFill>
                  <a:srgbClr val="07111F"/>
                </a:solidFill>
              </a:rPr>
              <a:t>Visualize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C7F3B3-7418-48F0-A5AC-C366ADF3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419350"/>
            <a:ext cx="7620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C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1AF7E12-7CF7-47DB-A54D-A94CD689B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146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111F"/>
                </a:solidFill>
              </a:defRPr>
            </a:pPr>
            <a:r>
              <a:rPr sz="1800" b="1">
                <a:solidFill>
                  <a:srgbClr val="07111F"/>
                </a:solidFill>
              </a:rPr>
              <a:t>Analyze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605370-C461-4035-B7F3-949C8016A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028950"/>
            <a:ext cx="7620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86786939-4223-4D14-861D-5D07C4412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242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111F"/>
                </a:solidFill>
              </a:defRPr>
            </a:pPr>
            <a:r>
              <a:rPr sz="1800" b="1">
                <a:solidFill>
                  <a:srgbClr val="07111F"/>
                </a:solidFill>
              </a:rPr>
              <a:t>Query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E7BE35-09E7-4616-AEE9-948490CBB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38550"/>
            <a:ext cx="7620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4FE1015-6FC1-4900-879B-A92AA156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7338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111F"/>
                </a:solidFill>
              </a:defRPr>
            </a:pPr>
            <a:r>
              <a:rPr sz="1800" b="1">
                <a:solidFill>
                  <a:srgbClr val="07111F"/>
                </a:solidFill>
              </a:rPr>
              <a:t>Process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D18CDC-2101-47E2-88B0-DCF2AC44C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248150"/>
            <a:ext cx="7620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810C2CCD-2A7B-49F3-8DDD-14DD91D70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3434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111F"/>
                </a:solidFill>
              </a:defRPr>
            </a:pPr>
            <a:r>
              <a:rPr sz="1800" b="1">
                <a:solidFill>
                  <a:srgbClr val="07111F"/>
                </a:solidFill>
              </a:rPr>
              <a:t>Store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85E91B-C562-45D0-988D-61370015A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57750"/>
            <a:ext cx="7620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71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5EAF3776-1D9A-4EF1-82CF-B5DD0515C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9530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111F"/>
                </a:solidFill>
              </a:defRPr>
            </a:pPr>
            <a:r>
              <a:rPr sz="1800" b="1">
                <a:solidFill>
                  <a:srgbClr val="07111F"/>
                </a:solidFill>
              </a:rPr>
              <a:t>Collect</a:t>
            </a:r>
          </a:p>
        </p:txBody>
      </p:sp>
    </p:spTree>
    <p:extLst>
      <p:ext uri="{BB962C8B-B14F-4D97-AF65-F5344CB8AC3E}">
        <p14:creationId xmlns:p14="http://schemas.microsoft.com/office/powerpoint/2010/main" val="1540619027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97A3C2-6C93-4B13-AE65-FB99E881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C4B80F1-9297-4552-B6B1-11BE1F550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BFF"/>
                </a:solidFill>
              </a:defRPr>
            </a:pPr>
            <a:r>
              <a:rPr sz="2850" b="1">
                <a:solidFill>
                  <a:srgbClr val="F8FBFF"/>
                </a:solidFill>
              </a:rPr>
              <a:t>NoSQL relaxes the rigid relational model for scale and flexibility</a:t>
            </a:r>
          </a:p>
        </p:txBody>
      </p:sp>
      <p:sp>
        <p:nvSpPr>
          <p:cNvPr id="3" name="objective">
            <a:extLst xmlns:a="http://schemas.openxmlformats.org/drawingml/2006/main">
              <a:ext uri="{FF2B5EF4-FFF2-40B4-BE49-F238E27FC236}">
                <a16:creationId xmlns:a16="http://schemas.microsoft.com/office/drawing/2014/main" id="{09BC3A86-C0A1-47B0-AE54-70CBB2345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Introduce NoSQL at Module 1 level.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5A9252-8986-4888-AEFD-92B04ADB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644504-4E62-4098-AE74-CD6D46D65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74CA38F-BC78-43BD-A062-F5137B29E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36DE59F-6DC6-4B0F-9119-97791FF0E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Technologies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F91877B-BC95-4E6D-AD33-93BF7DDCB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45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E53C632-CCFE-4503-8CC8-419431107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9F1C"/>
                </a:solidFill>
              </a:defRPr>
            </a:pPr>
            <a:r>
              <a:rPr sz="3900" b="1">
                <a:solidFill>
                  <a:srgbClr val="FF9F1C"/>
                </a:solidFill>
              </a:rPr>
              <a:t>NoSQL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128E377-916C-4C75-B59C-D86BDA343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9906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8FBFF"/>
                </a:solidFill>
              </a:defRPr>
            </a:pPr>
            <a:r>
              <a:rPr sz="2175">
                <a:solidFill>
                  <a:srgbClr val="F8FBFF"/>
                </a:solidFill>
              </a:rPr>
              <a:t>A family of non-relational databases designed for flexible schemas, distributed storage, horizontal scalability, and high-volume data access patterns.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AA6285-D83E-43EE-9829-EF26C9CF1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2195513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7CC63F9-CC06-466A-B435-BE585BE87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648200"/>
            <a:ext cx="1928813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BFF"/>
                </a:solidFill>
              </a:defRPr>
            </a:pPr>
            <a:r>
              <a:rPr sz="1500" b="1">
                <a:solidFill>
                  <a:srgbClr val="F8FBFF"/>
                </a:solidFill>
              </a:rPr>
              <a:t>Non-relational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FBA0C9-D715-40BC-8828-D6F763240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6588" y="4762500"/>
            <a:ext cx="285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B612A0-B9D9-433C-B836-429E72B6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538" y="4476750"/>
            <a:ext cx="2195513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DD8543F-A791-4F35-A83C-3A1496AFE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1888" y="4648200"/>
            <a:ext cx="1928813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BFF"/>
                </a:solidFill>
              </a:defRPr>
            </a:pPr>
            <a:r>
              <a:rPr sz="1500" b="1">
                <a:solidFill>
                  <a:srgbClr val="F8FBFF"/>
                </a:solidFill>
              </a:rPr>
              <a:t>Flexible schema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57F183-A457-4D78-B6DC-4BA9AECA4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762500"/>
            <a:ext cx="285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BF81EB-8C95-462F-8A54-AFE08AA05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76750"/>
            <a:ext cx="2195513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CCF93ADE-0025-4DC1-85B3-06C4BABCE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48200"/>
            <a:ext cx="1928813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BFF"/>
                </a:solidFill>
              </a:defRPr>
            </a:pPr>
            <a:r>
              <a:rPr sz="1500" b="1">
                <a:solidFill>
                  <a:srgbClr val="F8FBFF"/>
                </a:solidFill>
              </a:rPr>
              <a:t>Distributed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E1CEC1-3E4A-4FEC-885D-52A55293D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3913" y="4762500"/>
            <a:ext cx="285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2A5A73-EE38-4B5F-B53A-FA2F4C5CE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863" y="4476750"/>
            <a:ext cx="2195513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F4E01926-0045-47BB-95F1-3FEC21758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9213" y="4648200"/>
            <a:ext cx="1928813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BFF"/>
                </a:solidFill>
              </a:defRPr>
            </a:pPr>
            <a:r>
              <a:rPr sz="1500" b="1">
                <a:solidFill>
                  <a:srgbClr val="F8FBFF"/>
                </a:solidFill>
              </a:rPr>
              <a:t>Horizontal scale</a:t>
            </a:r>
          </a:p>
        </p:txBody>
      </p:sp>
    </p:spTree>
    <p:extLst>
      <p:ext uri="{BB962C8B-B14F-4D97-AF65-F5344CB8AC3E}">
        <p14:creationId xmlns:p14="http://schemas.microsoft.com/office/powerpoint/2010/main" val="1743423824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688E47-4151-448A-94D9-CBB9C8A59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1160FE2-E47D-427A-A2E5-887931163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BFF"/>
                </a:solidFill>
              </a:defRPr>
            </a:pPr>
            <a:r>
              <a:rPr sz="2850" b="1">
                <a:solidFill>
                  <a:srgbClr val="F8FBFF"/>
                </a:solidFill>
              </a:rPr>
              <a:t>NoSQL databases are chosen by data access pattern</a:t>
            </a:r>
          </a:p>
        </p:txBody>
      </p:sp>
      <p:sp>
        <p:nvSpPr>
          <p:cNvPr id="3" name="objective">
            <a:extLst xmlns:a="http://schemas.openxmlformats.org/drawingml/2006/main">
              <a:ext uri="{FF2B5EF4-FFF2-40B4-BE49-F238E27FC236}">
                <a16:creationId xmlns:a16="http://schemas.microsoft.com/office/drawing/2014/main" id="{A8EBD766-1273-4B29-85E1-AC0F6B0A5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Classify NoSQL types.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795046-1B11-4403-90A0-963E23ED8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E63B2D-DE2C-427D-9904-D6B8DC4F2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BDDCAA2-622A-4ED9-AE59-71650C4F8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0B877D2-328B-4C12-9CA2-620E8188E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Technologies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4A2ABE4-D1C7-4F28-A0C0-4624C9CAD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5C2C2E-CBED-4794-8CD5-79ECD3A7B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3AC5C8-CE8A-40D6-B7C9-0AA99AB0A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9C02894-9AEA-4CCD-A905-A9D121652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62150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5A7FF"/>
                </a:solidFill>
              </a:defRPr>
            </a:pPr>
            <a:r>
              <a:rPr sz="1800" b="1">
                <a:solidFill>
                  <a:srgbClr val="35A7FF"/>
                </a:solidFill>
              </a:rPr>
              <a:t>Key-value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0156634-36A6-4477-B7C5-DE13029F2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43150"/>
            <a:ext cx="40195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Fast lookup by key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E28602-904D-4AF5-8584-77960DF64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3DE1C9-A7C0-4D35-B7CB-1B46CE4F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ACEEED6-E43B-4665-977D-463B15B12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62150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9F1C"/>
                </a:solidFill>
              </a:defRPr>
            </a:pPr>
            <a:r>
              <a:rPr sz="1800" b="1">
                <a:solidFill>
                  <a:srgbClr val="FF9F1C"/>
                </a:solidFill>
              </a:rPr>
              <a:t>Document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5820FCA9-E548-476B-9703-A3F8E26D9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43150"/>
            <a:ext cx="40195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JSON-like records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CF6644-C0B4-472B-8D90-B05426F40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8B55F7-6F11-4D29-8C1F-140CAE77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BCF8B18-5349-4BCC-AF7E-D439DCDB4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71900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5A7FF"/>
                </a:solidFill>
              </a:defRPr>
            </a:pPr>
            <a:r>
              <a:rPr sz="1800" b="1">
                <a:solidFill>
                  <a:srgbClr val="35A7FF"/>
                </a:solidFill>
              </a:rPr>
              <a:t>Column-family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2600F965-4CA4-4F43-9E65-07F00304C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52900"/>
            <a:ext cx="40195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Wide distributed tables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C3DF26-0FB4-48DD-B4D9-3E4B2BE88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8FDFC7-AC42-410F-A769-CDB2D8BC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FE7BA88D-F242-47ED-8ED0-01EBC980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71900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9F1C"/>
                </a:solidFill>
              </a:defRPr>
            </a:pPr>
            <a:r>
              <a:rPr sz="1800" b="1">
                <a:solidFill>
                  <a:srgbClr val="FF9F1C"/>
                </a:solidFill>
              </a:rPr>
              <a:t>Graph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CB11BDD8-7C12-486E-9332-A817AB36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52900"/>
            <a:ext cx="40195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Relationships and networks</a:t>
            </a:r>
          </a:p>
        </p:txBody>
      </p:sp>
    </p:spTree>
    <p:extLst>
      <p:ext uri="{BB962C8B-B14F-4D97-AF65-F5344CB8AC3E}">
        <p14:creationId xmlns:p14="http://schemas.microsoft.com/office/powerpoint/2010/main" val="1979543186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657EC3-F362-41A8-8EC8-70A65460A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F3016B5-1E6F-4AA6-9D61-D66AC4A11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BFF"/>
                </a:solidFill>
              </a:defRPr>
            </a:pPr>
            <a:r>
              <a:rPr sz="2850" b="1">
                <a:solidFill>
                  <a:srgbClr val="F8FBFF"/>
                </a:solidFill>
              </a:rPr>
              <a:t>Analytical tools sit above storage and processing</a:t>
            </a:r>
          </a:p>
        </p:txBody>
      </p:sp>
      <p:sp>
        <p:nvSpPr>
          <p:cNvPr id="3" name="objective">
            <a:extLst xmlns:a="http://schemas.openxmlformats.org/drawingml/2006/main">
              <a:ext uri="{FF2B5EF4-FFF2-40B4-BE49-F238E27FC236}">
                <a16:creationId xmlns:a16="http://schemas.microsoft.com/office/drawing/2014/main" id="{81D49D44-5DEC-493C-85CE-2E522EE52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Name common tool categories.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B7B6B6-299D-4698-B182-689987C1A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E67757-AF01-4BB1-BF51-69BD69033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00AFB4B-14BF-4B13-ACFE-642576D8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33B0821-5A10-4CB9-BB32-2655CFD6E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Technologies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9BEF756-8F3A-4E2B-878D-C96786C6B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070C05-BFC7-4884-864C-D9819D44F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33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EAC0A4F-E01A-4544-88B9-471AA9577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335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257B726-4A29-4DF2-BA01-B77B941AC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95450"/>
            <a:ext cx="948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Hive: SQL-like querying on Hadoop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6C2CF1-5D0A-4757-B682-1A972D43A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47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319AAC2-28C1-4747-8647-232DBF57A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479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364CD895-A228-439F-BDFC-089D300F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09800"/>
            <a:ext cx="948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Pig: data flow scripting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6337AA-5599-4CAC-8992-77002363F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6B7B4C0F-BF06-4B0B-8F34-C02253A49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ECB4A7C7-C9D5-4F02-A683-3DC1A9FA8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724150"/>
            <a:ext cx="948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Spark: fast in-memory processing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B25C16-8A10-411C-AC76-9028A0118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76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BDE83B1-2D4C-4099-80D7-32741A484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76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EE524A64-96A7-4023-A7F9-1AF7ABFDC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38500"/>
            <a:ext cx="948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R/Python: statistical and ML analysis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F36777-54B9-42E9-826E-9008B3B59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2F3A7920-1636-4173-8D1C-245294AAB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909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4DFDDE43-F0F7-4166-853E-4499BA240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52850"/>
            <a:ext cx="948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Tableau/Power BI: visualization and dashboards</a:t>
            </a:r>
          </a:p>
        </p:txBody>
      </p:sp>
    </p:spTree>
    <p:extLst>
      <p:ext uri="{BB962C8B-B14F-4D97-AF65-F5344CB8AC3E}">
        <p14:creationId xmlns:p14="http://schemas.microsoft.com/office/powerpoint/2010/main" val="574586720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0ACAD7F-0A5D-4055-9F69-9BF5DA6C2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6A689BA-7A6E-4072-81FB-1BE028B27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BFF"/>
                </a:solidFill>
              </a:defRPr>
            </a:pPr>
            <a:r>
              <a:rPr sz="2850" b="1">
                <a:solidFill>
                  <a:srgbClr val="F8FBFF"/>
                </a:solidFill>
              </a:rPr>
              <a:t>Hadoop is the classic foundation technology in the syllabus</a:t>
            </a:r>
          </a:p>
        </p:txBody>
      </p:sp>
      <p:sp>
        <p:nvSpPr>
          <p:cNvPr id="3" name="objective">
            <a:extLst xmlns:a="http://schemas.openxmlformats.org/drawingml/2006/main">
              <a:ext uri="{FF2B5EF4-FFF2-40B4-BE49-F238E27FC236}">
                <a16:creationId xmlns:a16="http://schemas.microsoft.com/office/drawing/2014/main" id="{161A63E1-CC9B-4065-BB1B-19B7B5ACC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Connect Hadoop to the Module 1 tool ecosystem.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357052-BB2B-402B-A06D-5B30A9C7B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E266D1-E0BE-4871-B616-FA8746A8C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1F466D9-9624-43E9-BA18-B33571F8C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B6632C4-E4B5-41C3-8483-13E14C197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Technologies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3EDAF77-CCF2-4088-A2BE-81F7B48D7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25265F-97F1-4888-9FF4-01AED4F7B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14625"/>
            <a:ext cx="24765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16673DA-DB2C-42DB-9939-640973014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480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7111F"/>
                </a:solidFill>
              </a:defRPr>
            </a:pPr>
            <a:r>
              <a:rPr sz="2100" b="1">
                <a:solidFill>
                  <a:srgbClr val="07111F"/>
                </a:solidFill>
              </a:rPr>
              <a:t>Hadoop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0A5412-F04D-417B-8890-0CC4981A9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271462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4E40C7-DBEC-4201-8814-4535372B6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58F5423-2EAD-4A97-BE99-979513154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05025"/>
            <a:ext cx="2352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EC4B6"/>
                </a:solidFill>
              </a:defRPr>
            </a:pPr>
            <a:r>
              <a:rPr sz="1800" b="1">
                <a:solidFill>
                  <a:srgbClr val="2EC4B6"/>
                </a:solidFill>
              </a:rPr>
              <a:t>HDFS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953CCA3B-D90D-4429-99AE-09F9CBF7B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86025"/>
            <a:ext cx="2352675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8A142D-E991-4D42-BC54-4446F8EAF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619250"/>
            <a:ext cx="271462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2480AD-6783-434B-AEFE-D99F1A15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61925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394CB330-24DB-4419-8F2E-6238068FD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1771650"/>
            <a:ext cx="2352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5A7FF"/>
                </a:solidFill>
              </a:defRPr>
            </a:pPr>
            <a:r>
              <a:rPr sz="1800" b="1">
                <a:solidFill>
                  <a:srgbClr val="35A7FF"/>
                </a:solidFill>
              </a:rPr>
              <a:t>MapReduce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B0102C62-0A52-49D2-903F-29FD6E49F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152650"/>
            <a:ext cx="2352675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966D4D-06F6-444E-AB7E-8C0AA49CA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952625"/>
            <a:ext cx="271462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34B67C-C8AF-42F9-B9B6-8F96751C2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952625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DF5F2B17-B814-4549-8FFF-08736E2E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105025"/>
            <a:ext cx="2352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EC4B6"/>
                </a:solidFill>
              </a:defRPr>
            </a:pPr>
            <a:r>
              <a:rPr sz="1800" b="1">
                <a:solidFill>
                  <a:srgbClr val="2EC4B6"/>
                </a:solidFill>
              </a:rPr>
              <a:t>YARN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932147DA-9072-47EA-94F6-888F86121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486025"/>
            <a:ext cx="2352675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64445B-6141-448E-8FB2-126324A48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33875"/>
            <a:ext cx="271462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B1BE28-70BA-4E91-A3CD-FA4428C64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33875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2F2B295C-70B5-4BE9-96B7-987A53028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86275"/>
            <a:ext cx="2352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5A7FF"/>
                </a:solidFill>
              </a:defRPr>
            </a:pPr>
            <a:r>
              <a:rPr sz="1800" b="1">
                <a:solidFill>
                  <a:srgbClr val="35A7FF"/>
                </a:solidFill>
              </a:rPr>
              <a:t>Hive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9BB53379-A575-4BDE-8904-03E23AFB8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67275"/>
            <a:ext cx="2352675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366A2F-44CB-4A2A-8915-0414AA315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762500"/>
            <a:ext cx="271462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328DD7-8A55-49AC-B0A6-B1FCB7670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7625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2F8AF816-DB3F-4A37-875F-FC2E4E540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914900"/>
            <a:ext cx="2352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EC4B6"/>
                </a:solidFill>
              </a:defRPr>
            </a:pPr>
            <a:r>
              <a:rPr sz="1800" b="1">
                <a:solidFill>
                  <a:srgbClr val="2EC4B6"/>
                </a:solidFill>
              </a:rPr>
              <a:t>Pig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37BBF5C0-5C76-475F-8B67-EB418ECB0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295900"/>
            <a:ext cx="2352675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705139-DF61-40F8-AAA5-5FA2A8472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333875"/>
            <a:ext cx="271462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5B991E-BCBC-4CC2-BF7B-588CD3D96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333875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1D52C226-EC9A-4A30-891B-F4038A270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486275"/>
            <a:ext cx="2352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5A7FF"/>
                </a:solidFill>
              </a:defRPr>
            </a:pPr>
            <a:r>
              <a:rPr sz="1800" b="1">
                <a:solidFill>
                  <a:srgbClr val="35A7FF"/>
                </a:solidFill>
              </a:rPr>
              <a:t>HBase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EB9A1F36-F7CB-47D9-9C28-5837D875D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867275"/>
            <a:ext cx="2352675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444536323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B24164-536A-4DBD-9419-C18E1D5F4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B3FB2CF-4862-4BBB-A3FB-062042368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BFF"/>
                </a:solidFill>
              </a:defRPr>
            </a:pPr>
            <a:r>
              <a:rPr sz="2850" b="1">
                <a:solidFill>
                  <a:srgbClr val="F8FBFF"/>
                </a:solidFill>
              </a:rPr>
              <a:t>Choose technology by the dominant Big Data problem</a:t>
            </a:r>
          </a:p>
        </p:txBody>
      </p:sp>
      <p:sp>
        <p:nvSpPr>
          <p:cNvPr id="3" name="objective">
            <a:extLst xmlns:a="http://schemas.openxmlformats.org/drawingml/2006/main">
              <a:ext uri="{FF2B5EF4-FFF2-40B4-BE49-F238E27FC236}">
                <a16:creationId xmlns:a16="http://schemas.microsoft.com/office/drawing/2014/main" id="{50CD6DD1-AA2A-40C7-812E-5418614AA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Provide a decision shortcut.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CE0B92-6094-46DF-B835-A70C302D0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35EEB6-8BCF-43BC-9B75-68FBD9D7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77B3E14-68A7-42B1-8121-84ACD244F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E840DF9-785B-4480-862A-B2B9E4D6D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Technologies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4D459D6-574D-4DF4-A5D5-2DA1E2C2F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800E63-FB9A-457D-A31D-7AE45A797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57500"/>
            <a:ext cx="1492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EB25BE9-1365-4B4B-AF93-A73B0DC2E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028950"/>
            <a:ext cx="1225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BFF"/>
                </a:solidFill>
              </a:defRPr>
            </a:pPr>
            <a:r>
              <a:rPr sz="1500" b="1">
                <a:solidFill>
                  <a:srgbClr val="F8FBFF"/>
                </a:solidFill>
              </a:rPr>
              <a:t>Storage issue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7EA90B-A1FE-4FF4-AC3F-9B1AF8AC8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2325" y="3143250"/>
            <a:ext cx="285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4EB464-242E-4E9C-9D49-CCB142AFD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275" y="2857500"/>
            <a:ext cx="1492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E3CB6DD-CEDD-45F9-8BB9-7C48A2A92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7625" y="3028950"/>
            <a:ext cx="1225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BFF"/>
                </a:solidFill>
              </a:defRPr>
            </a:pPr>
            <a:r>
              <a:rPr sz="1500" b="1">
                <a:solidFill>
                  <a:srgbClr val="F8FBFF"/>
                </a:solidFill>
              </a:rPr>
              <a:t>HDFS / NoSQL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C862CD-F0A9-4AC3-9EE2-4B02B4B5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2725" y="3143250"/>
            <a:ext cx="285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7A4E6A-FD35-45D8-8587-0754F5291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4675" y="2857500"/>
            <a:ext cx="1492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BB37443-52F2-4144-86CD-C2B5D4BD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8025" y="3028950"/>
            <a:ext cx="1225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BFF"/>
                </a:solidFill>
              </a:defRPr>
            </a:pPr>
            <a:r>
              <a:rPr sz="1500" b="1">
                <a:solidFill>
                  <a:srgbClr val="F8FBFF"/>
                </a:solidFill>
              </a:rPr>
              <a:t>Processing issue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F0E985-A14D-4CC9-B929-8D8DF3A33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143250"/>
            <a:ext cx="285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BAB45C-7B0C-4A37-90CB-5A1D75A06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857500"/>
            <a:ext cx="1492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19E6C91D-746F-48CD-9352-4D05F4F8D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028950"/>
            <a:ext cx="1225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BFF"/>
                </a:solidFill>
              </a:defRPr>
            </a:pPr>
            <a:r>
              <a:rPr sz="1500" b="1">
                <a:solidFill>
                  <a:srgbClr val="F8FBFF"/>
                </a:solidFill>
              </a:rPr>
              <a:t>Spark / MapReduce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5A4D86-68A9-4CF9-9A9F-90564409F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3525" y="3143250"/>
            <a:ext cx="285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A4388D-C218-4462-B640-93AC11B15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5475" y="2857500"/>
            <a:ext cx="1492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8129944B-1E40-4745-93D1-E304761F9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8825" y="3028950"/>
            <a:ext cx="1225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BFF"/>
                </a:solidFill>
              </a:defRPr>
            </a:pPr>
            <a:r>
              <a:rPr sz="1500" b="1">
                <a:solidFill>
                  <a:srgbClr val="F8FBFF"/>
                </a:solidFill>
              </a:rPr>
              <a:t>Insight issue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B2D515-1072-45BA-BBCE-42D66BFA0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3925" y="3143250"/>
            <a:ext cx="285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4E11D0-7976-44B3-BFCE-C0951A2AD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5875" y="2857500"/>
            <a:ext cx="1492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310BC0CA-CF93-4C8E-ADBF-48F60223D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9225" y="3028950"/>
            <a:ext cx="1225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BFF"/>
                </a:solidFill>
              </a:defRPr>
            </a:pPr>
            <a:r>
              <a:rPr sz="1500" b="1">
                <a:solidFill>
                  <a:srgbClr val="F8FBFF"/>
                </a:solidFill>
              </a:rPr>
              <a:t>Analytics / BI</a:t>
            </a:r>
          </a:p>
        </p:txBody>
      </p:sp>
    </p:spTree>
    <p:extLst>
      <p:ext uri="{BB962C8B-B14F-4D97-AF65-F5344CB8AC3E}">
        <p14:creationId xmlns:p14="http://schemas.microsoft.com/office/powerpoint/2010/main" val="921791365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D2D41AF-B4BA-45A7-886B-B5ED81C23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A553395-6568-43C2-AC66-D9BEC5D62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BFF"/>
                </a:solidFill>
              </a:defRPr>
            </a:pPr>
            <a:r>
              <a:rPr sz="2850" b="1">
                <a:solidFill>
                  <a:srgbClr val="F8FBFF"/>
                </a:solidFill>
              </a:rPr>
              <a:t>Module 1 in one mind map</a:t>
            </a:r>
          </a:p>
        </p:txBody>
      </p:sp>
      <p:sp>
        <p:nvSpPr>
          <p:cNvPr id="3" name="objective">
            <a:extLst xmlns:a="http://schemas.openxmlformats.org/drawingml/2006/main">
              <a:ext uri="{FF2B5EF4-FFF2-40B4-BE49-F238E27FC236}">
                <a16:creationId xmlns:a16="http://schemas.microsoft.com/office/drawing/2014/main" id="{7E034B27-B7DD-4305-8A83-84D29EDA5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Connect all headings into a single revision view.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40D1F5-EF47-4EFE-BB2F-815C4A061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F7411B-4192-4674-9E03-8F70805DE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69DDB15-56D9-4177-9BC1-6E6CEA409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B6076FC-FD72-4041-B9B2-97FD41285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B881891-3F49-432E-9325-70BB51027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50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C98E96-C905-4B8C-9358-EB72FE3CB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62250"/>
            <a:ext cx="266700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AD4B7D4-EF9A-4612-B781-39A8F6D4B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0861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7111F"/>
                </a:solidFill>
              </a:defRPr>
            </a:pPr>
            <a:r>
              <a:rPr sz="2550" b="1">
                <a:solidFill>
                  <a:srgbClr val="07111F"/>
                </a:solidFill>
              </a:rPr>
              <a:t>Module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68C502-90D7-472B-A3FF-47B19494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280987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84158A-5D75-4B19-B810-D3BBBBF93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762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B5C4144-AD57-46E9-BE33-B144AEFCB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14525"/>
            <a:ext cx="2447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EC4B6"/>
                </a:solidFill>
              </a:defRPr>
            </a:pPr>
            <a:r>
              <a:rPr sz="1800" b="1">
                <a:solidFill>
                  <a:srgbClr val="2EC4B6"/>
                </a:solidFill>
              </a:rPr>
              <a:t>Data classes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BF6C9D76-2401-421F-A5F2-317B7389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95525"/>
            <a:ext cx="2447925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D96314-1C6C-4A00-A63C-3CCB76B8F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19250"/>
            <a:ext cx="280987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1550BB-EFEA-440D-829B-43562DAA3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19250"/>
            <a:ext cx="762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65294495-5211-4371-8CE5-57B04969B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771650"/>
            <a:ext cx="2447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5A7FF"/>
                </a:solidFill>
              </a:defRPr>
            </a:pPr>
            <a:r>
              <a:rPr sz="1800" b="1">
                <a:solidFill>
                  <a:srgbClr val="35A7FF"/>
                </a:solidFill>
              </a:rPr>
              <a:t>5Vs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6653E656-CFCE-4250-8944-5A8BB7CD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52650"/>
            <a:ext cx="2447925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860EBF-8732-40D6-A3D4-B4A963486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62125"/>
            <a:ext cx="280987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B26E3D-7E10-4F13-B2CF-EA39E1ABB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62125"/>
            <a:ext cx="762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9E58B2B2-2492-4423-BAEB-E740F7819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14525"/>
            <a:ext cx="2447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EC4B6"/>
                </a:solidFill>
              </a:defRPr>
            </a:pPr>
            <a:r>
              <a:rPr sz="1800" b="1">
                <a:solidFill>
                  <a:srgbClr val="2EC4B6"/>
                </a:solidFill>
              </a:rPr>
              <a:t>BI vs Big Data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B8C459B8-D71A-4B64-843E-F25CB902B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95525"/>
            <a:ext cx="2447925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BCFA5A-D520-422A-8312-DF4498C74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19625"/>
            <a:ext cx="280987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910507-56A7-4792-8C95-7D272C648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19625"/>
            <a:ext cx="762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81605068-D755-4987-8A03-73EB56078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72025"/>
            <a:ext cx="2447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5A7FF"/>
                </a:solidFill>
              </a:defRPr>
            </a:pPr>
            <a:r>
              <a:rPr sz="1800" b="1">
                <a:solidFill>
                  <a:srgbClr val="35A7FF"/>
                </a:solidFill>
              </a:rPr>
              <a:t>Warehouse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796115F0-4920-4C9F-8835-FDF1616B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53025"/>
            <a:ext cx="2447925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E840BC-A398-4FDE-9B91-C99379F57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905375"/>
            <a:ext cx="280987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0D9FAE-8DED-4295-9CBB-F02E3ED59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905375"/>
            <a:ext cx="762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6AC35088-CB77-4635-8CE8-B67AEFBC3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057775"/>
            <a:ext cx="2447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EC4B6"/>
                </a:solidFill>
              </a:defRPr>
            </a:pPr>
            <a:r>
              <a:rPr sz="1800" b="1">
                <a:solidFill>
                  <a:srgbClr val="2EC4B6"/>
                </a:solidFill>
              </a:rPr>
              <a:t>Hadoop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AC85FF48-FBFB-47E8-B0B2-A37E065A8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438775"/>
            <a:ext cx="2447925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D145E0-226B-44FA-8A81-B1C34FE1F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19625"/>
            <a:ext cx="280987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2F7AA4-0377-440C-9ED7-0A5BD52B6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19625"/>
            <a:ext cx="762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D8FB102F-BE8B-4578-8E98-FF256416A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772025"/>
            <a:ext cx="2447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5A7FF"/>
                </a:solidFill>
              </a:defRPr>
            </a:pPr>
            <a:r>
              <a:rPr sz="1800" b="1">
                <a:solidFill>
                  <a:srgbClr val="35A7FF"/>
                </a:solidFill>
              </a:rPr>
              <a:t>Analytics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1F7708A7-14EE-4554-BE45-8DF72C8E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153025"/>
            <a:ext cx="2447925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E4E07A3-21E0-4A1A-8FB1-CD995B9BF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90875"/>
            <a:ext cx="280987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3AB0E6F-178D-4348-9C47-57B599547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90875"/>
            <a:ext cx="762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17D2B534-BB6E-4189-92D6-97298C5CE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343275"/>
            <a:ext cx="2447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EC4B6"/>
                </a:solidFill>
              </a:defRPr>
            </a:pPr>
            <a:r>
              <a:rPr sz="1800" b="1">
                <a:solidFill>
                  <a:srgbClr val="2EC4B6"/>
                </a:solidFill>
              </a:rPr>
              <a:t>NoSQL/tools</a:t>
            </a:r>
          </a:p>
        </p:txBody>
      </p:sp>
      <p:sp>
        <p:nvSpPr>
          <p:cNvPr id="38" name="text">
            <a:extLst xmlns:a="http://schemas.openxmlformats.org/drawingml/2006/main">
              <a:ext uri="{FF2B5EF4-FFF2-40B4-BE49-F238E27FC236}">
                <a16:creationId xmlns:a16="http://schemas.microsoft.com/office/drawing/2014/main" id="{4951388E-EB32-4B64-9C0D-50548B63B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24275"/>
            <a:ext cx="2447925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617602440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F9893A-900A-49E9-B14B-A494C671C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46213DD-6C16-4437-BEC3-DD9624651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BFF"/>
                </a:solidFill>
              </a:defRPr>
            </a:pPr>
            <a:r>
              <a:rPr sz="2850" b="1">
                <a:solidFill>
                  <a:srgbClr val="F8FBFF"/>
                </a:solidFill>
              </a:rPr>
              <a:t>Exam points to write clearly</a:t>
            </a:r>
          </a:p>
        </p:txBody>
      </p:sp>
      <p:sp>
        <p:nvSpPr>
          <p:cNvPr id="3" name="objective">
            <a:extLst xmlns:a="http://schemas.openxmlformats.org/drawingml/2006/main">
              <a:ext uri="{FF2B5EF4-FFF2-40B4-BE49-F238E27FC236}">
                <a16:creationId xmlns:a16="http://schemas.microsoft.com/office/drawing/2014/main" id="{57EBBFA4-8311-4F68-8CDA-2051C6483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Turn concepts into answer-ready bullets.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928747-CBA6-435C-96CA-8E67B232E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C989D5-07C2-467D-9BD3-0A2A54C67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BAC05C5-9C3C-4624-B32D-0C037ABDF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21A74B7-4621-4683-8C02-B76946313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E3AD895-3143-499D-B2E7-9FC923E78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51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386ABF-4CD6-4823-984D-0AE9C1A85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1144948-45ED-4E1F-A951-E6191ED20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F40D79D-2D37-4954-8E06-ADCC571DC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16954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8FBFF"/>
                </a:solidFill>
              </a:defRPr>
            </a:pPr>
            <a:r>
              <a:rPr sz="1800">
                <a:solidFill>
                  <a:srgbClr val="F8FBFF"/>
                </a:solidFill>
              </a:rPr>
              <a:t>Start every answer with why the concept is needed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828042-F105-49EF-9DDB-D728DB6B5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4955C74-7693-44E3-AECB-BFC58A25B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F61E0652-EB98-492B-B10E-7634778C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2098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8FBFF"/>
                </a:solidFill>
              </a:defRPr>
            </a:pPr>
            <a:r>
              <a:rPr sz="1800">
                <a:solidFill>
                  <a:srgbClr val="F8FBFF"/>
                </a:solidFill>
              </a:rPr>
              <a:t>Use diagrams for warehouse, Hadoop, analytics classification, and 5Vs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6D499B-6FBD-4E94-AFBB-96B72D685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378475B0-E05D-4771-98FC-7C7E29EFC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F51C2C96-2DC4-4876-90C3-31EB22A48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7241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8FBFF"/>
                </a:solidFill>
              </a:defRPr>
            </a:pPr>
            <a:r>
              <a:rPr sz="1800">
                <a:solidFill>
                  <a:srgbClr val="F8FBFF"/>
                </a:solidFill>
              </a:rPr>
              <a:t>For comparisons, write columns with at least five points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4DFEF7-F47A-44F1-AB10-C55326811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C4774916-1F41-450C-8787-114A2153A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6779FACC-D733-4BDA-BD74-CFA213697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2385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8FBFF"/>
                </a:solidFill>
              </a:defRPr>
            </a:pPr>
            <a:r>
              <a:rPr sz="1800">
                <a:solidFill>
                  <a:srgbClr val="F8FBFF"/>
                </a:solidFill>
              </a:rPr>
              <a:t>Use examples: social media, banking fraud, healthcare, retail, education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725114-CBC3-4B80-B3F0-7D239AD7D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B2BB810F-2DB1-47D2-BF64-595B880BD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3F8F5C66-8FE7-4F1E-B501-CCDA3AE0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7528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8FBFF"/>
                </a:solidFill>
              </a:defRPr>
            </a:pPr>
            <a:r>
              <a:rPr sz="1800">
                <a:solidFill>
                  <a:srgbClr val="F8FBFF"/>
                </a:solidFill>
              </a:rPr>
              <a:t>Mention data quality, privacy, and skill gap in challenges</a:t>
            </a:r>
          </a:p>
        </p:txBody>
      </p:sp>
    </p:spTree>
    <p:extLst>
      <p:ext uri="{BB962C8B-B14F-4D97-AF65-F5344CB8AC3E}">
        <p14:creationId xmlns:p14="http://schemas.microsoft.com/office/powerpoint/2010/main" val="2102192861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4B1ABE-7363-4C60-9A35-AADA65338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A12FF49-A63E-463E-B715-2A33789A6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BFF"/>
                </a:solidFill>
              </a:defRPr>
            </a:pPr>
            <a:r>
              <a:rPr sz="2850" b="1">
                <a:solidFill>
                  <a:srgbClr val="F8FBFF"/>
                </a:solidFill>
              </a:rPr>
              <a:t>20 important viva questions</a:t>
            </a:r>
          </a:p>
        </p:txBody>
      </p:sp>
      <p:sp>
        <p:nvSpPr>
          <p:cNvPr id="3" name="objective">
            <a:extLst xmlns:a="http://schemas.openxmlformats.org/drawingml/2006/main">
              <a:ext uri="{FF2B5EF4-FFF2-40B4-BE49-F238E27FC236}">
                <a16:creationId xmlns:a16="http://schemas.microsoft.com/office/drawing/2014/main" id="{E9D1A563-E256-46E8-B2A4-00A74D212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Prepare quick oral revision.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94053E-AC35-4D60-8401-5D6EEAF9C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47D607-5D58-476F-9F62-83E01D2A8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DBEECEB-28C9-400F-986C-37162C0DB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CD1E190-B13F-4D4A-AB3A-320A099A4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168BDF7-7897-419C-A145-190D353DB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52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2D38AB9-16C8-481C-9E51-E93CDB758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1. What is Big Data?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5DD1B56-0A98-46A4-9B2B-824708BFB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716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2. Why do we need Big Data?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7712AD7-6DCC-4D1D-8E05-02579A2E6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3. Name the 5Vs.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945AA8A-A0B1-47AA-B2D7-47D735BF9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051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4. What is data classification?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F709350-CAE6-4642-9EDE-867985F32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5. Structured vs semi-structured data?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12BA9F9D-A0F7-4808-B382-B3E8EE501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385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6. Examples of unstructured data?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80CCD34-5AC3-446E-8175-04690855D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7. What is data warehouse?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7FAEC84-1682-412C-B8FB-2B856429E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720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8. What is ETL?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41047A65-EE70-446D-9119-1FFD84913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9. BI vs Big Data?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4E3FF37C-5FFE-4B1B-93F9-413167D7D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054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10. What is Hadoop?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CE6083BD-E41F-4BCD-AC5A-0A9195BE4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5049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11. What is HDFS?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F2088ACD-69AD-4228-80BC-05C22E011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716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12. What is MapReduce?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A0FE2680-96D9-4BBD-9403-B1B82CC44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384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13. What is YARN?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09E356B3-CA22-4818-8428-4D270AF2A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9051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14. What is Big Data Analytics?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A90E9CB9-F0A7-4DA7-9839-A66EB4ED2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718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15. Classify analytics.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06729517-6EB5-4182-8059-53FE7F9E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8385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16. What is NoSQL?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22FE4014-6C7B-4978-87ED-4CB450921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3053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17. Types of NoSQL?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C9322BE5-B772-4910-9DA1-D75858981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720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18. Name analytical tools.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B958F955-FE4D-4451-B0D3-B405DC35A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2387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19. Big Data challenges?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2F427C09-023D-415E-8115-492B4BD92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7054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20. Big Data applications?</a:t>
            </a:r>
          </a:p>
        </p:txBody>
      </p:sp>
    </p:spTree>
    <p:extLst>
      <p:ext uri="{BB962C8B-B14F-4D97-AF65-F5344CB8AC3E}">
        <p14:creationId xmlns:p14="http://schemas.microsoft.com/office/powerpoint/2010/main" val="1739282299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55C861-8443-4ECC-817F-50DBE7E58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9D672CD-8F1D-4ABC-9552-7617F5BA0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BFF"/>
                </a:solidFill>
              </a:defRPr>
            </a:pPr>
            <a:r>
              <a:rPr sz="2850" b="1">
                <a:solidFill>
                  <a:srgbClr val="F8FBFF"/>
                </a:solidFill>
              </a:rPr>
              <a:t>10 two-mark questions</a:t>
            </a:r>
          </a:p>
        </p:txBody>
      </p:sp>
      <p:sp>
        <p:nvSpPr>
          <p:cNvPr id="3" name="objective">
            <a:extLst xmlns:a="http://schemas.openxmlformats.org/drawingml/2006/main">
              <a:ext uri="{FF2B5EF4-FFF2-40B4-BE49-F238E27FC236}">
                <a16:creationId xmlns:a16="http://schemas.microsoft.com/office/drawing/2014/main" id="{E9F3AC09-4E0F-4D28-9434-11DDC1D4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Practice short factual answers.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D8F670-88A5-463D-B477-35C13B620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0BAD11-A04E-4510-9B71-AFC532CF7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726D937-5DB1-4B40-A0C3-2429BAB2F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E3F5D87-CF0A-4744-8BBB-391F0E105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D93C66C-187D-4866-AC5D-9A27F02CD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53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96720C3-808A-472C-B579-535599895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1. Define Big Data.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8161C84-34DF-4DAD-A500-0FDBC1925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716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2. List the 5Vs.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9301D9E-0248-4C96-8090-2D4CB218D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3. Define structured data.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AFD03AB-33A2-4F06-9FA9-3AB964BEC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051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4. Give two examples of semi-structured data.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01FD2E8-5296-4B70-AB4F-9184F4E0F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5. What is data warehouse?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EA624BCA-5E2E-4AA1-8EB6-0B0AFEEC3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385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6. Expand ETL.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F8C6508-0AD1-42AF-8A70-F5A8C20BF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7. What is Hadoop?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9720BD5-F553-481D-AC5A-19C661ED9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720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8. Define Big Data Analytics.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95105296-B015-4828-BE7F-BAF6377AF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9. List any two NoSQL database types.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132AA5D-D86F-402F-B944-6CEF4ED99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054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10. Name any two analytical tools.</a:t>
            </a:r>
          </a:p>
        </p:txBody>
      </p:sp>
    </p:spTree>
    <p:extLst>
      <p:ext uri="{BB962C8B-B14F-4D97-AF65-F5344CB8AC3E}">
        <p14:creationId xmlns:p14="http://schemas.microsoft.com/office/powerpoint/2010/main" val="18305335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70D9AD-3811-4A20-84F7-EB224A43C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049BDB4-A501-4C8B-A716-D2538B5FD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BFF"/>
                </a:solidFill>
              </a:defRPr>
            </a:pPr>
            <a:r>
              <a:rPr sz="2850" b="1">
                <a:solidFill>
                  <a:srgbClr val="F8FBFF"/>
                </a:solidFill>
              </a:rPr>
              <a:t>10 five-mark questions</a:t>
            </a:r>
          </a:p>
        </p:txBody>
      </p:sp>
      <p:sp>
        <p:nvSpPr>
          <p:cNvPr id="3" name="objective">
            <a:extLst xmlns:a="http://schemas.openxmlformats.org/drawingml/2006/main">
              <a:ext uri="{FF2B5EF4-FFF2-40B4-BE49-F238E27FC236}">
                <a16:creationId xmlns:a16="http://schemas.microsoft.com/office/drawing/2014/main" id="{13ACBB62-0062-4CF5-826C-30DC2D1E4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Practice explanation-length answers.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AA778E-5499-45E5-BE39-F65F6DADC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9C8842-7B5D-4FAC-8CB7-2C9052882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09EF593-99EB-4E4F-BE34-1A1D0281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15CDE8F-CECE-4AC5-8415-ABA1D337D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C0DFEF6-6AC7-419A-844E-FD162A3AA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54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E75EC30-2FF8-4321-A9E9-27ED2A77A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1. Explain classification of data with examples.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A1DB837-519E-4B36-AF98-DDDD7A59A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716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2. Explain characteristics of Big Data.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76EA541-DA42-41B8-B988-73E67E560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3. Differentiate Traditional BI and Big Data.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E85A1CA-379B-42AC-8CF6-D4CF032C9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051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4. Explain typical data warehouse architecture.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DF9D61A-40C7-45F8-A773-2CF31FAB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5. Explain Hadoop environment at a high level.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BB49B4FD-6D23-4022-AD7F-7A2E9F083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385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6. Explain classification of analytics.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6236545-B52B-47BE-995D-C7D16B9F5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7. Discuss importance of Big Data Analytics.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6813343C-0FDF-42DB-BDD0-03BCFE1FD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720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8. Explain NoSQL and its types.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D5EF9121-03DD-44A4-8E03-0A3D64622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9. Describe technologies used in Big Data environments.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116E5EB-BB7B-48B4-A4CE-6D5575118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054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10. List advantages and challenges of Big Data.</a:t>
            </a:r>
          </a:p>
        </p:txBody>
      </p:sp>
    </p:spTree>
    <p:extLst>
      <p:ext uri="{BB962C8B-B14F-4D97-AF65-F5344CB8AC3E}">
        <p14:creationId xmlns:p14="http://schemas.microsoft.com/office/powerpoint/2010/main" val="1196693315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3360A3-A9D8-4CFB-93D7-2808E3E3A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BDCD0CB-9110-4A2D-B622-A36062FBB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BFF"/>
                </a:solidFill>
              </a:defRPr>
            </a:pPr>
            <a:r>
              <a:rPr sz="2850" b="1">
                <a:solidFill>
                  <a:srgbClr val="F8FBFF"/>
                </a:solidFill>
              </a:rPr>
              <a:t>10 ten-mark questions and VTU placeholders</a:t>
            </a:r>
          </a:p>
        </p:txBody>
      </p:sp>
      <p:sp>
        <p:nvSpPr>
          <p:cNvPr id="3" name="objective">
            <a:extLst xmlns:a="http://schemas.openxmlformats.org/drawingml/2006/main">
              <a:ext uri="{FF2B5EF4-FFF2-40B4-BE49-F238E27FC236}">
                <a16:creationId xmlns:a16="http://schemas.microsoft.com/office/drawing/2014/main" id="{4154C8CF-DC30-43D8-A19A-D5424C5D3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Prepare long-answer structure.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7AF6E9-F6AD-44D6-96AB-66F171B7A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653030-41FC-4395-8836-E1FA93320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56240DF-2CC0-4A59-838D-0293452B4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CAB48E5-8DED-4498-939F-FC9DD0B5C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ACFE320-173B-495F-8FE2-8E113FD7F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55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727928A-9012-4841-9E9B-D9029838C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1. Explain Big Data evolution, definition, characteristics, advantages, and challenges.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2566C83-13D4-48A3-B66C-F00255F7C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716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2. Explain Traditional BI vs Big Data with use cases.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6A95356-BFF6-4954-B674-9283F05B3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3. Explain data warehouse and Hadoop environment with diagrams.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05FE2F3-FCE5-41B0-B6A4-470FE41CF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051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4. Explain Big Data Analytics, classification, importance, applications, and tools.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69DE7C8-3DA0-4914-94A1-C402EAF4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5. Explain data classification and how it influences storage technology.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FC84F069-6DBD-418C-8760-CB44F9770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385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6. Previous VTU Q1 placeholder: fill from past paper.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8D700AF-DE63-4208-B6C9-681AC25D0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7. Previous VTU Q2 placeholder: fill from past paper.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E3E7E35-E4F0-44A4-80F4-964308D1F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720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8. Previous VTU Q3 placeholder: fill from past paper.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09A377DC-0427-4534-9C41-05A530D32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9. Previous VTU Q4 placeholder: fill from past paper.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B422EDC8-9693-422B-8FD3-9A4C95CEA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054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10. Previous VTU Q5 placeholder: fill from past paper.</a:t>
            </a:r>
          </a:p>
        </p:txBody>
      </p:sp>
    </p:spTree>
    <p:extLst>
      <p:ext uri="{BB962C8B-B14F-4D97-AF65-F5344CB8AC3E}">
        <p14:creationId xmlns:p14="http://schemas.microsoft.com/office/powerpoint/2010/main" val="1312683280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D4B13E-F611-483A-B1D4-1C18555BC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5A0F781-D21E-4590-A2A8-5E478AA9E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BFF"/>
                </a:solidFill>
              </a:defRPr>
            </a:pPr>
            <a:r>
              <a:rPr sz="2850" b="1">
                <a:solidFill>
                  <a:srgbClr val="F8FBFF"/>
                </a:solidFill>
              </a:rPr>
              <a:t>One-page revision and keyword sheet</a:t>
            </a:r>
          </a:p>
        </p:txBody>
      </p:sp>
      <p:sp>
        <p:nvSpPr>
          <p:cNvPr id="3" name="objective">
            <a:extLst xmlns:a="http://schemas.openxmlformats.org/drawingml/2006/main">
              <a:ext uri="{FF2B5EF4-FFF2-40B4-BE49-F238E27FC236}">
                <a16:creationId xmlns:a16="http://schemas.microsoft.com/office/drawing/2014/main" id="{6CBF347E-3E8C-4272-B076-364D4428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Close with a compact last-minute memory page.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829D49-9E69-4B27-A77E-E18564DEF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BC7ABA-7226-4022-99A7-3CB605D89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97D7103-619F-4A5A-AB3C-7CBD2E642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6C586F4-7E33-47F8-8E4D-F4177CA1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E4B06B1-2DCD-42C3-8526-66E6415E3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56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D287EB-FAF5-4672-829B-1101E9CFD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668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6716BF-43EF-4B16-A696-006996C1D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EC09868-AEA5-45EE-B564-A784F154E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66900"/>
            <a:ext cx="1030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9F1C"/>
                </a:solidFill>
              </a:defRPr>
            </a:pPr>
            <a:r>
              <a:rPr sz="1800" b="1">
                <a:solidFill>
                  <a:srgbClr val="FF9F1C"/>
                </a:solidFill>
              </a:rPr>
              <a:t>Keywords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BFAAD6F-6055-4DD4-A787-534AA34EE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47900"/>
            <a:ext cx="103060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Data, information, knowledge; structured, semi-structured, unstructured; 5Vs; BI; data warehouse; ETL; Hadoop; HDFS; MapReduce; YARN; analytics classes; NoSQL; tools.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21C15E-91BF-44A7-A3F2-B9EF770E8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10668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E7849F-DB86-4BAD-863F-503CA135F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E06532E-DC4A-43F7-A338-B7D41DABF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76650"/>
            <a:ext cx="1030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5A7FF"/>
                </a:solidFill>
              </a:defRPr>
            </a:pPr>
            <a:r>
              <a:rPr sz="1800" b="1">
                <a:solidFill>
                  <a:srgbClr val="35A7FF"/>
                </a:solidFill>
              </a:rPr>
              <a:t>Formula-like memory path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D28D4DC-5F7B-4927-B406-80BBBF457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57650"/>
            <a:ext cx="10306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WHY data exploded → WHAT Big Data is → HOW platforms store/process it → HOW analytics extracts value.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95A400-EF8A-44A6-9363-CBFA31EB0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0"/>
            <a:ext cx="10668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6373A6-EE49-497A-A8DA-7C15CC06A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86CFCE3C-B871-4FD5-89AF-B7EAC3173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00650"/>
            <a:ext cx="1030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EC4B6"/>
                </a:solidFill>
              </a:defRPr>
            </a:pPr>
            <a:r>
              <a:rPr sz="1800" b="1">
                <a:solidFill>
                  <a:srgbClr val="2EC4B6"/>
                </a:solidFill>
              </a:rPr>
              <a:t>Final shortcut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21736E60-6224-454D-B3FB-24A30603D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581650"/>
            <a:ext cx="10306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Definition + diagram + example + advantage/challenge = strong exam answer.</a:t>
            </a:r>
          </a:p>
        </p:txBody>
      </p:sp>
    </p:spTree>
    <p:extLst>
      <p:ext uri="{BB962C8B-B14F-4D97-AF65-F5344CB8AC3E}">
        <p14:creationId xmlns:p14="http://schemas.microsoft.com/office/powerpoint/2010/main" val="6905096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2026-08-03T05:31:44.6440000Z</dcterms:created>
  <dcterms:modified xsi:type="dcterms:W3CDTF">2026-08-03T05:31:44.6440000Z</dcterms:modified>
</coreProperties>
</file>