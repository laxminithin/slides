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26.xml" ContentType="application/vnd.openxmlformats-officedocument.presentationml.slide+xml"/>
  <Override PartName="/ppt/notesSlides/notesSlide26.xml" ContentType="application/vnd.openxmlformats-officedocument.presentationml.notesSlide+xml"/>
  <Override PartName="/ppt/slides/slide27.xml" ContentType="application/vnd.openxmlformats-officedocument.presentationml.slide+xml"/>
  <Override PartName="/ppt/notesSlides/notesSlide27.xml" ContentType="application/vnd.openxmlformats-officedocument.presentationml.notesSlide+xml"/>
  <Override PartName="/ppt/slides/slide28.xml" ContentType="application/vnd.openxmlformats-officedocument.presentationml.slide+xml"/>
  <Override PartName="/ppt/notesSlides/notesSlide28.xml" ContentType="application/vnd.openxmlformats-officedocument.presentationml.notesSlide+xml"/>
  <Override PartName="/ppt/slides/slide29.xml" ContentType="application/vnd.openxmlformats-officedocument.presentationml.slide+xml"/>
  <Override PartName="/ppt/notesSlides/notesSlide29.xml" ContentType="application/vnd.openxmlformats-officedocument.presentationml.notesSlide+xml"/>
  <Override PartName="/ppt/slides/slide30.xml" ContentType="application/vnd.openxmlformats-officedocument.presentationml.slide+xml"/>
  <Override PartName="/ppt/notesSlides/notesSlide30.xml" ContentType="application/vnd.openxmlformats-officedocument.presentationml.notesSlide+xml"/>
  <Override PartName="/ppt/slides/slide31.xml" ContentType="application/vnd.openxmlformats-officedocument.presentationml.slide+xml"/>
  <Override PartName="/ppt/notesSlides/notesSlide31.xml" ContentType="application/vnd.openxmlformats-officedocument.presentationml.notesSlide+xml"/>
  <Override PartName="/ppt/slides/slide32.xml" ContentType="application/vnd.openxmlformats-officedocument.presentationml.slide+xml"/>
  <Override PartName="/ppt/notesSlides/notesSlide32.xml" ContentType="application/vnd.openxmlformats-officedocument.presentationml.notesSlide+xml"/>
  <Override PartName="/ppt/slides/slide33.xml" ContentType="application/vnd.openxmlformats-officedocument.presentationml.slide+xml"/>
  <Override PartName="/ppt/notesSlides/notesSlide33.xml" ContentType="application/vnd.openxmlformats-officedocument.presentationml.notesSlide+xml"/>
  <Override PartName="/ppt/slides/slide34.xml" ContentType="application/vnd.openxmlformats-officedocument.presentationml.slide+xml"/>
  <Override PartName="/ppt/notesSlides/notesSlide34.xml" ContentType="application/vnd.openxmlformats-officedocument.presentationml.notesSlide+xml"/>
  <Override PartName="/ppt/slides/slide35.xml" ContentType="application/vnd.openxmlformats-officedocument.presentationml.slide+xml"/>
  <Override PartName="/ppt/notesSlides/notesSlide35.xml" ContentType="application/vnd.openxmlformats-officedocument.presentationml.notesSlide+xml"/>
  <Override PartName="/ppt/slides/slide36.xml" ContentType="application/vnd.openxmlformats-officedocument.presentationml.slide+xml"/>
  <Override PartName="/ppt/notesSlides/notesSlide36.xml" ContentType="application/vnd.openxmlformats-officedocument.presentationml.notesSlide+xml"/>
  <Override PartName="/ppt/slides/slide37.xml" ContentType="application/vnd.openxmlformats-officedocument.presentationml.slide+xml"/>
  <Override PartName="/ppt/notesSlides/notesSlide37.xml" ContentType="application/vnd.openxmlformats-officedocument.presentationml.notesSlide+xml"/>
  <Override PartName="/ppt/slides/slide38.xml" ContentType="application/vnd.openxmlformats-officedocument.presentationml.slide+xml"/>
  <Override PartName="/ppt/notesSlides/notesSlide38.xml" ContentType="application/vnd.openxmlformats-officedocument.presentationml.notesSlide+xml"/>
  <Override PartName="/ppt/slides/slide39.xml" ContentType="application/vnd.openxmlformats-officedocument.presentationml.slide+xml"/>
  <Override PartName="/ppt/notesSlides/notesSlide39.xml" ContentType="application/vnd.openxmlformats-officedocument.presentationml.notesSlide+xml"/>
  <Override PartName="/ppt/slides/slide40.xml" ContentType="application/vnd.openxmlformats-officedocument.presentationml.slide+xml"/>
  <Override PartName="/ppt/notesSlides/notesSlide4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da968824271e4377" /><Relationship Type="http://schemas.openxmlformats.org/officeDocument/2006/relationships/extended-properties" Target="/docProps/app.xml" Id="R75f696e815b2468d" /><Relationship Type="http://schemas.openxmlformats.org/officeDocument/2006/relationships/officeDocument" Target="/ppt/presentation.xml" Id="R8da7e4cfc4a6427f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2dcb894240324be4"/>
  </p:sldMasterIdLst>
  <p:notesMasterIdLst>
    <p:notesMasterId xmlns:r="http://schemas.openxmlformats.org/officeDocument/2006/relationships" r:id="Ref4be40658bd4c5c"/>
  </p:notesMasterIdLst>
  <p:sldIdLst>
    <p:sldId xmlns:r="http://schemas.openxmlformats.org/officeDocument/2006/relationships" id="256" r:id="R69e09602f61944c0"/>
    <p:sldId xmlns:r="http://schemas.openxmlformats.org/officeDocument/2006/relationships" id="257" r:id="R28c7151cff4f41d6"/>
    <p:sldId xmlns:r="http://schemas.openxmlformats.org/officeDocument/2006/relationships" id="258" r:id="R6258d4bd9e854ce7"/>
    <p:sldId xmlns:r="http://schemas.openxmlformats.org/officeDocument/2006/relationships" id="259" r:id="R2411d592a55143f7"/>
    <p:sldId xmlns:r="http://schemas.openxmlformats.org/officeDocument/2006/relationships" id="260" r:id="Rf3b870c0eed64733"/>
    <p:sldId xmlns:r="http://schemas.openxmlformats.org/officeDocument/2006/relationships" id="261" r:id="R8b116fed6ee44f90"/>
    <p:sldId xmlns:r="http://schemas.openxmlformats.org/officeDocument/2006/relationships" id="262" r:id="Rc6e7a92f64024175"/>
    <p:sldId xmlns:r="http://schemas.openxmlformats.org/officeDocument/2006/relationships" id="263" r:id="R66200a9ca2dc4c59"/>
    <p:sldId xmlns:r="http://schemas.openxmlformats.org/officeDocument/2006/relationships" id="264" r:id="R496f7484936345bc"/>
    <p:sldId xmlns:r="http://schemas.openxmlformats.org/officeDocument/2006/relationships" id="265" r:id="R2cde7cd22c034413"/>
    <p:sldId xmlns:r="http://schemas.openxmlformats.org/officeDocument/2006/relationships" id="266" r:id="Rbb7035830e944506"/>
    <p:sldId xmlns:r="http://schemas.openxmlformats.org/officeDocument/2006/relationships" id="267" r:id="Rd294117707f8424d"/>
    <p:sldId xmlns:r="http://schemas.openxmlformats.org/officeDocument/2006/relationships" id="268" r:id="R0a92cdff63134c8b"/>
    <p:sldId xmlns:r="http://schemas.openxmlformats.org/officeDocument/2006/relationships" id="269" r:id="R6cae56986f6b4197"/>
    <p:sldId xmlns:r="http://schemas.openxmlformats.org/officeDocument/2006/relationships" id="270" r:id="R98ec37188d984149"/>
    <p:sldId xmlns:r="http://schemas.openxmlformats.org/officeDocument/2006/relationships" id="271" r:id="R25d61000f48a45c2"/>
    <p:sldId xmlns:r="http://schemas.openxmlformats.org/officeDocument/2006/relationships" id="272" r:id="R7f4e017d6e214054"/>
    <p:sldId xmlns:r="http://schemas.openxmlformats.org/officeDocument/2006/relationships" id="273" r:id="R804435e2b4d7466e"/>
    <p:sldId xmlns:r="http://schemas.openxmlformats.org/officeDocument/2006/relationships" id="274" r:id="R721f19b1e61d4019"/>
    <p:sldId xmlns:r="http://schemas.openxmlformats.org/officeDocument/2006/relationships" id="275" r:id="Rdb21cead414d4e93"/>
    <p:sldId xmlns:r="http://schemas.openxmlformats.org/officeDocument/2006/relationships" id="276" r:id="R4d61c3214abb4c4b"/>
    <p:sldId xmlns:r="http://schemas.openxmlformats.org/officeDocument/2006/relationships" id="277" r:id="R16fc19f49d0c4dc9"/>
    <p:sldId xmlns:r="http://schemas.openxmlformats.org/officeDocument/2006/relationships" id="278" r:id="R1f32da9d496740da"/>
    <p:sldId xmlns:r="http://schemas.openxmlformats.org/officeDocument/2006/relationships" id="279" r:id="Rd895a75c24de4ffe"/>
    <p:sldId xmlns:r="http://schemas.openxmlformats.org/officeDocument/2006/relationships" id="280" r:id="Rac3615582a204a15"/>
    <p:sldId xmlns:r="http://schemas.openxmlformats.org/officeDocument/2006/relationships" id="281" r:id="Ra96a536cd8a342f4"/>
    <p:sldId xmlns:r="http://schemas.openxmlformats.org/officeDocument/2006/relationships" id="282" r:id="R078126387bc945d6"/>
    <p:sldId xmlns:r="http://schemas.openxmlformats.org/officeDocument/2006/relationships" id="283" r:id="Rde6fe6cfb2db4861"/>
    <p:sldId xmlns:r="http://schemas.openxmlformats.org/officeDocument/2006/relationships" id="284" r:id="R7126598aeacc4aa8"/>
    <p:sldId xmlns:r="http://schemas.openxmlformats.org/officeDocument/2006/relationships" id="285" r:id="R0395336faed64338"/>
    <p:sldId xmlns:r="http://schemas.openxmlformats.org/officeDocument/2006/relationships" id="286" r:id="Re4eec0ed5c494188"/>
    <p:sldId xmlns:r="http://schemas.openxmlformats.org/officeDocument/2006/relationships" id="287" r:id="R3e2950d0ad1640e5"/>
    <p:sldId xmlns:r="http://schemas.openxmlformats.org/officeDocument/2006/relationships" id="288" r:id="R658d86af13384788"/>
    <p:sldId xmlns:r="http://schemas.openxmlformats.org/officeDocument/2006/relationships" id="289" r:id="Rc23083f739ff43bd"/>
    <p:sldId xmlns:r="http://schemas.openxmlformats.org/officeDocument/2006/relationships" id="290" r:id="R75c51782b8e44836"/>
    <p:sldId xmlns:r="http://schemas.openxmlformats.org/officeDocument/2006/relationships" id="291" r:id="Rc0abcf4d18994e06"/>
    <p:sldId xmlns:r="http://schemas.openxmlformats.org/officeDocument/2006/relationships" id="292" r:id="R6625a30649384e31"/>
    <p:sldId xmlns:r="http://schemas.openxmlformats.org/officeDocument/2006/relationships" id="293" r:id="R0aa0d4256f3e4361"/>
    <p:sldId xmlns:r="http://schemas.openxmlformats.org/officeDocument/2006/relationships" id="294" r:id="R6801ced1012c4e11"/>
    <p:sldId xmlns:r="http://schemas.openxmlformats.org/officeDocument/2006/relationships" id="295" r:id="R1d5f0d9b0c614d33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bb87f9e491e14231" /><Relationship Type="http://schemas.openxmlformats.org/officeDocument/2006/relationships/slideMaster" Target="/ppt/slideMasters/slideMaster1.xml" Id="R2dcb894240324be4" /><Relationship Type="http://schemas.openxmlformats.org/officeDocument/2006/relationships/notesMaster" Target="/ppt/notesMasters/notesMaster1.xml" Id="Ref4be40658bd4c5c" /><Relationship Type="http://schemas.openxmlformats.org/officeDocument/2006/relationships/presProps" Target="/ppt/presProps.xml" Id="Ra726dba613954de8" /><Relationship Type="http://schemas.openxmlformats.org/officeDocument/2006/relationships/tableStyles" Target="/ppt/tableStyles.xml" Id="R7f9299ffb76e46ed" /><Relationship Type="http://schemas.openxmlformats.org/officeDocument/2006/relationships/slide" Target="/ppt/slides/slide1.xml" Id="R69e09602f61944c0" /><Relationship Type="http://schemas.openxmlformats.org/officeDocument/2006/relationships/slide" Target="/ppt/slides/slide2.xml" Id="R28c7151cff4f41d6" /><Relationship Type="http://schemas.openxmlformats.org/officeDocument/2006/relationships/slide" Target="/ppt/slides/slide3.xml" Id="R6258d4bd9e854ce7" /><Relationship Type="http://schemas.openxmlformats.org/officeDocument/2006/relationships/slide" Target="/ppt/slides/slide4.xml" Id="R2411d592a55143f7" /><Relationship Type="http://schemas.openxmlformats.org/officeDocument/2006/relationships/slide" Target="/ppt/slides/slide5.xml" Id="Rf3b870c0eed64733" /><Relationship Type="http://schemas.openxmlformats.org/officeDocument/2006/relationships/slide" Target="/ppt/slides/slide6.xml" Id="R8b116fed6ee44f90" /><Relationship Type="http://schemas.openxmlformats.org/officeDocument/2006/relationships/slide" Target="/ppt/slides/slide7.xml" Id="Rc6e7a92f64024175" /><Relationship Type="http://schemas.openxmlformats.org/officeDocument/2006/relationships/slide" Target="/ppt/slides/slide8.xml" Id="R66200a9ca2dc4c59" /><Relationship Type="http://schemas.openxmlformats.org/officeDocument/2006/relationships/slide" Target="/ppt/slides/slide9.xml" Id="R496f7484936345bc" /><Relationship Type="http://schemas.openxmlformats.org/officeDocument/2006/relationships/slide" Target="/ppt/slides/slide10.xml" Id="R2cde7cd22c034413" /><Relationship Type="http://schemas.openxmlformats.org/officeDocument/2006/relationships/slide" Target="/ppt/slides/slide11.xml" Id="Rbb7035830e944506" /><Relationship Type="http://schemas.openxmlformats.org/officeDocument/2006/relationships/slide" Target="/ppt/slides/slide12.xml" Id="Rd294117707f8424d" /><Relationship Type="http://schemas.openxmlformats.org/officeDocument/2006/relationships/slide" Target="/ppt/slides/slide13.xml" Id="R0a92cdff63134c8b" /><Relationship Type="http://schemas.openxmlformats.org/officeDocument/2006/relationships/slide" Target="/ppt/slides/slide14.xml" Id="R6cae56986f6b4197" /><Relationship Type="http://schemas.openxmlformats.org/officeDocument/2006/relationships/slide" Target="/ppt/slides/slide15.xml" Id="R98ec37188d984149" /><Relationship Type="http://schemas.openxmlformats.org/officeDocument/2006/relationships/slide" Target="/ppt/slides/slide16.xml" Id="R25d61000f48a45c2" /><Relationship Type="http://schemas.openxmlformats.org/officeDocument/2006/relationships/slide" Target="/ppt/slides/slide17.xml" Id="R7f4e017d6e214054" /><Relationship Type="http://schemas.openxmlformats.org/officeDocument/2006/relationships/slide" Target="/ppt/slides/slide18.xml" Id="R804435e2b4d7466e" /><Relationship Type="http://schemas.openxmlformats.org/officeDocument/2006/relationships/slide" Target="/ppt/slides/slide19.xml" Id="R721f19b1e61d4019" /><Relationship Type="http://schemas.openxmlformats.org/officeDocument/2006/relationships/slide" Target="/ppt/slides/slide20.xml" Id="Rdb21cead414d4e93" /><Relationship Type="http://schemas.openxmlformats.org/officeDocument/2006/relationships/slide" Target="/ppt/slides/slide21.xml" Id="R4d61c3214abb4c4b" /><Relationship Type="http://schemas.openxmlformats.org/officeDocument/2006/relationships/slide" Target="/ppt/slides/slide22.xml" Id="R16fc19f49d0c4dc9" /><Relationship Type="http://schemas.openxmlformats.org/officeDocument/2006/relationships/slide" Target="/ppt/slides/slide23.xml" Id="R1f32da9d496740da" /><Relationship Type="http://schemas.openxmlformats.org/officeDocument/2006/relationships/slide" Target="/ppt/slides/slide24.xml" Id="Rd895a75c24de4ffe" /><Relationship Type="http://schemas.openxmlformats.org/officeDocument/2006/relationships/slide" Target="/ppt/slides/slide25.xml" Id="Rac3615582a204a15" /><Relationship Type="http://schemas.openxmlformats.org/officeDocument/2006/relationships/slide" Target="/ppt/slides/slide26.xml" Id="Ra96a536cd8a342f4" /><Relationship Type="http://schemas.openxmlformats.org/officeDocument/2006/relationships/slide" Target="/ppt/slides/slide27.xml" Id="R078126387bc945d6" /><Relationship Type="http://schemas.openxmlformats.org/officeDocument/2006/relationships/slide" Target="/ppt/slides/slide28.xml" Id="Rde6fe6cfb2db4861" /><Relationship Type="http://schemas.openxmlformats.org/officeDocument/2006/relationships/slide" Target="/ppt/slides/slide29.xml" Id="R7126598aeacc4aa8" /><Relationship Type="http://schemas.openxmlformats.org/officeDocument/2006/relationships/slide" Target="/ppt/slides/slide30.xml" Id="R0395336faed64338" /><Relationship Type="http://schemas.openxmlformats.org/officeDocument/2006/relationships/slide" Target="/ppt/slides/slide31.xml" Id="Re4eec0ed5c494188" /><Relationship Type="http://schemas.openxmlformats.org/officeDocument/2006/relationships/slide" Target="/ppt/slides/slide32.xml" Id="R3e2950d0ad1640e5" /><Relationship Type="http://schemas.openxmlformats.org/officeDocument/2006/relationships/slide" Target="/ppt/slides/slide33.xml" Id="R658d86af13384788" /><Relationship Type="http://schemas.openxmlformats.org/officeDocument/2006/relationships/slide" Target="/ppt/slides/slide34.xml" Id="Rc23083f739ff43bd" /><Relationship Type="http://schemas.openxmlformats.org/officeDocument/2006/relationships/slide" Target="/ppt/slides/slide35.xml" Id="R75c51782b8e44836" /><Relationship Type="http://schemas.openxmlformats.org/officeDocument/2006/relationships/slide" Target="/ppt/slides/slide36.xml" Id="Rc0abcf4d18994e06" /><Relationship Type="http://schemas.openxmlformats.org/officeDocument/2006/relationships/slide" Target="/ppt/slides/slide37.xml" Id="R6625a30649384e31" /><Relationship Type="http://schemas.openxmlformats.org/officeDocument/2006/relationships/slide" Target="/ppt/slides/slide38.xml" Id="R0aa0d4256f3e4361" /><Relationship Type="http://schemas.openxmlformats.org/officeDocument/2006/relationships/slide" Target="/ppt/slides/slide39.xml" Id="R6801ced1012c4e11" /><Relationship Type="http://schemas.openxmlformats.org/officeDocument/2006/relationships/slide" Target="/ppt/slides/slide40.xml" Id="R1d5f0d9b0c614d33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6b46a72b97e9486f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133333bfd8ab48f9" /><Relationship Type="http://schemas.openxmlformats.org/officeDocument/2006/relationships/notesMaster" Target="/ppt/notesMasters/notesMaster1.xml" Id="R5407c29ed6904685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d22100a5fb114006" /><Relationship Type="http://schemas.openxmlformats.org/officeDocument/2006/relationships/notesMaster" Target="/ppt/notesMasters/notesMaster1.xml" Id="R135e3097026f4487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670e3a87770d48ec" /><Relationship Type="http://schemas.openxmlformats.org/officeDocument/2006/relationships/notesMaster" Target="/ppt/notesMasters/notesMaster1.xml" Id="Rfe71afcbe79143a7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5b82aa131cfc4d02" /><Relationship Type="http://schemas.openxmlformats.org/officeDocument/2006/relationships/notesMaster" Target="/ppt/notesMasters/notesMaster1.xml" Id="Rb92e8a6ff2904e7e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4f2852e8f508485e" /><Relationship Type="http://schemas.openxmlformats.org/officeDocument/2006/relationships/notesMaster" Target="/ppt/notesMasters/notesMaster1.xml" Id="R6ec1e2d7bef44733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fac772c6a8c54a7a" /><Relationship Type="http://schemas.openxmlformats.org/officeDocument/2006/relationships/notesMaster" Target="/ppt/notesMasters/notesMaster1.xml" Id="R7cd2dc91b0bd41b6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324ad449773d425f" /><Relationship Type="http://schemas.openxmlformats.org/officeDocument/2006/relationships/notesMaster" Target="/ppt/notesMasters/notesMaster1.xml" Id="Rd103640669f54f30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1e784878a3a64a1c" /><Relationship Type="http://schemas.openxmlformats.org/officeDocument/2006/relationships/notesMaster" Target="/ppt/notesMasters/notesMaster1.xml" Id="R335e60a312d44380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d58d6c7fad53432b" /><Relationship Type="http://schemas.openxmlformats.org/officeDocument/2006/relationships/notesMaster" Target="/ppt/notesMasters/notesMaster1.xml" Id="Raa1efa4bdaef42db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c8b84b2cc638454a" /><Relationship Type="http://schemas.openxmlformats.org/officeDocument/2006/relationships/notesMaster" Target="/ppt/notesMasters/notesMaster1.xml" Id="R8a03bc1b7f234ad7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386e6246188a4508" /><Relationship Type="http://schemas.openxmlformats.org/officeDocument/2006/relationships/notesMaster" Target="/ppt/notesMasters/notesMaster1.xml" Id="R164f11b4659943fd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4a3eeee8d8c443a9" /><Relationship Type="http://schemas.openxmlformats.org/officeDocument/2006/relationships/notesMaster" Target="/ppt/notesMasters/notesMaster1.xml" Id="Re49c2c00d413457f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e68687c8f5c14bcf" /><Relationship Type="http://schemas.openxmlformats.org/officeDocument/2006/relationships/notesMaster" Target="/ppt/notesMasters/notesMaster1.xml" Id="Ra4555dc4020a4a44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8c70cb6da04d445b" /><Relationship Type="http://schemas.openxmlformats.org/officeDocument/2006/relationships/notesMaster" Target="/ppt/notesMasters/notesMaster1.xml" Id="R876d23c186954bae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a44d28842b2f4de5" /><Relationship Type="http://schemas.openxmlformats.org/officeDocument/2006/relationships/notesMaster" Target="/ppt/notesMasters/notesMaster1.xml" Id="Ra81774c22f574c35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f3f8e3fb812f41e8" /><Relationship Type="http://schemas.openxmlformats.org/officeDocument/2006/relationships/notesMaster" Target="/ppt/notesMasters/notesMaster1.xml" Id="Rda021f3c6d8a4741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86e9db017a2d4742" /><Relationship Type="http://schemas.openxmlformats.org/officeDocument/2006/relationships/notesMaster" Target="/ppt/notesMasters/notesMaster1.xml" Id="Rdcd3703004d44f8c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c20de52cffd84a0c" /><Relationship Type="http://schemas.openxmlformats.org/officeDocument/2006/relationships/notesMaster" Target="/ppt/notesMasters/notesMaster1.xml" Id="Rfc938d40e6344794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ea19e070e1354317" /><Relationship Type="http://schemas.openxmlformats.org/officeDocument/2006/relationships/notesMaster" Target="/ppt/notesMasters/notesMaster1.xml" Id="R7dcf76fc8962443a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71897332ba6b4d0c" /><Relationship Type="http://schemas.openxmlformats.org/officeDocument/2006/relationships/notesMaster" Target="/ppt/notesMasters/notesMaster1.xml" Id="R0afa8f36cec74ed9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4b1581b3090c4ffa" /><Relationship Type="http://schemas.openxmlformats.org/officeDocument/2006/relationships/notesMaster" Target="/ppt/notesMasters/notesMaster1.xml" Id="R22327273a2b54644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f68243f2d0d04c35" /><Relationship Type="http://schemas.openxmlformats.org/officeDocument/2006/relationships/notesMaster" Target="/ppt/notesMasters/notesMaster1.xml" Id="Rd8bf6e5df25549c4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cfe8afb2d1a748be" /><Relationship Type="http://schemas.openxmlformats.org/officeDocument/2006/relationships/notesMaster" Target="/ppt/notesMasters/notesMaster1.xml" Id="R4df11fd405e540aa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2301756babec4c1b" /><Relationship Type="http://schemas.openxmlformats.org/officeDocument/2006/relationships/notesMaster" Target="/ppt/notesMasters/notesMaster1.xml" Id="R683b1345bb094870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e23a87593d2e48c5" /><Relationship Type="http://schemas.openxmlformats.org/officeDocument/2006/relationships/notesMaster" Target="/ppt/notesMasters/notesMaster1.xml" Id="R33d1c40f4d794a0e" /></Relationships>
</file>

<file path=ppt/notesSlides/_rels/notesSlide26.xml.rels>&#65279;<?xml version="1.0" encoding="utf-8"?><Relationships xmlns="http://schemas.openxmlformats.org/package/2006/relationships"><Relationship Type="http://schemas.openxmlformats.org/officeDocument/2006/relationships/slide" Target="/ppt/slides/slide26.xml" Id="Rb2ff6fd727a645c5" /><Relationship Type="http://schemas.openxmlformats.org/officeDocument/2006/relationships/notesMaster" Target="/ppt/notesMasters/notesMaster1.xml" Id="R7d1777848a6b4a2a" /></Relationships>
</file>

<file path=ppt/notesSlides/_rels/notesSlide27.xml.rels>&#65279;<?xml version="1.0" encoding="utf-8"?><Relationships xmlns="http://schemas.openxmlformats.org/package/2006/relationships"><Relationship Type="http://schemas.openxmlformats.org/officeDocument/2006/relationships/slide" Target="/ppt/slides/slide27.xml" Id="Ra0c846bac6dd4d94" /><Relationship Type="http://schemas.openxmlformats.org/officeDocument/2006/relationships/notesMaster" Target="/ppt/notesMasters/notesMaster1.xml" Id="Rcd5a93abf2784dc2" /></Relationships>
</file>

<file path=ppt/notesSlides/_rels/notesSlide28.xml.rels>&#65279;<?xml version="1.0" encoding="utf-8"?><Relationships xmlns="http://schemas.openxmlformats.org/package/2006/relationships"><Relationship Type="http://schemas.openxmlformats.org/officeDocument/2006/relationships/slide" Target="/ppt/slides/slide28.xml" Id="R8f88b3ba411448ba" /><Relationship Type="http://schemas.openxmlformats.org/officeDocument/2006/relationships/notesMaster" Target="/ppt/notesMasters/notesMaster1.xml" Id="R4fede7bd578541d8" /></Relationships>
</file>

<file path=ppt/notesSlides/_rels/notesSlide29.xml.rels>&#65279;<?xml version="1.0" encoding="utf-8"?><Relationships xmlns="http://schemas.openxmlformats.org/package/2006/relationships"><Relationship Type="http://schemas.openxmlformats.org/officeDocument/2006/relationships/slide" Target="/ppt/slides/slide29.xml" Id="R12e794a2228e488d" /><Relationship Type="http://schemas.openxmlformats.org/officeDocument/2006/relationships/notesMaster" Target="/ppt/notesMasters/notesMaster1.xml" Id="Rae83029e42884f12" /></Relationships>
</file>

<file path=ppt/notesSlides/_rels/notesSlide30.xml.rels>&#65279;<?xml version="1.0" encoding="utf-8"?><Relationships xmlns="http://schemas.openxmlformats.org/package/2006/relationships"><Relationship Type="http://schemas.openxmlformats.org/officeDocument/2006/relationships/slide" Target="/ppt/slides/slide30.xml" Id="R84473d0cedef4ed2" /><Relationship Type="http://schemas.openxmlformats.org/officeDocument/2006/relationships/notesMaster" Target="/ppt/notesMasters/notesMaster1.xml" Id="R026b1d5250d24de5" /></Relationships>
</file>

<file path=ppt/notesSlides/_rels/notesSlide31.xml.rels>&#65279;<?xml version="1.0" encoding="utf-8"?><Relationships xmlns="http://schemas.openxmlformats.org/package/2006/relationships"><Relationship Type="http://schemas.openxmlformats.org/officeDocument/2006/relationships/slide" Target="/ppt/slides/slide31.xml" Id="R6175ec927c964a26" /><Relationship Type="http://schemas.openxmlformats.org/officeDocument/2006/relationships/notesMaster" Target="/ppt/notesMasters/notesMaster1.xml" Id="R03a884f3e13a4734" /></Relationships>
</file>

<file path=ppt/notesSlides/_rels/notesSlide32.xml.rels>&#65279;<?xml version="1.0" encoding="utf-8"?><Relationships xmlns="http://schemas.openxmlformats.org/package/2006/relationships"><Relationship Type="http://schemas.openxmlformats.org/officeDocument/2006/relationships/slide" Target="/ppt/slides/slide32.xml" Id="R92450839c63d4f80" /><Relationship Type="http://schemas.openxmlformats.org/officeDocument/2006/relationships/notesMaster" Target="/ppt/notesMasters/notesMaster1.xml" Id="R2d7acae972a843d5" /></Relationships>
</file>

<file path=ppt/notesSlides/_rels/notesSlide33.xml.rels>&#65279;<?xml version="1.0" encoding="utf-8"?><Relationships xmlns="http://schemas.openxmlformats.org/package/2006/relationships"><Relationship Type="http://schemas.openxmlformats.org/officeDocument/2006/relationships/slide" Target="/ppt/slides/slide33.xml" Id="Rb399eadc2e044c3b" /><Relationship Type="http://schemas.openxmlformats.org/officeDocument/2006/relationships/notesMaster" Target="/ppt/notesMasters/notesMaster1.xml" Id="R1717ee4f1a764b51" /></Relationships>
</file>

<file path=ppt/notesSlides/_rels/notesSlide34.xml.rels>&#65279;<?xml version="1.0" encoding="utf-8"?><Relationships xmlns="http://schemas.openxmlformats.org/package/2006/relationships"><Relationship Type="http://schemas.openxmlformats.org/officeDocument/2006/relationships/slide" Target="/ppt/slides/slide34.xml" Id="R83a6ef27c3194f06" /><Relationship Type="http://schemas.openxmlformats.org/officeDocument/2006/relationships/notesMaster" Target="/ppt/notesMasters/notesMaster1.xml" Id="Rf1eab206874a4e6e" /></Relationships>
</file>

<file path=ppt/notesSlides/_rels/notesSlide35.xml.rels>&#65279;<?xml version="1.0" encoding="utf-8"?><Relationships xmlns="http://schemas.openxmlformats.org/package/2006/relationships"><Relationship Type="http://schemas.openxmlformats.org/officeDocument/2006/relationships/slide" Target="/ppt/slides/slide35.xml" Id="R0730a6b301b44c68" /><Relationship Type="http://schemas.openxmlformats.org/officeDocument/2006/relationships/notesMaster" Target="/ppt/notesMasters/notesMaster1.xml" Id="R2d5d79be655c432a" /></Relationships>
</file>

<file path=ppt/notesSlides/_rels/notesSlide36.xml.rels>&#65279;<?xml version="1.0" encoding="utf-8"?><Relationships xmlns="http://schemas.openxmlformats.org/package/2006/relationships"><Relationship Type="http://schemas.openxmlformats.org/officeDocument/2006/relationships/slide" Target="/ppt/slides/slide36.xml" Id="Rb7930fe4fd5345a4" /><Relationship Type="http://schemas.openxmlformats.org/officeDocument/2006/relationships/notesMaster" Target="/ppt/notesMasters/notesMaster1.xml" Id="Raa89b3d92d2f49cd" /></Relationships>
</file>

<file path=ppt/notesSlides/_rels/notesSlide37.xml.rels>&#65279;<?xml version="1.0" encoding="utf-8"?><Relationships xmlns="http://schemas.openxmlformats.org/package/2006/relationships"><Relationship Type="http://schemas.openxmlformats.org/officeDocument/2006/relationships/slide" Target="/ppt/slides/slide37.xml" Id="R72f66447659b466e" /><Relationship Type="http://schemas.openxmlformats.org/officeDocument/2006/relationships/notesMaster" Target="/ppt/notesMasters/notesMaster1.xml" Id="R861745a3b5934cb8" /></Relationships>
</file>

<file path=ppt/notesSlides/_rels/notesSlide38.xml.rels>&#65279;<?xml version="1.0" encoding="utf-8"?><Relationships xmlns="http://schemas.openxmlformats.org/package/2006/relationships"><Relationship Type="http://schemas.openxmlformats.org/officeDocument/2006/relationships/slide" Target="/ppt/slides/slide38.xml" Id="Rdafac8e3e3764fa9" /><Relationship Type="http://schemas.openxmlformats.org/officeDocument/2006/relationships/notesMaster" Target="/ppt/notesMasters/notesMaster1.xml" Id="R275e73ce33bc4182" /></Relationships>
</file>

<file path=ppt/notesSlides/_rels/notesSlide39.xml.rels>&#65279;<?xml version="1.0" encoding="utf-8"?><Relationships xmlns="http://schemas.openxmlformats.org/package/2006/relationships"><Relationship Type="http://schemas.openxmlformats.org/officeDocument/2006/relationships/slide" Target="/ppt/slides/slide39.xml" Id="Rd6f31e74d2e44c95" /><Relationship Type="http://schemas.openxmlformats.org/officeDocument/2006/relationships/notesMaster" Target="/ppt/notesMasters/notesMaster1.xml" Id="R9f9b2ddd65c74971" /></Relationships>
</file>

<file path=ppt/notesSlides/_rels/notesSlide40.xml.rels>&#65279;<?xml version="1.0" encoding="utf-8"?><Relationships xmlns="http://schemas.openxmlformats.org/package/2006/relationships"><Relationship Type="http://schemas.openxmlformats.org/officeDocument/2006/relationships/slide" Target="/ppt/slides/slide40.xml" Id="R683a0bc8d2744aa2" /><Relationship Type="http://schemas.openxmlformats.org/officeDocument/2006/relationships/notesMaster" Target="/ppt/notesMasters/notesMaster1.xml" Id="Rd9dc1cb1ddad4384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c2973980cac4aa2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4b9851031a4f48f0" /><Relationship Type="http://schemas.openxmlformats.org/officeDocument/2006/relationships/slideLayout" Target="/ppt/slideLayouts/slideLayout1.xml" Id="R264d76e0cf56493f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264d76e0cf56493f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ac67b25933247bb" /><Relationship Type="http://schemas.openxmlformats.org/officeDocument/2006/relationships/notesSlide" Target="/ppt/notesSlides/notesSlide1.xml" Id="Ra5b2cb957b99446e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a5301d464f44b28" /><Relationship Type="http://schemas.openxmlformats.org/officeDocument/2006/relationships/notesSlide" Target="/ppt/notesSlides/notesSlide2.xml" Id="R286cb79154844d8d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e1fbd243df240ac" /><Relationship Type="http://schemas.openxmlformats.org/officeDocument/2006/relationships/notesSlide" Target="/ppt/notesSlides/notesSlide3.xml" Id="R1a77fad9f49e4ba1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e5b9a02129a4a64" /><Relationship Type="http://schemas.openxmlformats.org/officeDocument/2006/relationships/notesSlide" Target="/ppt/notesSlides/notesSlide4.xml" Id="R976b9716d957420d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4e688cad8234f74" /><Relationship Type="http://schemas.openxmlformats.org/officeDocument/2006/relationships/notesSlide" Target="/ppt/notesSlides/notesSlide5.xml" Id="R7901528191de4d41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53343dab89e4930" /><Relationship Type="http://schemas.openxmlformats.org/officeDocument/2006/relationships/notesSlide" Target="/ppt/notesSlides/notesSlide6.xml" Id="R48e1efaa53324762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b25091bf93a490e" /><Relationship Type="http://schemas.openxmlformats.org/officeDocument/2006/relationships/notesSlide" Target="/ppt/notesSlides/notesSlide7.xml" Id="Rd7f3db0e24314d73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1345a8f3d27421e" /><Relationship Type="http://schemas.openxmlformats.org/officeDocument/2006/relationships/notesSlide" Target="/ppt/notesSlides/notesSlide8.xml" Id="Rabca74b12c7c4453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691357d19714ca5" /><Relationship Type="http://schemas.openxmlformats.org/officeDocument/2006/relationships/notesSlide" Target="/ppt/notesSlides/notesSlide9.xml" Id="Rb12cfdc393064a24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3acc68785b743d6" /><Relationship Type="http://schemas.openxmlformats.org/officeDocument/2006/relationships/notesSlide" Target="/ppt/notesSlides/notesSlide10.xml" Id="R42e929f15e244336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48d50dd64c446a4" /><Relationship Type="http://schemas.openxmlformats.org/officeDocument/2006/relationships/notesSlide" Target="/ppt/notesSlides/notesSlide11.xml" Id="R0d32296fa0204330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e05e4a5d4ef47e3" /><Relationship Type="http://schemas.openxmlformats.org/officeDocument/2006/relationships/notesSlide" Target="/ppt/notesSlides/notesSlide12.xml" Id="R8caf0e185c7d4945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6f735e86de24aaa" /><Relationship Type="http://schemas.openxmlformats.org/officeDocument/2006/relationships/notesSlide" Target="/ppt/notesSlides/notesSlide13.xml" Id="Rffc8fe1d092f4b4e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e0d04aeeffb46fc" /><Relationship Type="http://schemas.openxmlformats.org/officeDocument/2006/relationships/notesSlide" Target="/ppt/notesSlides/notesSlide14.xml" Id="Rd40d9b27cd11457d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001833d44164024" /><Relationship Type="http://schemas.openxmlformats.org/officeDocument/2006/relationships/notesSlide" Target="/ppt/notesSlides/notesSlide15.xml" Id="Rdf574a9e09e646dd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cff5ec51b794460" /><Relationship Type="http://schemas.openxmlformats.org/officeDocument/2006/relationships/notesSlide" Target="/ppt/notesSlides/notesSlide16.xml" Id="Rc9642b6d2fce4a00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8413912b4364560" /><Relationship Type="http://schemas.openxmlformats.org/officeDocument/2006/relationships/notesSlide" Target="/ppt/notesSlides/notesSlide17.xml" Id="R3dfa2eca4ea14421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82922add03641c4" /><Relationship Type="http://schemas.openxmlformats.org/officeDocument/2006/relationships/notesSlide" Target="/ppt/notesSlides/notesSlide18.xml" Id="R44df20638db54305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fc3ff3cdbae41eb" /><Relationship Type="http://schemas.openxmlformats.org/officeDocument/2006/relationships/notesSlide" Target="/ppt/notesSlides/notesSlide19.xml" Id="R616f4f5d82694ac9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bd1d3eb7ef545ce" /><Relationship Type="http://schemas.openxmlformats.org/officeDocument/2006/relationships/notesSlide" Target="/ppt/notesSlides/notesSlide20.xml" Id="R7775b1426c6b4806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1b2d72668944aca" /><Relationship Type="http://schemas.openxmlformats.org/officeDocument/2006/relationships/notesSlide" Target="/ppt/notesSlides/notesSlide21.xml" Id="R9dfc63bdc3114a2b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64fb16e04fd4d42" /><Relationship Type="http://schemas.openxmlformats.org/officeDocument/2006/relationships/notesSlide" Target="/ppt/notesSlides/notesSlide22.xml" Id="R97a791fbf1984cd8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1f732704f26495b" /><Relationship Type="http://schemas.openxmlformats.org/officeDocument/2006/relationships/notesSlide" Target="/ppt/notesSlides/notesSlide23.xml" Id="R51f18c99ac394772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649f00980df4019" /><Relationship Type="http://schemas.openxmlformats.org/officeDocument/2006/relationships/notesSlide" Target="/ppt/notesSlides/notesSlide24.xml" Id="R706c3f1ea5a24938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7c83ee545f44085" /><Relationship Type="http://schemas.openxmlformats.org/officeDocument/2006/relationships/notesSlide" Target="/ppt/notesSlides/notesSlide25.xml" Id="Rd5b1c87da6db4019" /></Relationships>
</file>

<file path=ppt/slides/_rels/slide2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1bd78951db44f48" /><Relationship Type="http://schemas.openxmlformats.org/officeDocument/2006/relationships/notesSlide" Target="/ppt/notesSlides/notesSlide26.xml" Id="R4c582aa5afba463e" /></Relationships>
</file>

<file path=ppt/slides/_rels/slide2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e9fb72b22af48eb" /><Relationship Type="http://schemas.openxmlformats.org/officeDocument/2006/relationships/notesSlide" Target="/ppt/notesSlides/notesSlide27.xml" Id="R053a03d9024e4cb6" /></Relationships>
</file>

<file path=ppt/slides/_rels/slide2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757893bfa6e4228" /><Relationship Type="http://schemas.openxmlformats.org/officeDocument/2006/relationships/notesSlide" Target="/ppt/notesSlides/notesSlide28.xml" Id="R16c7a51b48484bc5" /></Relationships>
</file>

<file path=ppt/slides/_rels/slide2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babfdd248b5487e" /><Relationship Type="http://schemas.openxmlformats.org/officeDocument/2006/relationships/notesSlide" Target="/ppt/notesSlides/notesSlide29.xml" Id="R50d20cb0f31a49cc" /></Relationships>
</file>

<file path=ppt/slides/_rels/slide3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fd0a2f486f54794" /><Relationship Type="http://schemas.openxmlformats.org/officeDocument/2006/relationships/notesSlide" Target="/ppt/notesSlides/notesSlide30.xml" Id="Rfc6de05ad8a94ac4" /></Relationships>
</file>

<file path=ppt/slides/_rels/slide3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fae59e28f104c80" /><Relationship Type="http://schemas.openxmlformats.org/officeDocument/2006/relationships/notesSlide" Target="/ppt/notesSlides/notesSlide31.xml" Id="Rbdfc3cf482fe4791" /></Relationships>
</file>

<file path=ppt/slides/_rels/slide3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5b956a041dd405e" /><Relationship Type="http://schemas.openxmlformats.org/officeDocument/2006/relationships/notesSlide" Target="/ppt/notesSlides/notesSlide32.xml" Id="R94dffe9a21724d68" /></Relationships>
</file>

<file path=ppt/slides/_rels/slide3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746c7f60eb6440e" /><Relationship Type="http://schemas.openxmlformats.org/officeDocument/2006/relationships/notesSlide" Target="/ppt/notesSlides/notesSlide33.xml" Id="Ra7e959391a95472e" /></Relationships>
</file>

<file path=ppt/slides/_rels/slide3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f365a06399d4b3c" /><Relationship Type="http://schemas.openxmlformats.org/officeDocument/2006/relationships/notesSlide" Target="/ppt/notesSlides/notesSlide34.xml" Id="R4f1021838a3b43ba" /></Relationships>
</file>

<file path=ppt/slides/_rels/slide3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0294d6b1cab411b" /><Relationship Type="http://schemas.openxmlformats.org/officeDocument/2006/relationships/notesSlide" Target="/ppt/notesSlides/notesSlide35.xml" Id="Rb40a80d6849a4826" /></Relationships>
</file>

<file path=ppt/slides/_rels/slide3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48680b99c3844fd" /><Relationship Type="http://schemas.openxmlformats.org/officeDocument/2006/relationships/notesSlide" Target="/ppt/notesSlides/notesSlide36.xml" Id="Rd5d54c591fe340f3" /></Relationships>
</file>

<file path=ppt/slides/_rels/slide3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2bcd12b5b8a42a2" /><Relationship Type="http://schemas.openxmlformats.org/officeDocument/2006/relationships/notesSlide" Target="/ppt/notesSlides/notesSlide37.xml" Id="R91a8c6a9d51046b9" /></Relationships>
</file>

<file path=ppt/slides/_rels/slide3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b756b265da240f8" /><Relationship Type="http://schemas.openxmlformats.org/officeDocument/2006/relationships/notesSlide" Target="/ppt/notesSlides/notesSlide38.xml" Id="Rf00d0f79e8d3455e" /></Relationships>
</file>

<file path=ppt/slides/_rels/slide3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fff89ad9c204e5a" /><Relationship Type="http://schemas.openxmlformats.org/officeDocument/2006/relationships/notesSlide" Target="/ppt/notesSlides/notesSlide39.xml" Id="Rfb651c6028be46d1" /></Relationships>
</file>

<file path=ppt/slides/_rels/slide4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94020b46c9641db" /><Relationship Type="http://schemas.openxmlformats.org/officeDocument/2006/relationships/notesSlide" Target="/ppt/notesSlides/notesSlide40.xml" Id="R153479e1c9b94014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FE7208C-17EB-42FE-93E2-481E3C5D6B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04850"/>
            <a:ext cx="4095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750" b="1">
                <a:solidFill>
                  <a:srgbClr val="6D28D9"/>
                </a:solidFill>
              </a:defRPr>
            </a:pPr>
            <a:r>
              <a:rPr sz="3750" b="1">
                <a:solidFill>
                  <a:srgbClr val="6D28D9"/>
                </a:solidFill>
              </a:rPr>
              <a:t>Module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7BD4E8A-D792-4A64-A4E2-56D9EB5E64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66850"/>
            <a:ext cx="733425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Interpolation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9C6BF60-BA31-4468-9E63-3635D9EEC9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143250"/>
            <a:ext cx="5810250" cy="1657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Subject: NUMERICAL METHODS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Code: 1BMATS201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Depth pass: 9 -&gt; 40 slides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Source basis: official syllabus; Official syllabus; no local prescribed textbook PDF matched for this module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0766922-9C55-44E8-87CC-DE0BF0481E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219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Problem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5CD4BFB-E1CC-4B86-B04D-9E0F30D39C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5410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D2F7051-4BA7-4682-8AE4-4DFAA04ED3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5219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Foundation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36DE8FD-8172-4342-AF20-05AC232A8A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410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B7D57B8-8621-42B3-AB8D-FCCE5DEB89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5219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Mechanism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A6457DE-ACBA-4AE7-B978-66CEADD803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5410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42AE5E9-DDC8-45AE-BEA3-7F57CE0496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219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Worked example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84A1638-AC6B-4C81-A36E-81AC9FBBF6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5410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A167E80-AF62-44A4-BF15-688FDE0D34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5219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Exam view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39F4E96-41AF-449F-8C84-81DC4361D9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NUMERICAL METHODS</a:t>
            </a:r>
          </a:p>
        </p:txBody>
      </p:sp>
    </p:spTree>
    <p:extLst>
      <p:ext uri="{BB962C8B-B14F-4D97-AF65-F5344CB8AC3E}">
        <p14:creationId xmlns:p14="http://schemas.microsoft.com/office/powerpoint/2010/main" val="443663707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D2035E9-84AA-4B43-810B-A0B4219DF3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1BMATS201 | Module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1967133-17C0-4740-BF5C-95A223E08B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Teaching journey for the module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E91A900-5C7E-4D77-B485-A6B86007C1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CCDFF03-90F3-4B05-85F2-CAAC63B9CA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69A09CB-5606-45F2-9402-B68BB00EBD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8669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Motivation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A7FD442-1339-4BDD-B24F-B2099A2F73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0574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0C9B4E4-CE74-474B-A0DE-A22B7CF7D8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8669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Concept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A45FF2E-ECB6-4091-AD9E-C325CC4E17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0574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B6218CA-FA64-4D89-AD4F-91B6D52447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8669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Mechanism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452D6EF-7DA0-48C9-9657-4845F7956F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0574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9AC1D20-BE8A-4226-B9C2-3253C2455E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8669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Example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5AB619C-BA6C-45CE-B067-586352D994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0574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F26A674-5109-4999-BC73-3395841BA9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8669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Recap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6DE88CE-12CB-461B-BE83-6C7672EEBD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905250"/>
            <a:ext cx="91440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• Every major syllabus topic is expanded through purpose, structure, working, example, application, and exam perspective.</a:t>
            </a:r>
          </a:p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• Topics are scoped to the official syllabus; no unverified previous-year questions are inserted.</a:t>
            </a:r>
          </a:p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• Where the syllabus names textbook sections, the deck records that mapping for lecturer traceability.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2CBCC74-AE53-40D5-9108-252CEB2F99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NUMERICAL METHODS</a:t>
            </a:r>
          </a:p>
        </p:txBody>
      </p:sp>
    </p:spTree>
    <p:extLst>
      <p:ext uri="{BB962C8B-B14F-4D97-AF65-F5344CB8AC3E}">
        <p14:creationId xmlns:p14="http://schemas.microsoft.com/office/powerpoint/2010/main" val="417415998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1522D73-ACAB-427A-A241-E36DCA97E8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1BMATS201 | Module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AA6D9F2-B9B6-4020-B903-BCE769EE6B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Official syllabus topic map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3D0F2F5-8046-4E33-BA21-1537B561E5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29228A9-BA3A-4699-99F9-14A0B708FB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50CFFF5-B834-47F2-9C63-CC8038E55B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524000"/>
            <a:ext cx="6667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#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6157B5A-D8E0-4A62-843D-A764B921D7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1524000"/>
            <a:ext cx="6191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Syllabus topic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4D0E8D5-4426-43F3-88B4-5FC09C178B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1524000"/>
            <a:ext cx="3524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Treatment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E648DDD-0BAF-4DA2-8FEA-EF6A3F81B7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019300"/>
            <a:ext cx="6667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7B6409C-A74F-40FB-9223-83E3233752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2019300"/>
            <a:ext cx="6191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Interpolation (8Hours Theory + 4Hours Tutorial) Finite di...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0EFB6D0-8979-4BCF-BE4A-41B687C044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2019300"/>
            <a:ext cx="3524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Concept + mechanism + worked explanation + exam view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1DAA9CD-6190-4254-B01E-A0EB026F81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514600"/>
            <a:ext cx="6667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0AD7662-5E3B-4D4B-B5AB-FA794B00EC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2514600"/>
            <a:ext cx="6191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interpolation using Newton Gregary forward and Newton Gre...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E970767-8D1D-43B7-94B0-20CFDAAB0F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2514600"/>
            <a:ext cx="3524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Concept + mechanism + worked explanation + exam view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736CF24-80BE-4788-93F7-3DAC43BDF4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009900"/>
            <a:ext cx="6667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39787F3-F970-4153-8855-3D34FD1123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3009900"/>
            <a:ext cx="6191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Newton's divided differenc e. Lagrange interpolation form...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56F77D2-821B-4503-819F-51534FD222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3009900"/>
            <a:ext cx="3524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Concept + mechanism + worked explanation + exam view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D550645-FD3A-4494-BEE9-85E4EC5C0F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505200"/>
            <a:ext cx="6667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4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EE0233B-5E0A-4956-BED0-2DD89B8C6D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3505200"/>
            <a:ext cx="6191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piecewise interpolation-linear and quadratic. Textbook-1:...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10E3C9C-9ECF-4103-BAF1-5A70C58357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3505200"/>
            <a:ext cx="3524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Concept + mechanism + worked explanation + exam view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052ABDD-8718-4F66-AB43-0563E727AB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000500"/>
            <a:ext cx="6667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5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A2B2FCE-A573-4AD6-84A5-7D3DD1B154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4000500"/>
            <a:ext cx="6191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4.6 15092025 2 2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3AFBB66-2C9F-4F5B-BC6F-A455C49A32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4000500"/>
            <a:ext cx="3524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Concept + mechanism + worked explanation + exam view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AE92305-C1FA-4314-8450-A45D226301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NUMERICAL METHODS</a:t>
            </a:r>
          </a:p>
        </p:txBody>
      </p:sp>
    </p:spTree>
    <p:extLst>
      <p:ext uri="{BB962C8B-B14F-4D97-AF65-F5344CB8AC3E}">
        <p14:creationId xmlns:p14="http://schemas.microsoft.com/office/powerpoint/2010/main" val="132114186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0964EDC-F241-4FC1-9915-CF87AE2185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1BMATS201 | Module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0AA9C2A-9EDC-4982-AC24-1F24D27B67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Textbook and source mapping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9253C9E-88BA-41EE-BAB8-1D6DC9D1E5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CE4ADC8-9C13-4A07-8568-AF29ED5754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4/40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909F651-1855-4CD4-8833-FE6A8C8062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504950"/>
            <a:ext cx="37147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82033"/>
                </a:solidFill>
              </a:defRPr>
            </a:pPr>
            <a:r>
              <a:rPr sz="975" b="1">
                <a:solidFill>
                  <a:srgbClr val="182033"/>
                </a:solidFill>
              </a:rPr>
              <a:t>Syllabus topic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6DF8C86-C42C-4F83-9A9B-80F22BF286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1504950"/>
            <a:ext cx="39052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82033"/>
                </a:solidFill>
              </a:defRPr>
            </a:pPr>
            <a:r>
              <a:rPr sz="975" b="1">
                <a:solidFill>
                  <a:srgbClr val="182033"/>
                </a:solidFill>
              </a:rPr>
              <a:t>Prescribed source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899F1A7-976F-4AF2-8079-A6DF0F47B1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1504950"/>
            <a:ext cx="2857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82033"/>
                </a:solidFill>
              </a:defRPr>
            </a:pPr>
            <a:r>
              <a:rPr sz="975" b="1">
                <a:solidFill>
                  <a:srgbClr val="182033"/>
                </a:solidFill>
              </a:rPr>
              <a:t>PPTX treatment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86E8F43-3E74-408D-8868-45B7C7374B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57400"/>
            <a:ext cx="37147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Interpolation (8Hours Theory + 4Hours Tutorial) Finite di...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8914F21-DC97-4893-BBF4-D70079B6C2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057400"/>
            <a:ext cx="39052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Official syllabus; no local prescribed textbook PDF match...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054A972-FC3A-4E5E-BB52-F315DB6A00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057400"/>
            <a:ext cx="2857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Expanded in topic teaching cluster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D8DDACE-3853-4B13-B3FF-0C5B221393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09850"/>
            <a:ext cx="37147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interpolation using Newton Gregary forward and Newton Gre...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A6CA87F-3831-4CA0-8458-AC121CD8D8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609850"/>
            <a:ext cx="39052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Official syllabus; no local prescribed textbook PDF match...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4782351-6C8B-432C-999C-B87DCB3C2C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609850"/>
            <a:ext cx="2857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Expanded in topic teaching cluster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37E05EC-799B-40DF-B00C-ABF930E06A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162300"/>
            <a:ext cx="37147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Newton's divided differenc e. Lagrange interpolation form...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401BD02-10AD-4ED5-BC42-5DDDDEAF8C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162300"/>
            <a:ext cx="39052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Official syllabus; no local prescribed textbook PDF match...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638F5FA-0422-4D76-9ADC-82C70DB4A1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3162300"/>
            <a:ext cx="2857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Expanded in topic teaching cluster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AB9CFAB-9AED-4DBE-BBB5-DCA3D12E57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714750"/>
            <a:ext cx="37147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piecewise interpolation-linear and quadratic. Textbook-1:...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2ED480C-1963-4FD8-91A8-A33FBEA2E4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714750"/>
            <a:ext cx="39052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Official syllabus; no local prescribed textbook PDF match...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CA9E46C-43A7-4386-AE1A-BD984D1F1F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3714750"/>
            <a:ext cx="2857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Expanded in topic teaching cluster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B6E008A-9257-40CA-95AC-EA95478D7E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267200"/>
            <a:ext cx="37147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4.6 15092025 2 2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C4CFBB7-7F63-42D8-B0FC-BC182C73F2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4267200"/>
            <a:ext cx="39052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Official syllabus; no local prescribed textbook PDF match...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83FC032-CEF1-4131-8688-45F7A01499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4267200"/>
            <a:ext cx="2857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Expanded in topic teaching cluster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9793E69-DA5F-490D-9262-E7E27973DA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NUMERICAL METHODS</a:t>
            </a:r>
          </a:p>
        </p:txBody>
      </p:sp>
    </p:spTree>
    <p:extLst>
      <p:ext uri="{BB962C8B-B14F-4D97-AF65-F5344CB8AC3E}">
        <p14:creationId xmlns:p14="http://schemas.microsoft.com/office/powerpoint/2010/main" val="2048107977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AC67B2F-0135-4FDD-9C59-71BF1998A8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1BMATS201 | Module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ABD1B7F-C321-4B5D-BB75-40A0DB43A7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Key terms before detailed teaching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6F4AE5A-F51B-4E86-B085-4E842D53B0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A8A6657-4AE3-4A2B-8CD1-F1363F0543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5/40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4F42EA4-37A8-42DE-B7F6-6CEA2FEC84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1695450"/>
            <a:ext cx="16764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82033"/>
                </a:solidFill>
              </a:defRPr>
            </a:pPr>
            <a:r>
              <a:rPr sz="1200" b="1">
                <a:solidFill>
                  <a:srgbClr val="182033"/>
                </a:solidFill>
              </a:rPr>
              <a:t>Interpolation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E1E19F3-59D7-4C97-A778-25A025A14C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1695450"/>
            <a:ext cx="16764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82033"/>
                </a:solidFill>
              </a:defRPr>
            </a:pPr>
            <a:r>
              <a:rPr sz="1200" b="1">
                <a:solidFill>
                  <a:srgbClr val="182033"/>
                </a:solidFill>
              </a:rPr>
              <a:t>Tutorial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058775B-E2B8-442D-AD4C-07FE65CF44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6350" y="1695450"/>
            <a:ext cx="16764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82033"/>
                </a:solidFill>
              </a:defRPr>
            </a:pPr>
            <a:r>
              <a:rPr sz="1200" b="1">
                <a:solidFill>
                  <a:srgbClr val="182033"/>
                </a:solidFill>
              </a:rPr>
              <a:t>Finite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B187A5C-A81D-44AF-93ED-DDC2A61D7C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1695450"/>
            <a:ext cx="16764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82033"/>
                </a:solidFill>
              </a:defRPr>
            </a:pPr>
            <a:r>
              <a:rPr sz="1200" b="1">
                <a:solidFill>
                  <a:srgbClr val="182033"/>
                </a:solidFill>
              </a:rPr>
              <a:t>differences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77239E2-5599-455D-B582-AC9FF5DC4E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1695450"/>
            <a:ext cx="16764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82033"/>
                </a:solidFill>
              </a:defRPr>
            </a:pPr>
            <a:r>
              <a:rPr sz="1200" b="1">
                <a:solidFill>
                  <a:srgbClr val="182033"/>
                </a:solidFill>
              </a:rPr>
              <a:t>Newton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CE3389B-C47D-482C-8393-4F865EA8AF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743200"/>
            <a:ext cx="16764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82033"/>
                </a:solidFill>
              </a:defRPr>
            </a:pPr>
            <a:r>
              <a:rPr sz="1200" b="1">
                <a:solidFill>
                  <a:srgbClr val="182033"/>
                </a:solidFill>
              </a:rPr>
              <a:t>Gregary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2DBA223-F3E1-4845-946C-1B962E0650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743200"/>
            <a:ext cx="16764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82033"/>
                </a:solidFill>
              </a:defRPr>
            </a:pPr>
            <a:r>
              <a:rPr sz="1200" b="1">
                <a:solidFill>
                  <a:srgbClr val="182033"/>
                </a:solidFill>
              </a:rPr>
              <a:t>forward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C1ADDDB-EE5C-4DC9-913E-97A11EEB98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6350" y="2743200"/>
            <a:ext cx="16764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82033"/>
                </a:solidFill>
              </a:defRPr>
            </a:pPr>
            <a:r>
              <a:rPr sz="1200" b="1">
                <a:solidFill>
                  <a:srgbClr val="182033"/>
                </a:solidFill>
              </a:rPr>
              <a:t>backward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B0C8E4F-73DE-4CC6-8486-25762B0999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2743200"/>
            <a:ext cx="16764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82033"/>
                </a:solidFill>
              </a:defRPr>
            </a:pPr>
            <a:r>
              <a:rPr sz="1200" b="1">
                <a:solidFill>
                  <a:srgbClr val="182033"/>
                </a:solidFill>
              </a:rPr>
              <a:t>difference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602B762-5025-4D0B-9C31-123A43A694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2743200"/>
            <a:ext cx="16764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82033"/>
                </a:solidFill>
              </a:defRPr>
            </a:pPr>
            <a:r>
              <a:rPr sz="1200" b="1">
                <a:solidFill>
                  <a:srgbClr val="182033"/>
                </a:solidFill>
              </a:rPr>
              <a:t>formulae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C2B1D2E-EBD1-4573-94B3-0E74B6518B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4400550"/>
            <a:ext cx="9144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• Use these terms consistently in derivations, diagrams, programs, explanations, and exam answers.</a:t>
            </a:r>
          </a:p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• Students should be able to define, connect, and apply each term by the end of the module.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71BC75A-8E16-4023-92CA-5CE29647E5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NUMERICAL METHODS</a:t>
            </a:r>
          </a:p>
        </p:txBody>
      </p:sp>
    </p:spTree>
    <p:extLst>
      <p:ext uri="{BB962C8B-B14F-4D97-AF65-F5344CB8AC3E}">
        <p14:creationId xmlns:p14="http://schemas.microsoft.com/office/powerpoint/2010/main" val="307022046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CCD7BA9-F83F-479C-BA33-24F2043E82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1BMATS201 | Module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B06AE1B-C046-4595-8816-0D8657AC46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1. Why this topic matters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614E955-4692-4D92-8EDE-88353A9561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A7A6CF3-3AA3-42EA-97F9-224B72E50D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6/40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EDFBB69-B0D7-4A9C-80DA-B7FE5F3596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600200"/>
            <a:ext cx="9906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82033"/>
                </a:solidFill>
              </a:defRPr>
            </a:pPr>
            <a:r>
              <a:rPr sz="2100" b="1">
                <a:solidFill>
                  <a:srgbClr val="182033"/>
                </a:solidFill>
              </a:rPr>
              <a:t>Interpolation (8Hours Theory + 4Hours Tutorial) Finite differences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6404A61-5465-4F7D-A16A-A8FA596BCE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686050"/>
            <a:ext cx="9334500" cy="1600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The method gives a dependable way to translate Interpolation (8Hours Theory + 4Hours Tut... into solvable mathematical steps.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Connect the idea to the module problem before definitions.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Students should be able to say what changes, what is measured, and why the result matters.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67823E2-047E-46C1-8F9E-CFFF3ADD0C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Given data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A78D2D3-8A6E-4588-9DD0-4CDD867489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8E49A17-44A8-49BF-BFCB-5957C34F1F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Required result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C0DB97D-30CC-4DDA-9968-47FC635752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1F9446B-12FD-47F4-A04A-D2679B4E1F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Formula or theorem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7E25B82-BDB0-4A9D-BAE1-E1B1FD092A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71E2A6D-8FC7-4547-B730-D7C6E8CE5C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Substitution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4E48137-235F-41D2-BA45-0AF666B430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EFF0F06-1AF8-4FA5-B21E-7BAB281AA0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Interpretation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9A6DDB8-BB5E-4A9F-AEE0-C6B757DBFF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NUMERICAL METHODS</a:t>
            </a:r>
          </a:p>
        </p:txBody>
      </p:sp>
    </p:spTree>
    <p:extLst>
      <p:ext uri="{BB962C8B-B14F-4D97-AF65-F5344CB8AC3E}">
        <p14:creationId xmlns:p14="http://schemas.microsoft.com/office/powerpoint/2010/main" val="1965020473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786BE45-841E-4927-BCDE-9704A47A33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1BMATS201 | Module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2CF7DF1-138C-4A5D-85F5-C629BD7B6D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1. Concept structure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DBD5C3A-B399-4D53-8F43-19743E19FA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60F02E9-1CA1-41B9-BBC4-5694C18E3F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7/40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432AFE8-5E7C-4320-90C8-22A88BC923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383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Part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F1F22F6-358F-4CB7-83CA-D0FDE1284C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16383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Classroom explanation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48AA205-C921-46F0-B275-C6ECCA3C4D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16383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Check question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BEDEED7-3E6E-4035-B86D-BB2CF3E07A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1907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Given data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0DFE149-BF8A-4FE2-B3E5-8B9968411E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1907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Given data explains one necessary part of Interpolation (...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38CFEED-100D-424A-8E01-8A2610A559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1907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is given?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B8D785F-F971-4FE7-8D7D-801DF52277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7432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Required result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CC76E7F-5DD4-48DA-8257-5FF4E33B98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7432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Required result explains one necessary part of Interpolat...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CE7354A-CF29-47D8-9C99-AB98A90E3C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7432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69FC336-4CB3-4763-8A48-4626950F1E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956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Formula or theorem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6FAF5BF-2B7B-4377-B168-73843C0A9C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2956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Formula or theorem explains one necessary part of Interpo...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A5B4992-E959-4B74-AF55-8083A2C246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2956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3E2C4BB-4537-42F1-A5D7-DC435D91F3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481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Substitution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B8EADE3-4C41-4B01-806B-B82E18292E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8481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Substitution explains one necessary part of Interpolation...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516DDF8-31E4-4224-A1C3-C60C6CB156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8481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862EBBD-63EC-4A46-8CC0-C2DC055C6C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4005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Interpretation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A1D86EA-7A1F-4959-B621-DC920D0C81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44005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Interpretation explains one necessary part of Interpolati...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B7D10C7-DDFB-49DF-821C-847C87D352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44005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does it mean?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36EE03C-F282-4C1A-A1F8-FFF2137C56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NUMERICAL METHODS</a:t>
            </a:r>
          </a:p>
        </p:txBody>
      </p:sp>
    </p:spTree>
    <p:extLst>
      <p:ext uri="{BB962C8B-B14F-4D97-AF65-F5344CB8AC3E}">
        <p14:creationId xmlns:p14="http://schemas.microsoft.com/office/powerpoint/2010/main" val="1200339009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2B50608-07C7-46DC-8EA3-269DBAB6E0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1BMATS201 | Module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3689E62-B1A9-4A91-9CF1-15F6CBFB5E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1. Worked teaching sequence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4176FC7-84CD-4916-8212-8887AE71ED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E9615E0-34D4-46CF-AAE0-916BAAC86C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8/40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36A3E02-40C8-4115-BE2E-26C6B5E9FF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State the problem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EBD5C8B-6131-48B1-85A5-917C761DFE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3F907FA-E027-4E5B-A4EB-4B90A2393C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List known values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4FA22CA-5721-4C8C-AD51-CA94474E22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005004E-1EE0-429E-A1C4-75D706511E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Write the formula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9B0C152-BD1B-42BA-8A89-B93AC9D345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F8A008F-1F96-41C2-B89C-E2262A0E8B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Substitute carefully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C1F7092-741B-47A8-A841-AC51880642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6536CD4-4D67-4E51-BA76-CBE397B0B8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Simplify step by step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29F5785-15D7-4CCB-AED1-1C306542D1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714750"/>
            <a:ext cx="9334500" cy="190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1. State the problem: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2. List known values: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3. Write the formula: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4. Substitute carefully: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5. Simplify step by step: close with interpretation.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6. Check units/domain: close with interpretation.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721F97D-332F-4408-9843-2920367C44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NUMERICAL METHODS</a:t>
            </a:r>
          </a:p>
        </p:txBody>
      </p:sp>
    </p:spTree>
    <p:extLst>
      <p:ext uri="{BB962C8B-B14F-4D97-AF65-F5344CB8AC3E}">
        <p14:creationId xmlns:p14="http://schemas.microsoft.com/office/powerpoint/2010/main" val="836792582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3D80562-70D7-4D6A-B8D6-8121CDD9DD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1BMATS201 | Module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F8B6258-5E39-4A6C-9A93-3D5DF187C7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1. Application, confusion, exam view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392B80F-7F35-4EC1-94A8-0A134E28B3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F9A892B-489E-4894-B325-DC021DED7D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9/40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05BBCEB-9C77-46A1-A616-0166DE840E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19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5B76AD7-B6E8-48B3-B7A1-06DF644BCC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305050"/>
            <a:ext cx="43434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Use Interpolation (8Hours Theory + 4Hours Tutorial) Finite di... when a problem asks students to explain, compute, design, compare, or justify a result.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AD23F7A-95C3-43D4-9678-5793F99488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619250"/>
            <a:ext cx="26670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E2E2"/>
          </a:solidFill>
          <a:ln xmlns:a="http://schemas.openxmlformats.org/drawingml/2006/main" w="9525">
            <a:solidFill>
              <a:srgbClr val="B91C1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Common mistake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F32C919-7BCA-446B-9B6F-C53731C872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305050"/>
            <a:ext cx="409575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Jumping from theorem to answer without showing conditions, substitution, or intermediate simplification.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915A3EF-F537-4F41-AA82-6C044B6C7E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4667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Exam takeaway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245D97F-E05F-4D5C-AAEF-38D59F2840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4629150"/>
            <a:ext cx="6191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A complete answer defines the topic, shows the mechanism or working, includes a labeled example, and states the final interpretation.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EFD70ED-CA1C-4F2D-B485-D5B300AB8C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NUMERICAL METHODS</a:t>
            </a:r>
          </a:p>
        </p:txBody>
      </p:sp>
    </p:spTree>
    <p:extLst>
      <p:ext uri="{BB962C8B-B14F-4D97-AF65-F5344CB8AC3E}">
        <p14:creationId xmlns:p14="http://schemas.microsoft.com/office/powerpoint/2010/main" val="421097694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25B5B4E-4A98-443B-B196-2E25F7B652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1BMATS201 | Module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3425BF7-D005-4A5C-B07D-5E89B4EEF2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2. Why this topic matters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44B6BCD-3A1A-4A00-A23E-1516B3C8FB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CD15F3D-E426-4539-90F7-994A5E4A07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10/40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92E46DA-2898-4CC6-98F0-306E472854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600200"/>
            <a:ext cx="9906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82033"/>
                </a:solidFill>
              </a:defRPr>
            </a:pPr>
            <a:r>
              <a:rPr sz="2100" b="1">
                <a:solidFill>
                  <a:srgbClr val="182033"/>
                </a:solidFill>
              </a:rPr>
              <a:t>interpolation using Newton Gregary forward and Newton Gregary backward difference formulae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E393671-62A9-401B-BCF3-7CAC20239A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686050"/>
            <a:ext cx="9334500" cy="1600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The method gives a dependable way to translate interpolation using Newton Gregary forwar... into solvable mathematical steps.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Connect the idea to the module problem before definitions.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Students should be able to say what changes, what is measured, and why the result matters.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6A80EC1-56B5-4E3B-9B56-9DB0E9D3DF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Given data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32337D1-40FD-44D0-8936-119B0DC530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5498100-D7B2-4DEB-8E53-506BE51CC1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Required result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6D6F95A-73D1-4449-AF3C-8DF796B1FC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732C335-FE56-42E5-89DD-74CE2E4294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Formula or theorem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EB56AA5-A68B-4E54-9424-CC284FCE1E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6396D41-DED3-49D5-A64E-2C61431B7D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Substitution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BAE4986-A7C7-4D19-B316-97ADA45188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D5B0BA7-B13D-4B8A-A0CE-94E8F04B0D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Interpretation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0CB0192-B563-4F14-B681-50608913FF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NUMERICAL METHODS</a:t>
            </a:r>
          </a:p>
        </p:txBody>
      </p:sp>
    </p:spTree>
    <p:extLst>
      <p:ext uri="{BB962C8B-B14F-4D97-AF65-F5344CB8AC3E}">
        <p14:creationId xmlns:p14="http://schemas.microsoft.com/office/powerpoint/2010/main" val="1131939433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745E4EF-70AB-491D-80E6-6E3C889D6E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1BMATS201 | Module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1905C80-2992-408F-A494-913B1CF41F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2. Concept structure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1B8E11E-309A-476B-A5E2-8E905A1569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A0EB81A-4086-4382-9238-F1AD55327A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11/40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34452CC-0584-4A92-8CFC-F9F435B89C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383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Part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4806864-462B-4EAD-96DE-DF3B428C06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16383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Classroom explanation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7B5C43B-695C-407F-92A1-5ABC47AFD0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16383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Check question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8301B4F-BEA3-4937-8995-F9A484C443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1907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Given data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213B224-4562-44DF-BB06-1F31074CDE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1907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Given data explains one necessary part of interpolation u...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054F0DD-4723-4F2A-B4C8-4C3AD4A780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1907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is given?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833AB6D-CD85-41A5-95E3-194EE1793A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7432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Required result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541E14F-1A8F-402A-B678-4D744F9A78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7432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Required result explains one necessary part of interpolat...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1B4F069-3200-4012-8E9E-3840E1C29C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7432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B9AD250-37F1-474E-A5AB-4538DA8F84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956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Formula or theorem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4EE00C1-30EF-4675-A294-16D830ACC1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2956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Formula or theorem explains one necessary part of interpo...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0E44F56-EFD8-43B0-805D-1437F2E73F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2956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CE3D8B3-654C-48BD-96DA-5BA79134B1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481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Substitution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BD68704-2EF1-4D35-83E1-A32753C7E8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8481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Substitution explains one necessary part of interpolation...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C7B17DD-ADD1-485B-8337-87B24519B6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8481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25C4E21-3D1B-4EE1-8062-C649326E2B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4005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Interpretation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A29EA76-6DA5-4B62-8AE8-30EAAF2CCD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44005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Interpretation explains one necessary part of interpolati...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639E2D6-8198-4C3C-B34B-4961430D91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44005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does it mean?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B26C21B-BC5C-42B0-8AEA-3CCCD763DE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NUMERICAL METHODS</a:t>
            </a:r>
          </a:p>
        </p:txBody>
      </p:sp>
    </p:spTree>
    <p:extLst>
      <p:ext uri="{BB962C8B-B14F-4D97-AF65-F5344CB8AC3E}">
        <p14:creationId xmlns:p14="http://schemas.microsoft.com/office/powerpoint/2010/main" val="427893870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057EA9F-2282-47C8-BBB5-2F7D8775C2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1BMATS201 | Module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9A8F96B-6AAC-4C2D-9151-0B30E2A39D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2. Worked teaching sequence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A0D4D29-777E-41E7-BD9B-28F6426784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1152023-0C3C-4329-9042-F02EEA2629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12/40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500CA50-5426-452F-A2C5-93929E96B3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State the problem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5CFC1D7-DBEA-4D21-8294-8B22DFA81D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1181437-9EA7-43E7-BCFF-9676A4ABAA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List known values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82FCA5C-564F-4EA0-90EB-89A49473D2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9A8EAC8-8CD7-48AE-AC01-235D928B3E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Write the formula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52715E0-82B1-4AF1-B309-E1A6712F9D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155C620-DBBC-4AE0-AECC-6D48808A78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Substitute carefully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525D786-9E0F-4BCD-B2B9-95285E17D7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2EDD1DA-8FD4-4445-91E3-400215C0EE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Simplify step by step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C55B82E-9095-4BF9-9EB4-F8D694E261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714750"/>
            <a:ext cx="9334500" cy="190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1. State the problem: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2. List known values: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3. Write the formula: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4. Substitute carefully: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5. Simplify step by step: close with interpretation.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6. Check units/domain: close with interpretation.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AB5D172-C8F8-4A03-9A5C-C0435127BA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NUMERICAL METHODS</a:t>
            </a:r>
          </a:p>
        </p:txBody>
      </p:sp>
    </p:spTree>
    <p:extLst>
      <p:ext uri="{BB962C8B-B14F-4D97-AF65-F5344CB8AC3E}">
        <p14:creationId xmlns:p14="http://schemas.microsoft.com/office/powerpoint/2010/main" val="372442777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3545217-B008-498C-81D8-5838359997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1BMATS201 | Module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0475A6F-87A0-4074-8EC4-18214FA8F7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2. Application, confusion, exam view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483E98A-5813-4BFE-BE99-46114C9393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DA93C3D-93D4-46F7-897D-D70EB6D442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13/40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59774EF-2990-4463-9354-22CBB13842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19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8A74557-70D2-4DE4-8CCC-BF05554F85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305050"/>
            <a:ext cx="43434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Use interpolation using Newton Gregary forward and Newton Gre... when a problem asks students to explain, compute, design, compare, or justify a result.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7727B82-1A5E-48B5-9191-AC13EF4949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619250"/>
            <a:ext cx="26670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E2E2"/>
          </a:solidFill>
          <a:ln xmlns:a="http://schemas.openxmlformats.org/drawingml/2006/main" w="9525">
            <a:solidFill>
              <a:srgbClr val="B91C1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Common mistake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DE32A61-237C-4D63-86C7-72D92DAB0A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305050"/>
            <a:ext cx="409575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Jumping from theorem to answer without showing conditions, substitution, or intermediate simplification.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E9D3EE0-38E4-4E66-BF12-E0ABFB1122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4667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Exam takeaway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544712A-8A0F-44A7-84C4-2AD37CF4F2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4629150"/>
            <a:ext cx="6191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A complete answer defines the topic, shows the mechanism or working, includes a labeled example, and states the final interpretation.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C3F4C26-4023-43DF-8A03-4F7BA7DFE9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NUMERICAL METHODS</a:t>
            </a:r>
          </a:p>
        </p:txBody>
      </p:sp>
    </p:spTree>
    <p:extLst>
      <p:ext uri="{BB962C8B-B14F-4D97-AF65-F5344CB8AC3E}">
        <p14:creationId xmlns:p14="http://schemas.microsoft.com/office/powerpoint/2010/main" val="1652648921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7AB2C2C-88CA-458C-B340-9CFDC8B8AE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1BMATS201 | Module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77F5ABD-B85B-48B1-B993-945678B352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3. Why this topic matters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B6FDA37-1AE1-4040-AE01-CA5CAA6A0E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C2A8FFE-215F-4B60-AA99-F7465F5287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14/40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1023D95-506B-4679-92D2-67D7D38E6D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600200"/>
            <a:ext cx="9906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82033"/>
                </a:solidFill>
              </a:defRPr>
            </a:pPr>
            <a:r>
              <a:rPr sz="2100" b="1">
                <a:solidFill>
                  <a:srgbClr val="182033"/>
                </a:solidFill>
              </a:rPr>
              <a:t>Newton's divided differenc e. Lagrange interpolation formulae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A004E4A-56A8-404C-9CF0-D2CA124283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686050"/>
            <a:ext cx="9334500" cy="1600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The method gives a dependable way to translate Newton's divided differenc e. Lagrange in... into solvable mathematical steps.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Connect the idea to the module problem before definitions.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Students should be able to say what changes, what is measured, and why the result matters.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46EA87E-2F14-4CF8-98AF-AD57AB34A8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Given data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EA70417-00B0-4DBF-9D5A-4ED65515C5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8A60A38-87C0-4FE2-AFEE-93F6A892F3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Required result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8AEB990-28F8-4B87-AA5B-CE097DC049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C10F6AE-516E-4316-A63F-E6A6AC1DE4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Formula or theorem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28AE01A-F3DE-4647-B29F-34E7125B0D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A7DA7FF-5F22-440E-9EB7-F3AD4F9446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Substitution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629708B-53DA-4CB0-913A-B35913584D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8DC7B56-FC8A-4F9D-801F-18DC991BA5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Interpretation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05C745F-8AAD-4184-800C-BE8B72357E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NUMERICAL METHODS</a:t>
            </a:r>
          </a:p>
        </p:txBody>
      </p:sp>
    </p:spTree>
    <p:extLst>
      <p:ext uri="{BB962C8B-B14F-4D97-AF65-F5344CB8AC3E}">
        <p14:creationId xmlns:p14="http://schemas.microsoft.com/office/powerpoint/2010/main" val="234110450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A048DC9-02CD-4EE0-8F8E-25700FF789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1BMATS201 | Module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3197634-E7F9-41B4-9272-47D89D57DF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3. Concept structure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E023799-1617-4187-8784-CAAEDDA030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C32D4D8-D5A2-4448-A52E-758E7ECAF5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15/40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CCD58C7-AA61-45D8-9A4E-2D63174FEF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383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Part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7668B23-4AD9-459C-93F7-500E97AC6C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16383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Classroom explanation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6CE0B07-60C9-41FE-8BA3-B017397176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16383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Check question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9201CA2-6EC3-4294-81D9-8F8BA017A3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1907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Given data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D63FF31-B1D1-4DDC-8E3D-B50A11FF14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1907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Given data explains one necessary part of Newton's divide...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D12274B-9885-4123-9A66-89AC7F68E8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1907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is given?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A15E578-EA21-46C6-B3B9-8A04C8E90D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7432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Required result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168EEE0-6B53-4FDA-9652-F414AD42E2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7432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Required result explains one necessary part of Newton's d...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7029DB6-AC8B-4145-A7FA-1D820FA1EA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7432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7343962-88C3-446F-9503-1E11FE6A4F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956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Formula or theorem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2556AE7-A1A1-4E93-8B61-9D90E5EED7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2956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Formula or theorem explains one necessary part of Newton'...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3C59EBF-985F-478B-B052-BDAE8C0053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2956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7ECB307-3B9D-4719-8D9D-B4F4FE11B6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481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Substitution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2280F36-5C8F-489B-A403-8C990B6BC9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8481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Substitution explains one necessary part of Newton's divi...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508ED48-0F7E-4103-A3CA-1F10C66E2D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8481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32D7827-FD0F-40CE-8DC6-732154B87C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4005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Interpretation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4F8034C-A76C-4F81-A139-58B1458A12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44005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Interpretation explains one necessary part of Newton's di...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045C898-E1E3-4021-9412-D4F131CF2B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44005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does it mean?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0C46F26-E189-442D-9F8A-74D29EF216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NUMERICAL METHODS</a:t>
            </a:r>
          </a:p>
        </p:txBody>
      </p:sp>
    </p:spTree>
    <p:extLst>
      <p:ext uri="{BB962C8B-B14F-4D97-AF65-F5344CB8AC3E}">
        <p14:creationId xmlns:p14="http://schemas.microsoft.com/office/powerpoint/2010/main" val="1557128806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1F187EA-F19E-423D-9478-FDE8E9CC3B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1BMATS201 | Module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AE2DA45-DF8C-4877-A19F-6C222E6A2C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3. Worked teaching sequence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C77F725-815E-4AEA-953E-EFB85EA044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45CC19E-30DB-4C73-99A7-FC2DD28302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16/40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2912FB0-E27D-48DC-A167-DF0D81D4DA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State the problem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63A6570-3B3E-4903-8311-71E1D3BBC0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55204C1-3411-4625-AD08-FBE97D50A7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List known values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16192C3-681C-4A25-B6FF-D0C10F5B76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6469983-922A-424D-AD14-BE48E786E0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Write the formula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83A5206-6583-4955-A4B7-A5E4ED8590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5E7A57E-04A8-4566-A358-43FC1C7A6F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Substitute carefully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7C0FEBC-4B4E-4861-A1C0-948079EAFF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61E3C1E-AFA9-4B4B-B8A3-E76874D971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Simplify step by step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238DD79-A560-44B3-8EF1-EE0113FB6B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714750"/>
            <a:ext cx="9334500" cy="190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1. State the problem: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2. List known values: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3. Write the formula: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4. Substitute carefully: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5. Simplify step by step: close with interpretation.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6. Check units/domain: close with interpretation.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C14C80F-6EFA-4444-AFB3-398B810DB1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NUMERICAL METHODS</a:t>
            </a:r>
          </a:p>
        </p:txBody>
      </p:sp>
    </p:spTree>
    <p:extLst>
      <p:ext uri="{BB962C8B-B14F-4D97-AF65-F5344CB8AC3E}">
        <p14:creationId xmlns:p14="http://schemas.microsoft.com/office/powerpoint/2010/main" val="1576232216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0FE03F5-DED3-4CAE-A81E-1508143D71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1BMATS201 | Module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A874ECF-452B-4751-8A44-960D5BF928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3. Application, confusion, exam view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57B7CAA-AC09-4FE6-B2B0-C6986BBD03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6783B53-5CBD-4C06-A4F2-ADFF175543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17/40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37BED00-93AD-403D-BB76-79C30D4C40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19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F4C9673-E3BD-4A30-8CD3-B3C2A7C10F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305050"/>
            <a:ext cx="43434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Use Newton's divided differenc e. Lagrange interpolation form... when a problem asks students to explain, compute, design, compare, or justify a result.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ED7DFCB-9962-433E-ABEE-16068DCA9B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619250"/>
            <a:ext cx="26670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E2E2"/>
          </a:solidFill>
          <a:ln xmlns:a="http://schemas.openxmlformats.org/drawingml/2006/main" w="9525">
            <a:solidFill>
              <a:srgbClr val="B91C1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Common mistake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D2E5A76-F68F-4159-AD1C-5AED91880D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305050"/>
            <a:ext cx="409575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Jumping from theorem to answer without showing conditions, substitution, or intermediate simplification.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6008E40-3AA6-4C86-B345-E504847866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4667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Exam takeaway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94072DB-BAC5-4910-A5AB-CA1EF69F9C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4629150"/>
            <a:ext cx="6191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A complete answer defines the topic, shows the mechanism or working, includes a labeled example, and states the final interpretation.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F992674-E38B-473C-9871-8F1880F6A6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NUMERICAL METHODS</a:t>
            </a:r>
          </a:p>
        </p:txBody>
      </p:sp>
    </p:spTree>
    <p:extLst>
      <p:ext uri="{BB962C8B-B14F-4D97-AF65-F5344CB8AC3E}">
        <p14:creationId xmlns:p14="http://schemas.microsoft.com/office/powerpoint/2010/main" val="672211794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C5E4765-3AE4-46D1-8657-30502CD71B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1BMATS201 | Module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13E0BAA-5F53-485C-B4A4-C01EDC4ACC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4. Why this topic matters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0D4094A-6411-4CED-ADDF-8B3CC36016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57A0851-2632-4B2D-B350-9345735D75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18/40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C8C9B7C-A6AC-4978-BA54-19269A845A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600200"/>
            <a:ext cx="9906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82033"/>
                </a:solidFill>
              </a:defRPr>
            </a:pPr>
            <a:r>
              <a:rPr sz="2100" b="1">
                <a:solidFill>
                  <a:srgbClr val="182033"/>
                </a:solidFill>
              </a:rPr>
              <a:t>piecewise interpolation-linear and quadratic. Textbook-1: Chapter-4: sections 4.1-4.4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D8087B0-0460-40AE-9EA0-A3DBAFD38C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686050"/>
            <a:ext cx="9334500" cy="1600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The method gives a dependable way to translate piecewise interpolation-linear and quadra... into solvable mathematical steps.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Connect the idea to the module problem before definitions.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Students should be able to say what changes, what is measured, and why the result matters.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35FE786-6961-4764-877B-2D9BBF8696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Given data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0E4A298-7CF6-4F01-A6C2-BE4A379CC5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C97FD98-57C4-4398-84FD-754DD3D953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Required result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66E494C-6F1F-41CE-8E09-8262AE6B8D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2BAF470-B881-4F22-8539-657DA98CC6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Formula or theorem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FC112A1-A9CC-4E44-A35B-414E2C7A68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4BA2E6F-0F6F-4D92-BEC4-6A76670FB1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Substitution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A23BBED-439D-411C-A96A-C29CFA327B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B8388BB-26E4-4CBD-A641-176EF05849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Interpretation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EA80F9A-1C8B-4BB9-B32B-C1E69AE8AC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NUMERICAL METHODS</a:t>
            </a:r>
          </a:p>
        </p:txBody>
      </p:sp>
    </p:spTree>
    <p:extLst>
      <p:ext uri="{BB962C8B-B14F-4D97-AF65-F5344CB8AC3E}">
        <p14:creationId xmlns:p14="http://schemas.microsoft.com/office/powerpoint/2010/main" val="1461723716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93D0967-1E25-4B09-8850-27E396997E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1BMATS201 | Module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A7347F4-0433-4C8E-9474-E8A0980962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4. Concept structure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E3B0326-9B10-4209-823A-4953641C83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24FB871-6535-4C3D-A3C3-5F7B54D42C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19/40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F041662-9C76-4AC7-9BAF-0FD01F9CE5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383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Part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9B4ABBB-809F-453D-81CA-F7CCA9CFD3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16383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Classroom explanation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4DBE9C6-F447-4C0A-92EA-6B3F2FA727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16383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Check question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4BD843F-47C9-4DEF-A6F9-BB94061518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1907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Given data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5CD6B0E-D8D5-4793-94DF-A8F9908915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1907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Given data explains one necessary part of piecewise inter...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F9E0AA7-3325-416E-A139-97E429843F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1907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is given?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6DC4F58-71D8-40FC-A2F9-6CEBADCA43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7432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Required result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EB55745-3CEC-4D1F-B813-8889670C17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7432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Required result explains one necessary part of piecewise...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124DD25-5F0B-41AA-B791-6707028F62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7432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42A1BB4-7F2F-4D70-B7BC-CB3755D320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956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Formula or theorem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0644517-2A2E-4AEA-8B53-54C3703683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2956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Formula or theorem explains one necessary part of piecewi...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B895EC9-AED5-43A2-A403-E305E52D66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2956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58C8CD7-286B-4960-B666-46BAF60A28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481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Substitution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8DFA423-A4A4-4696-A8B7-CBBDDAD24A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8481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Substitution explains one necessary part of piecewise int...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AB7DB11-DC7E-4B43-8C5B-3BC7692251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8481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552C564-A622-46F9-8F3E-7690A98E28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4005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Interpretation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D1024ED-5501-4805-89D2-43480C92C2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44005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Interpretation explains one necessary part of piecewise i...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CDA8929-187B-4A39-BC3E-68EB793356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44005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does it mean?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FD3D54D-682A-45CF-AE62-183747A039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NUMERICAL METHODS</a:t>
            </a:r>
          </a:p>
        </p:txBody>
      </p:sp>
    </p:spTree>
    <p:extLst>
      <p:ext uri="{BB962C8B-B14F-4D97-AF65-F5344CB8AC3E}">
        <p14:creationId xmlns:p14="http://schemas.microsoft.com/office/powerpoint/2010/main" val="1866547744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105867B-23B3-4375-937F-D7152C9791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1BMATS201 | Module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E11FC5D-C19A-410E-B32C-B19BAD7F81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4. Worked teaching sequence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7E49244-6CA5-4751-8F68-785BF5E302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B35F56C-1ACF-4006-BCBC-84DE9F4B2C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20/40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20AA74B-1E20-459B-9665-5178968BA4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State the problem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9518B00-BDB5-475B-BE46-8392F4F878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B6E2A52-7AAE-4863-920C-B89C8197F5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List known values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7F13103-06D9-44B8-8E59-FE085B69F2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18890C6-938C-48F2-A8C7-56DAA32C29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Write the formula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C7BB4DA-5F59-447A-A4CD-57AC204CC6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14B4AC4-7404-483A-9ED7-6C05B0309C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Substitute carefully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8B116B0-E3D0-4F44-B1CB-22672ADB33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730C5F5-4A0E-41F1-8B8F-38C761C994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Simplify step by step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4A5200C-721F-4287-BE94-4B4AB89659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714750"/>
            <a:ext cx="9334500" cy="190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1. State the problem: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2. List known values: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3. Write the formula: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4. Substitute carefully: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5. Simplify step by step: close with interpretation.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6. Check units/domain: close with interpretation.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7D8B01E-E9D3-462D-834D-A245792B06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NUMERICAL METHODS</a:t>
            </a:r>
          </a:p>
        </p:txBody>
      </p:sp>
    </p:spTree>
    <p:extLst>
      <p:ext uri="{BB962C8B-B14F-4D97-AF65-F5344CB8AC3E}">
        <p14:creationId xmlns:p14="http://schemas.microsoft.com/office/powerpoint/2010/main" val="1537361350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2C05CAC-A047-452D-9BE8-53CAA74E32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1BMATS201 | Module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849FB79-6AFB-49EF-B6DA-D27068FAAE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4. Application, confusion, exam view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886146D-94E3-4C12-9D22-E590F2FCB3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224E666-616E-49F6-AD55-B470373FAC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21/40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1765140-09DE-43FE-8B20-B1C937831F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19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81C10B5-3E1E-4D20-A0E7-B5F36DAD81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305050"/>
            <a:ext cx="43434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Use piecewise interpolation-linear and quadratic. Textbook-1:... when a problem asks students to explain, compute, design, compare, or justify a result.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14791DF-0240-45D6-931D-37FE0E5379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619250"/>
            <a:ext cx="26670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E2E2"/>
          </a:solidFill>
          <a:ln xmlns:a="http://schemas.openxmlformats.org/drawingml/2006/main" w="9525">
            <a:solidFill>
              <a:srgbClr val="B91C1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Common mistake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6C4EC39-7753-4D5C-B730-6CD4BE239F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305050"/>
            <a:ext cx="409575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Jumping from theorem to answer without showing conditions, substitution, or intermediate simplification.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9D9F383-165F-44C2-B895-EC92385205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4667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Exam takeaway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0B80861-FC6C-44B1-B29B-C429E45518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4629150"/>
            <a:ext cx="6191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A complete answer defines the topic, shows the mechanism or working, includes a labeled example, and states the final interpretation.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3AC4F40-B8ED-438A-969A-4028B4B9DB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NUMERICAL METHODS</a:t>
            </a:r>
          </a:p>
        </p:txBody>
      </p:sp>
    </p:spTree>
    <p:extLst>
      <p:ext uri="{BB962C8B-B14F-4D97-AF65-F5344CB8AC3E}">
        <p14:creationId xmlns:p14="http://schemas.microsoft.com/office/powerpoint/2010/main" val="829583370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A889EF3-F97C-4CC9-8BC7-38B03C7C74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1BMATS201 | Module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78DF848-2F05-42BE-A1A5-22A397CFCA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5. Why this topic matters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A6C7D0B-F403-42A3-924C-2A7FEE89FD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01656AE-7BBA-4A47-803A-B7B7C69DA0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22/40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F4FC5C4-DD19-4694-933B-B17FA3904E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600200"/>
            <a:ext cx="9906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82033"/>
                </a:solidFill>
              </a:defRPr>
            </a:pPr>
            <a:r>
              <a:rPr sz="2100" b="1">
                <a:solidFill>
                  <a:srgbClr val="182033"/>
                </a:solidFill>
              </a:rPr>
              <a:t>4.6 15092025 2 2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A752F19-BA9A-4CA8-835E-871289724A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686050"/>
            <a:ext cx="9334500" cy="1600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The method gives a dependable way to translate 4.6 15092025 2 2 into solvable mathematical steps.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Connect the idea to the module problem before definitions.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Students should be able to say what changes, what is measured, and why the result matters.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496C5B5-14F5-4912-AF05-18AFE4F196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Given data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BCB92ED-3BEA-4BA9-A11C-5F7D2D5EA2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55D4A98-D7C5-4C0F-AABA-36F108A7BF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Required result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75D714A-F713-43E2-B525-795416D508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71C9446-A3EF-42B7-B95C-F74DE1BACB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Formula or theorem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156FA74-6FBD-4D14-B70A-74B683B710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19A4F6A-9735-4F87-B366-4F08FC1B02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Substitution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ABFA95D-C190-403A-AC49-D4FDC24375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3898AD5-CC62-4A93-9C89-D9E04442B7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Interpretation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2C7BCF8-DF14-48C8-82C5-5511DA6DAC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NUMERICAL METHODS</a:t>
            </a:r>
          </a:p>
        </p:txBody>
      </p:sp>
    </p:spTree>
    <p:extLst>
      <p:ext uri="{BB962C8B-B14F-4D97-AF65-F5344CB8AC3E}">
        <p14:creationId xmlns:p14="http://schemas.microsoft.com/office/powerpoint/2010/main" val="541405332"/>
      </p:ext>
    </p:extLst>
  </p:cSld>
</p:sld>
</file>

<file path=ppt/slides/slide23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1C8ECBC-2F02-4C2D-B004-5E1B08B168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1BMATS201 | Module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1D84651-EB6C-457A-87ED-C08FEC0E25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5. Concept structure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BB13788-E7CB-411E-AAD9-8421751BE4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89B192D-1DCE-4CD9-9E95-0E1C375385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23/40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349F0ED-21D3-4FCC-8AF9-3DCD18D220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383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Part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0B72D71-1422-4D10-B926-3014947237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16383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Classroom explanation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892F4C3-8422-45AB-A017-72450B44B3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16383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Check question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EC15DA8-DEA2-42F9-BE22-8874BE98A6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1907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Given data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8F6E010-AA80-4B96-9AF5-30CD3B3D68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1907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Given data explains one necessary part of 4.6 15092025 2...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F57933C-5BCE-43DA-A0C8-36F1F0FD83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1907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is given?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A7183E0-1018-4077-92FD-A751C669E7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7432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Required result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37A8C40-BBBB-4547-B23A-AEE3BE78E6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7432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Required result explains one necessary part of 4.6 150920...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2CAA668-93C8-4C7E-B885-7099C306BA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7432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B755243-3B2D-4FFB-A853-0C1B244049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956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Formula or theorem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4854018-B82C-49E6-B0D7-E1010D7F36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2956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Formula or theorem explains one necessary part of 4.6 150...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E0259E2-AC04-46CB-8961-5B474C7CA1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2956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558018F-5F46-4D9F-8F54-52BCD567B6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481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Substitution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DDA9550-FDDF-474F-AAAA-802EA621CF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8481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Substitution explains one necessary part of 4.6 15092025...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987B177-3A0E-4CEC-8E44-05D6440C35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8481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B055050-E792-4C43-8ACE-D8CE1939F3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4005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Interpretation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E04BCC4-F22C-4FBE-B0E4-E2912A9858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44005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Interpretation explains one necessary part of 4.6 1509202...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B52A684-1713-4877-B0F5-700CCC4AE0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44005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does it mean?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16D8BB1-D915-410F-947E-EC685E9896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NUMERICAL METHODS</a:t>
            </a:r>
          </a:p>
        </p:txBody>
      </p:sp>
    </p:spTree>
    <p:extLst>
      <p:ext uri="{BB962C8B-B14F-4D97-AF65-F5344CB8AC3E}">
        <p14:creationId xmlns:p14="http://schemas.microsoft.com/office/powerpoint/2010/main" val="1920807109"/>
      </p:ext>
    </p:extLst>
  </p:cSld>
</p:sld>
</file>

<file path=ppt/slides/slide24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225C4DB-251F-4E2A-A8DE-DACB468881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1BMATS201 | Module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C2BE3CB-4388-4DED-A5F2-829A2D69D2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5. Worked teaching sequence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401C5AD-3313-4683-A2D7-EC48A68971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249BA13-B873-44F9-9F5E-F76E685B2E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24/40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B98CE15-6D5C-428B-AEB3-AC5D96E1D6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State the problem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64257D7-7ABE-4D87-85EE-801A308874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026D241-2105-4DFA-8731-33648EADA1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List known values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AB13DCB-EFFA-4713-9690-AEC4DFA680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BB3371D-D4E4-4940-BB01-6AE0877F7B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Write the formula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748C3FE-C684-41F6-AC9A-C09B4AE078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E74A882-EAA3-48DE-B942-DD9FFCD7C1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Substitute carefully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2F0DBAE-6C0F-4880-8170-BD778ADFEC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A751E28-087E-4F38-9B74-90A9787226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Simplify step by step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CC2A986-6483-4FB3-82EC-655339A005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714750"/>
            <a:ext cx="9334500" cy="190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1. State the problem: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2. List known values: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3. Write the formula: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4. Substitute carefully: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5. Simplify step by step: close with interpretation.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6. Check units/domain: close with interpretation.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A48D72F-BF8A-4282-B151-366FC86030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NUMERICAL METHODS</a:t>
            </a:r>
          </a:p>
        </p:txBody>
      </p:sp>
    </p:spTree>
    <p:extLst>
      <p:ext uri="{BB962C8B-B14F-4D97-AF65-F5344CB8AC3E}">
        <p14:creationId xmlns:p14="http://schemas.microsoft.com/office/powerpoint/2010/main" val="1780011887"/>
      </p:ext>
    </p:extLst>
  </p:cSld>
</p:sld>
</file>

<file path=ppt/slides/slide25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F2442DB-C017-4F39-9CD0-15CF90362C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1BMATS201 | Module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8F135BF-37ED-46FD-A6E5-385B3EBEA1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5. Application, confusion, exam view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EB7EFD3-95D1-48F8-8DE7-33920B99AD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E51A3D2-7C03-46EB-9704-4A4AFE19EE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25/40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7BF59A9-B35C-40F3-947E-DE51D68D55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19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B153686-06BE-4CAF-8C71-335FBA87E2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305050"/>
            <a:ext cx="43434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Use 4.6 15092025 2 2 when a problem asks students to explain, compute, design, compare, or justify a result.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DF1A2FA-8735-482A-8CDC-C3CE38B352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619250"/>
            <a:ext cx="26670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E2E2"/>
          </a:solidFill>
          <a:ln xmlns:a="http://schemas.openxmlformats.org/drawingml/2006/main" w="9525">
            <a:solidFill>
              <a:srgbClr val="B91C1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Common mistake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B5AE404-92AF-4FD0-87EF-722F3524F8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305050"/>
            <a:ext cx="409575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Jumping from theorem to answer without showing conditions, substitution, or intermediate simplification.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D4717BD-B68D-49C8-845D-4573AF21A7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4667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Exam takeaway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73F1CDF-0AAF-483A-93F9-D66354C996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4629150"/>
            <a:ext cx="6191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A complete answer defines the topic, shows the mechanism or working, includes a labeled example, and states the final interpretation.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748EA75-D19E-44CD-BA8A-C609B66299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NUMERICAL METHODS</a:t>
            </a:r>
          </a:p>
        </p:txBody>
      </p:sp>
    </p:spTree>
    <p:extLst>
      <p:ext uri="{BB962C8B-B14F-4D97-AF65-F5344CB8AC3E}">
        <p14:creationId xmlns:p14="http://schemas.microsoft.com/office/powerpoint/2010/main" val="1082298545"/>
      </p:ext>
    </p:extLst>
  </p:cSld>
</p:sld>
</file>

<file path=ppt/slides/slide26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83B8202-7AA3-4979-865D-3B09581619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1BMATS201 | Module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269A23C-5527-4484-B223-CC8A32B813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Module concept map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7DEEE4B-4169-47C5-8CFC-E44D7016EC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A8FD29C-0A1C-4217-9886-3381434E98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26/40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6691C08-5278-41CF-BC51-1A77C7C4E9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1695450"/>
            <a:ext cx="933450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Problem or need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Core ideas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Mechanism / method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Worked example pattern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Applications and exam answer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81E36B0-438D-4E5C-9E48-A3C8F68E13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NUMERICAL METHODS</a:t>
            </a:r>
          </a:p>
        </p:txBody>
      </p:sp>
    </p:spTree>
    <p:extLst>
      <p:ext uri="{BB962C8B-B14F-4D97-AF65-F5344CB8AC3E}">
        <p14:creationId xmlns:p14="http://schemas.microsoft.com/office/powerpoint/2010/main" val="2035779238"/>
      </p:ext>
    </p:extLst>
  </p:cSld>
</p:sld>
</file>

<file path=ppt/slides/slide27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F5C30D3-6AD7-4B4F-9C5D-A67BA3113F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1BMATS201 | Module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9C8DFDA-907D-469A-951C-A3B5E44C19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Key definitions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BEA1318-AAE0-4E37-82EF-8A9F3FC9B7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3E9E1F7-8493-443A-954B-B018994C04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27/40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0D7EC39-D0BA-4952-8DBC-4D0BE64196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1695450"/>
            <a:ext cx="933450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Interpolation: define using the syllabus context and one example.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Tutorial: define using the syllabus context and one example.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Finite: define using the syllabus context and one example.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differences: define using the syllabus context and one example.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Newton: define using the syllabus context and one example.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35524D5-02BB-472F-BDFE-16E41B54DC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NUMERICAL METHODS</a:t>
            </a:r>
          </a:p>
        </p:txBody>
      </p:sp>
    </p:spTree>
    <p:extLst>
      <p:ext uri="{BB962C8B-B14F-4D97-AF65-F5344CB8AC3E}">
        <p14:creationId xmlns:p14="http://schemas.microsoft.com/office/powerpoint/2010/main" val="2020420994"/>
      </p:ext>
    </p:extLst>
  </p:cSld>
</p:sld>
</file>

<file path=ppt/slides/slide28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9930699-C862-4D36-865D-0725C48A04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1BMATS201 | Module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BDF8981-BE08-447B-AEB8-A533D10D23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Important formulae / diagrams / algorithms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BE62F3B-112C-4A27-ABD7-1340F86132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8C190C7-E317-4E1B-A628-5588F00D2E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28/40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F041B80-F937-4607-9638-E9C293E8B8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1695450"/>
            <a:ext cx="933450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Given data: prepare a labeled board version for exams and classroom explanation.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Required result: prepare a labeled board version for exams and classroom explanation.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Formula or theorem: prepare a labeled board version for exams and classroom explanation.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Substitution: prepare a labeled board version for exams and classroom explanation.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Interpretation: prepare a labeled board version for exams and classroom explanation.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A218AEF-8F1B-4A2A-9C86-D930B05E36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NUMERICAL METHODS</a:t>
            </a:r>
          </a:p>
        </p:txBody>
      </p:sp>
    </p:spTree>
    <p:extLst>
      <p:ext uri="{BB962C8B-B14F-4D97-AF65-F5344CB8AC3E}">
        <p14:creationId xmlns:p14="http://schemas.microsoft.com/office/powerpoint/2010/main" val="1392816291"/>
      </p:ext>
    </p:extLst>
  </p:cSld>
</p:sld>
</file>

<file path=ppt/slides/slide29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317D4E3-72BC-4485-9BE0-01B636DD0D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1BMATS201 | Module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4085243-DC9B-4CE7-BFFC-9265670F77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Common mistakes and corrections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25CFC69-C846-4291-8115-E82B577BA1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A36E7AE-99CE-40E0-9201-33C6E29570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29/40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FFD219B-82FC-4E53-8C82-1017A43515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1695450"/>
            <a:ext cx="933450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Jumping from theorem to answer without showing conditions, substitution, or intermediate simplification.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Use diagrams, units, intermediate steps, or scenario context wherever the answer demands them.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Do not replace explanation with topic-name listing.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CD1ACFF-286A-47CD-A430-DE1FB22DE9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NUMERICAL METHODS</a:t>
            </a:r>
          </a:p>
        </p:txBody>
      </p:sp>
    </p:spTree>
    <p:extLst>
      <p:ext uri="{BB962C8B-B14F-4D97-AF65-F5344CB8AC3E}">
        <p14:creationId xmlns:p14="http://schemas.microsoft.com/office/powerpoint/2010/main" val="849232691"/>
      </p:ext>
    </p:extLst>
  </p:cSld>
</p:sld>
</file>

<file path=ppt/slides/slide30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72A9898-AE02-4CBD-BFBA-D798464DF7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1BMATS201 | Module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476CABC-FC82-420B-B730-668958CD9E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Practice questions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A07E523-A9A8-49D2-87B5-D3BE3B4623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EE4751B-CE64-47B0-A043-DE49D531ED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30/40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1A3F8D0-9318-4F35-8947-3652607935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1695450"/>
            <a:ext cx="933450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1. Explain Interpolation (8Hours Theory + 4Hours Tutorial) Finite differences with a labeled example and exam-ready conclusion.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2. Explain interpolation using Newton Gregary forward and Newton Gregary backward... with a labeled example and exam-ready conclusion.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3. Explain Newton's divided differenc e. Lagrange interpolation formulae with a labeled example and exam-ready conclusion.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4. Explain piecewise interpolation-linear and quadratic. Textbook-1: Chapter-4: se... with a labeled example and exam-ready conclusion.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5. Explain 4.6 15092025 2 2 with a labeled example and exam-ready conclusion.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0018686-95E9-4595-88C3-17909ED971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5124450"/>
            <a:ext cx="2095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82033"/>
                </a:solidFill>
              </a:defRPr>
            </a:pPr>
            <a:r>
              <a:rPr sz="1425" b="1">
                <a:solidFill>
                  <a:srgbClr val="182033"/>
                </a:solidFill>
              </a:rPr>
              <a:t>Note on PYQs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63A4C55-FECE-4DE1-8D1C-AD270ADCDE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5124450"/>
            <a:ext cx="6667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82033"/>
                </a:solidFill>
              </a:defRPr>
            </a:pPr>
            <a:r>
              <a:rPr sz="1500" b="0">
                <a:solidFill>
                  <a:srgbClr val="182033"/>
                </a:solidFill>
              </a:rPr>
              <a:t>No repository-verified VTU previous-year question source was found for this module; these are practice questions.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FDE06C5-197B-4005-AE1E-B542CA7AE1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NUMERICAL METHODS</a:t>
            </a:r>
          </a:p>
        </p:txBody>
      </p:sp>
    </p:spTree>
    <p:extLst>
      <p:ext uri="{BB962C8B-B14F-4D97-AF65-F5344CB8AC3E}">
        <p14:creationId xmlns:p14="http://schemas.microsoft.com/office/powerpoint/2010/main" val="1755467281"/>
      </p:ext>
    </p:extLst>
  </p:cSld>
</p:sld>
</file>

<file path=ppt/slides/slide31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B5678F69-5284-429C-A405-7B51E6F871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1BMATS201 | Module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75B54D9-6EBC-41EE-B9BC-425A3FBA34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Board-work expansion: Interpolation (8Hours Theory + 4Hours Tutor...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8D5962F-9F61-4BE7-A051-EC0F34104E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6133B65-CC38-4007-B182-8D890DDF16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31/40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CB3AB89-6899-4CA3-A87E-264F97F909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State the problem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B52B98A-8ECB-4D8D-AEAE-53BDFB6F64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3C19119-2500-460D-B980-DC2FA20D41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List known values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7014A74-BF87-4B04-B74F-9374CAD337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643BE32-8578-4196-B187-5D2FDF6218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Write the formula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A21D6F4-97BC-4D39-BA5B-0B9A83189F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ABEFA04-14ED-419B-86C8-3CC24C713B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Substitute carefully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3352AA9-C90E-4C84-942E-D59CD18B36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14AC0A7-FDA1-4277-8C3C-EA2A1E6E6F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Simplify step by step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0D0189C-153F-4404-9F30-2007273210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3909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Step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C55D520-6FA2-41D5-9099-D75E69CF63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3909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Lecturer writes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FA2A35F-CFD4-432B-804E-05545D94C6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3909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Student checks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DE6300F-8AF3-42CD-8C41-EF39CBD02A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8100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1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4867FEF-390C-46C1-9F16-0D66AC2C95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8100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State the problem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509F594-A9D2-48B4-A28B-078EB189AF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8100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4A6E0A0-FF91-465D-A459-B8FE7BCCA3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2291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2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4F770A2-BB7D-4792-B30A-9C3024F03A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2291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List known values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554CB94-BDAC-4E48-B4B4-D8E46BB17E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2291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EDE891F-676B-4F9B-9E45-11BBD9528F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6482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3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DDC7C3C-3FDA-4AD2-9F72-8B59D80935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6482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Write the formula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1DC4FD1-FEA7-4487-8408-E65EFAB379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6482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0F23310-C59D-4225-8A47-C263A08E8E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673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4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0BC2376-1E31-495A-B3A6-0EB3DB70D8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0673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Substitute carefully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C62D460-E6A8-40AD-8CF5-AAF6D6726E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0673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CCF9BF4-9A0E-41EA-85F8-6AEC12A955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4864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5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C18139B9-BF51-404D-A63E-E2F857E4BF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4864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Simplify step by step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7BE951CB-BA6A-4786-A0BE-094DF0E366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4864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Meaning of result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48BCD9E6-0593-431D-93C6-82B618BA42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NUMERICAL METHODS</a:t>
            </a:r>
          </a:p>
        </p:txBody>
      </p:sp>
    </p:spTree>
    <p:extLst>
      <p:ext uri="{BB962C8B-B14F-4D97-AF65-F5344CB8AC3E}">
        <p14:creationId xmlns:p14="http://schemas.microsoft.com/office/powerpoint/2010/main" val="1701357181"/>
      </p:ext>
    </p:extLst>
  </p:cSld>
</p:sld>
</file>

<file path=ppt/slides/slide32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2AA21980-29F3-42B5-A9FB-C58A2EDC08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1BMATS201 | Module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71156B4-872B-4B6B-9FBF-4597FBFD1F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Board-work expansion: interpolation using Newton Gregary forward...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13BE29D-3670-4F07-BF3A-BAE298C7E1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808777D-C669-4F86-9586-51A985DAD6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32/40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62C8DC1-8C9B-47E9-916F-525CFA744F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State the problem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7F6886E-6FB4-447B-B16D-4ABF79E964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6408BF7-1317-4921-A304-00BF298114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List known values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3617BA2-C4EE-4B11-B3AD-FFB263284A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1F41AD3-B216-4A4F-BB92-D4F3CF035B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Write the formula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B1EE171-21F7-499A-906B-4415A1C8CA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8F66AA6-A456-40BC-90ED-9A4F0976E7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Substitute carefully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1154CEE-20A0-4421-AA68-60729E5814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2094FA6-9189-427F-BF47-FDFA40968B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Simplify step by step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A40D6D0-3F1E-4185-86CA-438EE0EE02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3909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Step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FF33371-8D1B-4084-A5A9-66971AF7A0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3909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Lecturer writes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B4469B5-4F51-4C01-84E5-A3CBDCBAFC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3909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Student checks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1A7C727-A717-48D4-B57B-31C2C0A436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8100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1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BAB1BB7-9318-4DEB-8279-13FA4DA90B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8100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State the problem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503A7BF-2B68-4FA0-BEAD-C95B0A7E58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8100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12E8C97-BA1B-4875-A1D6-E7F3F32964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2291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2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10022BB-C6BB-4FB9-A6B3-CD4894EC98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2291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List known values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B55FD53-C448-4FF0-A29E-C993C3AD91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2291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56452A4-AF67-4884-A908-68C73F4CED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6482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3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F9392D7-C915-4FD0-86B0-0A8046B1BD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6482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Write the formula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98B797B-EFF2-4F91-9DA2-4094E63352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6482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CBEE20B-430B-4FF9-BAD8-9F4DE0664D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673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4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04BFC59-0CB1-438B-BA68-E060F215DD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0673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Substitute carefully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5B0843B-B458-4A16-ABA6-AB5CFCFEC6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0673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A797482-AFC2-4540-BA84-790077B7A8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4864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5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51B650EA-405B-44DA-A600-7F9C543F23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4864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Simplify step by step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ADEDACF4-328E-4D0F-A06A-A7DC61BB8F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4864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Meaning of result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79C1ECD4-3890-49DF-8264-7B51EAE83A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NUMERICAL METHODS</a:t>
            </a:r>
          </a:p>
        </p:txBody>
      </p:sp>
    </p:spTree>
    <p:extLst>
      <p:ext uri="{BB962C8B-B14F-4D97-AF65-F5344CB8AC3E}">
        <p14:creationId xmlns:p14="http://schemas.microsoft.com/office/powerpoint/2010/main" val="862057852"/>
      </p:ext>
    </p:extLst>
  </p:cSld>
</p:sld>
</file>

<file path=ppt/slides/slide33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6BB7E411-4D6B-400A-98B1-406AFBB92F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1BMATS201 | Module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CACCCCE-12D4-4BAB-A779-5653AE2CD7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Board-work expansion: Newton's divided differenc e. Lagrange inte...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B68E661-C0D7-4775-92C4-A794EE98EC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CEA6CB8-D7E0-4939-B3F4-0BD09D3C1F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33/40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34C2BEE-F17D-4EE9-B88D-9763C287F5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State the problem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3AE955F-BC89-4D55-83C9-10F485E37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229D573-09F1-4344-9FDB-9470A1D96A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List known values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EF6A1AB-D131-4B68-8D40-A837634B59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3EA7C56-4404-4CBC-BB3C-47C228438A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Write the formula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6DA469F-2DBB-4FDB-A459-38360FCDA4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FC4D259-1137-41F9-8D48-C6C295D27F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Substitute carefully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371A620-C3C2-467E-BD03-3F43D1FFF2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C1100DB-43FD-438E-93A7-77BAF59F01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Simplify step by step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08D29D4-3FA9-44F8-8594-F51F11A45C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3909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Step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67D92F3-5B85-4607-9611-76FC7AC531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3909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Lecturer writes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ED4C104-BC2E-4847-A785-E999C80250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3909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Student checks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6CE959C-A186-45EE-A3AF-11FCBC7F21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8100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1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76CF2F7-E63D-40E4-9111-A08029B064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8100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State the problem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0A2B7BC-902A-4DF4-916E-1988884B5F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8100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042701E-D2F9-48B3-B73A-7BE4C1B1CE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2291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2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703E46A-C268-4B60-9BF9-1511D5A930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2291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List known values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C379EC8-5E72-4210-9F19-5B6B331D41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2291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2E8691D-D987-44C7-8AE0-608876E783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6482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3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836D3AE-5D06-496E-86A9-E2472201C2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6482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Write the formula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AEB1F9F-6661-492B-928F-CB1D071C70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6482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7CB1BB6-BA4F-4CD6-8D00-EB50CADCA3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673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4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A6ACE48-AF9D-4AA6-B279-A686A05E40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0673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Substitute carefully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F4D4E4F-55C2-4845-96FE-6DF792A2C1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0673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35B594E-FC79-4999-B9A6-BEFF62BAD5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4864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5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C9B181D9-F010-4AE1-BC69-F664AB4760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4864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Simplify step by step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141EB136-FFE4-4AA1-BF00-B649DAFDC7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4864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Meaning of result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27820B48-1EED-4F22-ACE8-9207381644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NUMERICAL METHODS</a:t>
            </a:r>
          </a:p>
        </p:txBody>
      </p:sp>
    </p:spTree>
    <p:extLst>
      <p:ext uri="{BB962C8B-B14F-4D97-AF65-F5344CB8AC3E}">
        <p14:creationId xmlns:p14="http://schemas.microsoft.com/office/powerpoint/2010/main" val="741341683"/>
      </p:ext>
    </p:extLst>
  </p:cSld>
</p:sld>
</file>

<file path=ppt/slides/slide34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6A676644-817F-48E8-BBD3-82D07B9B3E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1BMATS201 | Module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EA68BF8-21C0-4AB7-A78D-FE81938EBE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Board-work expansion: piecewise interpolation-linear and quadrati...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0D81216-D972-4D18-BD3C-72A516283C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7498006-711D-46AE-83A9-132972C5B1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34/40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B91100A-C6AE-408D-B059-76DBFBF627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State the problem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4F571D2-A2B7-4557-B0B6-F83B515B8E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FFA1936-EB67-4BD6-BB19-600635B090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List known values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97AC859-517F-4AE5-8F9A-174593F835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02E9972-627B-4F31-BE60-02D754F304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Write the formula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7E55BB2-D143-4B8A-8D2E-31A48AFE70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3C5F543-3FE1-4529-A9E7-47659370F3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Substitute carefully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06A6ADD-970E-4E15-8482-B0E7736D05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3FAACA1-DAB2-4440-BAD4-21DCBE8D18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Simplify step by step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A2D094E-ADC8-47AC-A3E3-671A706599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3909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Step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EDC2775-FA26-45BB-9838-BDE92B9DC6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3909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Lecturer writes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22CA407-E038-4ABF-9A77-E71C003183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3909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Student checks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8FA0B52-4F38-4AA8-9F5A-CAA2760896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8100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1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E3C0278-1438-4146-84DF-3C51D4A491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8100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State the problem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114F78C-5560-4CDE-A119-9DB78F97CE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8100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EF26F4F-CED7-474B-87AD-709DE78303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2291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2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FF2583F-46D6-47F8-BDE0-3DACA84AE7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2291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List known values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0777416-DBDA-414B-8351-ADB7915A47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2291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A06E423-CF2C-4DD6-B828-47EA40BF38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6482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3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8D83645-5FDD-4125-B1E4-B3DF3F0831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6482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Write the formula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5C3D10D-C176-407A-B77E-097A16205D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6482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E805DA1-E961-4ADD-9467-3B9DF9DD99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673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4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8337256-460F-415E-8C5D-3988E2EC6D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0673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Substitute carefully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DC5BD20-9A5E-4FFE-B530-516EE0085D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0673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057E4D6-FDBB-4F66-AA0E-5C4C68365D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4864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5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E982E3C4-BE54-4651-890F-AC3C2F09C6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4864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Simplify step by step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4C4DC0B4-6F21-4F5E-B07A-C4FE9C6721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4864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Meaning of result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7F004037-15F1-4778-A407-7C6A1FDFF5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NUMERICAL METHODS</a:t>
            </a:r>
          </a:p>
        </p:txBody>
      </p:sp>
    </p:spTree>
    <p:extLst>
      <p:ext uri="{BB962C8B-B14F-4D97-AF65-F5344CB8AC3E}">
        <p14:creationId xmlns:p14="http://schemas.microsoft.com/office/powerpoint/2010/main" val="965996365"/>
      </p:ext>
    </p:extLst>
  </p:cSld>
</p:sld>
</file>

<file path=ppt/slides/slide35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07054F87-4BB7-4A1C-A693-DC2F6BD59A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1BMATS201 | Module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B3A853D-0307-4894-BF90-A7C697E094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Board-work expansion: 4.6 15092025 2 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41BFA88-4402-4847-9EF4-A0493DB358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C6211C2-D820-42E0-A112-E3B36F4794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35/40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3684B51-A348-4440-ADF6-5DCDD75693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State the problem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EC7F85D-E61E-4AF2-939E-A73BFC246F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FD6CEFD-CB93-4C08-9CDC-FA60276B0D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List known values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1741130-8592-4575-BDE9-1ABC37C05B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B90708A-BE5C-48D0-A4C8-473EF652C1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Write the formula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2510CDD-851D-4A7F-A9E7-DCFB90598D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6B68911-8329-44AA-B89E-8DA9BE28EA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Substitute carefully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E953EAB-6D7C-469F-8991-4BF17AE3BF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ED9EEFB-5B27-4A7F-9C19-1965BBE96B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Simplify step by step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BD46894-9C9A-4323-964E-F57F2B6908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3909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Step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1C484F0-CADF-4428-B161-495C760CA7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3909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Lecturer writes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244F0FA-B152-402B-8DDA-B68ADADE5A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3909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Student checks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32C3C32-D2F5-44A0-BA3A-998C117815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8100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1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F7D5F20-4AF7-4F1B-A662-C1291A713A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8100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State the problem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B568ACD-1264-4E35-B791-291A111238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8100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9ADAC03-DC4A-4AAC-8E08-CCC12DD3D6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2291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2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85CCA4C-3DF3-48ED-8EF9-8F1FA2AA32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2291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List known values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EFA7923-720A-46D9-9F19-3478C38965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2291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4CCA0E5-E698-40C9-920B-3C79496433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6482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3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5B65E8E-8727-4A86-9D3A-20025FD55B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6482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Write the formula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33B5E35-565C-425A-B85E-A3E07F76B3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6482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BE99C1D-C6BC-4D18-B81B-D1B3C3FC26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673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4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0488A5B-6696-4708-BDC9-AD3FE03777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0673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Substitute carefully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F334312-26E6-4A19-AD14-77BE75A442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0673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9AC9B42-00C2-4520-922F-F8D50B5536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4864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5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023ABEAD-6DDA-486D-B4B2-A99BC4B1A4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4864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Simplify step by step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D92A6627-E527-4142-82F1-14FE74161E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4864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Meaning of result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9530A489-3FD4-42A4-A54D-2DEC91EDD4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NUMERICAL METHODS</a:t>
            </a:r>
          </a:p>
        </p:txBody>
      </p:sp>
    </p:spTree>
    <p:extLst>
      <p:ext uri="{BB962C8B-B14F-4D97-AF65-F5344CB8AC3E}">
        <p14:creationId xmlns:p14="http://schemas.microsoft.com/office/powerpoint/2010/main" val="764761711"/>
      </p:ext>
    </p:extLst>
  </p:cSld>
</p:sld>
</file>

<file path=ppt/slides/slide36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372B5B3B-A97D-434B-9413-61EEB2964B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1BMATS201 | Module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3801DE0-B9A0-4BCF-8422-C51C5382C2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Board-work expansion: Interpolation (8Hours Theory + 4Hours Tutor...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C2E47F6-1B47-497E-8053-6D03A8FB7B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496362F-5C57-4DB7-9F8F-DE44D77315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36/40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58009C0-B756-402A-A842-224B8FE317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State the problem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48384F2-7CA0-40B4-9108-7178B32CD0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774BFA3-397E-4E53-A2E1-4D226F7468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List known values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E3BF870-7DCC-437D-A684-B448AD5B8A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1185CDF-7D6E-43FA-B269-2259A1C6A3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Write the formula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FCDB964-4306-4DD0-9F0F-C17EF5CA5B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23D2CD7-03E7-4FCC-960B-810C9E12F5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Substitute carefully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B3A7B4C-9A9D-4FD4-B090-A18889DAA6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0649F2B-DE25-4EEC-858C-2E9A405F21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Simplify step by step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233C165-EC49-451D-AD72-2B1201B82E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3909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Step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D8C38FA-458D-4AB1-9273-4F255D67BF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3909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Lecturer writes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C25A866-45B1-4C21-B1D2-33293B7494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3909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Student checks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5D803E5-B479-48D8-ADF9-FF05DBB3A2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8100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1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97E8713-ABB4-4DFA-A770-62BC75FF7F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8100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State the problem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C75AE61-BE83-4F1C-8E73-6DAA17B120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8100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554789C-B1C7-40C8-AFAD-472A5DA434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2291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2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BC914C1-620A-4DF2-9DC2-DC5106C314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2291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List known values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6AAB1AD-1A57-4270-8F16-73F78F0C9E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2291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0A2529C-48A1-4B7F-8F65-65C90468AC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6482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3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9B26BBF-BEA2-42CA-89FE-42C00EA27D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6482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Write the formula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558F17F-9FA8-4472-8907-3DFE1AC136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6482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A9CC8FE-607F-4774-92FF-6F68462586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673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4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FEF7761-35C5-4805-B54E-52AB3CE02B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0673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Substitute carefully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F1B7CEE-8C69-4622-88BF-47641058FB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0673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9826A5E-B75E-482A-B8E8-2E115F0ADA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4864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5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8FDAE3B-711A-492B-8263-562E4A908B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4864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Simplify step by step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A4DE4C9E-3ECE-4F8D-B988-EC31E0A3E6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4864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Meaning of result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CBCAF121-4540-41E9-87AF-05714EBBB0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NUMERICAL METHODS</a:t>
            </a:r>
          </a:p>
        </p:txBody>
      </p:sp>
    </p:spTree>
    <p:extLst>
      <p:ext uri="{BB962C8B-B14F-4D97-AF65-F5344CB8AC3E}">
        <p14:creationId xmlns:p14="http://schemas.microsoft.com/office/powerpoint/2010/main" val="1810576127"/>
      </p:ext>
    </p:extLst>
  </p:cSld>
</p:sld>
</file>

<file path=ppt/slides/slide37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43F46918-87E9-4423-862D-BA21ADBFA0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1BMATS201 | Module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A828AE6-D751-4CA7-86C2-39A6BDF17D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Board-work expansion: interpolation using Newton Gregary forward...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022821A-9DB0-48B2-8A4C-3DBCD47CED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20E9A62-6847-4A6A-98F3-1E42389530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37/40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03C6F57-61B2-4D48-979F-994E47153F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State the problem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BFA90F0-0C0D-4540-9786-6B5B73A3F4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866E6DE-25CB-4FC3-9C1D-96D2C8B6B3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List known values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DC9D0E9-FC6C-470A-87DD-01E074A13B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3EE17A0-7847-47AE-B909-888FB5FFEC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Write the formula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7830FA8-B4BF-4D81-BC31-F04DA3F143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6062151-E141-4FCF-9F02-50148CB0C1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Substitute carefully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C9D1631-8D77-4521-B526-80DC7CBD4B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696DE87-1740-49AE-8853-32FB735B44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Simplify step by step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B332CBC-3608-46DC-9DA9-1ED96898E9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3909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Step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F95582A-A546-48F9-AA69-2D482D1B9D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3909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Lecturer writes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59C8EFA-2976-467E-8A01-A71D303792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3909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Student checks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8B0E680-5E86-4A91-ABE0-67BFB91E27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8100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1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B88501A-851A-4CCD-95EC-5CD4C31722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8100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State the problem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E01A682-AE7D-4DDA-A90F-0126E6375D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8100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0F8F7CE-CFDB-4A2D-8C5A-56F8197072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2291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2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B1A8C58-B7B3-4249-AF9B-458E3EEED9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2291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List known values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D091C28-2138-4BEB-8AC5-E87EC05B51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2291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226D539-C25D-412C-9741-5D7AA81569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6482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3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EA414A6-8871-435E-A18F-1713780206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6482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Write the formula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BEDDE75-FDDD-4310-9F17-1381C2E8E9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6482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BF6B44E-2216-44CE-B291-AB79AD0B58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673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4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D52CED9-6E8C-405F-8391-43DC63A421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0673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Substitute carefully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50C620F-873C-4FD8-BD47-D9111C68D6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0673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93D8515-4E70-4937-BAE3-904FEED702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4864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5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E0967877-C3B5-411E-95CA-F0ACBEFDA6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4864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Simplify step by step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29AEAF4A-8A5D-4849-9191-074518F10E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4864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Meaning of result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B7197461-40FD-4DC8-806A-B1CBA00C8F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NUMERICAL METHODS</a:t>
            </a:r>
          </a:p>
        </p:txBody>
      </p:sp>
    </p:spTree>
    <p:extLst>
      <p:ext uri="{BB962C8B-B14F-4D97-AF65-F5344CB8AC3E}">
        <p14:creationId xmlns:p14="http://schemas.microsoft.com/office/powerpoint/2010/main" val="526016690"/>
      </p:ext>
    </p:extLst>
  </p:cSld>
</p:sld>
</file>

<file path=ppt/slides/slide38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2D86B6B1-2725-4225-865B-D257781DA7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1BMATS201 | Module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5ED0E25-961A-42ED-860A-E3D0AB8237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Board-work expansion: Newton's divided differenc e. Lagrange inte...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E73F204-73F8-402A-8E16-50AE6217E6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9F00D06-CAA5-4564-8971-5C0C28680D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38/40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E5E47B2-EF7D-4F23-A251-936988E2E6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State the problem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119C514-F3FA-4690-95C8-5393264F90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64824C9-5C8E-4459-8144-E77489DD22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List known values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EC994FC-B372-43A8-8185-623E3371CA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BC3B270-A8AE-48DA-87AD-A4A7CA6005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Write the formula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6462C17-BD7D-40E3-9A26-7686A77C8D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9F0B375-7ECE-45F3-A2F6-D3BD79200E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Substitute carefully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944C5DA-6F01-4349-8110-4426D9AE77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982BBFA-2089-44F0-B500-250AE14173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Simplify step by step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2167943-FD37-419F-B1F1-5B153AFA97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3909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Step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A57A14D-A14B-4450-924D-4BC46483B2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3909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Lecturer writes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0DC8472-FD5F-406E-8581-BA1317E18B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3909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Student checks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F1947D3-0DB5-49B9-A030-660C5C5A7C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8100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1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3FCC623-C9D0-4019-8365-CFA0FE2022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8100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State the problem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5AA533F-D845-4625-869F-EB20BCA57E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8100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D5BB4DF-CDC4-400B-B4BC-38A4746FB4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2291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2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2FE560D-EBA0-4923-BCCC-DF54D70046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2291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List known values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1FE9C1E-5E80-4CE2-8BA4-6A97541E77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2291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B2A479C-DC07-462E-9595-A5FC61310E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6482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3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AB15B0B-A3EC-4099-B0C9-F5BA4CE795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6482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Write the formula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669D079-9F2B-4319-9F24-C1BD9517C1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6482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F8DF03B-C875-43FC-B85B-74EE3D6AB4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673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4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65DD507-2C62-4CB0-A80E-D117AC34D9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0673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Substitute carefully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A4D5161-6D11-4165-B4C0-51B65F1D24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0673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3B358B9-0801-4EC1-8F80-69B03AA492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4864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5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CF95F1CA-D9B8-49C3-9458-6886C8B397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4864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Simplify step by step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634D530A-4FE9-46FB-B478-E32CC9C84C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4864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Meaning of result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2C579985-6582-4E7B-B4B7-0ED1AC5ADA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NUMERICAL METHODS</a:t>
            </a:r>
          </a:p>
        </p:txBody>
      </p:sp>
    </p:spTree>
    <p:extLst>
      <p:ext uri="{BB962C8B-B14F-4D97-AF65-F5344CB8AC3E}">
        <p14:creationId xmlns:p14="http://schemas.microsoft.com/office/powerpoint/2010/main" val="1105045098"/>
      </p:ext>
    </p:extLst>
  </p:cSld>
</p:sld>
</file>

<file path=ppt/slides/slide39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E29DD96B-C036-4F5A-8959-94933761AA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1BMATS201 | Module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1421F7C-83E5-4236-B449-10C1C533D2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Board-work expansion: piecewise interpolation-linear and quadrati...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E1F5B5E-63D1-4F11-8304-4F73F95C00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BE8C193-09AC-4126-94EF-76870CF1E7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39/40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C54FE7E-CCDF-4B16-A69E-6B5FC2D208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State the problem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07F0802-CAFA-487C-A6C5-955D6F6EEA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11AF3D5-C2F1-4AA0-ABE2-91C0BAC54C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List known values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4EA2663-6D1B-4303-8A4B-3595D78FF6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503FFEA-E464-44BE-A05A-B954DA263C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Write the formula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08EC55C-D199-4816-98AC-C1A97DFD43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A4044D2-C459-4E08-9542-34FB1A1311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Substitute carefully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4A375C7-C0BB-490F-BE27-B5AD64D949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D861069-DAC2-4309-A845-4607F84FC3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Simplify step by step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F87538E-860A-43C2-9F93-099C4F2261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3909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Step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7FFC4C1-84E3-4080-82ED-4EA733B043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3909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Lecturer writes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0828588-DA17-4867-B7C6-146AD3BE37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3909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Student checks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19E4E63-38ED-4A9C-A8CE-C2A8B0707C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8100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1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0416E8C-2D74-4D0C-BF7B-5679EEEAC8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8100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State the problem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555A6EF-69F6-4836-B5C4-B0660F9FA0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8100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917B06A-FA4E-4B5E-A1FD-6162D4D25E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2291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2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33FA73D-7E28-49C9-A27D-A52FF4974C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2291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List known values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B08018C-492A-46DF-8EBB-A41102A1BF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2291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BC56E2C-D343-420F-B3D4-479A84FEFC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6482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3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A989334-33F5-467A-B44C-09A57B9251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6482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Write the formula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E608671-8C03-4EEC-A6C5-1EB146BE38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6482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C84E920-B868-4B58-BF07-DB044C450D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673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4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8A6A10D-C369-4D54-BE53-5E83CDA22D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0673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Substitute carefully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51BD412-7C10-4766-83F0-F83F04D86D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0673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F9318FB-2FA3-45A8-B4DC-7895406B19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4864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5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71B44A18-4232-48BD-B825-EA21CD7AF0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4864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Simplify step by step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653CEF15-71FF-4C00-9802-B6A9C08DB0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4864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Meaning of result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ACB6D539-7944-4C64-BB4A-A53129D6BA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NUMERICAL METHODS</a:t>
            </a:r>
          </a:p>
        </p:txBody>
      </p:sp>
    </p:spTree>
    <p:extLst>
      <p:ext uri="{BB962C8B-B14F-4D97-AF65-F5344CB8AC3E}">
        <p14:creationId xmlns:p14="http://schemas.microsoft.com/office/powerpoint/2010/main" val="804574946"/>
      </p:ext>
    </p:extLst>
  </p:cSld>
</p:sld>
</file>

<file path=ppt/slides/slide40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9FA6EABF-DD62-40DD-AAC4-F86220EA00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1BMATS201 | Module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4FD15D3-48C5-482B-B666-7B82B74F7E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Board-work expansion: 4.6 15092025 2 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BECBCD4-2115-43C4-AC1B-9265A9E7C3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2B25531-CF41-4433-BEB1-413C205D93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40/40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16DD53F-584D-44B0-8961-574DBE17FA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State the problem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4F3B4D0-4C9D-4B73-B928-12081C40F2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E2576C0-CC3F-47E8-8AA6-CB1737000F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List known values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BFD2132-DA14-41C2-AB5F-41C934A5D9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9371441-5C92-4047-8885-C093249815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Write the formula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E1C0C26-DB57-4AB9-9F24-9211C8FA7B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CAB62E8-C53B-469C-A538-D2A36CE9B3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Substitute carefully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A5B8647-2BEA-4022-B4F6-AC6C0EE9A1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4509FA2-DF2C-4513-9351-5FF4ED8CAD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Simplify step by step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DA72CAD-460B-475E-9869-08C3EE8D17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3909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Step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467D901-714F-4E74-81D5-63408D1D34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3909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Lecturer writes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9F7877F-E8D8-45B2-ADB6-0DA890AE3F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3909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Student checks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8F39A93-BCC8-45AF-B219-E921FFE85A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8100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1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AD07D01-ACDF-4B3D-86F8-89BEEF4052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8100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State the problem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E36A38F-005F-4061-ADF7-48036D1D30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8100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8465352-53BD-4FA4-A921-D38051FE64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2291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2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8336C06-EA9B-440B-9608-62095B3EFA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2291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List known values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94F94EA-3EBB-4FE6-85A8-4A31BE2DCC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2291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65A01F9-BCCE-41CD-B247-1D17F4C446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6482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3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362098C-7F9A-4588-BE27-A3F1580165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6482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Write the formula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9B6EE36-1213-4796-9BEE-7D302EDE32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6482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1D4E85A-7F0D-48EC-91A8-1CED55090E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673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4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0941678-886D-47B9-A225-6CA2C14B92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0673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Substitute carefully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AB62621-ED65-4094-A759-C594D1D9C5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0673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C58A8B8-ADD9-4AD9-B321-0C0FFD821E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4864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5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C2B324D1-F0F8-4473-A63B-F5CCE5A15F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4864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Simplify step by step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6B4C45F9-2FC9-4600-9F63-2814C7C3AA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4864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Meaning of result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13F47308-5B90-4E4B-B07E-225A231E9A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NUMERICAL METHODS</a:t>
            </a:r>
          </a:p>
        </p:txBody>
      </p:sp>
    </p:spTree>
    <p:extLst>
      <p:ext uri="{BB962C8B-B14F-4D97-AF65-F5344CB8AC3E}">
        <p14:creationId xmlns:p14="http://schemas.microsoft.com/office/powerpoint/2010/main" val="79652697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2026-08-24T16:03:06.2220000Z</dcterms:created>
  <dcterms:modified xsi:type="dcterms:W3CDTF">2026-08-24T16:03:06.2220000Z</dcterms:modified>
</coreProperties>
</file>