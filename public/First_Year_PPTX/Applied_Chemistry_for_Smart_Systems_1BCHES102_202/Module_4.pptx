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0a3815bc7a4f3c" /><Relationship Type="http://schemas.openxmlformats.org/officeDocument/2006/relationships/extended-properties" Target="/docProps/app.xml" Id="R4495d1aa605e4d01" /><Relationship Type="http://schemas.openxmlformats.org/officeDocument/2006/relationships/officeDocument" Target="/ppt/presentation.xml" Id="Raf97e4ee99744e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9deb72e36490b"/>
  </p:sldMasterIdLst>
  <p:notesMasterIdLst>
    <p:notesMasterId xmlns:r="http://schemas.openxmlformats.org/officeDocument/2006/relationships" r:id="Rb8d64264d8c74d77"/>
  </p:notesMasterIdLst>
  <p:sldIdLst>
    <p:sldId xmlns:r="http://schemas.openxmlformats.org/officeDocument/2006/relationships" id="256" r:id="Rd1c77c89f2b149ee"/>
    <p:sldId xmlns:r="http://schemas.openxmlformats.org/officeDocument/2006/relationships" id="257" r:id="Rba84a3a9d5a74af7"/>
    <p:sldId xmlns:r="http://schemas.openxmlformats.org/officeDocument/2006/relationships" id="258" r:id="R0a727f62ae0d48cd"/>
    <p:sldId xmlns:r="http://schemas.openxmlformats.org/officeDocument/2006/relationships" id="259" r:id="R39e1f9dfbe9e48c1"/>
    <p:sldId xmlns:r="http://schemas.openxmlformats.org/officeDocument/2006/relationships" id="260" r:id="Re9dc10d239804a8d"/>
    <p:sldId xmlns:r="http://schemas.openxmlformats.org/officeDocument/2006/relationships" id="261" r:id="R0ef1f3f4fd244071"/>
    <p:sldId xmlns:r="http://schemas.openxmlformats.org/officeDocument/2006/relationships" id="262" r:id="Rd50f487bcdb94e8b"/>
    <p:sldId xmlns:r="http://schemas.openxmlformats.org/officeDocument/2006/relationships" id="263" r:id="Ra2072b406c51494f"/>
    <p:sldId xmlns:r="http://schemas.openxmlformats.org/officeDocument/2006/relationships" id="264" r:id="R276cacd21404467d"/>
    <p:sldId xmlns:r="http://schemas.openxmlformats.org/officeDocument/2006/relationships" id="265" r:id="R46949fe70d5041b1"/>
    <p:sldId xmlns:r="http://schemas.openxmlformats.org/officeDocument/2006/relationships" id="266" r:id="R0e1d7d8ca2a34f5e"/>
    <p:sldId xmlns:r="http://schemas.openxmlformats.org/officeDocument/2006/relationships" id="267" r:id="R52a7c366603546bb"/>
    <p:sldId xmlns:r="http://schemas.openxmlformats.org/officeDocument/2006/relationships" id="268" r:id="R87f6dcda14b44f94"/>
    <p:sldId xmlns:r="http://schemas.openxmlformats.org/officeDocument/2006/relationships" id="269" r:id="Rb6eacbd19e754ff5"/>
    <p:sldId xmlns:r="http://schemas.openxmlformats.org/officeDocument/2006/relationships" id="270" r:id="Rdb81c06c8b504387"/>
    <p:sldId xmlns:r="http://schemas.openxmlformats.org/officeDocument/2006/relationships" id="271" r:id="Rf823ad7645394e1b"/>
    <p:sldId xmlns:r="http://schemas.openxmlformats.org/officeDocument/2006/relationships" id="272" r:id="R055a53f2ee304487"/>
    <p:sldId xmlns:r="http://schemas.openxmlformats.org/officeDocument/2006/relationships" id="273" r:id="Rdf40d0b9b3484d0e"/>
    <p:sldId xmlns:r="http://schemas.openxmlformats.org/officeDocument/2006/relationships" id="274" r:id="Rcf5a261df5904181"/>
    <p:sldId xmlns:r="http://schemas.openxmlformats.org/officeDocument/2006/relationships" id="275" r:id="R8bc22919d6334732"/>
    <p:sldId xmlns:r="http://schemas.openxmlformats.org/officeDocument/2006/relationships" id="276" r:id="Rf18bdaec1a024432"/>
    <p:sldId xmlns:r="http://schemas.openxmlformats.org/officeDocument/2006/relationships" id="277" r:id="R28324685a25e403d"/>
    <p:sldId xmlns:r="http://schemas.openxmlformats.org/officeDocument/2006/relationships" id="278" r:id="Rbfa834d09f454dd4"/>
    <p:sldId xmlns:r="http://schemas.openxmlformats.org/officeDocument/2006/relationships" id="279" r:id="R18da9cf6a5ee4272"/>
    <p:sldId xmlns:r="http://schemas.openxmlformats.org/officeDocument/2006/relationships" id="280" r:id="Re681b32199374f40"/>
    <p:sldId xmlns:r="http://schemas.openxmlformats.org/officeDocument/2006/relationships" id="281" r:id="Ra6d62881a624452b"/>
    <p:sldId xmlns:r="http://schemas.openxmlformats.org/officeDocument/2006/relationships" id="282" r:id="R2644e19941644bfd"/>
    <p:sldId xmlns:r="http://schemas.openxmlformats.org/officeDocument/2006/relationships" id="283" r:id="R1c02a768dd5c4c0d"/>
    <p:sldId xmlns:r="http://schemas.openxmlformats.org/officeDocument/2006/relationships" id="284" r:id="R58a068cbaac048a8"/>
    <p:sldId xmlns:r="http://schemas.openxmlformats.org/officeDocument/2006/relationships" id="285" r:id="R61745711d78c4b23"/>
    <p:sldId xmlns:r="http://schemas.openxmlformats.org/officeDocument/2006/relationships" id="286" r:id="Rb8a570f7283b4a3d"/>
    <p:sldId xmlns:r="http://schemas.openxmlformats.org/officeDocument/2006/relationships" id="287" r:id="Rafa4d64b6d09497c"/>
    <p:sldId xmlns:r="http://schemas.openxmlformats.org/officeDocument/2006/relationships" id="288" r:id="R42e47cd712ed4f90"/>
    <p:sldId xmlns:r="http://schemas.openxmlformats.org/officeDocument/2006/relationships" id="289" r:id="Rbcc04c1323b04262"/>
    <p:sldId xmlns:r="http://schemas.openxmlformats.org/officeDocument/2006/relationships" id="290" r:id="R8c7f3421a19b44dc"/>
    <p:sldId xmlns:r="http://schemas.openxmlformats.org/officeDocument/2006/relationships" id="291" r:id="Re35461f276ad474f"/>
    <p:sldId xmlns:r="http://schemas.openxmlformats.org/officeDocument/2006/relationships" id="292" r:id="Re06479078481425c"/>
    <p:sldId xmlns:r="http://schemas.openxmlformats.org/officeDocument/2006/relationships" id="293" r:id="R2ef0aad456a24d5d"/>
    <p:sldId xmlns:r="http://schemas.openxmlformats.org/officeDocument/2006/relationships" id="294" r:id="Re2a83f84b67a4b85"/>
    <p:sldId xmlns:r="http://schemas.openxmlformats.org/officeDocument/2006/relationships" id="295" r:id="R8f6eef735903453f"/>
    <p:sldId xmlns:r="http://schemas.openxmlformats.org/officeDocument/2006/relationships" id="296" r:id="Rccf380a691424cea"/>
    <p:sldId xmlns:r="http://schemas.openxmlformats.org/officeDocument/2006/relationships" id="297" r:id="Rbfcbfa2483d94c01"/>
    <p:sldId xmlns:r="http://schemas.openxmlformats.org/officeDocument/2006/relationships" id="298" r:id="Rcb2df2ee730b4a81"/>
    <p:sldId xmlns:r="http://schemas.openxmlformats.org/officeDocument/2006/relationships" id="299" r:id="R138bfb8be9dd41f5"/>
    <p:sldId xmlns:r="http://schemas.openxmlformats.org/officeDocument/2006/relationships" id="300" r:id="Rc5d0295144814501"/>
    <p:sldId xmlns:r="http://schemas.openxmlformats.org/officeDocument/2006/relationships" id="301" r:id="Rd6908d41c7e444ac"/>
    <p:sldId xmlns:r="http://schemas.openxmlformats.org/officeDocument/2006/relationships" id="302" r:id="R2c925d8f538046cf"/>
    <p:sldId xmlns:r="http://schemas.openxmlformats.org/officeDocument/2006/relationships" id="303" r:id="R78bc38f426ab437c"/>
    <p:sldId xmlns:r="http://schemas.openxmlformats.org/officeDocument/2006/relationships" id="304" r:id="Rd004f600ff2449a2"/>
    <p:sldId xmlns:r="http://schemas.openxmlformats.org/officeDocument/2006/relationships" id="305" r:id="R72fdb9f5422245ba"/>
    <p:sldId xmlns:r="http://schemas.openxmlformats.org/officeDocument/2006/relationships" id="306" r:id="R1d1dcf4ee79b44f5"/>
    <p:sldId xmlns:r="http://schemas.openxmlformats.org/officeDocument/2006/relationships" id="307" r:id="R879814a12480433f"/>
    <p:sldId xmlns:r="http://schemas.openxmlformats.org/officeDocument/2006/relationships" id="308" r:id="R8f53ccaee1904973"/>
    <p:sldId xmlns:r="http://schemas.openxmlformats.org/officeDocument/2006/relationships" id="309" r:id="Rd98fffa00ce34ff1"/>
    <p:sldId xmlns:r="http://schemas.openxmlformats.org/officeDocument/2006/relationships" id="310" r:id="R56642a7bdf8b4338"/>
    <p:sldId xmlns:r="http://schemas.openxmlformats.org/officeDocument/2006/relationships" id="311" r:id="R9288fe39bcde482f"/>
    <p:sldId xmlns:r="http://schemas.openxmlformats.org/officeDocument/2006/relationships" id="312" r:id="R727136abb3134f41"/>
    <p:sldId xmlns:r="http://schemas.openxmlformats.org/officeDocument/2006/relationships" id="313" r:id="R5f44f4cc5f0f4b55"/>
    <p:sldId xmlns:r="http://schemas.openxmlformats.org/officeDocument/2006/relationships" id="314" r:id="R911a96616d984fa7"/>
    <p:sldId xmlns:r="http://schemas.openxmlformats.org/officeDocument/2006/relationships" id="315" r:id="R60f2939e102f4003"/>
    <p:sldId xmlns:r="http://schemas.openxmlformats.org/officeDocument/2006/relationships" id="316" r:id="R1aec22f59d3c4c95"/>
    <p:sldId xmlns:r="http://schemas.openxmlformats.org/officeDocument/2006/relationships" id="317" r:id="R1d05805a82704e52"/>
    <p:sldId xmlns:r="http://schemas.openxmlformats.org/officeDocument/2006/relationships" id="318" r:id="R41afc531b23246e5"/>
    <p:sldId xmlns:r="http://schemas.openxmlformats.org/officeDocument/2006/relationships" id="319" r:id="R696be4e807f741c2"/>
    <p:sldId xmlns:r="http://schemas.openxmlformats.org/officeDocument/2006/relationships" id="320" r:id="R3452980ddb3d4790"/>
    <p:sldId xmlns:r="http://schemas.openxmlformats.org/officeDocument/2006/relationships" id="321" r:id="R334e0cf0f073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a13b04bb7d4dca" /><Relationship Type="http://schemas.openxmlformats.org/officeDocument/2006/relationships/slideMaster" Target="/ppt/slideMasters/slideMaster1.xml" Id="R8fa9deb72e36490b" /><Relationship Type="http://schemas.openxmlformats.org/officeDocument/2006/relationships/notesMaster" Target="/ppt/notesMasters/notesMaster1.xml" Id="Rb8d64264d8c74d77" /><Relationship Type="http://schemas.openxmlformats.org/officeDocument/2006/relationships/presProps" Target="/ppt/presProps.xml" Id="R10a2c692fe594c77" /><Relationship Type="http://schemas.openxmlformats.org/officeDocument/2006/relationships/tableStyles" Target="/ppt/tableStyles.xml" Id="R4461d1a00bd84087" /><Relationship Type="http://schemas.openxmlformats.org/officeDocument/2006/relationships/slide" Target="/ppt/slides/slide1.xml" Id="Rd1c77c89f2b149ee" /><Relationship Type="http://schemas.openxmlformats.org/officeDocument/2006/relationships/slide" Target="/ppt/slides/slide2.xml" Id="Rba84a3a9d5a74af7" /><Relationship Type="http://schemas.openxmlformats.org/officeDocument/2006/relationships/slide" Target="/ppt/slides/slide3.xml" Id="R0a727f62ae0d48cd" /><Relationship Type="http://schemas.openxmlformats.org/officeDocument/2006/relationships/slide" Target="/ppt/slides/slide4.xml" Id="R39e1f9dfbe9e48c1" /><Relationship Type="http://schemas.openxmlformats.org/officeDocument/2006/relationships/slide" Target="/ppt/slides/slide5.xml" Id="Re9dc10d239804a8d" /><Relationship Type="http://schemas.openxmlformats.org/officeDocument/2006/relationships/slide" Target="/ppt/slides/slide6.xml" Id="R0ef1f3f4fd244071" /><Relationship Type="http://schemas.openxmlformats.org/officeDocument/2006/relationships/slide" Target="/ppt/slides/slide7.xml" Id="Rd50f487bcdb94e8b" /><Relationship Type="http://schemas.openxmlformats.org/officeDocument/2006/relationships/slide" Target="/ppt/slides/slide8.xml" Id="Ra2072b406c51494f" /><Relationship Type="http://schemas.openxmlformats.org/officeDocument/2006/relationships/slide" Target="/ppt/slides/slide9.xml" Id="R276cacd21404467d" /><Relationship Type="http://schemas.openxmlformats.org/officeDocument/2006/relationships/slide" Target="/ppt/slides/slide10.xml" Id="R46949fe70d5041b1" /><Relationship Type="http://schemas.openxmlformats.org/officeDocument/2006/relationships/slide" Target="/ppt/slides/slide11.xml" Id="R0e1d7d8ca2a34f5e" /><Relationship Type="http://schemas.openxmlformats.org/officeDocument/2006/relationships/slide" Target="/ppt/slides/slide12.xml" Id="R52a7c366603546bb" /><Relationship Type="http://schemas.openxmlformats.org/officeDocument/2006/relationships/slide" Target="/ppt/slides/slide13.xml" Id="R87f6dcda14b44f94" /><Relationship Type="http://schemas.openxmlformats.org/officeDocument/2006/relationships/slide" Target="/ppt/slides/slide14.xml" Id="Rb6eacbd19e754ff5" /><Relationship Type="http://schemas.openxmlformats.org/officeDocument/2006/relationships/slide" Target="/ppt/slides/slide15.xml" Id="Rdb81c06c8b504387" /><Relationship Type="http://schemas.openxmlformats.org/officeDocument/2006/relationships/slide" Target="/ppt/slides/slide16.xml" Id="Rf823ad7645394e1b" /><Relationship Type="http://schemas.openxmlformats.org/officeDocument/2006/relationships/slide" Target="/ppt/slides/slide17.xml" Id="R055a53f2ee304487" /><Relationship Type="http://schemas.openxmlformats.org/officeDocument/2006/relationships/slide" Target="/ppt/slides/slide18.xml" Id="Rdf40d0b9b3484d0e" /><Relationship Type="http://schemas.openxmlformats.org/officeDocument/2006/relationships/slide" Target="/ppt/slides/slide19.xml" Id="Rcf5a261df5904181" /><Relationship Type="http://schemas.openxmlformats.org/officeDocument/2006/relationships/slide" Target="/ppt/slides/slide20.xml" Id="R8bc22919d6334732" /><Relationship Type="http://schemas.openxmlformats.org/officeDocument/2006/relationships/slide" Target="/ppt/slides/slide21.xml" Id="Rf18bdaec1a024432" /><Relationship Type="http://schemas.openxmlformats.org/officeDocument/2006/relationships/slide" Target="/ppt/slides/slide22.xml" Id="R28324685a25e403d" /><Relationship Type="http://schemas.openxmlformats.org/officeDocument/2006/relationships/slide" Target="/ppt/slides/slide23.xml" Id="Rbfa834d09f454dd4" /><Relationship Type="http://schemas.openxmlformats.org/officeDocument/2006/relationships/slide" Target="/ppt/slides/slide24.xml" Id="R18da9cf6a5ee4272" /><Relationship Type="http://schemas.openxmlformats.org/officeDocument/2006/relationships/slide" Target="/ppt/slides/slide25.xml" Id="Re681b32199374f40" /><Relationship Type="http://schemas.openxmlformats.org/officeDocument/2006/relationships/slide" Target="/ppt/slides/slide26.xml" Id="Ra6d62881a624452b" /><Relationship Type="http://schemas.openxmlformats.org/officeDocument/2006/relationships/slide" Target="/ppt/slides/slide27.xml" Id="R2644e19941644bfd" /><Relationship Type="http://schemas.openxmlformats.org/officeDocument/2006/relationships/slide" Target="/ppt/slides/slide28.xml" Id="R1c02a768dd5c4c0d" /><Relationship Type="http://schemas.openxmlformats.org/officeDocument/2006/relationships/slide" Target="/ppt/slides/slide29.xml" Id="R58a068cbaac048a8" /><Relationship Type="http://schemas.openxmlformats.org/officeDocument/2006/relationships/slide" Target="/ppt/slides/slide30.xml" Id="R61745711d78c4b23" /><Relationship Type="http://schemas.openxmlformats.org/officeDocument/2006/relationships/slide" Target="/ppt/slides/slide31.xml" Id="Rb8a570f7283b4a3d" /><Relationship Type="http://schemas.openxmlformats.org/officeDocument/2006/relationships/slide" Target="/ppt/slides/slide32.xml" Id="Rafa4d64b6d09497c" /><Relationship Type="http://schemas.openxmlformats.org/officeDocument/2006/relationships/slide" Target="/ppt/slides/slide33.xml" Id="R42e47cd712ed4f90" /><Relationship Type="http://schemas.openxmlformats.org/officeDocument/2006/relationships/slide" Target="/ppt/slides/slide34.xml" Id="Rbcc04c1323b04262" /><Relationship Type="http://schemas.openxmlformats.org/officeDocument/2006/relationships/slide" Target="/ppt/slides/slide35.xml" Id="R8c7f3421a19b44dc" /><Relationship Type="http://schemas.openxmlformats.org/officeDocument/2006/relationships/slide" Target="/ppt/slides/slide36.xml" Id="Re35461f276ad474f" /><Relationship Type="http://schemas.openxmlformats.org/officeDocument/2006/relationships/slide" Target="/ppt/slides/slide37.xml" Id="Re06479078481425c" /><Relationship Type="http://schemas.openxmlformats.org/officeDocument/2006/relationships/slide" Target="/ppt/slides/slide38.xml" Id="R2ef0aad456a24d5d" /><Relationship Type="http://schemas.openxmlformats.org/officeDocument/2006/relationships/slide" Target="/ppt/slides/slide39.xml" Id="Re2a83f84b67a4b85" /><Relationship Type="http://schemas.openxmlformats.org/officeDocument/2006/relationships/slide" Target="/ppt/slides/slide40.xml" Id="R8f6eef735903453f" /><Relationship Type="http://schemas.openxmlformats.org/officeDocument/2006/relationships/slide" Target="/ppt/slides/slide41.xml" Id="Rccf380a691424cea" /><Relationship Type="http://schemas.openxmlformats.org/officeDocument/2006/relationships/slide" Target="/ppt/slides/slide42.xml" Id="Rbfcbfa2483d94c01" /><Relationship Type="http://schemas.openxmlformats.org/officeDocument/2006/relationships/slide" Target="/ppt/slides/slide43.xml" Id="Rcb2df2ee730b4a81" /><Relationship Type="http://schemas.openxmlformats.org/officeDocument/2006/relationships/slide" Target="/ppt/slides/slide44.xml" Id="R138bfb8be9dd41f5" /><Relationship Type="http://schemas.openxmlformats.org/officeDocument/2006/relationships/slide" Target="/ppt/slides/slide45.xml" Id="Rc5d0295144814501" /><Relationship Type="http://schemas.openxmlformats.org/officeDocument/2006/relationships/slide" Target="/ppt/slides/slide46.xml" Id="Rd6908d41c7e444ac" /><Relationship Type="http://schemas.openxmlformats.org/officeDocument/2006/relationships/slide" Target="/ppt/slides/slide47.xml" Id="R2c925d8f538046cf" /><Relationship Type="http://schemas.openxmlformats.org/officeDocument/2006/relationships/slide" Target="/ppt/slides/slide48.xml" Id="R78bc38f426ab437c" /><Relationship Type="http://schemas.openxmlformats.org/officeDocument/2006/relationships/slide" Target="/ppt/slides/slide49.xml" Id="Rd004f600ff2449a2" /><Relationship Type="http://schemas.openxmlformats.org/officeDocument/2006/relationships/slide" Target="/ppt/slides/slide50.xml" Id="R72fdb9f5422245ba" /><Relationship Type="http://schemas.openxmlformats.org/officeDocument/2006/relationships/slide" Target="/ppt/slides/slide51.xml" Id="R1d1dcf4ee79b44f5" /><Relationship Type="http://schemas.openxmlformats.org/officeDocument/2006/relationships/slide" Target="/ppt/slides/slide52.xml" Id="R879814a12480433f" /><Relationship Type="http://schemas.openxmlformats.org/officeDocument/2006/relationships/slide" Target="/ppt/slides/slide53.xml" Id="R8f53ccaee1904973" /><Relationship Type="http://schemas.openxmlformats.org/officeDocument/2006/relationships/slide" Target="/ppt/slides/slide54.xml" Id="Rd98fffa00ce34ff1" /><Relationship Type="http://schemas.openxmlformats.org/officeDocument/2006/relationships/slide" Target="/ppt/slides/slide55.xml" Id="R56642a7bdf8b4338" /><Relationship Type="http://schemas.openxmlformats.org/officeDocument/2006/relationships/slide" Target="/ppt/slides/slide56.xml" Id="R9288fe39bcde482f" /><Relationship Type="http://schemas.openxmlformats.org/officeDocument/2006/relationships/slide" Target="/ppt/slides/slide57.xml" Id="R727136abb3134f41" /><Relationship Type="http://schemas.openxmlformats.org/officeDocument/2006/relationships/slide" Target="/ppt/slides/slide58.xml" Id="R5f44f4cc5f0f4b55" /><Relationship Type="http://schemas.openxmlformats.org/officeDocument/2006/relationships/slide" Target="/ppt/slides/slide59.xml" Id="R911a96616d984fa7" /><Relationship Type="http://schemas.openxmlformats.org/officeDocument/2006/relationships/slide" Target="/ppt/slides/slide60.xml" Id="R60f2939e102f4003" /><Relationship Type="http://schemas.openxmlformats.org/officeDocument/2006/relationships/slide" Target="/ppt/slides/slide61.xml" Id="R1aec22f59d3c4c95" /><Relationship Type="http://schemas.openxmlformats.org/officeDocument/2006/relationships/slide" Target="/ppt/slides/slide62.xml" Id="R1d05805a82704e52" /><Relationship Type="http://schemas.openxmlformats.org/officeDocument/2006/relationships/slide" Target="/ppt/slides/slide63.xml" Id="R41afc531b23246e5" /><Relationship Type="http://schemas.openxmlformats.org/officeDocument/2006/relationships/slide" Target="/ppt/slides/slide64.xml" Id="R696be4e807f741c2" /><Relationship Type="http://schemas.openxmlformats.org/officeDocument/2006/relationships/slide" Target="/ppt/slides/slide65.xml" Id="R3452980ddb3d4790" /><Relationship Type="http://schemas.openxmlformats.org/officeDocument/2006/relationships/slide" Target="/ppt/slides/slide66.xml" Id="R334e0cf0f073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52ade5580641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be9f7dc1b944e7" /><Relationship Type="http://schemas.openxmlformats.org/officeDocument/2006/relationships/notesMaster" Target="/ppt/notesMasters/notesMaster1.xml" Id="R0cb050f7c15043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8f8c26ea9e4de4" /><Relationship Type="http://schemas.openxmlformats.org/officeDocument/2006/relationships/notesMaster" Target="/ppt/notesMasters/notesMaster1.xml" Id="R24f71d4c3db2439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4387fa7fc4492" /><Relationship Type="http://schemas.openxmlformats.org/officeDocument/2006/relationships/notesMaster" Target="/ppt/notesMasters/notesMaster1.xml" Id="R4bd407780c1747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3f334d2e86d4dd4" /><Relationship Type="http://schemas.openxmlformats.org/officeDocument/2006/relationships/notesMaster" Target="/ppt/notesMasters/notesMaster1.xml" Id="R9ca79d38674e4a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76bf4d06eb48ef" /><Relationship Type="http://schemas.openxmlformats.org/officeDocument/2006/relationships/notesMaster" Target="/ppt/notesMasters/notesMaster1.xml" Id="Ra29418ebf2734d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03723184ee4ac8" /><Relationship Type="http://schemas.openxmlformats.org/officeDocument/2006/relationships/notesMaster" Target="/ppt/notesMasters/notesMaster1.xml" Id="Rc81ac810c3a54c4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c4f0b55c604300" /><Relationship Type="http://schemas.openxmlformats.org/officeDocument/2006/relationships/notesMaster" Target="/ppt/notesMasters/notesMaster1.xml" Id="R14da9b55c45841b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84b82aff4d408f" /><Relationship Type="http://schemas.openxmlformats.org/officeDocument/2006/relationships/notesMaster" Target="/ppt/notesMasters/notesMaster1.xml" Id="Rc3c6e39294ad48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b875c1337d4578" /><Relationship Type="http://schemas.openxmlformats.org/officeDocument/2006/relationships/notesMaster" Target="/ppt/notesMasters/notesMaster1.xml" Id="Ref027d48dafb4b1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05c8efd6ad94cb2" /><Relationship Type="http://schemas.openxmlformats.org/officeDocument/2006/relationships/notesMaster" Target="/ppt/notesMasters/notesMaster1.xml" Id="R51a0b8d1a8f749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dca8d648844dd9" /><Relationship Type="http://schemas.openxmlformats.org/officeDocument/2006/relationships/notesMaster" Target="/ppt/notesMasters/notesMaster1.xml" Id="R38fa736b10ac47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f2deb7dc90a4ef7" /><Relationship Type="http://schemas.openxmlformats.org/officeDocument/2006/relationships/notesMaster" Target="/ppt/notesMasters/notesMaster1.xml" Id="Rb86bc26687ca40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67fe3f1089c4d75" /><Relationship Type="http://schemas.openxmlformats.org/officeDocument/2006/relationships/notesMaster" Target="/ppt/notesMasters/notesMaster1.xml" Id="R1bbacaa463684b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6d0a0114e184d3b" /><Relationship Type="http://schemas.openxmlformats.org/officeDocument/2006/relationships/notesMaster" Target="/ppt/notesMasters/notesMaster1.xml" Id="Radb046c97a0a42d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f3296b0b14400a" /><Relationship Type="http://schemas.openxmlformats.org/officeDocument/2006/relationships/notesMaster" Target="/ppt/notesMasters/notesMaster1.xml" Id="R700ff309e7ac459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ba1e3e56d44d01" /><Relationship Type="http://schemas.openxmlformats.org/officeDocument/2006/relationships/notesMaster" Target="/ppt/notesMasters/notesMaster1.xml" Id="Rf51b6972f941413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bf3d9f1c114baa" /><Relationship Type="http://schemas.openxmlformats.org/officeDocument/2006/relationships/notesMaster" Target="/ppt/notesMasters/notesMaster1.xml" Id="R9d877c1fe9e140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9b34005d464a92" /><Relationship Type="http://schemas.openxmlformats.org/officeDocument/2006/relationships/notesMaster" Target="/ppt/notesMasters/notesMaster1.xml" Id="R1c58acd9d0bd40b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930dd9314084b46" /><Relationship Type="http://schemas.openxmlformats.org/officeDocument/2006/relationships/notesMaster" Target="/ppt/notesMasters/notesMaster1.xml" Id="R2c938aa4b3054c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77fc40b701f4d48" /><Relationship Type="http://schemas.openxmlformats.org/officeDocument/2006/relationships/notesMaster" Target="/ppt/notesMasters/notesMaster1.xml" Id="R46e3a8f19e04484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998f742f8c5488f" /><Relationship Type="http://schemas.openxmlformats.org/officeDocument/2006/relationships/notesMaster" Target="/ppt/notesMasters/notesMaster1.xml" Id="Reb5cc8ef7122409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e3ee04cc4f4cc2" /><Relationship Type="http://schemas.openxmlformats.org/officeDocument/2006/relationships/notesMaster" Target="/ppt/notesMasters/notesMaster1.xml" Id="R478d40ef673649f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5c12531526a40c2" /><Relationship Type="http://schemas.openxmlformats.org/officeDocument/2006/relationships/notesMaster" Target="/ppt/notesMasters/notesMaster1.xml" Id="Rad3baf52844f41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d9476226f24dc4" /><Relationship Type="http://schemas.openxmlformats.org/officeDocument/2006/relationships/notesMaster" Target="/ppt/notesMasters/notesMaster1.xml" Id="Rf21b5e72bbd04f3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3a5f86b2afa4b84" /><Relationship Type="http://schemas.openxmlformats.org/officeDocument/2006/relationships/notesMaster" Target="/ppt/notesMasters/notesMaster1.xml" Id="Rbec849c7d956453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aece57f05754b6d" /><Relationship Type="http://schemas.openxmlformats.org/officeDocument/2006/relationships/notesMaster" Target="/ppt/notesMasters/notesMaster1.xml" Id="Rbe54f4572e1042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57d87d0c0044053" /><Relationship Type="http://schemas.openxmlformats.org/officeDocument/2006/relationships/notesMaster" Target="/ppt/notesMasters/notesMaster1.xml" Id="R6876cb720b05468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2d97d7b64494ec1" /><Relationship Type="http://schemas.openxmlformats.org/officeDocument/2006/relationships/notesMaster" Target="/ppt/notesMasters/notesMaster1.xml" Id="R9fdcaa32a9b64dc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baa37a819f4ee6" /><Relationship Type="http://schemas.openxmlformats.org/officeDocument/2006/relationships/notesMaster" Target="/ppt/notesMasters/notesMaster1.xml" Id="R00608f58ee21461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7124896d3954e17" /><Relationship Type="http://schemas.openxmlformats.org/officeDocument/2006/relationships/notesMaster" Target="/ppt/notesMasters/notesMaster1.xml" Id="Rb09a7415056542c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af78c6c94a54258" /><Relationship Type="http://schemas.openxmlformats.org/officeDocument/2006/relationships/notesMaster" Target="/ppt/notesMasters/notesMaster1.xml" Id="Re8739d624fc44622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49ad3694ad4e9f" /><Relationship Type="http://schemas.openxmlformats.org/officeDocument/2006/relationships/notesMaster" Target="/ppt/notesMasters/notesMaster1.xml" Id="R95765f6100df419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c469bf9ffb641b5" /><Relationship Type="http://schemas.openxmlformats.org/officeDocument/2006/relationships/notesMaster" Target="/ppt/notesMasters/notesMaster1.xml" Id="R1d13b4fe80154cd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a41cc6d0e4943fc" /><Relationship Type="http://schemas.openxmlformats.org/officeDocument/2006/relationships/notesMaster" Target="/ppt/notesMasters/notesMaster1.xml" Id="R0ea75fb1221d4b2c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8563a3bfeea47a4" /><Relationship Type="http://schemas.openxmlformats.org/officeDocument/2006/relationships/notesMaster" Target="/ppt/notesMasters/notesMaster1.xml" Id="Rc83ce3eec589475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942315b10140bb" /><Relationship Type="http://schemas.openxmlformats.org/officeDocument/2006/relationships/notesMaster" Target="/ppt/notesMasters/notesMaster1.xml" Id="R76000be549bb43ad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1746df20c6948cd" /><Relationship Type="http://schemas.openxmlformats.org/officeDocument/2006/relationships/notesMaster" Target="/ppt/notesMasters/notesMaster1.xml" Id="R03508b38514a4d5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7be38c286f024e8d" /><Relationship Type="http://schemas.openxmlformats.org/officeDocument/2006/relationships/notesMaster" Target="/ppt/notesMasters/notesMaster1.xml" Id="R8c134d668c86499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72d1cfe53184e3b" /><Relationship Type="http://schemas.openxmlformats.org/officeDocument/2006/relationships/notesMaster" Target="/ppt/notesMasters/notesMaster1.xml" Id="R9343ee520faf4254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f34d5a09db645bf" /><Relationship Type="http://schemas.openxmlformats.org/officeDocument/2006/relationships/notesMaster" Target="/ppt/notesMasters/notesMaster1.xml" Id="R9ce3ba0fac914a6e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41cc5a2db87e45d8" /><Relationship Type="http://schemas.openxmlformats.org/officeDocument/2006/relationships/notesMaster" Target="/ppt/notesMasters/notesMaster1.xml" Id="R9b05f22997674d2c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c9a276abf6540dc" /><Relationship Type="http://schemas.openxmlformats.org/officeDocument/2006/relationships/notesMaster" Target="/ppt/notesMasters/notesMaster1.xml" Id="Ref06814c7777474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fb435345b1e649d7" /><Relationship Type="http://schemas.openxmlformats.org/officeDocument/2006/relationships/notesMaster" Target="/ppt/notesMasters/notesMaster1.xml" Id="Ree66652442214de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0eae5920e02482e" /><Relationship Type="http://schemas.openxmlformats.org/officeDocument/2006/relationships/notesMaster" Target="/ppt/notesMasters/notesMaster1.xml" Id="R0129c6160501411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5bbe5b37c70e4ee7" /><Relationship Type="http://schemas.openxmlformats.org/officeDocument/2006/relationships/notesMaster" Target="/ppt/notesMasters/notesMaster1.xml" Id="Rfe97f911f93d4597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0e4a1e4b0ee54caf" /><Relationship Type="http://schemas.openxmlformats.org/officeDocument/2006/relationships/notesMaster" Target="/ppt/notesMasters/notesMaster1.xml" Id="R94ecc46674254bf9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5825a5dab864cb2" /><Relationship Type="http://schemas.openxmlformats.org/officeDocument/2006/relationships/notesMaster" Target="/ppt/notesMasters/notesMaster1.xml" Id="R5775218a80ba4d6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2db881a597564bf9" /><Relationship Type="http://schemas.openxmlformats.org/officeDocument/2006/relationships/notesMaster" Target="/ppt/notesMasters/notesMaster1.xml" Id="R9248ec647bc5453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c647688f7a9a4120" /><Relationship Type="http://schemas.openxmlformats.org/officeDocument/2006/relationships/notesMaster" Target="/ppt/notesMasters/notesMaster1.xml" Id="Rbdd739a5317f4db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c0ff5f1b49144463" /><Relationship Type="http://schemas.openxmlformats.org/officeDocument/2006/relationships/notesMaster" Target="/ppt/notesMasters/notesMaster1.xml" Id="R027f7759e2d64a6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7df0da182384df2" /><Relationship Type="http://schemas.openxmlformats.org/officeDocument/2006/relationships/notesMaster" Target="/ppt/notesMasters/notesMaster1.xml" Id="R1f35de578a38445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c3bc77c51df44632" /><Relationship Type="http://schemas.openxmlformats.org/officeDocument/2006/relationships/notesMaster" Target="/ppt/notesMasters/notesMaster1.xml" Id="R626e2293bd1043f1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9cd212b520c54338" /><Relationship Type="http://schemas.openxmlformats.org/officeDocument/2006/relationships/notesMaster" Target="/ppt/notesMasters/notesMaster1.xml" Id="R89deaff04024483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9f8b5972842a428c" /><Relationship Type="http://schemas.openxmlformats.org/officeDocument/2006/relationships/notesMaster" Target="/ppt/notesMasters/notesMaster1.xml" Id="Rcb4aef6713694b71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f8610e7aa05409d" /><Relationship Type="http://schemas.openxmlformats.org/officeDocument/2006/relationships/notesMaster" Target="/ppt/notesMasters/notesMaster1.xml" Id="R6ec197a3470e4e8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36caf9d8fc024f76" /><Relationship Type="http://schemas.openxmlformats.org/officeDocument/2006/relationships/notesMaster" Target="/ppt/notesMasters/notesMaster1.xml" Id="Rb1139ed77621421c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bf6df279ff2143c2" /><Relationship Type="http://schemas.openxmlformats.org/officeDocument/2006/relationships/notesMaster" Target="/ppt/notesMasters/notesMaster1.xml" Id="R1687c89f0ed74e1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284ddbf050834729" /><Relationship Type="http://schemas.openxmlformats.org/officeDocument/2006/relationships/notesMaster" Target="/ppt/notesMasters/notesMaster1.xml" Id="R3877b9403de247b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8aaa8f31a4b54f18" /><Relationship Type="http://schemas.openxmlformats.org/officeDocument/2006/relationships/notesMaster" Target="/ppt/notesMasters/notesMaster1.xml" Id="R9ff0c27edb984a06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edf07592614b4ef8" /><Relationship Type="http://schemas.openxmlformats.org/officeDocument/2006/relationships/notesMaster" Target="/ppt/notesMasters/notesMaster1.xml" Id="Rb1f747fc72364f60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eabc88ab0cfb418a" /><Relationship Type="http://schemas.openxmlformats.org/officeDocument/2006/relationships/notesMaster" Target="/ppt/notesMasters/notesMaster1.xml" Id="Rfd23dc9d31194fd4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5b7ed89fa9a24aab" /><Relationship Type="http://schemas.openxmlformats.org/officeDocument/2006/relationships/notesMaster" Target="/ppt/notesMasters/notesMaster1.xml" Id="Re354da348c034dbf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669a38623c0b45a1" /><Relationship Type="http://schemas.openxmlformats.org/officeDocument/2006/relationships/notesMaster" Target="/ppt/notesMasters/notesMaster1.xml" Id="R41f377d846444831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1cc48bdfacc84aaf" /><Relationship Type="http://schemas.openxmlformats.org/officeDocument/2006/relationships/notesMaster" Target="/ppt/notesMasters/notesMaster1.xml" Id="R96c11f2a507f443a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ff32394679ba4bc1" /><Relationship Type="http://schemas.openxmlformats.org/officeDocument/2006/relationships/notesMaster" Target="/ppt/notesMasters/notesMaster1.xml" Id="R29ee48c381054fe9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00bd753f2c7f4734" /><Relationship Type="http://schemas.openxmlformats.org/officeDocument/2006/relationships/notesMaster" Target="/ppt/notesMasters/notesMaster1.xml" Id="Rc438b2a5eeb1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Open by saying smart systems must detect chemical changes and also survive chemical attack.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Show that the first half measures chemistry and the second half controls unwanted chemistry.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same path for all sensor types.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corrosion is an electrochemical cell on a metal surface.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temperature, glucose and gas sensors as quick examples.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where sensors appear in a phone or lab.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Clarify that many sensors include a transducer element.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Contrast actuator with sensor: one senses, the other acts.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two-mark revision anchor.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every sensor answer can start with this block diagram.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conductance with acid-base titration.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graph-based endpoint detection.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the two electrodes and meter.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AC reduces electrode polarization.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HCl + CH3COOH type mixture as a familiar example.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H+ replacement lowers conductance.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Include both sides for exam completeness.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Link visible color intensity with concentration.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I0, I, b and c at teaching level.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out the detector measures transmitted light.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Relate each instrument block to the principle.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Pause at calibration curve and ask why standards are needed.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PCB copper recovery/quality analysis without overcomplicating digestion chemistry.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Help students avoid lab-report mistakes.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pollution monitoring as the bridge to NOx and SOx.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current is the measured analytical signal.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working, counter and reference electrodes.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air-quality monitoring and industrial exhaust monitoring.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this application-focused.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calibration is unavoidable.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glucose detection as the immediate example.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Point to enzyme layer as the specificity source.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Keep it conceptual and exam-ready.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why enzyme immobilization is important.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Emphasize that biological layers can degrade.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quick revision slide before corrosion.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corrosion to rusting and electronic-device failure.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Repeat: anodic part corrodes.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to identify anode and cathode on a wet iron surface.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these equations as marks anchors.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This slide prepares students for corrosion types.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steel-copper contact as an example.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students which metal should be protected.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low oxygen area usually becomes anodic.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ship hulls/tanks as examples.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pits are dangerous because they look small but penetrate deeply.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for exam comparison.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Transition from problem to protection.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Stress zinc corrodes preferentially.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Ask why galvanized steel still protects after small scratches.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Explain anodized aluminium is common in device bodies.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Mention oxide film is adherent and protective.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Connect directly to circuit-board packaging.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PCB storage/shipping as the example.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revision table.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CPR converts lab weight loss into practical damage rate.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Define each symbol clearly before substituting values.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Warn that most mistakes are unit mistakes.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a flexible template instead of one fixed dataset.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pre-exam protection.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this works for conductometric, colorimetric, gas and glucose sensors.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Tell students to include anode/cathode reactions wherever possible.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end-of-teaching overview.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Run this as quick viva.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Use this as the student study checklist.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to say: Close by asking students to explain one sensor and one corrosion-control method from memory.</a:t>
            </a:r>
          </a:p>
          <a:p xmlns:a="http://schemas.openxmlformats.org/drawingml/2006/main">
            <a:r>
              <a:t>Pause cue: pause after the construction/process appears and ask students to trace the signal or corrosion path.</a:t>
            </a:r>
          </a:p>
          <a:p xmlns:a="http://schemas.openxmlformats.org/drawingml/2006/main">
            <a:r>
              <a:t>Pointing cue: point from sample/analyte or metal surface to the chemical change, then to the measured output.</a:t>
            </a:r>
          </a:p>
          <a:p xmlns:a="http://schemas.openxmlformats.org/drawingml/2006/main">
            <a:r>
              <a:t>Question to ask students: Ask students to identify input, sensing element, signal and output.</a:t>
            </a:r>
          </a:p>
          <a:p xmlns:a="http://schemas.openxmlformats.org/drawingml/2006/main">
            <a:r>
              <a:t>Animation instructions: Fade title; appear parts one by one; wipe process arrows in order; highlight keywords such as transducer, actuator, conductance, colorimetry, NOx, SOx, biosensor, corrosion cell, galvanization, anodization, VCI and CPR word by word.</a:t>
            </a:r>
          </a:p>
          <a:p xmlns:a="http://schemas.openxmlformats.org/drawingml/2006/main">
            <a:r>
              <a:t>Transition style: Fade.</a:t>
            </a:r>
          </a:p>
          <a:p xmlns:a="http://schemas.openxmlformats.org/drawingml/2006/main">
            <a:r>
              <a:t>[Sources] VTU syllabus PDF 1BCHES102/202 Applied Chemistry for Smart Systems, Module 4 checklist, downloaded from https://vtu.ac.in/pdf/UG2024/1BCHES102.pdf; syllabus-listed textbooks: Engineering Chemistry, Suba Ramesh, Vairam, Ananda Murthy, Wiley India, 2011; A Textbook of Engineering Chemistry, R.V. Gadag and Nityananda Shetty, I.K. International, 2nd ed., 2016; Engineering Chemistry, Jain &amp; Jain, Dhanpat Rai; Engineering Chemistry by O.G. Palanna, McGraw Hill Education; Wiley Engineering Chemistry, Wiley India, 2013.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b4a4f87244e3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7eadef1efd4c59" /><Relationship Type="http://schemas.openxmlformats.org/officeDocument/2006/relationships/slideLayout" Target="/ppt/slideLayouts/slideLayout1.xml" Id="R9de9ac7eb30b45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e9ac7eb30b45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8653c5aa4074" /><Relationship Type="http://schemas.openxmlformats.org/officeDocument/2006/relationships/notesSlide" Target="/ppt/notesSlides/notesSlide1.xml" Id="R8d81a3ffa3f044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5eacea36648c9" /><Relationship Type="http://schemas.openxmlformats.org/officeDocument/2006/relationships/notesSlide" Target="/ppt/notesSlides/notesSlide2.xml" Id="R8f84b547671640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217d86f0542dc" /><Relationship Type="http://schemas.openxmlformats.org/officeDocument/2006/relationships/notesSlide" Target="/ppt/notesSlides/notesSlide3.xml" Id="R7bdc06164e7f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2085b205b4563" /><Relationship Type="http://schemas.openxmlformats.org/officeDocument/2006/relationships/notesSlide" Target="/ppt/notesSlides/notesSlide4.xml" Id="Rbfb550c8049441d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8f35072874c86" /><Relationship Type="http://schemas.openxmlformats.org/officeDocument/2006/relationships/notesSlide" Target="/ppt/notesSlides/notesSlide5.xml" Id="Re811036f7f5a4c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6e066f49f489f" /><Relationship Type="http://schemas.openxmlformats.org/officeDocument/2006/relationships/notesSlide" Target="/ppt/notesSlides/notesSlide6.xml" Id="Reea26cc02ff042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09dc956dc46d0" /><Relationship Type="http://schemas.openxmlformats.org/officeDocument/2006/relationships/notesSlide" Target="/ppt/notesSlides/notesSlide7.xml" Id="Rd2898e12496e437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eca02da80481e" /><Relationship Type="http://schemas.openxmlformats.org/officeDocument/2006/relationships/notesSlide" Target="/ppt/notesSlides/notesSlide8.xml" Id="R2e13697a160943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8c55a9e7d44214" /><Relationship Type="http://schemas.openxmlformats.org/officeDocument/2006/relationships/notesSlide" Target="/ppt/notesSlides/notesSlide9.xml" Id="Rf0a14b2f20804f3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0ee7006154b2e" /><Relationship Type="http://schemas.openxmlformats.org/officeDocument/2006/relationships/notesSlide" Target="/ppt/notesSlides/notesSlide10.xml" Id="Rb5453f041eb1478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c67cc1586439e" /><Relationship Type="http://schemas.openxmlformats.org/officeDocument/2006/relationships/notesSlide" Target="/ppt/notesSlides/notesSlide11.xml" Id="R1b81ab2f268d47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c2c72a1974d58" /><Relationship Type="http://schemas.openxmlformats.org/officeDocument/2006/relationships/notesSlide" Target="/ppt/notesSlides/notesSlide12.xml" Id="Re7cd4965691349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0ecd79f774a9a" /><Relationship Type="http://schemas.openxmlformats.org/officeDocument/2006/relationships/notesSlide" Target="/ppt/notesSlides/notesSlide13.xml" Id="R6207cd5ad7d1478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9445b67d147f5" /><Relationship Type="http://schemas.openxmlformats.org/officeDocument/2006/relationships/notesSlide" Target="/ppt/notesSlides/notesSlide14.xml" Id="R5c9abf54514f4f3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edbc4ab6840d3" /><Relationship Type="http://schemas.openxmlformats.org/officeDocument/2006/relationships/notesSlide" Target="/ppt/notesSlides/notesSlide15.xml" Id="R07146b9d78c2476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049a1011e45d4" /><Relationship Type="http://schemas.openxmlformats.org/officeDocument/2006/relationships/notesSlide" Target="/ppt/notesSlides/notesSlide16.xml" Id="R488d25183fb444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eabe56c994435" /><Relationship Type="http://schemas.openxmlformats.org/officeDocument/2006/relationships/notesSlide" Target="/ppt/notesSlides/notesSlide17.xml" Id="R8119fc5efcc14d6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10bbaab63f4123" /><Relationship Type="http://schemas.openxmlformats.org/officeDocument/2006/relationships/notesSlide" Target="/ppt/notesSlides/notesSlide18.xml" Id="R1a84945ee075496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b48ddeb2f4a2f" /><Relationship Type="http://schemas.openxmlformats.org/officeDocument/2006/relationships/notesSlide" Target="/ppt/notesSlides/notesSlide19.xml" Id="R41c9c274d6844d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622fdce4a94b67" /><Relationship Type="http://schemas.openxmlformats.org/officeDocument/2006/relationships/notesSlide" Target="/ppt/notesSlides/notesSlide20.xml" Id="Ra005280d85634f3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56ca42ef74e1c" /><Relationship Type="http://schemas.openxmlformats.org/officeDocument/2006/relationships/notesSlide" Target="/ppt/notesSlides/notesSlide21.xml" Id="R15782946077d443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742874397d45a2" /><Relationship Type="http://schemas.openxmlformats.org/officeDocument/2006/relationships/notesSlide" Target="/ppt/notesSlides/notesSlide22.xml" Id="Ra299f37b0577446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8117577fe4a7a" /><Relationship Type="http://schemas.openxmlformats.org/officeDocument/2006/relationships/notesSlide" Target="/ppt/notesSlides/notesSlide23.xml" Id="R86438afea6e34ab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1260930e444d7e" /><Relationship Type="http://schemas.openxmlformats.org/officeDocument/2006/relationships/notesSlide" Target="/ppt/notesSlides/notesSlide24.xml" Id="R079e882adfb044d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81a9e315f4f23" /><Relationship Type="http://schemas.openxmlformats.org/officeDocument/2006/relationships/notesSlide" Target="/ppt/notesSlides/notesSlide25.xml" Id="R206dbaf61724473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6089ef9e54667" /><Relationship Type="http://schemas.openxmlformats.org/officeDocument/2006/relationships/notesSlide" Target="/ppt/notesSlides/notesSlide26.xml" Id="R018b919662774c9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ee1bf497648cc" /><Relationship Type="http://schemas.openxmlformats.org/officeDocument/2006/relationships/notesSlide" Target="/ppt/notesSlides/notesSlide27.xml" Id="R88779eba4f2e4a2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68c2d5b964c2b" /><Relationship Type="http://schemas.openxmlformats.org/officeDocument/2006/relationships/notesSlide" Target="/ppt/notesSlides/notesSlide28.xml" Id="R9b5eaa780c2f475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297fb74a42446b" /><Relationship Type="http://schemas.openxmlformats.org/officeDocument/2006/relationships/notesSlide" Target="/ppt/notesSlides/notesSlide29.xml" Id="Rcbae87bf741c43c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3f7a817794232" /><Relationship Type="http://schemas.openxmlformats.org/officeDocument/2006/relationships/notesSlide" Target="/ppt/notesSlides/notesSlide30.xml" Id="R1ba3c29c535541c2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ee4222b9224ccc" /><Relationship Type="http://schemas.openxmlformats.org/officeDocument/2006/relationships/notesSlide" Target="/ppt/notesSlides/notesSlide31.xml" Id="R2e7b48f8db3040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9cc37dda546f6" /><Relationship Type="http://schemas.openxmlformats.org/officeDocument/2006/relationships/notesSlide" Target="/ppt/notesSlides/notesSlide32.xml" Id="R9d59bb4414894d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28dc9d548747be" /><Relationship Type="http://schemas.openxmlformats.org/officeDocument/2006/relationships/notesSlide" Target="/ppt/notesSlides/notesSlide33.xml" Id="Rc54b07d4ab84485f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b0e33548b64a6b" /><Relationship Type="http://schemas.openxmlformats.org/officeDocument/2006/relationships/notesSlide" Target="/ppt/notesSlides/notesSlide34.xml" Id="R86a0060602d446e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9076c67314ef8" /><Relationship Type="http://schemas.openxmlformats.org/officeDocument/2006/relationships/notesSlide" Target="/ppt/notesSlides/notesSlide35.xml" Id="R9b45fdc3f34041c0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79992d43ae4187" /><Relationship Type="http://schemas.openxmlformats.org/officeDocument/2006/relationships/notesSlide" Target="/ppt/notesSlides/notesSlide36.xml" Id="R1150bb62d41140f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0f373d13549f1" /><Relationship Type="http://schemas.openxmlformats.org/officeDocument/2006/relationships/notesSlide" Target="/ppt/notesSlides/notesSlide37.xml" Id="R454069b745dd486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2b1a0e9fb4301" /><Relationship Type="http://schemas.openxmlformats.org/officeDocument/2006/relationships/notesSlide" Target="/ppt/notesSlides/notesSlide38.xml" Id="Rdd2616f3d692463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9ce313ca44d29" /><Relationship Type="http://schemas.openxmlformats.org/officeDocument/2006/relationships/notesSlide" Target="/ppt/notesSlides/notesSlide39.xml" Id="R8612ffba382e4e6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b89cfc8234218" /><Relationship Type="http://schemas.openxmlformats.org/officeDocument/2006/relationships/notesSlide" Target="/ppt/notesSlides/notesSlide40.xml" Id="R6c60f2e2582447fc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fc187a6b7740d5" /><Relationship Type="http://schemas.openxmlformats.org/officeDocument/2006/relationships/notesSlide" Target="/ppt/notesSlides/notesSlide41.xml" Id="R11c791e76ecb4d4c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c1128d8bc4a9a" /><Relationship Type="http://schemas.openxmlformats.org/officeDocument/2006/relationships/notesSlide" Target="/ppt/notesSlides/notesSlide42.xml" Id="R11fbbec257824a88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375e3092345ac" /><Relationship Type="http://schemas.openxmlformats.org/officeDocument/2006/relationships/notesSlide" Target="/ppt/notesSlides/notesSlide43.xml" Id="Rf4c586ca0de6430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f049112e64f87" /><Relationship Type="http://schemas.openxmlformats.org/officeDocument/2006/relationships/notesSlide" Target="/ppt/notesSlides/notesSlide44.xml" Id="Reb1a885bb13f47a4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a43822f254c81" /><Relationship Type="http://schemas.openxmlformats.org/officeDocument/2006/relationships/notesSlide" Target="/ppt/notesSlides/notesSlide45.xml" Id="R99a061ccff364f0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7fe252ebd499d" /><Relationship Type="http://schemas.openxmlformats.org/officeDocument/2006/relationships/notesSlide" Target="/ppt/notesSlides/notesSlide46.xml" Id="R867278593f984fa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0e9c6190f4f9f" /><Relationship Type="http://schemas.openxmlformats.org/officeDocument/2006/relationships/notesSlide" Target="/ppt/notesSlides/notesSlide47.xml" Id="Rfff1de3a2c30465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10b66d18046cf" /><Relationship Type="http://schemas.openxmlformats.org/officeDocument/2006/relationships/notesSlide" Target="/ppt/notesSlides/notesSlide48.xml" Id="R183fcf41e4684ebc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530a6827b4bdd" /><Relationship Type="http://schemas.openxmlformats.org/officeDocument/2006/relationships/notesSlide" Target="/ppt/notesSlides/notesSlide49.xml" Id="R73658f9a34464b91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4f5cc81914353" /><Relationship Type="http://schemas.openxmlformats.org/officeDocument/2006/relationships/notesSlide" Target="/ppt/notesSlides/notesSlide50.xml" Id="R84800d5f83a94da8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c165883cc4e38" /><Relationship Type="http://schemas.openxmlformats.org/officeDocument/2006/relationships/notesSlide" Target="/ppt/notesSlides/notesSlide51.xml" Id="Rbe11207cb01f47fe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899fcba2d0437c" /><Relationship Type="http://schemas.openxmlformats.org/officeDocument/2006/relationships/notesSlide" Target="/ppt/notesSlides/notesSlide52.xml" Id="R7003341137004d7f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7944b485649a9" /><Relationship Type="http://schemas.openxmlformats.org/officeDocument/2006/relationships/notesSlide" Target="/ppt/notesSlides/notesSlide53.xml" Id="R77330017bb324635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1c5f341a14615" /><Relationship Type="http://schemas.openxmlformats.org/officeDocument/2006/relationships/notesSlide" Target="/ppt/notesSlides/notesSlide54.xml" Id="R282af102dcbc452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e1d5362a9499b" /><Relationship Type="http://schemas.openxmlformats.org/officeDocument/2006/relationships/notesSlide" Target="/ppt/notesSlides/notesSlide55.xml" Id="R38dc4668c7a443d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48f29f030422b" /><Relationship Type="http://schemas.openxmlformats.org/officeDocument/2006/relationships/notesSlide" Target="/ppt/notesSlides/notesSlide56.xml" Id="R469afb69a5414ae4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b74bd2305d485d" /><Relationship Type="http://schemas.openxmlformats.org/officeDocument/2006/relationships/notesSlide" Target="/ppt/notesSlides/notesSlide57.xml" Id="Rfc6b4950ea7e406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886e796d174765" /><Relationship Type="http://schemas.openxmlformats.org/officeDocument/2006/relationships/notesSlide" Target="/ppt/notesSlides/notesSlide58.xml" Id="R39f8bd1fa2184ba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2f128ef5c4442" /><Relationship Type="http://schemas.openxmlformats.org/officeDocument/2006/relationships/notesSlide" Target="/ppt/notesSlides/notesSlide59.xml" Id="Refa7f90040134077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a2552a00c4851" /><Relationship Type="http://schemas.openxmlformats.org/officeDocument/2006/relationships/notesSlide" Target="/ppt/notesSlides/notesSlide60.xml" Id="R946db87df447426d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32bf8fb0347e5" /><Relationship Type="http://schemas.openxmlformats.org/officeDocument/2006/relationships/notesSlide" Target="/ppt/notesSlides/notesSlide61.xml" Id="R098db4d24b554583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51da2eb6c4970" /><Relationship Type="http://schemas.openxmlformats.org/officeDocument/2006/relationships/notesSlide" Target="/ppt/notesSlides/notesSlide62.xml" Id="R0c91718c8ee0401d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d565d4a0f483b" /><Relationship Type="http://schemas.openxmlformats.org/officeDocument/2006/relationships/notesSlide" Target="/ppt/notesSlides/notesSlide63.xml" Id="R4b0e4135bad94e43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28818225b4e0b" /><Relationship Type="http://schemas.openxmlformats.org/officeDocument/2006/relationships/notesSlide" Target="/ppt/notesSlides/notesSlide64.xml" Id="Re73d9326e1b34b63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ae81bfd6e42c2" /><Relationship Type="http://schemas.openxmlformats.org/officeDocument/2006/relationships/notesSlide" Target="/ppt/notesSlides/notesSlide65.xml" Id="Rf86bffc86ac342ea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316a6076943d8" /><Relationship Type="http://schemas.openxmlformats.org/officeDocument/2006/relationships/notesSlide" Target="/ppt/notesSlides/notesSlide66.xml" Id="R9a84c8adfc4840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81686-822C-4975-B7D5-ACEA78DA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39B12-8614-448B-A06C-583737BB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Sensors and Corrosion Science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923F6-EFC8-4AE8-B72C-F859599B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Module 4 connects smart sensing with metal degradation and protection.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406A7-B57E-40F4-9FC5-433129C4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258794-C881-43D4-9F56-4E0D97CF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470F3-0F98-4C8B-BD4A-BFB1DA41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1C9A2E-3E9D-4C9C-A920-AFA2051B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A3E82-C8A3-4292-88C8-9F4634E86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E9F489-CD2B-4FF2-B592-0D713F8E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647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Applied Chemistry</a:t>
            </a:r>
          </a:p>
          <a:p xmlns:a="http://schemas.openxmlformats.org/drawingml/2006/main">
            <a:pPr>
              <a:defRPr sz="4200" b="1">
                <a:solidFill>
                  <a:srgbClr val="F8FBFF"/>
                </a:solidFill>
              </a:defRPr>
            </a:pPr>
            <a:r>
              <a:rPr sz="4200" b="1">
                <a:solidFill>
                  <a:srgbClr val="F8FBFF"/>
                </a:solidFill>
              </a:rPr>
              <a:t>Module 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BEB65F-8BB6-478C-96EE-8018CD11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85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B9C9D6"/>
                </a:solidFill>
              </a:defRPr>
            </a:pPr>
            <a:r>
              <a:rPr sz="1650">
                <a:solidFill>
                  <a:srgbClr val="B9C9D6"/>
                </a:solidFill>
              </a:rPr>
              <a:t>Transducers • actuators • conductometric sensor • colorimetric sensor • gas sensor • biosensor • corrosion theory • corrosion control • CPR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F7AD3-AB3C-4AB7-BCD6-38B41212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238250"/>
            <a:ext cx="3143250" cy="3143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4154"/>
          </a:solidFill>
          <a:ln xmlns:a="http://schemas.openxmlformats.org/drawingml/2006/main" w="19050">
            <a:solidFill>
              <a:srgbClr val="28687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494F7-3D1C-438C-AF66-945F5CE1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44E828-775C-4C28-BB6F-5AD0AB97F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28600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SENSE</a:t>
            </a:r>
          </a:p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PROTECT</a:t>
            </a:r>
          </a:p>
        </p:txBody>
      </p:sp>
    </p:spTree>
    <p:extLst>
      <p:ext uri="{BB962C8B-B14F-4D97-AF65-F5344CB8AC3E}">
        <p14:creationId xmlns:p14="http://schemas.microsoft.com/office/powerpoint/2010/main" val="306769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D4F382-2785-4296-B2E8-D5FA99D6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7F915-53FB-4E6C-B2AB-5611E6F9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learning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93071-3C0B-4BD3-9C29-66A92C9C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Use the VTU syllabus as the complete checklist.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696AF-1312-4F5B-9C10-1D2D4DF0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AE877-B95B-4AAC-A5AE-F5C8586D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EB2AF-0802-4693-AA89-8A2C6006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2C5A6-FF98-4F93-8EA4-1A964CFA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4A570-CDC2-45E8-8D80-F84660FB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758E8-2059-4102-9925-FE0B02E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427E04-3261-475C-AE16-CBCD3BD3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7B0FEF-3CDD-4211-AB3E-57ACB0D8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81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sensors, transducers and actuators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BF601-1688-4F74-BBFA-D087585C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1FF6B-E388-4916-86A8-E9525E24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19573C-A333-4909-AB5C-17DB5BB6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conductometric sensor principle, construction and acid-mixture estimation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D7597-A2E9-4EEF-93EB-AB3CEFB17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1A6DDA-6DD6-40B5-8EBD-DF9918C5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231EA-FC3A-46F4-993A-9BDC2F9A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colorimetric sensor principle, instrumentation and copper estimation in PCB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0EFDCE-2D14-4F08-93C4-0621DB7F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169AAA-F8E6-4D98-967E-AE4513A1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F1772-19C8-4E86-8F05-13DC1F2D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electrochemical gas sensors for NOx and SOx detection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43DB5A-B89A-42BE-A787-487B42F8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5379F-9A77-47CF-9A75-DE86C63B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6C5090-FAF7-4FE0-BD6C-AFB90BF3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glucose biosensor construction and working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49FEAB-B0D9-43FD-9BA2-7B8F9C0A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047BD9-C04F-4824-B67B-A0834029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0B44D5-5139-4055-8618-1C021BF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Explain corrosion theory, types, protection methods and CPR numericals</a:t>
            </a:r>
          </a:p>
        </p:txBody>
      </p:sp>
    </p:spTree>
    <p:extLst>
      <p:ext uri="{BB962C8B-B14F-4D97-AF65-F5344CB8AC3E}">
        <p14:creationId xmlns:p14="http://schemas.microsoft.com/office/powerpoint/2010/main" val="4160725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370DF0-292C-4B08-84D1-14FCF86A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85DF95-504E-4D7A-8561-61EE2446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sensing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370E7-74D0-47A3-BA0D-9DB8E4AD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Build the sensing idea before definitions.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0F236E-56BD-4513-9BC8-8A5A837C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E213A-F0D2-47B6-9C66-06603DDDD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ACEB7-9176-4910-A456-F045F810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C8B07-1739-4DDC-9C72-4A26ACC3B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7D214-72C3-4505-A9B6-0BAC9D1E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E5FAB-4696-44B9-836B-B591B33E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18BF3-D444-476D-BD73-A59202B0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Chemical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DF3591-AE32-4958-BB07-83710E56A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561E17-A6B6-4FB6-B510-384F65FCF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B38C7-02FF-49B3-85FC-7B569AEA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Sensitive material responds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9EEB8D-DA89-460C-B765-52A4687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68DD2B-086B-4936-B642-B1EA229B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695FF6-9049-463E-98BB-54035A9F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is generated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4A6D4-54E6-4CBA-A9B3-291606CA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23F511-F5CD-4B52-A3CC-DA56BABC6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D0A6FA-EA5F-44EC-BFF0-A8B3C4E4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is processed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25603A-745B-4B53-A84E-AC681F671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FE0012-542C-41EF-B12C-348DDD01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814DC-45CA-4468-9791-E8CD8350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Result is displayed</a:t>
            </a:r>
          </a:p>
        </p:txBody>
      </p:sp>
    </p:spTree>
    <p:extLst>
      <p:ext uri="{BB962C8B-B14F-4D97-AF65-F5344CB8AC3E}">
        <p14:creationId xmlns:p14="http://schemas.microsoft.com/office/powerpoint/2010/main" val="9116598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158BD1-323A-42FE-8FFF-7B56608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12E91-BA38-41AA-8913-F1073D4E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The corrosion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45181-30C0-4CCE-91D3-B61A0F46F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Build the corrosion idea before theory.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3C827-2767-43E3-958C-D49907D0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CC37E-A0DC-4BC7-A984-E655DA93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88FD4D-E8D5-4816-BC35-C76DD519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1416A4-777A-40D9-B437-F8928305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EC1765-EC0F-456B-A5DA-CABB0CE86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D3674-C9A6-4CFC-BE9A-962B9E16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A4AC9-6EC6-4E0B-9D58-0667B74C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 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7457BF-B1B8-4B33-944A-943BFFE9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B3648-AD4A-4990-ACDE-97C90773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85525-F818-4FD0-83C8-FCC7B383D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Moisture / electrolyte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61541-B373-4CC2-9176-5493B200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BE7F10-2A62-407B-985E-34297C7D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286A4-27B2-4E3A-AA22-C2C9775F6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Anodic oxidation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0A4AE-EB52-4D4B-A750-F09DABCE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28AC81-5698-4CA0-A1B7-72B25464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27CF9F-C4D5-4D46-9AB5-51C5EF39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Cathodic reduction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D0662F-4B85-4877-9631-B1297642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EB855C-81C5-41E8-98CC-2BECBBF1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4F341-F632-4A6F-88AC-2EEECDB29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Corrosion product</a:t>
            </a:r>
          </a:p>
        </p:txBody>
      </p:sp>
    </p:spTree>
    <p:extLst>
      <p:ext uri="{BB962C8B-B14F-4D97-AF65-F5344CB8AC3E}">
        <p14:creationId xmlns:p14="http://schemas.microsoft.com/office/powerpoint/2010/main" val="43509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46DC8C-0F79-488B-A33B-7191F7AD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B61E73-3BA4-483F-90AB-7BA493FB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sensor?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263AF-F96B-4995-B986-4BDCD92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sensor in engineering language.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0796-D002-4FC1-8E8B-0F259F76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CE4A3-3261-4898-947C-128EB16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05890A-E6EC-4314-A200-F879C0C7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53F6DC-7B43-4D8C-8F50-D1FC1DF5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4D841-DA83-4BEC-9BF0-6C5CC55F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6D201-2C2E-40EB-9DC6-37BCAE42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CF7EF1-CAD9-4595-9DC8-A5F4B1AF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sensor detects a physical, chemical or biological change and converts it into a measurable signal.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07902-4F6E-40BC-B695-1C80B50B7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2CB596-CDD8-4C5B-8AFE-37702B43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AFE8B6-3EA6-4D73-9D26-D82E8022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D6D033-D462-42B0-91ED-346225BF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FA7DB-AFF7-4A33-9D45-0292BC5A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60F46B-2A80-44D0-8AA0-2E56F926E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5C6EFF-3C68-4A7E-A063-4C7A636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A90A4-9017-48DB-A432-A8C1E1B7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22E8FF-0907-45D1-8E8B-3953760D1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93A97-9D2E-4E30-A9BA-B09F0397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E073ED-8117-446B-AFAB-7DB5520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344F25-467D-41DC-B229-18CFEB2B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19A847-3B4C-4E22-BFAE-8009C9780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78299-BC29-439B-BC76-F0C15D22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16921547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1213D7-F76D-437C-8D3B-A5604185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D6BC5-98FF-4449-8C49-84E91842B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sensors matter in smart systems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7742F-0F71-4A93-A2EF-90EF063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real-world need.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C55780-9C2F-4D18-85D6-32785BE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4C5638-1990-4884-B9C1-D0802381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D5F6C5-4CE9-4C73-AD14-7A66F197E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D1A19-BA2B-485B-93F5-DEA04B07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5D701-A291-49A4-8608-DBD8B62E8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229F5D-DF06-455A-B7F0-B3CE929A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891F0F-E161-4F7F-AEE6-599D86DB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D50F4-F4F0-4264-A9A0-EB5637E53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Health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8E285-36A8-4DBC-AF9E-C072E6B40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Glucose and wearable sensors track body chemistry.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7D3AA2-F755-44C6-921F-289EA044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C0A28-1FD6-4CE4-9A08-F3088212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61CD9-7C0C-440C-9AE4-71A0ECA1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Environment monitoring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4229DD-DA4A-490A-904F-1B529F41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Gas sensors detect air pollutants such as NOx and SOx.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206535-1C1E-44FA-AE17-5B956856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63AFA5-077E-4C35-909F-8B76FDBB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1D9C2C-0D33-45ED-A68E-3E6A8F8D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Industrial control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A87C51-F433-496D-87DA-DCF53B0B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Sensors help maintain concentration, pH and process safety.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608C09-C71E-42E6-A90A-075E0E5D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C76798-0B5D-4872-9311-CDBEF9190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E78D89-6BF0-486F-B18D-08069425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Electronics manufacturing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0063E-4725-4DBF-96ED-BB060C57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Colorimetric methods help estimate copper in PCB samples.</a:t>
            </a:r>
          </a:p>
        </p:txBody>
      </p:sp>
    </p:spTree>
    <p:extLst>
      <p:ext uri="{BB962C8B-B14F-4D97-AF65-F5344CB8AC3E}">
        <p14:creationId xmlns:p14="http://schemas.microsoft.com/office/powerpoint/2010/main" val="2093583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30BE35-D8A5-4608-B895-964BC7B4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C4CC0-6F2E-4F7E-90D4-A3ED310D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Transducer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D307AB-729B-4A69-94B7-6D49EC04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transducer.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E85CB-1EFB-4283-B861-88277CCE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568B11-1251-498D-B43A-85A09548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68B4B5-A0D5-439A-AF39-6E1D9C34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7AACD-D0F8-4B76-A146-C5C5761F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759C7-EFD7-4100-9308-756A07A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653420-2C9F-4040-8C32-BCA7270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Transducer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B8B98-E382-4CAB-B6BB-697DB6E5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transducer converts one form of energy or signal into another form, often converting a sensor response into an electrical signal.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987426-F05F-45BF-939A-0ACC1B01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78091-616A-42EE-BBAF-456E13E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Energy conversion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9D4A2D-A235-4165-8616-7A1B0D97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9AB0B-660F-46D1-86F4-9B38AD37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E88E1-542C-4DD7-9E61-8BCCFA3F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conversion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C2500-A767-41F0-8B8B-1820262C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E0EB6C-1165-4858-B83A-E584AFEB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FB946-0FA8-4B90-ABCF-44F361D9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Input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5DC93-991C-4217-B4E7-E4ADB236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1C28A-1D21-4F19-B7A1-F4BC84291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450319-5FC9-473F-8CEB-24EADBD3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Output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C3F69-9A95-4F4A-83E0-3EAF9C2D3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172E0-43FE-4DD9-8F15-2B31F081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50327-40F8-4D8C-A30E-10CA3B73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688733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D08607-3B01-4806-9DA3-D7962E21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C28E78-26F0-4224-BE88-F57217E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Actuator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4C2B58-12FC-434E-A2F6-EA968A74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actuator.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23ABBD-5AE7-4AEF-BA42-8A860F1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2B5AB-8C81-4D0D-ABA3-582FD2A4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CA5AD5-D2E3-41F6-BC04-C5FB0444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014AA6-66C5-46D3-94BC-E953FCFF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A4E179-146E-43AC-BDD1-5BEB46692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989A6-D6BF-4319-B738-B20849E7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Actuator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32CF8-0582-4CC7-BAA0-A325E6E8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An actuator receives a control signal and produces a physical action such as motion, pressure, heat or flow control.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5FDBC-73AD-48DE-9CE1-B40D01DA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430E7D-E081-41B3-9D06-14F122A1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Control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A96EB-D7D4-45B1-8025-90E40D43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474BBD-C7CE-46F9-861E-B12CEF58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D4047C-3FEC-4EB0-AB82-497B0145D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068FE-08BD-43F9-9B97-2BBFAF0D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029206-BBE0-4E6C-B230-3E026525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EB3494-8495-4EDC-8E2C-7A026BF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Movement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ADD4D7-819D-495C-9A38-79F64CC8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74257-02C0-42C2-890B-11B3782F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23C54-1F1F-4F8E-B82A-E98A70BF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Valve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29FDDC-5EB5-4F39-A850-5A15D3E0A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0D90B3-AB52-4F37-A319-1B39D468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84E14D-1D13-4C47-A949-E655EED7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Motor</a:t>
            </a:r>
          </a:p>
        </p:txBody>
      </p:sp>
    </p:spTree>
    <p:extLst>
      <p:ext uri="{BB962C8B-B14F-4D97-AF65-F5344CB8AC3E}">
        <p14:creationId xmlns:p14="http://schemas.microsoft.com/office/powerpoint/2010/main" val="5811545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F6C6DA-202C-4136-AEBF-1E7A3FA8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785079-6002-4218-B25C-B26ABB7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Sensor, transducer and actuator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227F0-A62F-491D-98F4-06BFA1BC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Avoid terminology confusion.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9361D-55A9-4636-9DC0-215BFBF1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CAD5A6-70DF-4369-9B47-DD7AF1CF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522D1D-B85C-4874-B5F0-0F12FC3B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F1928-1AC4-4525-85CB-8C2A079B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Terminology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C31D32-AF8D-4705-9E99-AD9B3093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AFE46-2F02-4686-BD35-3860DEF5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AAEE1-CEB4-47E8-990A-9577B27D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F52FF-F2D4-4756-B778-86A52303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5B304-A381-4D80-A8DD-87348218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Main 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B8121-F091-4C8F-8287-C6F82EA2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D7C98-B41C-4884-9C40-CC3DA3A3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96C31-CA29-4175-BB78-80C9D327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BACC00-A53C-4D33-B93F-2987360B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Sensor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3BE7DA-C54A-4F00-9F58-76F67A77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73B69A-E954-4214-A150-C88C689D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Detects a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1FDE74-C17B-4C1A-BA4B-1A29F124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79CFB8-15DE-4F7C-98C8-6A8D24DC9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Gas sensor detects NOx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2A832-DE60-4B39-90F0-51798FCA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4B327B-5530-4E0D-B912-518E4518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Transducer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AE981D-6FC9-4CE8-9BE4-D0DAAD34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31E07D-F16A-423E-ABF3-12DEB146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Converts signal/energy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9BC4C8-D249-40BC-B379-6B8F38BC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870301-8387-4212-AF44-7AE63BFD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Electrode converts ion activity to voltage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AA81C-875A-444E-AB3F-54E696A4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8565F0-803E-4552-A1A6-D69B6149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Actuator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D7776B-4635-4BB3-9F7D-284F438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6992CC-11D5-475D-BFF4-A00E5993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Produces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8E89C6-C043-49DF-B8A7-9256CE74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200C08-8F15-429D-A9B8-E112BCEA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Valve opens after sensor signal</a:t>
            </a:r>
          </a:p>
        </p:txBody>
      </p:sp>
    </p:spTree>
    <p:extLst>
      <p:ext uri="{BB962C8B-B14F-4D97-AF65-F5344CB8AC3E}">
        <p14:creationId xmlns:p14="http://schemas.microsoft.com/office/powerpoint/2010/main" val="20008732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29D67E-C78B-4E6C-B20C-345575FA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40147-D85F-44AA-8073-37A4DA2D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Basic sensor block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5262A-8C91-4B9C-B707-3530E047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universal sensor architecture.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2D7F2-87C3-48C7-84CF-5A288C88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B0279-C1AC-422E-A2EC-9AD609AF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17D9E-B283-458F-B2A0-05D9E1CB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54EFDF-2992-43EE-B6D1-C0751E0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E0B8F-06FA-43F6-9435-BB7F94D4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F5E158-773E-4FA1-AB9D-07198154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22C8EB-89EE-496F-858A-49DD0BE1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Analyte / stimulus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528A66-C7AB-4E33-BC4E-F4880356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2428F1-4FCE-49AE-BE1B-047F80B4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E9B9B-192B-4538-933A-0B81D91D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Sensing element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A67A65-A188-4500-ACC2-43A0B73E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ACA6F7-7DC6-4064-998C-BDA1C30B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1A4341-A4BF-4444-8914-211E0D2F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Transducer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1D081E-0276-4CFD-954B-ABDCFDB7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8E9CC5-6616-4A7A-BDD4-EDA5F5128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8AC5D-01F5-4530-B725-5A844CF2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conditioning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334063-3EAE-4E13-A5C2-AD184D83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A8F450-ECF7-4641-A094-814AB2CD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6F5686-D23E-40D6-AD3A-A1B30DF1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Display / decision</a:t>
            </a:r>
          </a:p>
        </p:txBody>
      </p:sp>
    </p:spTree>
    <p:extLst>
      <p:ext uri="{BB962C8B-B14F-4D97-AF65-F5344CB8AC3E}">
        <p14:creationId xmlns:p14="http://schemas.microsoft.com/office/powerpoint/2010/main" val="1974869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18CC2D-098A-4A1E-BE70-0823A42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6071A-9639-491A-912B-E0FCD07F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conductometry?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FA05F2-4DE1-49A0-83E6-F7BDA7C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the measured property.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E7C3E-2E0E-4C5D-885A-62BA1E68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44E581-F42F-4DC3-B6FD-120C5279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CDB264-8A4F-4F43-A96B-7FA53972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B2828-2F94-4B55-95E4-8A79284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E71B39-B1BB-4A26-BC99-19F74954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02869D-9884-4F0B-9791-C62B6D4F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Conductometry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E621F-55EE-4BED-B16D-A603243F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Conductometry measures the electrical conductance of an ionic solution; conductance changes when ion concentration changes.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57E8CC-E641-49D3-B010-82B62C5E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F5A696-73AD-4ED7-B2A4-40769B4D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Conductance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6D3F9-5B1B-4166-8793-EB75E85B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6AF79B-1436-4331-A1BD-A2EAAC9C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05715E-2C62-4AF4-8362-BD996150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3CBD8A-5573-487D-ACF6-447C92CD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451A01-2814-49BD-8BB3-D30ACA067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68E6DE-8BCF-47C9-8010-7F24D162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AC15-8C61-49F0-9C2B-608858BC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E5A1DF-FE2E-44E4-8CED-C0DE18CA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2E782A-5101-4ADA-8184-1701B5FE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66659-4FEE-4DAE-9196-E9DA7B4D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54B43C-5038-46D8-BA63-5FAAFDF5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B87F78-453B-4345-8A32-1B09E728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Measurement</a:t>
            </a:r>
          </a:p>
        </p:txBody>
      </p:sp>
    </p:spTree>
    <p:extLst>
      <p:ext uri="{BB962C8B-B14F-4D97-AF65-F5344CB8AC3E}">
        <p14:creationId xmlns:p14="http://schemas.microsoft.com/office/powerpoint/2010/main" val="156429535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C568B5-BE47-48AA-BF92-DACF4114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BDB269-C463-44C9-B4F1-220833B3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Conductometric sensor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541046-B52A-4C65-93B4-65C017C1E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principle.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419D1-6B90-4E62-A91F-E074F4B2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59EEA-C5BF-4935-BC35-B2EC5B306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1F605-C1E2-47A2-9FB9-392C6635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CA7D8-BA05-45FC-BE10-F95955F5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2A636D-EF69-4EA8-8919-63B6F83AD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8D2C14-0962-4D12-9354-18085E6E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0BF368-F540-4FA4-8F17-AC83F737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Ions carry current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CDA531-9503-44F9-B1D1-8426EF1C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E923DE-CAE4-456D-A368-D37EC16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168FF-8137-4034-82C3-2E68A219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Concentration changes during reaction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70584C-6D48-4011-BEE4-3FAB4777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2F2647-7957-4B90-A644-4EAD5DB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D672BB-EB8A-411C-BDFD-2421ABF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Conductance changes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649AEF-944F-4F33-96DD-F10492C6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0347C-1106-4EBD-8FB2-3460124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BEB30-389D-42B2-95B7-830BBBCC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Endpoint appears as graph break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92270C-2D96-4512-AB6D-3703D563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EAA6F-4273-40A2-8366-C6E8DB11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8FECBC-5E65-47BD-AA0C-97E1BC4D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Unknown concentration is calculated</a:t>
            </a:r>
          </a:p>
        </p:txBody>
      </p:sp>
    </p:spTree>
    <p:extLst>
      <p:ext uri="{BB962C8B-B14F-4D97-AF65-F5344CB8AC3E}">
        <p14:creationId xmlns:p14="http://schemas.microsoft.com/office/powerpoint/2010/main" val="58607746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33D159-7FEC-47B1-81D8-76B5CFC7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C5DB8-7C83-4212-9BD8-B45688CA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conductometric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8C8260-D3E5-4380-8E59-EE94EED5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A945E-E31C-41C6-A1FB-831C31F3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5775DE-1A76-4279-93C7-68E099AEB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714047-5B61-4196-A5C2-61896DD8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6EA421-B34B-42A0-B6BE-0C26DE48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7C79E-527A-4BB5-AE9B-5B648288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5333DA-4C4F-4D28-A31B-76777440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78A96-6799-45CC-9D40-2FC5FB68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BC4CB4-0EC1-454D-BD6E-44B2AC86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Conductometric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07425-1193-41C0-9FD8-E881B151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It contains a conductivity cell with two inert electrodes, sample solution, AC source or conductance meter and display/recording unit.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B7BFC-2E8B-4614-AD80-F2A7D931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000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40EA1-12B5-4073-B30B-454F23DF2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97118-642E-466C-B38A-15A702F1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E890BF-0528-4842-BBB9-B92513C3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86E0F-2E15-4C69-A849-122AA8F9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16188-295F-48A0-93DD-9260E897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99FA08-5EB2-45F4-A7FB-14ECE23B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Sensing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36FD7E-7382-402F-BF57-A3154248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04061-4B83-4424-98D5-209B93AE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EA21A1-7FAE-4201-8B3E-2C162C8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Transducer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3C55E5-6331-4FC2-BF6B-BAE68C91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C613266-68D0-4451-A370-40D3D02F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390A89-F6DE-4797-B245-E7BBFB78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14D061-45F3-4A81-BD40-3D3109A3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1A41C1-ADF1-4D33-B4CC-6BA2070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Sample acid mixture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2CF57C-0990-4138-899C-55FBAE1C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147E9F-5370-4CD8-812B-9298752E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58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2EB73A-50D8-485F-BC3B-17532294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83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460AE3-B45F-487D-A567-E6804463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69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8F662-7D93-4EAE-8602-9615DAA9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54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1DBE3F-CA5E-4BAE-B25F-E9AEE118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Conductance meter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ED94D0-D75D-42F2-8400-D1107FDF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6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A24436-BAB7-43E5-96AC-AB9E7736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158A31-B3C4-4778-B7F2-9DFDC14C6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Graph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2CCC96-9552-4900-9B8C-5D17852E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61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82078D-AE90-4F2C-9B48-9C7BCE75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46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DBDAA80-EBFC-450B-AB44-3567B59E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1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Endpoint</a:t>
            </a:r>
          </a:p>
        </p:txBody>
      </p:sp>
    </p:spTree>
    <p:extLst>
      <p:ext uri="{BB962C8B-B14F-4D97-AF65-F5344CB8AC3E}">
        <p14:creationId xmlns:p14="http://schemas.microsoft.com/office/powerpoint/2010/main" val="5565001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42B83-6FC2-4128-9B6C-960EA4B5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E16E9-A7F3-4917-BD72-8037A299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of conductometric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7FADDD-9E9F-452B-A586-80CD2328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measurement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2E7CFD-E51D-47E6-82E3-6E099E3B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FDEA1-A062-4D4C-86FD-2EF2C54C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2A213-70EC-4EEA-8E70-DEDC388B2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941B1-39D7-40A4-864B-A244EF91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DE5C8B-7A17-466F-860F-2D5D7FCC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31907-24E3-450A-ACD8-7EF9B16B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EE424-4606-4651-ACF3-25EF9775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Dip electrodes in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8E08F4-BC07-4AD1-BE58-7B7FB09C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A7B65-03B9-4905-BFE2-C6D4CEA8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09790E-975D-4116-AFCD-166C580B0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Apply small AC voltage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41A68-6932-4A04-9343-F5048E06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1AC58-C4D2-4E5D-AE6C-8A0B21B0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B822FD-021D-4E59-BAED-453C065B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 conductance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58CCF0-46C9-451E-B89E-CC411567F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7AD5F8-F719-4610-92B8-60CB98F6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0A2A8-3A09-483A-9ECE-AA991529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Add titrant gradually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53C169-DACB-4F1E-8277-38EAE432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566754-2931-4E00-A473-17C58BE3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08A6AC-1C28-4283-A1C5-8BC309B7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Plot conductance vs volume</a:t>
            </a:r>
          </a:p>
        </p:txBody>
      </p:sp>
    </p:spTree>
    <p:extLst>
      <p:ext uri="{BB962C8B-B14F-4D97-AF65-F5344CB8AC3E}">
        <p14:creationId xmlns:p14="http://schemas.microsoft.com/office/powerpoint/2010/main" val="9007105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C1CE22-96E1-4074-8FA9-B9B3A5C3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9CA01C-AF19-4D5C-A811-5879E32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Acid mixture estimation by conductometry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720DE-EC2F-481F-905B-FD1ED3BE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A63A3-AC2A-4C0B-9549-1763064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484F2-46BB-4E42-A5C1-B7BBECF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67A85-BD66-430E-A0FE-5A3A0EB3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5FC1F-EFB0-4D3D-B03F-B5E82AEB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74A4C-4AEC-46CD-AE79-6A864A8D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A2DA85-ED70-4FEE-8392-1AB8390E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04B043-F1F3-458B-B7EF-AF6D3FF6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Take acid mixture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76D83E-6B66-4CAC-9E48-21A1A45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1284C4-FBA1-48A4-AD4A-BD66F08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E652E8-3E73-412A-8F6D-E78AC368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Titrate with standard 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62D09-FEA2-4193-B5EF-B2B18912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D0370-55A5-496E-8E8B-839F11C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B0128C-8BAC-423A-9930-E09B7CBD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Record conductance after each addition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D84C84-E1BA-4A6A-BCC0-52224416F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A5A12-40CC-417C-B693-043BD583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C9DB8-5DA6-4C61-B4B1-3395EA5E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Plot graph segments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F0918-9F93-4805-B94A-7C02C055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7B289D-A551-4F5A-9E55-E9F5658D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48AC38-1E71-4673-83A2-9A887A45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Find endpoints and calculate acids</a:t>
            </a:r>
          </a:p>
        </p:txBody>
      </p:sp>
    </p:spTree>
    <p:extLst>
      <p:ext uri="{BB962C8B-B14F-4D97-AF65-F5344CB8AC3E}">
        <p14:creationId xmlns:p14="http://schemas.microsoft.com/office/powerpoint/2010/main" val="208251694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3F69A8-02D6-4504-9D78-6E5AA41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4F0B23-AC6D-47E9-AA8B-5C305C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Conductometric titration curve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A3BAC-4EE1-4F2C-8EAA-C4E0F1268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curve interpretation.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61896-76F9-41BB-ADBA-A4EE9808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95368F-873B-4054-A478-1CAC40DFE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AF381C-43A9-49BB-9A80-B6ABAB3A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0307E-1D30-408E-8822-C7C118E5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2139AE-591B-42A6-911B-2AFCEFFB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383E3-1FAD-4E28-AD4F-451823C8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E622B-98B2-4E4C-8344-3760175E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189128-6AAF-461B-AFF9-E32642F9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Strong acid region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732B4-530A-4E72-B80A-D5816E1E8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Conductance decreases as highly mobile H+ is neutralized.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3C428-9B68-43D7-BF64-B153EF56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93B76-56BA-4CFF-9CFB-3275D443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DB1B6-6D0B-43B9-A8E3-11FD0A8F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Weak acid region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A936C-0060-4C95-8519-4F2F7A7A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Conductance changes more slowly as weak acid ionizes during titration.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466444-C254-48ED-B9B9-EEACEC5F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EDBA2E-20B3-4309-AAAB-D86E648A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2AEA65-EE08-41B7-825D-EAE25112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After endpoint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BCB7DD-802C-40CF-B190-198A0BC6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Excess OH- increases conductance.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6C2EF3-DA2D-43DC-BC76-3C600D2D0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EAEDFA-7779-45E5-BFD0-D3653422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3D6022-D0DD-4C5D-99B9-D4C3B981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Endpoint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A5D97-00A6-4F4A-BE75-BC496EC4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Intersection of straight-line portions gives equivalence point.</a:t>
            </a:r>
          </a:p>
        </p:txBody>
      </p:sp>
    </p:spTree>
    <p:extLst>
      <p:ext uri="{BB962C8B-B14F-4D97-AF65-F5344CB8AC3E}">
        <p14:creationId xmlns:p14="http://schemas.microsoft.com/office/powerpoint/2010/main" val="103957762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9673F71-39C1-4DE0-B4F1-888E20A1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80CC4-ED0F-466A-8B31-C77D1B87F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Advantages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9EEE03-577E-46A0-95C7-87393124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balanced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617E8-DDBB-4479-866B-48E9FC273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FC283-AE50-411C-88CD-5B4B53A8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6BA2E8-5DA9-43FC-BDFB-C0D36753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6BDAD8-E102-4FD1-871A-E3DAD257C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Conductometric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04E22C-B9A3-4C02-9B02-310597055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F1ABAF-1792-40A9-A05C-1EA6526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EBF283-8176-46F7-B498-EEFE8DA1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0ED244-68D7-4544-B830-F97527BE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Advantages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40551-56C6-4C48-8AB6-7C7D68AB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49CFCE-8086-401C-8EC8-FC5E4F18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9A6A3-EF10-44FC-AEB9-9E7BF567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137EE-8DCD-45FE-8475-EAB3C1DB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Limitations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73008-6CF9-4105-AC5F-04C24C06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050F59-B6A5-42EA-B0BA-7739F34B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EEEDC-D6BA-424C-A12E-FE0FF541A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42958A-B56D-4322-8864-DD4D448B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Useful for colored/turbid solutions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1A205CC-5065-46B6-BD16-DC178257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F0A75-6145-43CF-83A7-04A19715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661100-BE85-4120-AA80-4ACDEC89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No indicator required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F1B01-DC92-4769-8121-067C35F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2A16E3-2C89-48AC-8F00-5B9F7449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EF179D-B61E-47AE-8A53-048958B1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Endpoint from graph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37D20-FAC5-4858-B73D-DB09DEDF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D26D08-D374-4D56-8C31-5B1011B6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8B6CDE-C234-41D6-8600-BA44855F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Works for weak/strong acid mixtures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21A4DB-BA91-483E-A92F-2FFC2B5A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05DC9F-3B68-400B-90D7-1858BF2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1F427B-63DA-4BEB-95FC-DBD0E817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Needs accurate conductance readings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80941D-380E-4450-9472-6751B8E2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13A5CB-5FBB-4667-82C1-E8B44486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B7E4A0-C812-4BDA-A20B-42583C1E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Temperature affects conductance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2BE875-A655-4484-A4E6-9352ACA6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4BA405-2EB7-43B8-A526-97128DA7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3CE52E-E461-4E09-95F9-C3D4F108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Dilution correction may be needed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51F08C-807B-41DA-AFD2-74E974A2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D401FF-C8D9-4DCB-A33D-2BE26881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7C6DDA-A0D4-4C35-8E7E-7F621EBA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Graph must be interpreted carefully</a:t>
            </a:r>
          </a:p>
        </p:txBody>
      </p:sp>
    </p:spTree>
    <p:extLst>
      <p:ext uri="{BB962C8B-B14F-4D97-AF65-F5344CB8AC3E}">
        <p14:creationId xmlns:p14="http://schemas.microsoft.com/office/powerpoint/2010/main" val="1742279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4951CC-6367-4F07-8E96-FAEA07A1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AC95A-6921-471D-B335-24A5B658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colorimetry?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969799-7EA5-476D-8C8C-7B100A4B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colorimetric measurement.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2CAA85-2581-418C-AB5B-41D0CBEA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9016D-727C-4064-B3A5-4D24D7D2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89999E-E9BD-4EAE-A53F-5062CE42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0D8C64-AD73-4082-859D-903F2567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66D7E-5676-479C-8210-A10BB2BA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F76C8-0BFB-4C3A-AEC1-A42F3C50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Colorimetry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1999A-E775-49FA-A399-6BCE0123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Colorimetry estimates concentration by measuring the intensity of color produced by a chemical species or colored complex.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599F7-1BB5-48E4-B44A-71999091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AFEFCD-C88F-4C9A-BA9C-0D0BF3C4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Color intensity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89CA0B-BA42-4A39-8759-8C6FCB4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6EC87-4DA8-4189-AA70-C69828D3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DAEDE-17FD-444B-AD0D-DB858822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Absorbance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87061A-B854-416F-A7F7-AABDDD08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A56F6-E8CC-4B90-AD83-DC6A220F7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BE077-1988-49FF-866D-16D9628D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4C759-8A59-4215-8CE2-2A6EE1D8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2447F-CBB5-4B9D-BFF2-B11DA141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202034-8535-406C-AC2D-C88B7B82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Colored complex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38BA21-DAA8-4679-A4A7-7208DDE7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B73E8-D3BA-4603-929D-82E45968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438997-0772-4C3A-9D2D-EB884CE4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Calibration</a:t>
            </a:r>
          </a:p>
        </p:txBody>
      </p:sp>
    </p:spTree>
    <p:extLst>
      <p:ext uri="{BB962C8B-B14F-4D97-AF65-F5344CB8AC3E}">
        <p14:creationId xmlns:p14="http://schemas.microsoft.com/office/powerpoint/2010/main" val="76091851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CCAE5-667F-4897-BE88-C7FF6768F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0A2C1-7A93-40A2-B61C-A9DEFD024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Colorimetric sensor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7F81B5-2EAF-464C-9E11-F818FB99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Beer-Lambert logic simply.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B8A584-263B-47F3-A9C1-04167DDD9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DE3BBE-143D-4AB4-8DA4-EAF2B177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48C87-E3B7-4A7E-A6D2-FBECEDBB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76E178-08C5-4DC5-A846-C1A24CC1D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7D8988-44B8-4D46-A593-431F7500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BBAA4F-147E-40BF-B229-3F0240C5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EC8AEE-87D5-49BA-BC82-6F92DCB48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A = log(I0 / I)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A = epsilon b 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Absorbance is proportional to concentration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when path length and conditions are constant.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8E5766-1EB5-4FE1-BB61-0ABE5090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FDE86E-5EE8-40F1-9407-69112A95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EAEBB-2187-4BFE-8141-EF65D2FC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Colorimetric principle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00BA4-9A6A-4C5D-8CCF-F0C3279B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symbols, substitute values with units, and state the practical meaning of the result.</a:t>
            </a:r>
          </a:p>
        </p:txBody>
      </p:sp>
    </p:spTree>
    <p:extLst>
      <p:ext uri="{BB962C8B-B14F-4D97-AF65-F5344CB8AC3E}">
        <p14:creationId xmlns:p14="http://schemas.microsoft.com/office/powerpoint/2010/main" val="17911829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161092-661A-4831-B4B7-3571D15E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C4613C-D788-4C40-B807-546F1254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Instrumentation of colorimetric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DA3467-44DC-4404-9C7F-192F8EB7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blocks.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EA31F-37B9-4D52-9F89-60B80042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FD9818-A0BC-466B-B39C-ED01DF9E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68B8A-A43B-4870-B02C-0C9BFF4A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941F94-4D3E-40FB-B389-72DD5F2E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3FC7D6-7434-4911-999E-39BF4D6F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02E826-0C47-4591-BDEE-5A2C989C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345F5B-9E72-427E-8DF5-1090A35E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Light source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B7CFB-9DEC-4D41-9422-2D86D541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2299C-F507-461C-9DAD-74EB3631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96D39B-48CF-4F52-B2DC-7DC353D0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Filter / wavelength selector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60EA5C-36ED-42BE-AEBD-800EBFCF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BE1A8-B481-4C69-B4F9-8D22E7A3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84961E-2862-435B-AD4D-2772AB11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Sample cuvette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7F995D-1A4A-4F7E-B86C-3ECFFD69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D720C-0DB7-41AA-A359-EDA686454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DCAE80-4339-41A4-8787-55C584F9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Detector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A572F8-1B24-459C-88B8-A7C465B1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334381-15D7-4B5F-A4E0-5BDE81F9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CC897C-24E7-476B-8F0C-D1F921D0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Meter / concentration output</a:t>
            </a:r>
          </a:p>
        </p:txBody>
      </p:sp>
    </p:spTree>
    <p:extLst>
      <p:ext uri="{BB962C8B-B14F-4D97-AF65-F5344CB8AC3E}">
        <p14:creationId xmlns:p14="http://schemas.microsoft.com/office/powerpoint/2010/main" val="196551459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07652A-86F7-4973-9E7C-B0590509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E72A4-C20E-4D97-99E6-1ED56DE9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colorimeter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CA4BB0-2CB1-4230-AC5A-C7754FD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device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A7669-2733-46E0-86F4-2578B01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06CB69-74F4-453F-BD31-773A800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D114F-5CD6-47FC-9667-084436D7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B69A9-D0B6-408F-BEED-167C9586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2FC68C-A74B-4A92-AC64-4508E10D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FCD5A-B8EE-4530-AAF4-A1421014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A56FA-4332-437E-B2E6-3C3E04EC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D965FB-1F76-4A42-BFDC-D5594FDA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Colorimetric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6430F-29D3-4F89-A5E5-A3859EC0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typical colorimeter has a lamp or LED, wavelength filter, cuvette holder, photodetector, amplifier and display.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CF755-D442-44B3-AACA-742C0938F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000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CF845-5E0A-4E57-9FDC-9D6B5F85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6B2551-9C8F-4F07-920D-00EBC8C5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6EC4C-3548-4937-BD22-10AE2DC6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6B5D5-5F3A-402A-8696-F414D330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06A113-0052-4DD5-BC2F-866B6629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6C3709-0B68-4F9B-BC90-E4ECD628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Sensing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18E629-DFB3-46A8-9C85-E1936B10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69E13-1727-4C64-90AF-1E87B76C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74B782-EC4B-40C9-8BCD-4C282C0D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Transducer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6A7FD-FFB4-475C-A27E-D97134C2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7140D4-101B-4AB2-9EE7-9D4693240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E96039-1F2E-4A0C-8D08-4CA8A3A5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D81FB-1B6B-43AB-8CDA-DC21330B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4E91F9-87C9-4E46-BC45-461C9F2C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Colored sample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13ECF5-FD5C-4FC4-B891-CC996A0A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0C3F7-0620-4270-AB80-88F71724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58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3AB55F-71D3-4D0A-84AB-8EF04286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83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Filter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219C2-804F-45AB-AF2C-186E77A0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69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806EF-B26C-4F5C-A992-9DA8E879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54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70AB1B-1EB0-4483-BF4E-7CBC21C1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Detector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E5A6E2-87B4-4E46-824D-FC0CCDD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6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E7AC38-4F4F-4B71-8134-8D3F653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C3EEA4-B243-4EFC-B228-5DA6EB84A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FDF423-7177-4152-8A87-002FFF65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61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42A6F6-4C85-484B-A291-A07F2843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46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D3CAC9-4144-486F-BFB2-38AC6FF9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1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Concentration</a:t>
            </a:r>
          </a:p>
        </p:txBody>
      </p:sp>
    </p:spTree>
    <p:extLst>
      <p:ext uri="{BB962C8B-B14F-4D97-AF65-F5344CB8AC3E}">
        <p14:creationId xmlns:p14="http://schemas.microsoft.com/office/powerpoint/2010/main" val="15809196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B1D48-C67C-48EE-88F1-BCDF7A96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76C93E-8996-46A1-A85A-6D5C8D07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of colorimetric estimation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ADC22-8952-4388-862A-CBD4371F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9B4168-D2A5-426C-BA76-7CA932A74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DFAF3-207D-4717-8EED-012276C6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B6D54-AC58-4370-955B-F091206C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87A7D2-2BCC-4749-9368-8D19203B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23AAA-E900-474B-9590-A95274B4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2AB4E-A8D5-48F4-91B1-D8000627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F8234-EB28-45D4-A2E0-F75A6ABF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Prepare colored complex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962A15-0E9D-40EE-B967-1C5340B03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24BE17-54A9-4F71-9C65-6868DB7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D32EF6-6165-48CE-A5F0-F519CF7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Select wavelength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F341C4-567F-4FB0-A997-6A3D88D7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DC3AF7-3799-4060-8023-0D7FA73E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F6FC4-EB28-4CC8-98C5-CA526E89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 blank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20CE4-61BE-4175-B60D-66452D01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EC54C6-D66C-45AD-8A4C-083EB214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5AA601-0551-4B69-A199-47CC6DCA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 standards and 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57FFE-CCA6-4F91-877D-AB615CC8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0AE667-4859-46E7-90FF-5270C4D3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14866B-EE2B-4421-9790-C1325EC0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Use calibration to find concentration</a:t>
            </a:r>
          </a:p>
        </p:txBody>
      </p:sp>
    </p:spTree>
    <p:extLst>
      <p:ext uri="{BB962C8B-B14F-4D97-AF65-F5344CB8AC3E}">
        <p14:creationId xmlns:p14="http://schemas.microsoft.com/office/powerpoint/2010/main" val="196423417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8A17FD-D9DF-408D-9F59-30DDEC9D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5FA1A5-9808-467A-883D-4D2FDC1A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Copper estimation in PCB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3B5E1-406B-4659-A2BE-516D7ED1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syllabus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89165E-2EE3-4F5E-BDC8-F78A25B0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8E3D8D-E9EE-43F3-B351-07E70441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F7BED8-ECE1-47A8-8ECF-EA85AD34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D4F8F-58E5-4624-8DBD-824409E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EDED23-4E3E-4C7B-B346-E09B17B0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C5311-DE10-4A5B-BB3D-526F456F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3B6ED-F702-4334-B635-F519A83E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Dissolve PCB copper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51168-FFDE-4CBB-A053-D5198850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D11F2-2EBD-404E-BD26-C659775D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1EDE6D-C262-425F-8C2E-30D37224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Convert Cu2+ to colored complex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D0DABF-5B48-4F0C-A1A8-74FB4E813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4A9A0-8222-48F4-BB14-9EDE191E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91BA22-EC01-4004-8154-B4C89F66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Measure absorbance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7F9DEA-D515-49D9-8B7C-8A91D680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A24635-7CDA-4A02-8F1C-837C2C19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73D438-5D86-482A-8F61-D2CAFDE3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Compare with standards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54B85F-9E14-413E-8C49-CB060AAF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78A5C-303C-41CB-A73A-830B9818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376D01-7F17-4CB4-B52C-B2958480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Calculate copper concentration</a:t>
            </a:r>
          </a:p>
        </p:txBody>
      </p:sp>
    </p:spTree>
    <p:extLst>
      <p:ext uri="{BB962C8B-B14F-4D97-AF65-F5344CB8AC3E}">
        <p14:creationId xmlns:p14="http://schemas.microsoft.com/office/powerpoint/2010/main" val="54681474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D28ADB-E0B1-43AA-8589-EDFD7AB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C675F-C471-4B89-ADF6-D2CD9433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Colorimetric strengths and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80B9A-ECB9-46B6-8F9A-AEB558BAE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exam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ED2DC-87FD-43B7-89A9-036C645C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E7B39B-7B61-4867-8C79-A47906F2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E9F9C9-5578-4B14-AFD8-F001BD9D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9F23B3-CAB4-43CF-A4BD-69FD19E3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Colorimetric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8EBA7B-1837-457F-A792-4C699463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1EAF8E-7542-4A37-A931-6EBC56BD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1F20F-5C00-4BB3-AB7E-16CCC063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A5509-FB93-4602-B54B-101C026A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Strengths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8ED95-D213-4D09-ACE8-ECF7487C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52873-0F32-4143-9759-56F47212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288A66-C49A-4DD9-BA3C-9E84D04C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F2B47E-311F-4A46-B214-7E52A6A84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Common errors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90FD0-1692-4598-8B6A-DFC15200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52224-DD3B-4A88-965E-C1E0D5026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F563E-FEAF-4295-A2C2-53570871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19F8D5-AE40-401B-8B99-BE103FC9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Simple instrumentation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F4A4D-E3ED-4759-BCAB-D0F7D3C3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70E7E3-877F-4CD4-A1A7-B9FDFC56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CE2F2F-5750-4FEE-A1F0-D051BF23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Good for colored complexes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AA0C7-C7DF-43CF-A7BC-6D3CFCB9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725338-F2D7-4A72-810E-CD604F76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A4B489-54E3-4174-8597-6C3F6FC7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Useful for trace metal estimation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EA77C6-DDD1-4DF5-8A8A-86143895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3310F5-1D6E-48E0-A689-4FFCD7AA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CE20C9-882A-4C09-A540-477D3B56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Calibration gives quantitative result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3725CB-935A-4DFB-B345-DF183492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86EDD4-B56E-4F76-A9C8-ABA4EF6D6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FFDD71-EA6B-4BDC-AF2B-31D99906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Wrong wavelength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6BF68-DA2C-4516-A7EB-B254509A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B1677-A396-47C8-BC5A-B090C83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88DB5B-E1F7-487B-972F-5C124F74B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Dirty cuvette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BD1294-0B5F-4797-B2FD-517BDFA5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62C4BE-AA76-4D61-BD36-2158203B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D3BB0-8055-4876-80D3-12FF4258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Unstable color complex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7FCEAB-B248-432F-8327-FB8260CF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EBF9C-4D26-47A3-ABE4-5282EE6E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082BFA-75C2-4B99-B2FD-DC063F15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Ignoring blank correction</a:t>
            </a:r>
          </a:p>
        </p:txBody>
      </p:sp>
    </p:spTree>
    <p:extLst>
      <p:ext uri="{BB962C8B-B14F-4D97-AF65-F5344CB8AC3E}">
        <p14:creationId xmlns:p14="http://schemas.microsoft.com/office/powerpoint/2010/main" val="123770040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76CFA1-5C4C-4C47-832D-9C3AA84A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E3351-4454-4A87-AB57-54EF2ACD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Electrochemical gas sensors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64293-8C23-4239-92A9-F35F5A36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gas sensor.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F3A4E9-BD0F-499C-8D32-81DAE631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5F4C1D-8DAC-46AC-B328-9CA9208A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5C3453-A65C-4F9E-BE57-4663B285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AE93F-2D64-44D0-8291-8AE9001F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Gas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D177A-6838-48FA-A570-BC2CB1D0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5FF28-FADB-420C-A252-562DFB8FE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Electrochemical gas 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680D43-92B3-4C6F-B3C0-82076689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An electrochemical gas sensor detects gases by allowing them to react at an electrode and measuring the resulting current or potential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7CB07-EC82-4362-BA94-C728EF9F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B1281D-CFC8-48D8-9E0F-249B31CC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Target gas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B2E11E-B80B-4887-BB9C-0117C6E5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9A13F6-C71C-4A69-A55E-C7EB2F93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8AF6CC-6826-4611-A53D-3D2D27B6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 reaction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31A449-316B-4CB5-BDA9-F021B9C1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E2ED85-7D21-434D-A100-D5BBC2B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02E831-4118-4A75-AF3D-56F966A6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6F99F9-7EB0-46FC-9E25-E7B9F9D2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1C4B9-3FFE-4CEA-ADFB-3EBE92BB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CEE12-2C87-482D-A652-C62C10A3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Current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090059-69C6-4FE2-9FEC-36661041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05779-78DF-4F6D-BB12-61472A98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237721-DEDA-4B34-BBD2-879B7DFA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Concentration</a:t>
            </a:r>
          </a:p>
        </p:txBody>
      </p:sp>
    </p:spTree>
    <p:extLst>
      <p:ext uri="{BB962C8B-B14F-4D97-AF65-F5344CB8AC3E}">
        <p14:creationId xmlns:p14="http://schemas.microsoft.com/office/powerpoint/2010/main" val="95788432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7176C9-2F86-49B5-893D-1A17D6BE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B97C7-0992-466D-9FBE-C9F3E087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Principle of electrochemical gas sensing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90F665-1B4F-4CAA-9A37-449CFB5F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principle.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6FC74-5410-4387-93E4-3BBE2091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DBCBF4-5FE8-49C4-A5C0-E30C3F2C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904F7-B7C4-44CE-95F2-0FEDCDDC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C5835-A74A-4621-975E-827DE1AF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Gas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EF776-12CE-4B81-B9D4-3997A3BB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5BD6D5-134D-4243-9A42-17B170BF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62518-B69F-47F8-9C37-354732BE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Gas diffuses through membrane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13F72A-B059-4A4B-8421-9A47F61F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02ECC-104F-46AC-B3E3-06678D32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45368-EDD7-44F2-84A8-37A200BC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Gas reaches sensing electrode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330F61-6B45-4FF2-87B8-D76F4CC8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CC416-20E8-4430-A701-69AFE6982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CAC642-E212-4895-BE4C-DE368FF9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Redox reaction occurs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55733F-03AC-4AD6-83A0-DC3349F9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8F09B1-F94C-47D3-854C-CA01D259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F00B2-CF3A-4679-A6A1-83CABE49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Current is produced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D2CB97-7814-4A46-B268-18E24506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147B00-A13C-4363-B916-275FEC0B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CE978-AD8B-4AFD-83C2-592C9B74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 is proportional to gas concentration</a:t>
            </a:r>
          </a:p>
        </p:txBody>
      </p:sp>
    </p:spTree>
    <p:extLst>
      <p:ext uri="{BB962C8B-B14F-4D97-AF65-F5344CB8AC3E}">
        <p14:creationId xmlns:p14="http://schemas.microsoft.com/office/powerpoint/2010/main" val="14650261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6919CD5-9CB5-4E70-AB75-6DE4667E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52EFB-3FDA-4E3F-8744-9701CB5E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Construction of electrochemical gas sensor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ED4F2-7B6C-4814-88B2-8AF055C6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630D26-413B-4DED-B70D-129CB6FA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8BA25-FF98-4128-952C-7B05AE29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27DA2-0515-4866-A012-A5002DFA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DEF21-CAE7-437D-A9A2-871E4E34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Gas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27D4D5-9350-4920-9536-39A461AF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E821AE-B093-4E0E-A287-93A1437CA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78102-C78C-4552-9867-B3FFF4BC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34DC0-96F6-4920-868C-582AB9E0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Electrochemical gas 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30EE12-C03F-4D91-934F-A53E6769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It contains gas diffusion membrane, working electrode, counter electrode, reference electrode, electrolyte and signal-processing circuit.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F165E1-E2D1-4A04-B598-8FABC726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000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F902F5-9E21-4B25-B16A-25C165B8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5726CB-7DDC-4884-9938-9214298E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17783-1331-4669-B8BC-4F27F13A7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419320-9246-4B66-A8AC-12C16B2F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A8377-FF6D-4075-A4F7-85C2AC0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125480-5836-41BA-B0D9-23F3F27DF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Sensing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EB4F40-E940-48D9-85AF-2F65A091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8F4C7-75B0-4A29-8314-2C96AB27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9840A3-AB75-45AD-A23E-45CC724B1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Transducer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5D8549-A4C8-4F83-9EF9-E7E762F25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8D08DB-9B60-4C21-B0E6-05F173EF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C233C3-1037-4611-A733-7F9CBEB3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BAF90A-23A9-4849-8910-93DB5EF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CEABDF-A647-42BB-BBB4-2B8030743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Gas sample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EE62B3-DF28-4DC3-A32F-E19C6E1E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2C06DFB-F063-4D80-9A31-9869F50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58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28DD6B-9ABC-4B85-8F2A-EB5D2C0C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83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Membrane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447FC3-918B-4D05-A893-0B153E609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69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93BA1-6E06-4A68-9624-1139554E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54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C6BF14-33D8-4B1E-A8D7-A7698284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9CB73F-407E-42EA-ABE8-6437ED7C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6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FDC826-2297-48BE-A20F-C6172494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46219C-311C-4D19-AAD4-77FC873B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Current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453B3A-3E7F-46DA-A8B6-0B4CEDB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61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77E705-5DC6-40AA-85FF-24BD0895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46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78243D-871A-452B-87C5-1D7030ED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1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Concentration</a:t>
            </a:r>
          </a:p>
        </p:txBody>
      </p:sp>
    </p:spTree>
    <p:extLst>
      <p:ext uri="{BB962C8B-B14F-4D97-AF65-F5344CB8AC3E}">
        <p14:creationId xmlns:p14="http://schemas.microsoft.com/office/powerpoint/2010/main" val="117927943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293854-A4B1-46C9-A7E0-09413B80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9F2846-7070-458E-B116-EF3BAC36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Detection of NOx and SOx in air sample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DBBC37-647D-45DD-841E-19674462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application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7D72C-92A9-476B-A3A8-A63FC549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15A48B-2B73-4278-958E-7049E5E0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7815BA-1170-40BB-A1C8-0DE39607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B8188-3A1C-4854-B14A-BD310F1E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Gas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596B3F-8943-41BD-84ED-610411E2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1FB162-F96F-4925-9B47-EF59FCDCB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E5509-E915-4BDA-9B75-359B681E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Draw air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7EEFD-C2BD-4EAC-8228-5F269317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0F29C-ADBE-42D3-8ED7-8867D764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C90FD-2123-4D77-BDFC-935A139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Gas diffuses into sensor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9527C7-75C2-49E3-8D3F-F0C238A6E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6E110-4EDE-46BE-9616-95A86883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FBBEC3-7381-457B-8170-98F83E6A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NOx/SOx reacts at electrode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F71AA-E288-49AF-9997-0BD8A559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931C7E-6DEC-4D5E-9FD7-BE16E0CE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79DB4C-E550-45E3-829A-ADB40BCA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Current changes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36D053-3963-4303-9940-8DA5FAD7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D0AA94-FD2C-476E-A868-243E7E6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6C7495-8497-44E8-ACFB-935B1E50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Instrument reports concentration</a:t>
            </a:r>
          </a:p>
        </p:txBody>
      </p:sp>
    </p:spTree>
    <p:extLst>
      <p:ext uri="{BB962C8B-B14F-4D97-AF65-F5344CB8AC3E}">
        <p14:creationId xmlns:p14="http://schemas.microsoft.com/office/powerpoint/2010/main" val="37638196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04B317-654C-455B-865C-46B7D722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3F6CC-C737-4996-8C85-BF9C7177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NOx and SOx sensor applications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D8B251-43B8-4931-BFCB-DAB761A0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why detection matters.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86C23B-ACC7-4EE3-9281-18FF5090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56319-EDA3-4808-9B20-5D60CE11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1DB137-8274-42CE-AF90-36724E0C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5962CE-78DA-4E65-852D-D2465897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Gas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4F7C4-8783-4537-A624-7820E4B8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D6F26D-62AC-43A7-895E-02879E9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683CA-9EA9-45A5-B91B-DA7543DE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A3D9B-B88E-48B1-A184-56864296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Air quality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860F3-3631-4530-9F7B-A9E68643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Tracks pollutants that affect respiratory health.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D790D-3EEB-4BF0-ACE1-B5C6820F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615977-DCE6-467F-852E-F301AFB9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CB9AA-2EEA-4E88-BBCF-AA3B5A8B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Industrial emissions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A88CA-F173-4F64-9B43-0411EE9A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Supports stack and process monitoring.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8F58A4-5B65-4FE7-AA01-5702EC77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72D4B-46F1-4665-A0AE-EC1AD44A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00366-9E63-4F03-893B-84C0780C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Smart cities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BA578-8CB2-4607-AFAD-2CE3C2B7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Sensor networks can map pollution hotspots.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85DE7-E964-48E9-BB0E-38D1AD40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767016-BE44-4C1F-8CFC-A439E05C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524173-5C6F-4430-959F-00752BE6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Safety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8F22E8-E22B-445A-8FCC-C6666EAE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Alarms warn when pollutant levels rise.</a:t>
            </a:r>
          </a:p>
        </p:txBody>
      </p:sp>
    </p:spTree>
    <p:extLst>
      <p:ext uri="{BB962C8B-B14F-4D97-AF65-F5344CB8AC3E}">
        <p14:creationId xmlns:p14="http://schemas.microsoft.com/office/powerpoint/2010/main" val="184080140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0E669E-81AF-4435-BB4B-85557417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CE518-AFB6-491E-8084-B56BB712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Gas sensor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FF536-6B21-4459-B104-A8D6143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Balance practical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0EB93-80F6-48E4-B07D-A35BFFBD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1A5CD7-D764-4FE9-9039-836A4357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49A7E5-CE08-4CD5-85FF-18F0DD2F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BF441-4E56-45F1-8117-1E7A00AAE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Gas Sensors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F1DBA-31E0-4604-98F2-4EA8315F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ACDBE-B8E8-4253-B14A-B36FBF3B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FB697-5AF7-4572-8A31-B0864FC3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2FC258-D924-40E7-BFC7-33ABF4CB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Selectivity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3BA02-C675-47A0-B252-F21FBF0E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Other gases may interfere with response.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8D94C-CB44-46CC-8ECA-D3078C79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C198B-181E-4ECD-AC72-CB8345AD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BF41C8-AE7C-4EA4-9BFA-E4941710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Humidity and temperature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C73AE-E413-4C88-8A48-AA922BE8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Environmental conditions can shift readings.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6F618-796F-49E7-91E0-4C4EC97F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B4C20-9917-4F5A-A4AC-65EFA13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7BD447-DB63-41DA-B63D-AC150B2A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Sensor aging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A07FD-3142-4EA7-91DA-7DB63528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Electrolyte and electrodes degrade over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87F44-A64C-4849-8886-281F42E3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72ADC2-8EEA-42CD-A5BB-241336E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D561FC-EE4E-4A13-BB14-89927E07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Calibration need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1B9D61-C964-4317-B145-164C2B57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Reliable results require periodic calibration.</a:t>
            </a:r>
          </a:p>
        </p:txBody>
      </p:sp>
    </p:spTree>
    <p:extLst>
      <p:ext uri="{BB962C8B-B14F-4D97-AF65-F5344CB8AC3E}">
        <p14:creationId xmlns:p14="http://schemas.microsoft.com/office/powerpoint/2010/main" val="56177170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8DCC04-F13B-4627-81E9-748F2D46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F28B9E-1125-4065-A844-64C10515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a biosensor?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14FC5-FB4A-4A13-8623-DC5ECE08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biosensor.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8C627-73EF-45F5-AB22-BABBBFCB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E44CC4-8811-4558-A976-7A32FFBE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21A39C-503D-4BEF-BB37-9859E674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742D5B-2891-48C2-81E0-F3949509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5BFB97-4F78-47AE-9DFC-C391348E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98996-2F33-438E-8DE6-7DA21A82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Biosensor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4C8EC3-24B9-48C3-9BC1-5C48676B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 biosensor combines a biological recognition element with a transducer to detect a biological or chemical analyte.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76CC64-7C21-4761-8FD6-B7A2E97E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95803E-0DE5-4D48-8F72-52132393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Bioreceptor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02DFA-6F9B-4506-B72A-60DE4C26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226F5-0EE8-4A9C-83F5-F80234D2B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16A6B-AAFD-43FA-8620-2A806F8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Analyte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2807C0-2434-4721-9046-D73319E12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116701-CB0B-4461-9B0D-69FEEB53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354A6B-0212-40AB-817A-36346C93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Transducer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A4FFF-C3F6-4B41-9C27-0D4B9448D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BA1E2-6CD8-471F-B425-EE8DA1C2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47C62-F1CD-4CF1-B938-0DFAF84A3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78295F-34B7-4771-A950-8D8CE6C2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AF6FAD-5D6D-42C8-AC85-2F6642C6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911ADA-E4A2-42B4-A28A-E0F9C489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Biofluid</a:t>
            </a:r>
          </a:p>
        </p:txBody>
      </p:sp>
    </p:spTree>
    <p:extLst>
      <p:ext uri="{BB962C8B-B14F-4D97-AF65-F5344CB8AC3E}">
        <p14:creationId xmlns:p14="http://schemas.microsoft.com/office/powerpoint/2010/main" val="70058055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305B6F-D5DD-4988-99B7-73714985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503A62-8475-43A4-93F8-56804E96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Biosensor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18E7E-05C7-4625-8335-28E61AC7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Identify standard parts.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20F78-5A12-4888-92A0-878042EE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984267-CE6D-4716-A049-5CB996FA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34F33E-8641-4B98-9164-3335FA59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C0AA6-4F72-43CB-B294-592B7884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ADDE4-0881-49C3-A001-2189F08D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801C31-18A2-44B9-9824-44A3C060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24375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EBCC2-DE50-4D25-BBF6-BE602AFA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762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5F4E97-49BF-46B3-ADE6-F6539A00F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4162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Biosensor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00314-77B8-4972-929C-FB91EA8D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4162425" cy="293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 biosensor contains a biological recognition layer, transducer, immobilization support, signal processor and display.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5FC41-1695-4856-9C13-391B7BD07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50006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DFE1E0-A1DA-4DFE-BBAC-BCA71245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050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9F1C"/>
                </a:solidFill>
              </a:defRPr>
            </a:pPr>
            <a:r>
              <a:rPr sz="1725" b="1">
                <a:solidFill>
                  <a:srgbClr val="FF9F1C"/>
                </a:solidFill>
              </a:rPr>
              <a:t>Construction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F5C87-C433-44E2-8458-FB6E79AA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1C3CB-903D-4CAB-A548-3B15286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1F5F3-E98D-4E7C-8D7D-B8C88D1A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DCA2BC-B004-44F0-8042-592C3227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0"/>
            <a:ext cx="914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54935-0686-4D3B-9511-2B1687C4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Sensing part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8A98F-EE73-48DB-9CE3-0E03F5C3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3CA535-C46A-4456-8E09-F7421FC0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A420DF-A074-49C5-B200-A56AD6C24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Transducer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926F61-6545-4C39-941F-163E5F72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71725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2A1FF7-5905-4504-8BAA-D10997CF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286000"/>
            <a:ext cx="9144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E99582-3D76-43E5-8D87-5C58FF3E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EDA829-3AA7-4BA1-8769-A07E1F27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957094-11B8-4713-88E6-06DB29D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Biofluid sample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62291D-F152-4DCF-A144-F3F63785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273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20AAE6-442D-4C2D-9582-5C8ECA51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658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82F27E-4B88-487F-B02B-F63AD075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183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Enzyme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33C351-A415-4F95-88DD-728954917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669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83F1C06-A4D3-4AB8-80CF-E81E07DE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054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6EB0A-8AA2-41A8-B478-D9C2CBDE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579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Transducer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42358D4-FFC3-449B-9984-6D850068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065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94C977-58F4-415C-9356-46B6DE48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D7A6B6-D686-48E4-9D0A-4C93B75F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75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4282FC-39F1-43B0-8B50-B2E0C8F9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4615" y="41910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083C52-A9B6-4A90-9616-1B9A4696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465" y="3886200"/>
            <a:ext cx="803910" cy="914400"/>
          </a:xfrm>
          <a:prstGeom xmlns:a="http://schemas.openxmlformats.org/drawingml/2006/main" prst="roundRect">
            <a:avLst>
              <a:gd name="adj" fmla="val 9479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EC4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E06B30-9F7C-4E0A-86E9-31E1FC64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15" y="4038600"/>
            <a:ext cx="61341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Reading</a:t>
            </a:r>
          </a:p>
        </p:txBody>
      </p:sp>
    </p:spTree>
    <p:extLst>
      <p:ext uri="{BB962C8B-B14F-4D97-AF65-F5344CB8AC3E}">
        <p14:creationId xmlns:p14="http://schemas.microsoft.com/office/powerpoint/2010/main" val="60929724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588639-C8F2-405F-81D1-7B2D0066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188B3E-C983-4597-A658-C4FF48A5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Glucose biosensor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18178-D18A-4A9C-B041-494E3F24A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glucose oxidase logic.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31F7B-3F03-4F06-826E-82BD6AEF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93698-C891-4212-8962-911A4A08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0B9D8-04C1-4B1C-9A3C-8512D66D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3A367-83C1-406A-BA91-DF3448C3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9AEB49-4D75-4237-A95D-25E637D5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BA0703-6F95-489E-BFBD-AE558AC7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2B8B95-A738-46C4-8818-BF384320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Glucose reaches enzyme 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E569A6-4315-41DD-ADB3-A201C897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E5EE1-5433-4752-9DE0-35B6D810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7B2A2B-4D66-42DF-A0B2-D4A9A503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Glucose oxidase catalyzes reaction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00A17-AA53-4C4C-921A-AA68D0170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A23904-5606-4398-9A94-0937EDFB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EC4EC-3178-42DC-A3D7-C6765BBF5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Electroactive product or oxygen change occurs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A45A2E-7590-4EBB-8968-103DBA66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0986C0-8F1C-49E8-8B7F-69AD9589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A19756-F557-4030-BBF4-1BFD6D38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Electrode measures current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BD219-0FCC-4D91-AA90-BC9893E4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5683D-453F-421D-938E-143A7F9C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87ACD-C118-401B-8435-C6225AE2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Glucose concentration is displayed</a:t>
            </a:r>
          </a:p>
        </p:txBody>
      </p:sp>
    </p:spTree>
    <p:extLst>
      <p:ext uri="{BB962C8B-B14F-4D97-AF65-F5344CB8AC3E}">
        <p14:creationId xmlns:p14="http://schemas.microsoft.com/office/powerpoint/2010/main" val="19787983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E4DEFF-B780-4A23-9890-07FECDDE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8F657-8432-478F-87D0-A6795085A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Working for glucose detection in biofluids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57AA0-E57E-4E64-97AA-7FCF3037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stepwise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7C49D-62E4-491F-80AA-BFF3DD42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0F4A0-C7B8-468D-B8B7-4328B0C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B5FDC3-15CF-4016-8F79-AA59236B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8153F-A376-4F91-A844-252D77FC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372239-FD84-4A8B-9BE5-5CF1F667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8B022-ABCB-44C5-A974-155FAFA5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1059C-80AE-4F86-8F9E-0A2AD82D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Place blood/serum sample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F636B1-4D1F-4AC8-A557-40429A00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DC333-2691-4FEB-AC15-1617F52B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8967D-0A1A-447B-B35E-45E69233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Glucose diffuses to enzyme film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EAD8C-7A97-4954-A275-D144B81B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1DB786-AADC-4DD7-94FD-8FEA0FDF9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58A78-9E8C-4D29-9D38-C927D71C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Reaction rate depends on glucose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8F046-75E0-407F-B56B-3DC2279D5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D13998-4397-44D0-8C77-98AAF5278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4421D-8EFC-474B-9644-DAA0F530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Current is measured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A36606-54B2-44A3-B66C-47123EA04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B0D8AC-4768-42A0-AFB7-F17F05AB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39A71-436D-4934-BBB3-02825173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Calibration converts signal to concentration</a:t>
            </a:r>
          </a:p>
        </p:txBody>
      </p:sp>
    </p:spTree>
    <p:extLst>
      <p:ext uri="{BB962C8B-B14F-4D97-AF65-F5344CB8AC3E}">
        <p14:creationId xmlns:p14="http://schemas.microsoft.com/office/powerpoint/2010/main" val="96964782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BFC619-85B6-4E97-AEB6-F020D87B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38BFA-0AF6-44F4-8A5C-CB5C0A90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Glucose biosensor applications and care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FED29-47CD-4AFD-AF3C-613F2307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practical points.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9907D-7B18-4FE8-8776-C677D2D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42D8B1-9122-4949-96C7-08AD1A9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359F0-009F-4646-ADCA-2D0F49DAA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00D1F-83FF-482F-975E-B683AE9F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Biosensor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1EA24C-4692-4ADE-AA71-48FA571F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73105-FED8-47DE-B833-B6F23BF1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1633E-39FB-4B8C-95FE-D3E59E81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47CA1-6D26-4E1D-8F3E-FB36E005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Diabetes monitoring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4DE0D-1CB5-4E4F-BF5D-623050D8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Rapid blood-glucose measurement.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616F2-4600-4A24-985B-695A04AA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ECF152-9A62-452E-83ED-16E7EE26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9DAEC-35A2-4186-A16D-4A993CE40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Clinical labs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7AFCE-4503-4C34-A479-5E00749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Biofluid testing with small sample volume.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7135F9-B60A-4674-AA24-D969FF0B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2FC69-C7BC-4AB6-8E12-3B226994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D53A2-1132-412E-ADB7-867038B9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Wearable health devices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CF92B-CE4F-4E0D-B690-503255BD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Continuous or near-continuous monitoring concepts.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E864A3-6B1E-4E09-B456-F9B16D15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48B351-8B5E-4E0C-89B4-10160B9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571CAA-185B-4047-82AF-6C0B9C9E2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Care 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854701-C426-4561-89B4-66725792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Enzyme activity, temperature and calibration affect accuracy.</a:t>
            </a:r>
          </a:p>
        </p:txBody>
      </p:sp>
    </p:spTree>
    <p:extLst>
      <p:ext uri="{BB962C8B-B14F-4D97-AF65-F5344CB8AC3E}">
        <p14:creationId xmlns:p14="http://schemas.microsoft.com/office/powerpoint/2010/main" val="171222689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13FD98-FE97-44F4-AC0A-4FBDA9AF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FFF46-6989-41F7-971F-079584D0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Four sensor methods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F07B9D-8A55-45D5-A733-2083C49E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Separate the sensor types.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9C8B1-F8BE-48AB-9D5B-C22E6E4A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A61C3D-3F7C-46E1-8377-00E4C90D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F121F2-1FBF-48D5-9DB8-D82ECAF7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15006F-B6B2-43AE-8B08-CECE0BE2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Sensor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6C654-AC4B-4D75-8D21-0D103F97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0E5B4C-C146-4EE3-AEBC-8AB7BC2A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E010D-1BF9-455E-A771-A89531E8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Sensor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EE502-2001-4A96-A0A7-DAC1A978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509816-C7A0-42EC-8035-76B50B76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Measured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E46131-B0A8-4A35-9F37-1FB5FD56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433D6-DBB4-4677-A51E-D7A4BA8AB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Module 4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AD12F-6C90-4F84-A1BF-4134D95F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C5A60C-9694-48C2-AA53-372AB875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Conductometric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5C4E00-D48F-4F99-8858-49A3DCDB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FA392F-3B99-4ACD-A6BD-9F597BA3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Conductance change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8F69D-FD86-41F5-AFBE-666A8013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067071-DB8F-4723-AFB5-63367CBF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Acid mixture estimation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F19BE6-C6E4-4741-9DB1-7C02A09C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16E1CE-84DC-47DB-8167-F4D2FB72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Colorimetric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9536F2-297A-4C03-B124-2F3BFBC7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5E079A-95FB-4586-8A80-020A411E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Absorbance/color intensity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C8525-F121-444A-9831-6803D600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85D85F-FE90-45C2-9738-3A27042D8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Copper estimation in PCB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901E1-D2D3-4FE2-840F-BF7DEB37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028FF-33DB-4AF6-8B82-1738F86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Electrochemical gas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3392DF-3994-4F6F-AC84-38AEAB04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A744E5-A2B6-49E5-B97E-AA107B95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Current/potential change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3FA75-8903-480A-9762-B90BFB693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92C113-5520-4ECC-9941-85D03A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NOx and SOx in 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05B37-6D79-43A2-B837-FC33E13A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B8216A1-FEA6-44C4-95B0-90C5EA38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Biosensor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7EBF32-0EAD-4FF3-8A8B-B7917AD2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A97C41-6795-4D85-9537-5DBC8CAE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Bio-recognition signal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0FD40B-A87F-4099-991D-5B37395B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052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8630DC3-39D5-416A-AF43-F44806E7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005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Glucose in biofluids</a:t>
            </a:r>
          </a:p>
        </p:txBody>
      </p:sp>
    </p:spTree>
    <p:extLst>
      <p:ext uri="{BB962C8B-B14F-4D97-AF65-F5344CB8AC3E}">
        <p14:creationId xmlns:p14="http://schemas.microsoft.com/office/powerpoint/2010/main" val="153599463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08604A-261B-4E44-B5E9-96256D9D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54128-C204-48F5-A29D-CC03DCAF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What is corrosion?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3C0B5-4D95-42CB-B009-96F6FE87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corrosion.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48D5C-00B6-47B3-8AB8-C8903D8C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AB69B-BC5C-4B28-88A4-4738E897B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77A0E1-E503-4B81-B37E-F685B771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17684-759E-4D2A-962A-3A31BF74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838764-0559-4683-9874-129A301A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90D8F3-17B8-4F38-8792-AD4E1B4A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Corrosion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55E96-C05C-4F16-AC5E-C1BB8FD9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Corrosion is the gradual deterioration of a metal by chemical or electrochemical reaction with its environment.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60C149-F00C-4400-B62C-B362667A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A8F719-C45B-4B30-9A0D-DA3FAFF0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9C139-568A-4D0D-9234-F64D25F7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F3C52C-C965-404F-A24E-1B83075C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5CE289-A4AF-49ED-9686-1D98E710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Environment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F0E20F-2866-48A7-8BD8-C74E010FD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BDD78-8154-428C-9231-4E3D1572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A83A7-D1F6-465C-9BCE-7675876C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1A91B1-E544-4A9E-8287-296E6F76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CBA09-8FDF-40FF-B0D9-A838C6E9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DE004-5D28-4732-A135-D8E86BBAC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57DB29-B924-4C4D-A3D7-693A4E1B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DAADB7-FBE8-4ECC-A079-4473804FD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AC7C4C-D0ED-4548-A4B9-CB087AD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Corrosion product</a:t>
            </a:r>
          </a:p>
        </p:txBody>
      </p:sp>
    </p:spTree>
    <p:extLst>
      <p:ext uri="{BB962C8B-B14F-4D97-AF65-F5344CB8AC3E}">
        <p14:creationId xmlns:p14="http://schemas.microsoft.com/office/powerpoint/2010/main" val="101931673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5F66F3-9DA6-4102-8A7C-1D2B584F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131BB-EEC8-4895-83F2-A7FF38C8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Why corrosion is an electrochemical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BFF53E-D506-4050-832F-6D440D19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the core idea.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7612D-BD47-4EB8-8496-3B436A1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C1CD9-E972-41C0-85C3-7BB2D00E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34A78-9F0A-4E42-B2D8-FB6CBAD6C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DF3B7-C36E-41D4-B518-026D688C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238038-FAB6-40BB-891E-997094E9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E0AE93-93EA-45EB-AC87-4236676D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A8541-8D99-4347-9FBD-20A7903B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Anodic area loses metal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21FC6E-257A-4E6B-AD18-FD9F8535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C4A72-A98C-49D2-A4D0-3050144B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6BDA39-EF95-4988-AFF3-43178D09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travel through metal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855A9-3B8A-43BA-AF60-ED3F4E55E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9633EC-A063-4D0D-B328-7DF8E483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60A242-EAF3-4AB1-8300-F0C0D7C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Cathodic area consumes electrons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3F1BF-B6A4-43F3-AFD3-8DCD2FAD6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9D9645-8498-4EFF-950C-89DE9322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A0A536-205C-4FDF-9FB3-CCD522C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 carries 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5DA01F-A34F-42C2-8F6F-A77D1CA9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2E02A6-A997-44C6-B501-2740C889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EE24D7-4CEB-429A-ABA1-C8770942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Corrosion cell continues</a:t>
            </a:r>
          </a:p>
        </p:txBody>
      </p:sp>
    </p:spTree>
    <p:extLst>
      <p:ext uri="{BB962C8B-B14F-4D97-AF65-F5344CB8AC3E}">
        <p14:creationId xmlns:p14="http://schemas.microsoft.com/office/powerpoint/2010/main" val="462612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A43CA8-9538-416F-B53C-07972956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51656-536C-44DF-86B4-643A72A7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Electrochemical theory of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A6708E-99BF-4C8B-A20D-111647A2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theory stepwise.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98872-A8F0-428A-81DB-0EFBD67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D479B2-108B-4626-B7E8-28F96E23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E64505-95CA-48D0-8315-2952ADAD3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0C3D3-EBFA-4030-AC7D-C719765D6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9F19BB-8EAA-4E80-94B6-1999F4C5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85F964-1BAD-4F57-8679-7A31053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0CE2B2-BB28-4536-A328-9152597F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 develops anodic and cathodic sites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831D48-8873-4C91-92EB-DC95BBDF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D8549-904D-4D74-B859-F03C93E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F7400-81D2-49C0-B113-4F11340C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At anode: M -&gt; Mn+ + ne-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A3B98-9110-4572-B88C-2F40A089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42FF3E-CAE1-4081-984E-DF8C8540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8CF5A5-327A-4608-AE57-7796C09A2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Electrons move to cathode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321831-375C-4667-9E80-28A24353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93640-3718-47D7-A0CA-CC95B791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FC2D21-ED56-44E9-A702-A2B6D5BF8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Cathodic reaction occurs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980A1-B81B-4415-AB39-C9322E1D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EF3EE-AD82-4540-A8F6-47D88DB1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4BB564-1042-4E08-A781-86324FDE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Corrosion product forms</a:t>
            </a:r>
          </a:p>
        </p:txBody>
      </p:sp>
    </p:spTree>
    <p:extLst>
      <p:ext uri="{BB962C8B-B14F-4D97-AF65-F5344CB8AC3E}">
        <p14:creationId xmlns:p14="http://schemas.microsoft.com/office/powerpoint/2010/main" val="99199602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D045CE-00EA-4267-BDA6-84AECFB3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C71777-4802-431E-B480-A6D1BB63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Anodic and cathodic reactions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DCA5F-2A18-42C5-83FD-27F6948F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reaction anchors.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195FA9-A80C-40BF-9B2A-B0A71AE1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17C46-FA9C-46B3-A50E-51415E1F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EF037-80A2-43BF-8BD8-E9EB509C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C59DEC-D11D-4360-A2C1-0B8F6AA9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EF9E5-3243-45B4-8875-59106D69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76E69-A3C4-4027-AF67-DD512342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3A6C2B-9BAA-4495-B2E3-EE1926F8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Anode: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M -&gt; Mn+ + ne-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Cathode in neutral water: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O2 + 2H2O + 4e- -&gt; 4OH-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Metal ions + OH- -&gt; corrosion products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3EA23-0D75-4F0B-8D4C-D63DC42B2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3A1026-5F94-45DF-9EC8-813940AA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5B0CD0-AAD1-4FA7-B4F8-566CF345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Electrochemical corrosion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65F1D1-32FD-4398-BCE2-F746B23A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symbols, substitute values with units, and state the practical meaning of the result.</a:t>
            </a:r>
          </a:p>
        </p:txBody>
      </p:sp>
    </p:spTree>
    <p:extLst>
      <p:ext uri="{BB962C8B-B14F-4D97-AF65-F5344CB8AC3E}">
        <p14:creationId xmlns:p14="http://schemas.microsoft.com/office/powerpoint/2010/main" val="440819007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1A7A0-46D8-4032-B7F6-938C0C19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3F51E3-90DD-4609-BC8F-B529654A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Factors that accelerate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EF2AA2-47D2-4457-9F59-29956F03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causes.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B0004C-421F-4267-B732-EC7ECD48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8D564E-C76C-42E4-BCE0-0F747BC9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678E3-A685-46F3-92E5-C31E2117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86854-F93E-4E39-97D5-BF7396EC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05359-263C-4D0E-94C2-6896CA7D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9A642-F7B5-4FB3-A901-6788207E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FAD54-A1DE-4E60-BDDE-183B7CF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F7A10F-A66D-4D83-AC97-6E06E0BE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Moisture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17A6B-2720-465C-9028-D4C3C2CC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Provides electrolyte path for ion movement.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BEAD9-BAFF-4C73-BFC3-A4E15336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7A4B7A-B2C3-44C2-985C-81A9BCAF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573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A79853-92EE-4E68-9EFD-DB4D2E74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907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Dissolved oxygen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182EB-BD57-4F87-A3E2-EC8D06B0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Supports cathodic reduction.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697CA3-E648-4818-A2E2-70EC15FA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503FF-6161-4989-B0EF-040C5039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07DB01-C938-4144-8483-EE1DBEF3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Salts and pollutants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AA2D83-2978-4BCD-863D-78D77509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Increase conductivity and aggressive attack.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87FD4A-9FB0-4B30-9D57-207DB478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44386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94EFB6-2986-4F57-9A16-E970FDE5C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099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171DD5-EB48-454A-B2DB-0412604A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433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Metal contact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BB1C5-283B-46A6-A256-D980C837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33825"/>
            <a:ext cx="4076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Dissimilar metals can create galvanic cells.</a:t>
            </a:r>
          </a:p>
        </p:txBody>
      </p:sp>
    </p:spTree>
    <p:extLst>
      <p:ext uri="{BB962C8B-B14F-4D97-AF65-F5344CB8AC3E}">
        <p14:creationId xmlns:p14="http://schemas.microsoft.com/office/powerpoint/2010/main" val="151388148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3E996-F28E-4E66-AA44-4DBC1AB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6ADE1-3F77-4D54-94FA-1BAFC04F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Differential metal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1E0235-CB4C-434C-898C-0D921B96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galvanic/differential metal corrosion.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6D0A5C-F5EE-478D-8FF8-128F429A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BC4866-E502-4351-8BDB-064182B3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E1AEAD-248A-4179-9FA5-ED62622E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098C71-7821-4BF7-835F-7855B045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A6676E-30FE-44E2-860D-9328B586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461EF-B96B-493A-A731-983422749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Differential metal corrosion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87CE0-B7AF-4F3D-B32A-F30C8635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Differential metal corrosion occurs when two dissimilar metals are electrically connected in an electrolyte; the more active metal becomes anodic and corrodes.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F0BDAE-6A60-43F1-B961-51148587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2009CF-D7CA-4467-AFF4-4A862357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Dissimilar metals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4BDDC-45C7-468A-96DA-EEB5051D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88515-6CA8-4AE6-B030-2299D00C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7DDA5-2E29-40FF-9669-9866A921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Electrical contact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2D424D-87F7-41DB-8B3C-F1FEBC22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C6DD40-6856-4DE4-A474-16AF6CEC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3F0671-3EB5-4708-B6C9-9993FB92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F7EF80-E137-44C0-8ED9-5CF9B7AB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EABBC3-9DDB-4284-A668-33435F76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912749-B3BB-4564-A2E2-1130F80B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Anode corrodes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E8DC20-A76D-48EF-9DE0-643F3DFC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281E1-F06A-4504-B4C9-5C8FCDFE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44103-5C97-41D7-B84E-58D470DF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Cathode protected</a:t>
            </a:r>
          </a:p>
        </p:txBody>
      </p:sp>
    </p:spTree>
    <p:extLst>
      <p:ext uri="{BB962C8B-B14F-4D97-AF65-F5344CB8AC3E}">
        <p14:creationId xmlns:p14="http://schemas.microsoft.com/office/powerpoint/2010/main" val="109685094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E5A295-2D8E-4167-ACA8-9C838D80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32567-13B2-4043-BE39-B93A73EB4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Differential metal corrosion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C14A0-C451-4C55-8DD8-0D2E7DD9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2CC19-B6B4-409C-A8A1-9F25C579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024EEB-B38A-4475-A8BB-929C8A89F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289929-E1ED-496C-820F-B05DA987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A909E1-539D-4E90-8683-27AC6B69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10C4F4-B845-4408-BB12-D5DE922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6B286B-2C6B-4601-BCE1-D058BE081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346B3-BD4F-4DD3-9C86-8501DE62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Two dissimilar metals touch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E26FC-34F8-42A2-9203-AD4871863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056B17-C1F0-4C54-8FF2-F28D8968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A5B70B-CD7C-4CAB-BA82-F94F34DBF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Electrolyte completes circuit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4642F-0BC9-4572-AAE1-047F3912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048B42-BB75-408C-9274-51F9717D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CCE351-CB0E-485B-B11C-41D57758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Less noble metal becomes 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797797-D4AF-4E91-90B7-411F9098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F99F6B-3EBF-401F-93AA-D47927C5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97965D-6AAC-448C-B18B-6C258AD7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Metal dissolves at anode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BB7F85-93E4-4A47-AD31-8F4EC1C9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65A42B-A548-4A66-B059-C8BA7683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46927-483B-4969-AC33-80A3A678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Corrosion is localized</a:t>
            </a:r>
          </a:p>
        </p:txBody>
      </p:sp>
    </p:spTree>
    <p:extLst>
      <p:ext uri="{BB962C8B-B14F-4D97-AF65-F5344CB8AC3E}">
        <p14:creationId xmlns:p14="http://schemas.microsoft.com/office/powerpoint/2010/main" val="979700034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314C7F-676E-451A-95FB-CDE5C55B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7B17B-263D-4800-A177-B89F19F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Differential aeration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23C66-0475-4E64-A2AF-7E519070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oxygen-concentration corrosion.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CB4DE3-277D-4950-BB8C-05B482C7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06B97-D750-46B5-8B99-B0CD86AC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9937C5-4E44-44AE-ACE7-2E8B000F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0440D-D11E-4AF1-8A3B-CF95C12F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AE68D-0BFA-4828-9B3B-BA2FBC47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51EED7-327C-4D22-92BF-09D5C81B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Differential aeration corrosion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B1F33-35EF-40DE-A617-5B4BEA28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Differential aeration corrosion occurs when different areas of a metal surface receive different oxygen concentrations, creating anodic and cathodic regions.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DC17E-C17E-431B-94C1-785E79B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7398E-DB76-4300-89F0-5A49145E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Oxygen difference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64043C-ED2D-4539-89BC-AFF01619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B87B7-4806-4EA0-BFB0-3FA4E5BD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C27BD-90A0-4801-9411-D0C794D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Poorly aerated area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257E30-F81D-4ABE-961A-E918312E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9A879B-777B-4FF2-B593-E8DD28C6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1C04C-8AC8-447B-BE73-7C0E2095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4DA26-1A46-4743-B0D8-F5A45D5D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20AB61-57B7-4F8B-8296-85705406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BFF858-6624-44D2-9DF1-B74F2098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Well-aerated area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B1F98-9531-4794-96EB-EF0F83B8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FB9A6B-2248-4CF4-88C1-A7072A58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6AE9C7-1B82-4685-8F44-54162C966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Cathode</a:t>
            </a:r>
          </a:p>
        </p:txBody>
      </p:sp>
    </p:spTree>
    <p:extLst>
      <p:ext uri="{BB962C8B-B14F-4D97-AF65-F5344CB8AC3E}">
        <p14:creationId xmlns:p14="http://schemas.microsoft.com/office/powerpoint/2010/main" val="2088378638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C8BD3F-E2E2-4462-BDC1-8CF08C4C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05BCD-4434-4E65-B628-A151043F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Waterline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1930C-B619-491C-8037-52754152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waterline attack.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B008E-F270-433A-8D14-4AAAC8E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B40AA-55C3-4A81-9B35-24D94487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0B0D1C-DF3D-4B5F-88D5-DC80C690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029C5-7E73-4C85-A274-85C37AD0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73E158-E981-4430-8F30-6C3D555A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11FD7-A279-4D5C-B629-86D8C6A03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Waterline corrosion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8CD38F-372C-4888-A298-1879FBCA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Waterline corrosion is differential aeration corrosion near the water-air boundary, where oxygen concentration differs above and below the waterline.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DD519-8C39-44B6-B567-AED67D4DC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7EDF3-FDE0-407A-9B1A-C571AD8F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Waterline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682EAF-5123-4301-9E40-B0187AB1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DDA84-55F8-4A59-A195-A9DA1FD9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35AEB-B858-4590-A71E-7B26061A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Oxygen gradient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2B1445-06B6-4911-AB65-5378F0C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AA8EB7-ADA1-4C6E-A50D-DF5E40CB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A7C62E-FDD6-4481-BF95-CCDF0A7B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Anodic region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19CB71-9599-4295-8000-E440D1D1D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01E8E6-D2A4-43C8-B969-5E1A4039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D55F38-E4FE-45DD-B0A0-848F2117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Cathodic region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798E16-CCC5-4FA1-B646-C477ACED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BF6B6D-58E8-4AD7-94E9-6D28F97C8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E606EE-E3C4-4F63-A399-3CB73546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Localized attack</a:t>
            </a:r>
          </a:p>
        </p:txBody>
      </p:sp>
    </p:spTree>
    <p:extLst>
      <p:ext uri="{BB962C8B-B14F-4D97-AF65-F5344CB8AC3E}">
        <p14:creationId xmlns:p14="http://schemas.microsoft.com/office/powerpoint/2010/main" val="56789985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6547FD-2BFA-4EA0-B209-5A0FDD46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2C7C1-5F25-4719-A1AA-40464F3E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Pitting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DAF776-3500-4C22-938C-69DC3DC6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pitting.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4B15A8-CA12-4742-AE19-DE27C84A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AB5A1-2190-4371-B66C-04DEC532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EFAE64-EA03-47A3-B89A-519F7DCE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4686F0-227A-4F41-BE29-538BC252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3BA1B-0654-4155-9938-DA066072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A7E99-3ABB-464B-9C7A-569666AC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Pitting corrosion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1A1131-BBC6-4C0C-8E4B-03E794DB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Pitting corrosion is highly localized corrosion that forms small holes or pits, often when a protective film breaks down locally.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6ABFC-6886-467E-A967-1C0EB9B6B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3D147-6FE5-4497-B6BA-8B979ED6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Localized attack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47D047-4EBD-4CCD-B78F-283FA700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22F271-C46D-4E29-A474-1C8E76A6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83F5B-8A16-4D5D-8C80-E0C5898BF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5FD9C-0F58-4972-92F4-55D25DCCB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2930F2-4554-4333-9113-60180793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6E34A1-3D63-4372-AF0B-1AF33ECE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Protective film breakdown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B0A31E-005D-437D-8ED1-A87676EB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D39CD0-9D83-4699-835D-80B28E7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00084C-1505-402C-B365-D5198716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Autocatalytic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FF9A3-CB5B-4422-9BFA-48DAA2E4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D105B9-FA3F-4C92-9748-D5197228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F9ADD3-3811-42C8-A426-36BFA1F8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Dangerous</a:t>
            </a:r>
          </a:p>
        </p:txBody>
      </p:sp>
    </p:spTree>
    <p:extLst>
      <p:ext uri="{BB962C8B-B14F-4D97-AF65-F5344CB8AC3E}">
        <p14:creationId xmlns:p14="http://schemas.microsoft.com/office/powerpoint/2010/main" val="43018174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B9886A-2480-4E5D-8D5B-98B64723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75E13-30D8-448A-9690-6579C9C7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Waterline vs pitting corrosion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B6CA9-2F94-48C9-A118-FEA3B389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the difference.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BD04DD-8965-47B4-84B1-577A53E47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F54777-DC10-4F0B-80F0-E0AE3490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9270A4-2A83-4988-A2F0-1C977EB5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9C014-064F-4603-B56E-DE988AE6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Types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833D04-9B26-4BC7-A8BF-DD2E0D21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3FB82B-2C23-4929-851B-54D2A419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C7D93-D5C1-48EA-B54B-288EC56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E45FC-D5AF-4EB6-86C9-CAD3F6E1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Waterline corrosion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0B395-9E14-4676-96E1-C4454D2A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01E2FD-E76A-42BD-A6DB-6824CD52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49530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EB054F-FB9D-4412-91A2-F335A7A9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762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BB4657-72F3-4A93-8539-AAB076B8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33550"/>
            <a:ext cx="459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Pitting corrosion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03F69E-241E-43EF-9D4E-4FB6BC18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124075"/>
            <a:ext cx="459105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F1579F-BBF3-4874-BDD0-DAD325615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A08D0F-5159-4FB2-BD5D-43333B32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D6573C-AEEA-43F5-8D3F-64E86F2E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Caused by oxygen concentration difference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E0EB91-3B84-46D2-B8E9-75AE7EBDD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A3F9E2-3DF8-4B09-893E-A71CA756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A15C0-DB3F-451A-B531-8F283925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Occurs near air-water boundary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01951F-3C59-45EA-88BF-B51129AC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67996-FED8-4228-AD0B-0F9D56B8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D6CC7D-B4DF-4280-A96B-F67AC4D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Often visible as a band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537156-0BFE-4430-976E-D94D4B7D8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33443E-399C-448B-860E-E8F7C106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60E97-A9A4-4991-A672-3353EC1A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Common in tanks and marine structures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0F1C3-AB90-4F93-B139-EC14E3D7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2ADB10-34A5-4E39-8FA7-D1FC79B5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4F84EBA-5A42-4FAB-B3A2-E6D51543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669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Caused by local film breakdown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99B241-8A91-4061-87F5-DF883FA49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19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95768A-D141-4C2B-84E9-C0C8F51C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479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825EA4-73A6-4B42-9422-28274FDB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813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Forms small deep holes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9F8684-0C87-4BAC-8C33-DDC0C6B1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33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C72E18-2EB6-4D4F-A903-79C5E856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62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44CF92-81B5-48BD-8D2C-85D41F6A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9565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Often hard to detect early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7F4BA0-1BDF-4D40-8849-1B90FA94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481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52CE63-1959-4AF9-9047-3AD4AF22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7667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6DF9B4-F8FD-4331-A691-F6923133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10000"/>
            <a:ext cx="377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8FBFF"/>
                </a:solidFill>
              </a:defRPr>
            </a:pPr>
            <a:r>
              <a:rPr sz="1350">
                <a:solidFill>
                  <a:srgbClr val="F8FBFF"/>
                </a:solidFill>
              </a:rPr>
              <a:t>Can perforate metal suddenly</a:t>
            </a:r>
          </a:p>
        </p:txBody>
      </p:sp>
    </p:spTree>
    <p:extLst>
      <p:ext uri="{BB962C8B-B14F-4D97-AF65-F5344CB8AC3E}">
        <p14:creationId xmlns:p14="http://schemas.microsoft.com/office/powerpoint/2010/main" val="289086052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95EA2E-1C5F-47BF-AA48-D51DE3D2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FBFFAD-A034-462A-86F9-C622C31F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corrosion control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F9DC9-03C7-416E-A867-10CFBBD1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Introduce control methods.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4F227-CED3-4484-A2FD-145E6950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2D07B7-5089-4336-A909-EEC557BF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A78A7-FB5B-4225-9AA2-D054FD69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33B34-C958-4CFE-A577-34C7B9DB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Corrosion Control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25658B-E5F9-4C00-8DC2-45387FE58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A61303-CFD3-4127-93A4-32CB2DC4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0E4E4-2569-4CA0-873B-2357A18C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Block electrolyte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7C4477-BF78-4781-83EA-D5CEF0E2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9F79A7-3152-4650-8045-647FA39B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447839-27C9-4D05-83AC-FBACB195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Separate dissimilar metals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C849E-7A5E-42D0-BF23-6255CB6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6FB3AB-E247-4A33-B776-BC52405A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5072C0-957B-4846-931E-95B6DB13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Make surface protective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2DEF7-D0DB-4D92-A3B1-5139FAA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13585D-0D57-4CC1-AC2B-350E4A68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3C3747-24E0-491E-812B-6D550395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Use sacrificial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3B4164-8C05-423C-A718-E2F7655C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927D4C-9EF1-4610-AE8D-CADDCB9B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93A49-40D6-42FE-A630-7ACBAEF0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Reduce corrosive environment</a:t>
            </a:r>
          </a:p>
        </p:txBody>
      </p:sp>
    </p:spTree>
    <p:extLst>
      <p:ext uri="{BB962C8B-B14F-4D97-AF65-F5344CB8AC3E}">
        <p14:creationId xmlns:p14="http://schemas.microsoft.com/office/powerpoint/2010/main" val="1434317197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BA8319-7659-4920-8BC1-95EB8DCA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53A1B-96C8-4172-8459-659E2826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Galvanization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E917D-FF2F-4F27-B456-A5ADB4E9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galvanization.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58BFB4-7DEB-4CBD-8DA8-2F5E0A6B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E0E2F-DEB3-4F09-897D-8421E34B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C665F-E3CD-4F4B-A8C2-3D9D2F91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490D87-5B17-4755-A3FF-5874827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Galvanization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724729-6ED5-4DAA-A0A2-2C607834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27CF5-420A-4AAC-91FC-0595B81C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Galvanization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23D77-F27F-4365-AC88-EBCA392A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Galvanization protects iron or steel by coating it with zinc, which provides barrier protection and sacrificial protection.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B743FF-7B67-42AD-A4CC-90A2A296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35E1D-8E3E-4B79-8C87-4F5948F8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Zinc coating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72666-3361-4545-8650-363DFA17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B1DB3-9E17-4D35-812A-A6F2BC121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1A507-F52D-4420-8DCB-E469C05F0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Barrier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353CC9-8A1B-43F3-A035-D850B6EA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C31702-87CF-4869-A8CF-667DA44A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DAFAD-D67C-4E2D-A150-AB8E7B78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Sacrificial anode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41C402-3E10-4006-9348-19E2CE41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9684E2-3C57-4E10-823A-C07B798F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206A62-0F86-4CBF-AAEB-71553C82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Steel protection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88ABFE-54BB-48F6-80B5-E5CAF97F4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51D2D1-85D0-4136-812D-87E18422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5214D9-ED42-4438-9297-CC3C5607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Rust prevention</a:t>
            </a:r>
          </a:p>
        </p:txBody>
      </p:sp>
    </p:spTree>
    <p:extLst>
      <p:ext uri="{BB962C8B-B14F-4D97-AF65-F5344CB8AC3E}">
        <p14:creationId xmlns:p14="http://schemas.microsoft.com/office/powerpoint/2010/main" val="1183342341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2C8D37-6597-4396-8515-AA7DDD05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00A80-8ADD-4C95-99FC-CC5EA44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galvanization protects steel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51600-FA00-49B5-A40F-CDCBA898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protection process.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B86E6-6953-4CF1-8F22-15090F2A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171DA0-ECA3-4A40-AB5C-3AE88B51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0E239A-0426-40DB-A34C-02105058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7098C7-FCE4-4E3D-84D5-BC58256A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Galvanization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1D19DF-3F80-4E38-A2AF-267BE1899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1552D6-28E6-4D37-A872-D3B26852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AED74-75F6-4762-9893-59879545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Steel surface is coated with zinc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771AA-0C15-4318-B96D-742603A3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771E91-AB5B-456C-8E3F-959D0EEF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853BC-7B71-490F-965C-DBC99051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Zinc blocks moisture and oxygen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B5FC44-702B-4818-98D0-994F8685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5374F-71FB-477F-B84F-DE3677B5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CAA0C7-7E15-4D27-B5BF-C759C274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If scratched, zinc acts as anode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9ED363-ADC1-4537-8C6D-3009BE78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91E8DF-0A90-4334-BDC4-71F52CCB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932451-5482-4764-B4C5-45185F87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Zinc corrodes 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0D6603-1ED9-42F7-8E95-89480AA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ADBB74-653E-47BC-B11D-05D28C08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2DEEAB-2519-4BAA-85E1-2D62B34FC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Steel remains protected</a:t>
            </a:r>
          </a:p>
        </p:txBody>
      </p:sp>
    </p:spTree>
    <p:extLst>
      <p:ext uri="{BB962C8B-B14F-4D97-AF65-F5344CB8AC3E}">
        <p14:creationId xmlns:p14="http://schemas.microsoft.com/office/powerpoint/2010/main" val="33806926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50323-8DEC-4E5A-8D6D-FCAB84BA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A6C24C-C731-406C-BDD8-9FA4A503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Anodization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97833-86EF-41D7-AF85-29FEAA15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anodization.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484E4D-0F4F-41DD-B98A-5F5E5384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23CE4-941E-4389-B44F-D7083CB1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BB91E7-5CB2-400F-9282-62378763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96B231-79DB-4AB9-A17E-E580B97B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Anodization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C4C763-3F87-4540-A51F-342BFCD20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F2C38-93E0-4F0F-9263-CAECF71D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Anodization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1DF4C-192A-4FA8-A787-6B7F0CAE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Anodization is an electrochemical process that thickens the natural oxide layer on a metal surface, especially aluminium, to improve corrosion resistance.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8981C-4586-4896-BB0B-C6E5EA8C6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E70CA-C9C8-4F51-BB41-43DFA8C5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Oxide layer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371CF-99D6-4A69-9341-570082E5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4175D4-3D2C-4FF3-AFDE-960A1CC94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D7A86B-FFC4-4D27-AF74-FD251DBC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Electrochemical process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947E3D-FA6D-4AA1-9C13-232FD1FE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DE63A0-F381-4FA6-9AE3-5369D97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6C17D-2A26-4980-A6AE-64DB2F8C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Aluminium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F8806A-9338-4C5C-A99A-21A63B80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9BE20-DBBC-4BF8-B9FC-A195ECFD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373FF6-25D3-443C-9575-9C5272F3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Hard surface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52E943-EA6A-4E1B-BF7B-CBD91D53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60A83-D761-416B-922E-AA9743FEF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668295-DCD2-4DE3-B76F-8B1B89CB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Protection</a:t>
            </a:r>
          </a:p>
        </p:txBody>
      </p:sp>
    </p:spTree>
    <p:extLst>
      <p:ext uri="{BB962C8B-B14F-4D97-AF65-F5344CB8AC3E}">
        <p14:creationId xmlns:p14="http://schemas.microsoft.com/office/powerpoint/2010/main" val="154727247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1FD7D3-12D7-45AE-89ED-C0220D99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348C5-D24B-4384-9D73-3BB5728D0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Anodization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5CA54-932E-48E6-B77F-62A45F0A4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5E368-9916-40D7-A6F8-828E7CC2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194789-1834-4D5A-BE8A-0F447125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CA9AF1-C438-48F0-8700-0CA99099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E0DA8-0EDB-4FA0-ABA0-73507DEB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Anodization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735D22-C161-44F1-B987-DA56C3B3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652D8C-88D1-4941-812D-967BC582B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C3B64-15DE-4FF0-AE5B-8BFFCAF0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Clean metal surface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D4D15-37CD-434C-8F18-49793E6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2C2957-E052-437D-B0B9-2B78871E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0B7F2B-AE35-47A1-B570-D5780207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Make metal the anode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7602CB-CB62-4896-BDAA-A595285F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B67DAD-156E-4212-87DB-EF7B29CF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11229-029F-4A10-9BBF-35D8EED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Pass current in electrolyte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0F8F7C-6CF8-45D1-BA67-D7C4D5BC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BE549-0688-4412-8709-4930D3F1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72251-634C-4CAC-91C5-C64BA3E8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Oxide layer grows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3E539C-0135-43EE-98E7-B9AE1380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411BD7-14BF-4BD2-8C85-D3351839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A6B47D-56FA-411F-8697-64C7850D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Seal pores for better protection</a:t>
            </a:r>
          </a:p>
        </p:txBody>
      </p:sp>
    </p:spTree>
    <p:extLst>
      <p:ext uri="{BB962C8B-B14F-4D97-AF65-F5344CB8AC3E}">
        <p14:creationId xmlns:p14="http://schemas.microsoft.com/office/powerpoint/2010/main" val="184492165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636AB9-6E46-493D-9F9F-79C36AEF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AE263D-29B2-4237-9C46-352D7657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Vapour corrosion inhibitors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395399-D5A6-41F5-8CA6-D5766B82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VCI.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814AB-437B-4902-8B82-3C16D0C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4EBE6E-6C89-43C7-9774-81BB7BE6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13556-D647-4C29-8977-7C7FAACC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C5FED3-44CF-4B29-8E1B-B25B973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VCI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D572C-62CF-4E30-BBC7-08C4A099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F4D68-3C82-44EF-B752-E55489784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Vapour corrosion inhibitors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0C81F-B041-4FE0-96C7-9B7D4394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Vapour corrosion inhibitors are volatile chemicals that vaporize, reach metal surfaces and form a protective adsorbed film against corrosion.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0D061-0E92-41CC-831A-7F0E1B2D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348B7-2748-451D-9FE2-D1E526BCA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Volatile inhibitor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35C17C-DA46-4F94-A3B8-215A2951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63D20-CE14-4AE7-B992-8A0803F3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1E0520-AF03-43A7-A079-3A94AEB65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Vapour phase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052FF-5578-43BC-B5B7-0B0071D6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CAB595-0161-490E-80D1-27330D384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D3DF7-D2C1-4ECE-87CE-668EF5A9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Adsorbed film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172BE6-E987-4157-94B2-7AB4EB0E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8F3877-F9DA-47F4-A926-540D4B90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FC5F7-808C-4942-B0F8-3F566847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Closed space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540185-2D61-49A8-B86C-FB60CA40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897D2A-256C-4774-8ED8-49968526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C9482D-2CBC-4E35-988D-22BA6EFB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Protection</a:t>
            </a:r>
          </a:p>
        </p:txBody>
      </p:sp>
    </p:spTree>
    <p:extLst>
      <p:ext uri="{BB962C8B-B14F-4D97-AF65-F5344CB8AC3E}">
        <p14:creationId xmlns:p14="http://schemas.microsoft.com/office/powerpoint/2010/main" val="1707287141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203CF6-4093-4BF6-B545-35E985CC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4D030-5F03-4CD4-9DA4-53BE6410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VCI for computer circuit boards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EDFA0-FB52-4A30-898D-2211B50A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Explain syllabus application.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727EC6-A985-41FE-8A37-3C8F1C86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9AFD1-75EE-4513-B2F9-0E16F19F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0BF28-6895-4B68-B5D8-8F2355E4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83DBBE-DB53-49EF-8635-51134C27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VCI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02AFF-C088-438E-8F7F-17B8B33AA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FA329-381B-4655-8E59-2E9CA964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3C1079-DBC6-4153-8925-C94535D6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Place VCI source in package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404215-D5AD-4FFE-A9B6-DB1570A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606840-5B58-412D-A0E9-5B88DD9F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71A3E-086A-4C3E-918E-8E5EC43D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Inhibitor vapour fills enclosure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D2FD00-508A-4159-929F-56059658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8C101-DA93-4A46-B7EB-BB03379D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D8E045-4388-468F-A75C-38730335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Molecules adsorb on metal tracks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83242-55AF-421E-8767-64DB091C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BF6D49-9C83-43F4-952A-33F552F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F8E3C3-EE4F-48BF-9FD5-40B2C730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Moisture attack is reduced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97CEC-93B2-4EE7-BAB6-3E3EA243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FB864-3D7D-42D6-BEE2-1F17E6A9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9F586F-EF6F-4F69-A2E2-AB70835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Circuit board is protected during storage</a:t>
            </a:r>
          </a:p>
        </p:txBody>
      </p:sp>
    </p:spTree>
    <p:extLst>
      <p:ext uri="{BB962C8B-B14F-4D97-AF65-F5344CB8AC3E}">
        <p14:creationId xmlns:p14="http://schemas.microsoft.com/office/powerpoint/2010/main" val="1733141008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19C4E2-DD73-4D39-BB76-41F0347F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818A1-8E30-4C98-8AC5-29AAD18F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Galvanization, anodization and VCI compared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E8CD5F-13A5-4BA0-8369-970DB8DDE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Help students separate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C1B47-510D-4C73-B483-F1DCF1F1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13C66-5CA1-4977-A7E4-83CCD25F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18402A-9B13-4CD3-8097-0AE79D3A3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B7933-568D-48B0-81CF-4432CB8B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Control Revision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1B87F-47C5-4DAD-BF62-8993787B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DD9395-E097-4A4B-9BC3-772598AF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0792F3-8F5D-41E2-91FE-1B09D87C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69D4D-B86A-4EF5-B3E7-9580682B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0302DC-9015-4282-9C7A-4DE2EEC2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Protective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ADEE09-4EEE-4045-956D-1B90EF88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43050"/>
            <a:ext cx="3581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B5582B-DB3D-446E-9B8A-FE3160FA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76400"/>
            <a:ext cx="3390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6131D"/>
                </a:solidFill>
              </a:defRPr>
            </a:pPr>
            <a:r>
              <a:rPr sz="1275" b="1">
                <a:solidFill>
                  <a:srgbClr val="06131D"/>
                </a:solidFill>
              </a:rPr>
              <a:t>Best example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0DEA2D-C8B2-4A2D-AD59-90CBF250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15B489-7B5A-4A70-91E3-D6B01EB3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Galvanization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9B1D3-4F85-40A0-992D-7C657254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8F948-E885-4E93-AA92-08467B41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Zinc barrier plus sacrificial action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1E0AF-70F0-402C-B6AB-5ABD6984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764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0285F0-8262-4428-A9C4-F455720FD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Steel sheets, pipes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A3BBE-D170-46F5-9922-CED9286C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4D7C0-CFC1-4327-8A59-495FDB1E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Anodization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BF5592-62B8-4A88-B290-C2B45197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EE407-90AB-45B5-B1E1-973BC2A2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Thick oxide layer on metal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DEE995-000B-4213-AEA5-F2BE12F8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860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02D554-1FBD-4029-812A-BDDAE340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Aluminium device parts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18D4DB-E7BD-40A1-82A8-44C37878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F99960-B2B5-41FF-AB0A-96ED604B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VCI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485E75-95DE-48BE-ACFE-A0BED381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D20EA8-505F-4E5F-9B12-12E4F5CA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Protective vapour film in enclosure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58EF81-BDFC-4D87-AA19-DF2DEE15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95650"/>
            <a:ext cx="35814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F244D-64F8-458F-972D-E1C450B0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90900"/>
            <a:ext cx="3390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B9C9D6"/>
                </a:solidFill>
              </a:defRPr>
            </a:pPr>
            <a:r>
              <a:rPr sz="1050">
                <a:solidFill>
                  <a:srgbClr val="B9C9D6"/>
                </a:solidFill>
              </a:rPr>
              <a:t>Computer circuit boards</a:t>
            </a:r>
          </a:p>
        </p:txBody>
      </p:sp>
    </p:spTree>
    <p:extLst>
      <p:ext uri="{BB962C8B-B14F-4D97-AF65-F5344CB8AC3E}">
        <p14:creationId xmlns:p14="http://schemas.microsoft.com/office/powerpoint/2010/main" val="129836662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19D43E-E1BD-467E-90C6-2FED8FF2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B9509-2614-49E0-AC69-AA9B347A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Corrosion penetration 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FBE6C8-AB0D-4300-ACB2-37F28C26F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Define CPR.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2B58F-425E-4CFD-94F0-00DC6BF0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454C5-9677-49AB-8E05-0966B8752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1ED3B-1EAE-4C2E-9B50-5A3A3AD60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F785E9-D46C-40D9-AD7B-F90AA227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36557F-227B-4510-8649-5DC6AF75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1F1DB2-A86B-4B3A-8BC0-8E166112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38300"/>
            <a:ext cx="781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9F1C"/>
                </a:solidFill>
              </a:defRPr>
            </a:pPr>
            <a:r>
              <a:rPr sz="3300" b="1">
                <a:solidFill>
                  <a:srgbClr val="FF9F1C"/>
                </a:solidFill>
              </a:rPr>
              <a:t>CPR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B8631-9784-4642-BF8F-E4454F92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10144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F8FBFF"/>
                </a:solidFill>
              </a:defRPr>
            </a:pPr>
            <a:r>
              <a:rPr sz="2025">
                <a:solidFill>
                  <a:srgbClr val="F8FBFF"/>
                </a:solidFill>
              </a:rPr>
              <a:t>Corrosion penetration rate expresses how fast corrosion penetrates into a metal surface, usually as thickness loss per unit time.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AF596D-D7A3-4E00-B47D-DD57DC8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8A5DF9-6EAC-4D61-95E7-AA3C6E00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Thickness 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D1935-CF82-4407-AF31-75433413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986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E4430-E80F-410A-9468-B15CEFD1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1F13C6-4FD2-4BF2-87FC-AE1512D0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D032CF-129B-4298-AE46-0E66F1BB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917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95D4E9-6211-4EFC-9CEF-E8E23764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02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5079F5-AEAC-4294-97F8-3491555D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827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Weight loss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F65A85-EE76-4817-AA10-13D7CB4B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48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47BE3D-5EF0-4E82-AA0C-8723C8F4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233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28838D-BB13-482B-AF05-2AC197D5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758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Area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6A34CD-FF27-459D-B700-A1CB30F1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7790" y="4800600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E1377-FED3-436A-AF8B-EF297046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495800"/>
            <a:ext cx="16992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78D72B-37A2-41E3-87E5-8CCE062F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648200"/>
            <a:ext cx="15087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759400837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402163-49C4-45F1-BDC8-B97B6AFA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32743B-CE1D-46FB-A94E-49454F61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CPR formula and units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1B968C-D454-4812-A6E7-DF6CDFB4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numerical formula.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A2F3E1-1B18-4718-8C56-479DB16D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813AF-1FB5-4C32-BCAA-3AD8E7A2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A94A1-029F-476F-AB9A-B082EB4C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6BA4B-2C74-4B16-B1E8-608FE0D7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5FD63-90B1-4CA2-898E-628285C0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3AFD4-6F85-46C2-A851-912D387B1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2793F9-19DD-4B26-89D2-2CE8C719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CPR = K W / (D A 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W = weight loss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D = density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A = exposed area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T = exposure time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K = unit constant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762794-53E2-4371-9FB8-2E403DB4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0DBED-8E5D-4B83-9091-2384AE44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C4CC1-9407-415B-9383-3CFABC77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CPR formula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B967E9-59F0-4E16-BDB3-197457CF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symbols, substitute values with units, and state the practical meaning of the result.</a:t>
            </a:r>
          </a:p>
        </p:txBody>
      </p:sp>
    </p:spTree>
    <p:extLst>
      <p:ext uri="{BB962C8B-B14F-4D97-AF65-F5344CB8AC3E}">
        <p14:creationId xmlns:p14="http://schemas.microsoft.com/office/powerpoint/2010/main" val="1941879211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E6E90-4A4A-415D-9EB1-6D438D20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2E222-FC1B-4A7C-9D83-D83E9DE4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CPR numerical method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0E2013-43A4-4762-90F2-110460CC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Show problem-solving steps.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1334A-95E7-431B-9740-625A302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73992-6EC2-41F3-9116-4AEB75F4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38955-DEA3-44BF-9FC9-A0DFF70E9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03017D-FB3E-4D59-9E32-AB8A2C01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679F9B-D3D5-4021-AC57-60B8B15C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A71BD-2A2C-43B5-8D93-88C744B31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B91E3-F471-4862-8680-FD1DDAD1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Write given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300562-99E7-43F5-A547-7A240F20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A68A99-922D-4911-A6D9-9E73F2F3C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D84AC-4112-435F-95F9-7E164CF7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Convert units consistently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B24B27-3B65-48F4-B68A-C069848D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540D97-6534-4A26-95CE-AA99DB1E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1A1F4-59F3-4E8F-8E9D-D598D945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Choose correct 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9EA53D-1EF6-4612-879C-7B29A9AC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6E5A00-9723-458D-BEF5-9D32DFC5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2B36C6-7D0F-43C0-84C2-40B03284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Substitute in CPR formula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8BE49C-F7EA-481D-97A6-E22068F40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BFC902-2B1D-4D14-8EA7-8C57366E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93C8CA-76E3-4819-B26B-3108D16A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Report penetration rate</a:t>
            </a:r>
          </a:p>
        </p:txBody>
      </p:sp>
    </p:spTree>
    <p:extLst>
      <p:ext uri="{BB962C8B-B14F-4D97-AF65-F5344CB8AC3E}">
        <p14:creationId xmlns:p14="http://schemas.microsoft.com/office/powerpoint/2010/main" val="1383067025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1B8BE3-F1B3-4784-9A5E-659EC75D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87B20D-0593-4E6B-ADDB-EC4B7FAE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Worked CPR template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C92DE-EA9C-49A5-8BCE-32901C94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a compact calculation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6C8E1-6FC8-4252-B634-E09EE735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E86819-B4CF-4531-8CBC-4C599C8C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95748-5B26-46F4-AC88-BC7ABB7E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29682A-8484-4CA7-B8D4-26831473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CPR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C21AA-D367-42E7-9E53-5E55C076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9B2D0F-6B71-44DC-A1F1-9F2E220A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33550"/>
            <a:ext cx="65722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0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64CFA-CE37-4852-B7C8-59D186B3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076450"/>
            <a:ext cx="6000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Given: W, D, A, 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CPR = K W / (D A 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If W increases or area/time decreases,</a:t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CPR becomes larger.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>
                <a:solidFill>
                  <a:srgbClr val="FFBF69"/>
                </a:solidFill>
              </a:defRPr>
            </a:pPr>
            <a:r>
              <a:rPr sz="2175" b="1">
                <a:solidFill>
                  <a:srgbClr val="FFBF69"/>
                </a:solidFill>
              </a:rPr>
              <a:t>Interpret: higher CPR means faster metal loss.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98583-C224-4DFC-83F5-296155FC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F8FC30-E5E0-4D17-8FCA-6006F734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66950"/>
            <a:ext cx="762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C06EE-05CC-4AC2-8C53-1FC1EE43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00300"/>
            <a:ext cx="2781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CPR numerical template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000DE-0DBA-4038-8324-EF23A444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90825"/>
            <a:ext cx="27813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Exam method: write the equation, define symbols, substitute values with units, and state the practical meaning of the result.</a:t>
            </a:r>
          </a:p>
        </p:txBody>
      </p:sp>
    </p:spTree>
    <p:extLst>
      <p:ext uri="{BB962C8B-B14F-4D97-AF65-F5344CB8AC3E}">
        <p14:creationId xmlns:p14="http://schemas.microsoft.com/office/powerpoint/2010/main" val="1862818716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F22191-3717-48E1-881E-990D01B1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80248-A514-485F-ADEB-5B983F94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Common mistakes in Module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A85481-FB75-4898-A696-0DB281F5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Clarify likely errors.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8B89E-98FE-4DD5-B20F-ED83A849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7BFF8-2AA8-4CB1-994B-23B4136E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D5FC47-75FA-4B76-9CD4-41855AE8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06A40A-620E-43C9-BB47-27210352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4D7B7-4576-44D9-8F88-E7A60B4D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42E7A6-A48B-485B-9618-CB88453E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3D126-4F80-4DE6-87F2-2E2C3627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478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0ED87-888F-4B8C-9A08-D8809681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811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Confusing sensor, transducer and actuator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77B06-ABC2-47C0-9DA7-FAC01EB3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130475-6C3A-4D1F-9BE0-BA94A66C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9A696-DC60-427E-B9BC-C993684B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764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Writing sensor construction without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C7FC38-35B3-4A72-A2F6-24D7E8ECB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EB24E-2E58-4A7E-B7DF-92BEFEFE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3C2602-FDE1-40EB-983A-FE560D56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717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Forgetting calibration in colorimetric estimation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D1F5A7-C103-4306-B405-0AE8CF6F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95C49-2F0C-43A6-B859-D2C758B7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337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D5FE0A-0C3E-47E1-9ACC-914A6087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0670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Mixing NOx/SOx gas sensor with biosensor working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5B46E6-B70F-4AD4-AE30-D823B33FD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EC4F44-4B7F-44AF-929D-952E2945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290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3CBEAA-5F71-4145-BC64-2BF266ED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Forgetting that anodic area corrodes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43580D-CA62-4179-BB92-91C5C092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95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9D307-C0D9-442B-B5DA-1FB0B10F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243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A55301-0FC7-4634-A045-7BA2B6AB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Confusing galvanization with anodization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C1D20-F508-4816-AF06-FD5DBEF9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C65F88-5308-4C12-B4E3-C9C2076A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131D"/>
                </a:solidFill>
              </a:defRPr>
            </a:pPr>
            <a:r>
              <a:rPr sz="900" b="1">
                <a:solidFill>
                  <a:srgbClr val="06131D"/>
                </a:solidFill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939CD9-6945-4B00-88E3-C3AFF357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52950"/>
            <a:ext cx="948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8FBFF"/>
                </a:solidFill>
              </a:defRPr>
            </a:pPr>
            <a:r>
              <a:rPr sz="1575">
                <a:solidFill>
                  <a:srgbClr val="F8FBFF"/>
                </a:solidFill>
              </a:rPr>
              <a:t>Solving CPR without consistent units</a:t>
            </a:r>
          </a:p>
        </p:txBody>
      </p:sp>
    </p:spTree>
    <p:extLst>
      <p:ext uri="{BB962C8B-B14F-4D97-AF65-F5344CB8AC3E}">
        <p14:creationId xmlns:p14="http://schemas.microsoft.com/office/powerpoint/2010/main" val="7286769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1A336C-F1B2-42F6-9E90-4C210AA7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51F8A-66A6-4F20-95D7-01E084C0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sensor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6CFA1-B0F1-4329-BCCE-DCF26398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74A7E-0FBC-44AD-BBBD-6933B19B3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271BA-8563-4CC6-BA2C-9F7B8671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C263B5-C951-422B-814F-C8C61D14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C7FD1E-AA77-42FB-A746-118259EE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AD874-97BF-4907-B806-62A9AE7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B45050-8249-4365-B95B-78733C5F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A07211-2031-4CBF-A697-A5C95797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E41307-C271-46ED-BCC8-C7ADC297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AFBE1-368C-4C5A-AA26-B1A47D2B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895F9-F3FE-464C-9350-8BD59A46C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Principle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C4D45-CE1D-4BBB-98A5-BDC6EC6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FB344E-08E8-4DBC-A5D1-C6844DEA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01A78D-537B-44C0-AD56-52AF1399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Construction diagram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F03DD-5085-4FD1-8F17-C46FCFBC6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98691-A530-45DD-819A-DBCF7486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560315-8747-486E-A0CF-18CB9574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Working steps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714013-E608-40CD-8084-B71531268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F8A529-5CF6-459A-B7E6-75A58C62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B3C31E-1497-4CC0-9DB6-B5DACB45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Application and limitations</a:t>
            </a:r>
          </a:p>
        </p:txBody>
      </p:sp>
    </p:spTree>
    <p:extLst>
      <p:ext uri="{BB962C8B-B14F-4D97-AF65-F5344CB8AC3E}">
        <p14:creationId xmlns:p14="http://schemas.microsoft.com/office/powerpoint/2010/main" val="151219875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730260-9A18-4492-8021-1A5999F0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CEDB6-73F8-4BD3-84B8-5E4489B4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How to write a 10-mark corrosion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B6089-52B2-4A21-985B-BCF09EE9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Give a repeatable framework.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BDB07-5A0C-4BA6-BF02-DDA14200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94A40-7888-47BC-A8BB-3B17424A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19E747-79CA-4343-BFD1-50AF0C04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468B2-E124-4810-90C4-8ED348DF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Exam Prep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A5B9F-6EEE-48A3-9FAC-30A2BC01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C9536-C94E-4258-8FF3-6EE66233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495A2-7093-46D8-95E3-BA67C19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Definition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59FE8F-E63B-4847-A6C1-ADE2EB94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128D8-8C3A-491C-B185-C8A56202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9C8A6-EDC6-4C23-B984-B2FD65F9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71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Electrochemical theory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2F4802-4310-4B8E-AFA7-369E8982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D533F-AA9D-4DD5-90EB-9B610C7B9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017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D0381-447A-4348-97E0-6D5A1A49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542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Type / control method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22B40D-7552-4D36-8DD9-61C311D6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03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69B0F3-5D5D-4D1C-93CF-D23B09ED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A75805-D5F7-4826-866E-BE7E1E51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3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Diagram or reactions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F5BEA-9E5B-4F6E-B15D-F5DA2E35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9740" y="3209925"/>
            <a:ext cx="2476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48439C-5C91-48F4-BE51-A74EFA74E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905125"/>
            <a:ext cx="185166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37D4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D79101-12E7-46EA-95C4-574C5BCC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8840" y="3057525"/>
            <a:ext cx="166116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8FBFF"/>
                </a:solidFill>
              </a:defRPr>
            </a:pPr>
            <a:r>
              <a:rPr sz="1275" b="1">
                <a:solidFill>
                  <a:srgbClr val="F8FBFF"/>
                </a:solidFill>
              </a:rPr>
              <a:t>Examples and prevention</a:t>
            </a:r>
          </a:p>
        </p:txBody>
      </p:sp>
    </p:spTree>
    <p:extLst>
      <p:ext uri="{BB962C8B-B14F-4D97-AF65-F5344CB8AC3E}">
        <p14:creationId xmlns:p14="http://schemas.microsoft.com/office/powerpoint/2010/main" val="91247542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81757-00A9-4F88-8328-C963FA725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9CA148-B062-4B27-A7E1-A480D983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Module 4 mind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15F88-D08A-40ED-9276-A9D68904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Connect all syllabus headings.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08AA7-5F9D-420F-8B19-7090ABF6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DF0058-AFAF-4799-BD23-907E8239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39061-0A76-4299-8BFC-F5EE978D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B2773-28BA-4318-808F-4A4E2AB3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E875DC-CD4C-47A4-B6BD-E48CF20B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30FC86-B9EC-40E8-982C-3CC46B5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781300"/>
            <a:ext cx="2590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9665FA-CDF0-4350-86B8-096C2048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86100"/>
            <a:ext cx="213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6131D"/>
                </a:solidFill>
              </a:defRPr>
            </a:pPr>
            <a:r>
              <a:rPr sz="2100" b="1">
                <a:solidFill>
                  <a:srgbClr val="06131D"/>
                </a:solidFill>
              </a:rPr>
              <a:t>Module 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56F5A-587E-497D-9E57-72E4ABE4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7B9D54-B0C1-44D7-9D96-FB325CF3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6682D-598B-4E55-BE64-2038BCC4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Sensors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798FE2-CADF-464F-8221-1AEF0E3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Detect and measure.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4E3178-2E0F-43F7-A8A5-F6219B01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49518-B0A6-4AC5-AAB1-8A605B43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6DDB2B-B26A-4CFE-A553-9F7470E0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145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Conductometric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C8BABA-6DD6-4820-998C-BF46FB3A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050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Acid mixture.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7D288-A3E5-4698-B3B2-1A3B4DC89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2B55BA-5575-4A21-88A3-596BA6FE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669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E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48268-60BB-4817-A061-B7347FD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002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EE8FF"/>
                </a:solidFill>
              </a:defRPr>
            </a:pPr>
            <a:r>
              <a:rPr sz="1650" b="1">
                <a:solidFill>
                  <a:srgbClr val="8EE8FF"/>
                </a:solidFill>
              </a:rPr>
              <a:t>Colorimetric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C8869-19F3-405A-8F78-EC17F02B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907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Copper in PCB.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1DD1D9-9AF7-4C8F-ACDF-943651FF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A284AB-7A39-4A90-8930-979179CF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F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934EE6-DD5C-4D31-8823-9360C1ED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BF69"/>
                </a:solidFill>
              </a:defRPr>
            </a:pPr>
            <a:r>
              <a:rPr sz="1650" b="1">
                <a:solidFill>
                  <a:srgbClr val="FFBF69"/>
                </a:solidFill>
              </a:rPr>
              <a:t>Gas and bio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E98CB5-E1F9-4DC2-B762-7E4F43B8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NOx/SOx and glucose.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6B9114-EAAA-4E26-BE3A-E503D0EB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4CD73D-5A7D-45E7-801E-DF7CB833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85775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4272CB-03FA-4E7F-830F-DB9D0BA0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9110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Corrosion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871C7-8ED3-4CD1-88ED-A5A98334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8162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Electrochemical damage.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BA6148-3EED-4A70-9A75-D3034A20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2724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B4E3AF-74F6-4CD8-8640-53AAE1F3B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457700"/>
            <a:ext cx="76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1BB7E7-3454-4E28-986C-97C96158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91050"/>
            <a:ext cx="2362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Control and CPR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D69D39-A6CC-47CF-B235-D64D6751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81575"/>
            <a:ext cx="2362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Protection and rate.</a:t>
            </a:r>
          </a:p>
        </p:txBody>
      </p:sp>
    </p:spTree>
    <p:extLst>
      <p:ext uri="{BB962C8B-B14F-4D97-AF65-F5344CB8AC3E}">
        <p14:creationId xmlns:p14="http://schemas.microsoft.com/office/powerpoint/2010/main" val="42941889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916065-1F43-4226-91FD-EF5FACA2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07535-1EBD-4891-9031-B2A697F4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20 important 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0ABD5-B0AE-490F-9ABA-7313F159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Rapid oral revision.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ABD84-D28D-485A-B902-2ECA18B5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650ED2-005B-4754-BFD8-C86E1305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40396-1AEF-45B7-9854-7C300773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E61B9-AD3A-4F63-801B-227D9CEF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D0F4BD-250A-4A3E-9DCB-17862CE3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99DB1-D5AE-4406-B317-951B90C8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1. What is a sensor?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9460F-5A17-4C98-8F0C-C55013C1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2. Define transducer.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2462BB-D619-4ED7-ACE5-D4B15ADD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3. Define actuator.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B117E1-11C0-4D20-826F-C0AC396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4. What is conductance?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970520-0844-4A17-AF31-6D51FDB2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5. Principle of conductometric sensor?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3B276-9CA1-452F-9E3A-4A17D423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6. Why use AC in conductometry?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5A490-40A3-42E1-9C1A-2F7F0DF6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7. How is acid mixture estimated?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3BA7B-FAE2-4617-82E6-FB89A485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8. What is colorimetry?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04A3A-F820-476F-BBF9-6DBB1207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9. State Beer-Lambert law.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467ADD-8CFB-45CC-9CB8-FEF79683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10. How is copper estimated in PCB?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DAC601-80AB-4F5B-B91E-0091A3A7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11. What is electrochemical gas sensor?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B36B86-7D19-43A0-802F-8C54569B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12. How are NOx and SOx detected?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04AA0-5E2E-49CB-B4A4-7608EB5B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13. What is biosensor?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C69102-8C5F-4BAF-851F-549A69E2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14. Role of glucose oxidase?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111913-D45A-40E1-BD6D-1BFDE48F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15. Define corrosion.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3151C9-7E2E-4E90-8035-049765E1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16. State electrochemical theory.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0DB926-47A4-45A2-8D5A-FA1E7888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17. What is differential metal corrosion?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0D44B5-B553-468C-9F49-A86C63C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18. What is pitting corrosion?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03118-A2DB-439E-BF01-4800961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95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19. What is galvanization?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F9C6FD-A950-4F38-A29B-08075E68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24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F8FBFF"/>
                </a:solidFill>
              </a:defRPr>
            </a:pPr>
            <a:r>
              <a:rPr sz="1125">
                <a:solidFill>
                  <a:srgbClr val="F8FBFF"/>
                </a:solidFill>
              </a:rPr>
              <a:t>20. Define CPR.</a:t>
            </a:r>
          </a:p>
        </p:txBody>
      </p:sp>
    </p:spTree>
    <p:extLst>
      <p:ext uri="{BB962C8B-B14F-4D97-AF65-F5344CB8AC3E}">
        <p14:creationId xmlns:p14="http://schemas.microsoft.com/office/powerpoint/2010/main" val="55954572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8186E-214D-42C6-96EA-FBFDDEC3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71C33B-0C2B-468C-81A2-D765981A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Important exam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BBCCD6-BACB-42CD-917A-88B9CAE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Provide practice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B0FBA-CE87-497B-8CE5-3CA16E8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19CAD7-78BB-4F4A-9428-747D8185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43662D-C4B9-4931-BFB8-B7351E5F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85E9D-6CD5-46AD-A342-2D137F99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9386A9-F021-4873-9211-B86E236E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A0D452-C6E0-43C4-85F2-D072023B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1. 2M: Define sensor and transducer.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73AB0-CBAD-4585-922A-E628099C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2. 2M: Define actuator.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0C08D3-0F09-46A2-9AF1-BEE0553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3. 2M: Define corrosion.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5D6507-943B-4FD8-9304-29851977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4. 2M: What is CPR?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40D0DC-EE2E-4662-840C-7B46A8125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5. 2M: What is VCI?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9A2C3-F819-4C77-BDD5-CF829B61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6. 5M: Explain conductometric sensor construction and working.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024A2B-B272-40D7-B89A-4903D0055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7. 5M: Explain acid mixture estimation by conductometry.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68770F-439D-4752-8E7C-20442142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672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8. 5M: Explain colorimetric sensor instrumentation.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1F2BF-39E1-4A23-93F3-69462444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668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9. 5M: Explain glucose biosensor working.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AD2822-B481-4267-8D06-22BC7494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10. 5M: Explain electrochemical theory of corrosion.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F664D6-0356-44D8-9BBF-DE0BFBB9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3241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11. 10M: Explain conductometric and colorimetric sensors with applications.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3F21B-7287-4E6F-908E-6EDE28772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5272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12. 10M: Explain electrochemical gas sensor and glucose biosensor.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10D19-A7CC-4B9A-A408-4611D3060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8135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13. 10M: Explain corrosion types: differential metal, waterline and pitting.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694B65-F188-4F57-954F-E49FE58C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09975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14. 10M: Explain galvanization, anodization and VCI protection.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76EC5C-BE77-46AB-B45C-7FFA35F1B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38600"/>
            <a:ext cx="5219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F8FBFF"/>
                </a:solidFill>
              </a:defRPr>
            </a:pPr>
            <a:r>
              <a:rPr sz="1275">
                <a:solidFill>
                  <a:srgbClr val="F8FBFF"/>
                </a:solidFill>
              </a:rPr>
              <a:t>15. 10M: Solve CPR numerical problems with definition and formula.</a:t>
            </a:r>
          </a:p>
        </p:txBody>
      </p:sp>
    </p:spTree>
    <p:extLst>
      <p:ext uri="{BB962C8B-B14F-4D97-AF65-F5344CB8AC3E}">
        <p14:creationId xmlns:p14="http://schemas.microsoft.com/office/powerpoint/2010/main" val="221724267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6131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774A63-A9BE-472A-9EE6-0C954F24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6131D"/>
              </a:gs>
              <a:gs pos="100000">
                <a:srgbClr val="0A2530"/>
              </a:gs>
            </a:gsLst>
            <a:lin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D8340F-6BC7-4494-82D4-5880C209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667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8FBFF"/>
                </a:solidFill>
              </a:defRPr>
            </a:pPr>
            <a:r>
              <a:rPr sz="2700" b="1">
                <a:solidFill>
                  <a:srgbClr val="F8FBFF"/>
                </a:solidFill>
              </a:rPr>
              <a:t>One-page revision sheet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FFB04-743F-45A4-AE58-81DAA5BB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8EE8FF"/>
                </a:solidFill>
              </a:defRPr>
            </a:pPr>
            <a:r>
              <a:rPr sz="1275">
                <a:solidFill>
                  <a:srgbClr val="8EE8FF"/>
                </a:solidFill>
              </a:rPr>
              <a:t>End with compact keywords and answer pattern.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E4E9A-BEBB-4ABE-BB47-4B9F94C4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9906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442B6-0404-405E-BBEB-7ABD8FCA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0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85447-9F81-408E-A7B2-8F8D240C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6294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VTU 1BCHES102/202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E1C391-DE64-4792-B50D-4565DEEC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6629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6F8495"/>
                </a:solidFill>
              </a:defRPr>
            </a:pPr>
            <a:r>
              <a:rPr sz="900">
                <a:solidFill>
                  <a:srgbClr val="6F8495"/>
                </a:solidFill>
              </a:rPr>
              <a:t>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FECD0-57C7-489A-A084-6CAF8626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6294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9D6"/>
                </a:solidFill>
              </a:defRPr>
            </a:pPr>
            <a:r>
              <a:rPr sz="900" b="1">
                <a:solidFill>
                  <a:srgbClr val="B9C9D6"/>
                </a:solidFill>
              </a:rPr>
              <a:t>66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EAAD7-B7D3-4AD3-A450-A8825FDC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107061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1D051-080B-4435-9240-E93A4CA0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762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F1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5A8B9-FF3D-4B4C-B791-46CF8E77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9F1C"/>
                </a:solidFill>
              </a:defRPr>
            </a:pPr>
            <a:r>
              <a:rPr sz="1650" b="1">
                <a:solidFill>
                  <a:srgbClr val="FF9F1C"/>
                </a:solidFill>
              </a:rPr>
              <a:t>Keywords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0C26A-BB12-478F-A60B-8EC4C33C1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05025"/>
            <a:ext cx="10344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Sensor; transducer; actuator; analyte; sensing element; signal conditioning; conductance; conductometric titration; acid mixture; colorimetry; absorbance; Beer-Lambert law; calibration curve; copper estimation; PCB; electrochemical gas sensor; working electrode; counter electrode; reference electrode; NOx; SOx; biosensor; bioreceptor; glucose oxidase; biofluids; corrosion; electrochemical theory; anode; cathode; electrolyte; differential metal corrosion; differential aeration corrosion; waterline corrosion; pitting corrosion; galvanization; zinc coating; anodization; oxide layer; vapour corrosion inhibitor; circuit board protection; corrosion penetration rate; CPR formula.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C7181F-DB81-4E67-AF58-094C5925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107061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07DE26-B3FD-41B8-AC6A-6E51AA59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90950"/>
            <a:ext cx="76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6D2B1-D0E5-4773-A0D0-DB52FC99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D4FF"/>
                </a:solidFill>
              </a:defRPr>
            </a:pPr>
            <a:r>
              <a:rPr sz="1650" b="1">
                <a:solidFill>
                  <a:srgbClr val="37D4FF"/>
                </a:solidFill>
              </a:rPr>
              <a:t>Exam answer pattern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17757-B52D-47DA-A493-8F496C70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For sensors: principle, construction, working, application. For corrosion: theory, type/control, reactions or diagram, examples, CPR formula if numerical.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271E63-A716-4A8B-8B85-4051FB84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7061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D2431"/>
          </a:solidFill>
          <a:ln xmlns:a="http://schemas.openxmlformats.org/drawingml/2006/main" w="9525">
            <a:solidFill>
              <a:srgbClr val="28506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598754-F7AF-4940-9D91-2F5158C9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76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C4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635A2D-919F-4315-A22F-BBF07623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76850"/>
            <a:ext cx="1034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EC4B6"/>
                </a:solidFill>
              </a:defRPr>
            </a:pPr>
            <a:r>
              <a:rPr sz="1650" b="1">
                <a:solidFill>
                  <a:srgbClr val="2EC4B6"/>
                </a:solidFill>
              </a:rPr>
              <a:t>Memory trick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EFE2A9-8A15-4D95-88C3-7E038907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67375"/>
            <a:ext cx="1034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B9C9D6"/>
                </a:solidFill>
              </a:defRPr>
            </a:pPr>
            <a:r>
              <a:rPr sz="1275">
                <a:solidFill>
                  <a:srgbClr val="B9C9D6"/>
                </a:solidFill>
              </a:rPr>
              <a:t>Sensors convert chemical information into signals; corrosion converts useful metal into corrosion product. Track the direction of conversion.</a:t>
            </a:r>
          </a:p>
        </p:txBody>
      </p:sp>
    </p:spTree>
    <p:extLst>
      <p:ext uri="{BB962C8B-B14F-4D97-AF65-F5344CB8AC3E}">
        <p14:creationId xmlns:p14="http://schemas.microsoft.com/office/powerpoint/2010/main" val="7752099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2026-08-12T04:44:14.6410000Z</dcterms:created>
  <dcterms:modified xsi:type="dcterms:W3CDTF">2026-08-12T04:44:14.6410000Z</dcterms:modified>
</coreProperties>
</file>