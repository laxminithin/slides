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  <Override PartName="/ppt/slides/slide41.xml" ContentType="application/vnd.openxmlformats-officedocument.presentationml.slide+xml"/>
  <Override PartName="/ppt/notesSlides/notesSlide41.xml" ContentType="application/vnd.openxmlformats-officedocument.presentationml.notesSlide+xml"/>
  <Override PartName="/ppt/slides/slide42.xml" ContentType="application/vnd.openxmlformats-officedocument.presentationml.slide+xml"/>
  <Override PartName="/ppt/notesSlides/notesSlide42.xml" ContentType="application/vnd.openxmlformats-officedocument.presentationml.notesSlide+xml"/>
  <Override PartName="/ppt/slides/slide43.xml" ContentType="application/vnd.openxmlformats-officedocument.presentationml.slide+xml"/>
  <Override PartName="/ppt/notesSlides/notesSlide43.xml" ContentType="application/vnd.openxmlformats-officedocument.presentationml.notesSlide+xml"/>
  <Override PartName="/ppt/slides/slide44.xml" ContentType="application/vnd.openxmlformats-officedocument.presentationml.slide+xml"/>
  <Override PartName="/ppt/notesSlides/notesSlide44.xml" ContentType="application/vnd.openxmlformats-officedocument.presentationml.notesSlide+xml"/>
  <Override PartName="/ppt/slides/slide45.xml" ContentType="application/vnd.openxmlformats-officedocument.presentationml.slide+xml"/>
  <Override PartName="/ppt/notesSlides/notesSlide45.xml" ContentType="application/vnd.openxmlformats-officedocument.presentationml.notesSlide+xml"/>
  <Override PartName="/ppt/slides/slide46.xml" ContentType="application/vnd.openxmlformats-officedocument.presentationml.slide+xml"/>
  <Override PartName="/ppt/notesSlides/notesSlide46.xml" ContentType="application/vnd.openxmlformats-officedocument.presentationml.notesSlide+xml"/>
  <Override PartName="/ppt/slides/slide47.xml" ContentType="application/vnd.openxmlformats-officedocument.presentationml.slide+xml"/>
  <Override PartName="/ppt/notesSlides/notesSlide47.xml" ContentType="application/vnd.openxmlformats-officedocument.presentationml.notesSlide+xml"/>
  <Override PartName="/ppt/slides/slide48.xml" ContentType="application/vnd.openxmlformats-officedocument.presentationml.slide+xml"/>
  <Override PartName="/ppt/notesSlides/notesSlide48.xml" ContentType="application/vnd.openxmlformats-officedocument.presentationml.notesSlide+xml"/>
  <Override PartName="/ppt/slides/slide49.xml" ContentType="application/vnd.openxmlformats-officedocument.presentationml.slide+xml"/>
  <Override PartName="/ppt/notesSlides/notesSlide4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b4d25418749b4b33" /><Relationship Type="http://schemas.openxmlformats.org/officeDocument/2006/relationships/extended-properties" Target="/docProps/app.xml" Id="Rc7faf75ff80e445b" /><Relationship Type="http://schemas.openxmlformats.org/officeDocument/2006/relationships/officeDocument" Target="/ppt/presentation.xml" Id="R9ebf8245f7a6435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d52067030be4cc4"/>
  </p:sldMasterIdLst>
  <p:notesMasterIdLst>
    <p:notesMasterId xmlns:r="http://schemas.openxmlformats.org/officeDocument/2006/relationships" r:id="R4b3f747b83104893"/>
  </p:notesMasterIdLst>
  <p:sldIdLst>
    <p:sldId xmlns:r="http://schemas.openxmlformats.org/officeDocument/2006/relationships" id="256" r:id="R4458f48e36e841a6"/>
    <p:sldId xmlns:r="http://schemas.openxmlformats.org/officeDocument/2006/relationships" id="257" r:id="R6a9ffe8d319f4ace"/>
    <p:sldId xmlns:r="http://schemas.openxmlformats.org/officeDocument/2006/relationships" id="258" r:id="R0e19dbec7c644242"/>
    <p:sldId xmlns:r="http://schemas.openxmlformats.org/officeDocument/2006/relationships" id="259" r:id="R0df4f714d2f24fd2"/>
    <p:sldId xmlns:r="http://schemas.openxmlformats.org/officeDocument/2006/relationships" id="260" r:id="R92e2acc4b323495e"/>
    <p:sldId xmlns:r="http://schemas.openxmlformats.org/officeDocument/2006/relationships" id="261" r:id="Rc3fcf84f7a464cb1"/>
    <p:sldId xmlns:r="http://schemas.openxmlformats.org/officeDocument/2006/relationships" id="262" r:id="R9611b31ca8fa4dcb"/>
    <p:sldId xmlns:r="http://schemas.openxmlformats.org/officeDocument/2006/relationships" id="263" r:id="R6f4ff7ddda404af8"/>
    <p:sldId xmlns:r="http://schemas.openxmlformats.org/officeDocument/2006/relationships" id="264" r:id="R3b7410beb9db4a78"/>
    <p:sldId xmlns:r="http://schemas.openxmlformats.org/officeDocument/2006/relationships" id="265" r:id="R42a25ce934154e27"/>
    <p:sldId xmlns:r="http://schemas.openxmlformats.org/officeDocument/2006/relationships" id="266" r:id="R40722133f4c14102"/>
    <p:sldId xmlns:r="http://schemas.openxmlformats.org/officeDocument/2006/relationships" id="267" r:id="R4906121e612c418e"/>
    <p:sldId xmlns:r="http://schemas.openxmlformats.org/officeDocument/2006/relationships" id="268" r:id="R776f8d9a458549d8"/>
    <p:sldId xmlns:r="http://schemas.openxmlformats.org/officeDocument/2006/relationships" id="269" r:id="Rd04f57ed392140fc"/>
    <p:sldId xmlns:r="http://schemas.openxmlformats.org/officeDocument/2006/relationships" id="270" r:id="Rfb32b7aec8aa4783"/>
    <p:sldId xmlns:r="http://schemas.openxmlformats.org/officeDocument/2006/relationships" id="271" r:id="Rd8f485874955451d"/>
    <p:sldId xmlns:r="http://schemas.openxmlformats.org/officeDocument/2006/relationships" id="272" r:id="Rdc4874d2525546f8"/>
    <p:sldId xmlns:r="http://schemas.openxmlformats.org/officeDocument/2006/relationships" id="273" r:id="R6840f9fa28f04575"/>
    <p:sldId xmlns:r="http://schemas.openxmlformats.org/officeDocument/2006/relationships" id="274" r:id="Rc34a050df72c4311"/>
    <p:sldId xmlns:r="http://schemas.openxmlformats.org/officeDocument/2006/relationships" id="275" r:id="R097302e864c74a80"/>
    <p:sldId xmlns:r="http://schemas.openxmlformats.org/officeDocument/2006/relationships" id="276" r:id="Rb95b5faa046e4756"/>
    <p:sldId xmlns:r="http://schemas.openxmlformats.org/officeDocument/2006/relationships" id="277" r:id="R7647c769579b4d6d"/>
    <p:sldId xmlns:r="http://schemas.openxmlformats.org/officeDocument/2006/relationships" id="278" r:id="Ra4caac5d7fe94d20"/>
    <p:sldId xmlns:r="http://schemas.openxmlformats.org/officeDocument/2006/relationships" id="279" r:id="R8ad7877589de465d"/>
    <p:sldId xmlns:r="http://schemas.openxmlformats.org/officeDocument/2006/relationships" id="280" r:id="Rae474817f12b4b26"/>
    <p:sldId xmlns:r="http://schemas.openxmlformats.org/officeDocument/2006/relationships" id="281" r:id="R2c6544b9a96f4922"/>
    <p:sldId xmlns:r="http://schemas.openxmlformats.org/officeDocument/2006/relationships" id="282" r:id="R8e50180b3a984a08"/>
    <p:sldId xmlns:r="http://schemas.openxmlformats.org/officeDocument/2006/relationships" id="283" r:id="Re04e839ad3bb49b8"/>
    <p:sldId xmlns:r="http://schemas.openxmlformats.org/officeDocument/2006/relationships" id="284" r:id="R5a3a0cc13c1842cd"/>
    <p:sldId xmlns:r="http://schemas.openxmlformats.org/officeDocument/2006/relationships" id="285" r:id="Rd194b7446e354e54"/>
    <p:sldId xmlns:r="http://schemas.openxmlformats.org/officeDocument/2006/relationships" id="286" r:id="Rc5e52b4f634244a0"/>
    <p:sldId xmlns:r="http://schemas.openxmlformats.org/officeDocument/2006/relationships" id="287" r:id="R2fb376b8bdba4fa3"/>
    <p:sldId xmlns:r="http://schemas.openxmlformats.org/officeDocument/2006/relationships" id="288" r:id="R8e037b93ac214450"/>
    <p:sldId xmlns:r="http://schemas.openxmlformats.org/officeDocument/2006/relationships" id="289" r:id="R4fe949b863714bdc"/>
    <p:sldId xmlns:r="http://schemas.openxmlformats.org/officeDocument/2006/relationships" id="290" r:id="R6fa49e53fd3947dd"/>
    <p:sldId xmlns:r="http://schemas.openxmlformats.org/officeDocument/2006/relationships" id="291" r:id="R71410d734e5041a5"/>
    <p:sldId xmlns:r="http://schemas.openxmlformats.org/officeDocument/2006/relationships" id="292" r:id="R0969f52c35954541"/>
    <p:sldId xmlns:r="http://schemas.openxmlformats.org/officeDocument/2006/relationships" id="293" r:id="Rcc8321742b5a4d78"/>
    <p:sldId xmlns:r="http://schemas.openxmlformats.org/officeDocument/2006/relationships" id="294" r:id="R046734e659c14c7f"/>
    <p:sldId xmlns:r="http://schemas.openxmlformats.org/officeDocument/2006/relationships" id="295" r:id="R9018dba726a849f6"/>
    <p:sldId xmlns:r="http://schemas.openxmlformats.org/officeDocument/2006/relationships" id="296" r:id="Rb97e648eb18a4291"/>
    <p:sldId xmlns:r="http://schemas.openxmlformats.org/officeDocument/2006/relationships" id="297" r:id="Rec22fdef678340d7"/>
    <p:sldId xmlns:r="http://schemas.openxmlformats.org/officeDocument/2006/relationships" id="298" r:id="R5d8d105563424a91"/>
    <p:sldId xmlns:r="http://schemas.openxmlformats.org/officeDocument/2006/relationships" id="299" r:id="R72e277e95c3c4592"/>
    <p:sldId xmlns:r="http://schemas.openxmlformats.org/officeDocument/2006/relationships" id="300" r:id="Red604afdbc1f4ec8"/>
    <p:sldId xmlns:r="http://schemas.openxmlformats.org/officeDocument/2006/relationships" id="301" r:id="R321472c345df4a88"/>
    <p:sldId xmlns:r="http://schemas.openxmlformats.org/officeDocument/2006/relationships" id="302" r:id="R9c47dd8e84c74363"/>
    <p:sldId xmlns:r="http://schemas.openxmlformats.org/officeDocument/2006/relationships" id="303" r:id="R442ca30dd003494c"/>
    <p:sldId xmlns:r="http://schemas.openxmlformats.org/officeDocument/2006/relationships" id="304" r:id="Ra45c04457eba478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b945bb2977cf4cf0" /><Relationship Type="http://schemas.openxmlformats.org/officeDocument/2006/relationships/slideMaster" Target="/ppt/slideMasters/slideMaster1.xml" Id="R6d52067030be4cc4" /><Relationship Type="http://schemas.openxmlformats.org/officeDocument/2006/relationships/notesMaster" Target="/ppt/notesMasters/notesMaster1.xml" Id="R4b3f747b83104893" /><Relationship Type="http://schemas.openxmlformats.org/officeDocument/2006/relationships/presProps" Target="/ppt/presProps.xml" Id="Rbc8e3b6db8124986" /><Relationship Type="http://schemas.openxmlformats.org/officeDocument/2006/relationships/tableStyles" Target="/ppt/tableStyles.xml" Id="R0bfdecf04b7f4879" /><Relationship Type="http://schemas.openxmlformats.org/officeDocument/2006/relationships/slide" Target="/ppt/slides/slide1.xml" Id="R4458f48e36e841a6" /><Relationship Type="http://schemas.openxmlformats.org/officeDocument/2006/relationships/slide" Target="/ppt/slides/slide2.xml" Id="R6a9ffe8d319f4ace" /><Relationship Type="http://schemas.openxmlformats.org/officeDocument/2006/relationships/slide" Target="/ppt/slides/slide3.xml" Id="R0e19dbec7c644242" /><Relationship Type="http://schemas.openxmlformats.org/officeDocument/2006/relationships/slide" Target="/ppt/slides/slide4.xml" Id="R0df4f714d2f24fd2" /><Relationship Type="http://schemas.openxmlformats.org/officeDocument/2006/relationships/slide" Target="/ppt/slides/slide5.xml" Id="R92e2acc4b323495e" /><Relationship Type="http://schemas.openxmlformats.org/officeDocument/2006/relationships/slide" Target="/ppt/slides/slide6.xml" Id="Rc3fcf84f7a464cb1" /><Relationship Type="http://schemas.openxmlformats.org/officeDocument/2006/relationships/slide" Target="/ppt/slides/slide7.xml" Id="R9611b31ca8fa4dcb" /><Relationship Type="http://schemas.openxmlformats.org/officeDocument/2006/relationships/slide" Target="/ppt/slides/slide8.xml" Id="R6f4ff7ddda404af8" /><Relationship Type="http://schemas.openxmlformats.org/officeDocument/2006/relationships/slide" Target="/ppt/slides/slide9.xml" Id="R3b7410beb9db4a78" /><Relationship Type="http://schemas.openxmlformats.org/officeDocument/2006/relationships/slide" Target="/ppt/slides/slide10.xml" Id="R42a25ce934154e27" /><Relationship Type="http://schemas.openxmlformats.org/officeDocument/2006/relationships/slide" Target="/ppt/slides/slide11.xml" Id="R40722133f4c14102" /><Relationship Type="http://schemas.openxmlformats.org/officeDocument/2006/relationships/slide" Target="/ppt/slides/slide12.xml" Id="R4906121e612c418e" /><Relationship Type="http://schemas.openxmlformats.org/officeDocument/2006/relationships/slide" Target="/ppt/slides/slide13.xml" Id="R776f8d9a458549d8" /><Relationship Type="http://schemas.openxmlformats.org/officeDocument/2006/relationships/slide" Target="/ppt/slides/slide14.xml" Id="Rd04f57ed392140fc" /><Relationship Type="http://schemas.openxmlformats.org/officeDocument/2006/relationships/slide" Target="/ppt/slides/slide15.xml" Id="Rfb32b7aec8aa4783" /><Relationship Type="http://schemas.openxmlformats.org/officeDocument/2006/relationships/slide" Target="/ppt/slides/slide16.xml" Id="Rd8f485874955451d" /><Relationship Type="http://schemas.openxmlformats.org/officeDocument/2006/relationships/slide" Target="/ppt/slides/slide17.xml" Id="Rdc4874d2525546f8" /><Relationship Type="http://schemas.openxmlformats.org/officeDocument/2006/relationships/slide" Target="/ppt/slides/slide18.xml" Id="R6840f9fa28f04575" /><Relationship Type="http://schemas.openxmlformats.org/officeDocument/2006/relationships/slide" Target="/ppt/slides/slide19.xml" Id="Rc34a050df72c4311" /><Relationship Type="http://schemas.openxmlformats.org/officeDocument/2006/relationships/slide" Target="/ppt/slides/slide20.xml" Id="R097302e864c74a80" /><Relationship Type="http://schemas.openxmlformats.org/officeDocument/2006/relationships/slide" Target="/ppt/slides/slide21.xml" Id="Rb95b5faa046e4756" /><Relationship Type="http://schemas.openxmlformats.org/officeDocument/2006/relationships/slide" Target="/ppt/slides/slide22.xml" Id="R7647c769579b4d6d" /><Relationship Type="http://schemas.openxmlformats.org/officeDocument/2006/relationships/slide" Target="/ppt/slides/slide23.xml" Id="Ra4caac5d7fe94d20" /><Relationship Type="http://schemas.openxmlformats.org/officeDocument/2006/relationships/slide" Target="/ppt/slides/slide24.xml" Id="R8ad7877589de465d" /><Relationship Type="http://schemas.openxmlformats.org/officeDocument/2006/relationships/slide" Target="/ppt/slides/slide25.xml" Id="Rae474817f12b4b26" /><Relationship Type="http://schemas.openxmlformats.org/officeDocument/2006/relationships/slide" Target="/ppt/slides/slide26.xml" Id="R2c6544b9a96f4922" /><Relationship Type="http://schemas.openxmlformats.org/officeDocument/2006/relationships/slide" Target="/ppt/slides/slide27.xml" Id="R8e50180b3a984a08" /><Relationship Type="http://schemas.openxmlformats.org/officeDocument/2006/relationships/slide" Target="/ppt/slides/slide28.xml" Id="Re04e839ad3bb49b8" /><Relationship Type="http://schemas.openxmlformats.org/officeDocument/2006/relationships/slide" Target="/ppt/slides/slide29.xml" Id="R5a3a0cc13c1842cd" /><Relationship Type="http://schemas.openxmlformats.org/officeDocument/2006/relationships/slide" Target="/ppt/slides/slide30.xml" Id="Rd194b7446e354e54" /><Relationship Type="http://schemas.openxmlformats.org/officeDocument/2006/relationships/slide" Target="/ppt/slides/slide31.xml" Id="Rc5e52b4f634244a0" /><Relationship Type="http://schemas.openxmlformats.org/officeDocument/2006/relationships/slide" Target="/ppt/slides/slide32.xml" Id="R2fb376b8bdba4fa3" /><Relationship Type="http://schemas.openxmlformats.org/officeDocument/2006/relationships/slide" Target="/ppt/slides/slide33.xml" Id="R8e037b93ac214450" /><Relationship Type="http://schemas.openxmlformats.org/officeDocument/2006/relationships/slide" Target="/ppt/slides/slide34.xml" Id="R4fe949b863714bdc" /><Relationship Type="http://schemas.openxmlformats.org/officeDocument/2006/relationships/slide" Target="/ppt/slides/slide35.xml" Id="R6fa49e53fd3947dd" /><Relationship Type="http://schemas.openxmlformats.org/officeDocument/2006/relationships/slide" Target="/ppt/slides/slide36.xml" Id="R71410d734e5041a5" /><Relationship Type="http://schemas.openxmlformats.org/officeDocument/2006/relationships/slide" Target="/ppt/slides/slide37.xml" Id="R0969f52c35954541" /><Relationship Type="http://schemas.openxmlformats.org/officeDocument/2006/relationships/slide" Target="/ppt/slides/slide38.xml" Id="Rcc8321742b5a4d78" /><Relationship Type="http://schemas.openxmlformats.org/officeDocument/2006/relationships/slide" Target="/ppt/slides/slide39.xml" Id="R046734e659c14c7f" /><Relationship Type="http://schemas.openxmlformats.org/officeDocument/2006/relationships/slide" Target="/ppt/slides/slide40.xml" Id="R9018dba726a849f6" /><Relationship Type="http://schemas.openxmlformats.org/officeDocument/2006/relationships/slide" Target="/ppt/slides/slide41.xml" Id="Rb97e648eb18a4291" /><Relationship Type="http://schemas.openxmlformats.org/officeDocument/2006/relationships/slide" Target="/ppt/slides/slide42.xml" Id="Rec22fdef678340d7" /><Relationship Type="http://schemas.openxmlformats.org/officeDocument/2006/relationships/slide" Target="/ppt/slides/slide43.xml" Id="R5d8d105563424a91" /><Relationship Type="http://schemas.openxmlformats.org/officeDocument/2006/relationships/slide" Target="/ppt/slides/slide44.xml" Id="R72e277e95c3c4592" /><Relationship Type="http://schemas.openxmlformats.org/officeDocument/2006/relationships/slide" Target="/ppt/slides/slide45.xml" Id="Red604afdbc1f4ec8" /><Relationship Type="http://schemas.openxmlformats.org/officeDocument/2006/relationships/slide" Target="/ppt/slides/slide46.xml" Id="R321472c345df4a88" /><Relationship Type="http://schemas.openxmlformats.org/officeDocument/2006/relationships/slide" Target="/ppt/slides/slide47.xml" Id="R9c47dd8e84c74363" /><Relationship Type="http://schemas.openxmlformats.org/officeDocument/2006/relationships/slide" Target="/ppt/slides/slide48.xml" Id="R442ca30dd003494c" /><Relationship Type="http://schemas.openxmlformats.org/officeDocument/2006/relationships/slide" Target="/ppt/slides/slide49.xml" Id="Ra45c04457eba478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bd42c3b9b25434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304bce8fe0c4416" /><Relationship Type="http://schemas.openxmlformats.org/officeDocument/2006/relationships/notesMaster" Target="/ppt/notesMasters/notesMaster1.xml" Id="R709af3d61dcf49d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a7ebbf54d226468c" /><Relationship Type="http://schemas.openxmlformats.org/officeDocument/2006/relationships/notesMaster" Target="/ppt/notesMasters/notesMaster1.xml" Id="R36b92f39db9c424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1d4d949c4644856" /><Relationship Type="http://schemas.openxmlformats.org/officeDocument/2006/relationships/notesMaster" Target="/ppt/notesMasters/notesMaster1.xml" Id="R0be284b5d759420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44bf2792cf04e78" /><Relationship Type="http://schemas.openxmlformats.org/officeDocument/2006/relationships/notesMaster" Target="/ppt/notesMasters/notesMaster1.xml" Id="Re8e6551ad0644d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9dad6d268234442" /><Relationship Type="http://schemas.openxmlformats.org/officeDocument/2006/relationships/notesMaster" Target="/ppt/notesMasters/notesMaster1.xml" Id="R74f009832bfa44a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72b0ea22ad54127" /><Relationship Type="http://schemas.openxmlformats.org/officeDocument/2006/relationships/notesMaster" Target="/ppt/notesMasters/notesMaster1.xml" Id="Rb3ec17a054b1402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b3a8730a05547a3" /><Relationship Type="http://schemas.openxmlformats.org/officeDocument/2006/relationships/notesMaster" Target="/ppt/notesMasters/notesMaster1.xml" Id="R686b2b0d9ec0436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0d983da48b24097" /><Relationship Type="http://schemas.openxmlformats.org/officeDocument/2006/relationships/notesMaster" Target="/ppt/notesMasters/notesMaster1.xml" Id="R1f14c727bbb1448e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156d00e2e73425c" /><Relationship Type="http://schemas.openxmlformats.org/officeDocument/2006/relationships/notesMaster" Target="/ppt/notesMasters/notesMaster1.xml" Id="Rb0593d21da9546e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bcc728ca9e0a4ad3" /><Relationship Type="http://schemas.openxmlformats.org/officeDocument/2006/relationships/notesMaster" Target="/ppt/notesMasters/notesMaster1.xml" Id="Re2f43272d7b0471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35ea8e6b44a4859" /><Relationship Type="http://schemas.openxmlformats.org/officeDocument/2006/relationships/notesMaster" Target="/ppt/notesMasters/notesMaster1.xml" Id="R4aed4a1df4e14a8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9461b1e31b4e55" /><Relationship Type="http://schemas.openxmlformats.org/officeDocument/2006/relationships/notesMaster" Target="/ppt/notesMasters/notesMaster1.xml" Id="R8aa1721726424ad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acda8eb9f72d4fe6" /><Relationship Type="http://schemas.openxmlformats.org/officeDocument/2006/relationships/notesMaster" Target="/ppt/notesMasters/notesMaster1.xml" Id="Rcebe9699900f48d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d333ad5fa29435d" /><Relationship Type="http://schemas.openxmlformats.org/officeDocument/2006/relationships/notesMaster" Target="/ppt/notesMasters/notesMaster1.xml" Id="R95a5acbdcc0e4130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a75c68030ff4254" /><Relationship Type="http://schemas.openxmlformats.org/officeDocument/2006/relationships/notesMaster" Target="/ppt/notesMasters/notesMaster1.xml" Id="R3888e18b530c4bc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6f6212ad0c0f48f3" /><Relationship Type="http://schemas.openxmlformats.org/officeDocument/2006/relationships/notesMaster" Target="/ppt/notesMasters/notesMaster1.xml" Id="Recbff88bdefe4a9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0c1f18f9d4d54059" /><Relationship Type="http://schemas.openxmlformats.org/officeDocument/2006/relationships/notesMaster" Target="/ppt/notesMasters/notesMaster1.xml" Id="Rf1d45eb5abe0409b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49895410df74a48" /><Relationship Type="http://schemas.openxmlformats.org/officeDocument/2006/relationships/notesMaster" Target="/ppt/notesMasters/notesMaster1.xml" Id="Rc09b994d1ff34a2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0ba2220d5f94212" /><Relationship Type="http://schemas.openxmlformats.org/officeDocument/2006/relationships/notesMaster" Target="/ppt/notesMasters/notesMaster1.xml" Id="R762257ecf1b241b3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289c1a981d1e4235" /><Relationship Type="http://schemas.openxmlformats.org/officeDocument/2006/relationships/notesMaster" Target="/ppt/notesMasters/notesMaster1.xml" Id="R3f3b358e2e51406a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eade7c21cf3d47e6" /><Relationship Type="http://schemas.openxmlformats.org/officeDocument/2006/relationships/notesMaster" Target="/ppt/notesMasters/notesMaster1.xml" Id="Rc5bf0abf4f30485d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aeffe01de8194fe4" /><Relationship Type="http://schemas.openxmlformats.org/officeDocument/2006/relationships/notesMaster" Target="/ppt/notesMasters/notesMaster1.xml" Id="Raefe820823dc456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3fa70594afde478b" /><Relationship Type="http://schemas.openxmlformats.org/officeDocument/2006/relationships/notesMaster" Target="/ppt/notesMasters/notesMaster1.xml" Id="R51075c08d5074a50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1d9eab8a19438d" /><Relationship Type="http://schemas.openxmlformats.org/officeDocument/2006/relationships/notesMaster" Target="/ppt/notesMasters/notesMaster1.xml" Id="R254025cbd35f4a06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99139a12f81940c9" /><Relationship Type="http://schemas.openxmlformats.org/officeDocument/2006/relationships/notesMaster" Target="/ppt/notesMasters/notesMaster1.xml" Id="Rbe5e857d2a324436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6bf041a414484f92" /><Relationship Type="http://schemas.openxmlformats.org/officeDocument/2006/relationships/notesMaster" Target="/ppt/notesMasters/notesMaster1.xml" Id="R75f0e11e06e740b5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6e7bcab6897d4951" /><Relationship Type="http://schemas.openxmlformats.org/officeDocument/2006/relationships/notesMaster" Target="/ppt/notesMasters/notesMaster1.xml" Id="Rb8a5a167b8e34f33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2d81194182c14ccf" /><Relationship Type="http://schemas.openxmlformats.org/officeDocument/2006/relationships/notesMaster" Target="/ppt/notesMasters/notesMaster1.xml" Id="Re978ca91c2234243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85bb7c01b2664027" /><Relationship Type="http://schemas.openxmlformats.org/officeDocument/2006/relationships/notesMaster" Target="/ppt/notesMasters/notesMaster1.xml" Id="Rbabfacb0c76f45d2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7aea8792b0c749a8" /><Relationship Type="http://schemas.openxmlformats.org/officeDocument/2006/relationships/notesMaster" Target="/ppt/notesMasters/notesMaster1.xml" Id="Re4754c889b374188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ab800ade454c4312" /><Relationship Type="http://schemas.openxmlformats.org/officeDocument/2006/relationships/notesMaster" Target="/ppt/notesMasters/notesMaster1.xml" Id="Rf1281e7385cc409c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63932349d404b8f" /><Relationship Type="http://schemas.openxmlformats.org/officeDocument/2006/relationships/notesMaster" Target="/ppt/notesMasters/notesMaster1.xml" Id="R4bd59bb5cb494650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aba97b6ec44944b7" /><Relationship Type="http://schemas.openxmlformats.org/officeDocument/2006/relationships/notesMaster" Target="/ppt/notesMasters/notesMaster1.xml" Id="Rcbaaeedbdb584eff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fbc4774ec0c642f2" /><Relationship Type="http://schemas.openxmlformats.org/officeDocument/2006/relationships/notesMaster" Target="/ppt/notesMasters/notesMaster1.xml" Id="R885f1e8f78e64078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9292de6994ac4d29" /><Relationship Type="http://schemas.openxmlformats.org/officeDocument/2006/relationships/notesMaster" Target="/ppt/notesMasters/notesMaster1.xml" Id="Rbb257850f7a941c0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ad1d41fdcec8463b" /><Relationship Type="http://schemas.openxmlformats.org/officeDocument/2006/relationships/notesMaster" Target="/ppt/notesMasters/notesMaster1.xml" Id="Rdd7900fa94ea4550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59813843b0f84972" /><Relationship Type="http://schemas.openxmlformats.org/officeDocument/2006/relationships/notesMaster" Target="/ppt/notesMasters/notesMaster1.xml" Id="Rb4a065a7fe5d46c2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5b87b1a2fa3f44ad" /><Relationship Type="http://schemas.openxmlformats.org/officeDocument/2006/relationships/notesMaster" Target="/ppt/notesMasters/notesMaster1.xml" Id="Rd59fa7397e8d494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155c5b9a41a4c89" /><Relationship Type="http://schemas.openxmlformats.org/officeDocument/2006/relationships/notesMaster" Target="/ppt/notesMasters/notesMaster1.xml" Id="Ra618e6d98cd64195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27fe28ff9ac04af7" /><Relationship Type="http://schemas.openxmlformats.org/officeDocument/2006/relationships/notesMaster" Target="/ppt/notesMasters/notesMaster1.xml" Id="R5ffacf0c6d444f49" /></Relationships>
</file>

<file path=ppt/notesSlides/_rels/notesSlide41.xml.rels>&#65279;<?xml version="1.0" encoding="utf-8"?><Relationships xmlns="http://schemas.openxmlformats.org/package/2006/relationships"><Relationship Type="http://schemas.openxmlformats.org/officeDocument/2006/relationships/slide" Target="/ppt/slides/slide41.xml" Id="R1a12833561d347f8" /><Relationship Type="http://schemas.openxmlformats.org/officeDocument/2006/relationships/notesMaster" Target="/ppt/notesMasters/notesMaster1.xml" Id="R09445048264f479b" /></Relationships>
</file>

<file path=ppt/notesSlides/_rels/notesSlide42.xml.rels>&#65279;<?xml version="1.0" encoding="utf-8"?><Relationships xmlns="http://schemas.openxmlformats.org/package/2006/relationships"><Relationship Type="http://schemas.openxmlformats.org/officeDocument/2006/relationships/slide" Target="/ppt/slides/slide42.xml" Id="R58d9f28060204b1c" /><Relationship Type="http://schemas.openxmlformats.org/officeDocument/2006/relationships/notesMaster" Target="/ppt/notesMasters/notesMaster1.xml" Id="R929fd48d74444241" /></Relationships>
</file>

<file path=ppt/notesSlides/_rels/notesSlide43.xml.rels>&#65279;<?xml version="1.0" encoding="utf-8"?><Relationships xmlns="http://schemas.openxmlformats.org/package/2006/relationships"><Relationship Type="http://schemas.openxmlformats.org/officeDocument/2006/relationships/slide" Target="/ppt/slides/slide43.xml" Id="Re0a0a279760f4201" /><Relationship Type="http://schemas.openxmlformats.org/officeDocument/2006/relationships/notesMaster" Target="/ppt/notesMasters/notesMaster1.xml" Id="Re84ac6384b624477" /></Relationships>
</file>

<file path=ppt/notesSlides/_rels/notesSlide44.xml.rels>&#65279;<?xml version="1.0" encoding="utf-8"?><Relationships xmlns="http://schemas.openxmlformats.org/package/2006/relationships"><Relationship Type="http://schemas.openxmlformats.org/officeDocument/2006/relationships/slide" Target="/ppt/slides/slide44.xml" Id="R26b6b28dc9ac4ea8" /><Relationship Type="http://schemas.openxmlformats.org/officeDocument/2006/relationships/notesMaster" Target="/ppt/notesMasters/notesMaster1.xml" Id="R15b9531b44a747c0" /></Relationships>
</file>

<file path=ppt/notesSlides/_rels/notesSlide45.xml.rels>&#65279;<?xml version="1.0" encoding="utf-8"?><Relationships xmlns="http://schemas.openxmlformats.org/package/2006/relationships"><Relationship Type="http://schemas.openxmlformats.org/officeDocument/2006/relationships/slide" Target="/ppt/slides/slide45.xml" Id="R98cb738120b44d42" /><Relationship Type="http://schemas.openxmlformats.org/officeDocument/2006/relationships/notesMaster" Target="/ppt/notesMasters/notesMaster1.xml" Id="R2f032262b3c74761" /></Relationships>
</file>

<file path=ppt/notesSlides/_rels/notesSlide46.xml.rels>&#65279;<?xml version="1.0" encoding="utf-8"?><Relationships xmlns="http://schemas.openxmlformats.org/package/2006/relationships"><Relationship Type="http://schemas.openxmlformats.org/officeDocument/2006/relationships/slide" Target="/ppt/slides/slide46.xml" Id="Rd617364867044252" /><Relationship Type="http://schemas.openxmlformats.org/officeDocument/2006/relationships/notesMaster" Target="/ppt/notesMasters/notesMaster1.xml" Id="R13ed114f70aa4cde" /></Relationships>
</file>

<file path=ppt/notesSlides/_rels/notesSlide47.xml.rels>&#65279;<?xml version="1.0" encoding="utf-8"?><Relationships xmlns="http://schemas.openxmlformats.org/package/2006/relationships"><Relationship Type="http://schemas.openxmlformats.org/officeDocument/2006/relationships/slide" Target="/ppt/slides/slide47.xml" Id="Raca6c3519bed41ff" /><Relationship Type="http://schemas.openxmlformats.org/officeDocument/2006/relationships/notesMaster" Target="/ppt/notesMasters/notesMaster1.xml" Id="Rfa70f6c882d943f9" /></Relationships>
</file>

<file path=ppt/notesSlides/_rels/notesSlide48.xml.rels>&#65279;<?xml version="1.0" encoding="utf-8"?><Relationships xmlns="http://schemas.openxmlformats.org/package/2006/relationships"><Relationship Type="http://schemas.openxmlformats.org/officeDocument/2006/relationships/slide" Target="/ppt/slides/slide48.xml" Id="R59502d805e134dab" /><Relationship Type="http://schemas.openxmlformats.org/officeDocument/2006/relationships/notesMaster" Target="/ppt/notesMasters/notesMaster1.xml" Id="R2075bdd5537d4715" /></Relationships>
</file>

<file path=ppt/notesSlides/_rels/notesSlide49.xml.rels>&#65279;<?xml version="1.0" encoding="utf-8"?><Relationships xmlns="http://schemas.openxmlformats.org/package/2006/relationships"><Relationship Type="http://schemas.openxmlformats.org/officeDocument/2006/relationships/slide" Target="/ppt/slides/slide49.xml" Id="Rfefd3987b05d4856" /><Relationship Type="http://schemas.openxmlformats.org/officeDocument/2006/relationships/notesMaster" Target="/ppt/notesMasters/notesMaster1.xml" Id="R2d6bcdfbbfef43c2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Teaching note: Keep the explanation classroom-facing. Build from intuition to mechanism to exam answer.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Official local syllabus: /Users/nithinkswamy/Documents/VVIET PPT BIG DATA/public/syllabus/5thsem syllabus.pdf</a:t>
            </a:r>
          </a:p>
          <a:p xmlns:a="http://schemas.openxmlformats.org/drawingml/2006/main">
            <a:r>
              <a:t>- Prescribed textbook reference: TB: Hopcroft, Motwani, Ullman, Introduction to Automata Theory, Languages and Computation, 2nd ed.; local module textbook PDFs in public/TOC PDF.</a:t>
            </a:r>
          </a:p>
          <a:p xmlns:a="http://schemas.openxmlformats.org/drawingml/2006/main">
            <a:r>
              <a:t/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528d5061512445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68124b135454cde" /><Relationship Type="http://schemas.openxmlformats.org/officeDocument/2006/relationships/slideLayout" Target="/ppt/slideLayouts/slideLayout1.xml" Id="Reaea714e3fb74d0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aea714e3fb74d0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a15cb0cf3614813" /><Relationship Type="http://schemas.openxmlformats.org/officeDocument/2006/relationships/notesSlide" Target="/ppt/notesSlides/notesSlide1.xml" Id="R34fc69526efe443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d249b16bf30430c" /><Relationship Type="http://schemas.openxmlformats.org/officeDocument/2006/relationships/notesSlide" Target="/ppt/notesSlides/notesSlide2.xml" Id="R00eb08c844474ac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3c453f14c54094" /><Relationship Type="http://schemas.openxmlformats.org/officeDocument/2006/relationships/notesSlide" Target="/ppt/notesSlides/notesSlide3.xml" Id="Ree8621793664422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daebbe619ab4ac7" /><Relationship Type="http://schemas.openxmlformats.org/officeDocument/2006/relationships/notesSlide" Target="/ppt/notesSlides/notesSlide4.xml" Id="Rd1a589cd329d45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209e5005c744b1" /><Relationship Type="http://schemas.openxmlformats.org/officeDocument/2006/relationships/notesSlide" Target="/ppt/notesSlides/notesSlide5.xml" Id="R501e5da1e34e4135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ba3e991e32426c" /><Relationship Type="http://schemas.openxmlformats.org/officeDocument/2006/relationships/notesSlide" Target="/ppt/notesSlides/notesSlide6.xml" Id="R6de4016afc0c428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97f66f7aaf4883" /><Relationship Type="http://schemas.openxmlformats.org/officeDocument/2006/relationships/notesSlide" Target="/ppt/notesSlides/notesSlide7.xml" Id="Rac03db412e2345d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c22e833b2ab4c1b" /><Relationship Type="http://schemas.openxmlformats.org/officeDocument/2006/relationships/notesSlide" Target="/ppt/notesSlides/notesSlide8.xml" Id="Ra8518597d4a04e1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7ca74cceed34771" /><Relationship Type="http://schemas.openxmlformats.org/officeDocument/2006/relationships/notesSlide" Target="/ppt/notesSlides/notesSlide9.xml" Id="Rf65114169cc6460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9541077a16410d" /><Relationship Type="http://schemas.openxmlformats.org/officeDocument/2006/relationships/notesSlide" Target="/ppt/notesSlides/notesSlide10.xml" Id="R0d9c15b5f4334e6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b4cb74af441c5" /><Relationship Type="http://schemas.openxmlformats.org/officeDocument/2006/relationships/notesSlide" Target="/ppt/notesSlides/notesSlide11.xml" Id="Rb0c06a485deb4e0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7966ae053481a" /><Relationship Type="http://schemas.openxmlformats.org/officeDocument/2006/relationships/notesSlide" Target="/ppt/notesSlides/notesSlide12.xml" Id="Reee08adadf6b4edf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cb6f08fca0a453b" /><Relationship Type="http://schemas.openxmlformats.org/officeDocument/2006/relationships/notesSlide" Target="/ppt/notesSlides/notesSlide13.xml" Id="Rbbc2944c5f1e4e5b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fa74b53c904ab6" /><Relationship Type="http://schemas.openxmlformats.org/officeDocument/2006/relationships/notesSlide" Target="/ppt/notesSlides/notesSlide14.xml" Id="Raddc9d063da947ac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3f20130184208" /><Relationship Type="http://schemas.openxmlformats.org/officeDocument/2006/relationships/notesSlide" Target="/ppt/notesSlides/notesSlide15.xml" Id="Rc236d0a88f994bf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1b2a91392640f6" /><Relationship Type="http://schemas.openxmlformats.org/officeDocument/2006/relationships/notesSlide" Target="/ppt/notesSlides/notesSlide16.xml" Id="R6c957f8b1cad40b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514955b450437f" /><Relationship Type="http://schemas.openxmlformats.org/officeDocument/2006/relationships/notesSlide" Target="/ppt/notesSlides/notesSlide17.xml" Id="R6a8ddf083e414d0a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4cbc1e8bd824509" /><Relationship Type="http://schemas.openxmlformats.org/officeDocument/2006/relationships/notesSlide" Target="/ppt/notesSlides/notesSlide18.xml" Id="Rd0b039c341cd4cc5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78353a4abd4b8d" /><Relationship Type="http://schemas.openxmlformats.org/officeDocument/2006/relationships/notesSlide" Target="/ppt/notesSlides/notesSlide19.xml" Id="Ree0d9722029e4907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ee7a6b424854ae9" /><Relationship Type="http://schemas.openxmlformats.org/officeDocument/2006/relationships/notesSlide" Target="/ppt/notesSlides/notesSlide20.xml" Id="R85173101a0c94d6f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f9b563ef0b4d97" /><Relationship Type="http://schemas.openxmlformats.org/officeDocument/2006/relationships/notesSlide" Target="/ppt/notesSlides/notesSlide21.xml" Id="Reefd0697d65846a5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f0c9517469f4cc2" /><Relationship Type="http://schemas.openxmlformats.org/officeDocument/2006/relationships/notesSlide" Target="/ppt/notesSlides/notesSlide22.xml" Id="Rc8c0b31de28141bd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5427e9e599d474d" /><Relationship Type="http://schemas.openxmlformats.org/officeDocument/2006/relationships/notesSlide" Target="/ppt/notesSlides/notesSlide23.xml" Id="R905135be652d4f0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fc7e32474429e" /><Relationship Type="http://schemas.openxmlformats.org/officeDocument/2006/relationships/notesSlide" Target="/ppt/notesSlides/notesSlide24.xml" Id="Rdc68335ded614580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ea1cdd73b7451a" /><Relationship Type="http://schemas.openxmlformats.org/officeDocument/2006/relationships/notesSlide" Target="/ppt/notesSlides/notesSlide25.xml" Id="R4cc6ef0a5f8c414d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9c9956d168463c" /><Relationship Type="http://schemas.openxmlformats.org/officeDocument/2006/relationships/notesSlide" Target="/ppt/notesSlides/notesSlide26.xml" Id="Rf038d0001d4543ca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9fe9be135134051" /><Relationship Type="http://schemas.openxmlformats.org/officeDocument/2006/relationships/notesSlide" Target="/ppt/notesSlides/notesSlide27.xml" Id="Ra0c751bc665a4a85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d60e2b42c147e7" /><Relationship Type="http://schemas.openxmlformats.org/officeDocument/2006/relationships/notesSlide" Target="/ppt/notesSlides/notesSlide28.xml" Id="Re7514d977a794a8f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7b8bc7a83f4145" /><Relationship Type="http://schemas.openxmlformats.org/officeDocument/2006/relationships/notesSlide" Target="/ppt/notesSlides/notesSlide29.xml" Id="R99dffbe2fe9545c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0160b522a14492d" /><Relationship Type="http://schemas.openxmlformats.org/officeDocument/2006/relationships/notesSlide" Target="/ppt/notesSlides/notesSlide30.xml" Id="R56fbb177b56c4eb8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031071fc5c41ef" /><Relationship Type="http://schemas.openxmlformats.org/officeDocument/2006/relationships/notesSlide" Target="/ppt/notesSlides/notesSlide31.xml" Id="R0a67e6e305f94acb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4762102a614cbd" /><Relationship Type="http://schemas.openxmlformats.org/officeDocument/2006/relationships/notesSlide" Target="/ppt/notesSlides/notesSlide32.xml" Id="Rb0c77e4be65a4e0c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965bd05c06d470e" /><Relationship Type="http://schemas.openxmlformats.org/officeDocument/2006/relationships/notesSlide" Target="/ppt/notesSlides/notesSlide33.xml" Id="R22cab2bfdb19434c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0d507f54ae4cf2" /><Relationship Type="http://schemas.openxmlformats.org/officeDocument/2006/relationships/notesSlide" Target="/ppt/notesSlides/notesSlide34.xml" Id="Rbd29ed6639e544fd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a598ed4ae954841" /><Relationship Type="http://schemas.openxmlformats.org/officeDocument/2006/relationships/notesSlide" Target="/ppt/notesSlides/notesSlide35.xml" Id="Re15617111b324a32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ec6a0a6bde412e" /><Relationship Type="http://schemas.openxmlformats.org/officeDocument/2006/relationships/notesSlide" Target="/ppt/notesSlides/notesSlide36.xml" Id="R1e9307e2c87749dc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7289e1c03e74ec8" /><Relationship Type="http://schemas.openxmlformats.org/officeDocument/2006/relationships/notesSlide" Target="/ppt/notesSlides/notesSlide37.xml" Id="Rd1539a3d09c34eb8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54d9eed0c274dde" /><Relationship Type="http://schemas.openxmlformats.org/officeDocument/2006/relationships/notesSlide" Target="/ppt/notesSlides/notesSlide38.xml" Id="R6ef86a5ed4934f2c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bfe6c3246648a6" /><Relationship Type="http://schemas.openxmlformats.org/officeDocument/2006/relationships/notesSlide" Target="/ppt/notesSlides/notesSlide39.xml" Id="R67daa971b21f4ed9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d57b08a03f48ec" /><Relationship Type="http://schemas.openxmlformats.org/officeDocument/2006/relationships/notesSlide" Target="/ppt/notesSlides/notesSlide40.xml" Id="Rbff2c85f9dac4c5a" /></Relationships>
</file>

<file path=ppt/slides/_rels/slide4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4dbee625b174600" /><Relationship Type="http://schemas.openxmlformats.org/officeDocument/2006/relationships/notesSlide" Target="/ppt/notesSlides/notesSlide41.xml" Id="Rfacfd7307bbb4bb4" /></Relationships>
</file>

<file path=ppt/slides/_rels/slide4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395185b7e84960" /><Relationship Type="http://schemas.openxmlformats.org/officeDocument/2006/relationships/notesSlide" Target="/ppt/notesSlides/notesSlide42.xml" Id="R47585dba360645cd" /></Relationships>
</file>

<file path=ppt/slides/_rels/slide4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93281e33ef4de1" /><Relationship Type="http://schemas.openxmlformats.org/officeDocument/2006/relationships/notesSlide" Target="/ppt/notesSlides/notesSlide43.xml" Id="Rb3708ac01b9d4d86" /></Relationships>
</file>

<file path=ppt/slides/_rels/slide4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b473597a174ea8" /><Relationship Type="http://schemas.openxmlformats.org/officeDocument/2006/relationships/notesSlide" Target="/ppt/notesSlides/notesSlide44.xml" Id="R6f2f99d89b3840a0" /></Relationships>
</file>

<file path=ppt/slides/_rels/slide4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456a484a92415a" /><Relationship Type="http://schemas.openxmlformats.org/officeDocument/2006/relationships/notesSlide" Target="/ppt/notesSlides/notesSlide45.xml" Id="Rd6ce6547a5514e65" /></Relationships>
</file>

<file path=ppt/slides/_rels/slide4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758efa8e6184f40" /><Relationship Type="http://schemas.openxmlformats.org/officeDocument/2006/relationships/notesSlide" Target="/ppt/notesSlides/notesSlide46.xml" Id="R9454ae5e8c2a4548" /></Relationships>
</file>

<file path=ppt/slides/_rels/slide4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2835f9aff24f14" /><Relationship Type="http://schemas.openxmlformats.org/officeDocument/2006/relationships/notesSlide" Target="/ppt/notesSlides/notesSlide47.xml" Id="R3557abd6316b4677" /></Relationships>
</file>

<file path=ppt/slides/_rels/slide4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1325cf74b44929" /><Relationship Type="http://schemas.openxmlformats.org/officeDocument/2006/relationships/notesSlide" Target="/ppt/notesSlides/notesSlide48.xml" Id="Re78e510cf8eb49ca" /></Relationships>
</file>

<file path=ppt/slides/_rels/slide4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d933ba60a0471a" /><Relationship Type="http://schemas.openxmlformats.org/officeDocument/2006/relationships/notesSlide" Target="/ppt/notesSlides/notesSlide49.xml" Id="R63d8741c53544e8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FC82EDC-F7A5-4A03-96B9-E6C70A0C1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B58A566-752F-421F-8BDB-9336E602C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5A11FB2-EF36-489B-9B2B-5019E1C6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A76889A-F096-4ED9-964D-902D0E037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DB4825-32CC-402A-B3B9-D2066A25C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933450"/>
            <a:ext cx="742950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033"/>
                </a:solidFill>
              </a:defRPr>
            </a:pPr>
            <a:r>
              <a:rPr sz="3450" b="1">
                <a:solidFill>
                  <a:srgbClr val="172033"/>
                </a:solidFill>
              </a:rPr>
              <a:t>Normal Forms and CFL Properties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64D4BFA-B77B-475B-9F67-2642EABF8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33600"/>
            <a:ext cx="74295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4B5563"/>
                </a:solidFill>
              </a:defRPr>
            </a:pPr>
            <a:r>
              <a:rPr sz="1725" b="0">
                <a:solidFill>
                  <a:srgbClr val="4B5563"/>
                </a:solidFill>
              </a:rPr>
              <a:t>Theory of Computation | Module 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7580C3-6BF1-4061-A396-1DE5A1893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28950"/>
            <a:ext cx="1714500" cy="666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solidFill>
              <a:srgbClr val="DC2626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C57230-8BF9-4C86-88EA-02BA355CB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Hook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55A28C-B813-489B-A873-095A93B5B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Core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137217-D791-4B04-8A4F-5CB83C4EC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Mechanism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144A90-FAE9-4BCD-B795-ECA9697AA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Worked 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1D1150-A261-48BB-A527-D617278D95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09575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Exam-ready recap</a:t>
            </a:r>
          </a:p>
        </p:txBody>
      </p:sp>
      <p:cxnSp>
        <p:nvCxnSpPr>
          <p:cNvPr id="29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31718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0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50387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1" name=""/>
          <p:cNvCxnSpPr>
            <a:stCxn xmlns:a="http://schemas.openxmlformats.org/drawingml/2006/main" id="10" idx="3"/>
            <a:endCxn xmlns:a="http://schemas.openxmlformats.org/drawingml/2006/main" id="11" idx="1"/>
          </p:cNvCxnSpPr>
          <p:nvPr/>
        </p:nvCxnSpPr>
        <p:spPr>
          <a:xfrm xmlns:a="http://schemas.openxmlformats.org/drawingml/2006/main">
            <a:off x="69056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11" idx="3"/>
            <a:endCxn xmlns:a="http://schemas.openxmlformats.org/drawingml/2006/main" id="12" idx="1"/>
          </p:cNvCxnSpPr>
          <p:nvPr/>
        </p:nvCxnSpPr>
        <p:spPr>
          <a:xfrm xmlns:a="http://schemas.openxmlformats.org/drawingml/2006/main">
            <a:off x="8772525" y="453390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</p:spTree>
    <p:extLst>
      <p:ext uri="{BB962C8B-B14F-4D97-AF65-F5344CB8AC3E}">
        <p14:creationId xmlns:p14="http://schemas.microsoft.com/office/powerpoint/2010/main" val="7460300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B634A-D0F6-4E7E-B41D-812FF37E9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132345-C0FA-4C7E-80F8-61369B37F3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A79BA8-8CC3-4593-8176-209651D491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9217DE-47A4-4E6C-9E13-A7FA1725E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D9FDBCD-B4F8-4FFF-BE13-B240C5804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Teaching route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6CDBB5-994F-4DA2-8791-ED5BC48B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FB299A-3717-4EED-BFB8-64779D8C5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0002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Start with why the module matters.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520E2D-A78A-43DC-90FC-10617AF61A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90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5E50CC1-EB7F-43A0-B623-5C4D9D482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7241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Build one concept at a time with a diagram or worked trace.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C902E97-A868-46FC-8DBF-8908F4879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664FBD-41CD-47A1-A627-802DA2E8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4480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Use examples before definitions become abstract.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638ADB-0D9D-40A0-A2C7-BBDE26A10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38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1427C9-9F31-4E25-B72B-32CE469C3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171950"/>
            <a:ext cx="9429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End with definitions, algorithms/formulas, mistakes and practice questions.</a:t>
            </a:r>
          </a:p>
        </p:txBody>
      </p:sp>
    </p:spTree>
    <p:extLst>
      <p:ext uri="{BB962C8B-B14F-4D97-AF65-F5344CB8AC3E}">
        <p14:creationId xmlns:p14="http://schemas.microsoft.com/office/powerpoint/2010/main" val="66969134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431CE73-0C3B-4172-B833-61305D1F4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454C59-E6FE-4898-B364-A9B0D823C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38556-830C-4879-9E74-D6DA5971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6C4E74-1B46-4FB0-9C31-9D2B40F18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1505DE-BA21-452F-8218-C715161F4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1066800"/>
            <a:ext cx="666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Module map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1EF5E6-4C46-472F-AA16-24B875644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838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03BC34A-EF98-41B3-8BBB-325E5A18F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7716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Normal forms for context-free grammars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F06222B-EC52-4F3B-87F3-0402D76C62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390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D08B826-3321-4488-9FF3-E1B89B89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2410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Pumping lemma for context-free languages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74F17D1-9A7C-4992-B831-69A996A17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432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CA5C397-59B6-4681-BE01-3C5EE42BD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76550"/>
            <a:ext cx="9525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Closure properties of context-free languages</a:t>
            </a:r>
          </a:p>
        </p:txBody>
      </p:sp>
    </p:spTree>
    <p:extLst>
      <p:ext uri="{BB962C8B-B14F-4D97-AF65-F5344CB8AC3E}">
        <p14:creationId xmlns:p14="http://schemas.microsoft.com/office/powerpoint/2010/main" val="173894779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572E865-C964-4B6A-B702-4FB913CE9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324DF56-3852-4C63-930B-4A35020CE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D352251-D85C-4317-9360-2EFE7E400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DB9CA5E-78A6-4113-BA55-A1B1E06C8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1A7C25-A93C-4222-9C48-6B4A69322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Normal forms for context-free grammars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D50536-ED6E-4652-9F33-B1F2F422B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10E51FD-9CC6-4867-B7C5-859612312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Normal forms for context-free grammars is best taught as a variables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60EBA-DE32-4BA9-8169-AF99D2C94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3E10C0A-8FFD-4350-B649-584E22B16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terminals with productions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E79D2CC-0136-4AAD-B6CE-302495C45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E62D85-68DF-47D5-B67E-5D9BAC2A43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start symbol and derivation.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F67BD3D-AADE-4ED8-8A38-366D4CE9F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50B86C-18CF-4FC9-B924-1F0CDEFF6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terminals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60721A-A822-42D2-AF1D-0228314D6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355CED-BDBE-4A6E-8C86-C529B958A7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start symbol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1DF99AF-668B-4A47-A6B8-5C648BB64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derivation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DB0C4E0-BA83-4915-9FB8-642897F75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9D0B3F-BFDC-4B4E-9602-C09CE006F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normal forms for context-free grammars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459783094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DCC6D11-1AE1-44EB-8242-5E77A7F5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F8710C1-C3BD-431B-8B61-32B1FE0A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6A15B8-F80B-4BB6-9888-DAA8A38CF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827FB8-76F2-4BBD-A56F-45D8BE65F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87D3857-7752-4500-9B59-2192D9A9C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Normal forms for context-free grammars: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DCD1707-8D4E-4802-9195-992F5DE05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6977532-8CB9-453E-8EDF-B5F69EF46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84375B8-3397-4912-9FFE-9B16D1798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D36343-F194-4A03-9D26-35B6378E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03971673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9CDD531-A3E2-461C-9103-99CE7DED7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0EDB733-C34E-4309-A2DE-0D850F72D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C14F8B7-004D-488A-8B7C-F500E8822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D0A69F-0A1D-4562-BD74-F89D0624F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BD6DC1-46A6-422B-993E-DCF0CBA60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Normal forms for context-free grammars: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DCBD76-7BA8-4E93-B45A-A3DBFF0A3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1367DED-21EF-40D5-99A3-A5F2383DE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F0AEDD-26A7-455C-9766-563144B76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441EF36-8848-4C54-B17A-C84511B48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2A1A8CF-DBF5-4CA7-AEE6-92EE2E3D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5FDEA8-2CEA-4B32-A580-6FE61457E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30A070-7656-44C7-81C2-34F39F978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0838DF1-0CA4-49AE-8C5F-4BB7EEDB9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902A392-B6CF-4571-97F0-14138D7B5E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terminals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E3F2809-BC32-4C77-8CF7-E98930E49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222596-F8FF-40E6-A18B-7DD4776A0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8164ABB-178C-4634-98F5-9637D4C59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95583E-C7E6-4C72-95ED-5CFC23764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terminals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B04ED72-1747-4B53-8E66-A1DD34133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productions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BEE51A-5806-4753-B9DC-155ADE805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0061212-BFFA-4092-8E4F-EEEA19CDD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5970F04-8208-41A3-AA03-CAE34833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FC8E885-E98D-45B3-9086-9CDC41A009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3C60020-525E-4CCA-BC6A-AA75C979B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symbol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3724585-05F3-42C8-9DAB-6DCB1AF89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C8122C2-3D51-49DD-8B40-FF3870036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7964C16-825F-4611-AE69-DE1FFE11E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4FDAF0C-BE36-4429-AFB8-F0050D9AB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symbol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C649A96-49DC-4EBB-AE2A-00708EFA1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derivation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88B7816-C428-48EB-9DEF-6459CA08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843CE08-3529-4653-8983-8EFF9F877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normal forms for context-free grammars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315628648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0F34C31-4E5A-4E33-AA67-806E7632C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3225D39-FBA9-4F0F-B485-70BBA6C86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D08AEE-EE24-42AE-9E87-81EE779E8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8C17F34-D2BB-415F-B938-A86EC68F07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34AE73-AC48-4192-BADA-87F9F62B5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Pumping lemma for context-free languages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11137B-C5A1-435C-8363-E3F79038F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BF4305-72DC-46D0-B13C-C0672DE7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Pumping lemma for context-free languages is best taught as a assume regular/CFL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3170C03-4E93-4F54-B9F3-CC2DD8747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767AB2-F7BB-40F4-B8DA-B7A5966CC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choose long string with split by rule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BFE68A-DFC9-4171-B9F2-035B49A0C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509AB1E-1DA8-46AE-86DA-35F16952C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pump and contradict language.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DF13658-8B43-4410-847B-033E9106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assume regular/CFL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66D2A3-0D9D-49E6-AC90-AF17CAA93B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choose long 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7DE6ACD-2766-4FEB-B9CF-8A5E5FCEA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split by rule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81BBF52-1D4E-4722-8721-97DDFD655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pump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46BC53-8BDD-4C6E-BE93-1D7B6BC09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contradict language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AFE5547-FF1F-43CA-B2AD-0CCFD9970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5109B98-C25B-4853-8AE2-54927FDF56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pumping lemma for context-free languages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493699307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F9AB112-6615-46DA-92B1-80D4E558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56E0822-78F0-4C1D-BF69-45B6F0C09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AB3E1F7-7139-4F35-A030-A4ECDBB91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5A4714-EBD2-4814-A406-3A6F393B8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CED7F2D-DEAF-49E8-884F-B9CCE3EED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Pumping lemma for context-free languages: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B0843B4-9744-4D21-B8E6-633383389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E0CD35-FFF5-48BD-854A-61572733A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4B5294E-0DEA-4390-BFCA-B876B6F5D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49A66FE-F092-474A-B555-64D757DE8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33815296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9538340-FA14-445F-9149-348922AF0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269469-B294-4A04-AD5E-176A307F1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8391377-2833-4816-A337-58E4D38D3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EC3DF92-635B-4582-8372-89BE71DB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675BBE5-A48E-4830-93D9-1C13C36E8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Pumping lemma for context-free languages: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83DEFB-38D9-4454-9733-ABFE29B0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6FADC47-EC2A-43DB-A82A-241C8A920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3E9BC6-7395-4341-B548-88FDFEDE3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073B44E-B3EA-4307-BAC3-E608A922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9C3D5E7-D54E-4823-9A0F-9F72E560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0C0B2DE-D2D2-45B5-93DF-3C1186E18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A7CBD89-8BB2-40F0-AF5F-FBEE932B1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A22E026-940A-4460-9704-BA786A907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assume regular/CFL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8B106C-6BA3-4386-9AF4-48716C762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choose long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59A2C0-A85A-4E35-A772-09E5B28EC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EFD9F15-8621-4779-966F-29DAE6E88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32B918A-8A47-4EF0-9730-342A47504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49DEE79-9C9F-4832-9D6A-B220E2B9A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choose long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26E2FF0-355D-41CB-AE08-97E274D5A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split by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EC69FF-D80E-4E45-8579-24B28CA806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6B70F0E-92F4-402D-96B5-EF728CBC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2F7BBD1-9D2F-4EDC-8CBC-E89E8F457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553C812-3340-4A45-8103-2D697AD55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split by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0F036B-C1A5-4842-8D57-BA4967CEB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pump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0BB1053-6DAF-4942-8F86-620C54970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5A87FD4-23EB-4E99-8BAF-C69C2D045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89837F0-D9E5-44BB-BE19-6FBB8B436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F52617B-3426-4845-AD86-BDCC41AC9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pump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4CDD933-53A8-4B1C-BF48-146434F54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contradict language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94565AD-A7DE-4742-BF67-09ED5F011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E19C525-ABC3-48CC-9C45-15D678F55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pumping lemma for context-free languages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9857463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5D1E52-6B08-41F1-8732-4E63728CB5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6C59A9-E248-4553-A40F-2E0323308F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C2B5CFF-AE32-41A3-A288-41B2FA5CE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D7D7A6-FD06-4F73-A7FF-C2E1536DD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AA7E3D-A3D3-4D26-9E2E-83444AF292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Pumping lemma for context-free languages: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3ECFC5-2B87-4200-8C39-2FA9AACDE8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F0B4CF5-8340-4108-B395-8283A4EFD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BBF6B94-C34B-460A-B65B-31B5C644F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7B2A307-732E-4872-9C2C-19EEED4B5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7421F9-3611-403D-AD8E-6549DFF62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7ECC10-6C65-42AE-864D-881594F68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Pumping lemma for context-free languages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368E689-6BB5-4163-B271-94CBB185D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608EA-6AA5-4FC1-96A4-D002FE006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assume regular/CFL -&gt; split by rule -&gt; contradict language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3E4BA78-9B05-4B35-B188-9AF8612C6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AA259D-21FD-46F8-8CC8-96490E813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7FBF880-03A6-48EF-9419-30DF0C20B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F8F70F-19A2-4764-AB6E-3CF7C8C457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49394-01A6-4A38-90F9-1E31E0C40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FA77F6-6E48-485A-B478-444F779E5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FF943EB-3F63-4E20-B2AD-24255069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6AD94B0-C515-4D13-A831-AE211FC5CF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assume regular/CFL, choose long string, split by rule</a:t>
            </a:r>
          </a:p>
        </p:txBody>
      </p:sp>
    </p:spTree>
    <p:extLst>
      <p:ext uri="{BB962C8B-B14F-4D97-AF65-F5344CB8AC3E}">
        <p14:creationId xmlns:p14="http://schemas.microsoft.com/office/powerpoint/2010/main" val="37581431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645B22-1198-4348-8DB4-A4D206946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C8543-8948-4F77-9B81-A11174858D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D309EC-2A87-4842-A1A6-916EEE250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237172-7968-4093-B533-128D9264F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9C5024-6421-4AE6-9BE5-3CF0D0BCE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572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context-free languages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89B053-E688-439F-BCED-B8E05D448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47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75184-6246-4069-BB93-4065CDD5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9812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Closure properties of context-free languages is best taught as a formal model problem, not as a memorized definition.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950BD16-3280-4D66-A522-221B871A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41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2ECCFE-95B7-477F-9EAB-4ACF7313E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8575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The key mechanism connects input string with rule application so that students can predict the result.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C840A8-653B-472D-AD53-9A93E9F6A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004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7FB84C-341D-40D2-AD0A-94F88C5677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733800"/>
            <a:ext cx="5524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For exams, draw the model first, label each step, and then explain acceptance condition and proof idea.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A09BF26-67D0-4D25-AA6D-2DDC9582D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E355092-364D-41A3-9F63-801F58A80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9702954-AF65-4659-91DD-0A0CF5F65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78070A7-D243-423C-A74B-D82270F2C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60116C-6C0E-40F0-9F3D-00A678793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49149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proof idea</a:t>
            </a:r>
          </a:p>
        </p:txBody>
      </p:sp>
      <p:cxnSp>
        <p:nvCxnSpPr>
          <p:cNvPr id="39" name=""/>
          <p:cNvCxnSpPr>
            <a:stCxn xmlns:a="http://schemas.openxmlformats.org/drawingml/2006/main" id="12" idx="3"/>
            <a:endCxn xmlns:a="http://schemas.openxmlformats.org/drawingml/2006/main" id="13" idx="1"/>
          </p:cNvCxnSpPr>
          <p:nvPr/>
        </p:nvCxnSpPr>
        <p:spPr>
          <a:xfrm xmlns:a="http://schemas.openxmlformats.org/drawingml/2006/main">
            <a:off x="31718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0" name=""/>
          <p:cNvCxnSpPr>
            <a:stCxn xmlns:a="http://schemas.openxmlformats.org/drawingml/2006/main" id="13" idx="3"/>
            <a:endCxn xmlns:a="http://schemas.openxmlformats.org/drawingml/2006/main" id="14" idx="1"/>
          </p:cNvCxnSpPr>
          <p:nvPr/>
        </p:nvCxnSpPr>
        <p:spPr>
          <a:xfrm xmlns:a="http://schemas.openxmlformats.org/drawingml/2006/main">
            <a:off x="50387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1" name=""/>
          <p:cNvCxnSpPr>
            <a:stCxn xmlns:a="http://schemas.openxmlformats.org/drawingml/2006/main" id="14" idx="3"/>
            <a:endCxn xmlns:a="http://schemas.openxmlformats.org/drawingml/2006/main" id="15" idx="1"/>
          </p:cNvCxnSpPr>
          <p:nvPr/>
        </p:nvCxnSpPr>
        <p:spPr>
          <a:xfrm xmlns:a="http://schemas.openxmlformats.org/drawingml/2006/main">
            <a:off x="69056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42" name=""/>
          <p:cNvCxnSpPr>
            <a:stCxn xmlns:a="http://schemas.openxmlformats.org/drawingml/2006/main" id="15" idx="3"/>
            <a:endCxn xmlns:a="http://schemas.openxmlformats.org/drawingml/2006/main" id="16" idx="1"/>
          </p:cNvCxnSpPr>
          <p:nvPr/>
        </p:nvCxnSpPr>
        <p:spPr>
          <a:xfrm xmlns:a="http://schemas.openxmlformats.org/drawingml/2006/main">
            <a:off x="8772525" y="53530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9C2D3B-808D-4AD0-ABEE-F95EEE899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0002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DC2626"/>
                </a:solidFill>
              </a:defRPr>
            </a:pPr>
            <a:r>
              <a:rPr sz="1875" b="1">
                <a:solidFill>
                  <a:srgbClr val="DC2626"/>
                </a:solidFill>
              </a:rPr>
              <a:t>Why this matters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931C5C-C08F-47A3-A953-11D11A212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457450"/>
            <a:ext cx="31432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33"/>
                </a:solidFill>
              </a:defRPr>
            </a:pPr>
            <a:r>
              <a:rPr sz="1575" b="0">
                <a:solidFill>
                  <a:srgbClr val="172033"/>
                </a:solidFill>
              </a:rPr>
              <a:t>This topic explains how closure properties of context-free languages changes design decisions, program behaviour, protocol results or proof structure.</a:t>
            </a:r>
          </a:p>
        </p:txBody>
      </p:sp>
    </p:spTree>
    <p:extLst>
      <p:ext uri="{BB962C8B-B14F-4D97-AF65-F5344CB8AC3E}">
        <p14:creationId xmlns:p14="http://schemas.microsoft.com/office/powerpoint/2010/main" val="1189772644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1AC8885-8A7E-40AB-9DD1-FE94B7EC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3B0F5B-FF64-4141-9AA3-FBDBCF29A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9F7C8D-ABBE-4DF5-B4F5-AFF91534A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50121D-2F67-4516-A30A-4A935799C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9652C5-C3F1-4F0D-BB1E-985B93EE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context-free languages: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4D2BDE-0C1C-4EB5-94FB-D67D77616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8F6A77-6093-4ACC-9A06-5D20588CF9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5008BE3-918B-40D9-9810-7DA63D2A1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682DA7E-13D4-4729-A6F4-25CB13263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86041019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94B255F-FDFE-4132-B4F2-4ABB5311C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4EB6D8-B9FF-46B7-B645-85E483527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091818-A334-484E-93ED-C0572B1C3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0A2B98-FE88-455B-B6B5-744B8AE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BE458D0-6D2C-44C5-ADC1-E243FEFB22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context-free languages: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970ED6-549E-40EB-8279-6290B3257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1222D-C8FB-404A-AB73-0F114112C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B22C57-8489-4D3C-BE4A-5A5DA2676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A00213-A8B8-43E7-B5BB-194D661E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14B5C11-E84E-42EA-8D9B-7F68B9608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7AECC39-4857-4199-91EC-375728398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9122FE-5278-4E85-B826-2E281610F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9F09FE9-6E7A-444C-A00D-AC1C5B108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828DA2C-1480-40EE-BB24-116EACC113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4A7CEC-33E9-4424-961F-4DF0783494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1E50137-7EBE-4856-8C0C-278999E991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5C23DCB-74CC-49F5-AB2D-A2E26902C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51729F9-8508-48D6-97E6-8B0852DE8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662C4B-FD40-4479-8D75-6844F28B1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E0CB09C-2993-46F9-9482-8F091BCC8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530A77B-4D27-4ECD-925C-3AB065F58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4F17F9-5645-4D8F-8D8D-E97E05DB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8B7D804-178B-466A-A3B8-EA3DBA98A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81FCCD5-BFC9-40F5-89F5-551BA4C8B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4EF62E-EA10-4001-A861-0869E66AA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DA5F8D7-657D-4358-92F2-F6F98B5B4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5EEFC5D4-3215-41D5-8C58-979309793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8235C2E-F77C-4155-9899-F6803B86C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715A923-0ACB-429D-8EF4-48C5E047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E05D18A-285A-41E2-8009-8B342939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948CAA3-5B36-4A82-860F-02B605F25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closure properties of context-free languages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573537300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298CB2B-5349-4CEA-A860-CACFFD30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BBB55E-A3B6-4E2D-AB55-D8BF7413A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1209E-59C4-4EB1-B340-A82DFA125D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52CE0E-E6DD-4A5F-BEBA-27762B16A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1705305-D2D5-4FDD-B55C-6A8CD8203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Normal forms for context-free grammars vs Pumping lemma for context-free languages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8828E5-5646-418C-81C7-3977AF9D1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5AA1393-3F6B-400D-BBFB-620DDA120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A0C920D-5914-4B05-840C-A70C1E8D5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Normal forms for context-free grammars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2E89CF-15EF-4FFE-8A4A-B41EFE6A2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Pumping lemma for context-free languages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FBF089E-8B8F-4435-87FD-161CDFD4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32FB0D-69FC-4988-848A-DD4A7380D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1BC44B-28EC-4DBF-B96F-19E39A341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A08244-D71C-4166-91E5-76EA635E7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assume regular/CFL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84CF75-4F28-4E0B-ABB2-3B0328890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E0316CB-5CB5-4E9B-B389-ED8BFA6A5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0F1B2-6514-4F50-994B-83CCE1E5B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0B072B6-753B-4AAD-8255-873B16DFE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split by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A7E078E-E651-421C-8D08-66866CDC4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C33E9-D22D-4F3D-9A33-A86DA7E16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F519FC-7383-4569-9920-3E1E0B06D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D7FB074-CD08-4688-A028-70925BD64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C659CE-B3DB-462B-BA97-19A90FF9BB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392CF4-C8B9-4A4F-95B4-EDAFBD4BA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56F0F1-6CAE-43CF-AB49-0C1E53398C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48C7F7-67AB-44A6-AB66-BC009F79E6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077615897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53997B6-9D0B-4558-B7DB-307CF8A61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F5A52E-BBAF-4393-8AB7-53DD0C9F3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5DE0E94-7667-450B-AAEE-5AF8167ED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F0C949A-975D-475E-9F70-24BA0601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E1A303-8495-4D62-A11C-88EC33CF3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Module Summary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50ACAA-AB47-4445-838D-2F8E6E70C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Definitions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EF0B532-3E76-4C2C-8DE9-EF4B6F517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94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Models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47A343-ED51-41F6-9371-C7AF1B6CF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Mechanisms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598D89-B09D-410C-AB82-D6F8A58F11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532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A86F98-367A-40E7-9898-001AFDA55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20175" y="1981200"/>
            <a:ext cx="161925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172033"/>
                </a:solidFill>
              </a:defRPr>
            </a:pPr>
            <a:r>
              <a:rPr sz="1350" b="1">
                <a:solidFill>
                  <a:srgbClr val="172033"/>
                </a:solidFill>
              </a:rPr>
              <a:t>Exam answer</a:t>
            </a:r>
          </a:p>
        </p:txBody>
      </p:sp>
      <p:cxnSp>
        <p:nvCxnSpPr>
          <p:cNvPr id="31" name=""/>
          <p:cNvCxnSpPr>
            <a:stCxn xmlns:a="http://schemas.openxmlformats.org/drawingml/2006/main" id="6" idx="3"/>
            <a:endCxn xmlns:a="http://schemas.openxmlformats.org/drawingml/2006/main" id="7" idx="1"/>
          </p:cNvCxnSpPr>
          <p:nvPr/>
        </p:nvCxnSpPr>
        <p:spPr>
          <a:xfrm xmlns:a="http://schemas.openxmlformats.org/drawingml/2006/main">
            <a:off x="31718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2" name=""/>
          <p:cNvCxnSpPr>
            <a:stCxn xmlns:a="http://schemas.openxmlformats.org/drawingml/2006/main" id="7" idx="3"/>
            <a:endCxn xmlns:a="http://schemas.openxmlformats.org/drawingml/2006/main" id="8" idx="1"/>
          </p:cNvCxnSpPr>
          <p:nvPr/>
        </p:nvCxnSpPr>
        <p:spPr>
          <a:xfrm xmlns:a="http://schemas.openxmlformats.org/drawingml/2006/main">
            <a:off x="50387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3" name=""/>
          <p:cNvCxnSpPr>
            <a:stCxn xmlns:a="http://schemas.openxmlformats.org/drawingml/2006/main" id="8" idx="3"/>
            <a:endCxn xmlns:a="http://schemas.openxmlformats.org/drawingml/2006/main" id="9" idx="1"/>
          </p:cNvCxnSpPr>
          <p:nvPr/>
        </p:nvCxnSpPr>
        <p:spPr>
          <a:xfrm xmlns:a="http://schemas.openxmlformats.org/drawingml/2006/main">
            <a:off x="69056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34" name=""/>
          <p:cNvCxnSpPr>
            <a:stCxn xmlns:a="http://schemas.openxmlformats.org/drawingml/2006/main" id="9" idx="3"/>
            <a:endCxn xmlns:a="http://schemas.openxmlformats.org/drawingml/2006/main" id="10" idx="1"/>
          </p:cNvCxnSpPr>
          <p:nvPr/>
        </p:nvCxnSpPr>
        <p:spPr>
          <a:xfrm xmlns:a="http://schemas.openxmlformats.org/drawingml/2006/main">
            <a:off x="8772525" y="2419350"/>
            <a:ext cx="2476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C6B9A3-1CDA-4055-933C-A7866B5A4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7433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21650A3-DC41-446F-B587-3FC3AE79C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67665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Normal forms for context-free grammars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20549B-29FD-4EA0-8E5C-24E745FFE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7195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5F1AC08-3B39-4B12-BEC7-62370B501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10527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Pumping lemma for context-free languages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9071C0-A7C5-48F9-ADD4-DA4F58C99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6005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A355C5B-EE42-4F63-ABDA-AFB58AF6B7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33900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72033"/>
                </a:solidFill>
              </a:defRPr>
            </a:pPr>
            <a:r>
              <a:rPr sz="1425" b="0">
                <a:solidFill>
                  <a:srgbClr val="172033"/>
                </a:solidFill>
              </a:rPr>
              <a:t>Remember: Closure properties of context-free languages</a:t>
            </a:r>
          </a:p>
        </p:txBody>
      </p:sp>
    </p:spTree>
    <p:extLst>
      <p:ext uri="{BB962C8B-B14F-4D97-AF65-F5344CB8AC3E}">
        <p14:creationId xmlns:p14="http://schemas.microsoft.com/office/powerpoint/2010/main" val="1315710040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97D5E25-5008-4CD1-89DE-DA03094CD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90879D-EEBD-41C6-ABF4-7639CE951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3268C67-A8AC-4173-A720-54CFC0677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B4F4D9F-4710-4AD9-947D-4B9EA0D31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128FCE-29A2-4F5A-943D-476CF5B48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Important Definitions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E5FE52-D51C-428B-AD04-0CF382B18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7CF70CF-AE92-4547-9513-1E327DD8DF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Term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A03EFA3-CF35-4F28-A167-58FCFEB5D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Classroom definition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9107A5-8085-47B8-9F99-83DF8E41E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Exam cue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55B9BB-9A95-4EED-83C4-EFE34321A2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5FC9DE-C60C-4471-8BA2-01E4B52E4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Normal forms for context-free grammars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F00CDD-9F33-4245-B90B-D2CFD3E583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named concept with conditions, components and result.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75D62ED-3A9D-4A4E-9275-FF012C390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 + draw + example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5DC426-6804-428C-B37E-0B1AF1B13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414ED15-0489-4A01-AEAE-B5C4F1A77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Pumping lemma for context-free languages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1A357D-FC56-4F7F-95F0-0EDEAB846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repeatable process that transforms input into an observable output.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F4191EC-A52B-4DCE-A2A0-B66DF7AC9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Steps + result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497C100-E6BC-455E-B8AB-FD728ABF9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B45646-FA10-43F2-A6FB-BA1DA92A4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Closure properties of context-free languages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90F3A5F-2BA6-42C8-B221-935835D3DD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 simplified representation used to reason about a real system.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8D4FBF3-11E3-42CD-A92D-BCEFBADBE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Assumptions + limits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B987DE-F003-4F82-B391-676D77238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072A7F-3234-4235-A379-BDFA65FEE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Quality criterion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44A3550-1A5B-4C5C-B415-8F9301652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property used to judge correctness, usefulness or performance.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FCE6534-8227-4D82-BACD-22BA223508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+ justify</a:t>
            </a:r>
          </a:p>
        </p:txBody>
      </p:sp>
    </p:spTree>
    <p:extLst>
      <p:ext uri="{BB962C8B-B14F-4D97-AF65-F5344CB8AC3E}">
        <p14:creationId xmlns:p14="http://schemas.microsoft.com/office/powerpoint/2010/main" val="1746087115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479A27B-6043-454F-A81E-2B145ADA4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B7C6D5-86D4-4D28-B3CF-5B2B8719E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6B4336-331E-4EF2-83C1-4027FC96E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C6F0FE-1F67-4212-9953-A49C9B2A4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95C263-5CAB-4D00-A3DB-53685EBE5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8953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Important Algorithms / Diagrams / Formulas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B3289DF-3588-4BDB-A09A-826522403A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669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D0562DC-C823-403D-A892-DB5D0E7F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0002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Draw the central architecture/process before writing long explanation.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595F4B-F8A8-4599-9318-2871CD369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8098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C1E9A3E-7BCA-4E1F-B603-95DD3602F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432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For every algorithm: problem, input, initial state, iterations, final result, interpretation.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D873FD-7180-428D-AE8B-33C00C78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52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6E751A0-EFE8-4691-AE33-34ADF5238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8615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For code/commands: command or snippet, explanation, execution, output.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078D01B-9525-4F66-8587-84D6724EE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95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9D398F-4592-4B92-9586-EB04B588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229100"/>
            <a:ext cx="971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For comparison questions: state basis of comparison first, then fill the table.</a:t>
            </a:r>
          </a:p>
        </p:txBody>
      </p:sp>
    </p:spTree>
    <p:extLst>
      <p:ext uri="{BB962C8B-B14F-4D97-AF65-F5344CB8AC3E}">
        <p14:creationId xmlns:p14="http://schemas.microsoft.com/office/powerpoint/2010/main" val="1896305838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042B5A2-AE77-46AD-9006-A3B364EC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F6123D-44C7-4F87-8154-40CF78AEE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1384D50-88B5-4603-B5D2-0A962CE07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1CCBA3-34EC-4908-863E-5F1E2064E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CBEC86-4BC0-4B14-8556-293D75571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Common Mistakes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5B1ED89-7CD3-4DCF-8B8F-DEEEF3B322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5E5B1AB-BB12-40F4-9F7F-667F3AC8B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Writing only a definition when the question asks to explain working.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A755F41-D23D-4D1F-BD74-3054D873F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F92D476-14A6-43A7-8C46-7F255D101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Skipping diagrams or leaving labels too vague.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7E89E5-79A9-4758-B2FF-ECF5B94CB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9895AE-965C-4D54-951A-49FF1B0A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Mixing similar terms without a comparison basis.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0BB91C3-B8B1-4CD1-A1FE-0C091FA73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0262A3A-17E4-4F0B-AD44-3640AABCB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Giving an example that does not match the formal condition.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8072AF3-81C3-40C7-9AAF-07FD807B4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D40ABBB-B4FA-43D7-9492-3E7935711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172033"/>
                </a:solidFill>
              </a:defRPr>
            </a:pPr>
            <a:r>
              <a:rPr sz="1800" b="0">
                <a:solidFill>
                  <a:srgbClr val="172033"/>
                </a:solidFill>
              </a:rPr>
              <a:t>Forgetting assumptions, limitations or failure cases.</a:t>
            </a:r>
          </a:p>
        </p:txBody>
      </p:sp>
    </p:spTree>
    <p:extLst>
      <p:ext uri="{BB962C8B-B14F-4D97-AF65-F5344CB8AC3E}">
        <p14:creationId xmlns:p14="http://schemas.microsoft.com/office/powerpoint/2010/main" val="2094104266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0CB87F6-BB34-468B-90F4-C536745DE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6AB2CB-5604-4FD2-8710-A650E8A35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8955BBE-50F5-49F8-8070-8D687C9A9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527783C-5508-4F72-B052-1BB6E4CCEF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19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836744-DD96-413C-A37D-B36742C185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Exam Preparation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66877D-3C88-4FC1-BF35-C80B90D9F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F9CF1D0-28DB-48B2-8C1B-18753E33A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Question type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F32DA7-B79B-4544-8E79-2D3B603A4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Answer structure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D9DC02-1FCF-4DE3-9997-8771DB940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What earns marks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E4DF89A-6514-4575-B37D-3FF481908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BAF199-010D-41F0-96F6-BA254329B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Define/explain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0B5C43-66F6-4B3A-9A19-864FCF03D3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Definition + labeled diagram + example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3B4D731-8F9A-4D1E-8475-342EE7204D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Exact terms and scope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0FEDBCC-58F0-4B15-88CC-A1E930D7E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85D3232-39F6-4D8A-A78F-502ABB8E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B9B9351-0B8D-410C-8DC0-2CD1282DA2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Basis + table + conclusion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0001C1-E90D-4601-B5C1-C9DFFC491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Clear differentiators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1F78420-B2EF-42B7-AA41-4DD351790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C9009E-848A-4DB3-8CC6-F5DD81D0B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Algorithm/trace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2D35201-B29E-4E5B-BB68-DF351EAE2E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+ iterations + final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8AB993A-63A5-4771-A9E0-BA970C3A5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Correct step sequence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97DE097-5BC4-4BE3-B50B-E5EC38801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3D0803B-F6A9-4599-9862-444D6921D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10E37B4-2A50-4B08-9B12-912922F27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Scenario + model + justification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E7D7CD3-6B10-46F4-BF7D-809F29182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Why the choice fits</a:t>
            </a:r>
          </a:p>
        </p:txBody>
      </p:sp>
    </p:spTree>
    <p:extLst>
      <p:ext uri="{BB962C8B-B14F-4D97-AF65-F5344CB8AC3E}">
        <p14:creationId xmlns:p14="http://schemas.microsoft.com/office/powerpoint/2010/main" val="311771710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2E5C84-45D8-4A6A-A4B5-B49CB1770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D93F1-5EC9-41EB-8401-491DE7285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766272A-9035-4633-9B2D-F8CD71E23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F5F474A-B54E-4A40-AB59-1F75EF614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55A98F-C292-4C62-B371-71CD15BBF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6858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Practice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29C13AC-CD51-4869-8B1D-61C3E97E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0288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54114C-C9FC-4EE6-98FE-DDAED9429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19621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Explain Normal forms for context-free grammars with a neat diagram.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49F33D8-BF9E-4765-B393-22CACD0C2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717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01982-D46C-4909-8EA8-E73738173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7051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Compare two approaches from Normal Forms and CFL Properties and justify when each is suitable.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E517A5-7C76-4ED5-A209-BE3AE24153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5147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B7AEF6-31F8-4C73-A45B-05BADA1A2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34480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Solve a small worked example involving Closure properties of context-free languages.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91D8B-D7EB-48E9-AD9D-C8AAF2B78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25767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CF2D3E1-A83C-4915-945A-8FC69433A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19100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List common mistakes and how to avoid them in Normal Forms and CFL Properties.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ACA934F-7436-4D6A-92BA-5F4DF4D4B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00625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7BC2911-085E-49F2-AD37-1FD96EE1A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933950"/>
            <a:ext cx="962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Redraw the full module map from memory in five minutes.</a:t>
            </a:r>
          </a:p>
        </p:txBody>
      </p:sp>
    </p:spTree>
    <p:extLst>
      <p:ext uri="{BB962C8B-B14F-4D97-AF65-F5344CB8AC3E}">
        <p14:creationId xmlns:p14="http://schemas.microsoft.com/office/powerpoint/2010/main" val="434107375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AA692B9-742D-407F-B8F6-8EAF50816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079E7F-5EE2-475F-898E-86120C7C99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4993B2-3825-4416-AEB7-E33F03BE8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179AE1-11DB-4C99-B8A4-234181B08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B694807-C3BA-4F58-9277-E2D2AC46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Normal forms for context-free grammars vs Pumping lemma for context-free languages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37ADE2-94C6-4F22-8FF1-9874201EE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64BB0A4-4E05-47CB-838B-CC6FB541A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1E9A822-5F0F-42C1-92A1-DA5D56B39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Normal forms for context-free grammars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36C9C8-BD00-4521-A904-41F1D6280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Pumping lemma for context-free languages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95F5F47-5F21-4101-A313-58F6873AF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CF05038-DC8B-4470-B98E-19DE0810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34F071-D6D1-42F2-8853-423676E76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1B32A2F-D061-45F7-AC05-90AC05F6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assume regular/CFL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8B232CF-D4B4-44B6-9F51-976CBAC5B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0BE523-7E68-469E-A5CD-593D886ABD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E28875-DF6E-41E2-AC89-600C7FF63E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B82DBAD-7021-4BA7-BEE2-590D51FD2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split by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DD24A19-9140-4C6D-AC0D-9934DB80C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2A6741-BB86-4B01-BCB1-C8E19C4E4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9E4F33-A3AE-4137-80D0-D21F33934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3EA1E6-026D-49B6-8217-7684C28D4E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83773DB-5CCF-4564-8EB5-EB0D795847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A1FEF3-5C24-4DDD-BDAC-BAFDF1830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07795D0-55E3-432B-8B6E-435E0AD69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410B362-C992-43E1-858C-86F347C49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382222394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724E693-4D97-491A-92FE-63A21CFE4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D445D4-C81C-447E-8959-B7E421679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212F0E9-5A08-4A29-BC78-EBD566054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D6A450C-9100-4C2E-B56B-34854192B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8977292-DC14-4782-86D1-BD8E7FBA4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Pumping lemma for context-free languages: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73DBAEF-6A41-4B6A-8057-4C218C7B7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60A238-4A01-41B2-9BAB-CE635DF687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6E7E699-23F8-4D2A-82F1-E170860E4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751E812-BF33-48B7-A0CB-490C031B4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F405C93-1342-4479-AA28-99FFD75CE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20A38C-A614-4902-92E3-BDF39507E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CD152F8-C68F-48DB-BAD7-3A308A523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4319002-AD69-403B-90A6-B9584B9D0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assume regular/CFL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073265-29F8-4DE7-84C5-92BCB972D9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choose long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DE03EC-CCEA-4337-B67D-776B1A1AF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E6D74-C0A9-4C35-ACAC-6A4340E77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C736C1A-F9D1-470E-BA6F-E93B12F61F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229EB1A-7EC0-4C80-BB0E-5E722CD81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choose long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3BBC6E9-67E2-4647-A3DF-A8C4FEA6D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split by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749AC1A-F42C-405F-A0C6-2CAEACC38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C52EC4-2B58-4BA7-9D00-BFF4FAA24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D909AB8-5D10-46D4-99AA-0C2A48904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E397A82-E136-4CF4-AA3B-DC7CB51140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split by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654BB3F-FF64-4560-A28C-8F4648F8B0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pump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F31F7F-8AA4-49CF-9E9F-8A414EA53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56D9629-8A29-46F7-A684-0ABE719D20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2630D60-8B3D-4C0D-AA31-9DB0094894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43E048-6277-43F9-BAB5-269053F7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pump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6C27522-CD92-4BEA-9BB1-498718374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contradict language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8628C0F-C6FC-4007-888F-72BE46ED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EBC456-14E5-4F20-9A61-A09145F3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pumping lemma for context-free languages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347356350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EB8B093-7440-4256-97FE-099E5467F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4C3FC2-356B-4EB3-97E2-57AEAD6A0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FC6C519-49B5-4C91-88CE-FF4E90D45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340E82A-5473-44AA-A0BF-7CB0C5F40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435399-FC5D-4693-806A-E7E09DD2E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context-free languages: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5C194A-7D86-46FA-8622-52615D7C0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E1FB2F7-95A4-428C-9BC2-2A691932D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A08DBF2-837B-42C9-BD64-8EE0E22E8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2C7FAB5-BC21-457A-9CA5-9C43C0CC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B1E3826-E2C4-4E56-BC12-FC613F024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CB255A-2C9F-4D89-96ED-0005419C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Closure properties of context-free languages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4ABDD-24FE-4CA0-ABBF-FC908DCCD1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C22F590-185D-423C-8365-4B3D20E1E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formal model -&gt; rule application -&gt; proof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8F6694-70AD-4E0A-BA1F-E27B23958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BBCD1CE-F94C-4D9D-B1F1-62174F630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734DC90-B113-4E94-A513-888F0F265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0FCBA18-470E-42B1-A802-84DCDA1B62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3C661E-53FE-4360-ACB8-8F59EF55B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C6A051-EA7C-433B-9984-5EB9F7678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6956820-941D-4480-BE5A-7BBD71CFE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4A808B9-466F-4D4E-9B4D-EF60D2F88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formal model, input string, rule application</a:t>
            </a:r>
          </a:p>
        </p:txBody>
      </p:sp>
    </p:spTree>
    <p:extLst>
      <p:ext uri="{BB962C8B-B14F-4D97-AF65-F5344CB8AC3E}">
        <p14:creationId xmlns:p14="http://schemas.microsoft.com/office/powerpoint/2010/main" val="1349203757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2E6AA4-33BB-457D-B923-E14EEF8B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00D4BF0-6971-441B-9C33-3FEAD1C2CD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58ABC7D-BEF2-4F75-B5B6-EFAA05314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77C817-C0EA-4694-944D-E67ED1964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907BBF-2C57-4B76-95C1-B545A1514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Normal forms for context-free grammars: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2EB6F5-7B9D-4161-809A-923BC2979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20E142-9DB0-4995-8597-D9B92DE84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F34AA36-FB52-4F94-A6DE-1B73FC8D57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648DD3E-45A6-4672-BC9D-BA0950E4AA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413635120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BE6E1D2-AD49-4908-8D72-2CFA06DB06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08EF847-FA87-4DC0-A195-FF43C162C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5BF4CEE-C5D2-4BCD-9D88-FF993F30D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CFD31D-7A65-42C9-B70D-310DEDD75E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1CCFCB-1B81-41B1-9858-411C3298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Pumping lemma for context-free languages vs Closure properties of context-free languages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F1BA129-8547-4244-9CF5-AA9E6AACB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5E9990F-CABD-44D7-9EDA-4771D5673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307F6A-46FC-420D-967A-8DF68443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Pumping lemma for context-free languages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F2EEB23-D2F8-4389-8725-69FB6C73A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Closure properties of context-free languages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BEA431-1A1A-4E4F-BE9E-126187B7D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45588D-DBF2-4593-99C1-7EDB8F887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07189DC-DDC2-4E27-A118-3B206514C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assume regular/CFL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57408F3-C6EC-4AE2-8F20-A3F3762C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8A813A-F361-46F6-A8BB-4E7849D88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9134A47-D801-4C76-B27A-D0CD9C410E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5103D4D-3F6B-4F4C-B53A-24EAAE966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split by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0B542E-351A-46A0-9C28-4C4C41D10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96AE2FE-7890-4FB2-89B9-ACB6DDDA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05CE63-B3B1-45D7-9361-3065C0FD1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85AFE77-D699-470A-8E14-5EF0C3CA0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82DE151-A1A7-476B-9F36-77F329CA85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752084-5062-4DD5-87E4-D43A87642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209AD83-7E21-4BE7-B38C-9E2C5D01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4A75CFF-A840-4D4A-8015-39309A2E2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C555DAB-2A0A-42A6-9994-CDD9F18D2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853914443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52CF0B2-6AC8-45D0-871D-F96DFC48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B46F9C2-98B3-4A76-8BE5-7C3933BD0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428760-6186-4979-86F2-19D9A7C49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56481E7-F221-4443-82A8-5101C6B201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9735C5-69C3-490A-9648-4FC8842950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context-free languages: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E69766-F41C-42B3-8964-72FBFD696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027C50-4C97-4662-868A-B54D1C87AD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12C5F1-087C-4422-ACF4-280DB5C27A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3F24620-4971-4632-B35E-C3C7BB2E6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EFE8F43-F621-441B-9F19-6EB0433C3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9F825CF-7395-42DD-831A-569F6BE91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EEC1D1B-E665-4C20-BCAE-74B181F7C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2AFFEB2-41F6-4BA6-8E11-9D73E161C4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9D1EAFA-D537-4699-BEB3-5EBCBDB33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F14AF35-2397-44E0-AFA0-9B4023BDBB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40D9860-969A-4D47-9E3B-B3FEDD322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4E2683C-26F9-4790-BA87-D1E33C92D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5AD3198-C680-447B-8EF2-BDD5813FB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4FD03DD-C95F-40C3-A4CC-72C0356F4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172B503-4AC0-444E-B6F8-D0BEC451C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99FF81A-AF5C-42BC-AB82-7A5AB3F3D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F6C3725-6D53-49F2-86E2-AF1F57A3D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F81F81-5EFB-46A4-ABA2-31496064C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0380F37-AB73-4718-BA2B-79FD1F274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AC59981-9144-4427-AF6D-59D0068A0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64D7DD-28A1-4176-A2A3-ED9BB9F61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03C3E7F-8487-4799-8494-7A3B38157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8DC2111-96FF-4386-A6A1-6FFD9D9D6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3D125CB-358E-4D5E-9B0E-CB1FF3880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4B4B142-430C-40B2-9B70-EBBA0C4C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E162AD9F-5AE0-42CA-B507-AA57EA127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closure properties of context-free languages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756805436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2B7528A-2E70-498E-BB3F-FC7DBAB24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3CFB77F-E1BF-4304-BDE7-06479F969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7921D47-4AFC-4524-9ED1-28FD8620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EA293-08D6-4C0E-9545-8BE8DAAC36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9E5F77-23A8-4285-936B-9A8994D1D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Normal forms for context-free grammars: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2CAF4D-30DC-45A1-8C44-CE5A649B9C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0FE4D06-895D-4CD7-9647-F7DB4BB6F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DE99777-95E4-499B-8ABF-36C9C6EF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9D9B2E-4755-4E89-84D0-C93D9D601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D405A98-D02B-4660-B036-05C8D617B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4CD33-1EB8-4F10-B132-4A708B4C8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Normal forms for context-free grammars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E6283E-E084-4808-A263-DF444B491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E1BC38-0966-4BD6-ADA9-2B7AB70C4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variables -&gt; productions -&gt; derivation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D64FD5C-790A-4773-8DA1-A0039E017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0D3FDF-1ADF-4355-9522-DED87EBAB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CE8F22E-0407-46CE-B2E1-9AB50A1CF8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8DC46E-2E44-4225-8F76-F00DE205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96BC14-EE79-4964-A93A-E07F300F5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CB53DCD-220A-40E9-AD55-167139B97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87EBFAB-7D97-4014-BA6B-949DBE3E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16F0D9F-360D-43E8-99C5-C3FD206DE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variables, terminals, productions</a:t>
            </a:r>
          </a:p>
        </p:txBody>
      </p:sp>
    </p:spTree>
    <p:extLst>
      <p:ext uri="{BB962C8B-B14F-4D97-AF65-F5344CB8AC3E}">
        <p14:creationId xmlns:p14="http://schemas.microsoft.com/office/powerpoint/2010/main" val="257195282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0FD968-4C27-470B-99F4-B5E20FB5E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8F844B-BB7A-4A49-A44D-0C02DD164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C67403-C41C-4EBF-A662-2C1BC8EA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E72F29-C27F-464C-A8BA-4E7B644BE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59FDA5F-4992-4CA9-91B6-BA9A4CF22B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Pumping lemma for context-free languages: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11D2E28-9A56-4283-B829-C483A0EAD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4E31F8D-C8FF-4E42-882B-E534215B7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497EC4-018C-43A4-9E0C-3E801C4C9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D8D7370-4AB0-427F-8256-435A5AFEE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680013318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3A7F95E-1568-4464-A065-80DC202A99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BC71FC-E6E3-414B-AFA4-34BAB39B6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3AB128-7E4C-45A6-95B4-5632C2DB9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06EE29A-6787-4BBC-97DD-262FD0348C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29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4DD53-078C-42A8-AD82-9A33AB371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context-free languages vs Normal forms for context-free grammars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A05C63-9824-4E68-B760-550121FC2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385E89-E4EA-4F12-98AB-B7D2E8694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0C5830F-9C6D-4C57-8104-388C78EBA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Closure properties of context-free languages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2B5517-917C-4090-8005-77CC9CB05B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Normal forms for context-free grammars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71A4DD-1276-466C-AC07-A75AB1656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237C3E9-0242-4513-90BB-37DAF05BA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22D9AD7-F7DB-4479-807E-43B7E1F2BD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70E9686-8700-400B-8201-23FCD86C65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D1EC238-1266-4503-B61A-82E62A09DC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7BD36E-97EA-42FD-8063-4E308224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3908E2-9262-4D9A-9379-F45F47F665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071CC49-24EA-432A-B5B7-48658E959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A05700-B5C8-4D10-BB26-D185F6822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AD32E87-5574-4942-9C0C-BEBA175187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5DF993C-3E93-46D0-A345-C9BB4195B4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65CE127-D5F2-46C5-AAE1-05543CB0C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93EDB6F-BF02-4DB2-8BF6-AA4CB89412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041128-D167-4119-959C-220EE4EC9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871B51A-A92C-4832-8E8F-FC3C946CC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F27DB78-D018-4F6D-BF08-19146790A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39679434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21C8B47-AB5B-4F67-9972-8143DBC29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CF1B77-C325-4E36-848B-3E22EFBE3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FE2590-8519-48D0-BB1E-D017923FB7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932367-6806-4FAB-9F58-2672C84785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DDAC395-C875-4A94-9D0A-F2D5C5056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Normal forms for context-free grammars: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75673E5-8680-497B-AE9E-FA2F3745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2ACFD3A-7789-4F50-93D2-6A32E18DE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6D35AB7-2EF4-4EC0-A38C-9431963D4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7AFD58-4C29-4A4E-811B-2B8C7836D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95C929-3AEC-4E33-853C-483D0720C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58CCAAC-1DB2-4B2E-A2DF-39173F357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16992-EB2E-4B65-92E8-2B093F632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C9123E1-3E4F-43D3-BEE4-F3E4213C8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1444C9-9001-4767-875F-277AA227F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terminals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6A99D4-C508-45BA-9ECB-896DC806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7C5E8-A161-4987-B76C-0AC565F870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AD2C946-1F67-4842-A969-AF267F9E9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BD2B921-6CEF-4FF7-92EE-1134877EC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terminals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EE8085-B621-49F9-8E30-EB7645641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productions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002E36-DAC9-4607-BF47-E9466B1F81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1EF3D6-79BD-4819-8D78-C5995CD850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38B1FE2-4117-4ED9-8CFE-14FBE9446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D7031BC-65DB-4F54-B1A2-D3AA19450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22E8F1E-153D-4E7B-BFF8-71C6CA8CD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symbol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832195B-3C0E-4E84-B72E-8DC480307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3557529-5BC7-4830-9BDC-FD445FEA3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F5D0658-1A5E-4B7C-80E2-147F7C1F7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3023CCE-4861-4281-BD22-3F1EF0715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symbol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50BA913-E034-47FE-98F3-23F0F9393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derivation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A0EF163-9BF7-42B4-A670-AB4107E5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B95DACD-0FC4-4090-BB8B-0C680DD8C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normal forms for context-free grammars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255262784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654FD21-6220-47A7-9D07-8AB8CA955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1C4DE06-1FFC-4EB3-9256-4F104BE99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B4F8A2C-0F1C-45FF-9DBD-F592AE544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DB250E-D012-4DDE-8299-1BF303955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2B0500-3EC4-4366-BBEB-C4E990009A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Pumping lemma for context-free languages: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5D28C8-7228-4535-9505-469FF741F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5CF4FC9-4C72-45FC-BA02-6A216F3AA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AE1DBC8-7D48-4C3C-82B7-7857A464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B98E45-117A-48A8-8152-A53F1E787D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D487E1-FC37-4E5C-9849-C41A031E4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28487DE-A94C-4081-B550-166EC5A8D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Pumping lemma for context-free languages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4C2FBA-96A3-4B43-8775-16A3C12632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287475-514D-4B3C-8BEE-718154F17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assume regular/CFL -&gt; split by rule -&gt; contradict language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77A74B6-97AB-49B4-B30A-CB441A51D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987469-3D92-445D-A8BC-E3E477FBB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2C3572-40B9-4090-8041-E8C34E9D1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9DFF26-564A-40FD-9209-89B47C071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4AE44A-A377-444D-BF75-8F40215AD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A861F35-FD54-43CE-A6FE-23700C265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AE86633-6028-4A8E-B435-972DC8918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8635E16-6FC6-4369-9A69-3CD3BEBFB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assume regular/CFL, choose long string, split by rule</a:t>
            </a:r>
          </a:p>
        </p:txBody>
      </p:sp>
    </p:spTree>
    <p:extLst>
      <p:ext uri="{BB962C8B-B14F-4D97-AF65-F5344CB8AC3E}">
        <p14:creationId xmlns:p14="http://schemas.microsoft.com/office/powerpoint/2010/main" val="1404986413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56241A2-EB29-466E-A25F-12BE6CB43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015F73-B2EB-41AF-A2D7-D2AC03B6C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CAFF2F-050D-408D-BC57-3F66DA331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C66A8B-678B-4480-8E1C-267D31AB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E069A83-A94C-4C50-A797-842E6D90A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context-free languages: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233E0-4392-4D4A-952E-25639A97C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10A33F-EDED-4280-A62C-F081353AC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4E37A-4BFD-4342-8BE7-49E2557AB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15B6938-405A-455E-AB6C-EE061161D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499734025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A6C6797-96D6-4C61-B2FD-1F12A8CCC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58BD610-3F16-49B8-AAED-E4B7719F1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53ACAD-2BB2-481A-8226-1929B50B9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3B8FAA-DC8F-4098-AFD4-7C20BAFC7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CA84F-E585-45CB-9A07-636445F6C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Normal forms for context-free grammars vs Pumping lemma for context-free languages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A8DCB94-A4F6-4DA4-9528-758F058D4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E43C99-8B59-4B8E-8D41-5965DA67C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AAF9E2-683D-4562-AC44-DB6E8D0CC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Normal forms for context-free grammars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D497EE3-9B89-4941-B55A-DFF0B6446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Pumping lemma for context-free languages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272B39-3A4D-42BF-BD1C-32F556399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E941F2-D4DE-4207-8B28-6211B666B4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A8498AD-66BA-4789-9BD5-28130C96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88F9973-659A-41E3-A121-2D3D50E74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assume regular/CFL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24FD336-5EDE-4F56-903A-A57E0BCBA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B2FD935-804F-416B-B8ED-C4D8C0814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AC4577-B333-4566-A46B-4F2EB0D03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DDFFE72-62D5-4F64-AEAC-505354791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split by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BC13CC-BCCB-4BAE-85EF-91587F548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62A55DE-12B1-4F26-A6AE-4751A6E08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B57DA57-8D23-4973-A6A5-C436C3D26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11BCF5-3EEC-42FE-BAF9-B3A95B668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958F8A8-7220-48F6-9713-F3DCA3699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A72F599-0150-4E03-9185-C4A9B40AE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0C5A2BE-84D2-480F-9F57-D08735B1A4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B46D231-224A-43AB-8B74-3C14DCD4F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13226293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E3796B3-BAA0-4BB8-B8D4-990502A35C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EE346C8-6832-4210-A63E-202F965C5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9E2603-6467-450B-AD99-A3EC455AC7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99B3B7B-F649-4145-96A2-D349826A7A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CCD17B8-ADF1-40FB-92FE-2C676265C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Pumping lemma for context-free languages: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8F3D3E-0A86-4E63-8369-875A98C5A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B6CD5-3ECF-48BA-8E6B-98F55CBF6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B3C32C-95EE-42E2-AB09-A5B55C56D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961892-0D1D-4DE6-BD66-FD778C4D7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D38B56-A182-4C67-814D-24CA6436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5C5DD48-F7EB-4DE6-B866-274DB6684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A69A97-99C3-424E-800D-BDF2EE7F9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9CAE8DD-A406-486A-B783-0C8A444BD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assume regular/CFL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BE3983-0470-4FEB-A59C-562AC3386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choose long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727FE0F-3997-4867-8821-9A4DF8D92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ED3D0F-9B28-406A-8FEA-9BF348725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EF36AF-D9E9-4FB2-8AAA-86B434BC4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44E276F-1608-4496-8659-75A9566AE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choose long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2EDF828-0C64-494C-A542-25AD9BBA6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split by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D64BD-071A-403B-9A4B-87E974ED9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7CD8192-B311-4694-B8B6-5A86C9D9D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FA6F727-36DF-483E-A591-2A686BD71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D9B11DD-C0D0-4A8A-B5BC-80E32BCBC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split by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5B29D1B-23E7-4FC0-9FD4-3C92F0240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pump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CFFECAF-0089-473C-A298-987ED1A6A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8B95577-A1C6-4D42-A2D8-FAFD842A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EEF3A3-1511-422A-AC1A-B5E638532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32E1A68-D16F-46F0-86E3-462E08096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pump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6DC3E61-6089-4050-B7AD-5CB6B93D2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contradict language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72E5D02-ADD6-4754-929C-D3C2D386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73FBD4E-2DD4-41B6-8AEE-F74CCF84B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pumping lemma for context-free languages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504751629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DACEF9-A93B-4E47-8BFC-2C1F35832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8EA7246-BB45-4049-8238-C1B559BAE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5D8652B-7A1D-4D85-BC42-18A1CB1EC4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346A93C-EEB3-4CD7-9248-CA2865A5F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1FC0468-754F-4ECE-8DBB-9239E2EA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context-free languages: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ECB16B-9AB8-4E74-BD6A-12AF52309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FADD7F-6B61-4270-8113-4D0F83A93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BEDA36-B3C7-4E13-BE60-F175B6611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6D7AF71-7FDC-4B12-BE6B-3069FF7D1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2AED8E-CC1C-4E30-901A-FBF5FFA45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FD4866-FBFE-4C07-BA47-9E1C92D15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Closure properties of context-free languages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A3C8A20-F645-4B2C-80D7-496871602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03B2F4D-99AE-452C-BA8D-C29D413C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formal model -&gt; rule application -&gt; proof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2476486-E514-4CE2-8E26-8AD855D40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5CA0A05-4291-4EF9-8311-084BD1FF07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D83AEDF-CE7E-4470-9E3C-917E38CEA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04E0694-6FC7-43A4-B5D8-4A183744D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B2E2747-EE94-4232-B0F1-78D85BF8F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F94455-F0D6-46AD-8778-0E29F97FE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EAEF38A-7EC2-42DD-A6C2-3B7A96A9C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B0E6DBA-F998-4324-A9FA-AA4AE316A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formal model, input string, rule application</a:t>
            </a:r>
          </a:p>
        </p:txBody>
      </p:sp>
    </p:spTree>
    <p:extLst>
      <p:ext uri="{BB962C8B-B14F-4D97-AF65-F5344CB8AC3E}">
        <p14:creationId xmlns:p14="http://schemas.microsoft.com/office/powerpoint/2010/main" val="164730918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48106BD-A6F1-4052-ABFB-DAAC793E9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FC9F45-E8DB-4F13-9FF1-B687E80D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89D4B5-817A-40DB-9072-4C8398764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D6BFE29-50B3-451C-A2F9-0A696E7376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A69FF4-4E33-4FBE-9DF7-05DFDAEB3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Normal forms for context-free grammars: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2681A8-8FD4-4BFF-90E5-E2EEC747FC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CB7BA7D-5E57-405E-8A48-17E6ECC5B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4DE48C-5B62-4707-8383-6950E03E00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2A46E93-E18C-4235-A4AB-D94797341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222673338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CC4AE5-01AB-4DBD-9EC5-975A49E4F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2BC4BD4-0C2D-40A0-86DF-A7428FD8A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C1D6E29-2A92-47B8-AD55-8B307B102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9B96125-309F-4B3D-A112-31E048EDD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983229E-2303-40B3-B7A2-1F255D296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Pumping lemma for context-free languages vs Closure properties of context-free languages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D50A9E-3B76-455D-B670-DDF32E839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C4F8E6-E09B-4A1C-A796-A6FA87E6D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B4857F-C23C-4F80-8264-F125EEF69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Pumping lemma for context-free languages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4F6DF3A-A331-4492-A82F-DAD03D1EF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Closure properties of context-free languages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ECE0935-338B-4431-B1D9-72B8DA5C1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36181DD-CB8B-4C1E-ABC1-8F8C3B39E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6D7052C-373B-403B-9B42-A4711D6EC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assume regular/CFL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3E5A7F-BCA3-429B-B174-3516A87693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D344E46-6A36-44D0-B29B-5C9F47DA9F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8C4C2F6-72EA-4455-B8C2-C68BA88BB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4AE2530-F1A7-4919-9ECA-6A11F8DAD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split by rule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4D04CBF-C998-49BA-BF9E-C5FB0C6AA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CB65AB9-A97A-41DD-A9E3-B8AD6D1B6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D16FE47-20B1-4E28-A1C2-633370693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ED4BCE8-616E-4337-BD68-4C7BD431F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727406-B356-404A-B8D2-BED53B4A5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32E9E23-86E5-43F0-953F-21DA4D4BA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C8AD7C8-5557-4148-9F7D-8DC585550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352720B-AAEF-4670-B490-59957CEC4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6475526-AB4A-4E65-976D-42B8A5DAB1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579996491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A1006FE-4C45-43B0-9AA3-E424A844B0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8D9B85-5F0C-4228-9853-E0B905D1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C5A4724-94BF-4ABD-8E0B-0732447B3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8D9C09A-9687-4CD3-A4A5-0E706DF3F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1AEF3F2-80A8-41A6-A4B8-B7F08D9566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context-free languages: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C0B4DC-5B15-4A39-B885-34E04AAC1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CEDB8A-0726-463A-A62C-8FD173D66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3D505A3-3E1C-4F8D-9DC5-5701F62C6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36BB61-59A7-45D5-8797-27A75A7CB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B7566DC-B9B8-4CA6-B6B1-4E6FAF73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03B64F-2D5D-4BBB-BD6F-E27FDAB00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C966A9B-4487-4599-BB53-AC3128165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B61843-DFB8-4E86-A991-924135B37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423B91A-BEF2-49F5-99C5-82276433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input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7D0F6C-64FE-4944-8A39-FEEF76183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BB2C50-6A18-42A2-AE35-3C61D86750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F5A630-1C03-4F3C-8267-A2250CE76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D1F364-239C-4DB0-A8CA-EDCD2318A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input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91C7972-8FC0-4847-99F2-7649D8AFF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rule application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2E52E74-A96B-464E-B74A-41EDADD97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3D301B9-CD85-437B-A58A-BAAF66A75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EF618D-8783-4163-ACB7-3367E1B30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7DCD6-77F6-40FE-86C2-751C7E964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4A76878-106D-4F7C-A2E1-A5D7B285B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acceptance condition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AF6FA7C-B42C-47E9-9426-F6F7F3596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1227546-BEEF-481C-946D-7A89AE633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EE7315F-5E07-4001-9DC9-20CA3130B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228AE-D185-4113-9E28-703E611A2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acceptance condition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E8AEBDA-6669-4222-B13C-5F30D2C4B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proof idea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F2A7E9-B1F9-4F93-8F57-FA11ADF54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E587562-7BCA-45B3-AF5B-B1109B647F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closure properties of context-free languages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724750345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AEF8316-EE73-46C1-BF9C-354F8F27E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65CF9F-72E7-46FA-9B70-4B8DB68B1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8C5E62-9D0C-44A8-B489-8916B0E6D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F0CDDF-71F5-47B9-A402-9FE1406F3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39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550F11-145C-45CA-B64B-FE0A5B34D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Normal forms for context-free grammars: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1530F1-43D3-4771-8160-F184AD2B9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D2C402-F4DD-4940-AE24-74042AA911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8D012BB-FAE6-417A-97A2-75AF010AB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A9A260-144A-43F8-BBF7-46F55B1EE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D077BF8-F821-47C8-9906-2358EAC5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1BD4216-0B8A-4938-93E0-EFA45FC9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Normal forms for context-free grammars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E21DF6E-381D-4126-A67D-3A890DAE2E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08A322-8D31-4CE1-991B-78EC2BF81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variables -&gt; productions -&gt; derivation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FB7F208-7E17-400A-94DD-D0254B09B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304755-8F30-45EC-958C-2364CDC8C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3AE5F7-BF36-4DFD-AC56-9829C4120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3AD246-65AC-47ED-8BD8-9D54B31A1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D7A19C4-C759-4564-9626-E6A26CCD2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EECD7FA-AB3B-4279-BA26-37808699D0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137B316-8435-4902-B184-BE8470B11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A1D8D9-CE29-48D8-ACA0-9E3A402FF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variables, terminals, productions</a:t>
            </a:r>
          </a:p>
        </p:txBody>
      </p:sp>
    </p:spTree>
    <p:extLst>
      <p:ext uri="{BB962C8B-B14F-4D97-AF65-F5344CB8AC3E}">
        <p14:creationId xmlns:p14="http://schemas.microsoft.com/office/powerpoint/2010/main" val="1758822338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5F8047A-3546-4D8B-A842-4AEBCEA35A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360A79-C073-49F1-9402-4937A4EE5B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4E7A49-36F1-403A-B8EB-CC309D001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55DC08-848D-4D47-AFB9-9E14298C5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3D899B-0645-4D23-82D9-CF1AA7D43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Pumping lemma for context-free languages: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48BEC88-43B2-4829-9DE3-C29FFECD6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D3EFB5-75AE-46FC-8AA7-4367A19565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B310B5F-45F7-4351-91C6-C0D8E9E98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78375C-E8D3-487D-B87B-29D3F3295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422358081"/>
      </p:ext>
    </p:extLst>
  </p:cSld>
</p:sld>
</file>

<file path=ppt/slides/slide41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178468D-EA54-449B-9B55-D85DFFA124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AD9CDAB-E991-469B-97B4-262148DA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00479A-19D3-4AB3-914C-C6F02681A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696215-6D9A-43B7-8A18-A3E600DB3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2B6CB0F-32FE-4944-BDB6-D771E2347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context-free languages vs Normal forms for context-free grammars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F9DE7F-A9CC-40FE-AB99-2321C66F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B5FB08-BC42-40C3-888F-E01E67AD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8D9A254-5456-4E07-A9C7-A6D44BF4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Closure properties of context-free languages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011760-F94D-4EE9-B6F8-F7A526DE2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Normal forms for context-free grammars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DF902A-6616-4394-8D80-222CBC44A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69941F-6FB3-40BB-AB42-AD336891D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BCCE4CA-C4BA-4C44-BE9E-001697CD0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formal 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A0AD25-6C8E-4368-9C9B-A8ECFC3F5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23EF9B-5774-4603-9048-4A94EABA8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A31CFD-291A-4D34-AB4D-7DDFE709B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3091678-71DC-4608-96AF-EC0F63FDD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rule application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2970CC-DA33-49C0-A0F0-38D17047C6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937B605-9F96-42E1-87F9-05B38B406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5A7DB23-0D2E-455D-8AC9-8DBC37436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2BAD962-F92F-4DED-91F5-E535A2862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0A330C-57BB-47D4-8488-DC4CCAA0F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E4ED24-5129-43EA-93D8-0C67447AC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6F686E7-0662-41F6-942B-51FE6700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A4A24F4-3349-48E6-8F31-6C4767D5B4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0567744-0739-4C50-B543-AD00AE5A0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1501134314"/>
      </p:ext>
    </p:extLst>
  </p:cSld>
</p:sld>
</file>

<file path=ppt/slides/slide42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D51B2AD-0304-4B11-A61A-12C1C0E9C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E147DC0-0F77-4BF2-9CF2-734D98FF3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C8FD720-3FBB-4159-9E25-713C343E1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B2CEF8-EDB9-48C7-BDD4-685F5F254A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E2AD18B-7573-4954-BCD5-53104F84E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Normal forms for context-free grammars: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40BAAA-F450-4D53-9A86-57E10D2918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8979126-B7FF-428D-8B8E-971CADB55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C14D12F-39C2-43AE-B57E-A3A4AAF3A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FC51B03-F0D9-446C-9DA6-F4CBC0AE7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7732ACA-7FD8-441A-BBDF-F42F6E2CAE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68530C-6C3F-45AE-A3AE-FEA60C32C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080C4C3-83ED-4C82-B9C6-88900F7FE3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2E74EF-BDC2-4648-B9A6-9B8062FCF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EC7873-7B65-4132-99C4-CB19975B9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terminals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C5CD537-58A3-49FA-AE17-232201F31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A2E570B-3700-41D6-B8EB-7398A8BD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533D349-3972-4707-B556-3615DB9CB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252401C-5384-434B-AD3D-76581CECC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terminals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967DB1F-0A37-4B44-821E-A16105C0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productions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BF74ACE-C056-4EBE-9600-24CD295F8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1A9286C-9A12-46CB-8644-47C62A4B3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8A8CC80-D38F-4730-B869-E4834E766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FE56A12-984F-4013-BED9-36248A788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D23BDE3-1588-4B90-BDD3-7256F05DD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start symbol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DA0D9B6-A178-43C4-B233-B426284D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9369B03-644D-4F49-A05E-378454BF7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74D5A70-BA7C-429E-A98F-E600B9A1D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2314BF-0265-4D61-A6CD-BE358F532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start symbol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F0F30E-3B3A-4E00-B4F6-7C8D152EC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derivation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E708A07-4FEC-4578-B576-BC378387D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6278AFD-A89A-49D6-A538-EB82115B3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normal forms for context-free grammars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632969675"/>
      </p:ext>
    </p:extLst>
  </p:cSld>
</p:sld>
</file>

<file path=ppt/slides/slide43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2ACD9-B4A1-4B4E-95E8-A09ABF748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D78CBD-FCBD-4624-8901-EF07602FB5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3A0BF20-3955-4C83-84AA-3BDF0E955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C1ED48-4F43-417C-87FB-2E4058C66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B7FFB65-85A4-4455-ACE1-8CE35B830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Pumping lemma for context-free languages: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C08F0E-F8BB-45E9-8B6D-D502A9458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023DA06-C4AC-4DFB-8C19-FF8247490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42010C-7546-4CAD-9AF3-DB5AD59FD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D89688-A461-4542-ACC8-5DF1569DB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FD5FC-64B5-4F51-9581-782A579B0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5C5390-CF38-409D-B3F7-660D43CB0F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Pumping lemma for context-free languages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4693C1-92E7-4E29-82E3-0EA1C071B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334278E-E258-4727-A932-EEB74DA25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assume regular/CFL -&gt; split by rule -&gt; contradict language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F3FC0F-B833-4BC8-ACE9-D991928749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DB1BF69-2670-4100-9D4E-F11DB38C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06895D0-1268-473D-A4A1-287786E718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EDAE355-B78F-4C80-A022-78FC67F03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4E8521-0EF1-4389-BA77-4EDDED516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1648922-FB83-4303-B09B-FCD2EF24A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05BBCF9-B7EB-4BE4-8DF8-7242B25BD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38D20B0-3767-43F7-B0FC-8178667B6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assume regular/CFL, choose long string, split by rule</a:t>
            </a:r>
          </a:p>
        </p:txBody>
      </p:sp>
    </p:spTree>
    <p:extLst>
      <p:ext uri="{BB962C8B-B14F-4D97-AF65-F5344CB8AC3E}">
        <p14:creationId xmlns:p14="http://schemas.microsoft.com/office/powerpoint/2010/main" val="1462200663"/>
      </p:ext>
    </p:extLst>
  </p:cSld>
</p:sld>
</file>

<file path=ppt/slides/slide44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992170-62C1-4B6C-A405-508452849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DF60E8-85F8-4145-9F05-22950321B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F7073D3-D27C-4012-AE67-02BB30E54D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83FFC82-782A-4222-B7C8-92B76D901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9B71FC3-2593-4543-AE71-1F332A6B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context-free languages: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787102-1DCD-49FE-8EC6-C9274CEB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89B4643-BF27-497C-B102-B71486501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0C107B-3EAC-4594-B195-3460C3DA28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2F5E9D-4014-414D-9C10-C64E53E59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1310920312"/>
      </p:ext>
    </p:extLst>
  </p:cSld>
</p:sld>
</file>

<file path=ppt/slides/slide45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E4CBF3-E819-481B-8192-5ABB62BDF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A94D2B4-451D-46DF-84A1-6C73B903C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3B46D7E-D325-4FCF-82B6-C2C88021D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D4595DF-BDE9-4593-9AE0-B24458A38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01E299-17BA-427A-86D2-5076447E01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Normal forms for context-free grammars vs Pumping lemma for context-free languages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1682D-088E-4A76-943A-E9C3960C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EDA8EB3-1387-4F37-853E-E99205D24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Basis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FB09FF-CD09-4EC5-9948-4B00BEF8CD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Normal forms for context-free grammars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DF01F-D219-4DAD-B2B8-2BF562AE5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Pumping lemma for context-free languages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C69AFF-F6D4-4129-A3CA-90E82C393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4C77487-F5D5-470C-B160-DCFAF8D4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solved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E828EF-378E-4CC3-BD7F-B212FAB3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variables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DCD96B1-04D3-4030-AAE7-E5964D25B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assume regular/CFL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4F3903-37AC-4AE9-B812-774F4AD87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7AEB61A-0FE0-4FD0-A4A8-7D590FE85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Main mechanism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C8F41D3-3715-40B2-A81B-183D61016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productions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4B83E6-3F54-492B-BFFD-047F6D8E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split by rule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EAC2051-8E3B-4131-AE3D-99B3BB981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2BBFD99-31D8-498F-8683-1A596D717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Where it fits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6C3CA0E-A04A-441C-A9EB-10EC0B25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assumptions match the scenario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67024A6-4F20-4F7C-9649-192F1B163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when its trade-off is acceptable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76A62D-00B7-4A70-98B0-AB0B86E70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EB1F6-452E-4543-9A37-06B669736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Exam cue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E49F610-A9BD-4F4C-A106-D0ADD47FF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Define, diagram, example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FC95BB6C-8803-4F92-8752-6C50734C8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46767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Compare with basis and conclusion</a:t>
            </a:r>
          </a:p>
        </p:txBody>
      </p:sp>
    </p:spTree>
    <p:extLst>
      <p:ext uri="{BB962C8B-B14F-4D97-AF65-F5344CB8AC3E}">
        <p14:creationId xmlns:p14="http://schemas.microsoft.com/office/powerpoint/2010/main" val="271692050"/>
      </p:ext>
    </p:extLst>
  </p:cSld>
</p:sld>
</file>

<file path=ppt/slides/slide46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0FBFAF0-3808-42E0-8E9A-2C6319742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D28D96F-1F0C-4379-96EA-EEA6569C8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3C423E0-A3C5-4F22-A18E-667C0678B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43007B-F008-472A-89D6-41F3657930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349E2DD-0DDC-4546-9C2A-B71994715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Pumping lemma for context-free languages: 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152F8C-4113-4892-9B18-B72BB8758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31203E0-5378-4510-BBE3-1160639751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Step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A81DF6B-880D-42F6-A8CA-6217162AF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Current state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04963BB-968B-48EB-87EE-3E5291ADFE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Operation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5C44B5-4DC9-48F5-9608-B49FF2CB0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19335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New state / interpretation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D1EA74A-E6C3-4E03-9588-22A137501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ED1A9B-3AC4-4DA7-8F61-5275F7633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7255FDD-ACCE-4B2C-B237-1A99A6A47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assume regular/CFL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9811D5-8C23-4A80-8D57-24F4994CA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Identify choose long string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67077B-E43E-4A12-BA9C-6300DC828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26193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Problem is framed correctly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C59C3C5-53CD-46F0-AB10-E035167CB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C16D09-C152-46D1-9F73-984A1FEB2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2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D22E6E9-108C-4A8A-BEB4-A6BAD35E9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choose long string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75DB8AF-8C98-4CDB-B531-9754EF8EC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Apply split by rule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C420B5E-3639-4601-979D-D56FAA64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3051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Mechanism starts producing a result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A8CF9E4-CC30-4ABE-A7FB-747C6531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FA631A7-04BA-44C3-8E86-25249329DE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3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B0276DA-07F7-43CF-842C-5FFD67A38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split by rule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EF8244-152A-413A-927B-B958E77AD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Check pump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172803-5E4B-477A-BF58-6BB52A66A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39909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Intermediate result is validated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D5519B-78C6-4A1D-93DA-354A9B632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5529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BDD732F-42BA-4365-8819-C978B3B43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4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92DF764-5BAD-4CDF-B053-1F9C5C87D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2902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pump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103F2E7-B517-4413-89C6-B6B087BC3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Conclude contradict language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6900D5E-83EB-47BF-ACE0-A715F008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05875" y="4676775"/>
            <a:ext cx="24098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Final answer is exam-ready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AB32C7-DD42-47C5-ADFE-CAFAE9883D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81650"/>
            <a:ext cx="9334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4B5563"/>
                </a:solidFill>
              </a:defRPr>
            </a:pPr>
            <a:r>
              <a:rPr sz="1650" b="0">
                <a:solidFill>
                  <a:srgbClr val="4B5563"/>
                </a:solidFill>
              </a:rPr>
              <a:t>Use this structure whenever pumping lemma for context-free languages appears as a 10-mark explanation or trace problem.</a:t>
            </a:r>
          </a:p>
        </p:txBody>
      </p:sp>
    </p:spTree>
    <p:extLst>
      <p:ext uri="{BB962C8B-B14F-4D97-AF65-F5344CB8AC3E}">
        <p14:creationId xmlns:p14="http://schemas.microsoft.com/office/powerpoint/2010/main" val="1069744835"/>
      </p:ext>
    </p:extLst>
  </p:cSld>
</p:sld>
</file>

<file path=ppt/slides/slide47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0DB7924-E71F-41D0-BF80-5D4C0962B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5CDB8E7-BC8F-4C99-B64E-7E7F4E2B9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D5ABB42-8D7E-4C86-9724-E5FFEB11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E406A9C-14FF-4A97-B000-4C036FA0C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7905C52-EBCC-4C79-AFA7-F509FE40E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Closure properties of context-free languages: common confusion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0063070-B89C-4B02-9B0A-DB244108E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8097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9525">
            <a:solidFill>
              <a:srgbClr val="DC262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3D93DB5-1674-4297-B364-8A5730ED5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F812E6-40D4-4EA2-BD64-432C4377F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Why it is wrong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6E6ACA-F31D-4DF6-97B8-C24052DC0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19335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FFFFF"/>
                </a:solidFill>
              </a:defRPr>
            </a:pPr>
            <a:r>
              <a:rPr sz="1350" b="1">
                <a:solidFill>
                  <a:srgbClr val="FFFFFF"/>
                </a:solidFill>
              </a:rPr>
              <a:t>Correct classroom answer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D04C86-8959-43A6-8663-9686FB60A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955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488D184-9E36-4039-A592-9DA44A07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Treating Closure properties of context-free languages as only a definition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7B11A3-4F70-4B1B-BEB5-CF4A8391E9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The syllabus expects working and application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8F7AFE-F8AB-44B3-A7E4-8048873F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26193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Explain formal model -&gt; rule application -&gt; proof idea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8C25C4F-5D77-43B6-86C4-6343A9A94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813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E1D42CD-147D-48F2-BBAD-D09C0D2B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Skipping the diagram/trace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F718AE-3505-4D35-B274-74AED45D2E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It hides the mechanism students must remember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D5964C-D5C9-4EC5-85A0-31E66C374F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3051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Draw the model first, then explain labels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6D438B-5E8D-4C34-AD35-379B441F5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867150"/>
            <a:ext cx="10553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BD5E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625A991-D797-4116-B8F7-593563E55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Using vague words like fast/good/better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B746876-0F6E-40DC-B521-47B34DA76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85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Marks need technical criteria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49EE484-4AF0-4604-9E0C-4AE8AE3C9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6400" y="3990975"/>
            <a:ext cx="3289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33"/>
                </a:solidFill>
              </a:defRPr>
            </a:pPr>
            <a:r>
              <a:rPr sz="1275" b="0">
                <a:solidFill>
                  <a:srgbClr val="172033"/>
                </a:solidFill>
              </a:rPr>
              <a:t>Use terms such as formal model, input string, rule application</a:t>
            </a:r>
          </a:p>
        </p:txBody>
      </p:sp>
    </p:spTree>
    <p:extLst>
      <p:ext uri="{BB962C8B-B14F-4D97-AF65-F5344CB8AC3E}">
        <p14:creationId xmlns:p14="http://schemas.microsoft.com/office/powerpoint/2010/main" val="2038203820"/>
      </p:ext>
    </p:extLst>
  </p:cSld>
</p:sld>
</file>

<file path=ppt/slides/slide48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36A0BD-4383-4DC9-BEF7-4DA6F0352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3E6E54-76C3-4244-B832-843DB0D33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9C23B50-666C-45A9-BF95-3BE288D2B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3F28D6-B057-4AE5-8AB1-26CA5771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183712-326D-4595-9E18-BCFBF7CC9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9334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775" b="1">
                <a:solidFill>
                  <a:srgbClr val="172033"/>
                </a:solidFill>
              </a:defRPr>
            </a:pPr>
            <a:r>
              <a:rPr sz="2775" b="1">
                <a:solidFill>
                  <a:srgbClr val="172033"/>
                </a:solidFill>
              </a:rPr>
              <a:t>Normal forms for context-free grammars: transition view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9ED2D0-62A8-4F21-9D75-81E796028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q0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DB43DB-801E-4E16-AA7F-01E2BF455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705100"/>
            <a:ext cx="1047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72033"/>
                </a:solidFill>
              </a:defRPr>
            </a:pPr>
            <a:r>
              <a:rPr sz="1800" b="1">
                <a:solidFill>
                  <a:srgbClr val="172033"/>
                </a:solidFill>
              </a:rPr>
              <a:t>q1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80EF3C-7A77-4C2E-AB30-A88E4C788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705100"/>
            <a:ext cx="1428750" cy="800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13335">
            <a:solidFill>
              <a:srgbClr val="DC262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72033"/>
                </a:solidFill>
              </a:defRPr>
            </a:pPr>
            <a:r>
              <a:rPr sz="1500" b="1">
                <a:solidFill>
                  <a:srgbClr val="172033"/>
                </a:solidFill>
              </a:rPr>
              <a:t>q2 / accept</a:t>
            </a:r>
          </a:p>
        </p:txBody>
      </p:sp>
      <p:cxnSp>
        <p:nvCxnSpPr>
          <p:cNvPr id="20" name=""/>
          <p:cNvCxnSpPr>
            <a:stCxn xmlns:a="http://schemas.openxmlformats.org/drawingml/2006/main" id="6" idx="6"/>
            <a:endCxn xmlns:a="http://schemas.openxmlformats.org/drawingml/2006/main" id="7" idx="2"/>
          </p:cNvCxnSpPr>
          <p:nvPr/>
        </p:nvCxnSpPr>
        <p:spPr>
          <a:xfrm xmlns:a="http://schemas.openxmlformats.org/drawingml/2006/main">
            <a:off x="2667000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cxnSp>
        <p:nvCxnSpPr>
          <p:cNvPr id="21" name=""/>
          <p:cNvCxnSpPr>
            <a:stCxn xmlns:a="http://schemas.openxmlformats.org/drawingml/2006/main" id="7" idx="6"/>
            <a:endCxn xmlns:a="http://schemas.openxmlformats.org/drawingml/2006/main" id="8" idx="2"/>
          </p:cNvCxnSpPr>
          <p:nvPr/>
        </p:nvCxnSpPr>
        <p:spPr>
          <a:xfrm xmlns:a="http://schemas.openxmlformats.org/drawingml/2006/main">
            <a:off x="5381625" y="3105150"/>
            <a:ext cx="1666875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DC2626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08C1972-158A-4D35-A672-121377F694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86250"/>
            <a:ext cx="81915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0">
                <a:solidFill>
                  <a:srgbClr val="172033"/>
                </a:solidFill>
              </a:defRPr>
            </a:pPr>
            <a:r>
              <a:rPr sz="1875" b="0">
                <a:solidFill>
                  <a:srgbClr val="172033"/>
                </a:solidFill>
              </a:rPr>
              <a:t>Input symbols drive state changes. Acceptance depends on the final state and the formal model's rules.</a:t>
            </a:r>
          </a:p>
        </p:txBody>
      </p:sp>
    </p:spTree>
    <p:extLst>
      <p:ext uri="{BB962C8B-B14F-4D97-AF65-F5344CB8AC3E}">
        <p14:creationId xmlns:p14="http://schemas.microsoft.com/office/powerpoint/2010/main" val="2055089272"/>
      </p:ext>
    </p:extLst>
  </p:cSld>
</p:sld>
</file>

<file path=ppt/slides/slide49.xml><?xml version="1.0" encoding="utf-8"?>
<p:sld xmlns:p="http://schemas.openxmlformats.org/presentationml/2006/main">
  <p:cSld>
    <p:bg>
      <p:bgPr>
        <a:solidFill xmlns:a="http://schemas.openxmlformats.org/drawingml/2006/main">
          <a:srgbClr val="FBFBF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EE8523F-ACA9-42AF-80AB-54598A32B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28600"/>
            <a:ext cx="619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B5563"/>
                </a:solidFill>
              </a:defRPr>
            </a:pPr>
            <a:r>
              <a:rPr sz="975" b="1">
                <a:solidFill>
                  <a:srgbClr val="4B5563"/>
                </a:solidFill>
              </a:rPr>
              <a:t>BCS503 | Theory of Computation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A95A75B-0C86-4D87-A5CE-1842C85CD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286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4B5563"/>
                </a:solidFill>
              </a:defRPr>
            </a:pPr>
            <a:r>
              <a:rPr sz="975" b="0">
                <a:solidFill>
                  <a:srgbClr val="4B5563"/>
                </a:solidFill>
              </a:rPr>
              <a:t>Module 4: Normal Forms and CFL Properties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306B8B8-D888-49C6-BA45-C0360AC36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2E2"/>
          </a:solidFill>
          <a:ln xmlns:a="http://schemas.openxmlformats.org/drawingml/2006/main" w="0">
            <a:solidFill>
              <a:srgbClr val="FEE2E2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7DD0B0A-0F7B-46DD-8E1C-A54633068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25200" y="640080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4B5563"/>
                </a:solidFill>
              </a:defRPr>
            </a:pPr>
            <a:r>
              <a:rPr sz="900" b="0">
                <a:solidFill>
                  <a:srgbClr val="4B5563"/>
                </a:solidFill>
              </a:rPr>
              <a:t>49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6247F8-9714-4550-9979-DED6B62D6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9906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925" b="1">
                <a:solidFill>
                  <a:srgbClr val="172033"/>
                </a:solidFill>
              </a:defRPr>
            </a:pPr>
            <a:r>
              <a:rPr sz="2925" b="1">
                <a:solidFill>
                  <a:srgbClr val="172033"/>
                </a:solidFill>
              </a:rPr>
              <a:t>Previous VTU Questions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3AB6FE-26C8-49C0-8B41-5D2898754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19300"/>
            <a:ext cx="94297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033"/>
                </a:solidFill>
              </a:defRPr>
            </a:pPr>
            <a:r>
              <a:rPr sz="2025" b="0">
                <a:solidFill>
                  <a:srgbClr val="172033"/>
                </a:solidFill>
              </a:rPr>
              <a:t>No genuine previous-year VTU questions were found locally for this module during this pass, so this deck does not fabricate PYQs.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F87344D-AC9A-4826-8780-174A14886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5433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0281E7-1AA5-48B2-B009-8753A9DA7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34766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Use the practice questions as model revision prompts.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3D20778-C576-43B8-9201-01D3FA28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8D1D43D-AFC4-4063-AFD3-9DACB0770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1624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Add authentic PYQs later only from a verified VTU source.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5F07653-A525-4012-B045-2AC755653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14900"/>
            <a:ext cx="152400" cy="1524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C2626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A9C165-49A1-4037-815D-B0B5EA2C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4848225"/>
            <a:ext cx="90487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033"/>
                </a:solidFill>
              </a:defRPr>
            </a:pPr>
            <a:r>
              <a:rPr sz="1725" b="0">
                <a:solidFill>
                  <a:srgbClr val="172033"/>
                </a:solidFill>
              </a:rPr>
              <a:t>Do not label instructor-created questions as previous-year questions.</a:t>
            </a:r>
          </a:p>
        </p:txBody>
      </p:sp>
    </p:spTree>
    <p:extLst>
      <p:ext uri="{BB962C8B-B14F-4D97-AF65-F5344CB8AC3E}">
        <p14:creationId xmlns:p14="http://schemas.microsoft.com/office/powerpoint/2010/main" val="17079313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2026-08-24T06:04:38.7420000Z</dcterms:created>
  <dcterms:modified xsi:type="dcterms:W3CDTF">2026-08-24T06:04:38.7420000Z</dcterms:modified>
</coreProperties>
</file>