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345025086434e32" /><Relationship Type="http://schemas.openxmlformats.org/officeDocument/2006/relationships/extended-properties" Target="/docProps/app.xml" Id="R0f54537601a14b84" /><Relationship Type="http://schemas.openxmlformats.org/officeDocument/2006/relationships/officeDocument" Target="/ppt/presentation.xml" Id="R13d32fc6262d47a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965e07cbbf64375"/>
  </p:sldMasterIdLst>
  <p:notesMasterIdLst>
    <p:notesMasterId xmlns:r="http://schemas.openxmlformats.org/officeDocument/2006/relationships" r:id="Re158c4cfe22941df"/>
  </p:notesMasterIdLst>
  <p:sldIdLst>
    <p:sldId xmlns:r="http://schemas.openxmlformats.org/officeDocument/2006/relationships" id="256" r:id="R68ba2fb7833e4a36"/>
    <p:sldId xmlns:r="http://schemas.openxmlformats.org/officeDocument/2006/relationships" id="257" r:id="R62f3828f1c634efb"/>
    <p:sldId xmlns:r="http://schemas.openxmlformats.org/officeDocument/2006/relationships" id="258" r:id="Re68a0f6690b64776"/>
    <p:sldId xmlns:r="http://schemas.openxmlformats.org/officeDocument/2006/relationships" id="259" r:id="R45dacf2a52c14684"/>
    <p:sldId xmlns:r="http://schemas.openxmlformats.org/officeDocument/2006/relationships" id="260" r:id="R0dbb735d443d41f9"/>
    <p:sldId xmlns:r="http://schemas.openxmlformats.org/officeDocument/2006/relationships" id="261" r:id="R566fb4a52b054402"/>
    <p:sldId xmlns:r="http://schemas.openxmlformats.org/officeDocument/2006/relationships" id="262" r:id="Ra88db25cef584974"/>
    <p:sldId xmlns:r="http://schemas.openxmlformats.org/officeDocument/2006/relationships" id="263" r:id="R060f235567ab4dfb"/>
    <p:sldId xmlns:r="http://schemas.openxmlformats.org/officeDocument/2006/relationships" id="264" r:id="R4940c7bdffdd483a"/>
    <p:sldId xmlns:r="http://schemas.openxmlformats.org/officeDocument/2006/relationships" id="265" r:id="R888d482e71f840fa"/>
    <p:sldId xmlns:r="http://schemas.openxmlformats.org/officeDocument/2006/relationships" id="266" r:id="Rac1ab0bbbe33444f"/>
    <p:sldId xmlns:r="http://schemas.openxmlformats.org/officeDocument/2006/relationships" id="267" r:id="Re29f336e8eb44939"/>
    <p:sldId xmlns:r="http://schemas.openxmlformats.org/officeDocument/2006/relationships" id="268" r:id="Rcc1b7acb080e4781"/>
    <p:sldId xmlns:r="http://schemas.openxmlformats.org/officeDocument/2006/relationships" id="269" r:id="R30fb8fe7eafc4543"/>
    <p:sldId xmlns:r="http://schemas.openxmlformats.org/officeDocument/2006/relationships" id="270" r:id="R2a2b06090142484c"/>
    <p:sldId xmlns:r="http://schemas.openxmlformats.org/officeDocument/2006/relationships" id="271" r:id="R16c58ecd9749492d"/>
    <p:sldId xmlns:r="http://schemas.openxmlformats.org/officeDocument/2006/relationships" id="272" r:id="Rcd1c2531c4b54313"/>
    <p:sldId xmlns:r="http://schemas.openxmlformats.org/officeDocument/2006/relationships" id="273" r:id="R75a592e7b50f464b"/>
    <p:sldId xmlns:r="http://schemas.openxmlformats.org/officeDocument/2006/relationships" id="274" r:id="Re750eeafad59439b"/>
    <p:sldId xmlns:r="http://schemas.openxmlformats.org/officeDocument/2006/relationships" id="275" r:id="R545878d85f6640a2"/>
    <p:sldId xmlns:r="http://schemas.openxmlformats.org/officeDocument/2006/relationships" id="276" r:id="R6e4e698a7eb54730"/>
    <p:sldId xmlns:r="http://schemas.openxmlformats.org/officeDocument/2006/relationships" id="277" r:id="R705ef28f226c4190"/>
    <p:sldId xmlns:r="http://schemas.openxmlformats.org/officeDocument/2006/relationships" id="278" r:id="Red8f89e487b14abc"/>
    <p:sldId xmlns:r="http://schemas.openxmlformats.org/officeDocument/2006/relationships" id="279" r:id="R2aaece9569344509"/>
    <p:sldId xmlns:r="http://schemas.openxmlformats.org/officeDocument/2006/relationships" id="280" r:id="Ra8ccbf100fb84f92"/>
    <p:sldId xmlns:r="http://schemas.openxmlformats.org/officeDocument/2006/relationships" id="281" r:id="Rf67fbce8c911432b"/>
    <p:sldId xmlns:r="http://schemas.openxmlformats.org/officeDocument/2006/relationships" id="282" r:id="Ra0f2c007d739401b"/>
    <p:sldId xmlns:r="http://schemas.openxmlformats.org/officeDocument/2006/relationships" id="283" r:id="R7489f9e9295948b6"/>
    <p:sldId xmlns:r="http://schemas.openxmlformats.org/officeDocument/2006/relationships" id="284" r:id="R51b3902986894f0f"/>
    <p:sldId xmlns:r="http://schemas.openxmlformats.org/officeDocument/2006/relationships" id="285" r:id="R92e35acf67c14f51"/>
    <p:sldId xmlns:r="http://schemas.openxmlformats.org/officeDocument/2006/relationships" id="286" r:id="R4633e485f10645c8"/>
    <p:sldId xmlns:r="http://schemas.openxmlformats.org/officeDocument/2006/relationships" id="287" r:id="R0304a43547734c93"/>
    <p:sldId xmlns:r="http://schemas.openxmlformats.org/officeDocument/2006/relationships" id="288" r:id="R465e2a8c29d5484f"/>
    <p:sldId xmlns:r="http://schemas.openxmlformats.org/officeDocument/2006/relationships" id="289" r:id="R27997cf449ba41c0"/>
    <p:sldId xmlns:r="http://schemas.openxmlformats.org/officeDocument/2006/relationships" id="290" r:id="R739fa5f9674447e4"/>
    <p:sldId xmlns:r="http://schemas.openxmlformats.org/officeDocument/2006/relationships" id="291" r:id="Recbbde71b64b4be8"/>
    <p:sldId xmlns:r="http://schemas.openxmlformats.org/officeDocument/2006/relationships" id="292" r:id="R583d4075f09a4a21"/>
    <p:sldId xmlns:r="http://schemas.openxmlformats.org/officeDocument/2006/relationships" id="293" r:id="R2dcf54b7ca1c44cf"/>
    <p:sldId xmlns:r="http://schemas.openxmlformats.org/officeDocument/2006/relationships" id="294" r:id="R58435473a5074137"/>
    <p:sldId xmlns:r="http://schemas.openxmlformats.org/officeDocument/2006/relationships" id="295" r:id="R48f7739f43b04fdc"/>
    <p:sldId xmlns:r="http://schemas.openxmlformats.org/officeDocument/2006/relationships" id="296" r:id="Ra613bd9102404daa"/>
    <p:sldId xmlns:r="http://schemas.openxmlformats.org/officeDocument/2006/relationships" id="297" r:id="R05d1538fedbb4100"/>
    <p:sldId xmlns:r="http://schemas.openxmlformats.org/officeDocument/2006/relationships" id="298" r:id="Rb0504c5ecb5a47da"/>
    <p:sldId xmlns:r="http://schemas.openxmlformats.org/officeDocument/2006/relationships" id="299" r:id="Re8c047313f214e1b"/>
    <p:sldId xmlns:r="http://schemas.openxmlformats.org/officeDocument/2006/relationships" id="300" r:id="R9e446b48794146ec"/>
    <p:sldId xmlns:r="http://schemas.openxmlformats.org/officeDocument/2006/relationships" id="301" r:id="R0a6c7de3749840f1"/>
    <p:sldId xmlns:r="http://schemas.openxmlformats.org/officeDocument/2006/relationships" id="302" r:id="Rf33c841340a2465c"/>
    <p:sldId xmlns:r="http://schemas.openxmlformats.org/officeDocument/2006/relationships" id="303" r:id="Reb375a8b69044e01"/>
    <p:sldId xmlns:r="http://schemas.openxmlformats.org/officeDocument/2006/relationships" id="304" r:id="R45e6e4c5a3f8414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bf5e725e03d4b6f" /><Relationship Type="http://schemas.openxmlformats.org/officeDocument/2006/relationships/slideMaster" Target="/ppt/slideMasters/slideMaster1.xml" Id="R9965e07cbbf64375" /><Relationship Type="http://schemas.openxmlformats.org/officeDocument/2006/relationships/notesMaster" Target="/ppt/notesMasters/notesMaster1.xml" Id="Re158c4cfe22941df" /><Relationship Type="http://schemas.openxmlformats.org/officeDocument/2006/relationships/presProps" Target="/ppt/presProps.xml" Id="R67d01f4c34094b25" /><Relationship Type="http://schemas.openxmlformats.org/officeDocument/2006/relationships/tableStyles" Target="/ppt/tableStyles.xml" Id="Rbcbdc1b91bc045b1" /><Relationship Type="http://schemas.openxmlformats.org/officeDocument/2006/relationships/slide" Target="/ppt/slides/slide1.xml" Id="R68ba2fb7833e4a36" /><Relationship Type="http://schemas.openxmlformats.org/officeDocument/2006/relationships/slide" Target="/ppt/slides/slide2.xml" Id="R62f3828f1c634efb" /><Relationship Type="http://schemas.openxmlformats.org/officeDocument/2006/relationships/slide" Target="/ppt/slides/slide3.xml" Id="Re68a0f6690b64776" /><Relationship Type="http://schemas.openxmlformats.org/officeDocument/2006/relationships/slide" Target="/ppt/slides/slide4.xml" Id="R45dacf2a52c14684" /><Relationship Type="http://schemas.openxmlformats.org/officeDocument/2006/relationships/slide" Target="/ppt/slides/slide5.xml" Id="R0dbb735d443d41f9" /><Relationship Type="http://schemas.openxmlformats.org/officeDocument/2006/relationships/slide" Target="/ppt/slides/slide6.xml" Id="R566fb4a52b054402" /><Relationship Type="http://schemas.openxmlformats.org/officeDocument/2006/relationships/slide" Target="/ppt/slides/slide7.xml" Id="Ra88db25cef584974" /><Relationship Type="http://schemas.openxmlformats.org/officeDocument/2006/relationships/slide" Target="/ppt/slides/slide8.xml" Id="R060f235567ab4dfb" /><Relationship Type="http://schemas.openxmlformats.org/officeDocument/2006/relationships/slide" Target="/ppt/slides/slide9.xml" Id="R4940c7bdffdd483a" /><Relationship Type="http://schemas.openxmlformats.org/officeDocument/2006/relationships/slide" Target="/ppt/slides/slide10.xml" Id="R888d482e71f840fa" /><Relationship Type="http://schemas.openxmlformats.org/officeDocument/2006/relationships/slide" Target="/ppt/slides/slide11.xml" Id="Rac1ab0bbbe33444f" /><Relationship Type="http://schemas.openxmlformats.org/officeDocument/2006/relationships/slide" Target="/ppt/slides/slide12.xml" Id="Re29f336e8eb44939" /><Relationship Type="http://schemas.openxmlformats.org/officeDocument/2006/relationships/slide" Target="/ppt/slides/slide13.xml" Id="Rcc1b7acb080e4781" /><Relationship Type="http://schemas.openxmlformats.org/officeDocument/2006/relationships/slide" Target="/ppt/slides/slide14.xml" Id="R30fb8fe7eafc4543" /><Relationship Type="http://schemas.openxmlformats.org/officeDocument/2006/relationships/slide" Target="/ppt/slides/slide15.xml" Id="R2a2b06090142484c" /><Relationship Type="http://schemas.openxmlformats.org/officeDocument/2006/relationships/slide" Target="/ppt/slides/slide16.xml" Id="R16c58ecd9749492d" /><Relationship Type="http://schemas.openxmlformats.org/officeDocument/2006/relationships/slide" Target="/ppt/slides/slide17.xml" Id="Rcd1c2531c4b54313" /><Relationship Type="http://schemas.openxmlformats.org/officeDocument/2006/relationships/slide" Target="/ppt/slides/slide18.xml" Id="R75a592e7b50f464b" /><Relationship Type="http://schemas.openxmlformats.org/officeDocument/2006/relationships/slide" Target="/ppt/slides/slide19.xml" Id="Re750eeafad59439b" /><Relationship Type="http://schemas.openxmlformats.org/officeDocument/2006/relationships/slide" Target="/ppt/slides/slide20.xml" Id="R545878d85f6640a2" /><Relationship Type="http://schemas.openxmlformats.org/officeDocument/2006/relationships/slide" Target="/ppt/slides/slide21.xml" Id="R6e4e698a7eb54730" /><Relationship Type="http://schemas.openxmlformats.org/officeDocument/2006/relationships/slide" Target="/ppt/slides/slide22.xml" Id="R705ef28f226c4190" /><Relationship Type="http://schemas.openxmlformats.org/officeDocument/2006/relationships/slide" Target="/ppt/slides/slide23.xml" Id="Red8f89e487b14abc" /><Relationship Type="http://schemas.openxmlformats.org/officeDocument/2006/relationships/slide" Target="/ppt/slides/slide24.xml" Id="R2aaece9569344509" /><Relationship Type="http://schemas.openxmlformats.org/officeDocument/2006/relationships/slide" Target="/ppt/slides/slide25.xml" Id="Ra8ccbf100fb84f92" /><Relationship Type="http://schemas.openxmlformats.org/officeDocument/2006/relationships/slide" Target="/ppt/slides/slide26.xml" Id="Rf67fbce8c911432b" /><Relationship Type="http://schemas.openxmlformats.org/officeDocument/2006/relationships/slide" Target="/ppt/slides/slide27.xml" Id="Ra0f2c007d739401b" /><Relationship Type="http://schemas.openxmlformats.org/officeDocument/2006/relationships/slide" Target="/ppt/slides/slide28.xml" Id="R7489f9e9295948b6" /><Relationship Type="http://schemas.openxmlformats.org/officeDocument/2006/relationships/slide" Target="/ppt/slides/slide29.xml" Id="R51b3902986894f0f" /><Relationship Type="http://schemas.openxmlformats.org/officeDocument/2006/relationships/slide" Target="/ppt/slides/slide30.xml" Id="R92e35acf67c14f51" /><Relationship Type="http://schemas.openxmlformats.org/officeDocument/2006/relationships/slide" Target="/ppt/slides/slide31.xml" Id="R4633e485f10645c8" /><Relationship Type="http://schemas.openxmlformats.org/officeDocument/2006/relationships/slide" Target="/ppt/slides/slide32.xml" Id="R0304a43547734c93" /><Relationship Type="http://schemas.openxmlformats.org/officeDocument/2006/relationships/slide" Target="/ppt/slides/slide33.xml" Id="R465e2a8c29d5484f" /><Relationship Type="http://schemas.openxmlformats.org/officeDocument/2006/relationships/slide" Target="/ppt/slides/slide34.xml" Id="R27997cf449ba41c0" /><Relationship Type="http://schemas.openxmlformats.org/officeDocument/2006/relationships/slide" Target="/ppt/slides/slide35.xml" Id="R739fa5f9674447e4" /><Relationship Type="http://schemas.openxmlformats.org/officeDocument/2006/relationships/slide" Target="/ppt/slides/slide36.xml" Id="Recbbde71b64b4be8" /><Relationship Type="http://schemas.openxmlformats.org/officeDocument/2006/relationships/slide" Target="/ppt/slides/slide37.xml" Id="R583d4075f09a4a21" /><Relationship Type="http://schemas.openxmlformats.org/officeDocument/2006/relationships/slide" Target="/ppt/slides/slide38.xml" Id="R2dcf54b7ca1c44cf" /><Relationship Type="http://schemas.openxmlformats.org/officeDocument/2006/relationships/slide" Target="/ppt/slides/slide39.xml" Id="R58435473a5074137" /><Relationship Type="http://schemas.openxmlformats.org/officeDocument/2006/relationships/slide" Target="/ppt/slides/slide40.xml" Id="R48f7739f43b04fdc" /><Relationship Type="http://schemas.openxmlformats.org/officeDocument/2006/relationships/slide" Target="/ppt/slides/slide41.xml" Id="Ra613bd9102404daa" /><Relationship Type="http://schemas.openxmlformats.org/officeDocument/2006/relationships/slide" Target="/ppt/slides/slide42.xml" Id="R05d1538fedbb4100" /><Relationship Type="http://schemas.openxmlformats.org/officeDocument/2006/relationships/slide" Target="/ppt/slides/slide43.xml" Id="Rb0504c5ecb5a47da" /><Relationship Type="http://schemas.openxmlformats.org/officeDocument/2006/relationships/slide" Target="/ppt/slides/slide44.xml" Id="Re8c047313f214e1b" /><Relationship Type="http://schemas.openxmlformats.org/officeDocument/2006/relationships/slide" Target="/ppt/slides/slide45.xml" Id="R9e446b48794146ec" /><Relationship Type="http://schemas.openxmlformats.org/officeDocument/2006/relationships/slide" Target="/ppt/slides/slide46.xml" Id="R0a6c7de3749840f1" /><Relationship Type="http://schemas.openxmlformats.org/officeDocument/2006/relationships/slide" Target="/ppt/slides/slide47.xml" Id="Rf33c841340a2465c" /><Relationship Type="http://schemas.openxmlformats.org/officeDocument/2006/relationships/slide" Target="/ppt/slides/slide48.xml" Id="Reb375a8b69044e01" /><Relationship Type="http://schemas.openxmlformats.org/officeDocument/2006/relationships/slide" Target="/ppt/slides/slide49.xml" Id="R45e6e4c5a3f8414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ff9b4517898476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0df81e8e9f34af9" /><Relationship Type="http://schemas.openxmlformats.org/officeDocument/2006/relationships/notesMaster" Target="/ppt/notesMasters/notesMaster1.xml" Id="Rd7401bb5f30b4b0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8d1da08b8414bca" /><Relationship Type="http://schemas.openxmlformats.org/officeDocument/2006/relationships/notesMaster" Target="/ppt/notesMasters/notesMaster1.xml" Id="R235db067959c42e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d50f33cbd7d4cae" /><Relationship Type="http://schemas.openxmlformats.org/officeDocument/2006/relationships/notesMaster" Target="/ppt/notesMasters/notesMaster1.xml" Id="R5a9c6a7d4647412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4ec6807011346bd" /><Relationship Type="http://schemas.openxmlformats.org/officeDocument/2006/relationships/notesMaster" Target="/ppt/notesMasters/notesMaster1.xml" Id="Rd58d25a35d9d497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d1ffc00830d42dd" /><Relationship Type="http://schemas.openxmlformats.org/officeDocument/2006/relationships/notesMaster" Target="/ppt/notesMasters/notesMaster1.xml" Id="Rbf6da5e98764401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bdc4ac73c0b4654" /><Relationship Type="http://schemas.openxmlformats.org/officeDocument/2006/relationships/notesMaster" Target="/ppt/notesMasters/notesMaster1.xml" Id="R9405005c0cbb4b5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1708f7d0e064653" /><Relationship Type="http://schemas.openxmlformats.org/officeDocument/2006/relationships/notesMaster" Target="/ppt/notesMasters/notesMaster1.xml" Id="R67102bf6e8d9464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5533d1875e24ac1" /><Relationship Type="http://schemas.openxmlformats.org/officeDocument/2006/relationships/notesMaster" Target="/ppt/notesMasters/notesMaster1.xml" Id="R6055ccb29cca434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09e36dc32e14c67" /><Relationship Type="http://schemas.openxmlformats.org/officeDocument/2006/relationships/notesMaster" Target="/ppt/notesMasters/notesMaster1.xml" Id="Ra5e6a3b4058b428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e0ffd7a2ab640aa" /><Relationship Type="http://schemas.openxmlformats.org/officeDocument/2006/relationships/notesMaster" Target="/ppt/notesMasters/notesMaster1.xml" Id="R9715d52e7d494ec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bdee40a9483406c" /><Relationship Type="http://schemas.openxmlformats.org/officeDocument/2006/relationships/notesMaster" Target="/ppt/notesMasters/notesMaster1.xml" Id="R2d6b8038bd7d4af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41f202c6fb14c45" /><Relationship Type="http://schemas.openxmlformats.org/officeDocument/2006/relationships/notesMaster" Target="/ppt/notesMasters/notesMaster1.xml" Id="R2a5d990e5bf14ea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1a0cdfd81a24642" /><Relationship Type="http://schemas.openxmlformats.org/officeDocument/2006/relationships/notesMaster" Target="/ppt/notesMasters/notesMaster1.xml" Id="R038d4cfa94a84ad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91c5b7b3abf4928" /><Relationship Type="http://schemas.openxmlformats.org/officeDocument/2006/relationships/notesMaster" Target="/ppt/notesMasters/notesMaster1.xml" Id="R60b0596a98e64f0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2e9779b69794903" /><Relationship Type="http://schemas.openxmlformats.org/officeDocument/2006/relationships/notesMaster" Target="/ppt/notesMasters/notesMaster1.xml" Id="R9cfd3fc5ec3d4b3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eafee06b80147ce" /><Relationship Type="http://schemas.openxmlformats.org/officeDocument/2006/relationships/notesMaster" Target="/ppt/notesMasters/notesMaster1.xml" Id="Rc4a61725e3724fe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952d006ec3845c5" /><Relationship Type="http://schemas.openxmlformats.org/officeDocument/2006/relationships/notesMaster" Target="/ppt/notesMasters/notesMaster1.xml" Id="R5d3ce2c61c724bf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f22e1a619934dc4" /><Relationship Type="http://schemas.openxmlformats.org/officeDocument/2006/relationships/notesMaster" Target="/ppt/notesMasters/notesMaster1.xml" Id="R5489fd99512b4b3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35b236d67ca4ec2" /><Relationship Type="http://schemas.openxmlformats.org/officeDocument/2006/relationships/notesMaster" Target="/ppt/notesMasters/notesMaster1.xml" Id="R3103a54bca9e4d5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0e2d9c023f546d8" /><Relationship Type="http://schemas.openxmlformats.org/officeDocument/2006/relationships/notesMaster" Target="/ppt/notesMasters/notesMaster1.xml" Id="R33b018facadd49b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232af9c66bb47b2" /><Relationship Type="http://schemas.openxmlformats.org/officeDocument/2006/relationships/notesMaster" Target="/ppt/notesMasters/notesMaster1.xml" Id="R434a3c032a4c4da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d46bd884838492e" /><Relationship Type="http://schemas.openxmlformats.org/officeDocument/2006/relationships/notesMaster" Target="/ppt/notesMasters/notesMaster1.xml" Id="R95f49f15cbdd4f9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a54e2653adb4760" /><Relationship Type="http://schemas.openxmlformats.org/officeDocument/2006/relationships/notesMaster" Target="/ppt/notesMasters/notesMaster1.xml" Id="Rfeb18cf65fde420f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e5ace9720845465c" /><Relationship Type="http://schemas.openxmlformats.org/officeDocument/2006/relationships/notesMaster" Target="/ppt/notesMasters/notesMaster1.xml" Id="R43548093c6ff4589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a93a3ef68c5b4835" /><Relationship Type="http://schemas.openxmlformats.org/officeDocument/2006/relationships/notesMaster" Target="/ppt/notesMasters/notesMaster1.xml" Id="Ra5ef7cecdd2d4d7f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ef4b6fc22e5f4e7f" /><Relationship Type="http://schemas.openxmlformats.org/officeDocument/2006/relationships/notesMaster" Target="/ppt/notesMasters/notesMaster1.xml" Id="Red70c76dd1bf4910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f666ddc59d6f4d61" /><Relationship Type="http://schemas.openxmlformats.org/officeDocument/2006/relationships/notesMaster" Target="/ppt/notesMasters/notesMaster1.xml" Id="Red7f78e8ee1d4344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48310627af334e5a" /><Relationship Type="http://schemas.openxmlformats.org/officeDocument/2006/relationships/notesMaster" Target="/ppt/notesMasters/notesMaster1.xml" Id="Rdaf19feaed324824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1723e204fc1840e4" /><Relationship Type="http://schemas.openxmlformats.org/officeDocument/2006/relationships/notesMaster" Target="/ppt/notesMasters/notesMaster1.xml" Id="R57c7704c33f045b9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1bb28bb5a0ce4210" /><Relationship Type="http://schemas.openxmlformats.org/officeDocument/2006/relationships/notesMaster" Target="/ppt/notesMasters/notesMaster1.xml" Id="Rc36063a7a14748a9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490c57e282bc48ae" /><Relationship Type="http://schemas.openxmlformats.org/officeDocument/2006/relationships/notesMaster" Target="/ppt/notesMasters/notesMaster1.xml" Id="R96c65bcbb0724dd6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c2e35d923dc74c49" /><Relationship Type="http://schemas.openxmlformats.org/officeDocument/2006/relationships/notesMaster" Target="/ppt/notesMasters/notesMaster1.xml" Id="R50bff243b0fe48b8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98e52a27acc3484b" /><Relationship Type="http://schemas.openxmlformats.org/officeDocument/2006/relationships/notesMaster" Target="/ppt/notesMasters/notesMaster1.xml" Id="R9ad590fd6f624fdd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debd64a1ec4c44c3" /><Relationship Type="http://schemas.openxmlformats.org/officeDocument/2006/relationships/notesMaster" Target="/ppt/notesMasters/notesMaster1.xml" Id="Ra37e4b423d14451b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94f098d46a9e4340" /><Relationship Type="http://schemas.openxmlformats.org/officeDocument/2006/relationships/notesMaster" Target="/ppt/notesMasters/notesMaster1.xml" Id="R50abbdb26bea4fed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0c229e3481504019" /><Relationship Type="http://schemas.openxmlformats.org/officeDocument/2006/relationships/notesMaster" Target="/ppt/notesMasters/notesMaster1.xml" Id="R99fd2d7af479445c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095ae7fb12994a21" /><Relationship Type="http://schemas.openxmlformats.org/officeDocument/2006/relationships/notesMaster" Target="/ppt/notesMasters/notesMaster1.xml" Id="R22e16278a6724870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bcc4a172b4cb4ed0" /><Relationship Type="http://schemas.openxmlformats.org/officeDocument/2006/relationships/notesMaster" Target="/ppt/notesMasters/notesMaster1.xml" Id="R60a8b2bd46434dcc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5ec461310aa04943" /><Relationship Type="http://schemas.openxmlformats.org/officeDocument/2006/relationships/notesMaster" Target="/ppt/notesMasters/notesMaster1.xml" Id="R8d95bda890ae43b7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80fdac58f94d49e8" /><Relationship Type="http://schemas.openxmlformats.org/officeDocument/2006/relationships/notesMaster" Target="/ppt/notesMasters/notesMaster1.xml" Id="Ree42f45953c845de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96578bf3027c4ca6" /><Relationship Type="http://schemas.openxmlformats.org/officeDocument/2006/relationships/notesMaster" Target="/ppt/notesMasters/notesMaster1.xml" Id="Rbb3eb8c9680c4d1b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85c143bfe94e48df" /><Relationship Type="http://schemas.openxmlformats.org/officeDocument/2006/relationships/notesMaster" Target="/ppt/notesMasters/notesMaster1.xml" Id="R0b9fa153078b40db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689dfe3fc9b9429b" /><Relationship Type="http://schemas.openxmlformats.org/officeDocument/2006/relationships/notesMaster" Target="/ppt/notesMasters/notesMaster1.xml" Id="R53a9164bb7164e6c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88859a290876497f" /><Relationship Type="http://schemas.openxmlformats.org/officeDocument/2006/relationships/notesMaster" Target="/ppt/notesMasters/notesMaster1.xml" Id="Rb83645693d874b0c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e1b8a5cff0e24659" /><Relationship Type="http://schemas.openxmlformats.org/officeDocument/2006/relationships/notesMaster" Target="/ppt/notesMasters/notesMaster1.xml" Id="R4e7d9cf73cf645d2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2d11dc6a0ac6414b" /><Relationship Type="http://schemas.openxmlformats.org/officeDocument/2006/relationships/notesMaster" Target="/ppt/notesMasters/notesMaster1.xml" Id="R8e126dfbedc743eb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1db8b960abaa4182" /><Relationship Type="http://schemas.openxmlformats.org/officeDocument/2006/relationships/notesMaster" Target="/ppt/notesMasters/notesMaster1.xml" Id="R3d8f66e1ac474a28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91a1f8ce321b41e8" /><Relationship Type="http://schemas.openxmlformats.org/officeDocument/2006/relationships/notesMaster" Target="/ppt/notesMasters/notesMaster1.xml" Id="R402067b1a8494a53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86f71e86b9bd4930" /><Relationship Type="http://schemas.openxmlformats.org/officeDocument/2006/relationships/notesMaster" Target="/ppt/notesMasters/notesMaster1.xml" Id="Rce78dd885c1c482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689523f491424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e6d2aeb88ef4d1a" /><Relationship Type="http://schemas.openxmlformats.org/officeDocument/2006/relationships/slideLayout" Target="/ppt/slideLayouts/slideLayout1.xml" Id="R9ab7335515904db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ab7335515904db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10ae109df74eeb" /><Relationship Type="http://schemas.openxmlformats.org/officeDocument/2006/relationships/notesSlide" Target="/ppt/notesSlides/notesSlide1.xml" Id="R6610f80eb1f041d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ee5a275db24323" /><Relationship Type="http://schemas.openxmlformats.org/officeDocument/2006/relationships/notesSlide" Target="/ppt/notesSlides/notesSlide2.xml" Id="Rf2f41cbef877442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13865896ec48a6" /><Relationship Type="http://schemas.openxmlformats.org/officeDocument/2006/relationships/notesSlide" Target="/ppt/notesSlides/notesSlide3.xml" Id="R5c438ce3fc804c8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c3db6208a24304" /><Relationship Type="http://schemas.openxmlformats.org/officeDocument/2006/relationships/notesSlide" Target="/ppt/notesSlides/notesSlide4.xml" Id="Re5797b349f4a464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73bbe46ce94083" /><Relationship Type="http://schemas.openxmlformats.org/officeDocument/2006/relationships/notesSlide" Target="/ppt/notesSlides/notesSlide5.xml" Id="R59a11a87e2904cd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7616e08b0146bd" /><Relationship Type="http://schemas.openxmlformats.org/officeDocument/2006/relationships/notesSlide" Target="/ppt/notesSlides/notesSlide6.xml" Id="Rb4322ca184c84a8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7ce8a33dc2422e" /><Relationship Type="http://schemas.openxmlformats.org/officeDocument/2006/relationships/notesSlide" Target="/ppt/notesSlides/notesSlide7.xml" Id="R432352561648451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db9f2c5442470a" /><Relationship Type="http://schemas.openxmlformats.org/officeDocument/2006/relationships/notesSlide" Target="/ppt/notesSlides/notesSlide8.xml" Id="Red5ccf00f6ba432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73babbc01d4629" /><Relationship Type="http://schemas.openxmlformats.org/officeDocument/2006/relationships/notesSlide" Target="/ppt/notesSlides/notesSlide9.xml" Id="Rf93fbf27ed9f416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b9b5e597f9452d" /><Relationship Type="http://schemas.openxmlformats.org/officeDocument/2006/relationships/notesSlide" Target="/ppt/notesSlides/notesSlide10.xml" Id="Rc89548d19d084f7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027f29a5fe44cb" /><Relationship Type="http://schemas.openxmlformats.org/officeDocument/2006/relationships/notesSlide" Target="/ppt/notesSlides/notesSlide11.xml" Id="Rd956685692ef4fc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638002651245ca" /><Relationship Type="http://schemas.openxmlformats.org/officeDocument/2006/relationships/notesSlide" Target="/ppt/notesSlides/notesSlide12.xml" Id="R65344120109740c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cac9059f9a4f8a" /><Relationship Type="http://schemas.openxmlformats.org/officeDocument/2006/relationships/notesSlide" Target="/ppt/notesSlides/notesSlide13.xml" Id="R1715816fbe54433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d664c380624581" /><Relationship Type="http://schemas.openxmlformats.org/officeDocument/2006/relationships/notesSlide" Target="/ppt/notesSlides/notesSlide14.xml" Id="R03d7b898a26d434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cfecd5b5de4926" /><Relationship Type="http://schemas.openxmlformats.org/officeDocument/2006/relationships/notesSlide" Target="/ppt/notesSlides/notesSlide15.xml" Id="Ree98bedbba234c4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c6a4e5277942a1" /><Relationship Type="http://schemas.openxmlformats.org/officeDocument/2006/relationships/notesSlide" Target="/ppt/notesSlides/notesSlide16.xml" Id="R5b5d30ba0b0a440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74afb9517c4ece" /><Relationship Type="http://schemas.openxmlformats.org/officeDocument/2006/relationships/notesSlide" Target="/ppt/notesSlides/notesSlide17.xml" Id="R2b99bdf17a32437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75237bc8164d76" /><Relationship Type="http://schemas.openxmlformats.org/officeDocument/2006/relationships/notesSlide" Target="/ppt/notesSlides/notesSlide18.xml" Id="R8e156edb01234bf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32539b8dbe4e41" /><Relationship Type="http://schemas.openxmlformats.org/officeDocument/2006/relationships/notesSlide" Target="/ppt/notesSlides/notesSlide19.xml" Id="Re8f374057240491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ad15face0e43eb" /><Relationship Type="http://schemas.openxmlformats.org/officeDocument/2006/relationships/notesSlide" Target="/ppt/notesSlides/notesSlide20.xml" Id="Rcdeac9f56ea64f7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a2b541dde94004" /><Relationship Type="http://schemas.openxmlformats.org/officeDocument/2006/relationships/notesSlide" Target="/ppt/notesSlides/notesSlide21.xml" Id="R75485a2da6f44d8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4345281b5f4a80" /><Relationship Type="http://schemas.openxmlformats.org/officeDocument/2006/relationships/notesSlide" Target="/ppt/notesSlides/notesSlide22.xml" Id="Re797475bbcef4b7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16c025d347479d" /><Relationship Type="http://schemas.openxmlformats.org/officeDocument/2006/relationships/notesSlide" Target="/ppt/notesSlides/notesSlide23.xml" Id="R611ad84ef3244da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02a11fea1c42bd" /><Relationship Type="http://schemas.openxmlformats.org/officeDocument/2006/relationships/notesSlide" Target="/ppt/notesSlides/notesSlide24.xml" Id="R27fa5711fb444228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243b9d73584b67" /><Relationship Type="http://schemas.openxmlformats.org/officeDocument/2006/relationships/notesSlide" Target="/ppt/notesSlides/notesSlide25.xml" Id="Rb65ead556f3e4ac5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5c56e7fb634e99" /><Relationship Type="http://schemas.openxmlformats.org/officeDocument/2006/relationships/notesSlide" Target="/ppt/notesSlides/notesSlide26.xml" Id="Rceda954cae2f44f9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667e32fd7c4d80" /><Relationship Type="http://schemas.openxmlformats.org/officeDocument/2006/relationships/notesSlide" Target="/ppt/notesSlides/notesSlide27.xml" Id="Raf37cc9b9ac84e08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5977b38d1b4010" /><Relationship Type="http://schemas.openxmlformats.org/officeDocument/2006/relationships/notesSlide" Target="/ppt/notesSlides/notesSlide28.xml" Id="R7a91ae84dab24e05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c0e204d99a4e91" /><Relationship Type="http://schemas.openxmlformats.org/officeDocument/2006/relationships/notesSlide" Target="/ppt/notesSlides/notesSlide29.xml" Id="R1b21c7928fb44731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85963be4604d87" /><Relationship Type="http://schemas.openxmlformats.org/officeDocument/2006/relationships/notesSlide" Target="/ppt/notesSlides/notesSlide30.xml" Id="R25820d76e6d04a07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d7ee46e78648c0" /><Relationship Type="http://schemas.openxmlformats.org/officeDocument/2006/relationships/notesSlide" Target="/ppt/notesSlides/notesSlide31.xml" Id="R0be334159ec246b3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7952a73fcf4154" /><Relationship Type="http://schemas.openxmlformats.org/officeDocument/2006/relationships/notesSlide" Target="/ppt/notesSlides/notesSlide32.xml" Id="R235c3a19751a4a97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9cf95db9c54360" /><Relationship Type="http://schemas.openxmlformats.org/officeDocument/2006/relationships/notesSlide" Target="/ppt/notesSlides/notesSlide33.xml" Id="Rda4ecb59540a40cb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5b959467d54c67" /><Relationship Type="http://schemas.openxmlformats.org/officeDocument/2006/relationships/notesSlide" Target="/ppt/notesSlides/notesSlide34.xml" Id="R26182fefc4944536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c1390e418141c6" /><Relationship Type="http://schemas.openxmlformats.org/officeDocument/2006/relationships/notesSlide" Target="/ppt/notesSlides/notesSlide35.xml" Id="R5188630c21f2433d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a1c7ced9dc4e24" /><Relationship Type="http://schemas.openxmlformats.org/officeDocument/2006/relationships/notesSlide" Target="/ppt/notesSlides/notesSlide36.xml" Id="R85aab55e751449d8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45513321244767" /><Relationship Type="http://schemas.openxmlformats.org/officeDocument/2006/relationships/notesSlide" Target="/ppt/notesSlides/notesSlide37.xml" Id="Ra9ab8c5ff9f34437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15a11d38c9449c" /><Relationship Type="http://schemas.openxmlformats.org/officeDocument/2006/relationships/notesSlide" Target="/ppt/notesSlides/notesSlide38.xml" Id="R923c225a3b3744d1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28bed27f4c4200" /><Relationship Type="http://schemas.openxmlformats.org/officeDocument/2006/relationships/notesSlide" Target="/ppt/notesSlides/notesSlide39.xml" Id="R5638ee46c3674bec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c4035d601a49dc" /><Relationship Type="http://schemas.openxmlformats.org/officeDocument/2006/relationships/notesSlide" Target="/ppt/notesSlides/notesSlide40.xml" Id="Rd985a9d94ee74240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6729066e564065" /><Relationship Type="http://schemas.openxmlformats.org/officeDocument/2006/relationships/notesSlide" Target="/ppt/notesSlides/notesSlide41.xml" Id="R13bc0fd9e0484b72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07d4a7256f4715" /><Relationship Type="http://schemas.openxmlformats.org/officeDocument/2006/relationships/notesSlide" Target="/ppt/notesSlides/notesSlide42.xml" Id="R68806857d6b944d7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4e782f5a2a4d63" /><Relationship Type="http://schemas.openxmlformats.org/officeDocument/2006/relationships/notesSlide" Target="/ppt/notesSlides/notesSlide43.xml" Id="R310fae360e664807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2c9e3dc41e413b" /><Relationship Type="http://schemas.openxmlformats.org/officeDocument/2006/relationships/notesSlide" Target="/ppt/notesSlides/notesSlide44.xml" Id="Rf0f88041fa2249ad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80b40c4b9f41fc" /><Relationship Type="http://schemas.openxmlformats.org/officeDocument/2006/relationships/notesSlide" Target="/ppt/notesSlides/notesSlide45.xml" Id="Rd4e3e4131a1c4b8c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419c1d24974bea" /><Relationship Type="http://schemas.openxmlformats.org/officeDocument/2006/relationships/notesSlide" Target="/ppt/notesSlides/notesSlide46.xml" Id="Rd5c1f669ee7f4b58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f8e9ac02a7469c" /><Relationship Type="http://schemas.openxmlformats.org/officeDocument/2006/relationships/notesSlide" Target="/ppt/notesSlides/notesSlide47.xml" Id="Rea4f2678d70f469a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fb42d9d26a446a" /><Relationship Type="http://schemas.openxmlformats.org/officeDocument/2006/relationships/notesSlide" Target="/ppt/notesSlides/notesSlide48.xml" Id="R6e395b07e1e147f2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fa6b2ee0ce4daf" /><Relationship Type="http://schemas.openxmlformats.org/officeDocument/2006/relationships/notesSlide" Target="/ppt/notesSlides/notesSlide49.xml" Id="Ra40e148150f1422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356A71-5F0C-43A5-98F4-C70C842BF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7B0A1E-42F6-4BCD-90C9-E2521C68A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3: Context-Free Grammars and Pushdown Automata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B31FF9-4460-4284-BE3D-7CAEEAD30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23F954-A31C-4C6E-91D2-5FCDCE454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A4BA43-CA0B-45DD-AC7E-127ECE939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33450"/>
            <a:ext cx="7429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2033"/>
                </a:solidFill>
              </a:defRPr>
            </a:pPr>
            <a:r>
              <a:rPr sz="3450" b="1">
                <a:solidFill>
                  <a:srgbClr val="172033"/>
                </a:solidFill>
              </a:rPr>
              <a:t>Context-Free Grammars and Pushdown Automata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F1073C-EFD3-42EE-BE88-39CFBE93B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742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B5563"/>
                </a:solidFill>
              </a:defRPr>
            </a:pPr>
            <a:r>
              <a:rPr sz="1725" b="0">
                <a:solidFill>
                  <a:srgbClr val="4B5563"/>
                </a:solidFill>
              </a:rPr>
              <a:t>Theory of Computation | Module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FD0549-B5B4-4C9F-91FA-329AF1A36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1714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8F8FDB-3C0D-49DB-ADFB-0D79BEED7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Hook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92787D-EBB5-4A53-915F-602C7398B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Core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6F7876-7C7F-4E99-A92F-E00E32C93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Mechanism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E13342-DC08-44C6-8A91-F581FD0ED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Worked 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2F8C48-9D56-421D-97F8-E8788B4F8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Exam-ready recap</a:t>
            </a:r>
          </a:p>
        </p:txBody>
      </p:sp>
      <p:cxnSp>
        <p:nvCxnSpPr>
          <p:cNvPr id="29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1718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30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0387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31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69056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32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87725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</p:spTree>
    <p:extLst>
      <p:ext uri="{BB962C8B-B14F-4D97-AF65-F5344CB8AC3E}">
        <p14:creationId xmlns:p14="http://schemas.microsoft.com/office/powerpoint/2010/main" val="18363848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F21610-F6E3-4189-8037-A19532E50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D4CC15-15DA-4762-862E-2087A332C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3: Context-Free Grammars and Pushdown Automata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705B01-3637-4F50-B91B-D3993FE51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B40DDD-2320-46ED-BC95-797450E93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D4D8C1-849A-4652-B36F-711A4E9EE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6680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033"/>
                </a:solidFill>
              </a:defRPr>
            </a:pPr>
            <a:r>
              <a:rPr sz="2925" b="1">
                <a:solidFill>
                  <a:srgbClr val="172033"/>
                </a:solidFill>
              </a:rPr>
              <a:t>Teaching route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2BC98A-D96E-4DC1-81F6-BD00E6094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66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68833F-A43D-442D-A98E-C26FBF0D1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002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Start with why the module matters.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C8462C-9B4F-42FA-BCB0-D7C18A491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90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C6E64C-4304-4C0C-9237-2D300B96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Build one concept at a time with a diagram or worked trace.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89E18C-49D5-4244-8D75-503A85E70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14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48447D-D368-4E34-938A-B7F4C4032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480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Use examples before definitions become abstract.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4CAA51-4E7A-4058-B1D6-8175288CE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38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3EB3B4-CCF3-41FC-8C68-E45D1C15D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719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End with definitions, algorithms/formulas, mistakes and practice questions.</a:t>
            </a:r>
          </a:p>
        </p:txBody>
      </p:sp>
    </p:spTree>
    <p:extLst>
      <p:ext uri="{BB962C8B-B14F-4D97-AF65-F5344CB8AC3E}">
        <p14:creationId xmlns:p14="http://schemas.microsoft.com/office/powerpoint/2010/main" val="13201958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D2C15D-DAEB-4DE8-B98B-A130F87E4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226775-470E-4185-AC95-601154F26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3: Context-Free Grammars and Pushdown Automata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999676-EB13-4CE8-A230-E32808E66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35AC32-D6B3-4FCF-BF3C-6434D9BCD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560190-40BB-48D1-B202-6143C2751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6680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033"/>
                </a:solidFill>
              </a:defRPr>
            </a:pPr>
            <a:r>
              <a:rPr sz="2925" b="1">
                <a:solidFill>
                  <a:srgbClr val="172033"/>
                </a:solidFill>
              </a:rPr>
              <a:t>Module map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17C9A2-3245-4BA3-A4BA-08BC9F782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383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EEDF99-7436-4463-97F6-820F33FC5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7716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Context-free grammars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8D9C45-71D9-408B-842D-40A450613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90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471ECA-603A-41CD-9DB8-E8ED1CA0C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3241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Parse trees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F63AB4-7CED-4550-8C86-6A2B45C56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432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3CE2FF-58E7-477D-99A5-256B299C0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765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Ambiguity in grammars and languages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FD65D1-1BB1-4871-BFE0-6D1FE1E85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95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5B13D0-1060-4D82-A3BD-F635A0678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290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Definition of pushdown automaton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FA03CA-BDC0-4E66-B97A-F14035EB2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481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C30F20-BA3E-420A-98D8-625FC14F1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814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Languages of a PDA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AB1A04-C0BA-40DE-8609-263D82B55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005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198763-8698-4B93-B2E3-97F6F2E45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339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Equivalence of PDA and CFG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A22A0C-0D50-41C2-B286-88754A0C8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530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E2B90A-ACF1-454C-925A-AB9E47427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0863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Deterministic pushdown automata</a:t>
            </a:r>
          </a:p>
        </p:txBody>
      </p:sp>
    </p:spTree>
    <p:extLst>
      <p:ext uri="{BB962C8B-B14F-4D97-AF65-F5344CB8AC3E}">
        <p14:creationId xmlns:p14="http://schemas.microsoft.com/office/powerpoint/2010/main" val="9734308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6465AD-7E87-467C-8DE0-A2E60EB7F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A16B74-C920-47EA-90B9-7B38A0C32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3: Context-Free Grammars and Pushdown Automata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2E9890-365D-40B0-BEC0-67CF3B1E2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A50E10-A76F-433C-BBD0-DAA36E0D2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8D2681-25B7-4789-9857-31D7E512F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Context-free grammars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A10A30-BDA7-4601-8DFE-6BBD2C929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3A0511-F004-476F-B117-3B1E973E5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Context-free grammars is best taught as a variables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517CDC-545A-4FE9-8FD1-C0F7AB1F9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C6F61E-E6BC-4E56-B743-28B8370FD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The key mechanism connects terminals with productions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7E2F96-A5AC-4F8F-94C2-CEBF7422E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F4E326-606E-4275-9C8F-352475C3F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For exams, draw the model first, label each step, and then explain start symbol and derivation.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623807-7F8D-43A3-91AC-4F73C8333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variables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F10810-FE57-447F-A32B-51B8A10DB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terminals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70A5FB-0D8A-4CBD-B55F-C6C29665A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productions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74D534-C9B8-43D0-BD0D-9F80BD1C3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start symbol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ADD816-B9B6-4A06-BC3E-0BE540FA8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derivation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79E247-1DA7-48BA-BB33-1CDC79011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C2626"/>
                </a:solidFill>
              </a:defRPr>
            </a:pPr>
            <a:r>
              <a:rPr sz="1875" b="1">
                <a:solidFill>
                  <a:srgbClr val="DC2626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BC4DC7-C997-4891-B46C-AF2F05FE8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This topic explains how context-free grammars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58261777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117604-C778-44B8-98EC-1B8210E90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E43CBE-9B3A-4A05-8203-903BF5C4C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3: Context-Free Grammars and Pushdown Automata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87CBE4-415E-4394-8761-CE4025753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139475-B10F-4DB0-B2D2-50331BBDE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674829-5ACC-4616-9039-2A8387237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Context-free grammars: transition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C7AED3-ECDE-4C7E-94D2-9A8C23DB3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05100"/>
            <a:ext cx="1047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q0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28C682-1C06-4211-852F-5EA6C75C7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705100"/>
            <a:ext cx="1047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q1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D05031-D8E7-4B29-8ACF-B6E605991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705100"/>
            <a:ext cx="1428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q2 / accept</a:t>
            </a:r>
          </a:p>
        </p:txBody>
      </p:sp>
      <p:cxnSp>
        <p:nvCxnSpPr>
          <p:cNvPr id="20" name=""/>
          <p:cNvCxnSpPr>
            <a:stCxn xmlns:a="http://schemas.openxmlformats.org/drawingml/2006/main" id="6" idx="6"/>
            <a:endCxn xmlns:a="http://schemas.openxmlformats.org/drawingml/2006/main" id="7" idx="2"/>
          </p:cNvCxnSpPr>
          <p:nvPr/>
        </p:nvCxnSpPr>
        <p:spPr>
          <a:xfrm xmlns:a="http://schemas.openxmlformats.org/drawingml/2006/main">
            <a:off x="2667000" y="3105150"/>
            <a:ext cx="1666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7" idx="6"/>
            <a:endCxn xmlns:a="http://schemas.openxmlformats.org/drawingml/2006/main" id="8" idx="2"/>
          </p:cNvCxnSpPr>
          <p:nvPr/>
        </p:nvCxnSpPr>
        <p:spPr>
          <a:xfrm xmlns:a="http://schemas.openxmlformats.org/drawingml/2006/main">
            <a:off x="5381625" y="3105150"/>
            <a:ext cx="1666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AF9BC1-2E4C-4771-B957-331C0E097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86250"/>
            <a:ext cx="819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72033"/>
                </a:solidFill>
              </a:defRPr>
            </a:pPr>
            <a:r>
              <a:rPr sz="1875" b="0">
                <a:solidFill>
                  <a:srgbClr val="172033"/>
                </a:solidFill>
              </a:rPr>
              <a:t>Input symbols drive state changes. Acceptance depends on the final state and the formal model's rules.</a:t>
            </a:r>
          </a:p>
        </p:txBody>
      </p:sp>
    </p:spTree>
    <p:extLst>
      <p:ext uri="{BB962C8B-B14F-4D97-AF65-F5344CB8AC3E}">
        <p14:creationId xmlns:p14="http://schemas.microsoft.com/office/powerpoint/2010/main" val="19810772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F7DF6AB-DEBA-4717-BA4D-E01C3228A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D0BB85-07FB-4E5C-AFD2-AAF17044B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3: Context-Free Grammars and Pushdown Automata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2E621A-83F0-4C74-A4CF-55E78B68D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6D3AF0-B394-4D61-9C46-8D46D39D8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A69D67-611E-4C8D-B9A8-B85832551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Context-free grammars: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F1858B-1A29-440D-B0E7-7767F297B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DA2172-0332-4EEA-BC52-EA521EDF0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235307-31D3-4ABB-8BFB-EF4EEA8F3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77CFEC-6314-45EC-A85E-FFFF856E0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CBB69C-6869-47C6-9121-2378AB683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538137-DCF6-4BAB-87C0-DF3A96207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1C0DCC-D443-46BC-8C45-56F18926B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A4C9DE-FC1C-4B07-AFE9-650668179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variables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64BB16-3528-49BD-851C-383848813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Identify terminals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CFA956-5790-45F2-923A-F1D697C61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53FAA2-339F-4E31-A3ED-4836EE94C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558645-6F72-4479-8CF4-A1EAD006A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C60F1A-1D67-438D-8B69-51DF5C1BC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terminals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FCAC0E-18B3-474E-B540-07CC5AEB4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Apply productions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15207E-B48C-4D73-9575-3D9EAAD04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5F689E-AFF2-43D0-8F01-FEDDDAD69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BC1BA9-C7BC-4D8D-8DD5-5A1F92F4C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A70695-27E4-47F9-94F4-4E534F948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productions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F5660B-34A9-4239-B2B4-435BD209D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Check start symbol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77C351-43F1-46BD-98EB-CC62661A7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470E42-5604-4F5F-AE5C-D10F2E4E7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8B02C2-26AE-4C6C-92E4-6F174A5D9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F3769B-3ED0-4A3B-8A96-745B1006F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start symbol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BEC65C2-9323-4DB6-817F-9A64A136F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Conclude derivation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7DDB95E-975C-4FC2-BBCD-73912340E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8FC6244-D7E8-43B2-83DA-81A93A003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</a:defRPr>
            </a:pPr>
            <a:r>
              <a:rPr sz="1650" b="0">
                <a:solidFill>
                  <a:srgbClr val="4B5563"/>
                </a:solidFill>
              </a:rPr>
              <a:t>Use this structure whenever context-free grammars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72747161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BB5DB7-3172-4B45-AAA8-C1F96C766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988BC8-A264-4536-9243-432896348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3: Context-Free Grammars and Pushdown Automata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BE38C1-5E4B-402C-8359-EA3FB1EF7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2EE5C6-6685-4868-8F07-324BE1E65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AFCDDB-8EAF-4E35-8D94-4989D9B26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Parse trees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4469B6-A18E-40FF-B178-D25066139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BFBDEB-3891-4CC2-AB27-47553410D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Parse trees is best taught as a formal model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90F42E-24CE-4A7C-AF59-091BC4304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7018F7-DD52-4890-93F5-A7B73D2CE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The key mechanism connects input string with rule application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DC0C81-C4BC-49E8-8D41-711B89F5B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F7CAB4-FD2B-46D9-B844-D55E2077B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For exams, draw the model first, label each step, and then explain acceptance condition and proof idea.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099A61-1EDC-4A9F-9B51-D86BF03DE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formal 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BAF4A6-B100-4FC6-8F8A-8E6C7A9DE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input string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114750-07ED-460F-A59A-057D3F962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rule application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24929D-DBE5-47FB-9CF3-014C9B48E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acceptance condition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58B647-CE60-49DB-A66C-C8F2AD7EE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proof idea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90675B-8D13-416C-B7B5-18191FCD5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C2626"/>
                </a:solidFill>
              </a:defRPr>
            </a:pPr>
            <a:r>
              <a:rPr sz="1875" b="1">
                <a:solidFill>
                  <a:srgbClr val="DC2626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EEB998-A749-4299-988E-19F614542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This topic explains how parse trees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70583703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DC43C2-7A80-4FBB-843E-E4C2A8FB3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D21B35-870C-4AC9-B645-AF5D9B8B3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3: Context-Free Grammars and Pushdown Automata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028640-5A34-4C58-8FB6-D21780B27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5F72BB-D03B-4EB5-B792-54A924B22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D9F8AD-FF8C-4AAA-9A05-8644D6E7E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Parse trees: transition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3F462B-9273-473E-852F-92672FF81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05100"/>
            <a:ext cx="1047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q0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9C6834-5E42-4D12-B4BE-6C0E127BD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705100"/>
            <a:ext cx="1047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q1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783E8B-9BE6-45A1-9B19-D9E9BCE7D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705100"/>
            <a:ext cx="1428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q2 / accept</a:t>
            </a:r>
          </a:p>
        </p:txBody>
      </p:sp>
      <p:cxnSp>
        <p:nvCxnSpPr>
          <p:cNvPr id="20" name=""/>
          <p:cNvCxnSpPr>
            <a:stCxn xmlns:a="http://schemas.openxmlformats.org/drawingml/2006/main" id="6" idx="6"/>
            <a:endCxn xmlns:a="http://schemas.openxmlformats.org/drawingml/2006/main" id="7" idx="2"/>
          </p:cNvCxnSpPr>
          <p:nvPr/>
        </p:nvCxnSpPr>
        <p:spPr>
          <a:xfrm xmlns:a="http://schemas.openxmlformats.org/drawingml/2006/main">
            <a:off x="2667000" y="3105150"/>
            <a:ext cx="1666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7" idx="6"/>
            <a:endCxn xmlns:a="http://schemas.openxmlformats.org/drawingml/2006/main" id="8" idx="2"/>
          </p:cNvCxnSpPr>
          <p:nvPr/>
        </p:nvCxnSpPr>
        <p:spPr>
          <a:xfrm xmlns:a="http://schemas.openxmlformats.org/drawingml/2006/main">
            <a:off x="5381625" y="3105150"/>
            <a:ext cx="1666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72C295-D48B-46DB-B56D-3C98E212E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86250"/>
            <a:ext cx="819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72033"/>
                </a:solidFill>
              </a:defRPr>
            </a:pPr>
            <a:r>
              <a:rPr sz="1875" b="0">
                <a:solidFill>
                  <a:srgbClr val="172033"/>
                </a:solidFill>
              </a:rPr>
              <a:t>Input symbols drive state changes. Acceptance depends on the final state and the formal model's rules.</a:t>
            </a:r>
          </a:p>
        </p:txBody>
      </p:sp>
    </p:spTree>
    <p:extLst>
      <p:ext uri="{BB962C8B-B14F-4D97-AF65-F5344CB8AC3E}">
        <p14:creationId xmlns:p14="http://schemas.microsoft.com/office/powerpoint/2010/main" val="184610479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01E06AA-A96F-4DB8-BD4C-D309C8DD1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9C1708-A153-4615-B4BA-60F5A2E88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3: Context-Free Grammars and Pushdown Automata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B8D2E5-DB5D-4E97-BD53-4075E1317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D0D9EB-137B-4359-BC62-915E77945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A046AE-E72B-49AF-A938-A69A12876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Parse trees: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A6F506-6D87-4747-B585-EC53E8F51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2DC74D-8DCE-40CF-ACAE-3AD39AEEA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CA3900-144B-453E-8226-B87BC44BB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1F2FFA-B1A9-4555-B387-FABE991A5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8CD484-700B-4902-A368-9E6A90487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A0EA12-685B-4C79-A45D-95E411647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030A93-7078-4554-87FC-70377E581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5B9374-73DB-4953-9B70-60C3A96D7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formal 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8209EE-6339-4CF5-9AD7-749D5CA8B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Identify input string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12C25F-1E19-401C-BC0D-3DA8A81B0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1B308F-977F-42F5-86D8-D87E6C1CC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59110D-7274-4F48-86D5-AB5A68235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91F23D-465D-43D7-A23C-47DC090B6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input string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5FB48E-A530-473C-B344-68189340C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Apply rule application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FE3192-1EFF-42DB-9AF0-F27E9B29B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EA867F-0847-493F-84BF-F05D681C8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6CBAD6-ECE0-41FC-B724-2F541A2D9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71BCE9-60E3-4879-9930-FFF278D03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rule application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ECF97A-D45C-422C-8338-FEC3BFCD1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Check acceptance condition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19F89A-13CD-4261-926F-91E3689DB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474A9E-8FD2-4F75-8D24-AB468C9E1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9F24EAD-16A8-47C9-B07F-5742EB59C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37D6F59-8039-4FF3-A847-9A2567B0E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acceptance condition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5DA480-88BC-453D-8CEA-253E0102D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Conclude proof idea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6B1D38B-A5B8-46AC-B519-293D3357B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3C2310E-59DB-4379-9517-AC1DDA9C8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</a:defRPr>
            </a:pPr>
            <a:r>
              <a:rPr sz="1650" b="0">
                <a:solidFill>
                  <a:srgbClr val="4B5563"/>
                </a:solidFill>
              </a:rPr>
              <a:t>Use this structure whenever parse trees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97059199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9A4D17-BF03-4C91-A12D-3368012CC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205FE1-AB34-4CB9-997D-49D0A390A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3: Context-Free Grammars and Pushdown Automata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A749C8-69BC-4A25-B1B5-782E08886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1D61E2-4C90-4015-A2CD-122B781B9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C3E266-664F-487D-B597-8F5C6867D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Parse trees: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F0166C-5982-484A-AF4E-D1C5F26AF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597A91-90C6-414E-AAFD-90178D6B6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85E096-92E5-4954-B2F4-195D159EC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EC3A97-0E5F-4F78-BEC1-5C3AA4EB7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C1B6F7-F3BF-4E97-BB82-8371C028F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AAED61-29E0-43F9-91AE-ACCDD71CD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Treating Parse trees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315436-08BA-40D4-932E-C00F0718B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903985-70EB-40C5-A365-22ABA4655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Explain formal model -&gt; rule application -&gt; proof idea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6B98F5-AB59-425D-8D4C-7A698CAF4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78F8DF-CCBA-4F5F-ADEA-8C3484EF4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A25E10-7629-44EE-B60C-BAB4A032C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BC882A-1E9E-4FEB-B314-EE759DA15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778BD9-3E96-4180-805C-F73F07DDB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A40C4C-CE3F-473B-87E4-42AFCC4FD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B66ABF-462D-4582-A8E4-5EDE3995F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5B9727-2DBF-4458-86D9-78F9E596B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Use terms such as formal model, input string, rule application</a:t>
            </a:r>
          </a:p>
        </p:txBody>
      </p:sp>
    </p:spTree>
    <p:extLst>
      <p:ext uri="{BB962C8B-B14F-4D97-AF65-F5344CB8AC3E}">
        <p14:creationId xmlns:p14="http://schemas.microsoft.com/office/powerpoint/2010/main" val="158966555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2A243B-DB1E-47D4-9046-362C1E86C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07AAA7-EE67-4A72-923D-297153DFF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3: Context-Free Grammars and Pushdown Automata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55ABFD-2BEF-4226-893C-B3E935F5B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7D865E-AF65-4142-B05E-D522036B4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3D83A7-A77C-4A05-939F-3E52F4B11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Ambiguity in grammars and languages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C40A56-2755-498D-B4BE-1A8F2378B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A35E86-CA65-463F-AD30-43139EF93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Ambiguity in grammars and languages is best taught as a variables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6343E4-CE45-4858-8B44-2D50C5BD6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22D6EB-513D-4EC2-9C4D-1497281A9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The key mechanism connects terminals with productions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714E11-6FD3-4015-BB39-3B9C8CF1F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7F3F9C-7811-4E0C-9C0A-DDAB415AD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For exams, draw the model first, label each step, and then explain start symbol and derivation.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6C48E5-CA10-4250-8AE6-B523CCEE6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variables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5A499C-A766-4373-9F60-340DE6FDB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terminals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348458-B8E5-4438-95EB-280C544CD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productions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51CA68-2CA9-42B8-A22F-3BD69836E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start symbol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2EEE3D-702E-44E4-9928-16BDDC993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derivation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DD39BC-3AF7-44D9-B0C4-4FB164B24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C2626"/>
                </a:solidFill>
              </a:defRPr>
            </a:pPr>
            <a:r>
              <a:rPr sz="1875" b="1">
                <a:solidFill>
                  <a:srgbClr val="DC2626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BCB0ED-7B84-42DE-8B85-8DBAAA51D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This topic explains how ambiguity in grammars and languages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30289365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D98BA3-1825-418E-8408-D5A4803F4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3A73DD-7326-4A2E-A7E7-12917B1E0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3: Context-Free Grammars and Pushdown Automata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86E670-A3A1-4DCA-B4F3-0D9DE52F8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C21594-CC3D-42F1-AB5A-335319A9A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1D8F8A-2E12-440B-A62C-A4B0B8BD7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Ambiguity in grammars and languages: transition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0546F3-1200-476F-8836-87AC99063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05100"/>
            <a:ext cx="1047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q0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4E9900-195F-4B50-98DB-82C8FC70C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705100"/>
            <a:ext cx="1047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q1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C3A4B2-A9E0-456F-9E43-1BE6246BF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705100"/>
            <a:ext cx="1428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q2 / accept</a:t>
            </a:r>
          </a:p>
        </p:txBody>
      </p:sp>
      <p:cxnSp>
        <p:nvCxnSpPr>
          <p:cNvPr id="20" name=""/>
          <p:cNvCxnSpPr>
            <a:stCxn xmlns:a="http://schemas.openxmlformats.org/drawingml/2006/main" id="6" idx="6"/>
            <a:endCxn xmlns:a="http://schemas.openxmlformats.org/drawingml/2006/main" id="7" idx="2"/>
          </p:cNvCxnSpPr>
          <p:nvPr/>
        </p:nvCxnSpPr>
        <p:spPr>
          <a:xfrm xmlns:a="http://schemas.openxmlformats.org/drawingml/2006/main">
            <a:off x="2667000" y="3105150"/>
            <a:ext cx="1666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7" idx="6"/>
            <a:endCxn xmlns:a="http://schemas.openxmlformats.org/drawingml/2006/main" id="8" idx="2"/>
          </p:cNvCxnSpPr>
          <p:nvPr/>
        </p:nvCxnSpPr>
        <p:spPr>
          <a:xfrm xmlns:a="http://schemas.openxmlformats.org/drawingml/2006/main">
            <a:off x="5381625" y="3105150"/>
            <a:ext cx="1666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2D99FC-E10F-475E-9CCB-C97AD70BD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86250"/>
            <a:ext cx="819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72033"/>
                </a:solidFill>
              </a:defRPr>
            </a:pPr>
            <a:r>
              <a:rPr sz="1875" b="0">
                <a:solidFill>
                  <a:srgbClr val="172033"/>
                </a:solidFill>
              </a:rPr>
              <a:t>Input symbols drive state changes. Acceptance depends on the final state and the formal model's rules.</a:t>
            </a:r>
          </a:p>
        </p:txBody>
      </p:sp>
    </p:spTree>
    <p:extLst>
      <p:ext uri="{BB962C8B-B14F-4D97-AF65-F5344CB8AC3E}">
        <p14:creationId xmlns:p14="http://schemas.microsoft.com/office/powerpoint/2010/main" val="141479694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E11C020-2ED1-4A7C-B8BE-3B4E82E15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3CDD50-8EE7-4A70-9491-6A80C6E67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3: Context-Free Grammars and Pushdown Automata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DEA2C9-CD5D-46B3-B3BD-586C5B08A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F8219E-98DB-40D0-A6F3-7A592C62C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88E289-BE8A-4395-946E-389A889D0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Ambiguity in grammars and languages: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BDD06A-826B-4A45-9A0D-F64E304F7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BE36BD-F95B-4BB2-9599-5041EE45D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7C6614-2C6B-40D8-A36B-1C1B33BE2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45BCA6-059B-4C04-A2FA-592EA7706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A7417B-1256-4900-BB28-25EC39E34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3F37A8-C80F-46EE-8E08-2A715E413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FD4F76-649F-48A4-91F0-25721C57D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25E14B-6B95-4D2C-AB9F-6B23C1814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variables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606753-9B17-4F70-B311-4BA9F9EEB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Identify terminals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762059-6C61-461E-A72D-1CEA55023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101E19-BC50-4CBD-85F5-D7F588F78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81EB94-FD33-458A-A272-6CA7EEEDC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EB6811-EFC6-4E89-8D85-97A80546B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terminals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0F0930-E52B-4117-8A51-04F934304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Apply productions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FF0B3D-8274-495E-BE04-67FCE46DE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E7AD2C-4908-4957-BCB0-50A9F134C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226CAB-7146-4529-A4F1-E6CB8893E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62B501-50AB-4887-AED7-0442CAA3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productions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DE8E72-42CE-42FA-884F-830D7846B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Check start symbol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9B43A7-EE3B-4CE3-8B51-A12FC80DB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DCE574-07AF-4001-930C-A47FB91D4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74A515-9FD0-478F-9DA3-747EBED7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E4EBDB-69BF-4E26-AF2B-CE5579794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start symbol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DDD4C86-8139-45AD-9525-E9945D10D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Conclude derivation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78D457D-6CD9-4824-836C-9FF31491A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25FCAB4-D348-464B-9934-8A12B55D8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</a:defRPr>
            </a:pPr>
            <a:r>
              <a:rPr sz="1650" b="0">
                <a:solidFill>
                  <a:srgbClr val="4B5563"/>
                </a:solidFill>
              </a:rPr>
              <a:t>Use this structure whenever ambiguity in grammars and languages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15445829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762751-F49C-4C60-A274-A76D8601B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52DA6A-D6D6-473E-AAE0-C543142C8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3: Context-Free Grammars and Pushdown Automata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8CFF2F-2D40-4579-8080-61193387D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683E4F-7B38-492D-A119-0D1A3239A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AF4A95-A783-41D3-AA23-093FB3FC4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Definition of pushdown automaton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45922C-55FC-4C1C-A9B5-D59574372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E350A2-C577-4691-9DA5-5E43ED04B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Definition of pushdown automaton is best taught as a formal model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AC8C3F-519E-4984-900B-567428C87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7E10D7-BDE7-4B9D-9FB2-BD48A6A08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The key mechanism connects input string with rule application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91CE7F-4172-4AEC-8497-460049ADF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4D8738-2607-49B5-A521-9CA743CF2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For exams, draw the model first, label each step, and then explain acceptance condition and proof idea.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A7A4CB-1250-4CCF-907A-F41960AF9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formal 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E004F9-4E71-46BE-A172-A9640E329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input string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A49AD6-A15E-4042-94C8-F63E53D82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rule application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E41D27-547F-419A-BA10-88AEB4DE1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acceptance condition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916CBB-42D0-4398-AFD4-DD84353B0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proof idea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ACC57F-A42D-421B-AA60-F00882098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C2626"/>
                </a:solidFill>
              </a:defRPr>
            </a:pPr>
            <a:r>
              <a:rPr sz="1875" b="1">
                <a:solidFill>
                  <a:srgbClr val="DC2626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0CC2FD-3B83-4B64-9949-32774E713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This topic explains how definition of pushdown automaton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66184829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9101E2-6CA2-4031-96F3-084EDC53B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D7D096-BD9D-4995-8492-7B9803D83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3: Context-Free Grammars and Pushdown Automata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BD4DB3-A6CB-4040-BBCA-C0B7AD297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3B1D74-FB00-47FD-A1CC-8D291D9C9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CEE570-2178-4D14-889B-688E6EFFF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Definition of pushdown automaton: transition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217F47-F1C2-4828-9729-547405D23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05100"/>
            <a:ext cx="1047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q0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707E3C-ED70-44A1-8088-643C98FB3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705100"/>
            <a:ext cx="1047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q1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951B97-1671-4186-AC14-757108690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705100"/>
            <a:ext cx="1428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q2 / accept</a:t>
            </a:r>
          </a:p>
        </p:txBody>
      </p:sp>
      <p:cxnSp>
        <p:nvCxnSpPr>
          <p:cNvPr id="20" name=""/>
          <p:cNvCxnSpPr>
            <a:stCxn xmlns:a="http://schemas.openxmlformats.org/drawingml/2006/main" id="6" idx="6"/>
            <a:endCxn xmlns:a="http://schemas.openxmlformats.org/drawingml/2006/main" id="7" idx="2"/>
          </p:cNvCxnSpPr>
          <p:nvPr/>
        </p:nvCxnSpPr>
        <p:spPr>
          <a:xfrm xmlns:a="http://schemas.openxmlformats.org/drawingml/2006/main">
            <a:off x="2667000" y="3105150"/>
            <a:ext cx="1666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7" idx="6"/>
            <a:endCxn xmlns:a="http://schemas.openxmlformats.org/drawingml/2006/main" id="8" idx="2"/>
          </p:cNvCxnSpPr>
          <p:nvPr/>
        </p:nvCxnSpPr>
        <p:spPr>
          <a:xfrm xmlns:a="http://schemas.openxmlformats.org/drawingml/2006/main">
            <a:off x="5381625" y="3105150"/>
            <a:ext cx="1666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27A93C-77FE-4BAC-8821-CCE50939D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86250"/>
            <a:ext cx="819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72033"/>
                </a:solidFill>
              </a:defRPr>
            </a:pPr>
            <a:r>
              <a:rPr sz="1875" b="0">
                <a:solidFill>
                  <a:srgbClr val="172033"/>
                </a:solidFill>
              </a:rPr>
              <a:t>Input symbols drive state changes. Acceptance depends on the final state and the formal model's rules.</a:t>
            </a:r>
          </a:p>
        </p:txBody>
      </p:sp>
    </p:spTree>
    <p:extLst>
      <p:ext uri="{BB962C8B-B14F-4D97-AF65-F5344CB8AC3E}">
        <p14:creationId xmlns:p14="http://schemas.microsoft.com/office/powerpoint/2010/main" val="133505480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D1A2D39-F3E5-4E28-B996-6DD7963C0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8DF67D-532D-4596-8D1D-67F85316C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3: Context-Free Grammars and Pushdown Automata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98617C-4D28-4822-B4FB-11593CEB0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8445DD-2B39-47A7-9021-AC08AC768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3A4730-F76F-4893-A643-9D1F85CFE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Definition of pushdown automaton: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E1226A-C43D-4842-B40D-3D3DFBC62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007474-67A2-4E98-8F3B-99C9C5335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7DE0FC-7CA4-45F0-AB3E-A6E4AB19C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ED6069-7CC5-4E1F-BEB0-159800768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BCF89B-EA89-40C8-936D-55B899D07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BF6002-CC94-4E24-80E9-CF7C40AE1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AF5FBF-54CB-4EC5-A613-2A5561E05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4FF20E-A1F1-4C53-81AF-D183AD65F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formal 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9FEB7E-B9B5-4055-8869-07A50AB4D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Identify input string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543A3F-2302-472E-8B77-93F920C86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4D00D2-6E82-4292-94D7-A05C668AA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4F350A-CCB4-44D5-A376-983BF39DD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E8EB38-CAD9-49C2-8E70-E58B934D3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input string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8D711A-EF52-4BBF-8D45-498C52048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Apply rule application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8C943F-1D6E-4B2C-B344-78EA698BE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8CFDA4-CD23-47B3-8BBD-527C274ED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2A0B91-15FD-4BCD-93A4-53E6F62F2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2317BC-E791-478C-8F7D-A53A5F903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rule application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D5D4AA-28E9-42F9-B5BC-CFB41E863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Check acceptance condition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909864-4C26-45C7-AB99-E08FEF3DD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B8C9F9-2C95-40FF-8777-F78C70B02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E3EEED2-1438-49D4-8CA2-96B3BF85F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535143-76AB-4379-A48F-C0A8E4C6A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acceptance condition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ABA1764-923C-4011-88ED-79F011AFB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Conclude proof idea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7CBF933-97FD-40D2-A146-13D17ADFB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D865B5C-68FD-4BD9-B063-4CBCE9A63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</a:defRPr>
            </a:pPr>
            <a:r>
              <a:rPr sz="1650" b="0">
                <a:solidFill>
                  <a:srgbClr val="4B5563"/>
                </a:solidFill>
              </a:rPr>
              <a:t>Use this structure whenever definition of pushdown automaton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47798716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6C0ACA-C51D-4541-B365-7A1C8F3E0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294399-9216-423A-B332-2984B04E5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3: Context-Free Grammars and Pushdown Automata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95ADE2-20B1-440F-899C-E4FE860A0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A124E2-F4D7-4DA3-8B01-51C3E9744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B35F4A-3961-4F00-AF67-8DA8750A6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Languages of a PDA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76A8D9-B5D3-4C9F-8F97-BE22A0147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257B5C-7E5E-4164-B668-89FEFFB33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Languages of a PDA is best taught as a formal model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E6DA0F-1B56-4B16-A485-667F82BA8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BC7648-E3DF-4AE9-9CEC-03CB07A88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The key mechanism connects input string with rule application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AEDC29-864D-4D69-992D-7F6C740A5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7548BD-BDB2-4BE9-988A-C3A1BEA73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For exams, draw the model first, label each step, and then explain acceptance condition and proof idea.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ED65CE-3305-450D-AC69-69AFE130C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formal 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2BEBAC-5D11-465C-AAB7-A57A81F03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input string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EE713A-59AA-4A3D-A3E9-479A1223F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rule application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3B7282-4C17-42DF-8EAD-2CC522444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acceptance condition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09EC4C-5E99-44AD-A781-B8C5F55BE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proof idea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09B948-A0F5-41EA-883C-27859862D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C2626"/>
                </a:solidFill>
              </a:defRPr>
            </a:pPr>
            <a:r>
              <a:rPr sz="1875" b="1">
                <a:solidFill>
                  <a:srgbClr val="DC2626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2ABB87-5904-4C61-BA5D-D10FCD9BB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This topic explains how languages of a pda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206350728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8B7AE7-CC2B-4E26-B2A4-275081E88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1D1136-9C62-4509-9450-A1FA06DEC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3: Context-Free Grammars and Pushdown Automata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B410A9-6E0B-4909-AE30-8EFE49706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168A90-0F02-412E-9FE3-9FC16BBCF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16CBDC-848D-4765-868F-A7A5462BB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Languages of a PDA: transition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4A8E0F-4128-4B76-B298-9EDFFAD57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05100"/>
            <a:ext cx="1047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q0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16AD0C-7A98-42DA-914C-992A81E3D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705100"/>
            <a:ext cx="1047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q1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B678D1-BE41-4F6C-A1F0-BF2BD24A0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705100"/>
            <a:ext cx="1428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q2 / accept</a:t>
            </a:r>
          </a:p>
        </p:txBody>
      </p:sp>
      <p:cxnSp>
        <p:nvCxnSpPr>
          <p:cNvPr id="20" name=""/>
          <p:cNvCxnSpPr>
            <a:stCxn xmlns:a="http://schemas.openxmlformats.org/drawingml/2006/main" id="6" idx="6"/>
            <a:endCxn xmlns:a="http://schemas.openxmlformats.org/drawingml/2006/main" id="7" idx="2"/>
          </p:cNvCxnSpPr>
          <p:nvPr/>
        </p:nvCxnSpPr>
        <p:spPr>
          <a:xfrm xmlns:a="http://schemas.openxmlformats.org/drawingml/2006/main">
            <a:off x="2667000" y="3105150"/>
            <a:ext cx="1666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7" idx="6"/>
            <a:endCxn xmlns:a="http://schemas.openxmlformats.org/drawingml/2006/main" id="8" idx="2"/>
          </p:cNvCxnSpPr>
          <p:nvPr/>
        </p:nvCxnSpPr>
        <p:spPr>
          <a:xfrm xmlns:a="http://schemas.openxmlformats.org/drawingml/2006/main">
            <a:off x="5381625" y="3105150"/>
            <a:ext cx="1666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4D72A4-79EF-4596-BAA9-2B26F3C6C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86250"/>
            <a:ext cx="819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72033"/>
                </a:solidFill>
              </a:defRPr>
            </a:pPr>
            <a:r>
              <a:rPr sz="1875" b="0">
                <a:solidFill>
                  <a:srgbClr val="172033"/>
                </a:solidFill>
              </a:rPr>
              <a:t>Input symbols drive state changes. Acceptance depends on the final state and the formal model's rules.</a:t>
            </a:r>
          </a:p>
        </p:txBody>
      </p:sp>
    </p:spTree>
    <p:extLst>
      <p:ext uri="{BB962C8B-B14F-4D97-AF65-F5344CB8AC3E}">
        <p14:creationId xmlns:p14="http://schemas.microsoft.com/office/powerpoint/2010/main" val="81950711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D03230D-C26F-45F1-846B-AE1DB874F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0FD58E-2D81-420F-AB9F-1F3627612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3: Context-Free Grammars and Pushdown Automata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861EE2-73A0-4C48-B839-2FE1910A2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C2ED26-FF59-4A3A-B901-B7A82C5FD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99193B-4AAD-4372-B8E4-019D49B91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Languages of a PDA: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AB4FC7-FFDF-4A68-978E-0D858484D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6EBDFB-90FF-4A5A-94C9-786B5E0B3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B858EC-7F9A-4A1C-821C-C0C8DEA44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0CE850-D71C-41F8-89AB-D032F159E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23A7F6-8479-4746-978F-2C5F624B2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E18ADE-113B-4F09-A0DC-0ECCC3C70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EDC9DD-B835-4942-B2E3-F1BFB2284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A4BF2A-E890-4C59-8220-26CF56594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formal 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A42DF9-643F-4DF9-B81B-C7F46DE88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Identify input string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334228-924B-4FE5-89F7-FD1D8B777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26AA6C-810A-4846-9844-1852B9634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522634-95C1-4AE5-AB56-6AE270F2D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24E7C9-F3D2-4AEE-BC9D-4A783B18A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input string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A346E3-3B35-4A5F-A399-82B07B414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Apply rule application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1D4585-1ABD-4D39-82FB-C4B066FC1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319C64-D07C-4D59-BFAF-9381A5F9D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8BD846-D492-46BD-9D75-716CC7945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70EE4A-18CF-4DA7-B711-87E4F87AD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rule application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7F5B90-29DC-49F7-9D72-2607CAD9C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Check acceptance condition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710F66-C6BB-493F-94CC-759136FF3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F0A8BC-7158-4732-8C64-93A8AD381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8463F9-3EF0-4EC7-A645-5F4B70F81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5A3CD62-9F17-42E8-885D-B232ADEF0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acceptance condition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48C17DE-AA1F-41B6-970B-CEAF702D8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Conclude proof idea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C52A7B1-DC9E-461F-B0F0-A928B4D1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C1B5917-8EB7-4D3B-B63F-4515BD9A7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</a:defRPr>
            </a:pPr>
            <a:r>
              <a:rPr sz="1650" b="0">
                <a:solidFill>
                  <a:srgbClr val="4B5563"/>
                </a:solidFill>
              </a:rPr>
              <a:t>Use this structure whenever languages of a pda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48585028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0BC4E8-DB5E-4478-A177-6FA9EFE95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876EE7-C6C3-4E35-A9ED-FE03ECB25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3: Context-Free Grammars and Pushdown Automata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368D0B-ED05-43BE-9723-A00304584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E0D9CD-0EDC-4A0D-805D-DA353B926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B971CC-A094-4669-9F27-EBD196A61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Languages of a PDA: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0706A6-2D4C-412C-94E3-E88571969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D2EAC2-3042-407E-BC1D-5CD4C8D4F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BD8F1A-C14F-499E-9DB9-4817E2CF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704C4B-EEE1-4F2A-B072-4C026668D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6BB1CD-AFD6-4FFF-92A5-29694AC52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FFCC1E-0386-4DC4-BDB3-A1729D2A2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Treating Languages of a PDA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1AAC28-FBC6-40FA-97D4-9ECF70B1F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6298A9-0520-4FDC-A706-5291816BA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Explain formal model -&gt; rule application -&gt; proof idea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B8D969-1B7B-48D1-ACF9-AB3324D25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B7EFAC-E16B-4394-867A-E8BECC9F0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D162E8-903D-4C90-940A-ABBC11277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2ABF16-8759-4B68-88CD-C9D2C8BD7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2C42FF-1A81-44C4-9811-EE6E806BC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0ECA7E-B95F-4138-9242-54F00692B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6DE128-10E7-488D-A5A1-FA6A909EF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E201BE-59A4-4F4A-9623-2878D0E98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Use terms such as formal model, input string, rule application</a:t>
            </a:r>
          </a:p>
        </p:txBody>
      </p:sp>
    </p:spTree>
    <p:extLst>
      <p:ext uri="{BB962C8B-B14F-4D97-AF65-F5344CB8AC3E}">
        <p14:creationId xmlns:p14="http://schemas.microsoft.com/office/powerpoint/2010/main" val="82903993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2CA85A-8EC4-44FC-A951-94BDA7DEC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E238B2-82A1-4A48-A7E1-65757EBCF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3: Context-Free Grammars and Pushdown Automata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5BEBEF-F903-4729-A8C5-4A654C1AC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306CFB-B48B-4C2B-A32B-119A8DEBE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593479-E5A6-42F3-8D3B-ED3CCF04B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Equivalence of PDA and CFG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A520B2-6051-44DA-B01A-32E696621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54C969-553F-43D3-9996-110ACDCA6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Equivalence of PDA and CFG is best taught as a variables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1B9686-5F92-42F2-AA96-F8E024D5A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A2887B-3983-4AC4-9F7A-6B9F4A9F0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The key mechanism connects terminals with productions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FA0734-F7BA-41AB-A37A-FBA2DF683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05DC19-167D-4F2D-BBD8-BDDAACB4C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For exams, draw the model first, label each step, and then explain start symbol and derivation.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787C30-8C7B-4B57-AA94-855D3D4F9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variables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D29328-E66E-458B-ACD5-D60129670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terminals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E7000D-7811-4217-8FA0-877C6EC0A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productions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31C0F2-F522-4C8B-A2E0-EB4DFFC08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start symbol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A476A5-8A08-46C6-9D25-D5A359491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derivation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635871-D197-4242-BA80-058BEE2B1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C2626"/>
                </a:solidFill>
              </a:defRPr>
            </a:pPr>
            <a:r>
              <a:rPr sz="1875" b="1">
                <a:solidFill>
                  <a:srgbClr val="DC2626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1C529A-E87A-4C1E-80F7-090603D96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This topic explains how equivalence of pda and cfg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211377142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C9A3C9-E18A-4F7E-A232-29FBFE3E7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B2F9B9-0348-4F3D-B74E-3DA22E409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3: Context-Free Grammars and Pushdown Automata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21A79A-FE5D-452D-BFC3-20493B793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0FBCC6-C866-4EFB-8C8F-71AD43A7D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F55362-6767-4DA5-A688-407F9244A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Equivalence of PDA and CFG: transition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3E1122-6C55-4A84-ACB1-8EF54324A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05100"/>
            <a:ext cx="1047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q0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737328-431F-4938-841D-FB237A8FE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705100"/>
            <a:ext cx="1047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q1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C4C705-1A46-47CE-A800-73F847119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705100"/>
            <a:ext cx="1428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q2 / accept</a:t>
            </a:r>
          </a:p>
        </p:txBody>
      </p:sp>
      <p:cxnSp>
        <p:nvCxnSpPr>
          <p:cNvPr id="20" name=""/>
          <p:cNvCxnSpPr>
            <a:stCxn xmlns:a="http://schemas.openxmlformats.org/drawingml/2006/main" id="6" idx="6"/>
            <a:endCxn xmlns:a="http://schemas.openxmlformats.org/drawingml/2006/main" id="7" idx="2"/>
          </p:cNvCxnSpPr>
          <p:nvPr/>
        </p:nvCxnSpPr>
        <p:spPr>
          <a:xfrm xmlns:a="http://schemas.openxmlformats.org/drawingml/2006/main">
            <a:off x="2667000" y="3105150"/>
            <a:ext cx="1666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7" idx="6"/>
            <a:endCxn xmlns:a="http://schemas.openxmlformats.org/drawingml/2006/main" id="8" idx="2"/>
          </p:cNvCxnSpPr>
          <p:nvPr/>
        </p:nvCxnSpPr>
        <p:spPr>
          <a:xfrm xmlns:a="http://schemas.openxmlformats.org/drawingml/2006/main">
            <a:off x="5381625" y="3105150"/>
            <a:ext cx="1666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CD686A-4A65-4010-9995-F60EDFC85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86250"/>
            <a:ext cx="819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72033"/>
                </a:solidFill>
              </a:defRPr>
            </a:pPr>
            <a:r>
              <a:rPr sz="1875" b="0">
                <a:solidFill>
                  <a:srgbClr val="172033"/>
                </a:solidFill>
              </a:rPr>
              <a:t>Input symbols drive state changes. Acceptance depends on the final state and the formal model's rules.</a:t>
            </a:r>
          </a:p>
        </p:txBody>
      </p:sp>
    </p:spTree>
    <p:extLst>
      <p:ext uri="{BB962C8B-B14F-4D97-AF65-F5344CB8AC3E}">
        <p14:creationId xmlns:p14="http://schemas.microsoft.com/office/powerpoint/2010/main" val="162962978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E80D1E7-A188-45A7-B60A-8B9DF2EE1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4C1A9D-4A32-46FA-9C9F-763A29412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3: Context-Free Grammars and Pushdown Automata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245B49-E42A-4F0F-83CF-5B7999995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86C3AD-2816-4C66-A816-A47C396FD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74D562-4F19-46E3-ACB6-8F6119FCB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Equivalence of PDA and CFG: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3165E4-3A26-4E64-8762-1B260AA56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4E4084-C0E1-4AF5-90E4-CBEFD14DC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C80AB1-D560-4C46-80C5-3690B266F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BCD447-3963-49D5-9C1A-8AED5B4C4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6073DB-E4BD-442A-8D8A-7C875869A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D26C17-CBB0-43BE-8733-600365648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9422EC-1613-4E38-B964-0EFEB515E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0CC1FE-EE3A-4595-A772-605A44D4C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variables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FF769B-68A5-45F7-8B77-58E3C593F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Identify terminals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C53B93-EFB0-4BDD-949B-6F9F5739F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E2E0B1-77BB-4550-9900-4E3A1E35A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76AEB6-9510-4AE8-873C-C25AE2845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A7043B-0C0B-40FC-8661-132B84DC7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terminals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F831FD-29F7-4B72-B73A-894418AF7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Apply productions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08B51F-0BC8-4CBA-8398-5072F24B2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1389EB-6C12-4316-A105-D8AB147E8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3650DD-EDCC-4175-96AA-1C0D19DF2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6DE225-78F1-4246-A4EB-2F7407D38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productions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4ABB64-19DF-4FFF-BDAD-2F1FB5A3E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Check start symbol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92A5FE-6D60-4D7D-B7D8-28479D1D6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6282EA-7CBD-46EC-9F95-1DBD87729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4496EB-9C8E-4D84-BCC5-1E9411532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0A18D58-0A7B-4912-857A-937DB385A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start symbol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77B1D0E-AA44-485C-97B8-BA718F405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Conclude derivation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26136F0-B1A3-4DC2-A1FC-37ED116BE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C6ABF37-27D4-418C-94FD-760265F40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</a:defRPr>
            </a:pPr>
            <a:r>
              <a:rPr sz="1650" b="0">
                <a:solidFill>
                  <a:srgbClr val="4B5563"/>
                </a:solidFill>
              </a:rPr>
              <a:t>Use this structure whenever equivalence of pda and cfg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94294509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B16009-2C30-4926-B97C-DC23AFD79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368A3E-7A36-43EE-9B82-B2ED978A7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3: Context-Free Grammars and Pushdown Automata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2DF4D8-8189-4525-ABF1-AEA544775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21440D-F041-432D-8D1B-BF599F48D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A3B6D8-16D6-4AD2-81ED-928308480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Deterministic pushdown automata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59B96A-CA2E-40A1-A445-8E58FF1A7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699E26-7D47-40D0-A293-6D211CEAB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Deterministic pushdown automata is best taught as a states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201FFC-192E-4B85-B692-5F8593037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253EF5-667A-4893-B06F-521269A67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The key mechanism connects alphabet with transition function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991E08-3A22-4042-90CF-A37C60B0F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2AF26C-C61C-480B-95AE-97A550B4E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For exams, draw the model first, label each step, and then explain start state and accepting states.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9B9CBF-1C31-46AE-8BD5-30DD61CBA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states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9D0E8C-D696-4585-8925-F6634772C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alphabet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FA27A9-74F3-4916-8C6D-70928DCA4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transition function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8C392B-DE29-4BB4-85E5-953D2A579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start state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018BFC-D599-48E3-B8E2-1E8E0E6A1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accepting states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10DC2A-EF13-47FF-9A23-476E400BC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C2626"/>
                </a:solidFill>
              </a:defRPr>
            </a:pPr>
            <a:r>
              <a:rPr sz="1875" b="1">
                <a:solidFill>
                  <a:srgbClr val="DC2626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20855E-BE13-45CB-9563-4FD7D8EA2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This topic explains how deterministic pushdown automata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207039264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EF0618-5956-44B4-8C57-B615F418F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1D9D0D-51C6-4DEB-98D5-CF18AD437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3: Context-Free Grammars and Pushdown Automata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00D714-355F-466F-896A-0E8D817C0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82FC0C-0A05-4159-AA67-53CB0AAF1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ECC62C-7483-44A2-A0D4-F892DF59B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Deterministic pushdown automata: transition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F9AE57-0EB3-4C77-94E9-DBF7E9A1F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05100"/>
            <a:ext cx="1047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q0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865801-3104-4BBD-9B6C-1E9343591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705100"/>
            <a:ext cx="1047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q1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937119-4969-4456-9B21-8D6EBC3FB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705100"/>
            <a:ext cx="1428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q2 / accept</a:t>
            </a:r>
          </a:p>
        </p:txBody>
      </p:sp>
      <p:cxnSp>
        <p:nvCxnSpPr>
          <p:cNvPr id="20" name=""/>
          <p:cNvCxnSpPr>
            <a:stCxn xmlns:a="http://schemas.openxmlformats.org/drawingml/2006/main" id="6" idx="6"/>
            <a:endCxn xmlns:a="http://schemas.openxmlformats.org/drawingml/2006/main" id="7" idx="2"/>
          </p:cNvCxnSpPr>
          <p:nvPr/>
        </p:nvCxnSpPr>
        <p:spPr>
          <a:xfrm xmlns:a="http://schemas.openxmlformats.org/drawingml/2006/main">
            <a:off x="2667000" y="3105150"/>
            <a:ext cx="1666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7" idx="6"/>
            <a:endCxn xmlns:a="http://schemas.openxmlformats.org/drawingml/2006/main" id="8" idx="2"/>
          </p:cNvCxnSpPr>
          <p:nvPr/>
        </p:nvCxnSpPr>
        <p:spPr>
          <a:xfrm xmlns:a="http://schemas.openxmlformats.org/drawingml/2006/main">
            <a:off x="5381625" y="3105150"/>
            <a:ext cx="1666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0BFA96-9AFC-4CC5-91F8-C8B32BAB1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86250"/>
            <a:ext cx="819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72033"/>
                </a:solidFill>
              </a:defRPr>
            </a:pPr>
            <a:r>
              <a:rPr sz="1875" b="0">
                <a:solidFill>
                  <a:srgbClr val="172033"/>
                </a:solidFill>
              </a:rPr>
              <a:t>Input symbols drive state changes. Acceptance depends on the final state and the formal model's rules.</a:t>
            </a:r>
          </a:p>
        </p:txBody>
      </p:sp>
    </p:spTree>
    <p:extLst>
      <p:ext uri="{BB962C8B-B14F-4D97-AF65-F5344CB8AC3E}">
        <p14:creationId xmlns:p14="http://schemas.microsoft.com/office/powerpoint/2010/main" val="43348070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7F7212C-2597-4B9E-B41A-A07A4E3FD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B07383-40F8-4F57-B31D-8CAA7333C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3: Context-Free Grammars and Pushdown Automata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0938CF-87C9-4CA3-A92F-432578721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8C9388-AFFD-41A9-BEF6-9C7A4DF13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37926F-5F22-427C-87BC-C5C520BF7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Deterministic pushdown automata: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99A5A1-7CC9-4DC0-AEF7-98FF48545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E44E28-4FC1-4075-BC2E-334AD28D6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5C38C7-D75C-431D-AAD2-A4FDA9020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152E2C-713D-451F-A70A-665E8207F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3C1DE6-42FF-4056-AEFD-0D1C2D9D8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D4BB6B-2B7E-4530-8B87-40C93B114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33BCD0-EBC6-4193-B6A0-E117B3E78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DC21F5-7DBC-426E-B4DB-837ED58C4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states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31FFA3-58B6-472B-B390-6DABAA06B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Identify alphabet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C391FF-424D-4E48-A30B-B8D3FB2D7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25044E-8B73-4148-A6AF-2BA27F695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2844E1-0D06-4763-8C59-41BEB5FC3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E30DF9-9EE3-42BE-9178-90C01014E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alphabet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B670C3-4ABF-42E1-A450-6C3C3429A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Apply transition function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0DD105-DDBC-4A51-A9D1-D6DE40D81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1C2C0C-B3A0-4A47-B3F0-777041B34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06E76E-E4B1-4BC2-9079-056DFEDCE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4CF2F0-6064-4CF1-819D-BC40FF6E6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transition function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67550D-3013-4A91-B6E5-56A1B9BA0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Check start state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5C2BF7-87E8-46D6-83CD-3C10CE5A8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B33895-E439-4BCD-9B08-709670A51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B6C16B-1D8D-498B-98E0-C181854BF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BAB7D5D-210A-4046-B87D-1FA8BAA58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start state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A6959CD-4B46-4BF7-AB01-EC2313C56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Conclude accepting states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C55AFF4-9211-4CAE-9B90-755243364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5B2D34-C718-4DDF-96F6-A0461B45E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</a:defRPr>
            </a:pPr>
            <a:r>
              <a:rPr sz="1650" b="0">
                <a:solidFill>
                  <a:srgbClr val="4B5563"/>
                </a:solidFill>
              </a:rPr>
              <a:t>Use this structure whenever deterministic pushdown automata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01569728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ED5FD1-20DC-440E-8330-D3F54370A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CD71BC-65B3-43FC-98EB-AA685FB41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3: Context-Free Grammars and Pushdown Automata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B87932-BF10-4EDC-B892-1A9A72798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4E6C72-2C40-4E1E-9529-C71DDC4F2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35A5DB-41CF-4D77-926C-4ADC4B2DC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Context-free grammars vs Parse trees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7582BB-D6D2-4AAB-BAD9-59CC55244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98D463-6757-4F05-9E46-F000E272A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B4F0B8-1B87-48B2-9546-C0BAAF914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Context-free grammars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DB4849-7CA5-4FEE-AB99-3BA18B56F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Parse trees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E1D675-867D-4F9D-AC02-495E6546C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57527E-3EF1-4BB4-980A-1892A4097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ED8E3A-AAF4-45AE-8F66-243C3F2AE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variables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1663B3-FCA8-4308-A6F2-DDDEDCFBF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formal 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FA2D3F-2584-430B-9339-69404DE33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246790-FDDE-4D27-93E3-2A32232EC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FF2958-AD2C-4415-97D0-91F22D68A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productions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4CEF74-AE12-497C-A8C1-455F0E2CA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rule application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8AE49B-E0BA-4C28-B163-3FDDD4E19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EAC636-374C-4FD9-A607-74258C2A6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5C630A-38BD-4AEB-B6FA-114953F10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4E5741-84CB-4301-9C4E-14079C59B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32D721-CE46-40CF-9BB3-F9E13D41E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1EDAA3-C4DB-4AE0-9A29-BFF4ACE8A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9122DA-F14E-4FD9-8298-CDC6467AD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BD7F20-420E-4832-9C23-4B3186A6B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156764158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3841D2-8F7B-4202-A0E6-02211FAB7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5772C8-11F1-41DD-924E-C51BCAC77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3: Context-Free Grammars and Pushdown Automata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CEB17E-A562-470B-885B-B8B9224E2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B1324D-E760-46A7-A73B-D18F2A802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28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5EC345-8FF8-4DBF-ADDE-8A5107441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Definition of pushdown automaton vs Languages of a PDA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298D58-273A-4866-A3F6-B8AEA9AE2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FDDF59-8540-4256-8EBD-6FC64C3C1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20893E-13DE-4D25-880B-26F5237C7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Definition of pushdown automaton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234F1B-84C0-4FAB-8755-92CC9160B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Languages of a PDA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3E88D6-4A6B-48B2-A1B6-17FD188AD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7DA231-5E5E-4D69-8E9E-730B03C2D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0F7A4A-2788-485A-B0DA-8A02262FA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formal 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CED3CC-4F2E-4283-9AB4-F5186B659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formal 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150370-6FB9-45F6-934B-450C4E808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1B61F2-ED7A-48FB-997B-62C20791B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85EAED-1D6A-4B49-BC61-7A55FC786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rule application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1969BB-EC6C-4BD6-93A4-A68030BAD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rule application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28F52E-D21C-4C84-B90D-B75A20D8E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8EA40D-692F-441E-A676-BC63D6C54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22F6EF-E38B-4C3F-B51E-FF29047D8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69B4F5-DB0E-4461-919B-18A5C1E1C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01CAE9-23C9-4CA5-8BB3-012B8F256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14A92A-39CB-49DD-9C55-DEA26C7E4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61D6F6-E7DB-46A5-A80C-E876FA627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8C95AB-7AD3-4622-802A-189240A49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2112534839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973B60B-A9B5-4F85-BC94-2669653B6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3CF7B4-C378-42D2-9665-E7A53CB78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3: Context-Free Grammars and Pushdown Automata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089DEF-9570-43E2-911A-28D9C5E31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0D2242-0350-4EDC-9E61-6933072F2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7D087D-A831-4EC8-83C0-6749BC85F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033"/>
                </a:solidFill>
              </a:defRPr>
            </a:pPr>
            <a:r>
              <a:rPr sz="2925" b="1">
                <a:solidFill>
                  <a:srgbClr val="172033"/>
                </a:solidFill>
              </a:rPr>
              <a:t>Module Summary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970494-A3F3-4C37-B197-145C5D521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19812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Definitions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29A4A4-7499-4FB6-BFA1-F374E334C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19812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Models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C1E64F-3555-4B44-B99B-71EC4B9F1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9812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Mechanisms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900B25-9979-46ED-BD9E-CC35DD17F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19812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493F7D-256E-4FBF-9410-B146DC92C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19812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 answer</a:t>
            </a:r>
          </a:p>
        </p:txBody>
      </p:sp>
      <p:cxnSp>
        <p:nvCxnSpPr>
          <p:cNvPr id="37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171825" y="24193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38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038725" y="24193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39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905625" y="24193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772525" y="24193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4AD186-0671-4EE4-B2C2-EBC80099D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433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B1E1D3-96A3-4382-A1DE-6E019D1C2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7665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Remember: Context-free grammars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81F794-F52F-452C-9507-3361D9FF2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719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5B0A81-6B3F-49F6-A48E-744145665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0527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Remember: Parse trees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985871-CF95-4874-B979-095CE4EB5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005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13ACDD-C571-49AE-BCCD-A86C45237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3390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Remember: Ambiguity in grammars and languages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874AAA-F619-4425-B582-4F82F34F7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292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AF84A6-2479-4766-8554-101E6FC4F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96252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Remember: Definition of pushdown automaton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1177C7-2049-4280-B80F-3BC71D242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57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0B9B46-6D0F-40B4-AD22-CF6346931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9115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Remember: Languages of a PDA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9FF788-88BD-414A-8A8A-ACA91CCA8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864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E8F36C-9EF5-4F14-9527-C6CB1888F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81977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Remember: Equivalence of PDA and CFG</a:t>
            </a:r>
          </a:p>
        </p:txBody>
      </p:sp>
    </p:spTree>
    <p:extLst>
      <p:ext uri="{BB962C8B-B14F-4D97-AF65-F5344CB8AC3E}">
        <p14:creationId xmlns:p14="http://schemas.microsoft.com/office/powerpoint/2010/main" val="190441559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55D2B8-D4B5-404C-8C83-F9BEEAA0B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8F6DD9-BEBD-474B-98A0-7E61AE8B9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3: Context-Free Grammars and Pushdown Automata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F42C6F-0910-4F3A-A24D-ABC274A70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96E4AE-D82C-42FB-A101-FD717B9E2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BDEB56-041E-47D2-8F4D-8CF2EB72D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033"/>
                </a:solidFill>
              </a:defRPr>
            </a:pPr>
            <a:r>
              <a:rPr sz="2925" b="1">
                <a:solidFill>
                  <a:srgbClr val="172033"/>
                </a:solidFill>
              </a:rPr>
              <a:t>Important Definitions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D9C728-FA0B-4B41-8B5B-442002AD7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6A28B3-C171-4F5C-83FA-F72A5640F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Term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78C3B7-0189-4385-9D63-91F3859D8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Classroom definition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AC4B92-38AD-4EFA-A178-804052674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Exam cue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104939-62CC-42DA-9BAB-2CA2A609B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0D3613-2D53-44E1-A7B0-94BEADF3E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Context-free grammars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FF3B05-D8F3-44EB-8E89-7CF77C680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A named concept with conditions, components and result.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88A5E9-3305-4049-9191-F39F906B2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Define + draw + example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7FDE95-61C7-41A4-AD51-8CCD48EB1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F5417B-642F-49F4-9263-829AEB501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Parse trees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081A6A-7D21-4EA9-82A4-B1A8F7275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A repeatable process that transforms input into an observable output.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682466-A207-4A1C-B556-F00CCD998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Steps + result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9D9BF3-7BB8-4D5A-9B4B-32BEAFDD2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08322D-C810-4DD8-8538-55CF3E274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Ambiguity in grammars and languages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158AC7-DE5E-4D29-B8CC-BBE8348E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A simplified representation used to reason about a real system.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976F33-078F-49CB-AF5C-189722027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Assumptions + limits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4B3396-31C4-4B52-BDD9-6FC169487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DC798B-BACF-4464-AABF-329E25C72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Definition of pushdown automaton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60C685-205B-4F14-B0B0-8508041E7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The property used to judge correctness, usefulness or performance.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AEBC2E-50CA-4248-9BF0-41A2022A6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Compare + justify</a:t>
            </a:r>
          </a:p>
        </p:txBody>
      </p:sp>
    </p:spTree>
    <p:extLst>
      <p:ext uri="{BB962C8B-B14F-4D97-AF65-F5344CB8AC3E}">
        <p14:creationId xmlns:p14="http://schemas.microsoft.com/office/powerpoint/2010/main" val="1152671075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BA59EE-DF82-40AB-B6F3-4097CDA77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F5A598-9C9E-405C-9423-A6883A3CE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3: Context-Free Grammars and Pushdown Automata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697FDD-C32D-46F6-B0C8-BE4843A58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6EF3A7-97EF-480F-83C0-174790AC8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31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BB85E2-9B73-4B3A-A726-4A20CC23D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Important Algorithms / Diagrams / Formulas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4BD684-66DD-480E-8A5B-9E8469255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1ED9FD-E9DE-4D3D-B8AE-11AD74B55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0002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Draw the central architecture/process before writing long explanation.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369291-D8A0-4CEF-972A-02E36F44B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09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A8C5F4-2E4A-4BA2-BC3D-7230E3318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432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For every algorithm: problem, input, initial state, iterations, final result, interpretation.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7737CC-B442-4B9F-BAA5-EC8EF0319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52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E986CA-3B92-4E84-962D-F08B8981A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861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For code/commands: command or snippet, explanation, execution, output.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EF520A-64E1-458A-8CEE-30F6A4E88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95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19E54E-B5B0-4DFD-8516-8C49AF4E4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291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For comparison questions: state basis of comparison first, then fill the table.</a:t>
            </a:r>
          </a:p>
        </p:txBody>
      </p:sp>
    </p:spTree>
    <p:extLst>
      <p:ext uri="{BB962C8B-B14F-4D97-AF65-F5344CB8AC3E}">
        <p14:creationId xmlns:p14="http://schemas.microsoft.com/office/powerpoint/2010/main" val="814003710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00182C-07BE-43F9-B63E-C2EA29AFF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053321-A739-4648-81A5-1F9873A5A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3: Context-Free Grammars and Pushdown Automata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E6CD9F-5CF7-42A6-915B-EEE219FB5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7EFB4D-5F11-4F74-A0A2-B024D64B5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32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D8884A-A412-4161-BC6F-FCC66743C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033"/>
                </a:solidFill>
              </a:defRPr>
            </a:pPr>
            <a:r>
              <a:rPr sz="2925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F9D886-1C71-4E3A-AE62-9C9E6BEDC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28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F8803E-9241-472D-989B-69D21F936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621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33"/>
                </a:solidFill>
              </a:defRPr>
            </a:pPr>
            <a:r>
              <a:rPr sz="1800" b="0">
                <a:solidFill>
                  <a:srgbClr val="172033"/>
                </a:solidFill>
              </a:rPr>
              <a:t>Writing only a definition when the question asks to explain working.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5D6B42-0A15-49CC-860D-4FE1F3EBD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71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A82514-F7EC-49C3-BCB9-8E5D65160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051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33"/>
                </a:solidFill>
              </a:defRPr>
            </a:pPr>
            <a:r>
              <a:rPr sz="1800" b="0">
                <a:solidFill>
                  <a:srgbClr val="172033"/>
                </a:solidFill>
              </a:rPr>
              <a:t>Skipping diagrams or leaving labels too vague.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75E7E9-DCF1-40CC-B8D8-C22088343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14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98C98D-21C6-494E-9A8B-B766FEA81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480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33"/>
                </a:solidFill>
              </a:defRPr>
            </a:pPr>
            <a:r>
              <a:rPr sz="1800" b="0">
                <a:solidFill>
                  <a:srgbClr val="172033"/>
                </a:solidFill>
              </a:rPr>
              <a:t>Mixing similar terms without a comparison basis.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9B91D5-0383-43D9-BCC8-07DB798DC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57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9A18ED-CA93-496A-916C-4A226CF08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910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33"/>
                </a:solidFill>
              </a:defRPr>
            </a:pPr>
            <a:r>
              <a:rPr sz="1800" b="0">
                <a:solidFill>
                  <a:srgbClr val="172033"/>
                </a:solidFill>
              </a:rPr>
              <a:t>Giving an example that does not match the formal condition.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E47B33-ED51-42A4-A638-7172B966B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00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81774F-1D00-48E5-8013-436DC9885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339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33"/>
                </a:solidFill>
              </a:defRPr>
            </a:pPr>
            <a:r>
              <a:rPr sz="1800" b="0">
                <a:solidFill>
                  <a:srgbClr val="172033"/>
                </a:solidFill>
              </a:rPr>
              <a:t>Forgetting assumptions, limitations or failure cases.</a:t>
            </a:r>
          </a:p>
        </p:txBody>
      </p:sp>
    </p:spTree>
    <p:extLst>
      <p:ext uri="{BB962C8B-B14F-4D97-AF65-F5344CB8AC3E}">
        <p14:creationId xmlns:p14="http://schemas.microsoft.com/office/powerpoint/2010/main" val="52738030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DBF8BF-ED05-44C6-9209-536717155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00105D-DCB8-4E4E-AA10-E962D1BC4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3: Context-Free Grammars and Pushdown Automata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DC74D9-41B4-4D77-B0C9-166482502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4251C1-27C9-40F3-9F09-B6544AC24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33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1C8746-D194-4700-946B-077BC6307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033"/>
                </a:solidFill>
              </a:defRPr>
            </a:pPr>
            <a:r>
              <a:rPr sz="2925" b="1">
                <a:solidFill>
                  <a:srgbClr val="172033"/>
                </a:solidFill>
              </a:rPr>
              <a:t>Exam Preparation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A26774-0CF9-49A6-B9BF-54795164D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EFA7BE-4CCA-4238-9E52-CF4EBBB61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Question type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0DC563-5CFE-4BD7-A4DA-363784498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Answer structure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B9F843-A400-408A-9347-9DD782A6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What earns marks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F90CFA-12C6-4498-B71E-CEE9759AD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0CB7F5-8BC9-4F95-9603-24E9D7296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Define/explain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FA1669-A0D0-4653-88C3-B4ACEA58D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Definition + labeled diagram + example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CB36BE-F746-4D98-A35C-54DE5EEEE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Exact terms and scope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EE641D-C5AF-4ADD-8880-CE5B5C8A6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4EC915-76B4-4404-A949-C7C271711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Compare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416203-8555-4AFF-B5D3-687CB1886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Basis + table + conclusion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8A73A4-6770-49E9-ABFB-1E63331F1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Clear differentiators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24D2ED-D2AE-43DB-AC73-BFAD24CC7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F6160A-B422-44BC-A55C-38B859F31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Algorithm/trace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2C5B15-BE35-4FA3-8071-08DA4BD8D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Input + iterations + final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22CC8E-E9FD-414B-AF88-9989E3A30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Correct step sequence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66A355-3466-42C4-ADD4-0FF9E8289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DD4DD6-0C02-4D19-9436-37CEA312D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Application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FAEEEA-F92B-428A-AD43-78D1680F5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Scenario + model + justification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4E6B6D-BADC-4D3A-8F1D-46844E350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Why the choice fits</a:t>
            </a:r>
          </a:p>
        </p:txBody>
      </p:sp>
    </p:spTree>
    <p:extLst>
      <p:ext uri="{BB962C8B-B14F-4D97-AF65-F5344CB8AC3E}">
        <p14:creationId xmlns:p14="http://schemas.microsoft.com/office/powerpoint/2010/main" val="261488504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DEF0E9-8554-403E-8C46-F2D38B814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8AC057-5DE9-46F2-8A88-630FEC126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3: Context-Free Grammars and Pushdown Automata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8965AD-3002-402F-B3D6-40A3EAF91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846D7F-AD43-49F7-B211-CE4698A2F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34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C61BD2-1D28-4134-8963-D086157DE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033"/>
                </a:solidFill>
              </a:defRPr>
            </a:pPr>
            <a:r>
              <a:rPr sz="2925" b="1">
                <a:solidFill>
                  <a:srgbClr val="172033"/>
                </a:solidFill>
              </a:rPr>
              <a:t>Practice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F73BD6-5A47-4081-94B0-0A115E773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28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DD41E4-D75B-4C06-8397-CF3CBA346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621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Explain Context-free grammars with a neat diagram.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8F4A08-6A19-4E5B-992E-BA489B3E4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71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DAE79C-28AC-4D5B-90C4-31B2DA2F6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051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Compare two approaches from Context-Free Grammars and Pushdown Automata and justify when each is suitable.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8630C4-01AD-4654-8E00-68B136021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14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24B121-DA17-4F91-8510-9C003E450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480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Solve a small worked example involving Ambiguity in grammars and languages.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EB096F-E9BC-481E-9ABB-867C262E2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57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421188-098D-41EF-8F26-1B095D3FD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910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List common mistakes and how to avoid them in Context-Free Grammars and Pushdown Automata.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237111-3C4B-41E9-8A23-434C69B0C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00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B4C200-027D-4157-80A4-E2641A868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339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Redraw the full module map from memory in five minutes.</a:t>
            </a:r>
          </a:p>
        </p:txBody>
      </p:sp>
    </p:spTree>
    <p:extLst>
      <p:ext uri="{BB962C8B-B14F-4D97-AF65-F5344CB8AC3E}">
        <p14:creationId xmlns:p14="http://schemas.microsoft.com/office/powerpoint/2010/main" val="1373676474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CA79BB-0F3C-47D2-B67C-FC5FC0575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271514-CF68-4CAB-8E8A-574492849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3: Context-Free Grammars and Pushdown Automata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EA2A05-C0AE-4E75-9DDD-D7DC8EF21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CFD7C5-06B2-4DCE-BF20-CDE7ED26B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35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C55854-5884-4104-B7D6-4186A7FF6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Context-free grammars vs Parse trees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502E04-81FA-46A5-BC2D-B17DAD2BA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B768B8-C1CD-4D25-B293-471A766BE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244757-9887-4DC5-9E3C-89D04ED5B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Context-free grammars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34A5F4-13BB-4F0A-8233-B7A98E779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Parse trees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E1A558-F880-406D-942F-A1384B242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9B56F7-B285-46E6-8C9F-4261F47A7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3A02B6-B976-4D6E-8DBF-19165325C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variables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E952AD-C031-4940-B01B-C9868C74F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formal 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9D4A5A-901F-44F4-97D9-4E02E9447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9F960E-34C0-4963-842A-E7B77D048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897478-DE8E-4DF2-8EEF-3F31D7EE4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productions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EBF9B4-4A64-486B-BCD3-AB213123E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rule application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D3BF8C-3DC3-41A1-A03C-06A01ACC1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43BA14-979B-4172-BE08-7AF19CC01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BC3629-B030-42F8-BA98-49D91E18B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6EBC3A-679D-4824-B09D-7B70370B4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AEEB8F-21DF-475C-BEE1-EE4B1434B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39554E-A138-4821-8FEE-DF57DFEAE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921897-2786-4D1A-AADD-98E2B660C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AF45DF-8954-4F3F-82C4-B633AE930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1964619093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F25DEE9-A906-48DF-8111-0210DEAC2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8058AF-99F8-4A71-8249-9589306B1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3: Context-Free Grammars and Pushdown Automata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D15888-3302-4F66-A4D8-1404D6E63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3795EA-0285-4137-BFEC-76DFBD295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36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88A793-BE88-494F-9B8B-B59107891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Parse trees: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03ADE0-B356-48EB-B0BA-73AF579A0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D71C67-F042-4578-8362-F95DB7AFC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9F5271-688E-4F58-AB0D-D1DB70E59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C9D673-31E0-4CBA-A592-8CE9C4798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8051BE-50C9-44A1-B609-ECC542149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314F0D-6B8B-4BFB-A9BA-428BC1F30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ED05C3-505B-46B8-B472-84A6F702C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CB7797-7915-4761-A6C0-CE151D1AE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formal 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92CE5A-3167-479B-94AB-6EE368170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Identify input string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914185-356C-4741-B3F4-BEFB155DA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EF5634-A02A-4EB9-B6BA-B4E540857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64B898-7787-4220-9716-BBCC11C0F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FA758A-E4EC-47FC-9C13-B35B2C5B5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input string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F3F724-1181-42F9-A9CF-DDF0A2EDB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Apply rule application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33434D-044C-4C08-97B0-946B9FD7C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3FB802-0C57-4C9A-BE2C-6591D0637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31637F-7D85-42D1-8E59-2089D1462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DE59D2-72A6-4747-A6FB-97C176C13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rule application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E9E0BB-F5EF-4FAB-9BDC-C782296F3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Check acceptance condition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9B83A7-07D0-43E1-BE95-26188B26A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E6C103-D860-44F1-9322-452A6D48B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8D9CAA-E96B-4D20-87D9-D9BFE27A8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91AB71-94AE-46E8-A4B9-F777F7823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acceptance condition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8B1B8A-E402-487F-8FA6-6E8D53AE4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Conclude proof idea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070AC75-C043-4B3E-A458-17BC3C884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DF55092-54F1-4B55-A066-9689E2163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</a:defRPr>
            </a:pPr>
            <a:r>
              <a:rPr sz="1650" b="0">
                <a:solidFill>
                  <a:srgbClr val="4B5563"/>
                </a:solidFill>
              </a:rPr>
              <a:t>Use this structure whenever parse trees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715305092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3D679C-74EC-4D8F-AD27-787196C3E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C61C72-B0C3-4D1A-9FDC-868AAF26B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3: Context-Free Grammars and Pushdown Automata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6DFEEA-C6FA-4710-B987-AFE92CAEB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63A006-7EF8-4F6C-926D-1BDEDF7B7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37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35A2C0-AE75-46BF-AAEC-782A27D74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Ambiguity in grammars and languages: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7851E2-14AF-4B76-9D70-1857D7AE1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36BA4F-2821-4CF1-87F8-21CC24378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C9615A-D176-4973-AD3F-B1B513BAA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A9F7A9-0FC0-4858-9926-48A5451A6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0141D7-A152-4B25-A820-597CB4114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05100F-51FB-4C99-9132-52C9B8899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Treating Ambiguity in grammars and languages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E1650F-A50D-4DDB-BB18-38EB06DEC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3E694C-9ECD-41EB-94FE-5DF7608A0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Explain variables -&gt; productions -&gt; derivation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99D119-FBB6-4B2C-8BE6-AFFBE1D38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8F513E-BA54-462D-A377-89A4DD1F3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D2892E-8B86-4644-ADDD-05BC44D9A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39E3CF-E69B-4234-A992-99C29EE5B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82A518-C106-49A5-B7C0-793A4BD67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258B9C-7CCB-437D-B89D-977C0AD5C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D6E875-E2C4-404B-97E2-8C1A25810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7F3AE0-FDF0-4AD2-A306-731334E84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Use terms such as variables, terminals, productions</a:t>
            </a:r>
          </a:p>
        </p:txBody>
      </p:sp>
    </p:spTree>
    <p:extLst>
      <p:ext uri="{BB962C8B-B14F-4D97-AF65-F5344CB8AC3E}">
        <p14:creationId xmlns:p14="http://schemas.microsoft.com/office/powerpoint/2010/main" val="1509017492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CF388B-6F02-4984-B820-C708F147F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4A856E-519D-4209-ADD6-E70B456D6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3: Context-Free Grammars and Pushdown Automata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67A77A-ED8B-4085-881A-CE6EFA7FA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914448-4607-47B8-9F4F-7E5EE9AC5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38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3FB29E-2D99-47EE-8C23-4922329A9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Definition of pushdown automaton: transition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EAE0D6-2B94-4D7F-B0BB-0F635869C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05100"/>
            <a:ext cx="1047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q0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090AF9-109D-4634-8294-D77C6204D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705100"/>
            <a:ext cx="1047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q1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ECBDE8-86F8-4DC3-8865-BA1B6D0C3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705100"/>
            <a:ext cx="1428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q2 / accept</a:t>
            </a:r>
          </a:p>
        </p:txBody>
      </p:sp>
      <p:cxnSp>
        <p:nvCxnSpPr>
          <p:cNvPr id="20" name=""/>
          <p:cNvCxnSpPr>
            <a:stCxn xmlns:a="http://schemas.openxmlformats.org/drawingml/2006/main" id="6" idx="6"/>
            <a:endCxn xmlns:a="http://schemas.openxmlformats.org/drawingml/2006/main" id="7" idx="2"/>
          </p:cNvCxnSpPr>
          <p:nvPr/>
        </p:nvCxnSpPr>
        <p:spPr>
          <a:xfrm xmlns:a="http://schemas.openxmlformats.org/drawingml/2006/main">
            <a:off x="2667000" y="3105150"/>
            <a:ext cx="1666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7" idx="6"/>
            <a:endCxn xmlns:a="http://schemas.openxmlformats.org/drawingml/2006/main" id="8" idx="2"/>
          </p:cNvCxnSpPr>
          <p:nvPr/>
        </p:nvCxnSpPr>
        <p:spPr>
          <a:xfrm xmlns:a="http://schemas.openxmlformats.org/drawingml/2006/main">
            <a:off x="5381625" y="3105150"/>
            <a:ext cx="1666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E912D7-8234-487A-99E1-697AB520A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86250"/>
            <a:ext cx="819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72033"/>
                </a:solidFill>
              </a:defRPr>
            </a:pPr>
            <a:r>
              <a:rPr sz="1875" b="0">
                <a:solidFill>
                  <a:srgbClr val="172033"/>
                </a:solidFill>
              </a:rPr>
              <a:t>Input symbols drive state changes. Acceptance depends on the final state and the formal model's rules.</a:t>
            </a:r>
          </a:p>
        </p:txBody>
      </p:sp>
    </p:spTree>
    <p:extLst>
      <p:ext uri="{BB962C8B-B14F-4D97-AF65-F5344CB8AC3E}">
        <p14:creationId xmlns:p14="http://schemas.microsoft.com/office/powerpoint/2010/main" val="1442774483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175AC95-A4C3-4220-94F6-D7D3A5C8F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653007-E221-4362-8063-185AF342E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3: Context-Free Grammars and Pushdown Automata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BBA1E8-9492-48BB-A3B9-5EB2B2ECE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C13640-8188-4A72-8D3D-6BABA7D83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39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12EDE2-EAA1-4E58-BC97-77C9A2AE3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Languages of a PDA vs Equivalence of PDA and CFG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C16E76-E192-4254-91C4-DE8BE29C6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D985A6-BCD5-41FD-9A05-1993DB932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7CB961-45D4-4892-AE06-318FDBB4C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Languages of a PDA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5F3756-F05F-4DD1-8452-735957DBB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Equivalence of PDA and CFG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CBB741-D6F2-4BE9-AE7C-C4BBD2FC7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04E4A6-2BB6-43DA-A9ED-F2AD1DDFF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765846-520E-4816-B751-0D9CF43B7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formal 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FC7C32-8EA4-46C3-8238-261351671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variables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15D2CA-B1A0-461B-9896-E5CF1CAA6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CD0C30-D411-4B49-B6D7-EDC2DDD12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9305D8-ADD9-4D6F-8812-9C8B48FED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rule application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735AE6-499C-4DAB-BC62-8C54F950C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productions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051708-87F9-444B-9370-A6529A07F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FB25A8-DC3C-4FDC-B2AB-C089B2779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834C34-D569-44F1-B91A-9CFBDF0CB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2A4A99-87EF-4535-943F-3E2C54905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F1BFD4-63CB-4C92-8242-41213A836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2FA79D-A06E-4E11-AF33-7E76F19BF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7B7CB8-387F-4218-A922-8E5E799E8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68A73A-2FB2-47A7-8AAE-EBBEFE513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1636149722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C810422-6323-4786-8E4C-804A83354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9D3D48-172C-424A-AADA-1153701B9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3: Context-Free Grammars and Pushdown Automata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1E0FF1-4E3F-4E31-9534-C151A0429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CA45A4-4852-409F-B90C-6F0DA231A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1D2264-D19F-42F6-8223-0A3DD7AC7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Equivalence of PDA and CFG: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DCBFB9-14A3-4499-9FE7-17BFA58C4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684356-2DAB-464B-A658-CA3B36253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3904E4-03CD-4A25-A58F-B4B8EA5C8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803B79-FC09-4218-8312-C409728E2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CD1CE4-C045-4ACD-893E-691203232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600587-5301-45BA-8409-7FA5110EA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3316A9-10D9-482F-B6BF-C1BB37CC6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7D5378-F026-4177-9329-009F04AC2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variables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A496F4-25CE-4E50-A13D-D0403CDB8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Identify terminals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90F0B5-5062-4854-9F18-EF67AC4B0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EF3941-7A5B-4499-905A-ADCEC5E13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1B64BE-37D0-4FB9-AD8B-545F2B679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8F7A31-3984-40A4-84E4-2EB051102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terminals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B6F680-1425-4A0E-AFE4-F460A4482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Apply productions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CD01BB-7F14-4095-B51E-43C767CF8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730D1F-F6F3-4FF7-AADE-8BDDDD64A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B07AA3-7465-4077-A7BF-6CE44DF5D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63C645-CA15-4BBC-A949-588943BFE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productions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B39EFC-E8FC-4363-8C00-8B9898521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Check start symbol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72ACE6-0773-4472-90A3-CE3F6FE6F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130681-AAC4-4D26-AF52-B581CC6E9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B0E975-564C-44F1-BAB9-E328D9BF8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4889BEE-C71F-4312-9D00-C0A3A65C5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start symbol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E2758B0-AC20-4630-95F9-347BA091D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Conclude derivation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3F416FA-2477-420A-AB49-42AAEC12D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046D12A-14C0-4660-B629-552AB23F8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</a:defRPr>
            </a:pPr>
            <a:r>
              <a:rPr sz="1650" b="0">
                <a:solidFill>
                  <a:srgbClr val="4B5563"/>
                </a:solidFill>
              </a:rPr>
              <a:t>Use this structure whenever equivalence of pda and cfg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876878592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0CBD31-763F-4440-9610-21105DCD0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AB7A5A-8859-4FB2-976F-364E75748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3: Context-Free Grammars and Pushdown Automata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153762-C707-4CD3-9729-90B20A674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737820-EA5F-4641-BB01-D9AFFBBD8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41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0F13EA-C73E-4EDA-AC8C-60F404069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Deterministic pushdown automata: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12DA32-1B9F-4C4D-9B60-70EF99853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EDA0F1-4A4A-40CD-8E23-E8E2DD46A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56BA56-A734-40D4-A708-19B746243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F9A738-6CD3-4725-9F96-CD8CB5851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4358A9-058F-47AD-AC30-D69727922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0B0503-1771-470F-824F-3BFBECA69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Treating Deterministic pushdown automata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223A39-8379-4E28-BF63-9C88AF8C0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7613AF-99E2-4CCC-98AE-7984D55EC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Explain states -&gt; transition function -&gt; accepting states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096A62-8F8D-47B3-96E1-C508BC272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12BAB8-122C-4699-BFB1-A481EE645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9F5C6C-326B-4C5D-85EC-F3B83C5D9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331C3C-AB54-4AE5-A046-39D33F8A3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F83F84-25D6-4633-83E7-0076EEF0E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EBB4B4-FECE-4068-A220-68A6A9BE9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08EB55-94CF-4A45-806B-488F85B12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FCA588-4AF9-44F1-AB2A-2686E32BA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Use terms such as states, alphabet, transition function</a:t>
            </a:r>
          </a:p>
        </p:txBody>
      </p:sp>
    </p:spTree>
    <p:extLst>
      <p:ext uri="{BB962C8B-B14F-4D97-AF65-F5344CB8AC3E}">
        <p14:creationId xmlns:p14="http://schemas.microsoft.com/office/powerpoint/2010/main" val="2033653336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C0D6A9-63FA-43F5-A60A-AD3CE3B1D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8BC63D-C462-4D7A-A492-977A04412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3: Context-Free Grammars and Pushdown Automata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10FB9D-DA8A-4F50-8F8F-681AB5247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93FC3D-9A34-4510-A7FB-999FDE195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7E0FE6-7A34-4862-BEDB-DB4BF1D0F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Context-free grammars: transition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A1551F-8E87-4BAD-975B-79E900F7A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05100"/>
            <a:ext cx="1047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q0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2E78DE-3EC5-40DB-A37D-E8CE98963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705100"/>
            <a:ext cx="1047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q1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1DE614-6B8C-4DAF-8ECA-F09124487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705100"/>
            <a:ext cx="1428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q2 / accept</a:t>
            </a:r>
          </a:p>
        </p:txBody>
      </p:sp>
      <p:cxnSp>
        <p:nvCxnSpPr>
          <p:cNvPr id="20" name=""/>
          <p:cNvCxnSpPr>
            <a:stCxn xmlns:a="http://schemas.openxmlformats.org/drawingml/2006/main" id="6" idx="6"/>
            <a:endCxn xmlns:a="http://schemas.openxmlformats.org/drawingml/2006/main" id="7" idx="2"/>
          </p:cNvCxnSpPr>
          <p:nvPr/>
        </p:nvCxnSpPr>
        <p:spPr>
          <a:xfrm xmlns:a="http://schemas.openxmlformats.org/drawingml/2006/main">
            <a:off x="2667000" y="3105150"/>
            <a:ext cx="1666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7" idx="6"/>
            <a:endCxn xmlns:a="http://schemas.openxmlformats.org/drawingml/2006/main" id="8" idx="2"/>
          </p:cNvCxnSpPr>
          <p:nvPr/>
        </p:nvCxnSpPr>
        <p:spPr>
          <a:xfrm xmlns:a="http://schemas.openxmlformats.org/drawingml/2006/main">
            <a:off x="5381625" y="3105150"/>
            <a:ext cx="1666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05BC7E-FD63-4E74-9C5D-D847F71C0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86250"/>
            <a:ext cx="819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72033"/>
                </a:solidFill>
              </a:defRPr>
            </a:pPr>
            <a:r>
              <a:rPr sz="1875" b="0">
                <a:solidFill>
                  <a:srgbClr val="172033"/>
                </a:solidFill>
              </a:rPr>
              <a:t>Input symbols drive state changes. Acceptance depends on the final state and the formal model's rules.</a:t>
            </a:r>
          </a:p>
        </p:txBody>
      </p:sp>
    </p:spTree>
    <p:extLst>
      <p:ext uri="{BB962C8B-B14F-4D97-AF65-F5344CB8AC3E}">
        <p14:creationId xmlns:p14="http://schemas.microsoft.com/office/powerpoint/2010/main" val="1014025697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949085-220D-403D-8748-EB98D082C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F3D665-D751-4118-BEA6-5484167DE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3: Context-Free Grammars and Pushdown Automata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DB59DF-D721-4597-A878-C6F0E9DC1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E05F53-9C02-421C-9706-0FC458668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43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0BEF33-73C3-4614-9FD4-413BC4672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Parse trees vs Ambiguity in grammars and languages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DA5FEB-892E-47B9-88EE-55B29909C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38F005-BB3C-43EB-8383-78AAC7017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6DA6DF-A5F5-4EB4-A889-266DEB10D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Parse trees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3E992B-03B9-4A66-A076-E7089A60F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Ambiguity in grammars and languages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058D07-D323-4083-8E00-2CDC136CE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2DD266-0586-452F-A8C3-31136A732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89E1A6-590B-4BA2-8F15-A69DBFC5B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formal 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2E3749-E676-47B1-8594-BA4BE23EF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variables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3604FA-5848-4113-BF5D-C542E8EEC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3F8851-B9BF-468F-8361-5E6027510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91A5B6-CF56-49E3-8B0E-816EAFB37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rule application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32555E-0A50-4913-9D07-7A31600F5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productions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429A65-B000-4CFA-850F-FBFC13EDF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4295F8-8DCC-44DB-B7C0-291DF050E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20CD27-2AE0-486E-B1F6-188592551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87939F-600D-4F80-AC32-072E8B322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3CB5AA-34F9-4BBC-8B72-57B0A4562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C64383-D550-4624-A142-6454531B7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014978-62D5-4A38-B3D8-137985722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61BBEC-3B3F-4765-94A7-A490F300D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1210338586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8012724-D9B6-458A-8984-4C31C9696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0D1901-0386-475A-B7C1-52E9DB033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3: Context-Free Grammars and Pushdown Automata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C88883-0B0F-480E-8476-2DDB15152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172676-4749-4FC7-8B68-1BE7C86F1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44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5F3F97-7D16-4A39-A9CC-292CCCBA1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Ambiguity in grammars and languages: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5B500A-89FA-404C-AF71-8B86A7172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F83476-E8F1-4228-80C3-4E6CD8226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E0372D-0FFF-498B-BC52-E71BB57F7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D9BE35-905F-4113-BF32-0C3D64586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A56AB9-BCD5-4467-B88D-BBB0984BD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C7F096-6A9B-483B-BBAE-A07957B28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3E74D2-0C2C-4397-8D2E-99F676870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467EB0-F4AC-44D7-ACAD-CB6BDC9FF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variables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60A83F-A98C-4047-BE9E-CC9C9260D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Identify terminals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A2FF99-D467-4A77-A7FF-E9D2B7786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B796CF-BCF6-4022-8E3A-B6C4417B7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8EB44A-8BBB-426E-AEC8-4B0A50378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B16FC4-F2AE-4742-9A0F-E2C99E68C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terminals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A5704E-7C7A-4864-8C19-625905510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Apply productions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251812-A142-4D52-8593-2EAD25524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2034AF-6FBA-4CCB-AC2A-D21BD4EA6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A95DC5-CFBA-4E58-A080-8A3F6CF6C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27201C-3FFE-4CAB-8B71-89D4A2286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productions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3E2526-F373-4A91-A2B8-489E85BF6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Check start symbol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281263F-1461-4BCA-B98E-C7A6396E0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E42ED8-0564-4F60-BD91-45973394A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C2C9966-CD97-419B-9460-A42978805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28E10D3-C4A1-48A1-955C-0654AABEE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start symbol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FF3D2A-5052-4DE2-92D5-7A640C9BF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Conclude derivation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92398F2-19DA-45C3-BEA5-6E2B0D6EE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FBF25B0-6418-470B-B6F9-13ECEBDF9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</a:defRPr>
            </a:pPr>
            <a:r>
              <a:rPr sz="1650" b="0">
                <a:solidFill>
                  <a:srgbClr val="4B5563"/>
                </a:solidFill>
              </a:rPr>
              <a:t>Use this structure whenever ambiguity in grammars and languages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609101654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1D6C28-505F-4A4A-9FE7-E6E88B5EB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9A9F51-ED83-4283-9E1B-15384C7E7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3: Context-Free Grammars and Pushdown Automata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0F1BF8-1051-46F2-A8F0-D0A506AAE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E1CD93-3D6D-4271-A2E5-34D546CBB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45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358612-B4EB-4E46-8B16-841E1429F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Definition of pushdown automaton: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73E378-3B0D-42DC-9D62-73525F301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8BF010-96B9-4DEA-99E2-0EB352831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DD1378-A7F9-4D72-B8FE-78D8EE720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30803A-B665-46F8-B442-7DA2A3538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5E51DD-78D9-417C-B698-49B2185B7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28F498-7E33-490F-9BA9-9E4E48805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Treating Definition of pushdown automaton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AA0422-9C6F-4EBC-B568-A196C4588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8DCFCA-D25D-4C52-A96A-CD573C284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Explain formal model -&gt; rule application -&gt; proof idea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7A8E15-00FD-41FC-AD6F-365C9B232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93938F-A4D7-4B13-BAFF-21700E97B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BDCFB8-2A69-4708-BF47-DDF191E86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06DDFE-2D1E-447D-9381-031334F75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7A2CF3-5755-4100-BD4F-5F5CB8B94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35C2BD-E948-4685-9EDB-620BC28F4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EBB424-10C7-4297-85AF-573739617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180D05-E49B-4405-ACDD-5996782DC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Use terms such as formal model, input string, rule application</a:t>
            </a:r>
          </a:p>
        </p:txBody>
      </p:sp>
    </p:spTree>
    <p:extLst>
      <p:ext uri="{BB962C8B-B14F-4D97-AF65-F5344CB8AC3E}">
        <p14:creationId xmlns:p14="http://schemas.microsoft.com/office/powerpoint/2010/main" val="308754699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0EDBF5-881F-40CF-936E-9E3A6C344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5E28E2-2AF1-4F4A-A6B4-563E82C54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3: Context-Free Grammars and Pushdown Automata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A68868-D670-43F0-8C88-5D362B4B0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119BD4-E9B6-41E7-9CD8-5F484B4A6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46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DF3569-795A-4804-A88A-7C8529EDE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Languages of a PDA: transition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CBEB9E-7D83-4126-B7FF-72B1B5C39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05100"/>
            <a:ext cx="1047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q0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44B413-166A-48D5-9509-E88E353F9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705100"/>
            <a:ext cx="1047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q1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E38584-D076-41C3-9088-018A34BE2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705100"/>
            <a:ext cx="1428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q2 / accept</a:t>
            </a:r>
          </a:p>
        </p:txBody>
      </p:sp>
      <p:cxnSp>
        <p:nvCxnSpPr>
          <p:cNvPr id="20" name=""/>
          <p:cNvCxnSpPr>
            <a:stCxn xmlns:a="http://schemas.openxmlformats.org/drawingml/2006/main" id="6" idx="6"/>
            <a:endCxn xmlns:a="http://schemas.openxmlformats.org/drawingml/2006/main" id="7" idx="2"/>
          </p:cNvCxnSpPr>
          <p:nvPr/>
        </p:nvCxnSpPr>
        <p:spPr>
          <a:xfrm xmlns:a="http://schemas.openxmlformats.org/drawingml/2006/main">
            <a:off x="2667000" y="3105150"/>
            <a:ext cx="1666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7" idx="6"/>
            <a:endCxn xmlns:a="http://schemas.openxmlformats.org/drawingml/2006/main" id="8" idx="2"/>
          </p:cNvCxnSpPr>
          <p:nvPr/>
        </p:nvCxnSpPr>
        <p:spPr>
          <a:xfrm xmlns:a="http://schemas.openxmlformats.org/drawingml/2006/main">
            <a:off x="5381625" y="3105150"/>
            <a:ext cx="1666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4263E2-5DBA-4E55-9C3E-3C1781C8E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86250"/>
            <a:ext cx="819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72033"/>
                </a:solidFill>
              </a:defRPr>
            </a:pPr>
            <a:r>
              <a:rPr sz="1875" b="0">
                <a:solidFill>
                  <a:srgbClr val="172033"/>
                </a:solidFill>
              </a:rPr>
              <a:t>Input symbols drive state changes. Acceptance depends on the final state and the formal model's rules.</a:t>
            </a:r>
          </a:p>
        </p:txBody>
      </p:sp>
    </p:spTree>
    <p:extLst>
      <p:ext uri="{BB962C8B-B14F-4D97-AF65-F5344CB8AC3E}">
        <p14:creationId xmlns:p14="http://schemas.microsoft.com/office/powerpoint/2010/main" val="1793706829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DE1DF6-D781-46F4-B36F-E98DA11D0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4A84BF-B47F-4546-A7B0-5FCA42666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3: Context-Free Grammars and Pushdown Automata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A372C1-9D05-41B6-A9CF-46C8DE5E9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7A82EB-2379-4D2F-8116-7A103C00A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47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5D1E34-791E-450A-AB2C-2676068F9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Equivalence of PDA and CFG vs Deterministic pushdown automata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12B8B4-B31B-45ED-BE41-39897EAA8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788C65-AF98-42C2-BBFE-EAA020A42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420241-F836-4CEB-985C-EEFB3B76B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Equivalence of PDA and CFG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5FBFD6-449E-4532-B876-830FF4FDE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Deterministic pushdown automata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F22EA7-F0DD-4A69-BFEF-AF1A09D09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D50EDF-B3CF-4F07-B4AD-3528AFC6E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4C86A2-0392-4A5A-92A4-178734710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variables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0FC75A-9400-413A-9F8B-F021C6D6C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states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706FEC-FA05-4729-AD31-F1464670D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F77FCF-C808-4ABE-9A70-4E5F327C7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804955-0A15-4BB7-92F1-EF3F1FB5C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productions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164F14-E4F8-446F-B354-32D9A781B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transition function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754807-08E7-4F9A-BBB9-82E3295BF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C7C711-E48E-403D-B0B7-18AA69FC3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96ED9B-4396-43DF-B8CB-E101A5C2E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2CDD37-02A5-4D1A-BBC3-5AE8C9AB6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2224EE-AA8B-4296-BA0E-A2E559784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593D42-551E-4DBF-9930-A21C37B0F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A758B5-2F00-4A93-85AC-7A9F757DB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02B082-24DC-435F-9501-BD11B8D73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2078685701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CA41720-08E7-4CE1-BBEF-76328178E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11A03F-15FF-462D-92F1-0D59990D1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3: Context-Free Grammars and Pushdown Automata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891213-116C-4BC9-9E85-E1004159C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2F92E6-0790-4824-8374-640B3EE3D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48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5499E2-7F23-4345-A2E5-F56130A29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Deterministic pushdown automata: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8F273E-7CF7-4D06-97A3-B99EC394C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CD9D53-C8C0-4FD9-8BCD-CE4DA59DF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DF0277-88D1-43F0-A7F4-1464D3D40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9208A1-A881-4144-B6B4-5A6F87FA1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3B80A8-5B95-48B6-8CFC-C7751CADB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1E0079-42E3-41EE-AEDC-C57333060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65EE99-75E0-4216-AF31-B9B992DE2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CE5E9F-062E-4737-B3B7-CB50BD938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states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16A7C5-A34A-46DB-A370-F6B91184F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Identify alphabet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3659FB-F052-4041-95C8-57CB2E993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23F020-B23B-446F-9E01-CDA429118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FCEB44-FAC4-4788-BD2A-A7AF58581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6E634E-4996-4BDF-BD73-51AE93285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alphabet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CF01BB-E0F7-47FB-8A33-FB2ED1B4E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Apply transition function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4FD9C9-D24D-4A61-9A6F-D7F42969E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347DD9-C3F4-4FA3-90A1-EBF009CB1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9D5A01-F79B-48D7-903B-2B8561CF7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50A3B7-3044-4A1E-9A1C-94BF953D3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transition function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38E55A-1B4C-4205-97B0-D364F12E1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Check start state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673379-6B27-4DF9-9F7D-792FE377D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9738A3-ECAB-4224-A9C2-655A3AD12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5AF74C-13B6-4ACD-AB3C-33BD43239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359EE44-54BB-402F-BE75-6F453523E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start state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1B638E5-0DF7-4BE2-B3B4-7C266D92E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Conclude accepting states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43AACA0-11D5-43E3-9A76-C82F60A0D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0A015BD-E987-4C58-A3FD-BAA7123D7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</a:defRPr>
            </a:pPr>
            <a:r>
              <a:rPr sz="1650" b="0">
                <a:solidFill>
                  <a:srgbClr val="4B5563"/>
                </a:solidFill>
              </a:rPr>
              <a:t>Use this structure whenever deterministic pushdown automata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494631704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3A8842-D09C-4BE8-8567-CD6757F2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BC9E94-CCCD-4D77-BB95-DED966249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3: Context-Free Grammars and Pushdown Automata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C7803A-67E2-41C3-A6D6-927D4086A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6BC198-C6BB-47EB-987B-273027B95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49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2CB41F-03F5-4DE0-9E57-BDAC56BB1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033"/>
                </a:solidFill>
              </a:defRPr>
            </a:pPr>
            <a:r>
              <a:rPr sz="2925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C0D232-F4AA-427F-BCAD-EDCD2F194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19300"/>
            <a:ext cx="9429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033"/>
                </a:solidFill>
              </a:defRPr>
            </a:pPr>
            <a:r>
              <a:rPr sz="2025" b="0">
                <a:solidFill>
                  <a:srgbClr val="172033"/>
                </a:solidFill>
              </a:rPr>
              <a:t>No genuine previous-year VTU questions were found locally for this module during this pass, so this deck does not fabricate PYQs.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F40A50-D443-48BC-9ECA-C61F97599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43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8050DA-81AA-446A-98A3-9D0C84AE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7662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Use the practice questions as model revision prompts.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A26635-C8D6-4D7A-A332-2381D341D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5D67F3-7661-445B-8AB1-15B31BBDE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6242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Add authentic PYQs later only from a verified VTU source.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F789E1-D4E9-4CD2-98F1-201229EE7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149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DBB283-B073-4F2D-B0E5-2F2BE4AE3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4822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Do not label instructor-created questions as previous-year questions.</a:t>
            </a:r>
          </a:p>
        </p:txBody>
      </p:sp>
    </p:spTree>
    <p:extLst>
      <p:ext uri="{BB962C8B-B14F-4D97-AF65-F5344CB8AC3E}">
        <p14:creationId xmlns:p14="http://schemas.microsoft.com/office/powerpoint/2010/main" val="18232437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2026-08-24T06:04:37.1360000Z</dcterms:created>
  <dcterms:modified xsi:type="dcterms:W3CDTF">2026-08-24T06:04:37.1360000Z</dcterms:modified>
</coreProperties>
</file>