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a41a4278c204c34" /><Relationship Type="http://schemas.openxmlformats.org/officeDocument/2006/relationships/extended-properties" Target="/docProps/app.xml" Id="Rcae3ecdb14fd4439" /><Relationship Type="http://schemas.openxmlformats.org/officeDocument/2006/relationships/officeDocument" Target="/ppt/presentation.xml" Id="Rf9019e81653b4ef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6aedbfb79224bba"/>
  </p:sldMasterIdLst>
  <p:notesMasterIdLst>
    <p:notesMasterId xmlns:r="http://schemas.openxmlformats.org/officeDocument/2006/relationships" r:id="R33dbbbf847dd41f4"/>
  </p:notesMasterIdLst>
  <p:sldIdLst>
    <p:sldId xmlns:r="http://schemas.openxmlformats.org/officeDocument/2006/relationships" id="256" r:id="R57f7aee3934e459a"/>
    <p:sldId xmlns:r="http://schemas.openxmlformats.org/officeDocument/2006/relationships" id="257" r:id="Rcc377a3adb9844ac"/>
    <p:sldId xmlns:r="http://schemas.openxmlformats.org/officeDocument/2006/relationships" id="258" r:id="R460af94e11b44665"/>
    <p:sldId xmlns:r="http://schemas.openxmlformats.org/officeDocument/2006/relationships" id="259" r:id="R22f90a0efdd54e86"/>
    <p:sldId xmlns:r="http://schemas.openxmlformats.org/officeDocument/2006/relationships" id="260" r:id="Ra7be06f08fd34fc2"/>
    <p:sldId xmlns:r="http://schemas.openxmlformats.org/officeDocument/2006/relationships" id="261" r:id="R732d01db3e0f48ed"/>
    <p:sldId xmlns:r="http://schemas.openxmlformats.org/officeDocument/2006/relationships" id="262" r:id="R28255f4776ad48f3"/>
    <p:sldId xmlns:r="http://schemas.openxmlformats.org/officeDocument/2006/relationships" id="263" r:id="R752da50f064f4145"/>
    <p:sldId xmlns:r="http://schemas.openxmlformats.org/officeDocument/2006/relationships" id="264" r:id="Rd48a911299584cc7"/>
    <p:sldId xmlns:r="http://schemas.openxmlformats.org/officeDocument/2006/relationships" id="265" r:id="R433c2d3e72cc41f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1aac2ac6e3a4362" /><Relationship Type="http://schemas.openxmlformats.org/officeDocument/2006/relationships/slideMaster" Target="/ppt/slideMasters/slideMaster1.xml" Id="Rd6aedbfb79224bba" /><Relationship Type="http://schemas.openxmlformats.org/officeDocument/2006/relationships/notesMaster" Target="/ppt/notesMasters/notesMaster1.xml" Id="R33dbbbf847dd41f4" /><Relationship Type="http://schemas.openxmlformats.org/officeDocument/2006/relationships/presProps" Target="/ppt/presProps.xml" Id="R575a4afa279841e2" /><Relationship Type="http://schemas.openxmlformats.org/officeDocument/2006/relationships/tableStyles" Target="/ppt/tableStyles.xml" Id="R841e85bcc1184e22" /><Relationship Type="http://schemas.openxmlformats.org/officeDocument/2006/relationships/slide" Target="/ppt/slides/slide1.xml" Id="R57f7aee3934e459a" /><Relationship Type="http://schemas.openxmlformats.org/officeDocument/2006/relationships/slide" Target="/ppt/slides/slide2.xml" Id="Rcc377a3adb9844ac" /><Relationship Type="http://schemas.openxmlformats.org/officeDocument/2006/relationships/slide" Target="/ppt/slides/slide3.xml" Id="R460af94e11b44665" /><Relationship Type="http://schemas.openxmlformats.org/officeDocument/2006/relationships/slide" Target="/ppt/slides/slide4.xml" Id="R22f90a0efdd54e86" /><Relationship Type="http://schemas.openxmlformats.org/officeDocument/2006/relationships/slide" Target="/ppt/slides/slide5.xml" Id="Ra7be06f08fd34fc2" /><Relationship Type="http://schemas.openxmlformats.org/officeDocument/2006/relationships/slide" Target="/ppt/slides/slide6.xml" Id="R732d01db3e0f48ed" /><Relationship Type="http://schemas.openxmlformats.org/officeDocument/2006/relationships/slide" Target="/ppt/slides/slide7.xml" Id="R28255f4776ad48f3" /><Relationship Type="http://schemas.openxmlformats.org/officeDocument/2006/relationships/slide" Target="/ppt/slides/slide8.xml" Id="R752da50f064f4145" /><Relationship Type="http://schemas.openxmlformats.org/officeDocument/2006/relationships/slide" Target="/ppt/slides/slide9.xml" Id="Rd48a911299584cc7" /><Relationship Type="http://schemas.openxmlformats.org/officeDocument/2006/relationships/slide" Target="/ppt/slides/slide10.xml" Id="R433c2d3e72cc41f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63a61e6cab0451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121d137c71e4c13" /><Relationship Type="http://schemas.openxmlformats.org/officeDocument/2006/relationships/notesMaster" Target="/ppt/notesMasters/notesMaster1.xml" Id="R14fa9166ce31427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cc31a0d903a4552" /><Relationship Type="http://schemas.openxmlformats.org/officeDocument/2006/relationships/notesMaster" Target="/ppt/notesMasters/notesMaster1.xml" Id="R963ff9a6737f42a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7f5609bdcc140be" /><Relationship Type="http://schemas.openxmlformats.org/officeDocument/2006/relationships/notesMaster" Target="/ppt/notesMasters/notesMaster1.xml" Id="R6d5e29694cb147e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01e6d7f7c9d4947" /><Relationship Type="http://schemas.openxmlformats.org/officeDocument/2006/relationships/notesMaster" Target="/ppt/notesMasters/notesMaster1.xml" Id="R036cf5af6c3e482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399162d93ec425a" /><Relationship Type="http://schemas.openxmlformats.org/officeDocument/2006/relationships/notesMaster" Target="/ppt/notesMasters/notesMaster1.xml" Id="Re3d6c857f22c4c9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3d6d7b0c2234e97" /><Relationship Type="http://schemas.openxmlformats.org/officeDocument/2006/relationships/notesMaster" Target="/ppt/notesMasters/notesMaster1.xml" Id="Rf0864fcae19e4a6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093ae5ac80e4a42" /><Relationship Type="http://schemas.openxmlformats.org/officeDocument/2006/relationships/notesMaster" Target="/ppt/notesMasters/notesMaster1.xml" Id="Racf764a845bf45a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090946a29a94508" /><Relationship Type="http://schemas.openxmlformats.org/officeDocument/2006/relationships/notesMaster" Target="/ppt/notesMasters/notesMaster1.xml" Id="R8a90dad5225248d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8185e4fb56544ed" /><Relationship Type="http://schemas.openxmlformats.org/officeDocument/2006/relationships/notesMaster" Target="/ppt/notesMasters/notesMaster1.xml" Id="R73f52885e512459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4858d6201ab48e0" /><Relationship Type="http://schemas.openxmlformats.org/officeDocument/2006/relationships/notesMaster" Target="/ppt/notesMasters/notesMaster1.xml" Id="R43a53cdb4bee4ca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Connolly and Hoar, Fundamentals of Web Development, 3rd ed.; TB2: Sebesta, Programming the World Wide Web, 8th ed.; syllabus web resources.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Connolly and Hoar, Fundamentals of Web Development, 3rd ed.; TB2: Sebesta, Programming the World Wide Web, 8th ed.; syllabus web resources.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Connolly and Hoar, Fundamentals of Web Development, 3rd ed.; TB2: Sebesta, Programming the World Wide Web, 8th ed.; syllabus web resources.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Connolly and Hoar, Fundamentals of Web Development, 3rd ed.; TB2: Sebesta, Programming the World Wide Web, 8th ed.; syllabus web resources.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Connolly and Hoar, Fundamentals of Web Development, 3rd ed.; TB2: Sebesta, Programming the World Wide Web, 8th ed.; syllabus web resources.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Connolly and Hoar, Fundamentals of Web Development, 3rd ed.; TB2: Sebesta, Programming the World Wide Web, 8th ed.; syllabus web resources.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Connolly and Hoar, Fundamentals of Web Development, 3rd ed.; TB2: Sebesta, Programming the World Wide Web, 8th ed.; syllabus web resources.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Connolly and Hoar, Fundamentals of Web Development, 3rd ed.; TB2: Sebesta, Programming the World Wide Web, 8th ed.; syllabus web resources.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Connolly and Hoar, Fundamentals of Web Development, 3rd ed.; TB2: Sebesta, Programming the World Wide Web, 8th ed.; syllabus web resources.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Connolly and Hoar, Fundamentals of Web Development, 3rd ed.; TB2: Sebesta, Programming the World Wide Web, 8th ed.; syllabus web resources.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58be39cfd54c8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be4bb0e42554af7" /><Relationship Type="http://schemas.openxmlformats.org/officeDocument/2006/relationships/slideLayout" Target="/ppt/slideLayouts/slideLayout1.xml" Id="R412040b459514c4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12040b459514c4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b5a920f5184e46" /><Relationship Type="http://schemas.openxmlformats.org/officeDocument/2006/relationships/notesSlide" Target="/ppt/notesSlides/notesSlide1.xml" Id="R317484fa278941b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069670f0984d77" /><Relationship Type="http://schemas.openxmlformats.org/officeDocument/2006/relationships/notesSlide" Target="/ppt/notesSlides/notesSlide2.xml" Id="R2b89576a532643a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a4b92bccef4ece" /><Relationship Type="http://schemas.openxmlformats.org/officeDocument/2006/relationships/notesSlide" Target="/ppt/notesSlides/notesSlide3.xml" Id="R8d187eaffb634a8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cb6ebe23344ceb" /><Relationship Type="http://schemas.openxmlformats.org/officeDocument/2006/relationships/notesSlide" Target="/ppt/notesSlides/notesSlide4.xml" Id="R9ba8084cd3a1459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84feb132a54750" /><Relationship Type="http://schemas.openxmlformats.org/officeDocument/2006/relationships/notesSlide" Target="/ppt/notesSlides/notesSlide5.xml" Id="Rae8704adb321458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49d45cf0184f74" /><Relationship Type="http://schemas.openxmlformats.org/officeDocument/2006/relationships/notesSlide" Target="/ppt/notesSlides/notesSlide6.xml" Id="Rc6c6f121a8ff48b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bb916693d84448" /><Relationship Type="http://schemas.openxmlformats.org/officeDocument/2006/relationships/notesSlide" Target="/ppt/notesSlides/notesSlide7.xml" Id="R9745819c48e845a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56e810667e46ee" /><Relationship Type="http://schemas.openxmlformats.org/officeDocument/2006/relationships/notesSlide" Target="/ppt/notesSlides/notesSlide8.xml" Id="R469083a8ec69494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2311f9be954a5c" /><Relationship Type="http://schemas.openxmlformats.org/officeDocument/2006/relationships/notesSlide" Target="/ppt/notesSlides/notesSlide9.xml" Id="R0b7dfd74a3c84c5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7c8893d4844fa5" /><Relationship Type="http://schemas.openxmlformats.org/officeDocument/2006/relationships/notesSlide" Target="/ppt/notesSlides/notesSlide10.xml" Id="R681e3874b6a24c3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0393AA-7DB5-44C0-900B-638A924C0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BCSL504 | Web Technology Lab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FD6205-6BDF-46E6-9BF3-D852CA047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Experiment 09: jQuery DOM and animation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56E608-E04A-4FAD-9943-0F1F28194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0">
            <a:solidFill>
              <a:srgbClr val="DCFC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B0F106-FCE8-4599-9EC8-872C1670B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18E200-E2D9-4D55-B1C2-60055AC9A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33450"/>
            <a:ext cx="7429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827"/>
                </a:solidFill>
              </a:defRPr>
            </a:pPr>
            <a:r>
              <a:rPr sz="3450" b="1">
                <a:solidFill>
                  <a:srgbClr val="111827"/>
                </a:solidFill>
              </a:rPr>
              <a:t>jQuery DOM and animation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77AC52-C653-47A0-99CE-F8AE8BE20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742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B5563"/>
                </a:solidFill>
              </a:defRPr>
            </a:pPr>
            <a:r>
              <a:rPr sz="1725" b="0">
                <a:solidFill>
                  <a:srgbClr val="4B5563"/>
                </a:solidFill>
              </a:rPr>
              <a:t>Web Technology Lab | Experiment 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E9E1DF-3065-4BC5-8005-A9463AAC1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28950"/>
            <a:ext cx="1714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0A15A4-0F43-44AC-89B4-22C7DAF37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0957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DF2B5D-B3D7-4282-AE39-51DA99401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0957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HTML/CSS/JS/PHP logic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EC7ABB-B1F8-4D66-99F2-BE75793AC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0957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Implementation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2D1D2F-D362-4C91-942C-855C45483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0957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Run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9E96CA-884D-44EC-A877-E4B53B4A2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0957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Verify</a:t>
            </a:r>
          </a:p>
        </p:txBody>
      </p:sp>
      <p:cxnSp>
        <p:nvCxnSpPr>
          <p:cNvPr id="29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171825" y="45339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A34A"/>
            </a:solidFill>
            <a:prstDash val="solid"/>
          </a:ln>
        </p:spPr>
      </p:cxnSp>
      <p:cxnSp>
        <p:nvCxnSpPr>
          <p:cNvPr id="30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038725" y="45339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A34A"/>
            </a:solidFill>
            <a:prstDash val="solid"/>
          </a:ln>
        </p:spPr>
      </p:cxnSp>
      <p:cxnSp>
        <p:nvCxnSpPr>
          <p:cNvPr id="31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6905625" y="45339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A34A"/>
            </a:solidFill>
            <a:prstDash val="solid"/>
          </a:ln>
        </p:spPr>
      </p:cxnSp>
      <p:cxnSp>
        <p:nvCxnSpPr>
          <p:cNvPr id="32" name=""/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8772525" y="45339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A34A"/>
            </a:solidFill>
            <a:prstDash val="solid"/>
          </a:ln>
        </p:spPr>
      </p:cxnSp>
    </p:spTree>
    <p:extLst>
      <p:ext uri="{BB962C8B-B14F-4D97-AF65-F5344CB8AC3E}">
        <p14:creationId xmlns:p14="http://schemas.microsoft.com/office/powerpoint/2010/main" val="79858390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AE8820-C09A-4C6C-9CAD-91D28B112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BCSL504 | Web Technology Lab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5B0D63-FBEB-48E9-AF3A-8D1F63A50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Experiment 09: jQuery DOM and animation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05E0A5-555D-4C12-B4E0-993F05CF7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0">
            <a:solidFill>
              <a:srgbClr val="DCFC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6F17A7-B770-4598-90FB-088C7B528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530BF9-BD09-497D-987C-4BE8DA54D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827"/>
                </a:solidFill>
              </a:defRPr>
            </a:pPr>
            <a:r>
              <a:rPr sz="2925" b="1">
                <a:solidFill>
                  <a:srgbClr val="111827"/>
                </a:solidFill>
              </a:rPr>
              <a:t>Lab outcome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6EE6F2-E4F8-4888-9F9F-34EAF2C97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573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559686-DFF1-4A35-9266-BAB832E63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7907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Implement: append paragraph/list content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86A185-125F-4149-A214-18DD1745E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98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A12A5E-2303-4552-AB74-5B1B1A6A5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3431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Implement: animate CSS state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453378-02B6-45F4-98E1-C073DB336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622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CA4CAA-A2A9-4FC8-BC36-073E40E0C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8956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Implement: change animated div colour</a:t>
            </a:r>
          </a:p>
        </p:txBody>
      </p:sp>
    </p:spTree>
    <p:extLst>
      <p:ext uri="{BB962C8B-B14F-4D97-AF65-F5344CB8AC3E}">
        <p14:creationId xmlns:p14="http://schemas.microsoft.com/office/powerpoint/2010/main" val="159172099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5C0DFB-2413-400E-B1D4-8597BA044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BCSL504 | Web Technology Lab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0DB518-68E9-459F-85FE-DCB204E27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Experiment 09: jQuery DOM and animation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2E91E9-4928-4B33-8193-5DB177D12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0">
            <a:solidFill>
              <a:srgbClr val="DCFC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017C29-2F9C-4144-B25D-50277CBFD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2F4B81-58B2-41AD-9D45-8B146B215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827"/>
                </a:solidFill>
              </a:defRPr>
            </a:pPr>
            <a:r>
              <a:rPr sz="2925" b="1">
                <a:solidFill>
                  <a:srgbClr val="111827"/>
                </a:solidFill>
              </a:rPr>
              <a:t>Page / program structure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39CF3F-BDFC-4F96-B718-9CDCB9BE8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20002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2E3BD4-0548-428A-B15C-B9C3BCF1E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0002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Markup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260799-6E1C-4146-BCAD-C14F73C27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0002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Style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9438DE-710F-4E7C-A16B-0E7C5586B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0002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Behavior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9381E7-00F4-454B-8421-89316A28A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0002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Output</a:t>
            </a:r>
          </a:p>
        </p:txBody>
      </p:sp>
      <p:cxnSp>
        <p:nvCxnSpPr>
          <p:cNvPr id="31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171825" y="24384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A34A"/>
            </a:solidFill>
            <a:prstDash val="solid"/>
          </a:ln>
        </p:spPr>
      </p:cxnSp>
      <p:cxnSp>
        <p:nvCxnSpPr>
          <p:cNvPr id="32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038725" y="24384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A34A"/>
            </a:solidFill>
            <a:prstDash val="solid"/>
          </a:ln>
        </p:spPr>
      </p:cxnSp>
      <p:cxnSp>
        <p:nvCxnSpPr>
          <p:cNvPr id="33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6905625" y="24384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A34A"/>
            </a:solidFill>
            <a:prstDash val="solid"/>
          </a:ln>
        </p:spPr>
      </p:cxnSp>
      <p:cxnSp>
        <p:nvCxnSpPr>
          <p:cNvPr id="34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8772525" y="24384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A34A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89E4DD-5F3C-43EA-934B-6DAE00A5E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67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F23700-379F-46F6-988E-3DD97A2C3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000500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Keep filenames exactly as asked where specified.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EC5D8D-10D4-4F64-B821-89BFF2AA4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57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B2CC1C-1479-476F-9B51-4F30D9AC3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Separate structure, presentation and behavior when the experiment allows it.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BE32BC-37D1-4A10-B191-D89674772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2482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46EB7C-7E42-475A-B024-E5B4BC2DE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181600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Use readable indentation and comments only where they explain logic.</a:t>
            </a:r>
          </a:p>
        </p:txBody>
      </p:sp>
    </p:spTree>
    <p:extLst>
      <p:ext uri="{BB962C8B-B14F-4D97-AF65-F5344CB8AC3E}">
        <p14:creationId xmlns:p14="http://schemas.microsoft.com/office/powerpoint/2010/main" val="185757011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D6D4E4-69CE-402A-AC0A-AA300837D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BCSL504 | Web Technology Lab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50E48E-DCD7-4A02-843C-B5F2878D1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Experiment 09: jQuery DOM and animation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5A87E6-D3F7-4625-8151-A657BF870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0">
            <a:solidFill>
              <a:srgbClr val="DCFC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220BA4-9336-444E-AD95-47F05D46C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E03886-98A6-45A9-9933-90E8212B2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57300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827"/>
                </a:solidFill>
              </a:defRPr>
            </a:pPr>
            <a:r>
              <a:rPr sz="2325" b="1">
                <a:solidFill>
                  <a:srgbClr val="111827"/>
                </a:solidFill>
              </a:rPr>
              <a:t>Important code pattern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3FA390-03CB-4AF6-8EE6-05F458B17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28800"/>
            <a:ext cx="72390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function runExperiment(input) {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  const result = process(input);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  document.querySelector('#output').textContent = result;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}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F08D7D-F91D-4B81-9AAD-73C39712C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050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6CC779-5E03-4CC1-91B6-80039C602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383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Read the command/program from left to right.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752A26-CF35-4FBE-9886-90BC50259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52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733670-0BAE-46DE-889F-9834CC567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860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Identify input, operation and output.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F2287D-09AB-4B15-B8A4-4667A001A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004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823BA8-9981-4614-8B12-677064E67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337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Mention edge cases and error handling in viva/exam answers.</a:t>
            </a:r>
          </a:p>
        </p:txBody>
      </p:sp>
    </p:spTree>
    <p:extLst>
      <p:ext uri="{BB962C8B-B14F-4D97-AF65-F5344CB8AC3E}">
        <p14:creationId xmlns:p14="http://schemas.microsoft.com/office/powerpoint/2010/main" val="109843427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808DE19-32D5-41A6-AC4E-830829E0A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BCSL504 | Web Technology Lab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EF3005-8AFA-485F-A7AE-11040A1B6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Experiment 09: jQuery DOM and animation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BCC826-9583-4EDE-A68E-71A406E2C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0">
            <a:solidFill>
              <a:srgbClr val="DCFC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A51286-A327-4ADC-8DBE-A45936734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460D7C-3119-4EE3-8F61-6E6152422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827"/>
                </a:solidFill>
              </a:defRPr>
            </a:pPr>
            <a:r>
              <a:rPr sz="2925" b="1">
                <a:solidFill>
                  <a:srgbClr val="111827"/>
                </a:solidFill>
              </a:rPr>
              <a:t>Syntax checkpoints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B7430F-01A2-4B28-81CF-3C14151EB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080B7B-FA4C-4712-AC66-71C52B337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Construct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863EB4-379B-4F76-99A3-B63EF106E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Purpose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194E33-D69A-4F7F-8A78-47119903F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What to verify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945A72-8771-4242-B6F7-FB8599304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2A78F7-F6F1-4B45-B87A-E39FDD26E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HTML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20CE19-F2C0-469B-9201-2CC3D954B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Structures the content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C1A853-6EB2-415A-92EE-3A0F4D3FD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Tags are closed and nested correctly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2DF7AE-8ACB-4FA2-B47A-205D3E6D6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5EA228-FB7B-41FA-91C2-AC8F1ECAD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1A501E-38FC-4CEB-9F9D-1AF934FB8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Controls presentation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591854-E5E4-47DA-B396-2A53FDCEE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Selectors target the intended elements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17A0F0-373B-44C1-8677-A6BF470DE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5BFEC3-3E02-4E59-8CDF-5F31FC9F6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Script/PHP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B67C81-8B23-4026-BFE9-CFCE9F52D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Adds behavior or server logic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E8F946-305D-4842-B484-431F85A28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Input, processing and output are connected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7F3E3D-E11B-4088-A5F6-2C98FE63D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D32CC2-28FF-40C6-BDD2-78B0F321B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Browser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E4AD116-4014-490A-9D52-83D11544A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Shows final result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7B34211-30A3-4101-876E-CE47E289D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Console/server errors are resolved</a:t>
            </a:r>
          </a:p>
        </p:txBody>
      </p:sp>
    </p:spTree>
    <p:extLst>
      <p:ext uri="{BB962C8B-B14F-4D97-AF65-F5344CB8AC3E}">
        <p14:creationId xmlns:p14="http://schemas.microsoft.com/office/powerpoint/2010/main" val="167659458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6A4BA9-7024-440C-83E1-76F463EEF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BCSL504 | Web Technology Lab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C8A055-CA55-45CF-80BD-3754E1813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Experiment 09: jQuery DOM and animation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76BB36-6BEE-4F91-A1B2-7160B9C65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0">
            <a:solidFill>
              <a:srgbClr val="DCFC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9CAEFF-1CA4-4C96-A7B8-F87ED44A6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3265A1-FBB7-4275-827E-94D722673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742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827"/>
                </a:solidFill>
              </a:defRPr>
            </a:pPr>
            <a:r>
              <a:rPr sz="2925" b="1">
                <a:solidFill>
                  <a:srgbClr val="111827"/>
                </a:solidFill>
              </a:rPr>
              <a:t>Build the program in layers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E74EAB-4117-46B0-80E2-1C1BDCB7D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20764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Skeleton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991895-750F-4730-881A-D49EF397F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0764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Required elements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CB3462-824E-4F09-A7E2-F3234A83C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0764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Styling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324411-3C6D-4710-B886-04F6E2469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0764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Behavior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FA64B2-8CF0-4F9B-87E1-FB30A06C5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0764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Test cases</a:t>
            </a:r>
          </a:p>
        </p:txBody>
      </p:sp>
      <p:cxnSp>
        <p:nvCxnSpPr>
          <p:cNvPr id="26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171825" y="25146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A34A"/>
            </a:solidFill>
            <a:prstDash val="solid"/>
          </a:ln>
        </p:spPr>
      </p:cxnSp>
      <p:cxnSp>
        <p:nvCxnSpPr>
          <p:cNvPr id="27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038725" y="25146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A34A"/>
            </a:solidFill>
            <a:prstDash val="solid"/>
          </a:ln>
        </p:spPr>
      </p:cxnSp>
      <p:cxnSp>
        <p:nvCxnSpPr>
          <p:cNvPr id="28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6905625" y="25146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A34A"/>
            </a:solidFill>
            <a:prstDash val="solid"/>
          </a:ln>
        </p:spPr>
      </p:cxnSp>
      <p:cxnSp>
        <p:nvCxnSpPr>
          <p:cNvPr id="29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8772525" y="25146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A34A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3D0BCD-E2A3-48AC-8B82-CF90D0C0B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95750"/>
            <a:ext cx="9715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11827"/>
                </a:solidFill>
              </a:defRPr>
            </a:pPr>
            <a:r>
              <a:rPr sz="1875" b="0">
                <a:solidFill>
                  <a:srgbClr val="111827"/>
                </a:solidFill>
              </a:rPr>
              <a:t>Layering keeps the experiment debuggable: if output fails, the student can identify whether the fault is structure, style, script, PHP or data.</a:t>
            </a:r>
          </a:p>
        </p:txBody>
      </p:sp>
    </p:spTree>
    <p:extLst>
      <p:ext uri="{BB962C8B-B14F-4D97-AF65-F5344CB8AC3E}">
        <p14:creationId xmlns:p14="http://schemas.microsoft.com/office/powerpoint/2010/main" val="183742249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5C34A20-1925-4D86-A743-F674B088F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BCSL504 | Web Technology Lab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7C1040-1B39-4788-A5DA-6A5A1D84B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Experiment 09: jQuery DOM and animation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4CBEC4-2FD5-47DA-9877-7BBE0682A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0">
            <a:solidFill>
              <a:srgbClr val="DCFC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AAEC1A-D97D-4590-AE0F-34AB3601E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E7A140-F9CA-4F7D-9167-56871819E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827"/>
                </a:solidFill>
              </a:defRPr>
            </a:pPr>
            <a:r>
              <a:rPr sz="2925" b="1">
                <a:solidFill>
                  <a:srgbClr val="111827"/>
                </a:solidFill>
              </a:rPr>
              <a:t>Execution and output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276E7B-F9B2-4AB4-B450-35077CC06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20002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Open/run file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214988-8A0A-4070-BD65-660670665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0002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Enter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C06311-51E1-4983-A25C-720021E61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0002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Trigger action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4D0F16-BD95-48BE-A127-6B31FB1EA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0002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Observe output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DF5054-F7FE-4218-A3C2-B59261673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0002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Record result</a:t>
            </a:r>
          </a:p>
        </p:txBody>
      </p:sp>
      <p:cxnSp>
        <p:nvCxnSpPr>
          <p:cNvPr id="41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171825" y="24384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A34A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038725" y="24384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A34A"/>
            </a:solidFill>
            <a:prstDash val="solid"/>
          </a:ln>
        </p:spPr>
      </p:cxnSp>
      <p:cxnSp>
        <p:nvCxnSpPr>
          <p:cNvPr id="43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6905625" y="24384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A34A"/>
            </a:solidFill>
            <a:prstDash val="solid"/>
          </a:ln>
        </p:spPr>
      </p:cxnSp>
      <p:cxnSp>
        <p:nvCxnSpPr>
          <p:cNvPr id="44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8772525" y="24384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A34A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E1C69D-8E44-4EBA-8F04-8E4F93693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32F601-B9C1-403A-9972-37E5E85BC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Check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33AF54-55AE-49E4-ADE1-166AECABB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Expected evidence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55A7E0-BA38-4B61-8D26-B2E4639EC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Fix if wrong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4D4047-8242-42D3-BA06-FCC0ED5E8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44B6E2-7F16-48C7-BC37-EC6D5567A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Layout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78BE20-A2BE-47DA-A978-FC589E2C4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Elements appear in the required order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A3CC84-96F9-4A46-88A1-996E3AA74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Inspect HTML nesting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C51A869-63E7-405E-88E5-7B22954F9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6CF6C7A-0282-4A01-977C-8C2C15C5E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Style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8EF2B07-1FCD-4B5B-BF30-250D075A7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Colours/fonts/spacing match task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900542C-C4FB-409C-80D7-BE61483AC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Check selectors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4249CAD-C270-442A-9A92-E0534AF08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BC2C933-9129-4659-B408-3EDA555A0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Behavior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31EF9FB-C0AD-4C46-943C-3B0C33A3F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Correct output for valid input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1408841-F19B-4A41-BD4B-24406A778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Check event handler or PHP logic</a:t>
            </a:r>
          </a:p>
        </p:txBody>
      </p:sp>
    </p:spTree>
    <p:extLst>
      <p:ext uri="{BB962C8B-B14F-4D97-AF65-F5344CB8AC3E}">
        <p14:creationId xmlns:p14="http://schemas.microsoft.com/office/powerpoint/2010/main" val="161579669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6DBD7C-66AD-4CBA-B7DC-E46A873AE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BCSL504 | Web Technology Lab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B79AF1-31E4-47CE-8A10-3159E95D9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Experiment 09: jQuery DOM and animation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82535F-A98E-4CB2-8A1C-0E182DD2A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0">
            <a:solidFill>
              <a:srgbClr val="DCFC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666EBB-1666-43B7-B94E-A25279175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1879AA-FEE9-4C73-92F4-AAAA8A0BC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827"/>
                </a:solidFill>
              </a:defRPr>
            </a:pPr>
            <a:r>
              <a:rPr sz="2925" b="1">
                <a:solidFill>
                  <a:srgbClr val="111827"/>
                </a:solidFill>
              </a:rPr>
              <a:t>Common lab mistakes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663565-EDF9-4326-9CC4-CB722F349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288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1DFB2C-64D9-4067-A204-5A0E4D865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9621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827"/>
                </a:solidFill>
              </a:defRPr>
            </a:pPr>
            <a:r>
              <a:rPr sz="1800" b="0">
                <a:solidFill>
                  <a:srgbClr val="111827"/>
                </a:solidFill>
              </a:rPr>
              <a:t>Filename mismatch.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C7476F-C01D-4ABE-9508-E49E2A138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71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C32EAB-7A7A-40A9-9C98-4C8D42878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051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827"/>
                </a:solidFill>
              </a:defRPr>
            </a:pPr>
            <a:r>
              <a:rPr sz="1800" b="0">
                <a:solidFill>
                  <a:srgbClr val="111827"/>
                </a:solidFill>
              </a:rPr>
              <a:t>CSS selector does not target the intended element.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66E991-82CF-458E-A8DB-AB4DC4B91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14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42F6AB-7790-4462-93A8-87F1EDBFA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480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827"/>
                </a:solidFill>
              </a:defRPr>
            </a:pPr>
            <a:r>
              <a:rPr sz="1800" b="0">
                <a:solidFill>
                  <a:srgbClr val="111827"/>
                </a:solidFill>
              </a:rPr>
              <a:t>JavaScript runs before the DOM element exists.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DD78C8-2E29-444B-BFF0-305595D2D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576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34BEFE-1E00-483A-BDAE-5C5319688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1910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827"/>
                </a:solidFill>
              </a:defRPr>
            </a:pPr>
            <a:r>
              <a:rPr sz="1800" b="0">
                <a:solidFill>
                  <a:srgbClr val="111827"/>
                </a:solidFill>
              </a:rPr>
              <a:t>PHP/database path or permission error.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73B250-6C67-42DE-BD43-1AB7ED629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006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10FB79-215F-4716-BD25-7A6507D39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9339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827"/>
                </a:solidFill>
              </a:defRPr>
            </a:pPr>
            <a:r>
              <a:rPr sz="1800" b="0">
                <a:solidFill>
                  <a:srgbClr val="111827"/>
                </a:solidFill>
              </a:rPr>
              <a:t>Output shown without validating edge cases.</a:t>
            </a:r>
          </a:p>
        </p:txBody>
      </p:sp>
    </p:spTree>
    <p:extLst>
      <p:ext uri="{BB962C8B-B14F-4D97-AF65-F5344CB8AC3E}">
        <p14:creationId xmlns:p14="http://schemas.microsoft.com/office/powerpoint/2010/main" val="48999145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076CCA-BBB8-4F01-BDB3-4EC3A2C6F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BCSL504 | Web Technology Lab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5E8A99-35BC-4C29-AA88-E33C5521F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Experiment 09: jQuery DOM and animation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16D0F2-F4FD-4A62-8BE6-C89BC911D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0">
            <a:solidFill>
              <a:srgbClr val="DCFC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270BAF-0999-4582-A33A-B3D34EF8C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7D2B95-0408-4516-B311-73E3B8851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827"/>
                </a:solidFill>
              </a:defRPr>
            </a:pPr>
            <a:r>
              <a:rPr sz="2925" b="1">
                <a:solidFill>
                  <a:srgbClr val="111827"/>
                </a:solidFill>
              </a:rPr>
              <a:t>Variations to try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3A644D-E1D5-4D9A-B464-8C99667BB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288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508940-1A79-4916-AE0C-BC8044039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9621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Change one input and predict the output before running.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61403E-B28A-4CF2-919F-58D1D439D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336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F03B9E-77AF-496C-A527-0A64131E0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6670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Add one validation rule or style variant.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C76E2E-6196-467B-92CD-B5FD764A8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385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E7DAF1-1DE0-498D-840A-7F978119E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3718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Test one invalid input and record the behavior.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7F3690-4C6A-4B48-AEA4-407F6E42A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433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9E233A-6730-473A-ADA9-ABDEB61FA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767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Explain which line of code caused the visible output.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26C9EA-94FA-48F5-AA00-C2F9C066E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482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A43567-AC5A-439E-9ED8-8E0CE0EEA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7815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Prepare one viva answer connecting syntax to purpose.</a:t>
            </a:r>
          </a:p>
        </p:txBody>
      </p:sp>
    </p:spTree>
    <p:extLst>
      <p:ext uri="{BB962C8B-B14F-4D97-AF65-F5344CB8AC3E}">
        <p14:creationId xmlns:p14="http://schemas.microsoft.com/office/powerpoint/2010/main" val="158534432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58180C-C405-4391-A1A2-0D8CA5E1C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BCSL504 | Web Technology Lab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3A3172-94F3-4532-87E1-8FA7347BC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Experiment 09: jQuery DOM and animation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FD3746-727E-4737-B392-92E6569F2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0">
            <a:solidFill>
              <a:srgbClr val="DCFC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4E5E5D-337A-479E-84CA-CDEC8494B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90E777-AA46-492B-AD23-D2B50D788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827"/>
                </a:solidFill>
              </a:defRPr>
            </a:pPr>
            <a:r>
              <a:rPr sz="2925" b="1">
                <a:solidFill>
                  <a:srgbClr val="111827"/>
                </a:solidFill>
              </a:rPr>
              <a:t>Record and viva preparation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53E0C7-2ECB-4FE3-AE2D-0D4991A82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288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F1BBD3-4545-4F5C-B971-56C7E79E9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9621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Aim and algorithm/logic.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FBC6BD-37D5-43DD-924F-9C15E4919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52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4EDA86-672A-4772-8F99-50AC4D1C3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6860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Source code with readable indentation.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3DC2F9-8907-4E9E-BE21-A0B83D20F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766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44B75B-27A8-478F-A78A-FAD87B2E4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099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Screenshot or output table.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07199B-9993-4CD5-BB66-FDE3649E6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005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5E55E4-8C15-42C0-9FB7-C1A95AB55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1338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Explanation of important tags, selectors, functions or PHP logic.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FE0327-6C47-4AF8-B9A6-C06C16CEB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244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3016FF-37F9-4FBF-9826-ACFE3F899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8577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Two viva questions: why this method, and what happens for invalid input?</a:t>
            </a:r>
          </a:p>
        </p:txBody>
      </p:sp>
    </p:spTree>
    <p:extLst>
      <p:ext uri="{BB962C8B-B14F-4D97-AF65-F5344CB8AC3E}">
        <p14:creationId xmlns:p14="http://schemas.microsoft.com/office/powerpoint/2010/main" val="8284477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2026-08-24T06:05:19.4200000Z</dcterms:created>
  <dcterms:modified xsi:type="dcterms:W3CDTF">2026-08-24T06:05:19.4200000Z</dcterms:modified>
</coreProperties>
</file>