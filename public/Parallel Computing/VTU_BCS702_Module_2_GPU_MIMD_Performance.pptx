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f2d8eab4914275" /><Relationship Type="http://schemas.openxmlformats.org/officeDocument/2006/relationships/extended-properties" Target="/docProps/app.xml" Id="R691ee06bd94c4db7" /><Relationship Type="http://schemas.openxmlformats.org/officeDocument/2006/relationships/officeDocument" Target="/ppt/presentation.xml" Id="R1104cfc7d6c748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96fc9bbeda4bc9"/>
  </p:sldMasterIdLst>
  <p:notesMasterIdLst>
    <p:notesMasterId xmlns:r="http://schemas.openxmlformats.org/officeDocument/2006/relationships" r:id="R8de12599d18a450c"/>
  </p:notesMasterIdLst>
  <p:sldIdLst>
    <p:sldId xmlns:r="http://schemas.openxmlformats.org/officeDocument/2006/relationships" id="256" r:id="R17f29df743f34506"/>
    <p:sldId xmlns:r="http://schemas.openxmlformats.org/officeDocument/2006/relationships" id="257" r:id="R1a8eafc512ea4223"/>
    <p:sldId xmlns:r="http://schemas.openxmlformats.org/officeDocument/2006/relationships" id="258" r:id="Rd7d4c40959504a9c"/>
    <p:sldId xmlns:r="http://schemas.openxmlformats.org/officeDocument/2006/relationships" id="259" r:id="R0f2fbb0b2a8e4272"/>
    <p:sldId xmlns:r="http://schemas.openxmlformats.org/officeDocument/2006/relationships" id="260" r:id="R1725a50692a246f8"/>
    <p:sldId xmlns:r="http://schemas.openxmlformats.org/officeDocument/2006/relationships" id="261" r:id="R093f98efc9b2469d"/>
    <p:sldId xmlns:r="http://schemas.openxmlformats.org/officeDocument/2006/relationships" id="262" r:id="R45196a7f84864cbd"/>
    <p:sldId xmlns:r="http://schemas.openxmlformats.org/officeDocument/2006/relationships" id="263" r:id="Rc47488616cd44d87"/>
    <p:sldId xmlns:r="http://schemas.openxmlformats.org/officeDocument/2006/relationships" id="264" r:id="R67262e0f113c424d"/>
    <p:sldId xmlns:r="http://schemas.openxmlformats.org/officeDocument/2006/relationships" id="265" r:id="R8158c8a045184932"/>
    <p:sldId xmlns:r="http://schemas.openxmlformats.org/officeDocument/2006/relationships" id="266" r:id="Reb63881b394842cd"/>
    <p:sldId xmlns:r="http://schemas.openxmlformats.org/officeDocument/2006/relationships" id="267" r:id="R42858bf38cbc4036"/>
    <p:sldId xmlns:r="http://schemas.openxmlformats.org/officeDocument/2006/relationships" id="268" r:id="Raa0e8ac1725a4ae0"/>
    <p:sldId xmlns:r="http://schemas.openxmlformats.org/officeDocument/2006/relationships" id="269" r:id="R64497daf2c8a461a"/>
    <p:sldId xmlns:r="http://schemas.openxmlformats.org/officeDocument/2006/relationships" id="270" r:id="Rcab7bb25873246aa"/>
    <p:sldId xmlns:r="http://schemas.openxmlformats.org/officeDocument/2006/relationships" id="271" r:id="R5ad070514d074f70"/>
    <p:sldId xmlns:r="http://schemas.openxmlformats.org/officeDocument/2006/relationships" id="272" r:id="R7cdaa4977a6c450a"/>
    <p:sldId xmlns:r="http://schemas.openxmlformats.org/officeDocument/2006/relationships" id="273" r:id="R486e2068336045c2"/>
    <p:sldId xmlns:r="http://schemas.openxmlformats.org/officeDocument/2006/relationships" id="274" r:id="R600379a892a84bc2"/>
    <p:sldId xmlns:r="http://schemas.openxmlformats.org/officeDocument/2006/relationships" id="275" r:id="Rcd32f2e5778543cd"/>
    <p:sldId xmlns:r="http://schemas.openxmlformats.org/officeDocument/2006/relationships" id="276" r:id="R53b4198de76f48f4"/>
    <p:sldId xmlns:r="http://schemas.openxmlformats.org/officeDocument/2006/relationships" id="277" r:id="Rb6c3d00e519e4c12"/>
    <p:sldId xmlns:r="http://schemas.openxmlformats.org/officeDocument/2006/relationships" id="278" r:id="R27bc7249ceec4e6b"/>
    <p:sldId xmlns:r="http://schemas.openxmlformats.org/officeDocument/2006/relationships" id="279" r:id="Rb777056908b24cb8"/>
    <p:sldId xmlns:r="http://schemas.openxmlformats.org/officeDocument/2006/relationships" id="280" r:id="Rd7a37b72a3dd404a"/>
    <p:sldId xmlns:r="http://schemas.openxmlformats.org/officeDocument/2006/relationships" id="281" r:id="Rf2cd46a0010c433d"/>
    <p:sldId xmlns:r="http://schemas.openxmlformats.org/officeDocument/2006/relationships" id="282" r:id="Rdf2ff6d4e9934998"/>
    <p:sldId xmlns:r="http://schemas.openxmlformats.org/officeDocument/2006/relationships" id="283" r:id="Rdff140186b554710"/>
    <p:sldId xmlns:r="http://schemas.openxmlformats.org/officeDocument/2006/relationships" id="284" r:id="R81fe9886416a409f"/>
    <p:sldId xmlns:r="http://schemas.openxmlformats.org/officeDocument/2006/relationships" id="285" r:id="R7267b1ef5df641f2"/>
    <p:sldId xmlns:r="http://schemas.openxmlformats.org/officeDocument/2006/relationships" id="286" r:id="R99186fb44a4c4aba"/>
    <p:sldId xmlns:r="http://schemas.openxmlformats.org/officeDocument/2006/relationships" id="287" r:id="Ra7de20bb3bec4e29"/>
    <p:sldId xmlns:r="http://schemas.openxmlformats.org/officeDocument/2006/relationships" id="288" r:id="Ra93b21e962cf4e22"/>
    <p:sldId xmlns:r="http://schemas.openxmlformats.org/officeDocument/2006/relationships" id="289" r:id="R305fb0de76424397"/>
    <p:sldId xmlns:r="http://schemas.openxmlformats.org/officeDocument/2006/relationships" id="290" r:id="R8acbe4ad72654245"/>
    <p:sldId xmlns:r="http://schemas.openxmlformats.org/officeDocument/2006/relationships" id="291" r:id="Rc78ef53361a644c6"/>
    <p:sldId xmlns:r="http://schemas.openxmlformats.org/officeDocument/2006/relationships" id="292" r:id="Rbb290382909c43e2"/>
    <p:sldId xmlns:r="http://schemas.openxmlformats.org/officeDocument/2006/relationships" id="293" r:id="R00dd8c73c1ef4d65"/>
    <p:sldId xmlns:r="http://schemas.openxmlformats.org/officeDocument/2006/relationships" id="294" r:id="R35c55ad82059410f"/>
    <p:sldId xmlns:r="http://schemas.openxmlformats.org/officeDocument/2006/relationships" id="295" r:id="R2f4b879f45954b96"/>
    <p:sldId xmlns:r="http://schemas.openxmlformats.org/officeDocument/2006/relationships" id="296" r:id="R7989fa47893f402b"/>
    <p:sldId xmlns:r="http://schemas.openxmlformats.org/officeDocument/2006/relationships" id="297" r:id="Rfa5afc0a7cc14b9e"/>
    <p:sldId xmlns:r="http://schemas.openxmlformats.org/officeDocument/2006/relationships" id="298" r:id="R991c76b3cf364200"/>
    <p:sldId xmlns:r="http://schemas.openxmlformats.org/officeDocument/2006/relationships" id="299" r:id="R4eadb08cd45049da"/>
    <p:sldId xmlns:r="http://schemas.openxmlformats.org/officeDocument/2006/relationships" id="300" r:id="R4e4d4d7ca0ef4143"/>
    <p:sldId xmlns:r="http://schemas.openxmlformats.org/officeDocument/2006/relationships" id="301" r:id="R4f32f5fe86b54158"/>
    <p:sldId xmlns:r="http://schemas.openxmlformats.org/officeDocument/2006/relationships" id="302" r:id="R2f00919f0ee74ec6"/>
    <p:sldId xmlns:r="http://schemas.openxmlformats.org/officeDocument/2006/relationships" id="303" r:id="Rf4cdec14879449e0"/>
    <p:sldId xmlns:r="http://schemas.openxmlformats.org/officeDocument/2006/relationships" id="304" r:id="R60d473e3d9c54b1e"/>
    <p:sldId xmlns:r="http://schemas.openxmlformats.org/officeDocument/2006/relationships" id="305" r:id="Rf6022aa1b8914dea"/>
    <p:sldId xmlns:r="http://schemas.openxmlformats.org/officeDocument/2006/relationships" id="306" r:id="R13d9e61451344169"/>
    <p:sldId xmlns:r="http://schemas.openxmlformats.org/officeDocument/2006/relationships" id="307" r:id="R76b38bfc37bc4fbf"/>
    <p:sldId xmlns:r="http://schemas.openxmlformats.org/officeDocument/2006/relationships" id="308" r:id="Rd70e3b07a6e14c6a"/>
    <p:sldId xmlns:r="http://schemas.openxmlformats.org/officeDocument/2006/relationships" id="309" r:id="R327c2317616c4b3c"/>
    <p:sldId xmlns:r="http://schemas.openxmlformats.org/officeDocument/2006/relationships" id="310" r:id="Ra29f773445dd47e5"/>
    <p:sldId xmlns:r="http://schemas.openxmlformats.org/officeDocument/2006/relationships" id="311" r:id="R685ce5dde19f4d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e6fa254b6c4aec" /><Relationship Type="http://schemas.openxmlformats.org/officeDocument/2006/relationships/slideMaster" Target="/ppt/slideMasters/slideMaster1.xml" Id="R9496fc9bbeda4bc9" /><Relationship Type="http://schemas.openxmlformats.org/officeDocument/2006/relationships/notesMaster" Target="/ppt/notesMasters/notesMaster1.xml" Id="R8de12599d18a450c" /><Relationship Type="http://schemas.openxmlformats.org/officeDocument/2006/relationships/presProps" Target="/ppt/presProps.xml" Id="R97bcaba983e44944" /><Relationship Type="http://schemas.openxmlformats.org/officeDocument/2006/relationships/tableStyles" Target="/ppt/tableStyles.xml" Id="R9cbfe69c86fa4b5e" /><Relationship Type="http://schemas.openxmlformats.org/officeDocument/2006/relationships/slide" Target="/ppt/slides/slide1.xml" Id="R17f29df743f34506" /><Relationship Type="http://schemas.openxmlformats.org/officeDocument/2006/relationships/slide" Target="/ppt/slides/slide2.xml" Id="R1a8eafc512ea4223" /><Relationship Type="http://schemas.openxmlformats.org/officeDocument/2006/relationships/slide" Target="/ppt/slides/slide3.xml" Id="Rd7d4c40959504a9c" /><Relationship Type="http://schemas.openxmlformats.org/officeDocument/2006/relationships/slide" Target="/ppt/slides/slide4.xml" Id="R0f2fbb0b2a8e4272" /><Relationship Type="http://schemas.openxmlformats.org/officeDocument/2006/relationships/slide" Target="/ppt/slides/slide5.xml" Id="R1725a50692a246f8" /><Relationship Type="http://schemas.openxmlformats.org/officeDocument/2006/relationships/slide" Target="/ppt/slides/slide6.xml" Id="R093f98efc9b2469d" /><Relationship Type="http://schemas.openxmlformats.org/officeDocument/2006/relationships/slide" Target="/ppt/slides/slide7.xml" Id="R45196a7f84864cbd" /><Relationship Type="http://schemas.openxmlformats.org/officeDocument/2006/relationships/slide" Target="/ppt/slides/slide8.xml" Id="Rc47488616cd44d87" /><Relationship Type="http://schemas.openxmlformats.org/officeDocument/2006/relationships/slide" Target="/ppt/slides/slide9.xml" Id="R67262e0f113c424d" /><Relationship Type="http://schemas.openxmlformats.org/officeDocument/2006/relationships/slide" Target="/ppt/slides/slide10.xml" Id="R8158c8a045184932" /><Relationship Type="http://schemas.openxmlformats.org/officeDocument/2006/relationships/slide" Target="/ppt/slides/slide11.xml" Id="Reb63881b394842cd" /><Relationship Type="http://schemas.openxmlformats.org/officeDocument/2006/relationships/slide" Target="/ppt/slides/slide12.xml" Id="R42858bf38cbc4036" /><Relationship Type="http://schemas.openxmlformats.org/officeDocument/2006/relationships/slide" Target="/ppt/slides/slide13.xml" Id="Raa0e8ac1725a4ae0" /><Relationship Type="http://schemas.openxmlformats.org/officeDocument/2006/relationships/slide" Target="/ppt/slides/slide14.xml" Id="R64497daf2c8a461a" /><Relationship Type="http://schemas.openxmlformats.org/officeDocument/2006/relationships/slide" Target="/ppt/slides/slide15.xml" Id="Rcab7bb25873246aa" /><Relationship Type="http://schemas.openxmlformats.org/officeDocument/2006/relationships/slide" Target="/ppt/slides/slide16.xml" Id="R5ad070514d074f70" /><Relationship Type="http://schemas.openxmlformats.org/officeDocument/2006/relationships/slide" Target="/ppt/slides/slide17.xml" Id="R7cdaa4977a6c450a" /><Relationship Type="http://schemas.openxmlformats.org/officeDocument/2006/relationships/slide" Target="/ppt/slides/slide18.xml" Id="R486e2068336045c2" /><Relationship Type="http://schemas.openxmlformats.org/officeDocument/2006/relationships/slide" Target="/ppt/slides/slide19.xml" Id="R600379a892a84bc2" /><Relationship Type="http://schemas.openxmlformats.org/officeDocument/2006/relationships/slide" Target="/ppt/slides/slide20.xml" Id="Rcd32f2e5778543cd" /><Relationship Type="http://schemas.openxmlformats.org/officeDocument/2006/relationships/slide" Target="/ppt/slides/slide21.xml" Id="R53b4198de76f48f4" /><Relationship Type="http://schemas.openxmlformats.org/officeDocument/2006/relationships/slide" Target="/ppt/slides/slide22.xml" Id="Rb6c3d00e519e4c12" /><Relationship Type="http://schemas.openxmlformats.org/officeDocument/2006/relationships/slide" Target="/ppt/slides/slide23.xml" Id="R27bc7249ceec4e6b" /><Relationship Type="http://schemas.openxmlformats.org/officeDocument/2006/relationships/slide" Target="/ppt/slides/slide24.xml" Id="Rb777056908b24cb8" /><Relationship Type="http://schemas.openxmlformats.org/officeDocument/2006/relationships/slide" Target="/ppt/slides/slide25.xml" Id="Rd7a37b72a3dd404a" /><Relationship Type="http://schemas.openxmlformats.org/officeDocument/2006/relationships/slide" Target="/ppt/slides/slide26.xml" Id="Rf2cd46a0010c433d" /><Relationship Type="http://schemas.openxmlformats.org/officeDocument/2006/relationships/slide" Target="/ppt/slides/slide27.xml" Id="Rdf2ff6d4e9934998" /><Relationship Type="http://schemas.openxmlformats.org/officeDocument/2006/relationships/slide" Target="/ppt/slides/slide28.xml" Id="Rdff140186b554710" /><Relationship Type="http://schemas.openxmlformats.org/officeDocument/2006/relationships/slide" Target="/ppt/slides/slide29.xml" Id="R81fe9886416a409f" /><Relationship Type="http://schemas.openxmlformats.org/officeDocument/2006/relationships/slide" Target="/ppt/slides/slide30.xml" Id="R7267b1ef5df641f2" /><Relationship Type="http://schemas.openxmlformats.org/officeDocument/2006/relationships/slide" Target="/ppt/slides/slide31.xml" Id="R99186fb44a4c4aba" /><Relationship Type="http://schemas.openxmlformats.org/officeDocument/2006/relationships/slide" Target="/ppt/slides/slide32.xml" Id="Ra7de20bb3bec4e29" /><Relationship Type="http://schemas.openxmlformats.org/officeDocument/2006/relationships/slide" Target="/ppt/slides/slide33.xml" Id="Ra93b21e962cf4e22" /><Relationship Type="http://schemas.openxmlformats.org/officeDocument/2006/relationships/slide" Target="/ppt/slides/slide34.xml" Id="R305fb0de76424397" /><Relationship Type="http://schemas.openxmlformats.org/officeDocument/2006/relationships/slide" Target="/ppt/slides/slide35.xml" Id="R8acbe4ad72654245" /><Relationship Type="http://schemas.openxmlformats.org/officeDocument/2006/relationships/slide" Target="/ppt/slides/slide36.xml" Id="Rc78ef53361a644c6" /><Relationship Type="http://schemas.openxmlformats.org/officeDocument/2006/relationships/slide" Target="/ppt/slides/slide37.xml" Id="Rbb290382909c43e2" /><Relationship Type="http://schemas.openxmlformats.org/officeDocument/2006/relationships/slide" Target="/ppt/slides/slide38.xml" Id="R00dd8c73c1ef4d65" /><Relationship Type="http://schemas.openxmlformats.org/officeDocument/2006/relationships/slide" Target="/ppt/slides/slide39.xml" Id="R35c55ad82059410f" /><Relationship Type="http://schemas.openxmlformats.org/officeDocument/2006/relationships/slide" Target="/ppt/slides/slide40.xml" Id="R2f4b879f45954b96" /><Relationship Type="http://schemas.openxmlformats.org/officeDocument/2006/relationships/slide" Target="/ppt/slides/slide41.xml" Id="R7989fa47893f402b" /><Relationship Type="http://schemas.openxmlformats.org/officeDocument/2006/relationships/slide" Target="/ppt/slides/slide42.xml" Id="Rfa5afc0a7cc14b9e" /><Relationship Type="http://schemas.openxmlformats.org/officeDocument/2006/relationships/slide" Target="/ppt/slides/slide43.xml" Id="R991c76b3cf364200" /><Relationship Type="http://schemas.openxmlformats.org/officeDocument/2006/relationships/slide" Target="/ppt/slides/slide44.xml" Id="R4eadb08cd45049da" /><Relationship Type="http://schemas.openxmlformats.org/officeDocument/2006/relationships/slide" Target="/ppt/slides/slide45.xml" Id="R4e4d4d7ca0ef4143" /><Relationship Type="http://schemas.openxmlformats.org/officeDocument/2006/relationships/slide" Target="/ppt/slides/slide46.xml" Id="R4f32f5fe86b54158" /><Relationship Type="http://schemas.openxmlformats.org/officeDocument/2006/relationships/slide" Target="/ppt/slides/slide47.xml" Id="R2f00919f0ee74ec6" /><Relationship Type="http://schemas.openxmlformats.org/officeDocument/2006/relationships/slide" Target="/ppt/slides/slide48.xml" Id="Rf4cdec14879449e0" /><Relationship Type="http://schemas.openxmlformats.org/officeDocument/2006/relationships/slide" Target="/ppt/slides/slide49.xml" Id="R60d473e3d9c54b1e" /><Relationship Type="http://schemas.openxmlformats.org/officeDocument/2006/relationships/slide" Target="/ppt/slides/slide50.xml" Id="Rf6022aa1b8914dea" /><Relationship Type="http://schemas.openxmlformats.org/officeDocument/2006/relationships/slide" Target="/ppt/slides/slide51.xml" Id="R13d9e61451344169" /><Relationship Type="http://schemas.openxmlformats.org/officeDocument/2006/relationships/slide" Target="/ppt/slides/slide52.xml" Id="R76b38bfc37bc4fbf" /><Relationship Type="http://schemas.openxmlformats.org/officeDocument/2006/relationships/slide" Target="/ppt/slides/slide53.xml" Id="Rd70e3b07a6e14c6a" /><Relationship Type="http://schemas.openxmlformats.org/officeDocument/2006/relationships/slide" Target="/ppt/slides/slide54.xml" Id="R327c2317616c4b3c" /><Relationship Type="http://schemas.openxmlformats.org/officeDocument/2006/relationships/slide" Target="/ppt/slides/slide55.xml" Id="Ra29f773445dd47e5" /><Relationship Type="http://schemas.openxmlformats.org/officeDocument/2006/relationships/slide" Target="/ppt/slides/slide56.xml" Id="R685ce5dde19f4d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066d6f136a44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44de88e8fa4d17" /><Relationship Type="http://schemas.openxmlformats.org/officeDocument/2006/relationships/notesMaster" Target="/ppt/notesMasters/notesMaster1.xml" Id="R19d52e8364f246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121f0321e24246" /><Relationship Type="http://schemas.openxmlformats.org/officeDocument/2006/relationships/notesMaster" Target="/ppt/notesMasters/notesMaster1.xml" Id="R5469a182eb1d40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d7d780691a48fc" /><Relationship Type="http://schemas.openxmlformats.org/officeDocument/2006/relationships/notesMaster" Target="/ppt/notesMasters/notesMaster1.xml" Id="R6ab7f7aa06f645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3432bf1efb4fef" /><Relationship Type="http://schemas.openxmlformats.org/officeDocument/2006/relationships/notesMaster" Target="/ppt/notesMasters/notesMaster1.xml" Id="R859d9e2afe9444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d8160bf8804d6e" /><Relationship Type="http://schemas.openxmlformats.org/officeDocument/2006/relationships/notesMaster" Target="/ppt/notesMasters/notesMaster1.xml" Id="R5b25ce86fdab47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453cda8a6d42b9" /><Relationship Type="http://schemas.openxmlformats.org/officeDocument/2006/relationships/notesMaster" Target="/ppt/notesMasters/notesMaster1.xml" Id="Re8346ff1eb874f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eb07266eac4fc0" /><Relationship Type="http://schemas.openxmlformats.org/officeDocument/2006/relationships/notesMaster" Target="/ppt/notesMasters/notesMaster1.xml" Id="Rbc9bfdb854bb45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30d2df38534a5a" /><Relationship Type="http://schemas.openxmlformats.org/officeDocument/2006/relationships/notesMaster" Target="/ppt/notesMasters/notesMaster1.xml" Id="Rc06b637322964a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412ff906e1452c" /><Relationship Type="http://schemas.openxmlformats.org/officeDocument/2006/relationships/notesMaster" Target="/ppt/notesMasters/notesMaster1.xml" Id="Rc7b35bb770b44e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0568d5369246a0" /><Relationship Type="http://schemas.openxmlformats.org/officeDocument/2006/relationships/notesMaster" Target="/ppt/notesMasters/notesMaster1.xml" Id="Rfc0fe3804ce346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a489edc4b848df" /><Relationship Type="http://schemas.openxmlformats.org/officeDocument/2006/relationships/notesMaster" Target="/ppt/notesMasters/notesMaster1.xml" Id="R8291f96457eb4d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54ca8df2d44d93" /><Relationship Type="http://schemas.openxmlformats.org/officeDocument/2006/relationships/notesMaster" Target="/ppt/notesMasters/notesMaster1.xml" Id="R275ef08aad9348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f6a7bc1d8a476e" /><Relationship Type="http://schemas.openxmlformats.org/officeDocument/2006/relationships/notesMaster" Target="/ppt/notesMasters/notesMaster1.xml" Id="R0ffd8c48086f42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4a0fe98bd64155" /><Relationship Type="http://schemas.openxmlformats.org/officeDocument/2006/relationships/notesMaster" Target="/ppt/notesMasters/notesMaster1.xml" Id="Rb602cdabd52e4a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4c399dae654758" /><Relationship Type="http://schemas.openxmlformats.org/officeDocument/2006/relationships/notesMaster" Target="/ppt/notesMasters/notesMaster1.xml" Id="R4fac39e6fc8940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81f2014b2648ce" /><Relationship Type="http://schemas.openxmlformats.org/officeDocument/2006/relationships/notesMaster" Target="/ppt/notesMasters/notesMaster1.xml" Id="R8ea214738aa845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ab227a52de4839" /><Relationship Type="http://schemas.openxmlformats.org/officeDocument/2006/relationships/notesMaster" Target="/ppt/notesMasters/notesMaster1.xml" Id="R43f03ce67eb649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4d41fdd8004d62" /><Relationship Type="http://schemas.openxmlformats.org/officeDocument/2006/relationships/notesMaster" Target="/ppt/notesMasters/notesMaster1.xml" Id="Rdc583081ac0048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04984c35ba4d00" /><Relationship Type="http://schemas.openxmlformats.org/officeDocument/2006/relationships/notesMaster" Target="/ppt/notesMasters/notesMaster1.xml" Id="Rd59109586d014d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490d0e16be4227" /><Relationship Type="http://schemas.openxmlformats.org/officeDocument/2006/relationships/notesMaster" Target="/ppt/notesMasters/notesMaster1.xml" Id="Ref45e2101cba4a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0c960bc268741bc" /><Relationship Type="http://schemas.openxmlformats.org/officeDocument/2006/relationships/notesMaster" Target="/ppt/notesMasters/notesMaster1.xml" Id="Rdbf4fe310bcc4bc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04b6d22fde4164" /><Relationship Type="http://schemas.openxmlformats.org/officeDocument/2006/relationships/notesMaster" Target="/ppt/notesMasters/notesMaster1.xml" Id="R1f37ea11437948e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8574f5081424c39" /><Relationship Type="http://schemas.openxmlformats.org/officeDocument/2006/relationships/notesMaster" Target="/ppt/notesMasters/notesMaster1.xml" Id="Re07d94f54f694f9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15dbedc1314ca1" /><Relationship Type="http://schemas.openxmlformats.org/officeDocument/2006/relationships/notesMaster" Target="/ppt/notesMasters/notesMaster1.xml" Id="Re47ae481948141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eaddfcf2c740f4" /><Relationship Type="http://schemas.openxmlformats.org/officeDocument/2006/relationships/notesMaster" Target="/ppt/notesMasters/notesMaster1.xml" Id="Ra6d8d6c8cb12476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b89f0a9fcb4f19" /><Relationship Type="http://schemas.openxmlformats.org/officeDocument/2006/relationships/notesMaster" Target="/ppt/notesMasters/notesMaster1.xml" Id="R7e2a0389ed45486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7fdb4473d92460a" /><Relationship Type="http://schemas.openxmlformats.org/officeDocument/2006/relationships/notesMaster" Target="/ppt/notesMasters/notesMaster1.xml" Id="Rc9faa5dc55dc48c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f12db88ca584d07" /><Relationship Type="http://schemas.openxmlformats.org/officeDocument/2006/relationships/notesMaster" Target="/ppt/notesMasters/notesMaster1.xml" Id="Rbabf3a7848ea40c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8c4342f693b4662" /><Relationship Type="http://schemas.openxmlformats.org/officeDocument/2006/relationships/notesMaster" Target="/ppt/notesMasters/notesMaster1.xml" Id="Ra00534d48218472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344bf9ed2684ea0" /><Relationship Type="http://schemas.openxmlformats.org/officeDocument/2006/relationships/notesMaster" Target="/ppt/notesMasters/notesMaster1.xml" Id="Rab6b19fb4c26498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996e83e493644d4" /><Relationship Type="http://schemas.openxmlformats.org/officeDocument/2006/relationships/notesMaster" Target="/ppt/notesMasters/notesMaster1.xml" Id="R1c87c17ac8784d3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a81184549674f79" /><Relationship Type="http://schemas.openxmlformats.org/officeDocument/2006/relationships/notesMaster" Target="/ppt/notesMasters/notesMaster1.xml" Id="Rea17ad5f37a9423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8129480ea274df9" /><Relationship Type="http://schemas.openxmlformats.org/officeDocument/2006/relationships/notesMaster" Target="/ppt/notesMasters/notesMaster1.xml" Id="R3160c0c810a6426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a4d2414e0774ee6" /><Relationship Type="http://schemas.openxmlformats.org/officeDocument/2006/relationships/notesMaster" Target="/ppt/notesMasters/notesMaster1.xml" Id="R0ee2ec591b1f4b1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5accaef25c84ee1" /><Relationship Type="http://schemas.openxmlformats.org/officeDocument/2006/relationships/notesMaster" Target="/ppt/notesMasters/notesMaster1.xml" Id="Rb6441cacda5c430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86174925066474c" /><Relationship Type="http://schemas.openxmlformats.org/officeDocument/2006/relationships/notesMaster" Target="/ppt/notesMasters/notesMaster1.xml" Id="R47c0e2cbcf2a4cd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74bac3821834b5a" /><Relationship Type="http://schemas.openxmlformats.org/officeDocument/2006/relationships/notesMaster" Target="/ppt/notesMasters/notesMaster1.xml" Id="R3db1cfdfc16c457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01806ff0b104e2a" /><Relationship Type="http://schemas.openxmlformats.org/officeDocument/2006/relationships/notesMaster" Target="/ppt/notesMasters/notesMaster1.xml" Id="R5a0ac74be9fc40e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47f3971dfdd4e32" /><Relationship Type="http://schemas.openxmlformats.org/officeDocument/2006/relationships/notesMaster" Target="/ppt/notesMasters/notesMaster1.xml" Id="Rabf3532843fb44d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7d0c3d81d5d4618" /><Relationship Type="http://schemas.openxmlformats.org/officeDocument/2006/relationships/notesMaster" Target="/ppt/notesMasters/notesMaster1.xml" Id="Rdf42cba7ed28446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42aa82268f445d7" /><Relationship Type="http://schemas.openxmlformats.org/officeDocument/2006/relationships/notesMaster" Target="/ppt/notesMasters/notesMaster1.xml" Id="Rdf2e5a9233354e3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499f4914c0044fe" /><Relationship Type="http://schemas.openxmlformats.org/officeDocument/2006/relationships/notesMaster" Target="/ppt/notesMasters/notesMaster1.xml" Id="Rea705c63c9664fd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1cea5433bea4556" /><Relationship Type="http://schemas.openxmlformats.org/officeDocument/2006/relationships/notesMaster" Target="/ppt/notesMasters/notesMaster1.xml" Id="R5b886ce118fe4d7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1772e5b433f42c5" /><Relationship Type="http://schemas.openxmlformats.org/officeDocument/2006/relationships/notesMaster" Target="/ppt/notesMasters/notesMaster1.xml" Id="R74dd0ac5a8b24c4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0aac68ccaff4d50" /><Relationship Type="http://schemas.openxmlformats.org/officeDocument/2006/relationships/notesMaster" Target="/ppt/notesMasters/notesMaster1.xml" Id="R6639c4d069bb47f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1c9361522954a03" /><Relationship Type="http://schemas.openxmlformats.org/officeDocument/2006/relationships/notesMaster" Target="/ppt/notesMasters/notesMaster1.xml" Id="R0078a3ac538c495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dccbe7d00944af1" /><Relationship Type="http://schemas.openxmlformats.org/officeDocument/2006/relationships/notesMaster" Target="/ppt/notesMasters/notesMaster1.xml" Id="R4c5116908dca491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35e914c90064f9a" /><Relationship Type="http://schemas.openxmlformats.org/officeDocument/2006/relationships/notesMaster" Target="/ppt/notesMasters/notesMaster1.xml" Id="R1393b82933b94e9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d50572662524139" /><Relationship Type="http://schemas.openxmlformats.org/officeDocument/2006/relationships/notesMaster" Target="/ppt/notesMasters/notesMaster1.xml" Id="R933fef7fcc34441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4f6d3ce120640fc" /><Relationship Type="http://schemas.openxmlformats.org/officeDocument/2006/relationships/notesMaster" Target="/ppt/notesMasters/notesMaster1.xml" Id="Ra36b4bf8746a454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9e0e158538c4a80" /><Relationship Type="http://schemas.openxmlformats.org/officeDocument/2006/relationships/notesMaster" Target="/ppt/notesMasters/notesMaster1.xml" Id="Re24fbbdcd9ab4ff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24df54c55ca468a" /><Relationship Type="http://schemas.openxmlformats.org/officeDocument/2006/relationships/notesMaster" Target="/ppt/notesMasters/notesMaster1.xml" Id="R14010e3f972b4e5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3adcd7c311d4d57" /><Relationship Type="http://schemas.openxmlformats.org/officeDocument/2006/relationships/notesMaster" Target="/ppt/notesMasters/notesMaster1.xml" Id="R4ebc1565a9154fd3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0738b3d7c09411c" /><Relationship Type="http://schemas.openxmlformats.org/officeDocument/2006/relationships/notesMaster" Target="/ppt/notesMasters/notesMaster1.xml" Id="R1d6bb19bcdff45a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ad08acfba784e2f" /><Relationship Type="http://schemas.openxmlformats.org/officeDocument/2006/relationships/notesMaster" Target="/ppt/notesMasters/notesMaster1.xml" Id="R1aad3c6cbf834ed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f7b3e188b2b4921" /><Relationship Type="http://schemas.openxmlformats.org/officeDocument/2006/relationships/notesMaster" Target="/ppt/notesMasters/notesMaster1.xml" Id="R4cd3084b4af244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Module 1 named the hardware models; Module 2 asks whether using more hardware actually makes programs faster.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module is performance vocabulary for MPI, OpenMP and CUDA modules.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Frame performance measurement as an engineering habit, not a formula-only topic.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MIMD includes multicore shared-memory machines and distributed clusters.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server workloads and scientific simulation as examples.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shared-memory performance depends on synchronization and cache behavior.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distributed-memory performance depends heavily on communication.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slide sets up Amdahl and efficiency.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that GPUs are no longer only for graphics; they are used for general-purpose computation.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that GPU benefits depend on matching the workload.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CPU controls the program, GPU runs kernels on many data elements, and transfers cost time.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prepares for CUDA in Module 5.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vector addition as the simplest mapping.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that GPU performance often depends on memory access more than arithmetic.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if sorting a tiny array is a good GPU job.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prevents the mistake that GPU always means faster.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modern clusters often have multicore CPUs plus GPUs.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cluster node with CPUs and GPUs as the example.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Walk from cluster-level MPI to node-level OpenMP to device-level GPU.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Emphasize data movement and coordination.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will help students write limitations.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never to claim performance without timing.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a weak sequential baseline exaggerates speedup.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p=4 and speedup=3.2 as a quick example.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Work through the arithmetic and ask whether the result is ideal.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efficiency as how well p processors are being used.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whether this is a good use of eight cores.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superlinear cautious; it is not the normal expectation.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overhead to why speedup is rarely ideal.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group assignment analogy: one person getting all hard tasks slows the team.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even a small serial part can dominate at high processor counts.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queue analogy: one unavoidable checkpoint limits the whole line.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why 8 processors do not give 8x speedup.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the key memory trick for Amdahl.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slide prevents exam arithmetic mistakes.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scalable programs keep gaining value as resources grow.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a high-value exam comparison.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after a point, overhead dominates strong scaling.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why weak scaling matters for scientific simulations.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it conceptual unless the local class requires formal derivation.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timing should isolate the code region being evaluated.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MPI_Wtime or omp_get_wtime as examples without going deep.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a good lab report needs all four columns.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is practical guidance for lab work.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GPU runtime is not only kernel computation.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total time vs kernel-only time.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vector addition as low intensity and matrix multiplication as higher intensity.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as conceptual preview for CUDA module.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choose CPU or GPU for matrix multiply vs linked-list traversal.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summary.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formulas alone are not enough; interpretation earns marks.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these as rapid-fire viva questions.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Two-mark answers should be exact, with formula where relevant.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Five-mark answers should include formula/diagram/example.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Long answers need definition, formula, diagram, numerical example and interpretation.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End by asking students to explain the module using only the keywords.</a:t>
            </a:r>
          </a:p>
          <a:p xmlns:a="http://schemas.openxmlformats.org/drawingml/2006/main">
            <a:r>
              <a:t>Pause cue: pause after the main visual appears, then restate the performance idea in one sentence.</a:t>
            </a:r>
          </a:p>
          <a:p xmlns:a="http://schemas.openxmlformats.org/drawingml/2006/main">
            <a:r>
              <a:t>Pointing cue: point through equations left-to-right; for GPU/hybrid diagrams, point from CPU host to GPU/device or from process to thread.</a:t>
            </a:r>
          </a:p>
          <a:p xmlns:a="http://schemas.openxmlformats.org/drawingml/2006/main">
            <a:r>
              <a:t>Question to ask students: Ask students how this concept affects real program speed.</a:t>
            </a:r>
          </a:p>
          <a:p xmlns:a="http://schemas.openxmlformats.org/drawingml/2006/main">
            <a:r>
              <a:t>Animation instructions: Fade title; appear bullets/cards one by one; wipe process arrows; highlight formulas and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VTU/BCS702 Parallel Computing syllabus PDF, Module 2 checklist; Peter S. Pacheco and Matthew Malensek, An Introduction to Parallel Programming, 2nd ed., Morgan Kaufmann, 2020, chapters on parallel hardware, performance, MIMD systems and GPU programming concepts; Michael J. Quinn, Parallel Programming in C with MPI and OpenMP, McGraw-Hill, 2004, chapters on parallel architectures and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4a37407454f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a1b5a2abb34bf5" /><Relationship Type="http://schemas.openxmlformats.org/officeDocument/2006/relationships/slideLayout" Target="/ppt/slideLayouts/slideLayout1.xml" Id="R4808e569cf5b4c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08e569cf5b4c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d702d29184f9f" /><Relationship Type="http://schemas.openxmlformats.org/officeDocument/2006/relationships/notesSlide" Target="/ppt/notesSlides/notesSlide1.xml" Id="R5ab1823582844e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f72c838664369" /><Relationship Type="http://schemas.openxmlformats.org/officeDocument/2006/relationships/notesSlide" Target="/ppt/notesSlides/notesSlide2.xml" Id="R1eeedd1deb8c4b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6c4ae9e064da3" /><Relationship Type="http://schemas.openxmlformats.org/officeDocument/2006/relationships/notesSlide" Target="/ppt/notesSlides/notesSlide3.xml" Id="R82f43d4bf1f348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a3b24d31e4f79" /><Relationship Type="http://schemas.openxmlformats.org/officeDocument/2006/relationships/notesSlide" Target="/ppt/notesSlides/notesSlide4.xml" Id="Rfb321fe2c6964b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5639177894a5e" /><Relationship Type="http://schemas.openxmlformats.org/officeDocument/2006/relationships/notesSlide" Target="/ppt/notesSlides/notesSlide5.xml" Id="Rf933f7e8993d45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2ae27ac3a49ad" /><Relationship Type="http://schemas.openxmlformats.org/officeDocument/2006/relationships/notesSlide" Target="/ppt/notesSlides/notesSlide6.xml" Id="R67baa9f415b547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4559371cc47dc" /><Relationship Type="http://schemas.openxmlformats.org/officeDocument/2006/relationships/notesSlide" Target="/ppt/notesSlides/notesSlide7.xml" Id="R1fc68f7f13cd4f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8c0191f274e8e" /><Relationship Type="http://schemas.openxmlformats.org/officeDocument/2006/relationships/notesSlide" Target="/ppt/notesSlides/notesSlide8.xml" Id="Re3b001167bc848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c80e1239f4b19" /><Relationship Type="http://schemas.openxmlformats.org/officeDocument/2006/relationships/notesSlide" Target="/ppt/notesSlides/notesSlide9.xml" Id="R6030984bea574a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ce217fd844c4d" /><Relationship Type="http://schemas.openxmlformats.org/officeDocument/2006/relationships/notesSlide" Target="/ppt/notesSlides/notesSlide10.xml" Id="Rd484c376c1484d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842650ebb4c32" /><Relationship Type="http://schemas.openxmlformats.org/officeDocument/2006/relationships/notesSlide" Target="/ppt/notesSlides/notesSlide11.xml" Id="R002177c2e34848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f068462ca4f16" /><Relationship Type="http://schemas.openxmlformats.org/officeDocument/2006/relationships/notesSlide" Target="/ppt/notesSlides/notesSlide12.xml" Id="Ra35bc02f434248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a2d96cc82415e" /><Relationship Type="http://schemas.openxmlformats.org/officeDocument/2006/relationships/notesSlide" Target="/ppt/notesSlides/notesSlide13.xml" Id="Rde163bf55d3147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49f868ea04191" /><Relationship Type="http://schemas.openxmlformats.org/officeDocument/2006/relationships/notesSlide" Target="/ppt/notesSlides/notesSlide14.xml" Id="Rdaf38005afdf4b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d185a3886488b" /><Relationship Type="http://schemas.openxmlformats.org/officeDocument/2006/relationships/notesSlide" Target="/ppt/notesSlides/notesSlide15.xml" Id="R0a5d243b7d6f48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340dbe6d247ca" /><Relationship Type="http://schemas.openxmlformats.org/officeDocument/2006/relationships/notesSlide" Target="/ppt/notesSlides/notesSlide16.xml" Id="R583fb01b5be04c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174be0cb24ed4" /><Relationship Type="http://schemas.openxmlformats.org/officeDocument/2006/relationships/notesSlide" Target="/ppt/notesSlides/notesSlide17.xml" Id="Rb283b6b201e249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a9ab85da944f3" /><Relationship Type="http://schemas.openxmlformats.org/officeDocument/2006/relationships/notesSlide" Target="/ppt/notesSlides/notesSlide18.xml" Id="Ree712d5236e940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c0b7c16dc4b34" /><Relationship Type="http://schemas.openxmlformats.org/officeDocument/2006/relationships/notesSlide" Target="/ppt/notesSlides/notesSlide19.xml" Id="Rcfc7b8180910449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e8aa8c4db4262" /><Relationship Type="http://schemas.openxmlformats.org/officeDocument/2006/relationships/notesSlide" Target="/ppt/notesSlides/notesSlide20.xml" Id="R187fca86954442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1029ae8aa4ec9" /><Relationship Type="http://schemas.openxmlformats.org/officeDocument/2006/relationships/notesSlide" Target="/ppt/notesSlides/notesSlide21.xml" Id="R2f20182210024b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a4f0214e34365" /><Relationship Type="http://schemas.openxmlformats.org/officeDocument/2006/relationships/notesSlide" Target="/ppt/notesSlides/notesSlide22.xml" Id="R18ee40d47ffb4d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257562d0140e2" /><Relationship Type="http://schemas.openxmlformats.org/officeDocument/2006/relationships/notesSlide" Target="/ppt/notesSlides/notesSlide23.xml" Id="Re56817c0f4524f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0e119ed4049b0" /><Relationship Type="http://schemas.openxmlformats.org/officeDocument/2006/relationships/notesSlide" Target="/ppt/notesSlides/notesSlide24.xml" Id="R868910cb8aa34dd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0e86b5a3344d8" /><Relationship Type="http://schemas.openxmlformats.org/officeDocument/2006/relationships/notesSlide" Target="/ppt/notesSlides/notesSlide25.xml" Id="R535a77a8db3743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a48ed4f6a4fba" /><Relationship Type="http://schemas.openxmlformats.org/officeDocument/2006/relationships/notesSlide" Target="/ppt/notesSlides/notesSlide26.xml" Id="R04e29b43112243a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d6a74cbb747c7" /><Relationship Type="http://schemas.openxmlformats.org/officeDocument/2006/relationships/notesSlide" Target="/ppt/notesSlides/notesSlide27.xml" Id="R4c1d90ee495343a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2622789564f94" /><Relationship Type="http://schemas.openxmlformats.org/officeDocument/2006/relationships/notesSlide" Target="/ppt/notesSlides/notesSlide28.xml" Id="Re8a00b13496b42f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aad138d76406b" /><Relationship Type="http://schemas.openxmlformats.org/officeDocument/2006/relationships/notesSlide" Target="/ppt/notesSlides/notesSlide29.xml" Id="R99bb798e23cc44f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82b21a0dd4374" /><Relationship Type="http://schemas.openxmlformats.org/officeDocument/2006/relationships/notesSlide" Target="/ppt/notesSlides/notesSlide30.xml" Id="Re3fd2be314bb4e1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47e4b523541fb" /><Relationship Type="http://schemas.openxmlformats.org/officeDocument/2006/relationships/notesSlide" Target="/ppt/notesSlides/notesSlide31.xml" Id="Rfb152d296c4f4a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67f2482cf431e" /><Relationship Type="http://schemas.openxmlformats.org/officeDocument/2006/relationships/notesSlide" Target="/ppt/notesSlides/notesSlide32.xml" Id="Ra2bf8d2692354b1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f04731e874edd" /><Relationship Type="http://schemas.openxmlformats.org/officeDocument/2006/relationships/notesSlide" Target="/ppt/notesSlides/notesSlide33.xml" Id="R3294dfc2a727496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dc65a13134447" /><Relationship Type="http://schemas.openxmlformats.org/officeDocument/2006/relationships/notesSlide" Target="/ppt/notesSlides/notesSlide34.xml" Id="Rdd434eeee6724a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8481bcf3f44bf" /><Relationship Type="http://schemas.openxmlformats.org/officeDocument/2006/relationships/notesSlide" Target="/ppt/notesSlides/notesSlide35.xml" Id="R718e4e9c9bab41f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96c713ff9474d" /><Relationship Type="http://schemas.openxmlformats.org/officeDocument/2006/relationships/notesSlide" Target="/ppt/notesSlides/notesSlide36.xml" Id="R9c022cb197f4463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25a18d21a44ca" /><Relationship Type="http://schemas.openxmlformats.org/officeDocument/2006/relationships/notesSlide" Target="/ppt/notesSlides/notesSlide37.xml" Id="Rf7e8c3950a8a468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22658911541c2" /><Relationship Type="http://schemas.openxmlformats.org/officeDocument/2006/relationships/notesSlide" Target="/ppt/notesSlides/notesSlide38.xml" Id="Rb7931e200cb44c9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ecf2819fb4255" /><Relationship Type="http://schemas.openxmlformats.org/officeDocument/2006/relationships/notesSlide" Target="/ppt/notesSlides/notesSlide39.xml" Id="R58769d8cf1e745b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5f6e8dff1408f" /><Relationship Type="http://schemas.openxmlformats.org/officeDocument/2006/relationships/notesSlide" Target="/ppt/notesSlides/notesSlide40.xml" Id="R80984c3755474de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ab2744f974643" /><Relationship Type="http://schemas.openxmlformats.org/officeDocument/2006/relationships/notesSlide" Target="/ppt/notesSlides/notesSlide41.xml" Id="Rbacc1d2ad8de40b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7c54615f3407d" /><Relationship Type="http://schemas.openxmlformats.org/officeDocument/2006/relationships/notesSlide" Target="/ppt/notesSlides/notesSlide42.xml" Id="R917df79e95e14d8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601f17f6c4984" /><Relationship Type="http://schemas.openxmlformats.org/officeDocument/2006/relationships/notesSlide" Target="/ppt/notesSlides/notesSlide43.xml" Id="Ra1ae8043b94c42d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a503ebd6f430b" /><Relationship Type="http://schemas.openxmlformats.org/officeDocument/2006/relationships/notesSlide" Target="/ppt/notesSlides/notesSlide44.xml" Id="Ra05dbcd2c949496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10f68feaa44ff" /><Relationship Type="http://schemas.openxmlformats.org/officeDocument/2006/relationships/notesSlide" Target="/ppt/notesSlides/notesSlide45.xml" Id="R5b0287453edf417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4c2b285744e0e" /><Relationship Type="http://schemas.openxmlformats.org/officeDocument/2006/relationships/notesSlide" Target="/ppt/notesSlides/notesSlide46.xml" Id="R15de034d1dae46e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9287f0f9e4343" /><Relationship Type="http://schemas.openxmlformats.org/officeDocument/2006/relationships/notesSlide" Target="/ppt/notesSlides/notesSlide47.xml" Id="R4307279dc231410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d00a6562741df" /><Relationship Type="http://schemas.openxmlformats.org/officeDocument/2006/relationships/notesSlide" Target="/ppt/notesSlides/notesSlide48.xml" Id="R41242e0cec204f4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11564d92b42d3" /><Relationship Type="http://schemas.openxmlformats.org/officeDocument/2006/relationships/notesSlide" Target="/ppt/notesSlides/notesSlide49.xml" Id="R5562ce4778d341e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7df9deb6d40fc" /><Relationship Type="http://schemas.openxmlformats.org/officeDocument/2006/relationships/notesSlide" Target="/ppt/notesSlides/notesSlide50.xml" Id="R3c1a909e543642a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d863c9a894ce4" /><Relationship Type="http://schemas.openxmlformats.org/officeDocument/2006/relationships/notesSlide" Target="/ppt/notesSlides/notesSlide51.xml" Id="Re850865867c347c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04e8a146049ad" /><Relationship Type="http://schemas.openxmlformats.org/officeDocument/2006/relationships/notesSlide" Target="/ppt/notesSlides/notesSlide52.xml" Id="Rd857d617b89e45e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8c7f0b7dc4deb" /><Relationship Type="http://schemas.openxmlformats.org/officeDocument/2006/relationships/notesSlide" Target="/ppt/notesSlides/notesSlide53.xml" Id="R150fe779b946470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42ee1b9a441c3" /><Relationship Type="http://schemas.openxmlformats.org/officeDocument/2006/relationships/notesSlide" Target="/ppt/notesSlides/notesSlide54.xml" Id="Rd744aa31a0f9466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5714dca174a19" /><Relationship Type="http://schemas.openxmlformats.org/officeDocument/2006/relationships/notesSlide" Target="/ppt/notesSlides/notesSlide55.xml" Id="Ra188fa27d9f4498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76372f8c54d1c" /><Relationship Type="http://schemas.openxmlformats.org/officeDocument/2006/relationships/notesSlide" Target="/ppt/notesSlides/notesSlide56.xml" Id="R932a97d2f97849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C7CB8-3578-4E11-A0BC-FCBBAD49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868C3-2136-46AA-855E-05419003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MIMD, GPU and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1CAD4-5D04-442F-A9C3-4282EBAF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2 explains how parallel systems are measured and why GPUs/hybrid systems matter.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497EB-D52C-4801-A7BE-2C2FD052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BF003-7589-44B7-BDAF-C066921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57E1F-0985-4479-8160-D57953EC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8FF92-BBE6-4B4C-8AD3-E9E79082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0E4B8-A9A7-461E-A78A-097094F8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83B19-6ECF-4B6A-916A-CD7C0B97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VTU BCS702</a:t>
            </a:r>
          </a:p>
          <a:p xmlns:a="http://schemas.openxmlformats.org/drawingml/2006/main">
            <a:pPr>
              <a:defRPr sz="4650" b="1">
                <a:solidFill>
                  <a:srgbClr val="F8FBFF"/>
                </a:solidFill>
              </a:defRPr>
            </a:pPr>
            <a:r>
              <a:rPr sz="4650" b="1">
                <a:solidFill>
                  <a:srgbClr val="F8FBFF"/>
                </a:solidFill>
              </a:rPr>
              <a:t>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B9E5A-3B20-4BD9-94C6-79794549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MIMD • GPUs • Hybrid systems • Speedup • Efficiency • Amdahl • Scalability • Timing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A6744-8A81-410E-97F3-758B771D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8587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2D38B-C759-4E05-873E-D31E93C1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95172-813E-4558-AFBA-2EE31D27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38375"/>
            <a:ext cx="2571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8FBFF"/>
                </a:solidFill>
              </a:defRPr>
            </a:pPr>
            <a:r>
              <a:rPr sz="2250" b="1">
                <a:solidFill>
                  <a:srgbClr val="F8FBFF"/>
                </a:solidFill>
              </a:rPr>
              <a:t>GPU</a:t>
            </a:r>
          </a:p>
          <a:p xmlns:a="http://schemas.openxmlformats.org/drawingml/2006/main">
            <a:pPr algn="ctr">
              <a:defRPr sz="2250" b="1">
                <a:solidFill>
                  <a:srgbClr val="F8FBFF"/>
                </a:solidFill>
              </a:defRPr>
            </a:pPr>
            <a:r>
              <a:rPr sz="2250" b="1">
                <a:solidFill>
                  <a:srgbClr val="F8FBFF"/>
                </a:solidFill>
              </a:rPr>
              <a:t>MIMD</a:t>
            </a:r>
          </a:p>
          <a:p xmlns:a="http://schemas.openxmlformats.org/drawingml/2006/main">
            <a:pPr algn="ctr">
              <a:defRPr sz="2250" b="1">
                <a:solidFill>
                  <a:srgbClr val="F8FBFF"/>
                </a:solidFill>
              </a:defRPr>
            </a:pPr>
            <a:r>
              <a:rPr sz="2250" b="1">
                <a:solidFill>
                  <a:srgbClr val="F8FBFF"/>
                </a:solidFill>
              </a:rPr>
              <a:t>SPEED</a:t>
            </a:r>
          </a:p>
        </p:txBody>
      </p:sp>
    </p:spTree>
    <p:extLst>
      <p:ext uri="{BB962C8B-B14F-4D97-AF65-F5344CB8AC3E}">
        <p14:creationId xmlns:p14="http://schemas.microsoft.com/office/powerpoint/2010/main" val="2038369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7F8F0B-3ECA-4023-9D29-B830E7C5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227AD-266B-46CD-802E-06508628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2 learning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8B5FC-E6E7-4C43-8933-351D49B3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1AE70-CC89-47E8-A30F-5DD74FFB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3C572-0E09-467D-90FB-2806CB64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581F2-D828-4ECA-9AE0-19BA700D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C5B05-4DA0-42F5-8090-B80E32EE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4F5E6-AD3C-4A7F-B7CB-ED6D4FCB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E54D5-033A-490A-8BA9-3DB91EDA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FF210-992C-4C86-829E-A1CD85CF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B98B3-4104-40FF-A222-4AFEEE44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Review MIMD systems and why they dominate general-purpose parallel computing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02121-D9E2-4183-A62A-54D4B54E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A9D9D-5E3C-402A-812E-46610C8D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2CB52-B46C-4848-B8D7-F7CA1A9A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Introduce GPUs and GPU programming ideas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DC5CA-2AA9-40FB-BE2E-D8BCA467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DD018-F629-49CE-8B02-8FD52423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2FCB2-F237-4CAB-8AAA-C2F95797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programming hybrid systems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71FB2-B931-451E-B7F5-3D56BC9D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6C1CC7-1F02-47EE-B3EC-1CA670F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8F75F-0B5B-4950-AED9-6E1EABA6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Define speedup and efficiency in MIMD 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375B7-A323-43B0-B04A-FEF4A7FD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8C651-6900-4E8B-9C6B-BAB20952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73F7C-5DDA-45E3-BD77-9B0766BB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Explain Amdahl's law, scalability, timing and GPU performance</a:t>
            </a:r>
          </a:p>
        </p:txBody>
      </p:sp>
    </p:spTree>
    <p:extLst>
      <p:ext uri="{BB962C8B-B14F-4D97-AF65-F5344CB8AC3E}">
        <p14:creationId xmlns:p14="http://schemas.microsoft.com/office/powerpoint/2010/main" val="1485351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000937-8557-4726-8FC9-C866BBF6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9152A-CF11-4834-A36C-A9DC1E1F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The performance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5CBB0-BE42-48EB-AF09-6CF35B06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Parallel hardware is useful only if the program gains enough speed.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34DF1-878C-45FF-99A1-3D4163E2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2FE40-026A-4904-B5D2-4DA8F7FE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95644-20D9-4105-838F-1D78E7BD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B2379-18F4-47A4-8BBD-0E81C351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BBA52-4034-4AFA-BDDA-1E3BFF9C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74144-4393-4028-85FC-1F733C18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6B955-DC12-4F0E-B040-B44A7A52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Sequential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64CAD-1DF9-4C64-B37E-4E010CC9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A6573-0B17-45D0-8E69-C21DA22F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26072-8422-4558-919A-E32E3AAF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Parallel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014DB-E306-4BCD-9907-341C360B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09FB1-FAC3-4AD8-B54C-1DA95674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028478-B556-4AB1-92A7-4C808D40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Speedup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211DF-472A-4F26-B9F0-AD6402FF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F06B0-BE95-4767-811F-640B3B11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B6170-D036-434A-85E3-ABFC944E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450BD-20DA-4393-9598-DEA137A1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F56CC-8F15-466E-A87F-2CB08BA9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CEDAA-E9A5-44C0-994E-1E0E6F5C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Scalability decision</a:t>
            </a:r>
          </a:p>
        </p:txBody>
      </p:sp>
    </p:spTree>
    <p:extLst>
      <p:ext uri="{BB962C8B-B14F-4D97-AF65-F5344CB8AC3E}">
        <p14:creationId xmlns:p14="http://schemas.microsoft.com/office/powerpoint/2010/main" val="2037094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5057A7-9700-4D52-8F75-B4CA10F5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194C5-7D06-468E-836B-91B8E322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MIMD systems revisited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6D196-0F70-472C-A1A7-D165B711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Module 1 to performance.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DEF13-76E3-4A29-881E-35D62451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42270-2EF0-42CF-9249-3242374E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82CAC-D66D-49C7-80CD-B872656B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6E759-D7ED-4C1F-9915-D14CFF16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637E2-DD00-44B8-8EED-EE596BBC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21DF5-1EAD-440C-9D79-5643612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MIMD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6032A-BA5E-4106-94E5-92EECC2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Multiple Instruction Multiple Data systems allow independent processing elements to run different instruction streams on different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E0663-4B8D-4A7B-BF6B-BF7DC824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CAC86-E993-4B31-A370-071791E8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Independent 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72586-AD3A-497F-99BE-44E85223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C7E7B-F318-424E-BB9B-D7FCB337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3DFB3-23BA-4226-B963-0AD238E9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Asynchronous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0E151-AC6C-4D4D-B672-60AC14C2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27918-44D9-407D-8855-E138B053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F592D-B31C-471E-9F8F-676B943A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Shared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81BBC-4D4B-4A6C-BB82-226892EE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9A643-0A9F-4B14-A088-62A03F80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6C5E2-5DFA-450F-89D1-F55643A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Distributed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3ACC7-1158-4F4B-892E-DECA1D23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4C35E-2E58-4B1C-9080-0807F362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89266-4A35-49C0-AEA3-35691205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Flexible</a:t>
            </a:r>
          </a:p>
        </p:txBody>
      </p:sp>
    </p:spTree>
    <p:extLst>
      <p:ext uri="{BB962C8B-B14F-4D97-AF65-F5344CB8AC3E}">
        <p14:creationId xmlns:p14="http://schemas.microsoft.com/office/powerpoint/2010/main" val="1787970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E0CA0-5050-4138-81B6-7C8A867E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8E5DD-B0F6-46C9-9376-30E607AE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MIMD systems are common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2B668-9210-4299-A578-AE3A5643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practical importance.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BBB8-970B-4A41-8277-B8ECE72D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8F250-0C3B-43E9-A448-05ECB7A0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97CA1-0517-4FB2-86A8-18684404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6F9C3-1AAA-4BD0-885B-20F4F08F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17282-0343-4CF0-864D-6CE07F61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9F066-4A32-4143-8825-B7E27B85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6D033-CB50-434D-8059-EFAD119C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28CF7-3527-43A1-B387-1D9FC6E2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General workloads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15B4B-2B70-49BA-857E-2F633CDB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Different tasks can run independently.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14D9B-57A4-4342-92DB-34ED5E55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1C216-8FB8-4DB9-A0AF-F24A144F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4E0D3-BF85-4783-9ED9-8B449C0D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Flexible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83803-7215-4872-B849-A313F7D7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Branches and irregular algorithms fit better than SIMD.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09768-68FC-4FE7-9735-5850EBD4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E2087-2AD0-4622-BDE9-433821ED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3D3D7-DFC8-4526-8418-9870DC7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Familiar programming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12E33-86BC-48EC-85D5-1F203BA1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Maps to processes and threads.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1C7A9-AAED-4E7B-B0A0-D0F6336D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0D750-EB40-4D28-9497-894BABBF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09C84-3688-4F0B-ABAA-90A93A20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Scalable forms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ACEEB-719F-490F-9500-2654BA91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Can be shared-memory, distributed-memory or hybrid.</a:t>
            </a:r>
          </a:p>
        </p:txBody>
      </p:sp>
    </p:spTree>
    <p:extLst>
      <p:ext uri="{BB962C8B-B14F-4D97-AF65-F5344CB8AC3E}">
        <p14:creationId xmlns:p14="http://schemas.microsoft.com/office/powerpoint/2010/main" val="1895564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4D483-FBA8-4872-84E1-5AD9BFEE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6EADD-1756-47CA-B18B-81AA3E74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Shared-memory MIMD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55B2B-F45C-4450-AA72-15A8236E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Review architecture for performance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7B7E5-75B5-4D7B-8199-4A98CC54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61E8B-E780-4811-A826-C92FD6C8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F1392-01D3-41E8-9CAD-1E59679D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E9F7A-3C13-4758-9E76-5B53FBD4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CD9D6-5C6F-4817-868E-BE040F02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62C59-7EA3-4679-98F2-B29CAC80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F1316-063A-4EE8-8262-597D4A10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C8175-5C59-4162-B820-5301B1A0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9437E-8F0B-4440-A6FE-CD088613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1AAE7-2896-4633-8215-C66108DA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Shared 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4937C-307F-42D2-9306-B74FBD41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A6C5C-6C34-4B3F-8F67-5666AB83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D46BB-7135-430F-912D-0778125B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Locks/barriers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673EA-7977-4EB8-B8D7-75CA4CB3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65483-B323-405E-A1E3-7555EAA2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B2157-1214-4535-8F7E-22AB833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Cache coherence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21E39-CEE2-4C32-A0F2-F3734B57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89584-8C41-48EC-BEC2-089AC187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9E7F9-EF7C-46FF-AD8F-8440085B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302268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854C6-FC04-4C31-92D5-A3C2F4D3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E316C-FA6E-4CB6-95B3-7B795FE6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Distributed-memory MIMD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864CC-32E3-47DC-8053-94178721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Review architecture for performance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025F0-3C8D-43C3-BFB4-4D9272AC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008D2-422B-45C7-AACF-ED77DCE4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819FE-B7C7-4435-90BF-28B75DF2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8CECC-1AB9-4E9C-BA2D-7A1E687C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7885A-EFCC-4541-A314-20809BA3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96974-AAD2-4DE0-BABE-5EB3871C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D26D4-6C49-415F-B9E4-1BE3C308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Processes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F0FE7-F5AF-441D-912A-2BE59389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60BBE-BA3C-4984-843D-009D6D78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98F1D-C512-47D4-A2D4-F4ADEEC3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Private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8D48A-43A5-43BA-BA0E-4D44F2EC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F6051-00B6-4DBA-8689-3ABA9E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6F10E-6ADD-4CF3-9C58-8F2BC650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Send/receive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D8A2E-5CCC-4A21-B91B-64BA2D05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FFCC5-38DF-4DD7-A528-AD62F973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7DD9D-C42E-4BF2-8C83-C8F4A2F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Network 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D15DC-BB9A-4E93-BF39-76CB1926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3F2AE-DD91-4646-9BC4-254E6A26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9D1DB-0780-4996-A188-451EAF44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308961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67636-DB7B-4246-A99F-2EF4BD2A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51C97-B35A-427F-86E1-6E72A091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MIMD performance bottlenecks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B8EBD-EF73-46A9-B121-F775C730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List common causes of poor speedup.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4487B-B9AC-41BE-95D6-88527290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B919A-7585-4D29-A966-AB15B5FC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C6DC0-5A34-43F8-8803-688FFCD9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C14EF-3F44-4ECD-AA78-C146DA9C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MIMD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74EC8-A241-4AC3-88F5-B2F9CA18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A5EF8-48BC-4D20-AD16-BD26A7A8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C0828-CFE1-4DEB-998A-E92E2AB8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68EC1-5D01-4066-BA9F-40FEEA11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Serial sections cannot be parallelized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13C1A-4DD5-4DBC-8CDB-F67B5D0A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A1CCC-8D20-41FE-93B8-4971BAD6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57E78-BDE1-4987-A987-C0E6AD4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Communication adds overhead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B25E3-8B5D-4465-AB6C-73D7784D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EC23C-4402-4F1E-BC7F-C1B8627E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6997E-3BC9-48AB-A201-4B367E7A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Synchronization makes workers wait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49D99-1450-45BD-9424-2F8F8125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01FD7-59FA-4AD0-9F30-78AA09B0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F6D0E-B859-481D-8280-856ABF9E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Load imbalance leaves cores idle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8A7D0-3C35-42FF-808E-A4F868E6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56C10-2215-4401-82D1-8C5ADD4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FFEA8-03FD-40C8-8C15-DF2AE16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Memory bandwidth and cache effects limit throughput</a:t>
            </a:r>
          </a:p>
        </p:txBody>
      </p:sp>
    </p:spTree>
    <p:extLst>
      <p:ext uri="{BB962C8B-B14F-4D97-AF65-F5344CB8AC3E}">
        <p14:creationId xmlns:p14="http://schemas.microsoft.com/office/powerpoint/2010/main" val="12654518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032B5-3A95-4838-A91D-E05837B9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ECE64-EDEA-435E-8A5A-50C87AFE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a GPU?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B5425-C4AE-485C-A950-B0ACB44E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GPU as a throughput processor.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F9E25-BA55-447C-AB08-98968479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98A48-3289-4802-867F-A775D567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00937-2C94-4A7B-BEDE-63832182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80CB5-6035-45FE-BC24-2CCDAF51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ADAAD-8765-4347-8152-38B861CE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26075-60A1-4AD2-BD86-3450B1D4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GPU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4C18B-DCB9-49EC-8611-11934459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graphics processing unit is a massively parallel processor optimized for high-throughput data-parallel computation.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CF2F6-16B0-4DD7-8639-C3CF7CCF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E168D-AEB5-484D-A795-C0F9C2D5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Many 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AA648-72ED-4784-BADB-36F3CB15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E30B6-A4F2-4B61-BB74-5413DE65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FEFBE-76CD-4F5D-8405-6DE4B967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Throughput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0F07A-D184-442E-A235-98DF44A7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85BFA-2036-484B-A6A8-97D12023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AA9D0-3312-460C-905D-B6186436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SIMD/SIMT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07F4C-B412-4301-BE4B-BFCA8569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712EA-8730-44F8-88C0-C8F0213F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4A78D-3DB0-426F-A555-4E42343B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Kernels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34877-DB4A-494F-B8D3-5C455A96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81FC2-6C88-4B0B-A0D3-79262776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E4A9F-C9F8-4658-8862-B3E596E6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Device memory</a:t>
            </a:r>
          </a:p>
        </p:txBody>
      </p:sp>
    </p:spTree>
    <p:extLst>
      <p:ext uri="{BB962C8B-B14F-4D97-AF65-F5344CB8AC3E}">
        <p14:creationId xmlns:p14="http://schemas.microsoft.com/office/powerpoint/2010/main" val="6600333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F02A6-798D-4F64-A119-3CA535D2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BD3A3-035A-4C67-86A4-9EA9935F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GPUs became important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ABCC2-4D98-4466-9317-56DA23AD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motivation for GPU programming.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EF7E6-82FD-470B-93D5-C1439791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11F63-FFF7-4CF2-8430-87EA6DCA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C4F75-AA20-444D-B4EB-B232DF5E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4AB65-849C-4B1E-AB44-7D642293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DE3D1-8B09-4760-AEE6-A55D7B27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7B963-2F89-4FD9-B59A-FF36C544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2ACD5-5509-40D7-99BA-8DD0083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439C4-C155-4AC6-BA7E-772ABBB9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Many arithmetic units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B62A5-4FE5-45EE-91F8-007C5029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Huge parallel throughput for regular 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0029E-6499-4E42-AB29-F7C5B37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8B9D8-6DE0-4F55-BED0-77CA0EBE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05686-2D89-4CCA-BE91-2B3C4663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High memory bandwidth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7BCD7-3494-4664-B512-A29F1F33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Designed to move large arrays quickly.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D8BDD-85AF-45CE-87BD-763A7721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63608-74E4-412F-BF46-F17FE01B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61FF4-9429-4A7F-AE42-C0EA582C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Energy 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E763E-E644-42B3-8042-5F54E0C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Good performance per watt for suitable workloads.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19EB6-3C99-4AAF-A576-1B11C21A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56CF2-5D23-429E-BE37-41D6B8C8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F9801-3717-4E95-8B30-E3A8060E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ML/science 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3F8C9-CEEE-4F0A-9C94-0C0CD15F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Useful in simulations, imaging and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439103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6D611D-D076-4251-A4F4-9F24DB5A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1E8E0-5D18-43C4-AE82-0EDAE0CA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programming mental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DD0F4-397D-4A50-9AB8-16F6FA99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host-device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4FDDE-9976-4F47-8C87-F4610504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6078D-4D94-4CE6-A846-C9E1FCE8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06D60-2186-4142-AEC9-60669CA3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ACE04-72DC-4D50-87F5-D1C10619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9B145-C8FC-4793-8579-2802196E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BE6F4-F66D-4971-8D79-FE355956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86A57-78C3-4446-8E4A-381FDCFD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ADF56-7B00-447F-91C0-B7B33874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526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CPU host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3CDE9-BDE6-4FE2-B80A-C62B613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3365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Control-heavy code, OS, serial sections and kernel launches.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FF6BC-200C-4692-A3AA-724BFA89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16DD0-BF54-432D-B14F-0E5EB9AD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B249C-C7F1-47B3-AAE3-56B8B1DE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526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GPU device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6FD05-CAD8-485A-9426-B53C3C47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33650"/>
            <a:ext cx="2590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Many lightweight cores execute data-parallel kernels.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09DBC-0C20-4C6E-B74B-202D03B1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91000"/>
            <a:ext cx="971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59C81-2F54-4CB4-B4AE-A4396675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362450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Copy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AC2AC-C7B6-461C-8342-BCF29014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8627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CC99A-E2AB-4B8B-9EE8-256C99B6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91000"/>
            <a:ext cx="971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72395-47B2-45E0-A3C9-0A267A45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362450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Launch kernel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CCA22-3BE7-46E0-849A-879CE28B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8627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0F3F5-7D6F-4AA8-B1D3-72ED3B1A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91000"/>
            <a:ext cx="971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F5DA1-F0A4-4A57-853A-99CC2C6A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62450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Copy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49B2B-C540-44C9-A64B-EEB6EAB9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7F06F-9F7B-4BD9-8129-8A62326A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479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PCIe / memory transfer</a:t>
            </a:r>
          </a:p>
        </p:txBody>
      </p:sp>
    </p:spTree>
    <p:extLst>
      <p:ext uri="{BB962C8B-B14F-4D97-AF65-F5344CB8AC3E}">
        <p14:creationId xmlns:p14="http://schemas.microsoft.com/office/powerpoint/2010/main" val="624881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CF45F-E4F2-407D-B254-C3BB6160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B6F49-2BE6-40FF-98DC-17190BF7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architecture vocabulary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F8C57-9FC2-47A9-9688-C987E11A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essential GPU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50499-868B-45DF-837B-468BA7AF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3BEF7-8212-480B-A605-1FB95314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FE71B-EF93-4D6F-8ED7-A43487EB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96F27-34C7-4EA2-A58F-44E6B700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67291-87D5-48D7-B003-F47FF84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3BF1F-CE6D-412C-9B0F-067A33CD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35374-5BAB-46C8-9751-6C4649CC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6F960-B825-4DAD-BDEA-936A804C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D56DF-1817-4700-B614-2378EE8D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CPU side that launches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8E8F1-3AE7-43A3-B8EF-3C66FAA2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884AC-2E38-423F-A911-F030E652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37DA8-CC0E-4202-8BA4-06B24A8F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Device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E7A49-7ED7-4032-886B-EE3F834F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GPU side that executes kernels.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19807-3AEA-47AC-8CB6-CCB01942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8CB5A-9E00-4D0B-8A55-1C440920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3D854-CFE6-4C5A-B968-99947C3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Kernel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A42F5-86EF-433E-A504-F2E0642B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Function executed by many GPU threads.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4BFB0-5E99-43BD-8153-A2828B36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F461C6-61B0-4FBE-90EE-1282C6A1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0AEE6-1BB0-4156-872C-BEC4194E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Thread hierarchy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CDDEC-2C9A-4209-AC35-7ED0D088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Threads are organized into blocks and grids.</a:t>
            </a:r>
          </a:p>
        </p:txBody>
      </p:sp>
    </p:spTree>
    <p:extLst>
      <p:ext uri="{BB962C8B-B14F-4D97-AF65-F5344CB8AC3E}">
        <p14:creationId xmlns:p14="http://schemas.microsoft.com/office/powerpoint/2010/main" val="7118236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38B43-C6D1-40D3-A85F-D531E12F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263B5-7F17-412E-A777-71E3397E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threads, blocks and grids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D98CD-69FB-47FB-B748-60F804E8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execution hierarchy.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4949B-29ED-4F81-94A7-6D0376CE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FDB39-A9FC-4C9A-BAD3-37C1A744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C6584-7604-4321-865F-6AD76CA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E69A5-63B9-4409-96CF-CC2EAE4C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B53DC-973E-4F17-A6B6-2643E15C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7FE8C-AEF7-4456-947F-5EB30B09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F7FA6-C308-42A0-8250-AF7A59D0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FCF2E-0E38-4A0C-BD32-17179066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F4360-0379-4FB2-A39F-A81ED802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558FA-7752-4B00-BC8C-A2CBF93B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Blocks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7C197-22DE-4211-8D2B-69FCB8B9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4E1FB-4665-4974-BFAF-F3B9DC97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444B3-3B8A-400C-BB6C-CAE0F0A2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7B96E-2B5E-460A-B592-982DA439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5CB32-128A-4209-AA73-4863B45F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8F31C-B978-4ABB-927D-A010C780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Data elements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86A97-1D1A-45C3-9F3C-A063449B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BD94E-2051-4362-9B6A-C52EE2D0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79390-0EBF-4556-ABB4-EAC343CE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Output array</a:t>
            </a:r>
          </a:p>
        </p:txBody>
      </p:sp>
    </p:spTree>
    <p:extLst>
      <p:ext uri="{BB962C8B-B14F-4D97-AF65-F5344CB8AC3E}">
        <p14:creationId xmlns:p14="http://schemas.microsoft.com/office/powerpoint/2010/main" val="1105148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32527B-24D8-4F15-97D3-7EDEEC8A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16B93-7380-4924-BB24-A35EB9B8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memory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3D098-4B70-470B-A07B-906E6EE8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why memory placement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A18CB-8655-4240-BAFC-34F2B0AF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0DEAB-196E-4178-8B7B-84CA21C1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42526-00E7-462B-BC81-197954D8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47075-A98D-46DB-A350-EA1FD2C8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64EBA-B543-4DF4-AAB1-1D7D1B0A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838DC-7132-4FC4-8B37-01F09314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EFEF0-BB3E-4DFC-B05B-46BF767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DF54E-6EEE-4B95-90C5-092422D3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Global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34515-C772-423F-ABD6-B7A3345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Large but relatively slow device memory.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DBED2-746A-4938-AB8A-5EB94092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0578C-C592-4852-8935-3EAEEC55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97426-937F-4AA1-AEEF-6E17CEC4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Shared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13E81-F53F-41D5-B135-2265FF0B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Fast memory shared within a block.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F1366-01A1-48EF-815D-0999A308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3CFD1-CEBD-4875-BB64-CB4D1AB9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8A620-E5FA-4AAF-97D7-97C613E5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Registers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ED00F-13D2-4655-A819-5C5CE74D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Private fast storage per thread.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67F1D-59E9-4D69-93E6-BEAA6226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251C1C-6FC3-4D95-A29D-4461093E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85062-3BEF-46E1-A99B-120E729D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Host-device transfer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9C711-4F1E-4FBA-BDD9-98116C19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Data movement between CPU and GPU.</a:t>
            </a:r>
          </a:p>
        </p:txBody>
      </p:sp>
    </p:spTree>
    <p:extLst>
      <p:ext uri="{BB962C8B-B14F-4D97-AF65-F5344CB8AC3E}">
        <p14:creationId xmlns:p14="http://schemas.microsoft.com/office/powerpoint/2010/main" val="2648012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A31655-7947-4775-A1A1-218B16DC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04828-7DFD-4AED-B392-D4E092E6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workloads that perform well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EB637-81CC-4994-A835-45114F26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Teach workload fit.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F106C-EC4A-4688-997F-3FC41869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F97B8-48CD-4158-A8C3-B1EF1562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32E5A-0EF7-4435-8137-C88D7EC9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A3B5B-57C6-4007-8062-1446D9D8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3E97E-7869-458F-B962-7A800A2A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972E4-830A-46A3-A01D-D366A5AF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82A97-223A-4CFB-99EC-67F09870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40404-77C8-4228-8742-8C8A62CA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Large arrays with same operation on many elements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CD858-C0D8-4582-B9F4-38E9002E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5CB19-BA19-49AA-AE08-7834E3ED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6848A-01A5-4FE9-89AC-F689A132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High arithmetic intensity compared to data transfer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D0E48-56E5-4E6E-8B88-5098CF8A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47547-41AA-463A-826B-04C39998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BD80BF-7BF8-4406-8C8F-3987A0B6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Regular memory access patterns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E6D4F-3DE1-461A-8A49-9AF3AE18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F15FB-439F-4333-B24F-8B5A133C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80D43-E220-4A7E-8DE8-554A34A9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Limited branching divergence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44E4D1-497F-4B3C-9BC7-B78E9B32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B66FA-085A-4E2A-9519-116A0755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4D551-0E07-4901-96B0-B669DA3F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Enough work to fill many GPU cores</a:t>
            </a:r>
          </a:p>
        </p:txBody>
      </p:sp>
    </p:spTree>
    <p:extLst>
      <p:ext uri="{BB962C8B-B14F-4D97-AF65-F5344CB8AC3E}">
        <p14:creationId xmlns:p14="http://schemas.microsoft.com/office/powerpoint/2010/main" val="8046527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1C03A-1F16-46AC-A29D-F3CABE77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69512-7B71-4655-8DD6-858E7DE1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workloads that perform poorly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6B5B1-317F-4F9E-BEF7-9D394692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Balance expectations.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3BFB5-B909-4363-A7B2-81000D8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4F34D-CC4B-4A2A-B110-C743C400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D835D-ECCA-4FAD-B010-4F6B0626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385F6-AC15-4959-8E83-9382B606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282A4-E102-4C3A-AC95-B0113603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65337-C9D2-49BE-94A5-27C823F2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98972-8B77-41F6-A9A7-4C304135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FCC56-5B2A-4261-B280-202BB190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Small problems where launch overhead dominates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75C95-72B3-4A93-89A8-85AD5435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48A9-056B-4BF4-B0F8-9ECDA54F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D14C4-DEC7-408F-ABD5-55ADD523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Irregular branch-heavy 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ED1B4-4CBC-49A5-9066-ABACB9D1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F0231-D81C-45AE-864D-56898D85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60BC4-A302-4B9D-BE3C-B966A57B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Frequent CPU-GPU data transfers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B17C6-FE1D-4CB6-A6A8-1599FB89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1F8CC-E4ED-4FA9-B884-F0064A39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0D004-68F5-428A-A01E-21E66BE4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Algorithms with strong sequential dependence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708BF-DA98-44FF-8AF4-AF32B0F5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6A73B-DD96-404F-96C6-73087892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9342B-BF34-44F2-8B6A-976FC21D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Memory access patterns with poor locality</a:t>
            </a:r>
          </a:p>
        </p:txBody>
      </p:sp>
    </p:spTree>
    <p:extLst>
      <p:ext uri="{BB962C8B-B14F-4D97-AF65-F5344CB8AC3E}">
        <p14:creationId xmlns:p14="http://schemas.microsoft.com/office/powerpoint/2010/main" val="659863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19B6CF-F9D4-45E7-BC78-44BB02BD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431B8-31B6-4F41-93B3-3FF0E7B1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a hybrid parallel system?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A164D-0FB8-4315-95DB-6BBDF4DD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hybrid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0D20C-B0B5-4136-BC98-60CC21AC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2CEDB-C5B8-4BF5-A718-BD78E6BA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E5FC4-71DF-42DB-84DD-DAC7EBD2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1EC73-190F-46D8-B12C-BE4FAF45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Hybrid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031AA-F871-4F51-B4DC-945BC25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9E4F4-4727-480F-9BC2-9A9EAAD3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Hybrid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C78BE-43C6-424F-8437-960C9708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parallel system or program that combines multiple forms of parallelism, such as MPI across nodes, OpenMP within nodes, and GPU kernels on accelerators.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89051-D78B-4DD1-A346-EDE53C92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4D108-9877-439E-AA1A-12F0201F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4E497-F6FD-4E97-BCE4-96BE394B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85F40-1860-4D80-94C7-2562A2EA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30B5B-6EF7-4966-B3D6-23148D7C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OpenMP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B8F8C5-C6C0-4D24-87CA-1FC1EC77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C088D-8A2A-4F67-8053-56763819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31815-F9B6-446D-95F4-6893F85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GPU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77F65-A689-4685-997C-93A82686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E96DB-A323-4D89-BAAA-C7CF0C07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6B633-C663-4199-B91E-5BDC6EE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Node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87198-629A-4142-80B1-7F4FE921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06A70-0A91-4B97-9277-C713627F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7E1DB-BC86-4665-A987-F1E35CB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Accelerator</a:t>
            </a:r>
          </a:p>
        </p:txBody>
      </p:sp>
    </p:spTree>
    <p:extLst>
      <p:ext uri="{BB962C8B-B14F-4D97-AF65-F5344CB8AC3E}">
        <p14:creationId xmlns:p14="http://schemas.microsoft.com/office/powerpoint/2010/main" val="9824952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FECCA-9BAA-4DD5-9C7B-8C88F579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F43D9-8046-4D4D-B638-33A606CB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hybrid systems?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64709-88B5-4E5D-BF87-0FC6787F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need for combining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60EE6-5F72-4B69-ACAF-F91DA493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3D565-57DA-448F-841F-B2EA9AA9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242B7-516A-4D14-9E08-6F5DDB5E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7D259-01F9-461A-A839-79EC259B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Hybrid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6017F-F454-41F8-B006-3DDDFCE5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29691-0660-4268-8F42-0A2BBECD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F40CE-C6DF-48E1-995E-736D1A59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1B789-FC93-4C6A-BE66-012681A6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Hardware reality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8AF95-9C3D-4C00-A3B8-C2C8B8F5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Nodes contain multicore CPUs and accelerators.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DAEB1-D9FA-4BB5-BEF9-0A6DF95C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129C2-1D59-4B27-964C-9BE5EB35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33DA5-607F-4790-AADA-83F8542F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Better resource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62F8F-5B49-4A1C-BA05-CB62204A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Use each device for suitable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A1B67-94B5-49E4-BA30-FDD9AD1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649B9-E547-4FC0-B824-59AAF9B7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73616-0B88-436C-BD4A-60873644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Scalability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CD637-DBBE-4542-81FB-7B9DCD2B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MPI scales across nodes; threads scale within nodes.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11812-3B6C-451C-B648-BA2B6FAF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4FAFB-CB78-48BD-A1F3-9EED1CEE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9260B-DBA1-4399-9308-D15CEE32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Performance tuning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A91BC-B84F-4756-8A46-A395B28B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Reduce communication and exploit locality.</a:t>
            </a:r>
          </a:p>
        </p:txBody>
      </p:sp>
    </p:spTree>
    <p:extLst>
      <p:ext uri="{BB962C8B-B14F-4D97-AF65-F5344CB8AC3E}">
        <p14:creationId xmlns:p14="http://schemas.microsoft.com/office/powerpoint/2010/main" val="19146566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7E0746-AC86-48C6-BBF9-3E129668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92274-9D86-4DAD-8514-24FCCBD1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Hybrid programming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097D1-7AC7-43D1-8A62-5654E230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layers.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08B76-036F-491A-9C64-97B18918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A5CD6-DD9B-4794-B12F-96D0BF16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08A91-4AC0-4A3A-921C-BC8AE80E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175AC-4999-41EF-83BD-B4C1AE0A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Hybrid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F7138-688F-4FA0-BE5A-7BD36175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7D87B-2B1C-467E-ADE6-CF099645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A7B1C-C696-4356-AA2D-B2B6BF6C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Hybrid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D8ECC-D6CA-4DC5-84E0-A32D65D0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814FF-E933-4BF9-9E21-69A53AC7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42226-C737-4E12-B066-50329F9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633AA-3C76-4026-9217-E607E4F4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Across nodes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BA953-1FDD-49D8-B990-29143C6C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23C58-33CD-4540-8ACF-041EC6EA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C57E6-FDB9-4156-80D6-92E2AA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OpenMP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C5452-1C99-4302-8869-B4648A50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Within CPU node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ADE5B-61CE-4999-838F-C9E91E8A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F0F1E-5959-44EB-9286-4F091CC6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DEC43D-258D-4946-974C-89AF3481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CUDA/GPU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DFCEC-4779-47E8-B569-02A8516B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Accelerator kernels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9F5BC-709F-4E47-98BB-417BD7C4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442AD-E98D-4ECF-9799-AC760307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2C3B9-D12C-4C81-811A-60E3D3B8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Shared memory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7E45C-4500-4012-A007-CA75EA6C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Thread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945F5D-265A-4E53-A993-40B83425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975898-CF14-4786-AAB1-A8733A74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2303A-C6E3-48F9-A75A-EA31AF3A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Distributed memory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8F0177-A0AA-49CA-9E11-D6802E2C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Process 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26DA9A-8CA6-40FF-BA2A-17B5DEF6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DA2CDB-E388-4433-89BF-5BF55762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84AF09-7831-45AD-802A-46E4F8FD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Scheduler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94D4F9-D51C-49A4-B8F7-465C121A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21011385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78CAC-5C45-4180-8842-22FB2526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11F39-3C2C-4977-8775-D3797BBE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Hybrid execution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3F9E9-EE33-48C6-B837-F307DDAC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how a hybrid job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3369C-205A-4837-9170-65B2D44F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BD2A1-6E38-4FA3-B476-C5E893A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3A581-D451-4F53-93E5-C0C29DB4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981D3-6553-4ADF-BDC8-5E36055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Hybrid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B4F95-94EF-4E96-B517-867BCFB5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63221-A9F5-405C-BB18-EE577330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6AC5E-5B0E-4809-9BB2-7B868C27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Partition across nodes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6FB87-C36E-4B26-B046-A5B5FC7A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22D12-044C-4BA2-9BF6-69A7B825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143E3-B1EE-4850-A045-0001C238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Threads split CPU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8B80A-BA3F-40A9-AE8F-32528BF1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B75AF-C9AB-46DF-ABB2-5778A6E2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F984D-AFE9-4F89-AB55-CC8E9C6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Copy GPU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4AAFE-C573-4DA4-9D5F-AFB53003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08039-5A98-44B1-8403-6372A8BC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CF15B-09CE-4041-814C-6ED03A29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Launch kernels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4D277-8D80-43F7-B100-9C57923C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4BC50-A949-425C-999D-031437D4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9D325-B6F8-42F0-B5A0-BE7E5E12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Combine results</a:t>
            </a:r>
          </a:p>
        </p:txBody>
      </p:sp>
    </p:spTree>
    <p:extLst>
      <p:ext uri="{BB962C8B-B14F-4D97-AF65-F5344CB8AC3E}">
        <p14:creationId xmlns:p14="http://schemas.microsoft.com/office/powerpoint/2010/main" val="12673232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169C2-5DB4-40E6-9214-4C7C132F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40698-635A-493B-B7B9-6D3EE7DF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Hybrid programming 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2D0A9-046D-4FBC-B901-60379EFF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complexity.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8BABA-C04D-437F-A881-C225A292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9C20E-A505-4995-B823-742F45F5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0FDF3-45CE-4F71-BF0E-FE2220BB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E54E0-80CC-4F99-9586-AE68877F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Hybrid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9CC8D-ECE3-4E54-AB3A-7A38524C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1E354-627D-43B0-8DA7-8C1EE755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05992-C641-44B7-807A-4ABBEC5C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A4FEA-65CA-46D3-A205-6D83869B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More programming models must work together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A81A5-B8C0-4FCF-9529-1B0DA424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74BD3-61BB-463F-9784-394525B2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EC432-DE5D-4BC0-9365-D4781CAB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Data placement becomes harder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90C61-BDA7-458A-9EAC-D66A5053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B1F4A-5FB1-496A-BED5-EAE80DE4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677AB-D9B1-49F1-B47C-F3F798DE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Load balance across CPU and GPU is nontrivial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17845-2FE3-4EA5-A33D-690FBE56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C636D-AC25-4AB8-9886-2A90F95E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78CC7-E8E1-46A6-9589-95A984C4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Debugging crosses process/thread/device boundaries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90838-E922-4D24-AD37-9CAE99D4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81CAE-AEA2-4EE5-8C43-7612ACAD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371AC-9267-4CFF-8D75-3EA3DC75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Performance tuning needs careful measurement</a:t>
            </a:r>
          </a:p>
        </p:txBody>
      </p:sp>
    </p:spTree>
    <p:extLst>
      <p:ext uri="{BB962C8B-B14F-4D97-AF65-F5344CB8AC3E}">
        <p14:creationId xmlns:p14="http://schemas.microsoft.com/office/powerpoint/2010/main" val="18495538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CCA30-2C30-471B-A982-C754ED4B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3CB33-9FF5-447E-8C5D-BA5C3146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Why performance metrics are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5CB0D-7C49-4015-A062-F1719A2D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Motivate formulas.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9C2E5-14B0-4C1C-A539-77E9CE19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76FBE-7F09-4F05-B684-35899E4D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4036E-AA1B-457D-83C1-D0552FE3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1354E-9E50-46D3-92F1-E0C68C96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3F6B6-0011-4151-B93B-C644665B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AA683-E06B-4319-8048-231A49FA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A2A68-CF7D-42EC-B295-8C88E0DD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788F5-2A61-45C5-B054-FD07232F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Parallel programs can be slower than serial programs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A3E19-CFC5-442D-B413-67821264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C5C7B-635A-4CA0-A225-F5CF6AB0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38C65-E11A-4A53-9CDC-A7123BBF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Adding cores may increase overhead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3C002-DB19-4BBA-9DFF-CB2886BE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3D6ED-0C85-4AB3-BAD1-8E77B172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A81FA-AE19-428C-93F2-83FC15CE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Different machines require fair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D7A13-42AC-4C99-A68C-BA7C40D6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42ADB-7512-44A9-9667-96153E29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BD3FC-6548-489D-B216-48A80721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Optimization needs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D33DE-8DA7-4376-9D08-E5E370D0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A7FAB-E312-41D7-8702-F54A7CD3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97420-A746-4A45-99A5-FFA9210D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Speedup and efficiency summarize useful behavior</a:t>
            </a:r>
          </a:p>
        </p:txBody>
      </p:sp>
    </p:spTree>
    <p:extLst>
      <p:ext uri="{BB962C8B-B14F-4D97-AF65-F5344CB8AC3E}">
        <p14:creationId xmlns:p14="http://schemas.microsoft.com/office/powerpoint/2010/main" val="6797988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B3D99-E01B-4FBD-BF4F-3D61D38B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0F1E2-28B4-4529-8586-CA4B01DC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Sequential time and parallel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92055-15D3-49A4-A831-E5406DDC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the two base measurements.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D30EC-7E4A-4849-9D1D-F22914BA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04391-2AC7-46F2-9613-B7DED779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23094-DC3C-4A8D-8BDD-F0A7499B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233FE-4BAC-4D52-AD4D-43E53E20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06F05-EDB4-43D9-8140-E29DF311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F791F-6FBD-4BFB-A5B7-327C8D5D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9D2B0-B923-4A39-B12E-DC574447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EB7B8-B73E-42BF-9F1B-359083CE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Tserial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4C45E-CDEA-4494-A085-5CB08812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Time taken by the best sequential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A1CA6-66BF-4D4F-8CBE-221F04D9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286D2-E8D8-4BED-9404-977327C1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25C71-63CF-45AD-9BE9-F5F630B1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Tparallel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DC2C5-E8D4-4C9A-A318-0CD180B8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Time taken by the parallel version using p processing elements.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F5C4F-3F31-4A6D-98FB-16EEEA5E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6CC56-DBC4-4409-9019-E8481832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B4ADF-1293-40C8-863C-6C671E9A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Same problem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1B65EB-E545-47EE-B045-9FE6626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Compare using the same input size and equivalent output.</a:t>
            </a:r>
          </a:p>
        </p:txBody>
      </p:sp>
    </p:spTree>
    <p:extLst>
      <p:ext uri="{BB962C8B-B14F-4D97-AF65-F5344CB8AC3E}">
        <p14:creationId xmlns:p14="http://schemas.microsoft.com/office/powerpoint/2010/main" val="20844092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A2EAB-7E3C-4FE1-A88F-7362D04F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D103B-FC52-4537-9D88-50934AF2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Speedup in MIMD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00F02-9AEA-475B-A694-67CEBFB9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speedup formula.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06B4A-06AB-4934-B41D-852F74E9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80996-24C9-4AE6-B1F4-34D76FA1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9D889-E028-4CF3-A2DE-F34F4BA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5F9D7-5F81-4108-8309-07D904E2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6F90F-5E40-40E8-8828-6196824B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299C6-20EE-48E0-B7DE-94C9E56B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Speedup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CE3EE-3560-41E4-81B0-7415D380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590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E93D8-C2FD-46FE-8F55-96E07E2D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8FBFF"/>
                </a:solidFill>
              </a:defRPr>
            </a:pPr>
            <a:r>
              <a:rPr sz="2550" b="1">
                <a:solidFill>
                  <a:srgbClr val="F8FBFF"/>
                </a:solidFill>
              </a:rPr>
              <a:t>S(p) = Tserial / Tparallel(p)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7E388-7E04-414C-B986-42114F09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1990A-1046-4DA5-B44A-DC2798C9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D5D03-6251-4253-88DA-24DD7490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S(p) measures how many times faster the parallel program 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359F8-EDD8-4B2C-9C53-5F160B32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04F53-1845-40AF-B444-44AA5DAF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CBD43-F346-499F-BE90-209B4697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Ideal speedup is p on p processors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A9478-1E07-4EDE-ACFB-3167620F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FFC79-BB0F-48A7-BA39-CAC71DB1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076AA-3623-4CC4-99FB-098330F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Superlinear speedup is rare and needs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3F037-1947-4442-8B49-F063FF6C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3DDA0-ABF5-4FE2-BBF3-71DE7BBB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51462-AF95-4068-896A-240F8A4C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Low speedup means overhead or limited parallelism</a:t>
            </a:r>
          </a:p>
        </p:txBody>
      </p:sp>
    </p:spTree>
    <p:extLst>
      <p:ext uri="{BB962C8B-B14F-4D97-AF65-F5344CB8AC3E}">
        <p14:creationId xmlns:p14="http://schemas.microsoft.com/office/powerpoint/2010/main" val="4042241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D6387-01A5-4D20-80C6-600B23F4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45535-3BDC-4555-9C24-73C467AC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Speedup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49080-D6B8-421A-84BE-9B39F66B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the calculation.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A9C7E-2556-4388-9FB1-78742574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5F2A3-68FE-488C-92F9-E34C3953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BAF68-B3B2-4D8D-9336-50ABEC40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C4C48-D681-4BEE-B73D-A43A8C6E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E9D81-E8BA-439F-AADA-7613EC75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33D95-EC65-4BDC-A1E6-DABF762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22A1A-94BF-4B7A-971A-FE91F01C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Tserial = 80 seconds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Tparallel(8) = 12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S(8) = 80 / 12 = 6.67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The 8-core program is about 6.67x faster.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93B90-BEA8-4FAC-807B-78F93979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76F27-5BC1-4BBC-A518-45AC7A7C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598F2-FD14-45A8-A875-9DA577E1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Performance thinking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C31CB-8074-4B80-8767-C6CD5F3F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example as work split across processing elements, then measure actual time instead of assuming speedup.</a:t>
            </a:r>
          </a:p>
        </p:txBody>
      </p:sp>
    </p:spTree>
    <p:extLst>
      <p:ext uri="{BB962C8B-B14F-4D97-AF65-F5344CB8AC3E}">
        <p14:creationId xmlns:p14="http://schemas.microsoft.com/office/powerpoint/2010/main" val="16574482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EF757-005F-4012-99AA-0C5FD7E2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1CD16-CDB4-44D7-AD89-F6C026A7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Efficiency in MIMD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B56E9-E0AC-4D13-A905-3C4DFEC1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efficiency formula.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0897A-E3FE-4C89-938F-77000A7B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3A34A-9A59-4A1C-8FB1-92E82103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A940D-CA88-4BCD-94F7-5A26889A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5A5E6-ACD4-42EF-8757-D191A6A4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16661-36BB-4E36-9CB5-A597151D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DA2EA-BFD3-4331-BF75-C9883B10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Efficiency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BBE99-97FD-4562-85B1-F4DB4E31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590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9258D-CE45-4438-8B3F-5BC6C0BA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8FBFF"/>
                </a:solidFill>
              </a:defRPr>
            </a:pPr>
            <a:r>
              <a:rPr sz="2550" b="1">
                <a:solidFill>
                  <a:srgbClr val="F8FBFF"/>
                </a:solidFill>
              </a:rPr>
              <a:t>E(p) = S(p) / p = Tserial / (p × Tparallel)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4BDB-538B-4A51-8F8A-BD4E3670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B223C-BD95-4865-9FEE-7361588E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CC8A1-EE65-4CA7-B87E-1EAF7163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E(p) measures processor utilization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3C0B5-FBA2-4C81-9BA4-A655C56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3854C-EEDD-44CB-8574-F8ED108A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8BAB5-FB9F-41E3-869B-0E28C9DB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Ideal efficiency is 1 or 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48D29-E7E7-4F31-8D69-D6CB3D32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0016D-0EA9-4E97-B770-B824B428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06C3D-C062-43E5-B6A0-0DEE2C4F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Efficiency usually decreases as p increases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D6C70-8C3D-4555-9C6B-81A2753F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35CFB-0624-4164-B9CD-CB471A47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7EE9F-2BA4-409F-B2B5-962B6F40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Low efficiency signals overhead or imbalance</a:t>
            </a:r>
          </a:p>
        </p:txBody>
      </p:sp>
    </p:spTree>
    <p:extLst>
      <p:ext uri="{BB962C8B-B14F-4D97-AF65-F5344CB8AC3E}">
        <p14:creationId xmlns:p14="http://schemas.microsoft.com/office/powerpoint/2010/main" val="1881768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B742C-6C46-4D3F-AFF9-44829D50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D6C67-2CF0-4D90-9FF3-3E9F1127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Efficiency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B960F-5F28-40CF-899F-2A32B98E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the calculation.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3522E-CD4D-4485-8FB4-826ADC46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34686-85D1-421B-B236-55E0B3A4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BA81B-7A1E-4639-A483-DD616373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B70C2-F558-4454-94F9-D0BDF0E1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4014D-C755-46F4-8A72-0E51BD85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363CF-3F58-4473-BA4B-94ECF47F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DD1D2-DCC5-4E78-A4BB-BC61E94C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S(8) = 6.67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p =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E(8) = 6.67 / 8 = 0.834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Efficiency = 83.4%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8207A-46C0-4775-B4CF-8121DAD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572C9-7BD0-41F3-B725-D5BE0633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B2E31-CC4C-4314-846B-1F59A9BF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Performance thinking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37344-0553-40CA-ABFB-F92A880D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example as work split across processing elements, then measure actual time instead of assuming speedup.</a:t>
            </a:r>
          </a:p>
        </p:txBody>
      </p:sp>
    </p:spTree>
    <p:extLst>
      <p:ext uri="{BB962C8B-B14F-4D97-AF65-F5344CB8AC3E}">
        <p14:creationId xmlns:p14="http://schemas.microsoft.com/office/powerpoint/2010/main" val="10831371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694ED-A1FB-485F-A62B-4D71E899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23F93-735B-42AC-B934-58196D75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Ideal, linear and sublinear speedup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B11AA-7FE5-41ED-9351-75ACB86C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Interpret speedup curves.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40347-850D-4395-91AB-1DF4D9AB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35E2D-B35F-4B81-A0FE-28A68587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83F62-7C54-49CB-AEAC-B7413952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EBB38-5096-40AE-9648-4D9DAB80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601D3-FBE2-41F5-B66E-4D10CDD7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84A4C-A21E-4A6F-BB09-93350840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2DD36-5EA5-40E5-B3F7-A0E66D3C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5CCB0-18C5-4380-B4E4-1FE79A8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Ideal speedup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D8927-25B6-4C85-AA50-8A64AEF7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S(p)=p; every added processor gives full benefit.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09160-BA2A-4AFC-A9CD-8FBE7F1F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EA219-5DED-46F2-8DA6-980340A8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88F13-FC71-4D9A-8C93-04DF8B94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Sublinear speedup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CFA45-8185-4A97-8105-F857DEA5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Most common; overhead and serial work reduce gain.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5D722-8AF8-4DEE-ADFA-0D169AD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FC545-E9D5-47CF-9E8B-DAF81B7D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08AE2-ECB0-416F-9E25-528BE99E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0275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Superlinear speedup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88534-D4DF-4A3D-AE4F-E13C211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860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Occasionally caused by cache effects or better memory behavior.</a:t>
            </a:r>
          </a:p>
        </p:txBody>
      </p:sp>
    </p:spTree>
    <p:extLst>
      <p:ext uri="{BB962C8B-B14F-4D97-AF65-F5344CB8AC3E}">
        <p14:creationId xmlns:p14="http://schemas.microsoft.com/office/powerpoint/2010/main" val="8142832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CE4A2-AA90-489A-AC14-40BCBDD1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0D094-A3F0-47F3-9D2A-6172DB40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Parallel overhead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72306-DC5E-469C-B9B8-09E7D803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where time is lost.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CEAEC-3F71-461C-A5C4-35BDE084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B1C97-51A7-4C28-BD05-2A6EFC87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BB3FF-C8B7-49BF-9149-021F93B0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F4DEE-5233-4486-A870-143BC458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C7F3E-956D-42B4-A5A4-AC81DC9A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46918-ED2A-414E-968F-886B5F5F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Parallel overhead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CD11A-5AF1-422A-B592-90D35678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Extra time introduced by parallel execution, including communication, synchronization, thread/process management and idle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E0721-D7D4-46B1-9124-51000645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BB6B0-A8BA-4731-826C-AD5D5CA3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Communication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EA3A2-F1B7-4DE0-A2DC-C2A02B4B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05918-B52B-4C80-A86B-BEBE6235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F4FD7-B35A-4309-8B42-B6702FAA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Synchronization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6F47D-9AD0-48AB-A62B-4A5CBF8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080AB-ECDB-4896-B9E5-16175376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D78E3-DB28-4F4C-9E5F-CAC6D6D1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Idle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4A333-A2A8-4506-BFEA-B8293D1C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FDE59-06B8-4528-8668-E568987D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A714D-A7A0-43A6-9EBD-04656AFF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Startup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66F9FA-6144-451F-8C24-82FD2A1B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0417D-08F9-4F8C-89E5-48DF2FDF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FF8884-07A6-416A-B330-983C9C6E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Contention</a:t>
            </a:r>
          </a:p>
        </p:txBody>
      </p:sp>
    </p:spTree>
    <p:extLst>
      <p:ext uri="{BB962C8B-B14F-4D97-AF65-F5344CB8AC3E}">
        <p14:creationId xmlns:p14="http://schemas.microsoft.com/office/powerpoint/2010/main" val="8392887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8C4A2-66DC-4C82-A98E-CFC62DAE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DD9B4-989F-410F-911B-4AF884E7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Load balance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5EC85-0D7D-4E0F-BD38-A8C06060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equal work distribution.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1C400-8F71-4B07-86AA-571E6ACE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9EE1B-9095-400D-8884-33D75E12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1A3EC-111C-4DCD-A3FB-8ABD6E27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F06B5-0658-46B5-A90D-4DE3771B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CD47F-9FF6-4E7B-82E0-D44D7E2E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31EA0-E3B9-4525-8991-082B45D5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Load 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62CC0-F0D2-47EB-ABAE-59E34E5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condition where processing elements receive roughly equal useful work, so no worker waits long for another to finish.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0FBDC-0DA0-4532-B4EF-4665A149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91432-83B6-4F2F-90D4-57EEC3FC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Equal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A87A3-8E98-4D87-B7AB-66A68D84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62736-774F-47F9-B688-98DA5872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7FC6F-C4C6-4C4D-B1C6-80B8DA0B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Idle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06670-9DCD-4C59-8122-164B5A09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EFA6D-0FC5-4524-8A59-15F8741E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8B367-1DD3-4695-9E9E-D570ED43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Scheduling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E6ED0-0D7C-4E87-A096-4A84AB38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11A0C-EF76-4E53-B6D6-66672A56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6EF1B-E79A-4A35-81E4-87E573CC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Granularity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A5CF0-4B9C-4466-A3D1-81D6EC7C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09DDC-8A7B-4037-8BED-DB5706C0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C8743D-B62B-42CF-9023-86F9F93E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Utilization</a:t>
            </a:r>
          </a:p>
        </p:txBody>
      </p:sp>
    </p:spTree>
    <p:extLst>
      <p:ext uri="{BB962C8B-B14F-4D97-AF65-F5344CB8AC3E}">
        <p14:creationId xmlns:p14="http://schemas.microsoft.com/office/powerpoint/2010/main" val="26131714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1290BD-DAA1-4B50-B4E8-A26C985E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B3583-02E1-4EDD-9A0C-4E08C1F6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Amdahl's law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B463C-4DF7-4CE8-AD57-353652FC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the limit from serial fraction.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4E98C-F99D-4988-B147-BEC7595B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F492B-61B6-435F-A3EB-80E12C97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91F88-A5E8-4A86-9965-0B0730CD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199D4-150F-46C4-B811-71AE6C09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Amdahl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9E06B-A732-4BC9-9F00-9A09C087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F0EB-692E-44CC-B8CF-FA7A05DA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Amdahl's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514D7-D25C-4AE0-9A6F-BDB4A047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590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77DB0-E55A-4DEF-8F42-7E17A1DC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8FBFF"/>
                </a:solidFill>
              </a:defRPr>
            </a:pPr>
            <a:r>
              <a:rPr sz="2550" b="1">
                <a:solidFill>
                  <a:srgbClr val="F8FBFF"/>
                </a:solidFill>
              </a:rPr>
              <a:t>S(p) = 1 / (s + (1-s)/p)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61793-E4ED-4279-96BF-9C6A8D79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541A0-1DEF-4EB8-B245-23FA52D6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963C2-F092-472A-9C0C-8B5E4480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 is the serial fraction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2CA76-799F-4A2D-8853-44F61E55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FBCE0-8000-4546-927A-37E75560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8B04D-8002-429F-8DCF-640FE98F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1-s is the parallel fraction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9F6F4-D99A-4286-B6E0-B2EEF09E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6CD61-C0E2-4A19-BA7A-A8EC44E7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27F68-1300-464E-9BAE-8E0B56EC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Serial work limits maximum speedup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6F025-60E2-49E1-AB5E-87557002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6DF57-ADFD-41CB-867F-A6E5A5D8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29A810-011B-44AD-9728-70EBDAE8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Adding processors gives diminishing returns</a:t>
            </a:r>
          </a:p>
        </p:txBody>
      </p:sp>
    </p:spTree>
    <p:extLst>
      <p:ext uri="{BB962C8B-B14F-4D97-AF65-F5344CB8AC3E}">
        <p14:creationId xmlns:p14="http://schemas.microsoft.com/office/powerpoint/2010/main" val="14396717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0BEDF-1A97-44B0-ACB7-475C4313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90A2A-7350-4856-9EB7-21F126F3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Amdahl's law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9EC5F-BF49-4B23-A135-765BF78F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why serial code dominates.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08E9B-F8D9-4A2C-B3F3-EF4D7EFD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67114-F66E-47AA-8DE5-C3381904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FF17A-0DB4-42B7-963B-2216765B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53DF5-6A2B-4D1C-A01D-4BB41A2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Amdahl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8910F-BDC7-48AC-952D-5EC49232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4CBBE-D58A-49C4-9C25-E169819E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AFE22-CCA6-41A1-8E49-59562BDF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Serial part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E9FD4-5FD9-4356-8155-89F956C4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E3995-A77D-42AC-95AB-DC9DB8C8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F57EB-5E25-4F67-981D-D891E6E9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Parallel part split over 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75D55-74F9-4CF1-A972-AE89BC05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85A4A-9ED7-4D50-B963-6B292026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307EB-4092-4D3B-8173-588064CF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Overheads added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6AAFD-0FC2-40C4-86F4-BBBAEC92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C5CEF-2E61-49CD-AC59-A0319E0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5B54A-0CFB-4F16-B994-4EA530D1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Total time remains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CDAA7-01C7-4189-B2A4-E114C7A4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39D7C-8025-42FA-B6C0-448B8373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72C68-60BA-40EE-B83F-7B9AA6F1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Speedup limited</a:t>
            </a:r>
          </a:p>
        </p:txBody>
      </p:sp>
    </p:spTree>
    <p:extLst>
      <p:ext uri="{BB962C8B-B14F-4D97-AF65-F5344CB8AC3E}">
        <p14:creationId xmlns:p14="http://schemas.microsoft.com/office/powerpoint/2010/main" val="48078887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CB59-7CC4-4519-8A0A-7F707EF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B3271-C6D1-406C-871D-AFDD468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Amdahl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B2436-6BBB-43F4-8CA6-B67F0C60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formula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277EC-3FEE-4D35-BA88-4C266ABE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5A344-3682-4282-96E3-EE990DCF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568CE-DBBD-4616-AC54-82C49180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38EFA-BDD3-4F2B-ADF4-585BE6C3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Amdahl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822F6-C017-4FF2-A1AA-27648A80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72994-478F-4DAD-97F7-04FBA0AB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07FFC-F61D-40F1-AAFC-13842C9D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Serial fraction s = 0.10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Processors p =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S(8) = 1 / (0.10 + 0.90/8)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   = 1 / 0.2125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     = 4.71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8AC06-79DF-4540-A368-D337C250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B6621-702D-4DFA-BE3D-C8A17E12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1A518-C980-451F-9AD6-099036D9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Performance thinking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C8C45-D407-48FD-95D1-FD116965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example as work split across processing elements, then measure actual time instead of assuming speedup.</a:t>
            </a:r>
          </a:p>
        </p:txBody>
      </p:sp>
    </p:spTree>
    <p:extLst>
      <p:ext uri="{BB962C8B-B14F-4D97-AF65-F5344CB8AC3E}">
        <p14:creationId xmlns:p14="http://schemas.microsoft.com/office/powerpoint/2010/main" val="178632480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6B485-3E0C-4010-BCD4-7FBF98EB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47AD0-C0C8-4680-8585-330ABCD1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Maximum speedup from serial fraction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B3BC2-37EE-43B4-8697-D921FE0A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upper bound.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5BFC1-44B3-439A-85F0-8147BD1F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F199E-2C9C-4250-AAD6-631F1400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12502-7FFF-40FD-B5D4-634AA54A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CA2FB-99C6-4D81-AD95-B783BC55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Amdahl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E6A1A-37DE-4424-9838-4DF4A149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9EA27-FC94-45C8-A4C6-90CDFFD0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9F1C"/>
                </a:solidFill>
              </a:defRPr>
            </a:pPr>
            <a:r>
              <a:rPr sz="3450" b="1">
                <a:solidFill>
                  <a:srgbClr val="FF9F1C"/>
                </a:solidFill>
              </a:rPr>
              <a:t>Upper bound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2D08E-FDBF-4F66-8CD3-E50F6EDA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590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9746C-56FF-4658-9987-E0A3B496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8FBFF"/>
                </a:solidFill>
              </a:defRPr>
            </a:pPr>
            <a:r>
              <a:rPr sz="2550" b="1">
                <a:solidFill>
                  <a:srgbClr val="F8FBFF"/>
                </a:solidFill>
              </a:rPr>
              <a:t>Smax = 1 /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560B4-BECC-4105-8C4E-38DB05A1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DD93F-E5E7-4210-8AD5-D50738BE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31D39-7B40-4DE8-A62A-3E9E5D35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If 10% is serial, maximum speedup is 10x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835BD-3C4B-4BF5-8883-FA8A0DB9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0747A3-5CB9-4325-80E7-8B00A2C2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A5CB2-4EC8-4C0C-B908-9AE624AE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146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If 5% is serial, maximum speedup is 20x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88AFD-816F-4D65-BC6C-68F59871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77E2F-3926-46F0-BD2F-1E09E935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4CA1D-E99A-4403-887E-1A7727F3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This bound holds even with infinitely many processors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88C98-580D-45A2-9AAB-FC5280A9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E6357-B6FB-484F-8F89-09A81221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814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50CD7-BC0E-41F2-9663-1511D28A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Reducing serial fraction is often more valuable than adding processors</a:t>
            </a:r>
          </a:p>
        </p:txBody>
      </p:sp>
    </p:spTree>
    <p:extLst>
      <p:ext uri="{BB962C8B-B14F-4D97-AF65-F5344CB8AC3E}">
        <p14:creationId xmlns:p14="http://schemas.microsoft.com/office/powerpoint/2010/main" val="18694860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C6EC8-C93E-452B-986A-64F73FD7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F8A9A-515C-4B55-81B9-4BDEACAE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Amdahl's law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8704F-36E6-4C5B-AFE9-0D6EEB59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Correct misunderstandings.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23635-25EA-42BA-899B-676F76D7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8E360-44EF-4A5F-8A4D-8960ECCB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E55CD-6C90-47F8-83DB-778A9021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DEDC3-789D-4881-BCBF-980D1014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Amdahl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9091B-644B-4F9B-9D42-86B98B3B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15AD9-EF03-4B51-8035-F3D3E1F6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4E858-2A0B-4A15-A6C3-2493DDEA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71FCA-2A1F-4BEC-9DB8-037D5F1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Using percent instead of fraction incorrectly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4BD59-D547-4C23-939A-DE85F721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412C8-5C35-460C-9635-F798F84A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AA48C-CA0F-4CFD-B028-A509E89C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Ignoring parallel overheads and communication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157B8-3BE8-45FA-BFE4-684FC83D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9DF3E-FD46-45D4-87AC-A706ACA1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6D758-FBE3-43D8-ADCF-C690DE1A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Assuming speedup grows forever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E740B-417D-4BB9-B680-FC08FAA8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59766-99B6-4BFC-B2CD-B84C49CA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5FE65-CFB7-4399-95D1-85B423F0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Using different problem sizes for one speedup calculation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D6482-8E32-4289-9692-AAE29D5F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51077-7C89-4F87-B600-447C23A4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3FB681-BE90-406D-83B5-7610168E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Comparing against a weak sequential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687695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F0B0C-6118-4F87-A4F2-C631AD0F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A6CED-6CA3-4583-B367-709D3DF9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is scalability?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97476-5002-474E-84D8-45C971B9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scalability in MIMD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CDC9C-DA62-4D51-9E93-4611B1BE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ACDD2-BDD5-460C-96B4-CC5D8DCC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365C7-F7A1-45E1-994C-5A5A00A2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5D74E-B3F4-43FB-A6BD-5C6E0DCB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Scalability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4AC51-A615-476D-8224-6B0DAC10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7385C-D2FA-47EB-AF56-11981200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Scalability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0BB23-FF7E-4E92-A433-AAEEA11C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The ability of a parallel program/system to maintain useful performance as processors and problem size increase.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20D2D-0F58-4ECC-AA92-C729F251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D9501-50DB-4724-B00F-3EA0422F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More processors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9B6DF-230C-4B89-9592-E3F5D2A2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5C2CC-57E2-4509-9C92-1B0DC9EE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13A06-A7FE-472E-B40E-9C75857F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Larger problem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44E6A-E52E-44AC-A19F-27ECDEA2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1645B-F365-4064-A17A-C40D4014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3CD9A-85CA-4417-B339-9DB03EB2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Efficiency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2E607-F613-4BC2-9BE5-D15BAE45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536FA-2141-4DD6-AADE-69D06FBB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F08A1-435D-4564-8727-58DE959A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Overhead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2C43A-A768-4F76-A715-CD3093E5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1FEF9-B323-4FF6-817E-26EFE9C6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51B34-78A5-42AC-BD55-8F238781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Growth</a:t>
            </a:r>
          </a:p>
        </p:txBody>
      </p:sp>
    </p:spTree>
    <p:extLst>
      <p:ext uri="{BB962C8B-B14F-4D97-AF65-F5344CB8AC3E}">
        <p14:creationId xmlns:p14="http://schemas.microsoft.com/office/powerpoint/2010/main" val="28153292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355578-E021-4F5A-A1ED-3DC8A135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7812F-2312-489E-98CC-98D0E940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Strong scaling vs weak scaling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334E2-2A4C-47E0-A929-E0407B52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Give the core distinction.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CC064-F08A-467F-8BEB-27F98AB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31B1E-A98D-4F25-8433-5FD94BBA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132E0-4CB3-436A-BCE5-C40C0AC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91F92-2D44-4DDA-9917-2BC41043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Scalability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F8F07-928E-438A-A156-37DD2CE6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99FEB-B83B-4B7E-99CE-227E2056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80488-7021-4A92-803B-67C93997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E44A0-F76C-48D6-B3CB-96F6CFDB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Strong scaling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6976B-C761-4887-A87D-D744896A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05FF1-4861-47DD-809F-40DEB213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8E266-F44C-460A-AD70-285E7DCB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1526E-856B-45B5-BAEC-B7F20179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Weak scaling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2790B-76F9-4F54-A905-37A37A50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4C27B-ABC1-4C82-8788-43C5F7A2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F97FA-8317-406D-9235-057BCFA5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65F92-662B-4988-838E-2B7CFCD8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Fixed total problem size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D9C2C-EBF1-4130-BDD8-F45BFFF1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803A7-9305-4F39-A07C-1E874C3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B148B-B9E8-41F1-9025-771E6143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Increase processor 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5F5E3-B150-42C5-B71F-3C5893AB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3DFD1-692C-4914-BB2D-5166223F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AFCF50-6EDB-4426-9117-46A69C80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Goal: reduce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727AC1-808F-4D33-B110-FB1000DB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07461-1054-4BED-9D08-AB83E52E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87F3CA-B21A-4ABC-98A6-73E03043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Efficiency often drops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AAF1B7-AB2A-4CED-8A67-8FB4F0DB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EB6459-BDA3-4CE6-8B3E-EF332904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95A721-1D03-4969-8992-175956CE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Problem size grows with processors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1B6A5B-315F-4E5D-BA27-AD51FE63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7C7F86-9794-4D0F-A2D7-F08D3385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B325E9-D983-4C30-A736-C79EA812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Work per processor stays similar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297725-E29F-45D3-B39C-8CEA23C3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280BF-0F96-4FB1-A656-948FD130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2466FD-68CD-4632-AF60-A12D57EC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Goal: keep runtime stable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5E3AB4-D691-4C14-9CFB-065303A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B86520-A4BC-49B9-83F9-905C69EF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FDC305-4325-49B1-A5CA-5F027E21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Tests larger workload capacity</a:t>
            </a:r>
          </a:p>
        </p:txBody>
      </p:sp>
    </p:spTree>
    <p:extLst>
      <p:ext uri="{BB962C8B-B14F-4D97-AF65-F5344CB8AC3E}">
        <p14:creationId xmlns:p14="http://schemas.microsoft.com/office/powerpoint/2010/main" val="826821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386D9-C948-4C85-A9B2-6CC5F2C3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98AD3-14AC-4D93-B0A2-B6C91D06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Strong scaling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43434-D306-4183-818A-275FEAD7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how to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0E4D1-B518-4A8F-A191-D9401A9B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AD123-9031-48EB-A711-9367E464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4CE6C-6A39-4B18-86A6-D37D4093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ED4C0-7FAD-408C-9965-7532AC32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Scalability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7F20C-841A-4684-9668-A72AE4E1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A6073-2C55-4DBE-B435-936BA896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7B380-FDED-490A-AA2B-787C6CFB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Fix input size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B6157-E465-4C67-AB4A-2D27180D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89C70-DFD2-4150-ACC3-C7452421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E806A-4680-4CEC-BEB3-3E374412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Run p=1,2,4,8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8C61A-26B2-4522-9710-512A7F29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BC912-F8DF-4BFC-B88B-86F39801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A73E5-342D-4B3A-B587-43A40C58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Measure times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C171A-A4F4-492B-B73E-39347BCD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D4418-63EC-45D8-9ED2-E6597087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831B1-06FB-4F58-A798-9CDEF10C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Compute S and 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23CF3-B52E-4BF8-B172-2664D619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E568D-2F7F-4227-AFB0-41DB12C6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18A0E-C176-47A6-A33A-EE000BBF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Find useful limit</a:t>
            </a:r>
          </a:p>
        </p:txBody>
      </p:sp>
    </p:spTree>
    <p:extLst>
      <p:ext uri="{BB962C8B-B14F-4D97-AF65-F5344CB8AC3E}">
        <p14:creationId xmlns:p14="http://schemas.microsoft.com/office/powerpoint/2010/main" val="204177839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8165E-9C93-4FBE-A15A-D5791776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80559-14CD-43BB-948E-BF8B8F8B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Weak scaling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178C0-A510-4213-8005-7116A574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how to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816EF-0881-40C4-B1EF-61395A56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04DE5-3640-4330-AB35-16153B03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C861E-79B6-406A-899F-27B092F6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38B93-A625-410D-AD84-C86E3A25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Scalability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69EA0-18EC-4731-BDA0-E901B777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6D6C0-A3D6-4D18-A6CA-6DDA719A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91CDB-66C8-4755-A02F-813F8A0C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Choose work per processor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9C91F-3111-4971-BD5D-EA147D4D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39DA9-BCC4-4ADA-A624-4F90C558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81E60-DB3D-4266-9737-C7B98AEE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Grow p and n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8DFB7-ACE0-41DD-B7F7-50222C05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1B809-A206-4C2D-9477-0460F97B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10A1B-1DF2-4DA4-8C2A-EBDF80A0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Measure 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6A880-7304-465F-A33F-5977A11B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37D23-FC07-4ED2-9051-4FB018C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2F372-923E-421F-BA3D-28FAC595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Check 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3572D-87B3-45B4-810F-20F5A9B5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36A58-A30A-42DB-A0DB-F937D505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FBD573-FA90-4ACD-BC2A-81091A26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Judge scalability</a:t>
            </a:r>
          </a:p>
        </p:txBody>
      </p:sp>
    </p:spTree>
    <p:extLst>
      <p:ext uri="{BB962C8B-B14F-4D97-AF65-F5344CB8AC3E}">
        <p14:creationId xmlns:p14="http://schemas.microsoft.com/office/powerpoint/2010/main" val="7597643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9A24D-C4B7-4314-A29D-9DED0BBB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91AEE-DF19-4C70-BDA1-ABCF95EC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Isoefficiency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EBC36-425B-4778-A271-BC354896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advanced scalability idea lightly.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9D7C0-3167-4A14-9C73-2CEB7FC1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A342C-FA27-4764-B77E-034D6F25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3B950-BA91-423F-A65A-1E583649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9C60F-324A-4F16-B935-5CD3AC21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Scalability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49621-689C-42F9-85BF-7C11A831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94636-DDB1-41F6-BB23-588CFB49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Isoefficiency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52E1D-70FE-4584-925F-FE049E2C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A way to describe how fast problem size must grow with processor count to keep efficiency approximately constant.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8F3BA-D627-4E8F-ABD0-C07FF206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FFEE3-B2EE-4C13-919C-886566E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Problem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B5873-DD2C-4CDE-AC0C-C026FEFB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61770-F710-444A-848C-7A75D021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3A1D0-C497-4212-AFDE-C0362BE3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Processor 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1F946-C3BA-44A9-ADD2-9718739F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DA2AC-6E78-4557-B462-61963BA9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328D4-F0F2-411A-9ACB-3CF5F825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Efficiency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B4F1A-B9B2-44A8-B03C-EEEC9DC7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F170F-410A-40AE-A190-34D171DD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39FC0-68AC-4DF9-8E66-5047820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Overhead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90619-50ED-4CC7-B871-D26B8208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09CD2-A782-4169-BB56-6E186165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07C42-790A-46BF-9F70-4A1C1D3F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56637591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5381F-20A1-488E-8F7F-E8B3D780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C59F5-E141-4BA8-A082-14337744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Taking timings of MIMD programs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3D081-B6E0-4E6F-A204-4E1FF447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measurement discipline.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9777F-5457-43A4-8745-E8C9A597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3373B-E1D3-4182-9FFB-E0BD565A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D9FBF-F51F-41C8-9081-B1CA6606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50078-2DBF-4F37-8DF0-125C5B57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Timing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C40C1-2080-4A68-8952-D9B1771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C3125-3248-4A31-95D4-A6609698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502DA-27DA-4404-8A8A-7E0C198A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Select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8F4D4-DCBE-41D9-B76F-00261A8E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A2822-9C13-4637-9B95-2AEBFB2F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F593B-3489-46AC-887C-DE15E0D0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Warm up/check correctness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A5598-62F9-4129-AE7A-AE000B9E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AEE20-D6E8-4318-94D7-214C521F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3C57C-9494-4E8C-9275-BE5D9E4F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Start timer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05B39-1806-480E-A35A-D9646384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62926-A5F4-4E5E-BF31-EC6AABA8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4C554-19E2-4DBC-8B26-E26A8BF5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Run parallel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B9F32-B5C5-489B-BFC3-B8E55B6F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28A38-6B85-40AE-8A5A-CF14B584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AFA83-C1D7-4BA8-A1BB-3A99834A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Stop timer</a:t>
            </a:r>
          </a:p>
        </p:txBody>
      </p:sp>
    </p:spTree>
    <p:extLst>
      <p:ext uri="{BB962C8B-B14F-4D97-AF65-F5344CB8AC3E}">
        <p14:creationId xmlns:p14="http://schemas.microsoft.com/office/powerpoint/2010/main" val="106052029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06A99-9818-48F3-ADD1-D3457D4E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57711-4C73-4AE3-8B64-E51B8E2B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Timing functions and barriers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6CF4C-0293-4421-8228-77908354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common timing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E80FD-A206-4E63-910B-89A53373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5DD81-1F22-45FA-BC48-10023AC6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90F31-8D4A-48AE-B125-2B1B3B51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EAEEB-F253-4251-B64B-E3D9825F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Timing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5F586-8EB3-432D-9710-9D264E6A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CDCE7-E6AD-4DA7-B7FE-541462AC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1B27A-2DDE-4CB5-B496-4B0E6E3C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6F4BC-4A5E-4759-B13D-4587A0D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Use wall-clock time for parallel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ADFA7-6C4D-4385-B310-866051D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BB24D-269B-48F4-A18B-8859E8F5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00CA0-491B-4874-9E35-49FFC4DB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Synchronize workers before starting timed region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F6A65-56DE-454E-883D-C2AEFD5F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CD84A-5FDA-4CBD-9E31-290F4CDA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3FB39-1427-4A21-BA73-B6857053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Synchronize before stopping timer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56BA3-57FF-4418-B53E-CB5AADD8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EF759-DDDF-4D0D-9B05-2892C7DB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71834-9212-4C37-BD3F-18F5D984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Run multiple trials and report representative 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D55F5-D992-4CD9-9A66-BD0C9D5A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32067-9138-4366-A374-FC09046B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0103F-19A0-4260-AD3F-8A80E498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Avoid including unrelated input/output unless it is part of the workload</a:t>
            </a:r>
          </a:p>
        </p:txBody>
      </p:sp>
    </p:spTree>
    <p:extLst>
      <p:ext uri="{BB962C8B-B14F-4D97-AF65-F5344CB8AC3E}">
        <p14:creationId xmlns:p14="http://schemas.microsoft.com/office/powerpoint/2010/main" val="67707300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BA808-4021-4A7D-9A2A-923F8AAE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88E9E-90B2-4ABB-902B-96AE7EA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What to report in a timing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75C83-C5A2-4321-9F99-015FF03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result format.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665D9-7558-4867-938B-B88DECD7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0D0D1-534B-454A-9B73-ABFFE76D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F9F62-8110-48CA-9891-461A198D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F9535-2E5A-47C4-AE33-00BD4163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Timing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C0E3F-75F1-4348-BCF2-E4845131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F9054-E3BF-485D-BFCF-19D56E03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DDC0D-E076-4C8B-8741-EAB3E359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1BC1B-21C2-4300-B1F5-9C302BB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56F71-D8FD-4F0C-97B7-584C9BD2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Number of processors/cores.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5DEE0-E6CC-41E8-A62A-B4D37020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57EAA-56EF-413A-9681-8977A61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F1B71-72C8-4FF8-AE1F-36A8B285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T(p)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378A2-9B88-443C-8A8E-3C2414B3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Measured parallel runtime.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28E69-E85C-4713-B465-A674C463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66CB3-5794-4F8C-BC3C-F1767F8F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A1800-35D8-4CF3-86BB-4A7F777A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S(p)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2CC9C-8B39-4061-8634-C6626381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Speedup relative to serial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317F2-C31A-4784-9B9E-8D1C4C17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63086-7D7C-4160-8C5B-FB480623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7563E-B443-42EB-9A6F-BD8FF21B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401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E(p)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7D72B-38AD-47FB-A825-1D929559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0195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Efficiency S(p)/p.</a:t>
            </a:r>
          </a:p>
        </p:txBody>
      </p:sp>
    </p:spTree>
    <p:extLst>
      <p:ext uri="{BB962C8B-B14F-4D97-AF65-F5344CB8AC3E}">
        <p14:creationId xmlns:p14="http://schemas.microsoft.com/office/powerpoint/2010/main" val="173991164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D22EE-F48A-4937-8B7A-A3F3580D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99458-B710-452D-B13E-641C6421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Timing pitfalls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3B042-9363-4A13-81CB-3D86D485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Prevent bad measurements.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68A55-A1FA-4B92-B0E4-C6107016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C775E-C379-4D07-928D-60846633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34521-F2E6-4549-93E0-698B1D44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D755C-D734-4566-9009-396AB76A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Timing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5E410-2A28-4B03-8C1A-4E838068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C973C-4F09-4131-BEEF-2D0BA5E1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D8DF4-FC3C-4545-8217-27635F94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FA300-6848-485E-A907-EF9EC51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Measuring only one lucky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0BFC5-4F76-4D70-8DAF-E04457B9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F0A40-0DD8-454E-958F-9812119D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C611C-D942-45D9-92C0-6F70F400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Including print statements inside timed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79F7D-AF8D-465F-A84C-5983F279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C3318-B538-4ECF-83F2-4165D53A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0DEC1-FC15-4716-9409-294908D5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Changing input size unintentionally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E0D3D-05F8-4DAC-8CE4-FC1F51AA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AC11C-5344-4FF7-A173-EA42D5E8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28DF2-D763-4D60-A7B5-9C8B63BD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Ignoring data transfer time in GPU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7D1B8-32D5-4303-AAD9-697F2C4F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B29A9-3D84-4DC0-BBC4-E14D2AC3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64270-7358-484B-B88F-7DCF165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Using debug builds or background-heavy machines</a:t>
            </a:r>
          </a:p>
        </p:txBody>
      </p:sp>
    </p:spTree>
    <p:extLst>
      <p:ext uri="{BB962C8B-B14F-4D97-AF65-F5344CB8AC3E}">
        <p14:creationId xmlns:p14="http://schemas.microsoft.com/office/powerpoint/2010/main" val="150476394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0A85A-41FD-4B60-AF75-FE4FBC17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CAFDF-6412-4254-8F81-B9499C1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performance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591CA-5B3E-4FC5-9AF7-9BAFD4AE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Identify GPU-specific costs.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C4014-77FB-4BEE-94C9-2DA52E8F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F9C30-FEC8-4B3B-88F3-517319FB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77758-C4D6-4F72-A1C6-068D17A1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9D4D3-486E-48E7-B83A-802F13E9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CF24B-34CD-4CC4-B513-D72742B4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87C32-5CC5-484A-BD83-0BF5A5E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B36CD-FEA8-496D-B498-2E411AC4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Host-device transfer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690CE-9819-4E08-87B5-B4ECC211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A823F-4A41-45B9-B2AF-49B974E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AD30F-FB3E-425F-853A-B62C009B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Kernel launch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94542-E050-4979-BC22-5410B5B6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48AA9-8F7E-4589-9EEB-DD759D99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BB103-42F7-48DE-B7C9-F3B593BB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Parallel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D31DC-5A5C-430C-B0E3-715CF937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ED3A1-1184-41B6-BFB4-2F7C5E43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74E69-5047-4827-A153-7EC9D0CE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Memory access pattern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62CDD-0BD5-4BCF-982C-AAD67C12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04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443D3-D2C2-49EF-9B6C-B42AF1B0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DCC7B-1787-42DB-9844-E0D5E288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76575"/>
            <a:ext cx="16230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Result transfer</a:t>
            </a:r>
          </a:p>
        </p:txBody>
      </p:sp>
    </p:spTree>
    <p:extLst>
      <p:ext uri="{BB962C8B-B14F-4D97-AF65-F5344CB8AC3E}">
        <p14:creationId xmlns:p14="http://schemas.microsoft.com/office/powerpoint/2010/main" val="187995177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76807-D087-4451-805A-88AD2871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E1C4A-3379-4A2A-A8B3-E302FB57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GPU speedup calculation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AABCB-5A1F-4613-BD9C-F90C1D80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Adapt speedup to GPU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8411B-6104-4B80-B981-85540421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035D9-9DCD-4157-A277-32B09DD7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FEA72-B83A-4572-B891-3893D418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70122-F1EA-4EA3-9494-0D4BEA6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5C98C-54C1-4AB6-A5C0-ADA25C85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6C265-1205-46FF-B9ED-394CB305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6191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47328-DC1E-4662-984B-BAACAC0A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721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CPU time = 2.4 seconds</a:t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GPU total time = 0.30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GPU speedup = 2.4 / 0.30 = 8x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FFBF69"/>
                </a:solidFill>
              </a:defRPr>
            </a:pPr>
            <a:r>
              <a:rPr sz="1800">
                <a:solidFill>
                  <a:srgbClr val="FFBF69"/>
                </a:solidFill>
              </a:rPr>
              <a:t>Include transfer time for honest reporting.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FC92C-7B97-4484-8FAE-951230D2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66E7B-A22A-4050-ABC6-38FFC4C8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F7D48-37E3-4AC1-9864-C5FDA9C2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86025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Performance thinking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3C021-D920-456F-8467-8409142E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28765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Read the example as work split across processing elements, then measure actual time instead of assuming speedup.</a:t>
            </a:r>
          </a:p>
        </p:txBody>
      </p:sp>
    </p:spTree>
    <p:extLst>
      <p:ext uri="{BB962C8B-B14F-4D97-AF65-F5344CB8AC3E}">
        <p14:creationId xmlns:p14="http://schemas.microsoft.com/office/powerpoint/2010/main" val="125732295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4DC62-539B-48F6-978F-8BF0D624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9687F-5196-4AEF-8A17-AAA1D544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Arithmetic intensity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9D026-9C9E-4BBA-B633-1835D7CD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compute vs memory balance.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A15D2-D2EF-4687-BEDF-98F1F3FC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1060D-5004-46EC-8504-6173D43A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5DDE6-AEE6-4324-A2D5-62F52191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7E465-4907-4339-B647-9E739728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80B35-D6A4-43D7-B46D-9BE5A12F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DEA79-E921-412B-A59E-6ACD11CE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9F1C"/>
                </a:solidFill>
              </a:defRPr>
            </a:pPr>
            <a:r>
              <a:rPr sz="3750" b="1">
                <a:solidFill>
                  <a:srgbClr val="FF9F1C"/>
                </a:solidFill>
              </a:rPr>
              <a:t>Arithmetic intensity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C9345-125A-46FA-8D3F-74CC085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8FBFF"/>
                </a:solidFill>
              </a:defRPr>
            </a:pPr>
            <a:r>
              <a:rPr sz="2175">
                <a:solidFill>
                  <a:srgbClr val="F8FBFF"/>
                </a:solidFill>
              </a:rPr>
              <a:t>The amount of computation performed per byte of data moved; higher intensity usually helps GPU performance.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2E1B0-8874-4CAB-BA56-149BAA08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E7CE3-0E69-4C1B-91FC-FBA506A5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962FC-FA46-4AEA-AB00-CFC32406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1FA4F-614E-484D-9D66-521C5479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0B0C5-69A8-443D-97BF-63E5214F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Bytes moved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59287-E5D0-458E-8D02-0811E31B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FB39E-B06C-4D39-BF5C-5D3FA7D9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ADE33-1607-41C6-8C71-1EAF2121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Memory bandwidth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43F3C-FA17-4BE2-A1A1-ECEFA27C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95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5A7A2-FD5C-46FA-8CD5-E738C64B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B6C18-577F-4AA9-9F22-DDB4F865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10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Compute bound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2EDBD-039B-4B35-84C3-25744EC7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65" y="47720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028F7-F1C3-4394-B4C4-774927F9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4476750"/>
            <a:ext cx="169926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038CF-2AA7-469B-AEDA-95D55810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415" y="4648200"/>
            <a:ext cx="147066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BFF"/>
                </a:solidFill>
              </a:defRPr>
            </a:pPr>
            <a:r>
              <a:rPr sz="1425" b="1">
                <a:solidFill>
                  <a:srgbClr val="F8FBFF"/>
                </a:solidFill>
              </a:rPr>
              <a:t>Memory bound</a:t>
            </a:r>
          </a:p>
        </p:txBody>
      </p:sp>
    </p:spTree>
    <p:extLst>
      <p:ext uri="{BB962C8B-B14F-4D97-AF65-F5344CB8AC3E}">
        <p14:creationId xmlns:p14="http://schemas.microsoft.com/office/powerpoint/2010/main" val="22551870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DD382-3E31-401C-A23E-0C1D522F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128C5-D6FF-4467-836D-BA1999AE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Occupancy and divergence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AA19E-8801-43B9-A632-8A8AC73F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GPU performance vocabulary.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2F087-25E8-4062-9ED4-FB82D4E0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321D4-3D0C-4D5E-9188-EA88C83E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F7859-5F4D-407D-85F4-FAD62566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E4962-338B-4F6B-A27D-BA2FE002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B1451-DAE9-4E46-A3BA-20F6010E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69863-29ED-437B-AEA8-C6A227A7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0F0AE-AAC2-45E7-A304-C4019D1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DD362-F49C-4E63-A2B9-E2B66FC3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Occupancy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65547-8B37-4615-946F-FB4B397D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How well the GPU keeps execution resources filled with active warps.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2698D-03AC-4FF4-BB85-F449E4AA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2D8B5-DB95-4997-90A2-4266317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0DF43-2D90-462E-BBD3-2D9A29D2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Divergence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CC3C4-A5C5-4D97-BBBA-F98A749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28900"/>
            <a:ext cx="41148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When threads in the same warp take different branches, reducing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45221010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57F7E6-0A7B-461F-BF3B-F22FD7E8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4A071-8904-4B1B-A65E-B9B1CBAF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CPU, GPU and hybrid performance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9576D-291D-4CB7-A009-EFA1CB7E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Summarize performance judgment.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6B690-A781-4B1D-AD83-B25BDC0B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40976-72B5-43AC-AD35-A48726F8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3EC95-303C-4478-8722-CCB794E0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4AC76-D5B0-46B2-B96B-73FA189A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GPU Performance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BEC1D-A78E-4EBF-8770-F7E93EB6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2311E-39B9-43EA-9674-4544B675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3D820-D04D-43FB-8F1D-DCFF6853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394FC-6266-48AF-8E38-7751B9BE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CPU/MIMD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0560A-CB57-4567-9BD9-897E7291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656C2-F69F-4118-888F-A2E8A6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77317-7BEA-4C31-AC84-11DCF203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82771-CD7B-4DF4-993D-01B69442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GPU/Hybrid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AF95F-A20E-435A-9491-17EFAE2F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C3E29-D610-457D-AB94-13EE04A3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5A58B-1C74-4710-AC15-D96BA801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4D532-8CC1-45C9-A7D4-12798A92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control-heavy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8877B-4EEA-468C-8E0B-9FB53C88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6A486-8796-4000-BC17-3699854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313B5-5C9C-4C74-ADDB-2C99562D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Lower transfer overhead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11FD0F-32D0-46F3-A289-183DCD8B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FBFA1A-927E-4D51-897F-FE514F1B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0FFD9-C93C-475A-AC95-B581B363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Strong serial performance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619D4-9FFA-4F03-96D9-71BDA3AD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622FC-7CE6-4F70-A9C6-8B9FD4C2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B3BF7-6E30-4AEE-877B-616D5E26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Flexible branching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992196-2249-4821-AB6F-CAA2DC12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ED5246-CB13-4D4B-BE9E-7FA2F56C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9831A2-5D3F-4F3C-97E1-A9868044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86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Good for massive data parallelism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F71EF3-14F3-4022-8C38-F5367862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7FAC9E-1FF3-40D2-B29A-8B82573C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D65712-4C75-46EB-9793-F1F10C78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Transfer overhead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97CB9C-076D-491F-AE2E-4483F36B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09915B-62CB-4C49-9D25-47232D3D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6B601E-2960-4652-A9B2-F3CE7FFE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High throughput potential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902EA1-2264-4696-B73F-FD614523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5C586C-ED5B-4347-B6E7-6EAD1548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748EC3-4B29-4014-8E63-BCC38497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8FBFF"/>
                </a:solidFill>
              </a:defRPr>
            </a:pPr>
            <a:r>
              <a:rPr sz="1500">
                <a:solidFill>
                  <a:srgbClr val="F8FBFF"/>
                </a:solidFill>
              </a:rPr>
              <a:t>Branching and memory pattern matter</a:t>
            </a:r>
          </a:p>
        </p:txBody>
      </p:sp>
    </p:spTree>
    <p:extLst>
      <p:ext uri="{BB962C8B-B14F-4D97-AF65-F5344CB8AC3E}">
        <p14:creationId xmlns:p14="http://schemas.microsoft.com/office/powerpoint/2010/main" val="96492578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2E6306-7E45-403F-8595-C62CABE8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0979E-E3F1-4B66-8733-48BDF09E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Module 2 in one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ADB1E-A0AE-452C-B358-D85B841A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128B6-A4F3-43E3-8F24-54412FE1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B13EA-D63D-425B-A473-018477C1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0E04B-6A2B-452E-A7AA-6A3724B2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3704A-8C75-4701-9B9E-1A08786B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F4B01-1553-4E4E-B03F-9499636D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63A83-24FF-4F25-A96B-5C43D89A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4765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50B26-E923-4EB6-B44B-72A3FB93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95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Module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6B70B-E913-4F09-99E0-F4A7B4EA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46972-D61E-4B74-B79C-3DC153A1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158BB-150C-4AFC-BF5A-143AD754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MIMD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A6765-F691-42E5-98C1-3C6AB6A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Shared/distributed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B22B6-E503-4C52-B2E3-3E97454A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74C2F-9EC5-4C4F-A2CF-134B089C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FD40D-C174-49B4-8210-91689D9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7165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GPU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25C70-2028-417C-B8B8-A63FA324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Throughput/SIMT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124DA-8FAA-4461-A0DB-2A193F78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4FC64-A986-4323-B136-6BDCB86D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21D07-7BBA-40C8-8F48-D62BF42D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57400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7C8FF"/>
                </a:solidFill>
              </a:defRPr>
            </a:pPr>
            <a:r>
              <a:rPr sz="1725" b="1">
                <a:solidFill>
                  <a:srgbClr val="77C8FF"/>
                </a:solidFill>
              </a:rPr>
              <a:t>Hybrid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F2B66-3B6C-42B0-B9E0-7F6FC92F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8400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MPI+OpenMP+CUDA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946D7-5AF7-4CBB-B4CE-DC695D48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97B5E-4438-4C4E-9810-C5DDD498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B06FC-A5BC-4E8D-9BE8-36DAB58E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69"/>
                </a:solidFill>
              </a:defRPr>
            </a:pPr>
            <a:r>
              <a:rPr sz="1725" b="1">
                <a:solidFill>
                  <a:srgbClr val="FFBF69"/>
                </a:solidFill>
              </a:rPr>
              <a:t>Speedup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64722F-9E59-447D-B2B4-BE096A49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S=T1/Tp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AE234B-2731-4BC8-8BFC-22BC7588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61621A-34D1-4CC2-A520-232A8364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0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6E812-387D-429D-9BC3-60B2D2F2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Amdahl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7F2A3-0C14-4135-9022-755DF6BE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43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Serial limit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A476EE-5E6A-43AB-960A-66A49851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2714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FC3463-4F7B-4F11-8DDB-1AE6CCC5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F71618-02EE-440A-A4FC-F4241563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81525"/>
            <a:ext cx="2352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Scalability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E3EB6A-CE55-4383-A419-610C1D8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62525"/>
            <a:ext cx="2352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Strong/weak/timing</a:t>
            </a:r>
          </a:p>
        </p:txBody>
      </p:sp>
    </p:spTree>
    <p:extLst>
      <p:ext uri="{BB962C8B-B14F-4D97-AF65-F5344CB8AC3E}">
        <p14:creationId xmlns:p14="http://schemas.microsoft.com/office/powerpoint/2010/main" val="98999761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C75F2-CD27-460F-9E63-AFDC347A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67F42-1C05-42F3-AAA3-8524B489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Exam-writing shortcuts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567DC-33B4-476A-A266-9A4ABD7E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Turn concepts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3DD8B-0FDD-4D26-8BEF-69AD0D2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F23EA-FAF8-4310-BC1E-EEFA6151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23E52-7CBE-40E0-8B58-44499073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453CD-7D6A-4D47-8C6E-A91D1493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B7895-D090-45DA-B6BF-CE8859BC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56EB3-5D73-442A-A401-03D092C1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19423-DFC4-4392-8052-842F7AAB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335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67591-A936-4A3B-A9D0-CE8414A9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6954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speedup and efficiency, write formula plus one numerical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FF696-83E9-4C9A-B9DD-F75A2859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97A6B-5C00-43C5-B94E-5C5336FE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01084-1EB9-4AE1-A48B-F3E61E4A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098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Amdahl, identify serial fraction and maximum speedup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19DF1-5585-4B1C-8214-46988D39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795790-7CEB-4E92-B71A-3A635460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CD36B-4A95-4D28-8D38-0C8AAB24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scalability, compare strong and weak scaling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BBF02-7531-42F4-AF9D-A578E701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9CE6C-687F-44D7-9061-CCC490D1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243D3-3F72-42D7-8CDA-85DDE7F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385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timing, mention wall-clock time, synchronization and multiple trials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A1A2A-5A2E-4377-A112-6F95BD95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59019-A384-4E2F-B4EC-B5B5ECA9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702078-129D-4602-88FA-AAD436A2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75285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8FBFF"/>
                </a:solidFill>
              </a:defRPr>
            </a:pPr>
            <a:r>
              <a:rPr sz="1725">
                <a:solidFill>
                  <a:srgbClr val="F8FBFF"/>
                </a:solidFill>
              </a:rPr>
              <a:t>For GPU performance, include transfer time, occupancy and divergence</a:t>
            </a:r>
          </a:p>
        </p:txBody>
      </p:sp>
    </p:spTree>
    <p:extLst>
      <p:ext uri="{BB962C8B-B14F-4D97-AF65-F5344CB8AC3E}">
        <p14:creationId xmlns:p14="http://schemas.microsoft.com/office/powerpoint/2010/main" val="201705368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AA8F73-DEBF-427E-89D4-EC656A15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84636-CCDB-47F6-9900-D1931EA0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00425-A131-45D3-B1ED-6601D1A8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45C38-9D2B-4988-94F5-7D7F8076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9D931-41FD-48BA-B996-6B830F6E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348BA-4028-491F-A719-1DA886E8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E9970-873B-4088-8720-165288CE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CE748-8452-4FD3-9C88-F2436A6F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8874C-009F-469A-BEB2-BD127D3E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What is MIMD?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413DE-1F86-432D-A6DD-AE7A2422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Why MIMD systems?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DD7C1-1ACA-4BF1-B06B-60D95F94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Shared-memory MIMD?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C09F4-5051-43B9-A92F-5213D818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Distributed-memory MIMD?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1FB21-2DCC-4904-B0EA-5B7D9DBC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What is GPU?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96EA8-9665-4FAB-BF16-E55BB31A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Why GPU programming?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0EB48-87A0-4353-8FA3-16DF7900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What is a kernel?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E8059-EC10-43AA-93E8-71831423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What are blocks and grids?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2AB38A-E90D-4078-A3D4-C8A392BC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What is hybrid programming?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9C530-2956-48ED-BBFF-59F6A82A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MPI + OpenMP meaning?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D80D9-A2AE-42EC-8C12-FAD67C89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Define speedup.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64340-ED28-4E8E-93E2-806E2CD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Define efficiency.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1506D-20F1-4E13-84D7-4FFA63D2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Ideal speedup?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A0E278-26A2-4952-BC7D-D8F5C5E2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What is overhead?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D9EBA-C446-47B4-B4D9-3F2E9AC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What is load balance?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2DCD0-CE53-46DD-968E-2C23E8B9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16. State Amdahl's law.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3110E-F101-4B6E-B2B1-C672F46B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17. What is serial fraction?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CB6FD-A07E-4391-94D1-4BE6EF73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18. Strong vs weak scaling?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C54544-0C71-42D3-83F6-60477ABA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19. How to time MIMD programs?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0664EB-02D1-4FB4-B9D1-DF7FFF1C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20. What affects GPU performance?</a:t>
            </a:r>
          </a:p>
        </p:txBody>
      </p:sp>
    </p:spTree>
    <p:extLst>
      <p:ext uri="{BB962C8B-B14F-4D97-AF65-F5344CB8AC3E}">
        <p14:creationId xmlns:p14="http://schemas.microsoft.com/office/powerpoint/2010/main" val="12745518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576C9-A7AF-42A0-8DAC-187CA0DA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F30D6-E0B7-4C2A-9E17-20DB120A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two-mark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5AA0F-A803-422B-88B5-B358406E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A5EDB-68E8-4FA6-8987-C79132A0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3B2F9-58D8-4DD2-AC5B-5E24241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CF3FD-855D-4B88-B3E4-99397872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ECCC8-EBA2-4398-92F0-5B56DBAA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50F1F-D85C-4C50-9493-E65D4AC2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97633-C7D4-4E1F-9F21-6E01F407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Define MIMD.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DD810-18CB-42E2-B153-F9526A46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Define GPU.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CFC71-D1ED-4AC2-9114-652C6999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What is kernel?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718FA-F11C-440A-A3C0-34E54D39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Define hybrid 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8B012-AE63-4449-ADD2-38E29D9D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Define speedup.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77C25-155B-462E-A528-68DF307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Define efficiency.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6227E-263C-44BA-AB07-3459CD58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State Amdahl's law.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7969F-8296-45B5-9576-3B475B6E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What is scalability?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2CABF-EE07-416A-A00E-82A791C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What is strong scaling?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3C91F-AE19-4B9B-A43F-0A5DB488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What is weak scaling?</a:t>
            </a:r>
          </a:p>
        </p:txBody>
      </p:sp>
    </p:spTree>
    <p:extLst>
      <p:ext uri="{BB962C8B-B14F-4D97-AF65-F5344CB8AC3E}">
        <p14:creationId xmlns:p14="http://schemas.microsoft.com/office/powerpoint/2010/main" val="114876772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F6823-732F-479F-A9ED-6F9DC712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B6B6B-A0E1-4554-B623-D202D8D2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five-mark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3620B-FFD8-4C90-B697-967A073F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medium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001F4-13B0-4A8D-AFA0-65B733CD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DDF35-CDD0-41ED-9439-97CD37CB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A6ACF-565E-4D7F-9C86-5E25B605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331D2-CB6F-4401-B0E1-EB7F0FBC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214B8-1619-4EB3-94C2-E88D2010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5304A-D4D0-4E2B-9B50-028945A9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MIMD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AEBF9-37DB-45F8-BB27-088A54FD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GPU programming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3A36D-58B0-4EC4-854D-66AC54BE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programming hybrid systems.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B9045-DE65-47CD-B154-2811C7E1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speedup and efficiency with examples.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E31C6-EA7D-49AB-9C99-BC8912E7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Amdahl's law with example.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E7093-267B-4754-B493-8BE1610B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Explain strong and weak scaling.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B4687-D38B-47EB-85EA-FF64C672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Explain taking timings of MIMD programs.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9E268-422D-41F0-970C-E6F5470F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Explain GPU performance factors.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C1D77-3A83-4882-A5F6-53851A0E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Explain parallel overhead and load balance.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04C0E-9B33-4DF8-8E0D-443DA753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Compare CPU and GPU performance behavior.</a:t>
            </a:r>
          </a:p>
        </p:txBody>
      </p:sp>
    </p:spTree>
    <p:extLst>
      <p:ext uri="{BB962C8B-B14F-4D97-AF65-F5344CB8AC3E}">
        <p14:creationId xmlns:p14="http://schemas.microsoft.com/office/powerpoint/2010/main" val="163918485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38312-FBFC-409A-AECC-44CA7A2D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A991D-3C14-48AE-9386-60DF1CEA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10 ten-mark questions and VTU placeholders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FAE9D-A1BA-4E6E-9806-4261EEED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Practice long-answer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6756D-31DF-4431-A1B1-AB69F59C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2797A-54C0-40E2-BFA5-57878427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1ED98-FECB-4B31-BE3E-B883EB91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6ED0C-413A-40EE-A66A-91459096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5EA04-3055-4718-B0AF-B30C2CCD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06B20-C614-457D-999E-83E39404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1. Explain MIMD systems, GPUs and programming hybrid systems.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14DDC-746B-48D0-8DC1-E71C5502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2. Explain speedup, efficiency and overhead in MIMD systems with examples.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0C56F-665A-41C4-B088-EC7CA88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3. Explain Amdahl's law, maximum speedup and common mistakes.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8A1EF-A513-41F6-9EEC-EA7E419F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4. Explain scalability in MIMD systems including strong and weak scaling.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1D6E1-16DF-4D8B-A66B-D6E21CF5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5. Explain timing of MIMD programs and GPU performance factors.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40DF0-1EA1-47A7-B8DC-154F3F65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6. Previous VTU Q1 placeholder: fill from past paper.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DA4A5-7CC3-4ED2-9978-3B43BC71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7. Previous VTU Q2 placeholder: fill from past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29117-0488-46C4-A5F9-DFF61BD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8. Previous VTU Q3 placeholder: fill from past paper.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432C1-7BF4-4A81-BC25-8F48062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9. Previous VTU Q4 placeholder: fill from past paper.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8209D-8C84-4BBD-8A73-60AC17F3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10. Previous VTU Q5 placeholder: fill from past paper.</a:t>
            </a:r>
          </a:p>
        </p:txBody>
      </p:sp>
    </p:spTree>
    <p:extLst>
      <p:ext uri="{BB962C8B-B14F-4D97-AF65-F5344CB8AC3E}">
        <p14:creationId xmlns:p14="http://schemas.microsoft.com/office/powerpoint/2010/main" val="12148896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BE756-A8C4-4F98-B2BC-3087659E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070A2-159F-4EA6-9EB5-5A4D2879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8FBFF"/>
                </a:solidFill>
              </a:defRPr>
            </a:pPr>
            <a:r>
              <a:rPr sz="2775" b="1">
                <a:solidFill>
                  <a:srgbClr val="F8FBFF"/>
                </a:solidFill>
              </a:rPr>
              <a:t>One-page revision and keyword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80FB7-E4AD-4728-AA3A-A014E304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Close with the must-remember terms.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5FA00-1EF3-449F-8338-78FEDB0F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0C21C-6DBD-4099-98A7-1A3894A1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E6D7E-98AE-474E-BA5F-DFE4FFB6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VTU BCS702 | Module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A445F-A8C8-4771-8734-94F96E46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6294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01AE7-8F28-417D-B8F6-0BCA95DF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A1BF8-2AD5-4661-A5BC-4FA3810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66F84-8417-4122-A89B-DA3A4A42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83430-CAD1-47EE-AE87-D0FB0ABB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2D96C-4694-4C02-A482-02E262B7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0306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MIMD; shared memory; distributed memory; GPU; host; device; kernel; thread; block; grid; hybrid programming; MPI; OpenMP; CUDA; speedup; efficiency; ideal speedup; overhead; load balance; communication; synchronization; Amdahl's law; serial fraction; maximum speedup; scalability; strong scaling; weak scaling; timing; wall-clock time; GPU transfer time; arithmetic intensity; occupancy; divergence.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A81C0-11C4-41AA-B097-B315F7F7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668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89DDE-6457-427E-989D-E0C57657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01768-8C60-479B-8F1A-2600E440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A7FF"/>
                </a:solidFill>
              </a:defRPr>
            </a:pPr>
            <a:r>
              <a:rPr sz="1725" b="1">
                <a:solidFill>
                  <a:srgbClr val="35A7FF"/>
                </a:solidFill>
              </a:rPr>
              <a:t>Memory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E1C8D-4E4C-48D2-A38D-6721F2A5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MIMD and GPU hardware -&gt; measure Tserial and Tparallel -&gt; compute speedup and efficiency -&gt; apply Amdahl -&gt; test scalability -&gt; report honest timings.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52024-9E15-4BA7-9F3E-C10B86AC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04F6E-20F2-4C7D-A8F6-ED9DAF03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6C7D7-362E-4E39-A760-22926C60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95900"/>
            <a:ext cx="1030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C4B6"/>
                </a:solidFill>
              </a:defRPr>
            </a:pPr>
            <a:r>
              <a:rPr sz="1725" b="1">
                <a:solidFill>
                  <a:srgbClr val="2EC4B6"/>
                </a:solidFill>
              </a:rPr>
              <a:t>Exam answer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15897-077B-4AB7-BEEB-803B80D1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1030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7D9"/>
                </a:solidFill>
              </a:defRPr>
            </a:pPr>
            <a:r>
              <a:rPr sz="1350">
                <a:solidFill>
                  <a:srgbClr val="B8C7D9"/>
                </a:solidFill>
              </a:rPr>
              <a:t>Definition + diagram/formula + numerical example + interpretation + limitation = strong answer.</a:t>
            </a:r>
          </a:p>
        </p:txBody>
      </p:sp>
    </p:spTree>
    <p:extLst>
      <p:ext uri="{BB962C8B-B14F-4D97-AF65-F5344CB8AC3E}">
        <p14:creationId xmlns:p14="http://schemas.microsoft.com/office/powerpoint/2010/main" val="961670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2026-08-05T09:16:07.5920000Z</dcterms:created>
  <dcterms:modified xsi:type="dcterms:W3CDTF">2026-08-05T09:16:07.5920000Z</dcterms:modified>
</coreProperties>
</file>