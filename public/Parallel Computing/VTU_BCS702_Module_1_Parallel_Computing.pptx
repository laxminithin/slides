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6cd698bbcc4aee" /><Relationship Type="http://schemas.openxmlformats.org/officeDocument/2006/relationships/extended-properties" Target="/docProps/app.xml" Id="R99c1e038ecc04dad" /><Relationship Type="http://schemas.openxmlformats.org/officeDocument/2006/relationships/officeDocument" Target="/ppt/presentation.xml" Id="Reff921ee3e6642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0d1855fde449ca"/>
  </p:sldMasterIdLst>
  <p:notesMasterIdLst>
    <p:notesMasterId xmlns:r="http://schemas.openxmlformats.org/officeDocument/2006/relationships" r:id="Rcfdc554fc5e9445a"/>
  </p:notesMasterIdLst>
  <p:sldIdLst>
    <p:sldId xmlns:r="http://schemas.openxmlformats.org/officeDocument/2006/relationships" id="256" r:id="R6c0ff6316b084504"/>
    <p:sldId xmlns:r="http://schemas.openxmlformats.org/officeDocument/2006/relationships" id="257" r:id="Rf2e71eb9514a4c5e"/>
    <p:sldId xmlns:r="http://schemas.openxmlformats.org/officeDocument/2006/relationships" id="258" r:id="Rb528ff508bec4984"/>
    <p:sldId xmlns:r="http://schemas.openxmlformats.org/officeDocument/2006/relationships" id="259" r:id="R376da86c97f9419e"/>
    <p:sldId xmlns:r="http://schemas.openxmlformats.org/officeDocument/2006/relationships" id="260" r:id="R4446eff41ccd4a6b"/>
    <p:sldId xmlns:r="http://schemas.openxmlformats.org/officeDocument/2006/relationships" id="261" r:id="R8f905f5cd51a499b"/>
    <p:sldId xmlns:r="http://schemas.openxmlformats.org/officeDocument/2006/relationships" id="262" r:id="Rc22b6a2051c04776"/>
    <p:sldId xmlns:r="http://schemas.openxmlformats.org/officeDocument/2006/relationships" id="263" r:id="Re4679aad9ca0409c"/>
    <p:sldId xmlns:r="http://schemas.openxmlformats.org/officeDocument/2006/relationships" id="264" r:id="Rdc0a9f40837f4747"/>
    <p:sldId xmlns:r="http://schemas.openxmlformats.org/officeDocument/2006/relationships" id="265" r:id="Rc852e091b5394f67"/>
    <p:sldId xmlns:r="http://schemas.openxmlformats.org/officeDocument/2006/relationships" id="266" r:id="Rd4494b6195234190"/>
    <p:sldId xmlns:r="http://schemas.openxmlformats.org/officeDocument/2006/relationships" id="267" r:id="Rd144c1e659ec474d"/>
    <p:sldId xmlns:r="http://schemas.openxmlformats.org/officeDocument/2006/relationships" id="268" r:id="R174ee89821974325"/>
    <p:sldId xmlns:r="http://schemas.openxmlformats.org/officeDocument/2006/relationships" id="269" r:id="R6f9baca037634be0"/>
    <p:sldId xmlns:r="http://schemas.openxmlformats.org/officeDocument/2006/relationships" id="270" r:id="Rb22e0da6dcf440cd"/>
    <p:sldId xmlns:r="http://schemas.openxmlformats.org/officeDocument/2006/relationships" id="271" r:id="R0e911187c0be451e"/>
    <p:sldId xmlns:r="http://schemas.openxmlformats.org/officeDocument/2006/relationships" id="272" r:id="Recf5e98b618a4eb5"/>
    <p:sldId xmlns:r="http://schemas.openxmlformats.org/officeDocument/2006/relationships" id="273" r:id="R2e3dba3f38004c3c"/>
    <p:sldId xmlns:r="http://schemas.openxmlformats.org/officeDocument/2006/relationships" id="274" r:id="R0e682243c45e4ced"/>
    <p:sldId xmlns:r="http://schemas.openxmlformats.org/officeDocument/2006/relationships" id="275" r:id="R97f6076864ab4632"/>
    <p:sldId xmlns:r="http://schemas.openxmlformats.org/officeDocument/2006/relationships" id="276" r:id="Rdeb956122e474986"/>
    <p:sldId xmlns:r="http://schemas.openxmlformats.org/officeDocument/2006/relationships" id="277" r:id="Rcfbfef23b52146ee"/>
    <p:sldId xmlns:r="http://schemas.openxmlformats.org/officeDocument/2006/relationships" id="278" r:id="Rff7e3e3b130f4134"/>
    <p:sldId xmlns:r="http://schemas.openxmlformats.org/officeDocument/2006/relationships" id="279" r:id="R9c63f99c200b424a"/>
    <p:sldId xmlns:r="http://schemas.openxmlformats.org/officeDocument/2006/relationships" id="280" r:id="R87175f350fc24883"/>
    <p:sldId xmlns:r="http://schemas.openxmlformats.org/officeDocument/2006/relationships" id="281" r:id="Rcdd33f1ca9b94840"/>
    <p:sldId xmlns:r="http://schemas.openxmlformats.org/officeDocument/2006/relationships" id="282" r:id="R06234b832f9e4019"/>
    <p:sldId xmlns:r="http://schemas.openxmlformats.org/officeDocument/2006/relationships" id="283" r:id="Rffd88f38547b4276"/>
    <p:sldId xmlns:r="http://schemas.openxmlformats.org/officeDocument/2006/relationships" id="284" r:id="Rb4f0852c7f424aee"/>
    <p:sldId xmlns:r="http://schemas.openxmlformats.org/officeDocument/2006/relationships" id="285" r:id="Rd1c9bf88bfd2401c"/>
    <p:sldId xmlns:r="http://schemas.openxmlformats.org/officeDocument/2006/relationships" id="286" r:id="R40f92d4a92684e4b"/>
    <p:sldId xmlns:r="http://schemas.openxmlformats.org/officeDocument/2006/relationships" id="287" r:id="R93c1e6ee220a4ba1"/>
    <p:sldId xmlns:r="http://schemas.openxmlformats.org/officeDocument/2006/relationships" id="288" r:id="Re6a4c2c581024fdf"/>
    <p:sldId xmlns:r="http://schemas.openxmlformats.org/officeDocument/2006/relationships" id="289" r:id="R09c7b39040ea42dc"/>
    <p:sldId xmlns:r="http://schemas.openxmlformats.org/officeDocument/2006/relationships" id="290" r:id="Rcc0ee404dd9544a9"/>
    <p:sldId xmlns:r="http://schemas.openxmlformats.org/officeDocument/2006/relationships" id="291" r:id="R88060664593e4735"/>
    <p:sldId xmlns:r="http://schemas.openxmlformats.org/officeDocument/2006/relationships" id="292" r:id="Re2a8ccda78304190"/>
    <p:sldId xmlns:r="http://schemas.openxmlformats.org/officeDocument/2006/relationships" id="293" r:id="R260aa39e7527437c"/>
    <p:sldId xmlns:r="http://schemas.openxmlformats.org/officeDocument/2006/relationships" id="294" r:id="R94f6d2ef5a5c4ac5"/>
    <p:sldId xmlns:r="http://schemas.openxmlformats.org/officeDocument/2006/relationships" id="295" r:id="Rbafd9b6869aa41f4"/>
    <p:sldId xmlns:r="http://schemas.openxmlformats.org/officeDocument/2006/relationships" id="296" r:id="R5a6b362ec2ad4025"/>
    <p:sldId xmlns:r="http://schemas.openxmlformats.org/officeDocument/2006/relationships" id="297" r:id="Rafcc523d6d7a44d7"/>
    <p:sldId xmlns:r="http://schemas.openxmlformats.org/officeDocument/2006/relationships" id="298" r:id="Rab8ccf49bd7c46c7"/>
    <p:sldId xmlns:r="http://schemas.openxmlformats.org/officeDocument/2006/relationships" id="299" r:id="Rede0c758cb034c64"/>
    <p:sldId xmlns:r="http://schemas.openxmlformats.org/officeDocument/2006/relationships" id="300" r:id="R8aea611d2f2d4e4f"/>
    <p:sldId xmlns:r="http://schemas.openxmlformats.org/officeDocument/2006/relationships" id="301" r:id="Ra96c0f99b4dd4434"/>
    <p:sldId xmlns:r="http://schemas.openxmlformats.org/officeDocument/2006/relationships" id="302" r:id="R78665c0ee9ee45ef"/>
    <p:sldId xmlns:r="http://schemas.openxmlformats.org/officeDocument/2006/relationships" id="303" r:id="R3ec75cdf56c443cd"/>
    <p:sldId xmlns:r="http://schemas.openxmlformats.org/officeDocument/2006/relationships" id="304" r:id="R8f4b459954ce4f77"/>
    <p:sldId xmlns:r="http://schemas.openxmlformats.org/officeDocument/2006/relationships" id="305" r:id="R863844856c744d1c"/>
    <p:sldId xmlns:r="http://schemas.openxmlformats.org/officeDocument/2006/relationships" id="306" r:id="Rdbed979f859b4f22"/>
    <p:sldId xmlns:r="http://schemas.openxmlformats.org/officeDocument/2006/relationships" id="307" r:id="Rc62f994cce884de7"/>
    <p:sldId xmlns:r="http://schemas.openxmlformats.org/officeDocument/2006/relationships" id="308" r:id="R562a3cb0a3ac498f"/>
    <p:sldId xmlns:r="http://schemas.openxmlformats.org/officeDocument/2006/relationships" id="309" r:id="Rb4da47d776b94c4e"/>
    <p:sldId xmlns:r="http://schemas.openxmlformats.org/officeDocument/2006/relationships" id="310" r:id="Rf1ae58e482be41c0"/>
    <p:sldId xmlns:r="http://schemas.openxmlformats.org/officeDocument/2006/relationships" id="311" r:id="R31dc7b0dfd964a79"/>
    <p:sldId xmlns:r="http://schemas.openxmlformats.org/officeDocument/2006/relationships" id="312" r:id="Rdf27e369dc684747"/>
    <p:sldId xmlns:r="http://schemas.openxmlformats.org/officeDocument/2006/relationships" id="313" r:id="R10e659ebb75e42c6"/>
    <p:sldId xmlns:r="http://schemas.openxmlformats.org/officeDocument/2006/relationships" id="314" r:id="Rad52894a751e416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70c246aede44cc" /><Relationship Type="http://schemas.openxmlformats.org/officeDocument/2006/relationships/slideMaster" Target="/ppt/slideMasters/slideMaster1.xml" Id="R7c0d1855fde449ca" /><Relationship Type="http://schemas.openxmlformats.org/officeDocument/2006/relationships/notesMaster" Target="/ppt/notesMasters/notesMaster1.xml" Id="Rcfdc554fc5e9445a" /><Relationship Type="http://schemas.openxmlformats.org/officeDocument/2006/relationships/presProps" Target="/ppt/presProps.xml" Id="R10169f0a5f7d416d" /><Relationship Type="http://schemas.openxmlformats.org/officeDocument/2006/relationships/tableStyles" Target="/ppt/tableStyles.xml" Id="Rbb269163c0dc4c0d" /><Relationship Type="http://schemas.openxmlformats.org/officeDocument/2006/relationships/slide" Target="/ppt/slides/slide1.xml" Id="R6c0ff6316b084504" /><Relationship Type="http://schemas.openxmlformats.org/officeDocument/2006/relationships/slide" Target="/ppt/slides/slide2.xml" Id="Rf2e71eb9514a4c5e" /><Relationship Type="http://schemas.openxmlformats.org/officeDocument/2006/relationships/slide" Target="/ppt/slides/slide3.xml" Id="Rb528ff508bec4984" /><Relationship Type="http://schemas.openxmlformats.org/officeDocument/2006/relationships/slide" Target="/ppt/slides/slide4.xml" Id="R376da86c97f9419e" /><Relationship Type="http://schemas.openxmlformats.org/officeDocument/2006/relationships/slide" Target="/ppt/slides/slide5.xml" Id="R4446eff41ccd4a6b" /><Relationship Type="http://schemas.openxmlformats.org/officeDocument/2006/relationships/slide" Target="/ppt/slides/slide6.xml" Id="R8f905f5cd51a499b" /><Relationship Type="http://schemas.openxmlformats.org/officeDocument/2006/relationships/slide" Target="/ppt/slides/slide7.xml" Id="Rc22b6a2051c04776" /><Relationship Type="http://schemas.openxmlformats.org/officeDocument/2006/relationships/slide" Target="/ppt/slides/slide8.xml" Id="Re4679aad9ca0409c" /><Relationship Type="http://schemas.openxmlformats.org/officeDocument/2006/relationships/slide" Target="/ppt/slides/slide9.xml" Id="Rdc0a9f40837f4747" /><Relationship Type="http://schemas.openxmlformats.org/officeDocument/2006/relationships/slide" Target="/ppt/slides/slide10.xml" Id="Rc852e091b5394f67" /><Relationship Type="http://schemas.openxmlformats.org/officeDocument/2006/relationships/slide" Target="/ppt/slides/slide11.xml" Id="Rd4494b6195234190" /><Relationship Type="http://schemas.openxmlformats.org/officeDocument/2006/relationships/slide" Target="/ppt/slides/slide12.xml" Id="Rd144c1e659ec474d" /><Relationship Type="http://schemas.openxmlformats.org/officeDocument/2006/relationships/slide" Target="/ppt/slides/slide13.xml" Id="R174ee89821974325" /><Relationship Type="http://schemas.openxmlformats.org/officeDocument/2006/relationships/slide" Target="/ppt/slides/slide14.xml" Id="R6f9baca037634be0" /><Relationship Type="http://schemas.openxmlformats.org/officeDocument/2006/relationships/slide" Target="/ppt/slides/slide15.xml" Id="Rb22e0da6dcf440cd" /><Relationship Type="http://schemas.openxmlformats.org/officeDocument/2006/relationships/slide" Target="/ppt/slides/slide16.xml" Id="R0e911187c0be451e" /><Relationship Type="http://schemas.openxmlformats.org/officeDocument/2006/relationships/slide" Target="/ppt/slides/slide17.xml" Id="Recf5e98b618a4eb5" /><Relationship Type="http://schemas.openxmlformats.org/officeDocument/2006/relationships/slide" Target="/ppt/slides/slide18.xml" Id="R2e3dba3f38004c3c" /><Relationship Type="http://schemas.openxmlformats.org/officeDocument/2006/relationships/slide" Target="/ppt/slides/slide19.xml" Id="R0e682243c45e4ced" /><Relationship Type="http://schemas.openxmlformats.org/officeDocument/2006/relationships/slide" Target="/ppt/slides/slide20.xml" Id="R97f6076864ab4632" /><Relationship Type="http://schemas.openxmlformats.org/officeDocument/2006/relationships/slide" Target="/ppt/slides/slide21.xml" Id="Rdeb956122e474986" /><Relationship Type="http://schemas.openxmlformats.org/officeDocument/2006/relationships/slide" Target="/ppt/slides/slide22.xml" Id="Rcfbfef23b52146ee" /><Relationship Type="http://schemas.openxmlformats.org/officeDocument/2006/relationships/slide" Target="/ppt/slides/slide23.xml" Id="Rff7e3e3b130f4134" /><Relationship Type="http://schemas.openxmlformats.org/officeDocument/2006/relationships/slide" Target="/ppt/slides/slide24.xml" Id="R9c63f99c200b424a" /><Relationship Type="http://schemas.openxmlformats.org/officeDocument/2006/relationships/slide" Target="/ppt/slides/slide25.xml" Id="R87175f350fc24883" /><Relationship Type="http://schemas.openxmlformats.org/officeDocument/2006/relationships/slide" Target="/ppt/slides/slide26.xml" Id="Rcdd33f1ca9b94840" /><Relationship Type="http://schemas.openxmlformats.org/officeDocument/2006/relationships/slide" Target="/ppt/slides/slide27.xml" Id="R06234b832f9e4019" /><Relationship Type="http://schemas.openxmlformats.org/officeDocument/2006/relationships/slide" Target="/ppt/slides/slide28.xml" Id="Rffd88f38547b4276" /><Relationship Type="http://schemas.openxmlformats.org/officeDocument/2006/relationships/slide" Target="/ppt/slides/slide29.xml" Id="Rb4f0852c7f424aee" /><Relationship Type="http://schemas.openxmlformats.org/officeDocument/2006/relationships/slide" Target="/ppt/slides/slide30.xml" Id="Rd1c9bf88bfd2401c" /><Relationship Type="http://schemas.openxmlformats.org/officeDocument/2006/relationships/slide" Target="/ppt/slides/slide31.xml" Id="R40f92d4a92684e4b" /><Relationship Type="http://schemas.openxmlformats.org/officeDocument/2006/relationships/slide" Target="/ppt/slides/slide32.xml" Id="R93c1e6ee220a4ba1" /><Relationship Type="http://schemas.openxmlformats.org/officeDocument/2006/relationships/slide" Target="/ppt/slides/slide33.xml" Id="Re6a4c2c581024fdf" /><Relationship Type="http://schemas.openxmlformats.org/officeDocument/2006/relationships/slide" Target="/ppt/slides/slide34.xml" Id="R09c7b39040ea42dc" /><Relationship Type="http://schemas.openxmlformats.org/officeDocument/2006/relationships/slide" Target="/ppt/slides/slide35.xml" Id="Rcc0ee404dd9544a9" /><Relationship Type="http://schemas.openxmlformats.org/officeDocument/2006/relationships/slide" Target="/ppt/slides/slide36.xml" Id="R88060664593e4735" /><Relationship Type="http://schemas.openxmlformats.org/officeDocument/2006/relationships/slide" Target="/ppt/slides/slide37.xml" Id="Re2a8ccda78304190" /><Relationship Type="http://schemas.openxmlformats.org/officeDocument/2006/relationships/slide" Target="/ppt/slides/slide38.xml" Id="R260aa39e7527437c" /><Relationship Type="http://schemas.openxmlformats.org/officeDocument/2006/relationships/slide" Target="/ppt/slides/slide39.xml" Id="R94f6d2ef5a5c4ac5" /><Relationship Type="http://schemas.openxmlformats.org/officeDocument/2006/relationships/slide" Target="/ppt/slides/slide40.xml" Id="Rbafd9b6869aa41f4" /><Relationship Type="http://schemas.openxmlformats.org/officeDocument/2006/relationships/slide" Target="/ppt/slides/slide41.xml" Id="R5a6b362ec2ad4025" /><Relationship Type="http://schemas.openxmlformats.org/officeDocument/2006/relationships/slide" Target="/ppt/slides/slide42.xml" Id="Rafcc523d6d7a44d7" /><Relationship Type="http://schemas.openxmlformats.org/officeDocument/2006/relationships/slide" Target="/ppt/slides/slide43.xml" Id="Rab8ccf49bd7c46c7" /><Relationship Type="http://schemas.openxmlformats.org/officeDocument/2006/relationships/slide" Target="/ppt/slides/slide44.xml" Id="Rede0c758cb034c64" /><Relationship Type="http://schemas.openxmlformats.org/officeDocument/2006/relationships/slide" Target="/ppt/slides/slide45.xml" Id="R8aea611d2f2d4e4f" /><Relationship Type="http://schemas.openxmlformats.org/officeDocument/2006/relationships/slide" Target="/ppt/slides/slide46.xml" Id="Ra96c0f99b4dd4434" /><Relationship Type="http://schemas.openxmlformats.org/officeDocument/2006/relationships/slide" Target="/ppt/slides/slide47.xml" Id="R78665c0ee9ee45ef" /><Relationship Type="http://schemas.openxmlformats.org/officeDocument/2006/relationships/slide" Target="/ppt/slides/slide48.xml" Id="R3ec75cdf56c443cd" /><Relationship Type="http://schemas.openxmlformats.org/officeDocument/2006/relationships/slide" Target="/ppt/slides/slide49.xml" Id="R8f4b459954ce4f77" /><Relationship Type="http://schemas.openxmlformats.org/officeDocument/2006/relationships/slide" Target="/ppt/slides/slide50.xml" Id="R863844856c744d1c" /><Relationship Type="http://schemas.openxmlformats.org/officeDocument/2006/relationships/slide" Target="/ppt/slides/slide51.xml" Id="Rdbed979f859b4f22" /><Relationship Type="http://schemas.openxmlformats.org/officeDocument/2006/relationships/slide" Target="/ppt/slides/slide52.xml" Id="Rc62f994cce884de7" /><Relationship Type="http://schemas.openxmlformats.org/officeDocument/2006/relationships/slide" Target="/ppt/slides/slide53.xml" Id="R562a3cb0a3ac498f" /><Relationship Type="http://schemas.openxmlformats.org/officeDocument/2006/relationships/slide" Target="/ppt/slides/slide54.xml" Id="Rb4da47d776b94c4e" /><Relationship Type="http://schemas.openxmlformats.org/officeDocument/2006/relationships/slide" Target="/ppt/slides/slide55.xml" Id="Rf1ae58e482be41c0" /><Relationship Type="http://schemas.openxmlformats.org/officeDocument/2006/relationships/slide" Target="/ppt/slides/slide56.xml" Id="R31dc7b0dfd964a79" /><Relationship Type="http://schemas.openxmlformats.org/officeDocument/2006/relationships/slide" Target="/ppt/slides/slide57.xml" Id="Rdf27e369dc684747" /><Relationship Type="http://schemas.openxmlformats.org/officeDocument/2006/relationships/slide" Target="/ppt/slides/slide58.xml" Id="R10e659ebb75e42c6" /><Relationship Type="http://schemas.openxmlformats.org/officeDocument/2006/relationships/slide" Target="/ppt/slides/slide59.xml" Id="Rad52894a751e41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9f46d7ce6541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bdeca2cbda4c0b" /><Relationship Type="http://schemas.openxmlformats.org/officeDocument/2006/relationships/notesMaster" Target="/ppt/notesMasters/notesMaster1.xml" Id="R4d724148bdba4c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25eb68c0e047b1" /><Relationship Type="http://schemas.openxmlformats.org/officeDocument/2006/relationships/notesMaster" Target="/ppt/notesMasters/notesMaster1.xml" Id="Rec2a99fec1ed420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8ad1ee53ab844a6" /><Relationship Type="http://schemas.openxmlformats.org/officeDocument/2006/relationships/notesMaster" Target="/ppt/notesMasters/notesMaster1.xml" Id="R24cc39a3919e49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b3c9df10d704639" /><Relationship Type="http://schemas.openxmlformats.org/officeDocument/2006/relationships/notesMaster" Target="/ppt/notesMasters/notesMaster1.xml" Id="Rf36a80eb337e451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2ddb20c66014fef" /><Relationship Type="http://schemas.openxmlformats.org/officeDocument/2006/relationships/notesMaster" Target="/ppt/notesMasters/notesMaster1.xml" Id="R578db0248f7946a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11be24441c46c8" /><Relationship Type="http://schemas.openxmlformats.org/officeDocument/2006/relationships/notesMaster" Target="/ppt/notesMasters/notesMaster1.xml" Id="Ra16f507aae90473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510958373bd4b57" /><Relationship Type="http://schemas.openxmlformats.org/officeDocument/2006/relationships/notesMaster" Target="/ppt/notesMasters/notesMaster1.xml" Id="R70ce37bf244e40e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49310a701a34632" /><Relationship Type="http://schemas.openxmlformats.org/officeDocument/2006/relationships/notesMaster" Target="/ppt/notesMasters/notesMaster1.xml" Id="R47ec76f37f6b4ef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0d9f5dfa4584023" /><Relationship Type="http://schemas.openxmlformats.org/officeDocument/2006/relationships/notesMaster" Target="/ppt/notesMasters/notesMaster1.xml" Id="R4cc11b0d66f4445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1c8c477746b4f30" /><Relationship Type="http://schemas.openxmlformats.org/officeDocument/2006/relationships/notesMaster" Target="/ppt/notesMasters/notesMaster1.xml" Id="Rffdeca9c6de3421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da9b17103394a26" /><Relationship Type="http://schemas.openxmlformats.org/officeDocument/2006/relationships/notesMaster" Target="/ppt/notesMasters/notesMaster1.xml" Id="Rcd3b58a2a5f74ef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11b46e907f541da" /><Relationship Type="http://schemas.openxmlformats.org/officeDocument/2006/relationships/notesMaster" Target="/ppt/notesMasters/notesMaster1.xml" Id="R67cf37935cb7439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20d94bd5efa483d" /><Relationship Type="http://schemas.openxmlformats.org/officeDocument/2006/relationships/notesMaster" Target="/ppt/notesMasters/notesMaster1.xml" Id="Re52887eca544420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080b37bd9c64203" /><Relationship Type="http://schemas.openxmlformats.org/officeDocument/2006/relationships/notesMaster" Target="/ppt/notesMasters/notesMaster1.xml" Id="R101d4a7c8042437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d2d5dfa3e4d4412" /><Relationship Type="http://schemas.openxmlformats.org/officeDocument/2006/relationships/notesMaster" Target="/ppt/notesMasters/notesMaster1.xml" Id="R10f53fc88d9246e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479be11d4334d5e" /><Relationship Type="http://schemas.openxmlformats.org/officeDocument/2006/relationships/notesMaster" Target="/ppt/notesMasters/notesMaster1.xml" Id="R2e7cf3feacd5426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17da4b025144098" /><Relationship Type="http://schemas.openxmlformats.org/officeDocument/2006/relationships/notesMaster" Target="/ppt/notesMasters/notesMaster1.xml" Id="R8f244d2d8da34da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82724a7adb94b3c" /><Relationship Type="http://schemas.openxmlformats.org/officeDocument/2006/relationships/notesMaster" Target="/ppt/notesMasters/notesMaster1.xml" Id="R5089d33a0e7743d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201ce8595bf4de1" /><Relationship Type="http://schemas.openxmlformats.org/officeDocument/2006/relationships/notesMaster" Target="/ppt/notesMasters/notesMaster1.xml" Id="R48b32a54743f40d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b594feb995442bc" /><Relationship Type="http://schemas.openxmlformats.org/officeDocument/2006/relationships/notesMaster" Target="/ppt/notesMasters/notesMaster1.xml" Id="R9c7cc8bd2ca847a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3b97ecd28ac4193" /><Relationship Type="http://schemas.openxmlformats.org/officeDocument/2006/relationships/notesMaster" Target="/ppt/notesMasters/notesMaster1.xml" Id="R8a528a6b427a4fa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941353a4e464faf" /><Relationship Type="http://schemas.openxmlformats.org/officeDocument/2006/relationships/notesMaster" Target="/ppt/notesMasters/notesMaster1.xml" Id="R8b02efe562934fb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3bbc5d771ce4eca" /><Relationship Type="http://schemas.openxmlformats.org/officeDocument/2006/relationships/notesMaster" Target="/ppt/notesMasters/notesMaster1.xml" Id="R7eaa4855f8f14d6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0ecd48d34fb41c2" /><Relationship Type="http://schemas.openxmlformats.org/officeDocument/2006/relationships/notesMaster" Target="/ppt/notesMasters/notesMaster1.xml" Id="Rf39b205aac0043c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6c9783f649944c8" /><Relationship Type="http://schemas.openxmlformats.org/officeDocument/2006/relationships/notesMaster" Target="/ppt/notesMasters/notesMaster1.xml" Id="R6b5d04cd4ae94f9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cd579e6d0db4669" /><Relationship Type="http://schemas.openxmlformats.org/officeDocument/2006/relationships/notesMaster" Target="/ppt/notesMasters/notesMaster1.xml" Id="R74e8519d328046a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984c070d97e4a5a" /><Relationship Type="http://schemas.openxmlformats.org/officeDocument/2006/relationships/notesMaster" Target="/ppt/notesMasters/notesMaster1.xml" Id="R68c4e94ba5d0437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669241f6ea240f9" /><Relationship Type="http://schemas.openxmlformats.org/officeDocument/2006/relationships/notesMaster" Target="/ppt/notesMasters/notesMaster1.xml" Id="Rb83a27da8bb1485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d9b2036627d4769" /><Relationship Type="http://schemas.openxmlformats.org/officeDocument/2006/relationships/notesMaster" Target="/ppt/notesMasters/notesMaster1.xml" Id="Rc50c728b2a7d4f6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073e17798a04c68" /><Relationship Type="http://schemas.openxmlformats.org/officeDocument/2006/relationships/notesMaster" Target="/ppt/notesMasters/notesMaster1.xml" Id="R0fd84b7274fa4f8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da48a27cd114f85" /><Relationship Type="http://schemas.openxmlformats.org/officeDocument/2006/relationships/notesMaster" Target="/ppt/notesMasters/notesMaster1.xml" Id="Rf4215ca64457473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d5f4cd787be4df6" /><Relationship Type="http://schemas.openxmlformats.org/officeDocument/2006/relationships/notesMaster" Target="/ppt/notesMasters/notesMaster1.xml" Id="R3de618a7313f4ee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0e1add664cc4c1d" /><Relationship Type="http://schemas.openxmlformats.org/officeDocument/2006/relationships/notesMaster" Target="/ppt/notesMasters/notesMaster1.xml" Id="Rf051a59c1c4740ab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1c0d277be0344767" /><Relationship Type="http://schemas.openxmlformats.org/officeDocument/2006/relationships/notesMaster" Target="/ppt/notesMasters/notesMaster1.xml" Id="R8c5799b045b44f56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ba500a0914448cb" /><Relationship Type="http://schemas.openxmlformats.org/officeDocument/2006/relationships/notesMaster" Target="/ppt/notesMasters/notesMaster1.xml" Id="Re4251587b5de47b4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d351a6d743cc4a30" /><Relationship Type="http://schemas.openxmlformats.org/officeDocument/2006/relationships/notesMaster" Target="/ppt/notesMasters/notesMaster1.xml" Id="R5e88fd7c55274b72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b457a96d6b524109" /><Relationship Type="http://schemas.openxmlformats.org/officeDocument/2006/relationships/notesMaster" Target="/ppt/notesMasters/notesMaster1.xml" Id="R6841a804f75544e9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ff57c092ea914318" /><Relationship Type="http://schemas.openxmlformats.org/officeDocument/2006/relationships/notesMaster" Target="/ppt/notesMasters/notesMaster1.xml" Id="Re89eab2b2e2e4a1e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0eca1f8bdf804d50" /><Relationship Type="http://schemas.openxmlformats.org/officeDocument/2006/relationships/notesMaster" Target="/ppt/notesMasters/notesMaster1.xml" Id="R1ae92a3f599b4438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807fc33d58874f39" /><Relationship Type="http://schemas.openxmlformats.org/officeDocument/2006/relationships/notesMaster" Target="/ppt/notesMasters/notesMaster1.xml" Id="R62647758d9b6430e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200687c32c1a4184" /><Relationship Type="http://schemas.openxmlformats.org/officeDocument/2006/relationships/notesMaster" Target="/ppt/notesMasters/notesMaster1.xml" Id="Rdf3ec92860324001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9a3c83654ee3462b" /><Relationship Type="http://schemas.openxmlformats.org/officeDocument/2006/relationships/notesMaster" Target="/ppt/notesMasters/notesMaster1.xml" Id="R8096d6839fd348b7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f9dff43794a541f2" /><Relationship Type="http://schemas.openxmlformats.org/officeDocument/2006/relationships/notesMaster" Target="/ppt/notesMasters/notesMaster1.xml" Id="Ra11e0dc11ee846ea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93c5a4b542e74e42" /><Relationship Type="http://schemas.openxmlformats.org/officeDocument/2006/relationships/notesMaster" Target="/ppt/notesMasters/notesMaster1.xml" Id="R6d4f1f1a3ac04d74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797f3855287e47ee" /><Relationship Type="http://schemas.openxmlformats.org/officeDocument/2006/relationships/notesMaster" Target="/ppt/notesMasters/notesMaster1.xml" Id="Rb6f8590e13f949ad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1993074ccc7844e0" /><Relationship Type="http://schemas.openxmlformats.org/officeDocument/2006/relationships/notesMaster" Target="/ppt/notesMasters/notesMaster1.xml" Id="R85c5f9d6e8694a3a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a4b71c65a7aa4524" /><Relationship Type="http://schemas.openxmlformats.org/officeDocument/2006/relationships/notesMaster" Target="/ppt/notesMasters/notesMaster1.xml" Id="R5fe5b16a7dbc4019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c2ba280c39cf49a3" /><Relationship Type="http://schemas.openxmlformats.org/officeDocument/2006/relationships/notesMaster" Target="/ppt/notesMasters/notesMaster1.xml" Id="R825cd2b35ee04bb0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0551f90131f24bf4" /><Relationship Type="http://schemas.openxmlformats.org/officeDocument/2006/relationships/notesMaster" Target="/ppt/notesMasters/notesMaster1.xml" Id="Red53f881a4174306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3988ccaf8994467e" /><Relationship Type="http://schemas.openxmlformats.org/officeDocument/2006/relationships/notesMaster" Target="/ppt/notesMasters/notesMaster1.xml" Id="Rd26d67acb0e64004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fde2221d1a1349dc" /><Relationship Type="http://schemas.openxmlformats.org/officeDocument/2006/relationships/notesMaster" Target="/ppt/notesMasters/notesMaster1.xml" Id="R2c993fb472c14444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7ae52703be044511" /><Relationship Type="http://schemas.openxmlformats.org/officeDocument/2006/relationships/notesMaster" Target="/ppt/notesMasters/notesMaster1.xml" Id="Rf2ea1bc0370d4fb6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6300cfc078004252" /><Relationship Type="http://schemas.openxmlformats.org/officeDocument/2006/relationships/notesMaster" Target="/ppt/notesMasters/notesMaster1.xml" Id="Rc8545720cbc54706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dcf30d21aa5f4f26" /><Relationship Type="http://schemas.openxmlformats.org/officeDocument/2006/relationships/notesMaster" Target="/ppt/notesMasters/notesMaster1.xml" Id="Raf9258ff9b954939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e4b20e45e0bc4729" /><Relationship Type="http://schemas.openxmlformats.org/officeDocument/2006/relationships/notesMaster" Target="/ppt/notesMasters/notesMaster1.xml" Id="Rfe3f0ca505a04c9a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492348816e7e414a" /><Relationship Type="http://schemas.openxmlformats.org/officeDocument/2006/relationships/notesMaster" Target="/ppt/notesMasters/notesMaster1.xml" Id="R4b03d29d0a0445ab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a373fcbbe2b34dee" /><Relationship Type="http://schemas.openxmlformats.org/officeDocument/2006/relationships/notesMaster" Target="/ppt/notesMasters/notesMaster1.xml" Id="Rab52c0096faa4b7b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0ee1d14e94f745a0" /><Relationship Type="http://schemas.openxmlformats.org/officeDocument/2006/relationships/notesMaster" Target="/ppt/notesMasters/notesMaster1.xml" Id="Rd25be1e17bbb4f4c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23f80f6fce9c4c00" /><Relationship Type="http://schemas.openxmlformats.org/officeDocument/2006/relationships/notesMaster" Target="/ppt/notesMasters/notesMaster1.xml" Id="R88a40fb50fb942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Open with the core promise: use many processing elements together to solve one problem faster or solve a larger problem.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architecture slides, point from processors to memory/network.</a:t>
            </a:r>
          </a:p>
          <a:p xmlns:a="http://schemas.openxmlformats.org/drawingml/2006/main">
            <a:r>
              <a:t>Question to ask students: Ask students where parallelism appears in a real computing workload.</a:t>
            </a:r>
          </a:p>
          <a:p xmlns:a="http://schemas.openxmlformats.org/drawingml/2006/main">
            <a:r>
              <a:t>Animation instructions: Fade title; appear bullets/cards one by one; wipe process arrows; highlight hardware/software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1 checklist; Peter S. Pacheco and Matthew Malensek, An Introduction to Parallel Programming, 2nd ed., Morgan Kaufmann, 2020, Chapters 1-2; Michael J. Quinn, Parallel Programming in C with MPI and OpenMP, McGraw-Hill, 2004, Chapters 1-2.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Tell students this module is the vocabulary and architecture foundation for MPI, OpenMP and CUDA later.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architecture slides, point from processors to memory/network.</a:t>
            </a:r>
          </a:p>
          <a:p xmlns:a="http://schemas.openxmlformats.org/drawingml/2006/main">
            <a:r>
              <a:t>Question to ask students: Ask students where parallelism appears in a real computing workload.</a:t>
            </a:r>
          </a:p>
          <a:p xmlns:a="http://schemas.openxmlformats.org/drawingml/2006/main">
            <a:r>
              <a:t>Animation instructions: Fade title; appear bullets/cards one by one; wipe process arrows; highlight hardware/software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1 checklist; Peter S. Pacheco and Matthew Malensek, An Introduction to Parallel Programming, 2nd ed., Morgan Kaufmann, 2020, Chapters 1-2; Michael J. Quinn, Parallel Programming in C with MPI and OpenMP, McGraw-Hill, 2004, Chapters 1-2.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weather prediction, simulation and data analysis as motivating examples.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architecture slides, point from processors to memory/network.</a:t>
            </a:r>
          </a:p>
          <a:p xmlns:a="http://schemas.openxmlformats.org/drawingml/2006/main">
            <a:r>
              <a:t>Question to ask students: Ask students where parallelism appears in a real computing workload.</a:t>
            </a:r>
          </a:p>
          <a:p xmlns:a="http://schemas.openxmlformats.org/drawingml/2006/main">
            <a:r>
              <a:t>Animation instructions: Fade title; appear bullets/cards one by one; wipe process arrows; highlight hardware/software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1 checklist; Peter S. Pacheco and Matthew Malensek, An Introduction to Parallel Programming, 2nd ed., Morgan Kaufmann, 2020, Chapters 1-2; Michael J. Quinn, Parallel Programming in C with MPI and OpenMP, McGraw-Hill, 2004, Chapters 1-2.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Emphasize that parallel programming is driven by problem size, deadline and cost.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architecture slides, point from processors to memory/network.</a:t>
            </a:r>
          </a:p>
          <a:p xmlns:a="http://schemas.openxmlformats.org/drawingml/2006/main">
            <a:r>
              <a:t>Question to ask students: Ask students where parallelism appears in a real computing workload.</a:t>
            </a:r>
          </a:p>
          <a:p xmlns:a="http://schemas.openxmlformats.org/drawingml/2006/main">
            <a:r>
              <a:t>Animation instructions: Fade title; appear bullets/cards one by one; wipe process arrows; highlight hardware/software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1 checklist; Peter S. Pacheco and Matthew Malensek, An Introduction to Parallel Programming, 2nd ed., Morgan Kaufmann, 2020, Chapters 1-2; Michael J. Quinn, Parallel Programming in C with MPI and OpenMP, McGraw-Hill, 2004, Chapters 1-2.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performance is not just convenience; it changes the problem we can attempt.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architecture slides, point from processors to memory/network.</a:t>
            </a:r>
          </a:p>
          <a:p xmlns:a="http://schemas.openxmlformats.org/drawingml/2006/main">
            <a:r>
              <a:t>Question to ask students: Ask students where parallelism appears in a real computing workload.</a:t>
            </a:r>
          </a:p>
          <a:p xmlns:a="http://schemas.openxmlformats.org/drawingml/2006/main">
            <a:r>
              <a:t>Animation instructions: Fade title; appear bullets/cards one by one; wipe process arrows; highlight hardware/software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1 checklist; Peter S. Pacheco and Matthew Malensek, An Introduction to Parallel Programming, 2nd ed., Morgan Kaufmann, 2020, Chapters 1-2; Michael J. Quinn, Parallel Programming in C with MPI and OpenMP, McGraw-Hill, 2004, Chapters 1-2.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climate, aircraft design or molecular dynamics as examples.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architecture slides, point from processors to memory/network.</a:t>
            </a:r>
          </a:p>
          <a:p xmlns:a="http://schemas.openxmlformats.org/drawingml/2006/main">
            <a:r>
              <a:t>Question to ask students: Ask students where parallelism appears in a real computing workload.</a:t>
            </a:r>
          </a:p>
          <a:p xmlns:a="http://schemas.openxmlformats.org/drawingml/2006/main">
            <a:r>
              <a:t>Animation instructions: Fade title; appear bullets/cards one by one; wipe process arrows; highlight hardware/software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1 checklist; Peter S. Pacheco and Matthew Malensek, An Introduction to Parallel Programming, 2nd ed., Morgan Kaufmann, 2020, Chapters 1-2; Michael J. Quinn, Parallel Programming in C with MPI and OpenMP, McGraw-Hill, 2004, Chapters 1-2.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Stress one computational problem, not just many independent users.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architecture slides, point from processors to memory/network.</a:t>
            </a:r>
          </a:p>
          <a:p xmlns:a="http://schemas.openxmlformats.org/drawingml/2006/main">
            <a:r>
              <a:t>Question to ask students: Ask students where parallelism appears in a real computing workload.</a:t>
            </a:r>
          </a:p>
          <a:p xmlns:a="http://schemas.openxmlformats.org/drawingml/2006/main">
            <a:r>
              <a:t>Animation instructions: Fade title; appear bullets/cards one by one; wipe process arrows; highlight hardware/software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1 checklist; Peter S. Pacheco and Matthew Malensek, An Introduction to Parallel Programming, 2nd ed., Morgan Kaufmann, 2020, Chapters 1-2; Michael J. Quinn, Parallel Programming in C with MPI and OpenMP, McGraw-Hill, 2004, Chapters 1-2.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Compare a multicore laptop, cluster and GPU at a high level.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architecture slides, point from processors to memory/network.</a:t>
            </a:r>
          </a:p>
          <a:p xmlns:a="http://schemas.openxmlformats.org/drawingml/2006/main">
            <a:r>
              <a:t>Question to ask students: Ask students where parallelism appears in a real computing workload.</a:t>
            </a:r>
          </a:p>
          <a:p xmlns:a="http://schemas.openxmlformats.org/drawingml/2006/main">
            <a:r>
              <a:t>Animation instructions: Fade title; appear bullets/cards one by one; wipe process arrows; highlight hardware/software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1 checklist; Peter S. Pacheco and Matthew Malensek, An Introduction to Parallel Programming, 2nd ed., Morgan Kaufmann, 2020, Chapters 1-2; Michael J. Quinn, Parallel Programming in C with MPI and OpenMP, McGraw-Hill, 2004, Chapters 1-2.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Mention that compilers cannot always discover all useful parallelism automatically.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architecture slides, point from processors to memory/network.</a:t>
            </a:r>
          </a:p>
          <a:p xmlns:a="http://schemas.openxmlformats.org/drawingml/2006/main">
            <a:r>
              <a:t>Question to ask students: Ask students where parallelism appears in a real computing workload.</a:t>
            </a:r>
          </a:p>
          <a:p xmlns:a="http://schemas.openxmlformats.org/drawingml/2006/main">
            <a:r>
              <a:t>Animation instructions: Fade title; appear bullets/cards one by one; wipe process arrows; highlight hardware/software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1 checklist; Peter S. Pacheco and Matthew Malensek, An Introduction to Parallel Programming, 2nd ed., Morgan Kaufmann, 2020, Chapters 1-2; Michael J. Quinn, Parallel Programming in C with MPI and OpenMP, McGraw-Hill, 2004, Chapters 1-2.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Ask students if a single-core OS can be concurrent without being parallel.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architecture slides, point from processors to memory/network.</a:t>
            </a:r>
          </a:p>
          <a:p xmlns:a="http://schemas.openxmlformats.org/drawingml/2006/main">
            <a:r>
              <a:t>Question to ask students: Ask students where parallelism appears in a real computing workload.</a:t>
            </a:r>
          </a:p>
          <a:p xmlns:a="http://schemas.openxmlformats.org/drawingml/2006/main">
            <a:r>
              <a:t>Animation instructions: Fade title; appear bullets/cards one by one; wipe process arrows; highlight hardware/software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1 checklist; Peter S. Pacheco and Matthew Malensek, An Introduction to Parallel Programming, 2nd ed., Morgan Kaufmann, 2020, Chapters 1-2; Michael J. Quinn, Parallel Programming in C with MPI and OpenMP, McGraw-Hill, 2004, Chapters 1-2.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dependence decides what must wait and what can run together.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architecture slides, point from processors to memory/network.</a:t>
            </a:r>
          </a:p>
          <a:p xmlns:a="http://schemas.openxmlformats.org/drawingml/2006/main">
            <a:r>
              <a:t>Question to ask students: Ask students where parallelism appears in a real computing workload.</a:t>
            </a:r>
          </a:p>
          <a:p xmlns:a="http://schemas.openxmlformats.org/drawingml/2006/main">
            <a:r>
              <a:t>Animation instructions: Fade title; appear bullets/cards one by one; wipe process arrows; highlight hardware/software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1 checklist; Peter S. Pacheco and Matthew Malensek, An Introduction to Parallel Programming, 2nd ed., Morgan Kaufmann, 2020, Chapters 1-2; Michael J. Quinn, Parallel Programming in C with MPI and OpenMP, McGraw-Hill, 2004, Chapters 1-2.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vector addition as the simplest example.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architecture slides, point from processors to memory/network.</a:t>
            </a:r>
          </a:p>
          <a:p xmlns:a="http://schemas.openxmlformats.org/drawingml/2006/main">
            <a:r>
              <a:t>Question to ask students: Ask students where parallelism appears in a real computing workload.</a:t>
            </a:r>
          </a:p>
          <a:p xmlns:a="http://schemas.openxmlformats.org/drawingml/2006/main">
            <a:r>
              <a:t>Animation instructions: Fade title; appear bullets/cards one by one; wipe process arrows; highlight hardware/software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1 checklist; Peter S. Pacheco and Matthew Malensek, An Introduction to Parallel Programming, 2nd ed., Morgan Kaufmann, 2020, Chapters 1-2; Michael J. Quinn, Parallel Programming in C with MPI and OpenMP, McGraw-Hill, 2004, Chapters 1-2.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Point to independent iterations and connect to SIMD/GPU later.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architecture slides, point from processors to memory/network.</a:t>
            </a:r>
          </a:p>
          <a:p xmlns:a="http://schemas.openxmlformats.org/drawingml/2006/main">
            <a:r>
              <a:t>Question to ask students: Ask students where parallelism appears in a real computing workload.</a:t>
            </a:r>
          </a:p>
          <a:p xmlns:a="http://schemas.openxmlformats.org/drawingml/2006/main">
            <a:r>
              <a:t>Animation instructions: Fade title; appear bullets/cards one by one; wipe process arrows; highlight hardware/software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1 checklist; Peter S. Pacheco and Matthew Malensek, An Introduction to Parallel Programming, 2nd ed., Morgan Kaufmann, 2020, Chapters 1-2; Michael J. Quinn, Parallel Programming in C with MPI and OpenMP, McGraw-Hill, 2004, Chapters 1-2.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image processing where one stage filters while another compresses a different item.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architecture slides, point from processors to memory/network.</a:t>
            </a:r>
          </a:p>
          <a:p xmlns:a="http://schemas.openxmlformats.org/drawingml/2006/main">
            <a:r>
              <a:t>Question to ask students: Ask students where parallelism appears in a real computing workload.</a:t>
            </a:r>
          </a:p>
          <a:p xmlns:a="http://schemas.openxmlformats.org/drawingml/2006/main">
            <a:r>
              <a:t>Animation instructions: Fade title; appear bullets/cards one by one; wipe process arrows; highlight hardware/software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1 checklist; Peter S. Pacheco and Matthew Malensek, An Introduction to Parallel Programming, 2nd ed., Morgan Kaufmann, 2020, Chapters 1-2; Michael J. Quinn, Parallel Programming in C with MPI and OpenMP, McGraw-Hill, 2004, Chapters 1-2.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the assembly-line analogy from Quinn and connect it to instruction pipelines.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architecture slides, point from processors to memory/network.</a:t>
            </a:r>
          </a:p>
          <a:p xmlns:a="http://schemas.openxmlformats.org/drawingml/2006/main">
            <a:r>
              <a:t>Question to ask students: Ask students where parallelism appears in a real computing workload.</a:t>
            </a:r>
          </a:p>
          <a:p xmlns:a="http://schemas.openxmlformats.org/drawingml/2006/main">
            <a:r>
              <a:t>Animation instructions: Fade title; appear bullets/cards one by one; wipe process arrows; highlight hardware/software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1 checklist; Peter S. Pacheco and Matthew Malensek, An Introduction to Parallel Programming, 2nd ed., Morgan Kaufmann, 2020, Chapters 1-2; Michael J. Quinn, Parallel Programming in C with MPI and OpenMP, McGraw-Hill, 2004, Chapters 1-2.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correctness comes before speed.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architecture slides, point from processors to memory/network.</a:t>
            </a:r>
          </a:p>
          <a:p xmlns:a="http://schemas.openxmlformats.org/drawingml/2006/main">
            <a:r>
              <a:t>Question to ask students: Ask students where parallelism appears in a real computing workload.</a:t>
            </a:r>
          </a:p>
          <a:p xmlns:a="http://schemas.openxmlformats.org/drawingml/2006/main">
            <a:r>
              <a:t>Animation instructions: Fade title; appear bullets/cards one by one; wipe process arrows; highlight hardware/software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1 checklist; Peter S. Pacheco and Matthew Malensek, An Introduction to Parallel Programming, 2nd ed., Morgan Kaufmann, 2020, Chapters 1-2; Michael J. Quinn, Parallel Programming in C with MPI and OpenMP, McGraw-Hill, 2004, Chapters 1-2.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Start with the serial model before adding cores, caches and networks.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architecture slides, point from processors to memory/network.</a:t>
            </a:r>
          </a:p>
          <a:p xmlns:a="http://schemas.openxmlformats.org/drawingml/2006/main">
            <a:r>
              <a:t>Question to ask students: Ask students where parallelism appears in a real computing workload.</a:t>
            </a:r>
          </a:p>
          <a:p xmlns:a="http://schemas.openxmlformats.org/drawingml/2006/main">
            <a:r>
              <a:t>Animation instructions: Fade title; appear bullets/cards one by one; wipe process arrows; highlight hardware/software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1 checklist; Peter S. Pacheco and Matthew Malensek, An Introduction to Parallel Programming, 2nd ed., Morgan Kaufmann, 2020, Chapters 1-2; Michael J. Quinn, Parallel Programming in C with MPI and OpenMP, McGraw-Hill, 2004, Chapters 1-2.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modern serial-looking CPUs already use internal parallel ideas.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architecture slides, point from processors to memory/network.</a:t>
            </a:r>
          </a:p>
          <a:p xmlns:a="http://schemas.openxmlformats.org/drawingml/2006/main">
            <a:r>
              <a:t>Question to ask students: Ask students where parallelism appears in a real computing workload.</a:t>
            </a:r>
          </a:p>
          <a:p xmlns:a="http://schemas.openxmlformats.org/drawingml/2006/main">
            <a:r>
              <a:t>Animation instructions: Fade title; appear bullets/cards one by one; wipe process arrows; highlight hardware/software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1 checklist; Peter S. Pacheco and Matthew Malensek, An Introduction to Parallel Programming, 2nd ed., Morgan Kaufmann, 2020, Chapters 1-2; Michael J. Quinn, Parallel Programming in C with MPI and OpenMP, McGraw-Hill, 2004, Chapters 1-2.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desk vs library shelf analogy: keep recently used items nearby.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architecture slides, point from processors to memory/network.</a:t>
            </a:r>
          </a:p>
          <a:p xmlns:a="http://schemas.openxmlformats.org/drawingml/2006/main">
            <a:r>
              <a:t>Question to ask students: Ask students where parallelism appears in a real computing workload.</a:t>
            </a:r>
          </a:p>
          <a:p xmlns:a="http://schemas.openxmlformats.org/drawingml/2006/main">
            <a:r>
              <a:t>Animation instructions: Fade title; appear bullets/cards one by one; wipe process arrows; highlight hardware/software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1 checklist; Peter S. Pacheco and Matthew Malensek, An Introduction to Parallel Programming, 2nd ed., Morgan Kaufmann, 2020, Chapters 1-2; Michael J. Quinn, Parallel Programming in C with MPI and OpenMP, McGraw-Hill, 2004, Chapters 1-2.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Distinguish hardware multithreading from software thread libraries.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architecture slides, point from processors to memory/network.</a:t>
            </a:r>
          </a:p>
          <a:p xmlns:a="http://schemas.openxmlformats.org/drawingml/2006/main">
            <a:r>
              <a:t>Question to ask students: Ask students where parallelism appears in a real computing workload.</a:t>
            </a:r>
          </a:p>
          <a:p xmlns:a="http://schemas.openxmlformats.org/drawingml/2006/main">
            <a:r>
              <a:t>Animation instructions: Fade title; appear bullets/cards one by one; wipe process arrows; highlight hardware/software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1 checklist; Peter S. Pacheco and Matthew Malensek, An Introduction to Parallel Programming, 2nd ed., Morgan Kaufmann, 2020, Chapters 1-2; Michael J. Quinn, Parallel Programming in C with MPI and OpenMP, McGraw-Hill, 2004, Chapters 1-2.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Tell students classification helps choose MPI, OpenMP, SIMD or GPU approaches.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architecture slides, point from processors to memory/network.</a:t>
            </a:r>
          </a:p>
          <a:p xmlns:a="http://schemas.openxmlformats.org/drawingml/2006/main">
            <a:r>
              <a:t>Question to ask students: Ask students where parallelism appears in a real computing workload.</a:t>
            </a:r>
          </a:p>
          <a:p xmlns:a="http://schemas.openxmlformats.org/drawingml/2006/main">
            <a:r>
              <a:t>Animation instructions: Fade title; appear bullets/cards one by one; wipe process arrows; highlight hardware/software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1 checklist; Peter S. Pacheco and Matthew Malensek, An Introduction to Parallel Programming, 2nd ed., Morgan Kaufmann, 2020, Chapters 1-2; Michael J. Quinn, Parallel Programming in C with MPI and OpenMP, McGraw-Hill, 2004, Chapters 1-2.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This is a core exam slide.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architecture slides, point from processors to memory/network.</a:t>
            </a:r>
          </a:p>
          <a:p xmlns:a="http://schemas.openxmlformats.org/drawingml/2006/main">
            <a:r>
              <a:t>Question to ask students: Ask students where parallelism appears in a real computing workload.</a:t>
            </a:r>
          </a:p>
          <a:p xmlns:a="http://schemas.openxmlformats.org/drawingml/2006/main">
            <a:r>
              <a:t>Animation instructions: Fade title; appear bullets/cards one by one; wipe process arrows; highlight hardware/software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1 checklist; Peter S. Pacheco and Matthew Malensek, An Introduction to Parallel Programming, 2nd ed., Morgan Kaufmann, 2020, Chapters 1-2; Michael J. Quinn, Parallel Programming in C with MPI and OpenMP, McGraw-Hill, 2004, Chapters 1-2.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vector addition or image pixel processing.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architecture slides, point from processors to memory/network.</a:t>
            </a:r>
          </a:p>
          <a:p xmlns:a="http://schemas.openxmlformats.org/drawingml/2006/main">
            <a:r>
              <a:t>Question to ask students: Ask students where parallelism appears in a real computing workload.</a:t>
            </a:r>
          </a:p>
          <a:p xmlns:a="http://schemas.openxmlformats.org/drawingml/2006/main">
            <a:r>
              <a:t>Animation instructions: Fade title; appear bullets/cards one by one; wipe process arrows; highlight hardware/software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1 checklist; Peter S. Pacheco and Matthew Malensek, An Introduction to Parallel Programming, 2nd ed., Morgan Kaufmann, 2020, Chapters 1-2; Michael J. Quinn, Parallel Programming in C with MPI and OpenMP, McGraw-Hill, 2004, Chapters 1-2.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SIMD is efficient when many data items need the same operation.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architecture slides, point from processors to memory/network.</a:t>
            </a:r>
          </a:p>
          <a:p xmlns:a="http://schemas.openxmlformats.org/drawingml/2006/main">
            <a:r>
              <a:t>Question to ask students: Ask students where parallelism appears in a real computing workload.</a:t>
            </a:r>
          </a:p>
          <a:p xmlns:a="http://schemas.openxmlformats.org/drawingml/2006/main">
            <a:r>
              <a:t>Animation instructions: Fade title; appear bullets/cards one by one; wipe process arrows; highlight hardware/software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1 checklist; Peter S. Pacheco and Matthew Malensek, An Introduction to Parallel Programming, 2nd ed., Morgan Kaufmann, 2020, Chapters 1-2; Michael J. Quinn, Parallel Programming in C with MPI and OpenMP, McGraw-Hill, 2004, Chapters 1-2.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Mention that modern GPUs are not pure SIMD but use SIMD-like execution.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architecture slides, point from processors to memory/network.</a:t>
            </a:r>
          </a:p>
          <a:p xmlns:a="http://schemas.openxmlformats.org/drawingml/2006/main">
            <a:r>
              <a:t>Question to ask students: Ask students where parallelism appears in a real computing workload.</a:t>
            </a:r>
          </a:p>
          <a:p xmlns:a="http://schemas.openxmlformats.org/drawingml/2006/main">
            <a:r>
              <a:t>Animation instructions: Fade title; appear bullets/cards one by one; wipe process arrows; highlight hardware/software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1 checklist; Peter S. Pacheco and Matthew Malensek, An Introduction to Parallel Programming, 2nd ed., Morgan Kaufmann, 2020, Chapters 1-2; Michael J. Quinn, Parallel Programming in C with MPI and OpenMP, McGraw-Hill, 2004, Chapters 1-2.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multicore CPUs and clusters are usually MIMD.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architecture slides, point from processors to memory/network.</a:t>
            </a:r>
          </a:p>
          <a:p xmlns:a="http://schemas.openxmlformats.org/drawingml/2006/main">
            <a:r>
              <a:t>Question to ask students: Ask students where parallelism appears in a real computing workload.</a:t>
            </a:r>
          </a:p>
          <a:p xmlns:a="http://schemas.openxmlformats.org/drawingml/2006/main">
            <a:r>
              <a:t>Animation instructions: Fade title; appear bullets/cards one by one; wipe process arrows; highlight hardware/software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1 checklist; Peter S. Pacheco and Matthew Malensek, An Introduction to Parallel Programming, 2nd ed., Morgan Kaufmann, 2020, Chapters 1-2; Michael J. Quinn, Parallel Programming in C with MPI and OpenMP, McGraw-Hill, 2004, Chapters 1-2.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Connect MIMD to MPI and OpenMP later.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architecture slides, point from processors to memory/network.</a:t>
            </a:r>
          </a:p>
          <a:p xmlns:a="http://schemas.openxmlformats.org/drawingml/2006/main">
            <a:r>
              <a:t>Question to ask students: Ask students where parallelism appears in a real computing workload.</a:t>
            </a:r>
          </a:p>
          <a:p xmlns:a="http://schemas.openxmlformats.org/drawingml/2006/main">
            <a:r>
              <a:t>Animation instructions: Fade title; appear bullets/cards one by one; wipe process arrows; highlight hardware/software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1 checklist; Peter S. Pacheco and Matthew Malensek, An Introduction to Parallel Programming, 2nd ed., Morgan Kaufmann, 2020, Chapters 1-2; Michael J. Quinn, Parallel Programming in C with MPI and OpenMP, McGraw-Hill, 2004, Chapters 1-2.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Ask students to classify vector addition and web server request handling.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architecture slides, point from processors to memory/network.</a:t>
            </a:r>
          </a:p>
          <a:p xmlns:a="http://schemas.openxmlformats.org/drawingml/2006/main">
            <a:r>
              <a:t>Question to ask students: Ask students where parallelism appears in a real computing workload.</a:t>
            </a:r>
          </a:p>
          <a:p xmlns:a="http://schemas.openxmlformats.org/drawingml/2006/main">
            <a:r>
              <a:t>Animation instructions: Fade title; appear bullets/cards one by one; wipe process arrows; highlight hardware/software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1 checklist; Peter S. Pacheco and Matthew Malensek, An Introduction to Parallel Programming, 2nd ed., Morgan Kaufmann, 2020, Chapters 1-2; Michael J. Quinn, Parallel Programming in C with MPI and OpenMP, McGraw-Hill, 2004, Chapters 1-2.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a multicore laptop as a familiar example.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architecture slides, point from processors to memory/network.</a:t>
            </a:r>
          </a:p>
          <a:p xmlns:a="http://schemas.openxmlformats.org/drawingml/2006/main">
            <a:r>
              <a:t>Question to ask students: Ask students where parallelism appears in a real computing workload.</a:t>
            </a:r>
          </a:p>
          <a:p xmlns:a="http://schemas.openxmlformats.org/drawingml/2006/main">
            <a:r>
              <a:t>Animation instructions: Fade title; appear bullets/cards one by one; wipe process arrows; highlight hardware/software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1 checklist; Peter S. Pacheco and Matthew Malensek, An Introduction to Parallel Programming, 2nd ed., Morgan Kaufmann, 2020, Chapters 1-2; Michael J. Quinn, Parallel Programming in C with MPI and OpenMP, McGraw-Hill, 2004, Chapters 1-2.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Show cores connected to shared memory through an interconnect.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architecture slides, point from processors to memory/network.</a:t>
            </a:r>
          </a:p>
          <a:p xmlns:a="http://schemas.openxmlformats.org/drawingml/2006/main">
            <a:r>
              <a:t>Question to ask students: Ask students where parallelism appears in a real computing workload.</a:t>
            </a:r>
          </a:p>
          <a:p xmlns:a="http://schemas.openxmlformats.org/drawingml/2006/main">
            <a:r>
              <a:t>Animation instructions: Fade title; appear bullets/cards one by one; wipe process arrows; highlight hardware/software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1 checklist; Peter S. Pacheco and Matthew Malensek, An Introduction to Parallel Programming, 2nd ed., Morgan Kaufmann, 2020, Chapters 1-2; Michael J. Quinn, Parallel Programming in C with MPI and OpenMP, McGraw-Hill, 2004, Chapters 1-2.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a cluster of computers as example.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architecture slides, point from processors to memory/network.</a:t>
            </a:r>
          </a:p>
          <a:p xmlns:a="http://schemas.openxmlformats.org/drawingml/2006/main">
            <a:r>
              <a:t>Question to ask students: Ask students where parallelism appears in a real computing workload.</a:t>
            </a:r>
          </a:p>
          <a:p xmlns:a="http://schemas.openxmlformats.org/drawingml/2006/main">
            <a:r>
              <a:t>Animation instructions: Fade title; appear bullets/cards one by one; wipe process arrows; highlight hardware/software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1 checklist; Peter S. Pacheco and Matthew Malensek, An Introduction to Parallel Programming, 2nd ed., Morgan Kaufmann, 2020, Chapters 1-2; Michael J. Quinn, Parallel Programming in C with MPI and OpenMP, McGraw-Hill, 2004, Chapters 1-2.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Show nodes with private memory communicating through explicit messages.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architecture slides, point from processors to memory/network.</a:t>
            </a:r>
          </a:p>
          <a:p xmlns:a="http://schemas.openxmlformats.org/drawingml/2006/main">
            <a:r>
              <a:t>Question to ask students: Ask students where parallelism appears in a real computing workload.</a:t>
            </a:r>
          </a:p>
          <a:p xmlns:a="http://schemas.openxmlformats.org/drawingml/2006/main">
            <a:r>
              <a:t>Animation instructions: Fade title; appear bullets/cards one by one; wipe process arrows; highlight hardware/software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1 checklist; Peter S. Pacheco and Matthew Malensek, An Introduction to Parallel Programming, 2nd ed., Morgan Kaufmann, 2020, Chapters 1-2; Michael J. Quinn, Parallel Programming in C with MPI and OpenMP, McGraw-Hill, 2004, Chapters 1-2.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This is one of the main Module 1 exam topics.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architecture slides, point from processors to memory/network.</a:t>
            </a:r>
          </a:p>
          <a:p xmlns:a="http://schemas.openxmlformats.org/drawingml/2006/main">
            <a:r>
              <a:t>Question to ask students: Ask students where parallelism appears in a real computing workload.</a:t>
            </a:r>
          </a:p>
          <a:p xmlns:a="http://schemas.openxmlformats.org/drawingml/2006/main">
            <a:r>
              <a:t>Animation instructions: Fade title; appear bullets/cards one by one; wipe process arrows; highlight hardware/software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1 checklist; Peter S. Pacheco and Matthew Malensek, An Introduction to Parallel Programming, 2nd ed., Morgan Kaufmann, 2020, Chapters 1-2; Michael J. Quinn, Parallel Programming in C with MPI and OpenMP, McGraw-Hill, 2004, Chapters 1-2.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Mention that shared address space does not always mean equal access cost.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architecture slides, point from processors to memory/network.</a:t>
            </a:r>
          </a:p>
          <a:p xmlns:a="http://schemas.openxmlformats.org/drawingml/2006/main">
            <a:r>
              <a:t>Question to ask students: Ask students where parallelism appears in a real computing workload.</a:t>
            </a:r>
          </a:p>
          <a:p xmlns:a="http://schemas.openxmlformats.org/drawingml/2006/main">
            <a:r>
              <a:t>Animation instructions: Fade title; appear bullets/cards one by one; wipe process arrows; highlight hardware/software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1 checklist; Peter S. Pacheco and Matthew Malensek, An Introduction to Parallel Programming, 2nd ed., Morgan Kaufmann, 2020, Chapters 1-2; Michael J. Quinn, Parallel Programming in C with MPI and OpenMP, McGraw-Hill, 2004, Chapters 1-2.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parallel speed can be limited by communication, not only computation.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architecture slides, point from processors to memory/network.</a:t>
            </a:r>
          </a:p>
          <a:p xmlns:a="http://schemas.openxmlformats.org/drawingml/2006/main">
            <a:r>
              <a:t>Question to ask students: Ask students where parallelism appears in a real computing workload.</a:t>
            </a:r>
          </a:p>
          <a:p xmlns:a="http://schemas.openxmlformats.org/drawingml/2006/main">
            <a:r>
              <a:t>Animation instructions: Fade title; appear bullets/cards one by one; wipe process arrows; highlight hardware/software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1 checklist; Peter S. Pacheco and Matthew Malensek, An Introduction to Parallel Programming, 2nd ed., Morgan Kaufmann, 2020, Chapters 1-2; Michael J. Quinn, Parallel Programming in C with MPI and OpenMP, McGraw-Hill, 2004, Chapters 1-2.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this to organize network examples.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architecture slides, point from processors to memory/network.</a:t>
            </a:r>
          </a:p>
          <a:p xmlns:a="http://schemas.openxmlformats.org/drawingml/2006/main">
            <a:r>
              <a:t>Question to ask students: Ask students where parallelism appears in a real computing workload.</a:t>
            </a:r>
          </a:p>
          <a:p xmlns:a="http://schemas.openxmlformats.org/drawingml/2006/main">
            <a:r>
              <a:t>Animation instructions: Fade title; appear bullets/cards one by one; wipe process arrows; highlight hardware/software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1 checklist; Peter S. Pacheco and Matthew Malensek, An Introduction to Parallel Programming, 2nd ed., Morgan Kaufmann, 2020, Chapters 1-2; Michael J. Quinn, Parallel Programming in C with MPI and OpenMP, McGraw-Hill, 2004, Chapters 1-2.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This is a visual checklist of interconnection-network types.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architecture slides, point from processors to memory/network.</a:t>
            </a:r>
          </a:p>
          <a:p xmlns:a="http://schemas.openxmlformats.org/drawingml/2006/main">
            <a:r>
              <a:t>Question to ask students: Ask students where parallelism appears in a real computing workload.</a:t>
            </a:r>
          </a:p>
          <a:p xmlns:a="http://schemas.openxmlformats.org/drawingml/2006/main">
            <a:r>
              <a:t>Animation instructions: Fade title; appear bullets/cards one by one; wipe process arrows; highlight hardware/software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1 checklist; Peter S. Pacheco and Matthew Malensek, An Introduction to Parallel Programming, 2nd ed., Morgan Kaufmann, 2020, Chapters 1-2; Michael J. Quinn, Parallel Programming in C with MPI and OpenMP, McGraw-Hill, 2004, Chapters 1-2.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Ask which model scales better as processor count increases.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architecture slides, point from processors to memory/network.</a:t>
            </a:r>
          </a:p>
          <a:p xmlns:a="http://schemas.openxmlformats.org/drawingml/2006/main">
            <a:r>
              <a:t>Question to ask students: Ask students where parallelism appears in a real computing workload.</a:t>
            </a:r>
          </a:p>
          <a:p xmlns:a="http://schemas.openxmlformats.org/drawingml/2006/main">
            <a:r>
              <a:t>Animation instructions: Fade title; appear bullets/cards one by one; wipe process arrows; highlight hardware/software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1 checklist; Peter S. Pacheco and Matthew Malensek, An Introduction to Parallel Programming, 2nd ed., Morgan Kaufmann, 2020, Chapters 1-2; Michael J. Quinn, Parallel Programming in C with MPI and OpenMP, McGraw-Hill, 2004, Chapters 1-2.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Keep it conceptual; later performance modules can quantify.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architecture slides, point from processors to memory/network.</a:t>
            </a:r>
          </a:p>
          <a:p xmlns:a="http://schemas.openxmlformats.org/drawingml/2006/main">
            <a:r>
              <a:t>Question to ask students: Ask students where parallelism appears in a real computing workload.</a:t>
            </a:r>
          </a:p>
          <a:p xmlns:a="http://schemas.openxmlformats.org/drawingml/2006/main">
            <a:r>
              <a:t>Animation instructions: Fade title; appear bullets/cards one by one; wipe process arrows; highlight hardware/software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1 checklist; Peter S. Pacheco and Matthew Malensek, An Introduction to Parallel Programming, 2nd ed., Morgan Kaufmann, 2020, Chapters 1-2; Michael J. Quinn, Parallel Programming in C with MPI and OpenMP, McGraw-Hill, 2004, Chapters 1-2.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This prepares students for speedup/scalability in Module 2.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architecture slides, point from processors to memory/network.</a:t>
            </a:r>
          </a:p>
          <a:p xmlns:a="http://schemas.openxmlformats.org/drawingml/2006/main">
            <a:r>
              <a:t>Question to ask students: Ask students where parallelism appears in a real computing workload.</a:t>
            </a:r>
          </a:p>
          <a:p xmlns:a="http://schemas.openxmlformats.org/drawingml/2006/main">
            <a:r>
              <a:t>Animation instructions: Fade title; appear bullets/cards one by one; wipe process arrows; highlight hardware/software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1 checklist; Peter S. Pacheco and Matthew Malensek, An Introduction to Parallel Programming, 2nd ed., Morgan Kaufmann, 2020, Chapters 1-2; Michael J. Quinn, Parallel Programming in C with MPI and OpenMP, McGraw-Hill, 2004, Chapters 1-2.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two cores caching the same variable x.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architecture slides, point from processors to memory/network.</a:t>
            </a:r>
          </a:p>
          <a:p xmlns:a="http://schemas.openxmlformats.org/drawingml/2006/main">
            <a:r>
              <a:t>Question to ask students: Ask students where parallelism appears in a real computing workload.</a:t>
            </a:r>
          </a:p>
          <a:p xmlns:a="http://schemas.openxmlformats.org/drawingml/2006/main">
            <a:r>
              <a:t>Animation instructions: Fade title; appear bullets/cards one by one; wipe process arrows; highlight hardware/software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1 checklist; Peter S. Pacheco and Matthew Malensek, An Introduction to Parallel Programming, 2nd ed., Morgan Kaufmann, 2020, Chapters 1-2; Michael J. Quinn, Parallel Programming in C with MPI and OpenMP, McGraw-Hill, 2004, Chapters 1-2.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Emphasize that this issue is mainly for shared-memory systems with private caches.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architecture slides, point from processors to memory/network.</a:t>
            </a:r>
          </a:p>
          <a:p xmlns:a="http://schemas.openxmlformats.org/drawingml/2006/main">
            <a:r>
              <a:t>Question to ask students: Ask students where parallelism appears in a real computing workload.</a:t>
            </a:r>
          </a:p>
          <a:p xmlns:a="http://schemas.openxmlformats.org/drawingml/2006/main">
            <a:r>
              <a:t>Animation instructions: Fade title; appear bullets/cards one by one; wipe process arrows; highlight hardware/software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1 checklist; Peter S. Pacheco and Matthew Malensek, An Introduction to Parallel Programming, 2nd ed., Morgan Kaufmann, 2020, Chapters 1-2; Michael J. Quinn, Parallel Programming in C with MPI and OpenMP, McGraw-Hill, 2004, Chapters 1-2.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Give the high-level tradeoff, not protocol details.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architecture slides, point from processors to memory/network.</a:t>
            </a:r>
          </a:p>
          <a:p xmlns:a="http://schemas.openxmlformats.org/drawingml/2006/main">
            <a:r>
              <a:t>Question to ask students: Ask students where parallelism appears in a real computing workload.</a:t>
            </a:r>
          </a:p>
          <a:p xmlns:a="http://schemas.openxmlformats.org/drawingml/2006/main">
            <a:r>
              <a:t>Animation instructions: Fade title; appear bullets/cards one by one; wipe process arrows; highlight hardware/software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1 checklist; Peter S. Pacheco and Matthew Malensek, An Introduction to Parallel Programming, 2nd ed., Morgan Kaufmann, 2020, Chapters 1-2; Michael J. Quinn, Parallel Programming in C with MPI and OpenMP, McGraw-Hill, 2004, Chapters 1-2.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Mention this returns in OpenMP module.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architecture slides, point from processors to memory/network.</a:t>
            </a:r>
          </a:p>
          <a:p xmlns:a="http://schemas.openxmlformats.org/drawingml/2006/main">
            <a:r>
              <a:t>Question to ask students: Ask students where parallelism appears in a real computing workload.</a:t>
            </a:r>
          </a:p>
          <a:p xmlns:a="http://schemas.openxmlformats.org/drawingml/2006/main">
            <a:r>
              <a:t>Animation instructions: Fade title; appear bullets/cards one by one; wipe process arrows; highlight hardware/software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1 checklist; Peter S. Pacheco and Matthew Malensek, An Introduction to Parallel Programming, 2nd ed., Morgan Kaufmann, 2020, Chapters 1-2; Michael J. Quinn, Parallel Programming in C with MPI and OpenMP, McGraw-Hill, 2004, Chapters 1-2.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hardware alone does not create a correct parallel program.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architecture slides, point from processors to memory/network.</a:t>
            </a:r>
          </a:p>
          <a:p xmlns:a="http://schemas.openxmlformats.org/drawingml/2006/main">
            <a:r>
              <a:t>Question to ask students: Ask students where parallelism appears in a real computing workload.</a:t>
            </a:r>
          </a:p>
          <a:p xmlns:a="http://schemas.openxmlformats.org/drawingml/2006/main">
            <a:r>
              <a:t>Animation instructions: Fade title; appear bullets/cards one by one; wipe process arrows; highlight hardware/software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1 checklist; Peter S. Pacheco and Matthew Malensek, An Introduction to Parallel Programming, 2nd ed., Morgan Kaufmann, 2020, Chapters 1-2; Michael J. Quinn, Parallel Programming in C with MPI and OpenMP, McGraw-Hill, 2004, Chapters 1-2.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This is essential for coordinating processes/threads.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architecture slides, point from processors to memory/network.</a:t>
            </a:r>
          </a:p>
          <a:p xmlns:a="http://schemas.openxmlformats.org/drawingml/2006/main">
            <a:r>
              <a:t>Question to ask students: Ask students where parallelism appears in a real computing workload.</a:t>
            </a:r>
          </a:p>
          <a:p xmlns:a="http://schemas.openxmlformats.org/drawingml/2006/main">
            <a:r>
              <a:t>Animation instructions: Fade title; appear bullets/cards one by one; wipe process arrows; highlight hardware/software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1 checklist; Peter S. Pacheco and Matthew Malensek, An Introduction to Parallel Programming, 2nd ed., Morgan Kaufmann, 2020, Chapters 1-2; Michael J. Quinn, Parallel Programming in C with MPI and OpenMP, McGraw-Hill, 2004, Chapters 1-2.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Mention barriers, locks and message passing as examples.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architecture slides, point from processors to memory/network.</a:t>
            </a:r>
          </a:p>
          <a:p xmlns:a="http://schemas.openxmlformats.org/drawingml/2006/main">
            <a:r>
              <a:t>Question to ask students: Ask students where parallelism appears in a real computing workload.</a:t>
            </a:r>
          </a:p>
          <a:p xmlns:a="http://schemas.openxmlformats.org/drawingml/2006/main">
            <a:r>
              <a:t>Animation instructions: Fade title; appear bullets/cards one by one; wipe process arrows; highlight hardware/software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1 checklist; Peter S. Pacheco and Matthew Malensek, An Introduction to Parallel Programming, 2nd ed., Morgan Kaufmann, 2020, Chapters 1-2; Michael J. Quinn, Parallel Programming in C with MPI and OpenMP, McGraw-Hill, 2004, Chapters 1-2.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Connect to OpenMP and Pthreads.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architecture slides, point from processors to memory/network.</a:t>
            </a:r>
          </a:p>
          <a:p xmlns:a="http://schemas.openxmlformats.org/drawingml/2006/main">
            <a:r>
              <a:t>Question to ask students: Ask students where parallelism appears in a real computing workload.</a:t>
            </a:r>
          </a:p>
          <a:p xmlns:a="http://schemas.openxmlformats.org/drawingml/2006/main">
            <a:r>
              <a:t>Animation instructions: Fade title; appear bullets/cards one by one; wipe process arrows; highlight hardware/software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1 checklist; Peter S. Pacheco and Matthew Malensek, An Introduction to Parallel Programming, 2nd ed., Morgan Kaufmann, 2020, Chapters 1-2; Michael J. Quinn, Parallel Programming in C with MPI and OpenMP, McGraw-Hill, 2004, Chapters 1-2.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Connect to MPI.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architecture slides, point from processors to memory/network.</a:t>
            </a:r>
          </a:p>
          <a:p xmlns:a="http://schemas.openxmlformats.org/drawingml/2006/main">
            <a:r>
              <a:t>Question to ask students: Ask students where parallelism appears in a real computing workload.</a:t>
            </a:r>
          </a:p>
          <a:p xmlns:a="http://schemas.openxmlformats.org/drawingml/2006/main">
            <a:r>
              <a:t>Animation instructions: Fade title; appear bullets/cards one by one; wipe process arrows; highlight hardware/software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1 checklist; Peter S. Pacheco and Matthew Malensek, An Introduction to Parallel Programming, 2nd ed., Morgan Kaufmann, 2020, Chapters 1-2; Michael J. Quinn, Parallel Programming in C with MPI and OpenMP, McGraw-Hill, 2004, Chapters 1-2.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why libraries and directives became practical and portable.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architecture slides, point from processors to memory/network.</a:t>
            </a:r>
          </a:p>
          <a:p xmlns:a="http://schemas.openxmlformats.org/drawingml/2006/main">
            <a:r>
              <a:t>Question to ask students: Ask students where parallelism appears in a real computing workload.</a:t>
            </a:r>
          </a:p>
          <a:p xmlns:a="http://schemas.openxmlformats.org/drawingml/2006/main">
            <a:r>
              <a:t>Animation instructions: Fade title; appear bullets/cards one by one; wipe process arrows; highlight hardware/software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1 checklist; Peter S. Pacheco and Matthew Malensek, An Introduction to Parallel Programming, 2nd ed., Morgan Kaufmann, 2020, Chapters 1-2; Michael J. Quinn, Parallel Programming in C with MPI and OpenMP, McGraw-Hill, 2004, Chapters 1-2.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Tell students Module 3 focuses MPI and Module 4 focuses OpenMP.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architecture slides, point from processors to memory/network.</a:t>
            </a:r>
          </a:p>
          <a:p xmlns:a="http://schemas.openxmlformats.org/drawingml/2006/main">
            <a:r>
              <a:t>Question to ask students: Ask students where parallelism appears in a real computing workload.</a:t>
            </a:r>
          </a:p>
          <a:p xmlns:a="http://schemas.openxmlformats.org/drawingml/2006/main">
            <a:r>
              <a:t>Animation instructions: Fade title; appear bullets/cards one by one; wipe process arrows; highlight hardware/software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1 checklist; Peter S. Pacheco and Matthew Malensek, An Introduction to Parallel Programming, 2nd ed., Morgan Kaufmann, 2020, Chapters 1-2; Michael J. Quinn, Parallel Programming in C with MPI and OpenMP, McGraw-Hill, 2004, Chapters 1-2.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this as a caution before concluding the module.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architecture slides, point from processors to memory/network.</a:t>
            </a:r>
          </a:p>
          <a:p xmlns:a="http://schemas.openxmlformats.org/drawingml/2006/main">
            <a:r>
              <a:t>Question to ask students: Ask students where parallelism appears in a real computing workload.</a:t>
            </a:r>
          </a:p>
          <a:p xmlns:a="http://schemas.openxmlformats.org/drawingml/2006/main">
            <a:r>
              <a:t>Animation instructions: Fade title; appear bullets/cards one by one; wipe process arrows; highlight hardware/software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1 checklist; Peter S. Pacheco and Matthew Malensek, An Introduction to Parallel Programming, 2nd ed., Morgan Kaufmann, 2020, Chapters 1-2; Michael J. Quinn, Parallel Programming in C with MPI and OpenMP, McGraw-Hill, 2004, Chapters 1-2.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this as the end-of-teaching summary.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architecture slides, point from processors to memory/network.</a:t>
            </a:r>
          </a:p>
          <a:p xmlns:a="http://schemas.openxmlformats.org/drawingml/2006/main">
            <a:r>
              <a:t>Question to ask students: Ask students where parallelism appears in a real computing workload.</a:t>
            </a:r>
          </a:p>
          <a:p xmlns:a="http://schemas.openxmlformats.org/drawingml/2006/main">
            <a:r>
              <a:t>Animation instructions: Fade title; appear bullets/cards one by one; wipe process arrows; highlight hardware/software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1 checklist; Peter S. Pacheco and Matthew Malensek, An Introduction to Parallel Programming, 2nd ed., Morgan Kaufmann, 2020, Chapters 1-2; Michael J. Quinn, Parallel Programming in C with MPI and OpenMP, McGraw-Hill, 2004, Chapters 1-2.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Tell students diagrams matter a lot in this module.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architecture slides, point from processors to memory/network.</a:t>
            </a:r>
          </a:p>
          <a:p xmlns:a="http://schemas.openxmlformats.org/drawingml/2006/main">
            <a:r>
              <a:t>Question to ask students: Ask students where parallelism appears in a real computing workload.</a:t>
            </a:r>
          </a:p>
          <a:p xmlns:a="http://schemas.openxmlformats.org/drawingml/2006/main">
            <a:r>
              <a:t>Animation instructions: Fade title; appear bullets/cards one by one; wipe process arrows; highlight hardware/software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1 checklist; Peter S. Pacheco and Matthew Malensek, An Introduction to Parallel Programming, 2nd ed., Morgan Kaufmann, 2020, Chapters 1-2; Michael J. Quinn, Parallel Programming in C with MPI and OpenMP, McGraw-Hill, 2004, Chapters 1-2.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Run these as rapid-fire viva questions.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architecture slides, point from processors to memory/network.</a:t>
            </a:r>
          </a:p>
          <a:p xmlns:a="http://schemas.openxmlformats.org/drawingml/2006/main">
            <a:r>
              <a:t>Question to ask students: Ask students where parallelism appears in a real computing workload.</a:t>
            </a:r>
          </a:p>
          <a:p xmlns:a="http://schemas.openxmlformats.org/drawingml/2006/main">
            <a:r>
              <a:t>Animation instructions: Fade title; appear bullets/cards one by one; wipe process arrows; highlight hardware/software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1 checklist; Peter S. Pacheco and Matthew Malensek, An Introduction to Parallel Programming, 2nd ed., Morgan Kaufmann, 2020, Chapters 1-2; Michael J. Quinn, Parallel Programming in C with MPI and OpenMP, McGraw-Hill, 2004, Chapters 1-2.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Two-mark answers should be compact and precise.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architecture slides, point from processors to memory/network.</a:t>
            </a:r>
          </a:p>
          <a:p xmlns:a="http://schemas.openxmlformats.org/drawingml/2006/main">
            <a:r>
              <a:t>Question to ask students: Ask students where parallelism appears in a real computing workload.</a:t>
            </a:r>
          </a:p>
          <a:p xmlns:a="http://schemas.openxmlformats.org/drawingml/2006/main">
            <a:r>
              <a:t>Animation instructions: Fade title; appear bullets/cards one by one; wipe process arrows; highlight hardware/software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1 checklist; Peter S. Pacheco and Matthew Malensek, An Introduction to Parallel Programming, 2nd ed., Morgan Kaufmann, 2020, Chapters 1-2; Michael J. Quinn, Parallel Programming in C with MPI and OpenMP, McGraw-Hill, 2004, Chapters 1-2.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Five-mark answers need a diagram and 4-5 key points.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architecture slides, point from processors to memory/network.</a:t>
            </a:r>
          </a:p>
          <a:p xmlns:a="http://schemas.openxmlformats.org/drawingml/2006/main">
            <a:r>
              <a:t>Question to ask students: Ask students where parallelism appears in a real computing workload.</a:t>
            </a:r>
          </a:p>
          <a:p xmlns:a="http://schemas.openxmlformats.org/drawingml/2006/main">
            <a:r>
              <a:t>Animation instructions: Fade title; appear bullets/cards one by one; wipe process arrows; highlight hardware/software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1 checklist; Peter S. Pacheco and Matthew Malensek, An Introduction to Parallel Programming, 2nd ed., Morgan Kaufmann, 2020, Chapters 1-2; Michael J. Quinn, Parallel Programming in C with MPI and OpenMP, McGraw-Hill, 2004, Chapters 1-2.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Long answers need definition, diagram, comparison, example and conclusion.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architecture slides, point from processors to memory/network.</a:t>
            </a:r>
          </a:p>
          <a:p xmlns:a="http://schemas.openxmlformats.org/drawingml/2006/main">
            <a:r>
              <a:t>Question to ask students: Ask students where parallelism appears in a real computing workload.</a:t>
            </a:r>
          </a:p>
          <a:p xmlns:a="http://schemas.openxmlformats.org/drawingml/2006/main">
            <a:r>
              <a:t>Animation instructions: Fade title; appear bullets/cards one by one; wipe process arrows; highlight hardware/software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1 checklist; Peter S. Pacheco and Matthew Malensek, An Introduction to Parallel Programming, 2nd ed., Morgan Kaufmann, 2020, Chapters 1-2; Michael J. Quinn, Parallel Programming in C with MPI and OpenMP, McGraw-Hill, 2004, Chapters 1-2.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End by asking students to explain the module using only these keywords.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architecture slides, point from processors to memory/network.</a:t>
            </a:r>
          </a:p>
          <a:p xmlns:a="http://schemas.openxmlformats.org/drawingml/2006/main">
            <a:r>
              <a:t>Question to ask students: Ask students where parallelism appears in a real computing workload.</a:t>
            </a:r>
          </a:p>
          <a:p xmlns:a="http://schemas.openxmlformats.org/drawingml/2006/main">
            <a:r>
              <a:t>Animation instructions: Fade title; appear bullets/cards one by one; wipe process arrows; highlight hardware/software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1 checklist; Peter S. Pacheco and Matthew Malensek, An Introduction to Parallel Programming, 2nd ed., Morgan Kaufmann, 2020, Chapters 1-2; Michael J. Quinn, Parallel Programming in C with MPI and OpenMP, McGraw-Hill, 2004, Chapters 1-2.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1e8584bcd24a9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857580dadc406b" /><Relationship Type="http://schemas.openxmlformats.org/officeDocument/2006/relationships/slideLayout" Target="/ppt/slideLayouts/slideLayout1.xml" Id="R4914579ddc7044b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14579ddc7044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66c01a3ced4d76" /><Relationship Type="http://schemas.openxmlformats.org/officeDocument/2006/relationships/notesSlide" Target="/ppt/notesSlides/notesSlide1.xml" Id="R96925b4f46954e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42da4c64134e50" /><Relationship Type="http://schemas.openxmlformats.org/officeDocument/2006/relationships/notesSlide" Target="/ppt/notesSlides/notesSlide2.xml" Id="R312c7543425a49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8a7fba933c4c9a" /><Relationship Type="http://schemas.openxmlformats.org/officeDocument/2006/relationships/notesSlide" Target="/ppt/notesSlides/notesSlide3.xml" Id="R7f3b26c391204f5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c12dd6977848ec" /><Relationship Type="http://schemas.openxmlformats.org/officeDocument/2006/relationships/notesSlide" Target="/ppt/notesSlides/notesSlide4.xml" Id="R4e0b91e60fbf4b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3e1f6fe254420a" /><Relationship Type="http://schemas.openxmlformats.org/officeDocument/2006/relationships/notesSlide" Target="/ppt/notesSlides/notesSlide5.xml" Id="Rcbe960e1099c4d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61c154efaa46a7" /><Relationship Type="http://schemas.openxmlformats.org/officeDocument/2006/relationships/notesSlide" Target="/ppt/notesSlides/notesSlide6.xml" Id="R5579eb32a0e542d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1e8c60fc7b4608" /><Relationship Type="http://schemas.openxmlformats.org/officeDocument/2006/relationships/notesSlide" Target="/ppt/notesSlides/notesSlide7.xml" Id="R837a7f11950b4c6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30feabf4c346c1" /><Relationship Type="http://schemas.openxmlformats.org/officeDocument/2006/relationships/notesSlide" Target="/ppt/notesSlides/notesSlide8.xml" Id="Ree3dc388045c48e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4aff131b0c4da7" /><Relationship Type="http://schemas.openxmlformats.org/officeDocument/2006/relationships/notesSlide" Target="/ppt/notesSlides/notesSlide9.xml" Id="R617e43c1c311403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75d7b4d56a4dc6" /><Relationship Type="http://schemas.openxmlformats.org/officeDocument/2006/relationships/notesSlide" Target="/ppt/notesSlides/notesSlide10.xml" Id="R78f536e49c924a6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3aed0b710d4d3a" /><Relationship Type="http://schemas.openxmlformats.org/officeDocument/2006/relationships/notesSlide" Target="/ppt/notesSlides/notesSlide11.xml" Id="R0e9686fc5645452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a33d791e2b4af8" /><Relationship Type="http://schemas.openxmlformats.org/officeDocument/2006/relationships/notesSlide" Target="/ppt/notesSlides/notesSlide12.xml" Id="Rf4431fbba22e41b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04da8bd1894d12" /><Relationship Type="http://schemas.openxmlformats.org/officeDocument/2006/relationships/notesSlide" Target="/ppt/notesSlides/notesSlide13.xml" Id="R78676dc127f6492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f81e264dd84732" /><Relationship Type="http://schemas.openxmlformats.org/officeDocument/2006/relationships/notesSlide" Target="/ppt/notesSlides/notesSlide14.xml" Id="R6630a5705d864aa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2d8dc33b234c31" /><Relationship Type="http://schemas.openxmlformats.org/officeDocument/2006/relationships/notesSlide" Target="/ppt/notesSlides/notesSlide15.xml" Id="R13d0124d08964a2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47ec8a471b4100" /><Relationship Type="http://schemas.openxmlformats.org/officeDocument/2006/relationships/notesSlide" Target="/ppt/notesSlides/notesSlide16.xml" Id="R5d05b33dc17446a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a38548ee7b454e" /><Relationship Type="http://schemas.openxmlformats.org/officeDocument/2006/relationships/notesSlide" Target="/ppt/notesSlides/notesSlide17.xml" Id="R50a393c0a3c4462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1af88a179c4fea" /><Relationship Type="http://schemas.openxmlformats.org/officeDocument/2006/relationships/notesSlide" Target="/ppt/notesSlides/notesSlide18.xml" Id="R540f1555996b417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7e483317ca4450" /><Relationship Type="http://schemas.openxmlformats.org/officeDocument/2006/relationships/notesSlide" Target="/ppt/notesSlides/notesSlide19.xml" Id="R22d5fe711dfd496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52b718361c4459" /><Relationship Type="http://schemas.openxmlformats.org/officeDocument/2006/relationships/notesSlide" Target="/ppt/notesSlides/notesSlide20.xml" Id="R4d952f05a1e147a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9b7b26366d4210" /><Relationship Type="http://schemas.openxmlformats.org/officeDocument/2006/relationships/notesSlide" Target="/ppt/notesSlides/notesSlide21.xml" Id="R34e6d2beed0d4fc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e6c485f8b4420c" /><Relationship Type="http://schemas.openxmlformats.org/officeDocument/2006/relationships/notesSlide" Target="/ppt/notesSlides/notesSlide22.xml" Id="R10c8e3707a19400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24b74b246445b4" /><Relationship Type="http://schemas.openxmlformats.org/officeDocument/2006/relationships/notesSlide" Target="/ppt/notesSlides/notesSlide23.xml" Id="R31896b54995647e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ae16f8eacc4376" /><Relationship Type="http://schemas.openxmlformats.org/officeDocument/2006/relationships/notesSlide" Target="/ppt/notesSlides/notesSlide24.xml" Id="Rd6567da2c4874c1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9f4ce9a1cf416c" /><Relationship Type="http://schemas.openxmlformats.org/officeDocument/2006/relationships/notesSlide" Target="/ppt/notesSlides/notesSlide25.xml" Id="R0b24fa59b881493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d29465f75c428b" /><Relationship Type="http://schemas.openxmlformats.org/officeDocument/2006/relationships/notesSlide" Target="/ppt/notesSlides/notesSlide26.xml" Id="R23789f2ecc36475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0695cae9b04647" /><Relationship Type="http://schemas.openxmlformats.org/officeDocument/2006/relationships/notesSlide" Target="/ppt/notesSlides/notesSlide27.xml" Id="R3f554e5e3b4f45c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24fb3ab3884bab" /><Relationship Type="http://schemas.openxmlformats.org/officeDocument/2006/relationships/notesSlide" Target="/ppt/notesSlides/notesSlide28.xml" Id="R9e588a531ef945c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84396882ac45c0" /><Relationship Type="http://schemas.openxmlformats.org/officeDocument/2006/relationships/notesSlide" Target="/ppt/notesSlides/notesSlide29.xml" Id="Re7597283f35b4ec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d5df839d044b04" /><Relationship Type="http://schemas.openxmlformats.org/officeDocument/2006/relationships/notesSlide" Target="/ppt/notesSlides/notesSlide30.xml" Id="R2c21a236f86d4fc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ca9fad9cf94d3d" /><Relationship Type="http://schemas.openxmlformats.org/officeDocument/2006/relationships/notesSlide" Target="/ppt/notesSlides/notesSlide31.xml" Id="Rb505c1fe5a43461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aa2cf3e14e4cd2" /><Relationship Type="http://schemas.openxmlformats.org/officeDocument/2006/relationships/notesSlide" Target="/ppt/notesSlides/notesSlide32.xml" Id="Rda79d92c36b9474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2825e09d304573" /><Relationship Type="http://schemas.openxmlformats.org/officeDocument/2006/relationships/notesSlide" Target="/ppt/notesSlides/notesSlide33.xml" Id="R24631cecaac64e60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fefaa0e5844298" /><Relationship Type="http://schemas.openxmlformats.org/officeDocument/2006/relationships/notesSlide" Target="/ppt/notesSlides/notesSlide34.xml" Id="R8476b8ac84c2418e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c56a9baf4f4aa4" /><Relationship Type="http://schemas.openxmlformats.org/officeDocument/2006/relationships/notesSlide" Target="/ppt/notesSlides/notesSlide35.xml" Id="R9144fccd138e4bb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0fa4aa54164ada" /><Relationship Type="http://schemas.openxmlformats.org/officeDocument/2006/relationships/notesSlide" Target="/ppt/notesSlides/notesSlide36.xml" Id="R7ed1af12e8094178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aaf49a6428463b" /><Relationship Type="http://schemas.openxmlformats.org/officeDocument/2006/relationships/notesSlide" Target="/ppt/notesSlides/notesSlide37.xml" Id="R79665ddca4ad4ef1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300e1500a44058" /><Relationship Type="http://schemas.openxmlformats.org/officeDocument/2006/relationships/notesSlide" Target="/ppt/notesSlides/notesSlide38.xml" Id="R7782d8eb12544ff0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6d29b581fb4127" /><Relationship Type="http://schemas.openxmlformats.org/officeDocument/2006/relationships/notesSlide" Target="/ppt/notesSlides/notesSlide39.xml" Id="Rf777e3d8afca45ba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6b314e9b084e5b" /><Relationship Type="http://schemas.openxmlformats.org/officeDocument/2006/relationships/notesSlide" Target="/ppt/notesSlides/notesSlide40.xml" Id="Rbc7ba763ad2d4f9a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09a975e7b44887" /><Relationship Type="http://schemas.openxmlformats.org/officeDocument/2006/relationships/notesSlide" Target="/ppt/notesSlides/notesSlide41.xml" Id="Rd66c54723d294ac6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42f38e11fd4cb6" /><Relationship Type="http://schemas.openxmlformats.org/officeDocument/2006/relationships/notesSlide" Target="/ppt/notesSlides/notesSlide42.xml" Id="Rb0686c753f8f46ff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b66c15505c4fbe" /><Relationship Type="http://schemas.openxmlformats.org/officeDocument/2006/relationships/notesSlide" Target="/ppt/notesSlides/notesSlide43.xml" Id="R0f49d6c7adf44792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a6e77d8eeb4588" /><Relationship Type="http://schemas.openxmlformats.org/officeDocument/2006/relationships/notesSlide" Target="/ppt/notesSlides/notesSlide44.xml" Id="R5c937f410e8947d0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b4610d2fdc4dd4" /><Relationship Type="http://schemas.openxmlformats.org/officeDocument/2006/relationships/notesSlide" Target="/ppt/notesSlides/notesSlide45.xml" Id="Rd92cfcdbeeef442f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d7093c5db54299" /><Relationship Type="http://schemas.openxmlformats.org/officeDocument/2006/relationships/notesSlide" Target="/ppt/notesSlides/notesSlide46.xml" Id="Rcf53819e28164ab0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7b0380f182491f" /><Relationship Type="http://schemas.openxmlformats.org/officeDocument/2006/relationships/notesSlide" Target="/ppt/notesSlides/notesSlide47.xml" Id="R9f3ac16a74f34cc6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7ab4e4b90244b9" /><Relationship Type="http://schemas.openxmlformats.org/officeDocument/2006/relationships/notesSlide" Target="/ppt/notesSlides/notesSlide48.xml" Id="R20cda71dc88042dd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4a795e3c3446d5" /><Relationship Type="http://schemas.openxmlformats.org/officeDocument/2006/relationships/notesSlide" Target="/ppt/notesSlides/notesSlide49.xml" Id="R06df5104e5fb4904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259fd0d49c4e98" /><Relationship Type="http://schemas.openxmlformats.org/officeDocument/2006/relationships/notesSlide" Target="/ppt/notesSlides/notesSlide50.xml" Id="R28cd06e60ec8466b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dedb69639644c5" /><Relationship Type="http://schemas.openxmlformats.org/officeDocument/2006/relationships/notesSlide" Target="/ppt/notesSlides/notesSlide51.xml" Id="R2557add38fc14239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c356b2e6c7458b" /><Relationship Type="http://schemas.openxmlformats.org/officeDocument/2006/relationships/notesSlide" Target="/ppt/notesSlides/notesSlide52.xml" Id="R8cd331ab1a5e4e3d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929f7d1b9c43e8" /><Relationship Type="http://schemas.openxmlformats.org/officeDocument/2006/relationships/notesSlide" Target="/ppt/notesSlides/notesSlide53.xml" Id="Reb63a7057a354722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560c3268ab4ce3" /><Relationship Type="http://schemas.openxmlformats.org/officeDocument/2006/relationships/notesSlide" Target="/ppt/notesSlides/notesSlide54.xml" Id="Rff2f97a121e44047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2b5c7fb665469a" /><Relationship Type="http://schemas.openxmlformats.org/officeDocument/2006/relationships/notesSlide" Target="/ppt/notesSlides/notesSlide55.xml" Id="R420d2f48fd6245ef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6702b4ea884592" /><Relationship Type="http://schemas.openxmlformats.org/officeDocument/2006/relationships/notesSlide" Target="/ppt/notesSlides/notesSlide56.xml" Id="R074beceafe0e473b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074799e8804923" /><Relationship Type="http://schemas.openxmlformats.org/officeDocument/2006/relationships/notesSlide" Target="/ppt/notesSlides/notesSlide57.xml" Id="Rbebfc48f210f40ed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c618dd7f204c1c" /><Relationship Type="http://schemas.openxmlformats.org/officeDocument/2006/relationships/notesSlide" Target="/ppt/notesSlides/notesSlide58.xml" Id="R83c0d2cc38574cde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3aae0b4c2f4519" /><Relationship Type="http://schemas.openxmlformats.org/officeDocument/2006/relationships/notesSlide" Target="/ppt/notesSlides/notesSlide59.xml" Id="R8e29419fd120436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C19749-BB71-4D22-B8AC-C3709B1B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EF5E0A-2844-430B-99CC-F728F1646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Parallel Computing Foundations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0E8EFC-A6E5-4F12-9D17-8C8AA3C4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Module 1 explains why parallelism is needed and how hardware/software support 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FC193F-7F73-422D-85ED-83FA3E89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36B96B-BE14-4742-BC3D-90160C2E5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D6B061-C094-4959-9337-2C43619D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BEDC99-BF9C-4507-9CF4-237118284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0706C3-04EA-4451-B780-D3677B61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CE4708-1D98-4347-BAE2-27984DDF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5334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8FBFF"/>
                </a:solidFill>
              </a:defRPr>
            </a:pPr>
            <a:r>
              <a:rPr sz="4650" b="1">
                <a:solidFill>
                  <a:srgbClr val="F8FBFF"/>
                </a:solidFill>
              </a:rPr>
              <a:t>VTU BCS702</a:t>
            </a:r>
          </a:p>
          <a:p xmlns:a="http://schemas.openxmlformats.org/drawingml/2006/main">
            <a:pPr>
              <a:defRPr sz="4650" b="1">
                <a:solidFill>
                  <a:srgbClr val="F8FBFF"/>
                </a:solidFill>
              </a:defRPr>
            </a:pPr>
            <a:r>
              <a:rPr sz="4650" b="1">
                <a:solidFill>
                  <a:srgbClr val="F8FBFF"/>
                </a:solidFill>
              </a:rPr>
              <a:t>Module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CE29E0-3206-4F37-9B38-04E8566F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67125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B8C7D9"/>
                </a:solidFill>
              </a:defRPr>
            </a:pPr>
            <a:r>
              <a:rPr sz="1800">
                <a:solidFill>
                  <a:srgbClr val="B8C7D9"/>
                </a:solidFill>
              </a:rPr>
              <a:t>Parallel programming • Hardware/software • SIMD/MIMD • Networks • Cache coherence • Memory models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DA4D97-7C12-46E4-925B-F4550DA5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285875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C69"/>
          </a:solidFill>
          <a:ln xmlns:a="http://schemas.openxmlformats.org/drawingml/2006/main" w="19050">
            <a:solidFill>
              <a:srgbClr val="2C6CA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66D629-7811-48F7-ACBE-10E6990D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955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128426-B586-492B-8B31-8DDFFEC4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38375"/>
            <a:ext cx="2571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8FBFF"/>
                </a:solidFill>
              </a:defRPr>
            </a:pPr>
            <a:r>
              <a:rPr sz="2325" b="1">
                <a:solidFill>
                  <a:srgbClr val="F8FBFF"/>
                </a:solidFill>
              </a:rPr>
              <a:t>SIMD</a:t>
            </a:r>
          </a:p>
          <a:p xmlns:a="http://schemas.openxmlformats.org/drawingml/2006/main">
            <a:pPr algn="ctr">
              <a:defRPr sz="2325" b="1">
                <a:solidFill>
                  <a:srgbClr val="F8FBFF"/>
                </a:solidFill>
              </a:defRPr>
            </a:pPr>
            <a:r>
              <a:rPr sz="2325" b="1">
                <a:solidFill>
                  <a:srgbClr val="F8FBFF"/>
                </a:solidFill>
              </a:rPr>
              <a:t>MIMD</a:t>
            </a:r>
          </a:p>
          <a:p xmlns:a="http://schemas.openxmlformats.org/drawingml/2006/main">
            <a:pPr algn="ctr">
              <a:defRPr sz="2325" b="1">
                <a:solidFill>
                  <a:srgbClr val="F8FBFF"/>
                </a:solidFill>
              </a:defRPr>
            </a:pPr>
            <a:r>
              <a:rPr sz="2325" b="1">
                <a:solidFill>
                  <a:srgbClr val="F8FBFF"/>
                </a:solidFill>
              </a:rPr>
              <a:t>MEM</a:t>
            </a:r>
          </a:p>
        </p:txBody>
      </p:sp>
    </p:spTree>
    <p:extLst>
      <p:ext uri="{BB962C8B-B14F-4D97-AF65-F5344CB8AC3E}">
        <p14:creationId xmlns:p14="http://schemas.microsoft.com/office/powerpoint/2010/main" val="2394271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62A1FC-7D2B-42E8-A74A-89F69FCC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DEFAA9-DCD6-44FA-8E2F-C1F6BB9A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Module 1 learning journey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AAE08D-84BE-4C1D-A2E4-22CAADB6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Use the syllabus as the checklist.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BFC728-A7C3-46EE-A5BC-01223BB9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62A14F-E428-4DD2-9B4F-0C7B61417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F62BA3-2FB4-48D2-9725-C9918F101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257D9D-4E9E-4DC8-BF96-24699F32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FC9B51-D8DB-4CFF-B5D3-DB5A660F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D3736E-75F7-4F76-8D2B-E34A007A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C77BC3-D484-4B90-B143-9224A468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2C170D-44D8-4663-9C97-9D7F1351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6954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Explain the need for parallel programming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86F910-B6C1-44EC-A055-E80E51CE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9B8879-C011-417E-8BDE-205E20144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9BA589-D32D-46AC-B0C7-551645F80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098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Classify parallel computers and software models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54E4E7-66A9-4417-9D86-93D2A774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72EBED-12DF-4041-A488-7EEA9AF8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BDE28A-A77A-4C53-B3F4-89D3EFF4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241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Differentiate SIMD and MIMD systems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6D02D5-0F04-4CF0-A6A0-EEDFE334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40F8F8-1232-4FC9-A966-FD6237A5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A2F2AC-B34E-4803-87BE-E57BB88A7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385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Explain interconnection networks and cache coherence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9A1FF0-BCFF-40C4-85DE-DA08B7D1A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017D02-8520-4856-B25C-49AF4AE4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ABC325-F3C6-4F57-B994-AF73BCE7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528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Compare shared-memory and distributed-memory systems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EDEB2C-A735-4739-A37B-A53E7C57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053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61600C-F2C2-47E3-A174-565CC4C4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053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A16AEE-B257-435E-9508-E3986C79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2672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Explain coordination of processes and threads</a:t>
            </a:r>
          </a:p>
        </p:txBody>
      </p:sp>
    </p:spTree>
    <p:extLst>
      <p:ext uri="{BB962C8B-B14F-4D97-AF65-F5344CB8AC3E}">
        <p14:creationId xmlns:p14="http://schemas.microsoft.com/office/powerpoint/2010/main" val="1155044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2E33D1-308D-4D6B-A843-9A58ADB4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B033A1-3D32-4F26-8D87-95B20F86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The central question: why is one core not enough?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7E186B-7554-48DA-A2FF-90BDEC18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Motivate parallel computing before definitions.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15A107-766D-4160-A2D5-44F67B8C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556815-33D4-4D87-A018-E0B0B19A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449027-22F2-4DE3-ACA0-3AF71ECE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A763A9-0206-4433-A951-95DB1EA4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F1BCB2-3D44-4070-9414-9059730C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A4096B-D24D-4ABC-A6C3-2187BC84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C27A61-646E-4D9D-98B7-5F94EE6D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Bigger problem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AB5FE6-97C1-45D6-8D0C-C7005E10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8F9756-026B-4E1F-8700-20D479E1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C80A68-CCCD-4B80-B786-A752C49C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Longer runtime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C70B97-5A43-48DE-A40C-4D1B4765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7D7ED7-CDAF-48B4-A198-387728F1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B5CDCB-F64C-496A-A840-6B40EA0B4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More cores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EF5CD6-9988-469B-94E5-C9F603FD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7AD3A2-F2EF-4D71-9D9E-3CB90D1D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8FB55E-D13D-4D44-85FA-4F09BFAF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Concurrent work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AF6BCE-117D-4166-BE96-58B84D40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C12550-4E77-4335-8E67-62CE7D1F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9A5479-C5C0-4663-A049-2AB31CF3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Faster answer</a:t>
            </a:r>
          </a:p>
        </p:txBody>
      </p:sp>
    </p:spTree>
    <p:extLst>
      <p:ext uri="{BB962C8B-B14F-4D97-AF65-F5344CB8AC3E}">
        <p14:creationId xmlns:p14="http://schemas.microsoft.com/office/powerpoint/2010/main" val="3581635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9DF771-650D-4E5F-BBF9-7C5E96B1E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BEFE12-EACE-472B-A38B-0E073D95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Why we need ever-increasing performance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8B2267-33DB-4D42-89D6-5483A8EB4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Connect performance demand to real applications.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047B9A-3923-4C1C-B32A-247F3D0F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E01EB9-30F6-49EF-9987-CC42F81B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013EAB-F2D6-4D0E-A372-22BC1183A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10C6EB-4AB4-4242-9184-395ED8F3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Need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44BBBD-BECF-439F-B481-1F22D863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3A2816-EBCC-435B-BD48-A2699ADA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3D7916-F897-4C45-88A9-DA9113894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0B7D1F-30CC-47BC-82C9-7BFA37A6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6954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Scientific simulations need fine detail and long time ranges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061C2F-0AB5-4889-BE58-71515B3B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00513F-4886-4ACB-A4EE-7F0AB4A44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B2037A-9419-4127-A5AF-8C379EEB8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098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Engineering design needs many what-if experiments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48DCAF-55A0-404F-9652-75C38E47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DA45B7-FCC0-48CA-9159-77CD383E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C1ADF9-26B0-460C-96BB-8FCED3BA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241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Data analysis grows faster than manual or serial processing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A57EC8-19EA-471F-ADA7-155E7F10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3E4398-75AD-4E9B-9AFE-D3767C7F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D2F1EC-595D-4631-822A-A4EE92B3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385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Real-time systems need answers before deadlines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B32F75-DC4A-4076-98D3-B28388FE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81C095-0AE1-433E-9533-1F687A98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EB904D-A46B-4100-AD27-092BE283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528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Business and research gain value from faster turnaround</a:t>
            </a:r>
          </a:p>
        </p:txBody>
      </p:sp>
    </p:spTree>
    <p:extLst>
      <p:ext uri="{BB962C8B-B14F-4D97-AF65-F5344CB8AC3E}">
        <p14:creationId xmlns:p14="http://schemas.microsoft.com/office/powerpoint/2010/main" val="92262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160048-393A-422C-BAA1-8D7905B5B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903E42-5FB2-48FD-A4FE-EC756504C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Parallel computing changes what is feasible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8190E0-826C-4632-9EDF-B25B3B73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that speed enables larger experiments.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67CA9A-F537-4FB6-AEBA-42BACD10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8CE991-7FBA-4081-98F4-99B92966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157514-6B1E-43ED-94E5-342D2F51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C923FE-F799-4DAE-948C-DAAE64BD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Need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BDAE62-8484-4263-8E6F-E641AA9B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B8A34C-6000-46A7-96CE-DCFF298C1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2BEC68-47D1-44FC-9B82-69EFB823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048E22-8370-4DBF-BA90-699CAEDF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6215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Faster answer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F01BB1-E9F2-48F2-93DC-6987243A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4315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Reduce hours or days of waiting.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46A4E3-6C10-4D38-87A6-D00376EE7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94E958-137F-40CD-AD8F-E7479C35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EC40EA-CFFA-43E9-AE7A-F32E4453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6215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Larger model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765299-6376-4830-A072-8E5E086A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4315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Use more grid cells, particles or records.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F6B427-DBA3-4E1F-87E1-16686D54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930274-1E90-42B6-98B2-8BBB6C29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34C016-35BA-45B2-8EA1-8C3A13A8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7190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More experiments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47E5E8-7B38-4633-84F2-9FE2263C5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5290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Run many parameter values.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E65688-E199-467B-BBA9-9BE64CC1E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0BE76B-6439-4A63-A7A7-8C01E799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DE7A34-BF14-4AE2-9FC5-8E8D3864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7190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Better decisions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77EE77-D351-47EC-AC91-1BED5C6F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5290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Use computation while it is still useful.</a:t>
            </a:r>
          </a:p>
        </p:txBody>
      </p:sp>
    </p:spTree>
    <p:extLst>
      <p:ext uri="{BB962C8B-B14F-4D97-AF65-F5344CB8AC3E}">
        <p14:creationId xmlns:p14="http://schemas.microsoft.com/office/powerpoint/2010/main" val="17915069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B91724-0689-4C60-A19E-D64E19DB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7A3480-DE54-4B88-B4FF-94F66B75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Modern scientific method uses simulation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0D5D32-FCC1-4FDB-859E-37C498D9C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Place computation beside theory and experiment.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2C7EC4-2395-4220-B12A-2CF7E8F1B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A78240-3AAD-4285-BA41-9CDB80A25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D71A27-29F3-483E-998B-77C7523E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841D4D-C363-4B36-B4ED-EE1A1744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Need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874282-66B5-4D10-AD0A-E77F875C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50B8AF-82F0-441D-BDE6-D5312797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A4D238-5FF1-407B-BC29-850AF60F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8690B4-EA57-4319-90C8-2B8562F1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17D141-3B76-4BE3-BB00-33FE753D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F29A66-4EB4-43BD-9EE4-66B4CA4C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Theory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8503B8-34C0-4592-9176-D2C6C090B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0D97A1-D6B1-44BB-9520-09B787D97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8086B1-0007-4000-95DD-A1194AAD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Numerical simulation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298385-A094-40BF-BFAD-79C48313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FD59C6-BDAF-4FCD-B46B-BEDF33EE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5A130F-84D8-4A1C-9BE9-4F2D02E1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Compare with reality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125A6C-BFE0-45FA-A11B-38D7675A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FED462-89BE-485F-8D02-14C8114E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05D2B9-7027-4E78-AD38-A8C53D3D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Refine model</a:t>
            </a:r>
          </a:p>
        </p:txBody>
      </p:sp>
    </p:spTree>
    <p:extLst>
      <p:ext uri="{BB962C8B-B14F-4D97-AF65-F5344CB8AC3E}">
        <p14:creationId xmlns:p14="http://schemas.microsoft.com/office/powerpoint/2010/main" val="17956423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DDFAE3-9614-4E85-ADAD-6DE61E1E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3E8263-A165-47D6-B58D-FF654D23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What is parallel computing?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9AEDEE-ECAB-4697-9E0B-6658D992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the concept in simple language.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922F8C-E0BC-4848-8C12-656FD207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6740CD-ACBB-49C0-958C-1419CCCB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9FDAD6-6DEA-4ECC-AC7D-C241B5FD9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B581A3-A697-40B7-AE7E-6822AC49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Need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63957C-BE6A-4171-9C4E-8DDB4366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EF1253-11BD-483F-A04F-D533EC0B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9F1C"/>
                </a:solidFill>
              </a:defRPr>
            </a:pPr>
            <a:r>
              <a:rPr sz="3750" b="1">
                <a:solidFill>
                  <a:srgbClr val="FF9F1C"/>
                </a:solidFill>
              </a:rPr>
              <a:t>Parallel computing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81C6F6-DEC5-4854-8C87-999FAE93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Using multiple processing elements at the same time to reduce the time needed to solve one computational problem or to solve a larger problem.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2501DB-68A6-4D94-A1A3-FC010165A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2EA6CF-8CDC-45EF-B30E-3DD1AB32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Multiple processors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A56D13-6AF3-4C44-830E-55FA43D11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9BDAE8-E8AA-4C02-A566-F31DF2F1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9FC9A8-B55A-4567-86B8-036F4B74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48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Concurrency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8EB5C5-A9F3-4188-B739-DD13E518E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4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15B1F9-CFC2-4435-AFE0-CCE30A11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40B54E-9D44-47C1-8FE5-83FA018C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79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Speed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6D77B5-AB92-4C6D-AD1C-84689717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95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A7B3C1-5EA2-4D87-AAB8-0283A6E8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C225ED-3686-4ABD-850E-FEFB845D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10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Scale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E17CD8-15E7-4FFE-BD6F-2F90FD473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26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9EE270-A821-43EC-A8A4-A3BB288B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E1194B-6D95-43E6-9F88-1F012A60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41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One problem</a:t>
            </a:r>
          </a:p>
        </p:txBody>
      </p:sp>
    </p:spTree>
    <p:extLst>
      <p:ext uri="{BB962C8B-B14F-4D97-AF65-F5344CB8AC3E}">
        <p14:creationId xmlns:p14="http://schemas.microsoft.com/office/powerpoint/2010/main" val="2310901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7B0CF6-1F4F-45CE-B812-5C91B8A5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88F16D-2F4D-4A3A-9E84-D24E91014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What is a parallel computer?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C970E8-0B38-47FA-9B6E-B50E00C5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the hardware view.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0DC475-7A22-493E-A64A-6533BF61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C6021E-A600-41D9-93A0-F5A62C17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6730F4-93E4-4744-B2EF-2919A427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D89200-B86E-4A66-90E1-791FEE06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Need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6C67AA-E727-4FB7-B2E2-D534CA385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7728BB-8E20-4AB2-9313-F636B3FE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9F1C"/>
                </a:solidFill>
              </a:defRPr>
            </a:pPr>
            <a:r>
              <a:rPr sz="3750" b="1">
                <a:solidFill>
                  <a:srgbClr val="FF9F1C"/>
                </a:solidFill>
              </a:rPr>
              <a:t>Parallel computer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35161C-4AED-43DF-8EB8-1CFF9D469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A computer system with multiple processors or cores connected by memory and/or networks, designed to support parallel execution.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3EED98-B1E3-4BCC-84BA-E55C18AC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0A0011-70F5-4F07-8EEE-2C9D3509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Processors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FF3FE2-1FA4-4B16-BE7D-BE6E1A048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0066B6-C8E8-4FD5-BB38-01D06BB0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0570B1-659D-450C-8F58-4B680FAD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48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Cores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265FC1-7F4B-4E0D-B937-854BF1E6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4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DD859E-DA6D-40C1-8730-1FAFE55E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B356EC-04B8-4B16-B8EA-B11F7B60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79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Memory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12A85E-2338-499D-9506-AA69E4F6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95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667B86-06AB-46C2-9944-80D8C4248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73FF41-DE87-4949-9669-3CBCFD0C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10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Interconnect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CC4C68-96D1-460E-B67F-F2F914CE6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26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8203B4-494B-4B14-9DAD-3B5E1216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A09FE0-9705-4573-B5E7-087675D5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41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Parallel execution</a:t>
            </a:r>
          </a:p>
        </p:txBody>
      </p:sp>
    </p:spTree>
    <p:extLst>
      <p:ext uri="{BB962C8B-B14F-4D97-AF65-F5344CB8AC3E}">
        <p14:creationId xmlns:p14="http://schemas.microsoft.com/office/powerpoint/2010/main" val="2432209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B5936B-416C-4D98-8838-E0F67F38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31E81D-26D8-43FA-92DE-36C42D61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What is parallel programming?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C3D5B0-2406-4E91-AE87-3735B0E2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the software view.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9F189D-7712-4A5B-B24B-CC959B4C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65B9C1-A485-4928-99C0-F98FC1C5E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673587-3E11-413A-9C13-EBEEA6C1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79220D-B803-4321-A9A8-381FD2F4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Need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F61899-1864-49E6-AA1A-9DB4C45B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1232FB-6D8A-4B56-86F0-BE563696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9F1C"/>
                </a:solidFill>
              </a:defRPr>
            </a:pPr>
            <a:r>
              <a:rPr sz="3750" b="1">
                <a:solidFill>
                  <a:srgbClr val="FF9F1C"/>
                </a:solidFill>
              </a:rPr>
              <a:t>Parallel programming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36A8D8-2809-4B93-A1EF-0206974F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Writing programs that explicitly indicate which parts of a computation can run concurrently and how those parts communicate or synchronize.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50C34B-B48D-4205-987D-B104BE49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0A36C9-13B8-47CE-BE4B-EC0AB157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Tasks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FF5392-C34E-413A-A966-9E4944AF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9064F1-E45E-4AB6-8A02-B944C2FC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EAAEF1-5F55-4A31-AF1D-17605709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48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Concurrency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1B220D-4A94-4405-A1E6-1726B827F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4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84469F-1D07-4339-93A3-169A10CC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E2A9CA-06F4-4B39-A3B7-1A6372A05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79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Communication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11174C-16CD-4CA9-A8DE-C439A1942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95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9A0D32-4EDF-4E76-8148-D2DA81FF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E171A5-50A8-4692-BC20-3385E9B4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10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Synchronization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667D48-1745-48D9-AC49-EE5E50402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26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1CABAC-40D0-4C45-A2F5-FF465168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C0DCD9-12DD-4E61-AAA5-0AA759458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41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Correctness</a:t>
            </a:r>
          </a:p>
        </p:txBody>
      </p:sp>
    </p:spTree>
    <p:extLst>
      <p:ext uri="{BB962C8B-B14F-4D97-AF65-F5344CB8AC3E}">
        <p14:creationId xmlns:p14="http://schemas.microsoft.com/office/powerpoint/2010/main" val="979717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66BEB99-6280-45AD-8297-78A98D5E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C2DB00-65F6-4554-A353-E5C4B0B2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Concurrency is the idea; parallelism is the execution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DC4E67-656B-4288-8AFB-C8B27FD7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Clarify two related terms.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06670C-04BB-4292-A425-856B43C95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0AB7A2-4FE8-49AE-93B2-85E22BAE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391D78-29A8-440A-AA0F-9D750B0D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004B9F-3CFD-4A9B-A270-9833F41CA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Need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6A26C4-3563-4F90-9993-8F1300591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4F0415-2726-4167-AEB3-8037FCCE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020DCC-35D8-4FB0-8EDD-ECB399C8C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F26455-4020-4860-8A0F-A3CD16F2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Concurrency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E703FE-8533-40C9-90EB-47B36258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AC7E47-4F68-4B4C-B770-FA5A695B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4738D4-7A49-4AB7-A992-974FC10B8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3FBECA-9198-49D3-97D4-EE5E7FD1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Parallelism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B44135-D617-4560-8AC8-111E774E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7A6C03-0C4E-41E2-B2A4-A82E26FF8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11794-652B-41E2-BF75-491FC17CA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C763CC-FCB6-4209-A3A8-F1EAC421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Multiple tasks are in progress logically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A0F589-C3E5-4A36-B54D-493C66BE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EC5DEB-4466-4968-B3C5-BE2A13DC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DA0603-C0FA-4191-BBDF-2F3FB637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Can be interleaved on one core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8967A1-1319-49CE-BC1A-9CD39AEF1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87159A-5F2D-472F-A706-5F6989E2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A22F25-84EE-49FB-9C60-AC70F871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Useful for responsiveness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8C8FB1-878F-4405-9F81-816299B9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04BE32-C315-4B8B-9785-B885879A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800E77-4F92-480C-9D2D-F3E63EF2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Focus on structure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F0ABCC-3C87-49F9-B0BB-2F85BB52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FA2B17-50D5-40E3-AE70-CC3AE4AD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9A8EF7-7815-444D-859D-340A734A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Multiple tasks run at the same time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1C3A04-D351-4EE2-A7DC-2388177D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D89FAC-7F03-4053-88CA-329FE920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505C39-03FE-4218-A4BE-A0F70E43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Needs multiple processing elements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C0700A-613C-40B6-A16A-B2BDAD766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527AAA-68BE-44A4-9B64-62AC8FFF1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1901FEB-AA4F-413A-895B-B6218410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Useful for speedup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70E2D5B-8EC0-4DA9-8143-AF88B765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B7EC6C0-FA18-4AD1-9B1F-50424FEEC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FBB054B-9DC7-404C-8409-4A45E654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Focus on execution</a:t>
            </a:r>
          </a:p>
        </p:txBody>
      </p:sp>
    </p:spTree>
    <p:extLst>
      <p:ext uri="{BB962C8B-B14F-4D97-AF65-F5344CB8AC3E}">
        <p14:creationId xmlns:p14="http://schemas.microsoft.com/office/powerpoint/2010/main" val="91034354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319556-15A6-4EB2-87BA-E86BD129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47126B-B3D9-4EF3-A668-F32F0A240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Where parallelism hides in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F58754-3CE9-47BD-A9B4-D1B4623A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Introduce dependence thinking.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485F2B-0166-431E-A952-49F46EAC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D021D8-15C6-4682-AE13-E738AE24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553237-4828-4A05-BDEA-65EBDEB1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5CABEE-3F29-4220-854D-22BAF98B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Parallelism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E88333-4F32-468C-920D-BD0C368B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876651-CB62-4EFB-A5B1-E8F06D319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75F499-F2B4-421A-A340-88709A57B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Problem steps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EA1875-4B17-4D31-9EEA-7CD1F567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40636E-4246-4131-9B5B-BFF99796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917E65-438D-474A-BA2F-FD662F8F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Data dependences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2347CA-F137-43EA-B0D8-7E11CCF8D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06F02F-A730-4749-8216-EDB44EFD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9C1FEE-BC18-400B-9E56-6A376EB77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Independent tasks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D3A371-E5DE-450C-B541-543213937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720081-DB1F-476A-8F2D-E27D6227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E99620-9E7E-4B3C-A677-468AC99B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Parallel schedule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A63F36-53C6-4E9A-89A5-FE773E5F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0DE4ED-17C5-4134-B383-2F1F05EB2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971548-3B0F-4610-AA49-116833901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Correct result</a:t>
            </a:r>
          </a:p>
        </p:txBody>
      </p:sp>
    </p:spTree>
    <p:extLst>
      <p:ext uri="{BB962C8B-B14F-4D97-AF65-F5344CB8AC3E}">
        <p14:creationId xmlns:p14="http://schemas.microsoft.com/office/powerpoint/2010/main" val="52494344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461AF4-AEC2-444F-92F3-C0A0CBC1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CAA4CA-0599-432F-97FA-0D7FA02D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Data parallelism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044B73-7C4E-4982-9FB6-0CFAA2E2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same operation on many data items.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A1525F-153E-4C02-82DE-4B3DC74A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7A8F32-5868-4CAA-B48B-14C88230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D23C9E-2800-479B-8BBA-4977E286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61FD08-2E5B-4D2A-8832-6219C283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Parallelism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A926C0-7552-41ED-BC05-F7E7B82C1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4BA25D-2AB4-4DFA-95F0-23B042238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9F1C"/>
                </a:solidFill>
              </a:defRPr>
            </a:pPr>
            <a:r>
              <a:rPr sz="3750" b="1">
                <a:solidFill>
                  <a:srgbClr val="FF9F1C"/>
                </a:solidFill>
              </a:rPr>
              <a:t>Data parallelism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D0603-909E-4905-925F-203E9453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Independent tasks apply the same operation to different elements of a dataset.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FCAE3E-E6C4-4007-8683-F865EBA0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F9AA13-2FD6-4A61-AB2E-0458F563E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Same operation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D79B6F-CFE9-4C71-AC46-7C803086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600B17-8BD4-44F2-A6EB-A8AB24EB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A2B3F2-7EA5-4B23-B844-44AA194A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48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Different 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C52281-7BE8-429C-A958-E71A2329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4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A1805F-B92A-4A20-869D-21675080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EA6E13-C70C-438B-91B0-827261A1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79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Arrays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34F11A-A24E-4D73-A3CA-65C51786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95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C06889-A67F-48C7-A4E4-BDB9C4EE7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12497B-3A39-4A47-AD43-38C049FE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10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SIMD friendly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C5D883-F71B-4533-B8F2-5D3573F63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26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5D371F-5518-4450-BA47-0D2BF3A81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62445E-BCCC-499E-8213-6210DC27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41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High throughput</a:t>
            </a:r>
          </a:p>
        </p:txBody>
      </p:sp>
    </p:spTree>
    <p:extLst>
      <p:ext uri="{BB962C8B-B14F-4D97-AF65-F5344CB8AC3E}">
        <p14:creationId xmlns:p14="http://schemas.microsoft.com/office/powerpoint/2010/main" val="21093485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56D4F0-A1A5-45E1-940A-B51C354B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5E4F20-EA5C-41BC-9EF9-C858575F0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Data-parallel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EE0496-AB0E-43D8-924A-5E8A54AE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loop-level independence.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F730DB-071E-4D6A-88E6-31EDFED5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205999-EE9D-4E78-926C-67F20D86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04A8AF-E7BF-45EC-A896-AF8A7670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A62AFC-0210-466D-93F1-6D8624AD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Parallelism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D3B054-138A-48AE-AFFD-352FB19A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BE461D-80C4-465B-90A1-628DE12F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6191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12CF17-0547-4348-9788-06439C3C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"/>
            <a:ext cx="557212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for i = 0 to n-1:</a:t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    a[i] = b[i] + c[i]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Each iteration can run on a different core</a:t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if there is no cross-iteration dependence.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EE8463-E30E-49DA-A44C-A007095E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33625"/>
            <a:ext cx="3238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B35594-8F21-4BE9-8E71-598B0325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33625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090EAD-708F-4628-8A30-160D6610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486025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Tiny parallel-thinking example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EB45BE-EBE2-4E43-81F0-6E5AB805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867025"/>
            <a:ext cx="28765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Look for independent work, shared data, communication and synchronization.</a:t>
            </a:r>
          </a:p>
        </p:txBody>
      </p:sp>
    </p:spTree>
    <p:extLst>
      <p:ext uri="{BB962C8B-B14F-4D97-AF65-F5344CB8AC3E}">
        <p14:creationId xmlns:p14="http://schemas.microsoft.com/office/powerpoint/2010/main" val="34603163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3EA759-3042-4193-9096-BDFDFCEC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CE05EF-FE25-4ACC-9873-021308D8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Functional parallelism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21ABB7-AF9C-413D-A3BD-8E6CCA52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different operations running concurrently.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DB8FAE-6224-4B4C-9160-35E723E7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484005-B949-43F4-BB31-8858B6F8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50961B-C1DB-4615-A706-876D16FBB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ED5726-75CB-4642-A2B6-223CCAE7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Parallelism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B4E938-9EDF-43CB-9F07-278E74A4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9C0881-CBED-451B-B517-F58268B1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9F1C"/>
                </a:solidFill>
              </a:defRPr>
            </a:pPr>
            <a:r>
              <a:rPr sz="3750" b="1">
                <a:solidFill>
                  <a:srgbClr val="FF9F1C"/>
                </a:solidFill>
              </a:rPr>
              <a:t>Functional parallelism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73C985-9D3D-4F69-BC28-067717F34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Independent tasks perform different operations, possibly on different data, at the same time.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44AD53-7F4A-4396-828E-781F9C1A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590045-D87D-4583-AE89-941DFC19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Different tasks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358697-94C1-4377-9C75-E2CFE125E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47C16F-D6CE-41BB-9652-C104AB75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0867F8-AC7C-4C79-B619-9CE38732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48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Different operations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9ACD0A-25EA-43C7-BF37-EC99D51A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4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C7A508-24B5-4BFC-B820-08C01493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897E63-AF8C-48E2-8DE5-3636D36C8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79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Pipeline stages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5EAC4C-A21F-43E3-A0B9-739D4252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95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321440-0D92-4C1D-A53C-B819AE30A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03B700-B772-4908-9152-88F91A19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10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Task graph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1E35F6-BD19-4003-8F60-6E3F8FD0E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26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84749B-FCF7-4BF5-87B8-71A88886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EB4056-C6A5-4F98-9666-76493785F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41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MIMD friendly</a:t>
            </a:r>
          </a:p>
        </p:txBody>
      </p:sp>
    </p:spTree>
    <p:extLst>
      <p:ext uri="{BB962C8B-B14F-4D97-AF65-F5344CB8AC3E}">
        <p14:creationId xmlns:p14="http://schemas.microsoft.com/office/powerpoint/2010/main" val="181436592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5C33A6-A664-4623-9DCB-1B5C542D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A5C908-4576-45E3-877D-DF7CA8D36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Pipelining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486BF3-5482-4F6C-AA25-96A5FE0DD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staged concurrency.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089E8A-B9C2-424F-A694-B11B0BB34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34F09F-8572-4F04-8D30-5CFD97EC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783CE6-6CE5-49EA-A3FF-DF9AAABBA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83B4C3-C45D-45D8-B08F-5AFE923F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Parallelism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6942FA-74FC-4E70-9627-67E7C43B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AC7077-F8EE-4CB8-B20A-D799B296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E6A4BE-9236-4DC6-894D-6552AFC1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Stage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0C29DE-74B5-48BB-BD58-17DCC8C2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72EA3F-BD99-44A3-BDFC-0A22EABF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7C9476-7E95-4109-B2E3-140DFB1E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Stage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FE3B34-DAE7-4773-A873-0B34CA0A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571441-20A0-4766-98EF-002B5C498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7C6C4B-3950-4FB3-A24F-A9870F6D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Stage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DB1AF8-392B-4826-9564-624EB302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43E20F-5811-4578-9858-9461D0E2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6FBE35-7F09-47ED-925C-ADED2A30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Stage 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56E179-ABD2-45E6-9A7B-F35DBD16F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7A10AC-69F1-4D24-89C6-D1EA6300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B1DC79-65FE-40CE-AE46-5602FB96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Continuous output</a:t>
            </a:r>
          </a:p>
        </p:txBody>
      </p:sp>
    </p:spTree>
    <p:extLst>
      <p:ext uri="{BB962C8B-B14F-4D97-AF65-F5344CB8AC3E}">
        <p14:creationId xmlns:p14="http://schemas.microsoft.com/office/powerpoint/2010/main" val="3035569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5A2778-6D9F-4E39-8D38-0B90FDB29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6BB705-3257-4B04-A731-F9A7FD71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Dependence graphs reveal safe parallel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73F6A0-C5DF-48F5-B34B-0A68307C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the visual method.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BA2F9E-4FCF-44BD-BC06-300D74F2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FCFBD5-353F-4487-8F05-4E4BA00BC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AC8DB1-5753-418F-9B09-EF271635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D49580-D1CF-4396-919F-84459D78A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Parallelism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E4C8D8-D200-4DA0-ABE8-E1DBA853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BA034E-9B75-41B6-BA0C-84ACE5A4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427D38-B46F-43C1-9430-C10DCADD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4B3921-92E3-4829-88F2-A52EB98C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02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Node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C0C4B3-F908-4464-B94C-9D59CFCF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81275"/>
            <a:ext cx="26860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A task or operation.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7A1730-8A6D-4D64-B11D-F60255456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3A8DED-FC7C-4936-9BD6-53D7D908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DED2C5-CA07-402F-9AD6-DA84FE72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002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Edge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4C1F9B-E967-4790-8E1C-1141096F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81275"/>
            <a:ext cx="26860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A dependence that forces order.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F735DD-EEA9-4671-88B0-00D64266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86EB7E-B09F-4E1B-9B28-2E38D49E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AE1931-E8FD-4B91-BD9D-291F915A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02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No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74B3B4-5171-4A51-9B90-A56232D8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81275"/>
            <a:ext cx="26860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Tasks may run concurrently.</a:t>
            </a:r>
          </a:p>
        </p:txBody>
      </p:sp>
    </p:spTree>
    <p:extLst>
      <p:ext uri="{BB962C8B-B14F-4D97-AF65-F5344CB8AC3E}">
        <p14:creationId xmlns:p14="http://schemas.microsoft.com/office/powerpoint/2010/main" val="30041875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CFCBC6-3AB1-4A3F-996E-21670CB3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C5F39E-5680-4969-B411-439713BF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From von Neumann to parallel hardware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F99DFE-37BD-4A8C-9F43-C3B84576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the baseline machine model.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C4C48A-A882-4AEF-B071-ABF7EB8A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B00279-89EE-450A-BB20-602D63367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39BCB4-72B1-454B-BC33-659982C0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9814D3-1032-46DC-B565-DA765F017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Hardware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8A54F8-E1F8-4FEF-BF35-41F9A605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FA9786-EE6F-4470-8C34-4401281D6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470169-A6C8-40F3-AD3B-4E264898E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CPU/core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3FC521-645C-4F6F-89E2-FDA249FC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5AF34F-F2B6-4512-91CA-5976343F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66CF71-1343-4D6F-B2A8-0E537D73F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Memory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A4C309-95E9-4139-853E-B5DB4051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942EBD-E2FA-4027-9085-C85AE47A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21F5F0-D76F-40DE-8E31-00641B3D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Interconnect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59060A-7913-41D7-A002-99591556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4288ED-7419-4070-A183-9C41E617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6CFF89-2186-4204-A385-68F6F6520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I/O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0C5D3C-CD3E-41ED-A0C9-8B850F20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D9E416-A8E7-4D2A-BB8A-411DBD5E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94ACE8-6EBB-433A-B4CE-18D998E9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Program</a:t>
            </a:r>
          </a:p>
        </p:txBody>
      </p:sp>
    </p:spTree>
    <p:extLst>
      <p:ext uri="{BB962C8B-B14F-4D97-AF65-F5344CB8AC3E}">
        <p14:creationId xmlns:p14="http://schemas.microsoft.com/office/powerpoint/2010/main" val="81542886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44CDD8-6A61-4B30-AF33-E487F9EE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BEC10E-477E-4E77-9067-154ED12D7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Modifications that enable speed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5A9D12-72D5-4686-A384-58B4B2E9B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Cover textbook hardware background.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BABB93-3D3E-4995-8480-68717175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14F774-B444-4721-B7BD-E7714569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961987-18BA-4FC8-ABB8-0A32BB20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D003CA-B0A5-4B84-901E-2072A4257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Hardware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2D0C09-600B-4639-A7C3-B776DD5A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383E50-24A7-489D-BFDA-594E74F6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FDC3BC-88AF-4E35-BA8C-DD6BFB3EB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B1547E-E312-4A9C-9C63-9E6CD109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6954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Caches reduce average memory access time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E36F74-9A7C-4664-A8C2-051A9BB15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2D3B31-69B6-4B8F-B340-A102491B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85D293-E0FE-4E53-AECD-11760E38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098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Pipelining overlaps instruction execution stages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711D40-6460-4B6B-8248-126AD247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0ECA6A-5133-47F3-A9AB-7B296E8D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07E7A5-4CED-4073-BFF6-30A635A2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241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Instruction-level parallelism executes independent operations internally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5D1FCB-D86E-4976-B191-1E2DD032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021D94-73F7-4120-A82C-A0977DAE0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BF75B8-024B-4853-B0CC-8D70AC4BA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385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Hardware multithreading switches between ready threads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415617-F670-4A0D-BE43-4E9592B5C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2BE48C-11C0-4021-84D0-A31DC7B0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9F5565-4C29-4B1A-BEE0-31CC395A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528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Multiple cores expose explicit parallel execution</a:t>
            </a:r>
          </a:p>
        </p:txBody>
      </p:sp>
    </p:spTree>
    <p:extLst>
      <p:ext uri="{BB962C8B-B14F-4D97-AF65-F5344CB8AC3E}">
        <p14:creationId xmlns:p14="http://schemas.microsoft.com/office/powerpoint/2010/main" val="96938552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2F81D8-0329-4EE2-85D9-E986A04EC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2C371A-8E04-4ABE-8632-DD0BC5AC6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Cache basics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E5359B-8321-46B2-8C9A-6583E985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why caches exist.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AFB1BF-9EC9-4207-9E78-5D846E39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F2DE4D-00D3-401E-AF75-078304DB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E3026B-7FBB-498E-B971-523E64E90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0661BC-4732-4366-8F65-C184B962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Hardware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78701A-E17D-492C-91E8-F6196DB4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F7405A-0157-4604-8E29-CF342F9A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9F1C"/>
                </a:solidFill>
              </a:defRPr>
            </a:pPr>
            <a:r>
              <a:rPr sz="3750" b="1">
                <a:solidFill>
                  <a:srgbClr val="FF9F1C"/>
                </a:solidFill>
              </a:rPr>
              <a:t>Cache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2DA16C-12E1-4540-B19C-C6831033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A small fast memory close to the processor that stores recently or frequently used data to reduce slow main-memory access.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A794E8-ABA0-4A1C-AFA7-28A69B83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BE3843-5C4D-4880-BC36-6A877B7E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Fast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82B057-6A07-47D1-8740-FE5B8D32C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90C34B-877F-4B2F-B234-2B8AA7E2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BE64E4-D92B-463E-9678-5C6C5ECB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48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Locality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F11C41-1C42-4B35-A205-1A3E0666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4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4CE26C-1B35-4D78-B764-24A13290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B1D1C8-4639-430E-BA23-AE058B17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79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Hit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ED9862-B1B2-4EE6-9F4B-149F1968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95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EB460B-3A49-4E5A-8B08-92DCAAD01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574A9D-A4E3-4BD8-A161-F661E851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10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Miss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BA5352-3376-472F-BAD7-4D3D0CDA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26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2CCDA5-404A-4FE3-81FA-8196F413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16B5C1-53C5-48D9-A690-12D8D091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41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Memory gap</a:t>
            </a:r>
          </a:p>
        </p:txBody>
      </p:sp>
    </p:spTree>
    <p:extLst>
      <p:ext uri="{BB962C8B-B14F-4D97-AF65-F5344CB8AC3E}">
        <p14:creationId xmlns:p14="http://schemas.microsoft.com/office/powerpoint/2010/main" val="153427267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D46364-8B85-4437-B288-BC5898C4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74E4E8-3672-40C6-9ABA-91D6B1B7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Hardware multithreading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F1CE33-08A1-489E-9E1F-66468E95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threads at hardware level.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D962E5-0506-4B50-A71A-D5D09C55C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E63391-FC1F-4631-B8B8-F55E6A87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F47C76-5D35-4B29-99DA-CF1FBCF5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3924B4-72FC-4CDE-994F-D32C0A44F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Hardware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3C05F1-998E-4A0F-8DE4-9543BF56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170D3B-1ECB-44E8-84FB-6F45F6B1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4594A8-2164-407C-9961-B1D03358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B4A7E4-9180-4C28-8D20-494C90739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02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Core resources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8F4421-903C-4BAA-A49E-68C3262C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81275"/>
            <a:ext cx="26860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Execution units are shared.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E0839F-05A2-4360-A126-C567B54D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BCBC79-F636-4A11-BD75-FCB80C927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72C835-A277-4BC5-B7F4-6E31B4A79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002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Thread contexts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9E269F-964C-41AD-89E2-491F6B82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81275"/>
            <a:ext cx="26860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The core keeps multiple instruction streams ready.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D5C3B7-B882-41AB-AB9D-93C35F29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824BBA-2A1F-43ED-9A21-57463189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E20C42-C3C4-48CE-97A4-7E11870F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02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Latency hiding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564634-F07C-4050-9BB3-69DBC232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81275"/>
            <a:ext cx="26860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When one thread waits, another may run.</a:t>
            </a:r>
          </a:p>
        </p:txBody>
      </p:sp>
    </p:spTree>
    <p:extLst>
      <p:ext uri="{BB962C8B-B14F-4D97-AF65-F5344CB8AC3E}">
        <p14:creationId xmlns:p14="http://schemas.microsoft.com/office/powerpoint/2010/main" val="121823009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F1B9E6-9115-412D-B64B-AD9EB03D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D9EA62-49AE-4155-9B29-D0D1B996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Classifying parallel computers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0D1C00-5471-4974-8CC0-71688748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Introduce the syllabus classification idea.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B259E0-664A-4FF0-BB8D-543B2A76F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65B3F9-997F-4D3E-8371-0C749B3D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8809DE-9783-42A2-9DAC-579B6D7C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BD41D0-FA90-40EC-9F11-81B7FBAB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Classifications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C15D32-7F32-4DDC-BAF9-ABC6A2BA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F32215-E20E-42C6-80D7-2356BBC8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EAB312-4AB2-430D-AAA6-A91B1EAC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Memory organization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F5E149-2C24-4C54-93A0-25403617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183098-0D96-4BE0-8CAB-4D4448E4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278F10-D2CE-4870-B736-8466B375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Instruction/data streams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C3786E-6F7E-46A2-8031-B5E22F4D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5887B5-F822-460E-B152-F7CC5040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DE2B44-6989-4834-96CC-B92A305C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Interconnect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0FAE77-3CEB-492F-BF4B-0742212B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91022E-59E7-4A77-898F-4660AC1F9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A03E5F-BA23-4B58-8E7C-FA82E8B4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Programming model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AEA22D-532A-4339-9D87-BB3C0673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244907-B3AC-479F-B38B-4672FACB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871167-1538-40BD-9029-DBD9E275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Coordination method</a:t>
            </a:r>
          </a:p>
        </p:txBody>
      </p:sp>
    </p:spTree>
    <p:extLst>
      <p:ext uri="{BB962C8B-B14F-4D97-AF65-F5344CB8AC3E}">
        <p14:creationId xmlns:p14="http://schemas.microsoft.com/office/powerpoint/2010/main" val="24157343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13D49C-9EDC-488A-ACC3-D10F00F7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0446BA-B3BF-438F-A157-0EB7644A6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Flynn's taxonomy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A808A3-B805-4F6D-951C-02FD05A2E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Give the standard instruction/data-stream classification.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E1C93C-AC4A-419D-8706-7C1CD599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40F742-0AAD-464F-9F03-696CBA42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8C4B98-E3B3-4E0B-8F33-2222BC17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058064-6916-4183-AC31-87D34618E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Classifications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024CBE-F9F8-425C-96EA-01A1F8CB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F3AB4A-56B0-45CE-8F40-0388635E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4C75FE-4C38-4760-A47D-7F6256CB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DDB8E1-99E3-4671-82C4-0CCB2F3C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6215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SISD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55D9F8-E5A6-4118-87EC-59FA8A2F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4315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Single instruction, single data: traditional serial computer.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C40359-AB34-45E2-AFD9-C7E98429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2B43F3-C242-4EB4-83EC-5937B1DD0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AC8DDD-5002-4B07-BDCC-837794101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6215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SIMD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D19174-F678-47F9-862B-F71A6845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4315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Single instruction, multiple data: same operation on many data items.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7A475A-C332-4AA8-9E83-6BECC5E84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123F56-DD6E-464D-A12A-1849D1D5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14FDBA-AC48-44A3-9B3D-377247DD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7190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MISD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45D96B-08BA-444C-9A13-DE77C9A7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5290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Multiple instruction, single data: rare in practice.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558DB1-9264-4926-830B-A5C1257D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1015A1-5861-4B1C-B2B1-8DA01159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CAB9AF-7BAE-4E08-BDE1-A69CA181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7190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MIMD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A4A06B-6C24-40F8-8817-6FB7E979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5290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Multiple instruction, multiple data: independent processors run different instructions.</a:t>
            </a:r>
          </a:p>
        </p:txBody>
      </p:sp>
    </p:spTree>
    <p:extLst>
      <p:ext uri="{BB962C8B-B14F-4D97-AF65-F5344CB8AC3E}">
        <p14:creationId xmlns:p14="http://schemas.microsoft.com/office/powerpoint/2010/main" val="134207412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7ACADC-4C65-4BCC-A4B4-D91EE6FE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5A9251-5B49-4D1B-8CCE-06FFB1CB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SIMD systems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C7C8D3-75D2-42B0-B655-8EA069B3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SIMD.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3A675B-B150-47C9-BEF0-F089FA9E8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59D216-EC58-4A74-8276-B6A6C057A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9115DD-0B5B-439D-A5B0-1005CBD0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02E18C-6AA5-40C8-822E-2E8D58DA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SIMD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7B914E-7845-454B-BA42-24C76BBF0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E4CDCB-1E36-4BD9-81C6-CFA6B51A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9F1C"/>
                </a:solidFill>
              </a:defRPr>
            </a:pPr>
            <a:r>
              <a:rPr sz="3750" b="1">
                <a:solidFill>
                  <a:srgbClr val="FF9F1C"/>
                </a:solidFill>
              </a:rPr>
              <a:t>SIMD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345C8F-9D99-4C22-9163-D83FFF94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Single Instruction Multiple Data systems apply one instruction stream to many data elements at the same time.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10215C-4F0F-4CF8-8867-B8CA9F01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CB28DE-A0A8-4D3D-92B3-7E190DC3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One instruction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E37771-A231-42BA-AE6C-921966A8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23DEEA-0A3F-45F1-B8E2-A0EB2E49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4D9982-D981-44DF-B4CD-E9A0BDA35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48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Many 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654E54-80B3-4F82-AD6A-D9B1F37FB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4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BDDC52-DBD7-426C-97E7-7928FE7F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C8128D-42E8-4201-8377-B3903491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79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Lockstep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7E4594-BAE5-449C-A6B1-11A6A4E9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95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264C23-F3E0-4046-A371-178790F9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12EE45-FD70-4A37-AED9-B0E4A94A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10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Vector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7523B2-8E0A-456A-B1E4-67BF540E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26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E83596-ECF4-46E9-B09C-7838D3B2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A58D5D-AE2C-4002-9580-DD8802BE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41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Data parallel</a:t>
            </a:r>
          </a:p>
        </p:txBody>
      </p:sp>
    </p:spTree>
    <p:extLst>
      <p:ext uri="{BB962C8B-B14F-4D97-AF65-F5344CB8AC3E}">
        <p14:creationId xmlns:p14="http://schemas.microsoft.com/office/powerpoint/2010/main" val="62042951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5CF1FE-7F5C-4677-A574-CFC73C8BA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5EC199-6263-45A6-8E16-C74728A5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How SIMD executes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FD9B5B-FA74-4655-BD4F-54ACAC6D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working process.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215642-9C97-468B-9B50-9E9EC245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C412A0-C2CB-4D34-980A-5907EA2F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69CE20-6204-4D7F-BF1A-B7625CD1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9EFA35-B73F-440E-99D1-DC41039CC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SIMD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5E69F2-2BB0-4983-849A-36B8DF4B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1C6E96-564A-41E5-B384-541D897B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CFB13B-5304-4FD1-BFF3-3F79A9E6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Broadcast instruction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3F2C02-0740-4359-8361-B9C0F7A8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DE5F87-1CB6-42F1-93CC-C4A71F6B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581FD1-9715-4BB2-BDA6-479603BB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Each lane gets 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E8BA2D-A2E2-4FEF-B22B-F25DEA535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953C78-64A2-4B0B-A3F0-D107037D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782FAC-F20D-4E03-813F-2F5264A9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All lanes execute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ED99E0-05BE-4FD2-A929-5071B6F4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E16901-537D-4C22-88C7-9463C8409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ABD0BB-F988-470E-9267-67BBD89C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Mask inactive lanes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265C72-9D44-46C6-B43D-0EDFA5B0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5D5DA1-D37E-4CC9-974B-176F4C09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E9DD4B-9E62-4DD3-93EB-55EBBEAB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Collect results</a:t>
            </a:r>
          </a:p>
        </p:txBody>
      </p:sp>
    </p:spTree>
    <p:extLst>
      <p:ext uri="{BB962C8B-B14F-4D97-AF65-F5344CB8AC3E}">
        <p14:creationId xmlns:p14="http://schemas.microsoft.com/office/powerpoint/2010/main" val="98107203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39298E4-FACA-4EDE-8CE9-36BC6D85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811079-7C08-4A71-87FE-0E0D7119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SIMD strengths and weaknesses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D9A5D4-7988-4C14-A4B9-000020BC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Balance the concept.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4CAF80-0A34-491C-8870-F688898C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4D4255-746D-447F-B7DA-23AD28BE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91D5F8-E0B4-499D-90F6-B0C72382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2055D4-E993-47D2-A7B2-8C7C73B87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SIMD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79E19D-1ADD-43DF-8B9F-BDF57AE0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994625-D67C-406D-AE15-5D6C299F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A537A1-971A-4970-80FF-8025EFE8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702A6E-FAC3-4536-B808-D69642E4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Strengths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6C2C12-6E63-4E64-BE43-C2B0F2F3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AF7172-DE84-41F7-978B-C973D72E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6E94DF-0412-4233-B605-78473FDC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DA5FC5-5DA4-47AE-965A-90F28301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Weaknesses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22979C-7B14-487E-AB18-52AA1D49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6A86A1-0EAC-4848-8A3E-7A513268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4B44B7-DA72-4F30-A7F0-3101EB4B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45972E-1F3B-4926-A5F3-7AB63BD9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Very high throughput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14D4D8-6111-4015-86EB-4957FDE4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7DB4AE-8DA8-4106-96FE-524845DBF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7D1356-96C4-458C-A3D4-2FA368A0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Excellent for arrays/vectors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700A0C-5908-434D-96C6-6E80827F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D09B8E-00EF-4D62-880A-A6C07E23E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5553A3-E348-4751-BEC3-AC313DCB0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Energy efficient for regular work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409CAC-BB9D-42A4-893E-0F9E77BF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E00A18-5E03-4E7D-98D0-082785BA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284227-0BB0-49C6-988E-0B30E1A10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Used in vector units and GPUs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189390-E0FE-4560-921D-9A9E50D6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BD245B-53F6-4E43-BA7B-F3F1D982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FAF9DE-FB0F-450C-9555-1F2C211D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Poor for irregular branching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2BD545-F596-4D91-A7E4-05D94E25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E44CFB-BE44-4EEA-B5A1-A42F5E2C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A4DC46-1BCD-4C44-9318-0F921579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Idle lanes waste work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A1C412-6146-4401-AAD3-BAF1D1704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C402A0-ECDE-448C-8F55-85D341AE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6203AE-7B9F-4AA6-835D-89E92193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Less natural for different tasks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4B6F4CA-BC4E-4FC9-A5A7-F697FA879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DB6599A-3C15-4CA5-90A3-63DB3FDD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A22DFA5-8F47-4386-838E-445C759C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Memory alignment matters</a:t>
            </a:r>
          </a:p>
        </p:txBody>
      </p:sp>
    </p:spTree>
    <p:extLst>
      <p:ext uri="{BB962C8B-B14F-4D97-AF65-F5344CB8AC3E}">
        <p14:creationId xmlns:p14="http://schemas.microsoft.com/office/powerpoint/2010/main" val="45025332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5493A5-FEDD-4211-BCFD-913E16E2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71E87D-946F-4889-9159-195ADFFF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MIMD systems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5708A4-11FD-497E-8CB6-D9BDFFE2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MIMD.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51E386-DAC8-49FE-BE04-89A5FB29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1AEEDB-ADB3-426D-8512-0CD743EDC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2B1DA5-6232-4C68-9ECC-7ABEC3A1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A56910-CA31-455F-BA36-CC34B6225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MIMD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7178EF-D884-4D28-94E2-F07A881C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94B840-0C29-46AF-B77F-CEC0F17A1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9F1C"/>
                </a:solidFill>
              </a:defRPr>
            </a:pPr>
            <a:r>
              <a:rPr sz="3750" b="1">
                <a:solidFill>
                  <a:srgbClr val="FF9F1C"/>
                </a:solidFill>
              </a:rPr>
              <a:t>MIMD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816B5A-2598-4395-981A-6D5D7BEB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Multiple Instruction Multiple Data systems allow processors or cores to execute different instruction streams on different data independently.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7098E8-15F5-4A3E-9094-440616D6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C66A9A-F4BB-4DBD-952A-11F0DEF87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Many instructions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E3CE22-E4C2-4CC6-8350-B9D049B6D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43CB3F-0656-424E-B4AA-DEAE1A0C7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FE4AE4-ECD9-48EC-90D9-4327E9BF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48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Many 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33227E-C8DD-4345-B69C-5AB481A0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4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6031C9-A3A8-4E73-A8B3-31F46ABB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4626B0-3192-4455-AC3F-CD73B5F98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79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Asynchronous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11441C-143A-4828-8A77-A0931A79E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95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C3878B-E5BB-4614-B185-8BA8C632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E2104F-BD77-4AF1-AFB2-0E1B6970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10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Flexible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E195E9-E6AD-4D59-95D2-B02702CE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26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893843-6207-4BDC-80F2-323F2765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FF1875-30FA-4DA8-840A-3C510105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41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General purpose</a:t>
            </a:r>
          </a:p>
        </p:txBody>
      </p:sp>
    </p:spTree>
    <p:extLst>
      <p:ext uri="{BB962C8B-B14F-4D97-AF65-F5344CB8AC3E}">
        <p14:creationId xmlns:p14="http://schemas.microsoft.com/office/powerpoint/2010/main" val="197648682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399376-B615-4266-8747-0C0A735F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C87864-4322-48CB-85CF-60F98196A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MIMD working style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60214B-6EDD-49EB-895E-C172357BC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independent processors.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AB1E25-0777-4271-8BFA-0EAE8938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FC90EA-15C1-4528-939F-81CB1849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C89E83-8155-4675-BDA4-1E85B7E9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98F38B-F6B9-4222-8BFE-2FBCA1D1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MIMD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8488B7-1C06-45EF-B0E3-7D088D66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2BDA3F-5850-4EB1-BF4A-50F1C31D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033F31-B43A-45FD-ABE8-FBB6ED42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Create tasks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75C685-0B38-40A7-A30E-5867C602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782F59-393D-4C6D-BDB2-7E9601744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FCA832-4D2A-40F5-8E6F-7FEF7E61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Assign to cores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7182A-FF00-4034-BA9E-B7D522442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0C0524-8CBE-4F41-9791-A83A553A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256432-B0F2-4ADF-A34D-EBA50730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Run asynchronously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8336AD-9EC5-4DDB-B29F-9DDE8D8C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07DD9D-B730-49D6-8C8F-40D7FA37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D7BE19-44DC-4235-BC26-28B35045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Communicate/synchronize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8ED526-F50E-4FCF-9E39-192CAC69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FDD177-8C98-43B6-A0E2-BE6E0035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6A6BC6-12A0-4091-A8FF-C17A29A5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Merge result</a:t>
            </a:r>
          </a:p>
        </p:txBody>
      </p:sp>
    </p:spTree>
    <p:extLst>
      <p:ext uri="{BB962C8B-B14F-4D97-AF65-F5344CB8AC3E}">
        <p14:creationId xmlns:p14="http://schemas.microsoft.com/office/powerpoint/2010/main" val="44825393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4E40318-4548-4CCE-9540-510D46FF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C6D77B-C80A-4BDD-A3FA-CE47D09E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SIMD vs MIMD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59E673-FD0E-440F-9048-0BE80ADF2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Give exam-ready comparison.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17D11D-1898-420C-940F-213439BD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8C01A2-B04A-4824-87E7-F491955F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6CD297-09CA-47D4-888C-47266AC4F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5B5DBC-82CB-4ED2-B2F2-53558EC3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MIMD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9A2362-AA9F-4D66-AC6C-72938539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561A09-613C-419C-A3E8-527A3B9D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C2A3F1-28DB-404A-B6A3-030182AB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FE9E18-5B80-48BD-A36F-D48BB377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SIMD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300DCC-CE26-440E-952D-7E11D7A9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2B2920-0500-41AF-9B45-5B339DD4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D0FFF4-D8AB-46BD-90D6-563950AB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D29C82-CC61-43C5-A84A-6BD014801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MIMD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458FCE-1FF3-49D6-8C19-DEB62E23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5155B5-30C9-43E5-B0DD-91939E17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9CB3D3-667F-42E3-B193-C080707E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B67035-38E6-44C0-A6E5-EC5F59B0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Same instruction for all lanes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EF1185-9D09-4A00-983F-491FAFE7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B4DD1D-70A1-49EE-B25D-F0AEEAA9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17D34F-369C-4E3E-B639-E952993C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Best for regular data parallelism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A8F5F3-AF9A-4FE7-91FC-232ACCF9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1A6EFB-D68A-4C09-9E43-763F62BD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889F6C-6652-41E5-90FF-D6A434C9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Control is centralized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AC71A4-222F-43FE-85AA-E57CA69C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49EB00-DA80-459F-B642-00AD743D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732695-CF87-4ECB-8054-641C6255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Branching can waste lanes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B38787-F6F4-4C04-B98D-5A048DE16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DCF653-86B6-4093-8515-CB4B6D91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E1E131-77E7-4384-9ECB-0F1D9033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Different instructions allowed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A31CC4-C76F-48CD-9584-C7A713AF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64679D-A751-4E0D-9C33-5F7BD916C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5DF6C98-560A-4DA1-9FA3-45FCA83C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Best for flexible task parallelism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C72056-E863-4D01-ACAE-A693A8E2F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9626136-77FF-4A2B-BC40-CE8F6B04B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BF19E0B-FDC0-41FC-A572-3D663EC4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Processors act independently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CAC0694-E8F3-4FFA-91BB-B80BBB21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1DD9F6B-AAE0-4F63-BA9C-C122D622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A4181A8-2DC0-49E1-9D46-CEFEFABA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Needs coordination</a:t>
            </a:r>
          </a:p>
        </p:txBody>
      </p:sp>
    </p:spTree>
    <p:extLst>
      <p:ext uri="{BB962C8B-B14F-4D97-AF65-F5344CB8AC3E}">
        <p14:creationId xmlns:p14="http://schemas.microsoft.com/office/powerpoint/2010/main" val="157553571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87C514-9C15-4FAA-A724-92DAA960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5317E2-335A-438C-A9A3-86DDD122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Shared-memory systems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B20AD3-8319-457A-BF5E-49153B29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shared memory.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069F03-10FF-41B8-84B7-771C79037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6E651E-4F7F-4A61-9818-AD0BCFE8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08B333-17A7-4C39-B2B8-FCD1F5BB8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4B23D1-DBA7-43F4-A7A0-4AA1200E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Memory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4384F4-061E-4A1D-8BA2-7D569E11C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384726-D23C-47E0-A085-6C73CCA0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9F1C"/>
                </a:solidFill>
              </a:defRPr>
            </a:pPr>
            <a:r>
              <a:rPr sz="3750" b="1">
                <a:solidFill>
                  <a:srgbClr val="FF9F1C"/>
                </a:solidFill>
              </a:rPr>
              <a:t>Shared memory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D44757-673D-4F69-BDAB-671A5CBE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A parallel system in which cores can access a common address space and coordinate by reading/writing shared variables.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FFC472-AD95-437E-8A16-009C1832B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11A436-43E6-4458-91F7-560B0471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Common address space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22739A-34AE-42E9-94A8-2A2B3D8E0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70B24E-2680-4EC5-85F9-3533EA95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49124F-D0C7-4167-94AA-916B092F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48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Threads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EE1105-0D91-4E95-9C26-CF3A8D18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4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F546EE-C866-4AD5-8652-77FA4A074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6C7E72-70E4-4003-B8D1-C127628C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79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Locks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ABE4D0-6983-4548-B713-8273A437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95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46944C-481E-4EAA-B09E-310867CE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EE9F3C-092B-43AC-8C1D-D0A61A0D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10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Synchronization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6642F0-D842-4610-BCAB-4B3E0481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26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4234EE-E801-4015-8728-787816E96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88954C-9D25-4A0B-9A97-E92928E6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41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OpenMP/Pthreads</a:t>
            </a:r>
          </a:p>
        </p:txBody>
      </p:sp>
    </p:spTree>
    <p:extLst>
      <p:ext uri="{BB962C8B-B14F-4D97-AF65-F5344CB8AC3E}">
        <p14:creationId xmlns:p14="http://schemas.microsoft.com/office/powerpoint/2010/main" val="180206267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6A23D7-EA0D-46C9-922B-CCFF1E28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6F9A78-1986-4048-9FA4-199268D1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Shared-memory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5B05B2-071E-4CC2-8FA6-26DFF260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Visualize cores and global memory.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6FA89B-387B-4505-B19F-00C2DD78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29AEA8-36D6-4460-AAA0-42CF5ADB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B741D3-65AA-45CB-9501-4117DF16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0CDC16-ED45-4021-A19A-DCB3AE620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Memory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CF4754-EC75-49A2-8350-130CE03E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77EF1F-2500-4403-9E77-FDB56439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95500"/>
            <a:ext cx="14287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AED17A-46AF-44BE-8D6C-FD68E23D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95500"/>
            <a:ext cx="76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4F4AD3-32E1-4353-9805-A0CED219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247900"/>
            <a:ext cx="106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Core 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7E1D86-030D-44A9-9202-FF73AACC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628900"/>
            <a:ext cx="1066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AA4663-DF90-436D-9B6E-7F4C896B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95500"/>
            <a:ext cx="14287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DF2AA9-C0F6-4A8B-85AA-3EF4372D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95500"/>
            <a:ext cx="76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EA5957-2B87-4BF5-AD2D-30C0159C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47900"/>
            <a:ext cx="106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Core 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EAB1C8-2DFC-4BD5-906D-1247B814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28900"/>
            <a:ext cx="1066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EBA83A-6876-4251-981A-4229CF92A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095500"/>
            <a:ext cx="14287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9D0D13-1322-4FE7-82F1-2DD84BC2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095500"/>
            <a:ext cx="76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BDE352-CB5F-4F90-92DB-FB879ABC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247900"/>
            <a:ext cx="106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Core 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26649F-0C77-4B69-9FA3-A65FA4EA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628900"/>
            <a:ext cx="1066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E184A7-A89D-420F-92A1-1628E955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14287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213ED1-C857-432E-9639-1E0047171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76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C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F4EC29-91F0-4690-96F3-90D90088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47900"/>
            <a:ext cx="106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7C8FF"/>
                </a:solidFill>
              </a:defRPr>
            </a:pPr>
            <a:r>
              <a:rPr sz="1725" b="1">
                <a:solidFill>
                  <a:srgbClr val="77C8FF"/>
                </a:solidFill>
              </a:rPr>
              <a:t>Core 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0559FB-AFB6-4725-B1A6-CD9B33E4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28900"/>
            <a:ext cx="1066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21A101-7BD3-4B77-BC51-028362BD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7905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0A06E9-F022-40D1-8B4F-74F202F78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766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11F"/>
                </a:solidFill>
              </a:defRPr>
            </a:pPr>
            <a:r>
              <a:rPr sz="1500" b="1">
                <a:solidFill>
                  <a:srgbClr val="07111F"/>
                </a:solidFill>
              </a:rPr>
              <a:t>Shared bus / interconnect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ED2D6E-5DBE-4428-BF09-075F719D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333875"/>
            <a:ext cx="3143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BA778C-7590-4A6B-A2CD-36660428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333875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A629FF-FF01-47CF-AE79-A1898201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48627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Shared memory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6FEF43-79A0-4B39-BB2E-7F39C94F9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867275"/>
            <a:ext cx="2781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All cores can access the same global address space.</a:t>
            </a:r>
          </a:p>
        </p:txBody>
      </p:sp>
    </p:spTree>
    <p:extLst>
      <p:ext uri="{BB962C8B-B14F-4D97-AF65-F5344CB8AC3E}">
        <p14:creationId xmlns:p14="http://schemas.microsoft.com/office/powerpoint/2010/main" val="59532497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188851-D7FD-4C27-B6C1-D2359901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884A65-5749-484C-ABB5-956E293F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Distributed-memory systems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2A5BA8-6948-4E62-BF83-30FEE5B9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distributed memory.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1CE83D-08C3-471E-B546-CB081AAC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A261E1-60E3-4F7F-AB2E-D436508D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254A08-888F-4CC2-859A-2DBF5C0F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26B904-5CF9-4E1D-B64E-65F9F68A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Memory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8A605C-397E-44F7-A8AC-6BC4B999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AE3D2E-48A8-49C5-8516-ABC4B85D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9F1C"/>
                </a:solidFill>
              </a:defRPr>
            </a:pPr>
            <a:r>
              <a:rPr sz="3750" b="1">
                <a:solidFill>
                  <a:srgbClr val="FF9F1C"/>
                </a:solidFill>
              </a:rPr>
              <a:t>Distributed memory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1EC581-D783-4980-AECC-36ED8226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A parallel system in which each processor has private memory and processors coordinate by sending messages through a network.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F7EE68-C17A-462A-96A7-DCEC348B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B385A2-376D-40F3-A167-26B7A57A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Private memory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7061A5-6D7C-43BF-B371-14C969C5F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8FDFDD-3531-4746-964C-8EBD5076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EC56B6-72C9-430E-93BB-C60AE22E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48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Messages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113005-B7C2-433B-A818-CD3ECF75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4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A4B2BA-796A-40FC-A5BD-C9CB2CA5D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1B61F9-A927-4AB1-9074-9EFF7B0D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79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Network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08056A-5C8C-4267-B240-ECDE0AB3D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95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625D93-0DF7-435A-B527-42B8206E8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98999D-A503-4863-B2AF-FB192C2D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10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Processes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8BEB17-5ACB-4EC8-A268-6C95DA95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26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5FA404-6090-42E1-8EE8-F4FA3A16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BE9FBB-AD09-4599-88B2-AE41D62B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41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MPI</a:t>
            </a:r>
          </a:p>
        </p:txBody>
      </p:sp>
    </p:spTree>
    <p:extLst>
      <p:ext uri="{BB962C8B-B14F-4D97-AF65-F5344CB8AC3E}">
        <p14:creationId xmlns:p14="http://schemas.microsoft.com/office/powerpoint/2010/main" val="59835874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74B878-52BE-40FE-BCA1-40743D3D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231658-2E25-4153-993D-892701B0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Distributed-memory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B884EC-C8FB-4067-B1F9-F6EC217F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Visualize nodes and messages.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0CB734-AA5D-43A5-A249-99391D21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DFC762-EED8-468D-895D-09EAD01C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C31FF7-8279-4BD1-B35A-2620324F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23C5E2-451F-405D-B23C-780031BC7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Memory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E92E99-D26D-4E38-BAD5-7EFAD8EE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994463-163E-4862-B286-E6EE77A54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809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B8AC86-A8F0-4AC1-B815-0270C9C4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6E417F-105E-487B-B83C-F0470025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4315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Node 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AD9183-BDD6-409E-A623-74E2911B3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24150"/>
            <a:ext cx="1447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Core + private memory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9EB6AB-C626-4F89-84B3-5BA3F02C9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90750"/>
            <a:ext cx="1809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7D9A10-99E0-491E-BADB-108E7C40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9075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659859-5098-49FB-B58C-82C715F1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34315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Node 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79445F-B7FA-4D44-83FB-55C9E5E6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24150"/>
            <a:ext cx="1447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Core + private memory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D59098-1759-43DD-BE16-FE227206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90750"/>
            <a:ext cx="1809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462E92-716F-4F6B-87DD-250A36A1F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9075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8B0678-4957-4215-80D6-3376CFC6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4315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Node 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140B66-6759-49B8-937D-BAAEFEFB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24150"/>
            <a:ext cx="1447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Core + private memory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1B4F17-C412-4B0C-B66D-F6CC6B31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90750"/>
            <a:ext cx="1809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09FC9A-9FD6-419C-8E1B-23C5FEA7C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9075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C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886696-ACDC-4BDC-84D1-6F8482E8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4315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7C8FF"/>
                </a:solidFill>
              </a:defRPr>
            </a:pPr>
            <a:r>
              <a:rPr sz="1725" b="1">
                <a:solidFill>
                  <a:srgbClr val="77C8FF"/>
                </a:solidFill>
              </a:rPr>
              <a:t>Node 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34E388-81D1-4AE5-9DEB-61E4569EA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24150"/>
            <a:ext cx="1447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Core + private memory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B8BFAD-37BB-4951-87AB-BA7AF024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86250"/>
            <a:ext cx="17018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FF9F1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2098B9-9495-41B3-A4E5-44DABB79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57700"/>
            <a:ext cx="1473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Message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954506-4F00-4C9A-97CA-0B8BDD76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1250" y="45815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AC7DEF-DF93-4755-9183-B4508ECE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5100" y="4286250"/>
            <a:ext cx="17018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FF9F1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89F70D-76A5-43D5-8900-C667E363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9400" y="4457700"/>
            <a:ext cx="1473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Network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C6A7CC-7CEF-4E28-B231-C44A2987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45815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E20838-F596-4FC9-A125-054B574F3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6950" y="4286250"/>
            <a:ext cx="17018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FF9F1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F5D105-11BB-4817-8811-CAFF28D4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250" y="4457700"/>
            <a:ext cx="1473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Message</a:t>
            </a:r>
          </a:p>
        </p:txBody>
      </p:sp>
    </p:spTree>
    <p:extLst>
      <p:ext uri="{BB962C8B-B14F-4D97-AF65-F5344CB8AC3E}">
        <p14:creationId xmlns:p14="http://schemas.microsoft.com/office/powerpoint/2010/main" val="10500788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1BF08CD-D473-4920-8E07-6BF6621C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2537F8-E7CE-43DF-B1DF-735C7F3E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Shared-memory vs distributed-memory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BBF018-AA8F-46F3-8E4F-339F0662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Give the central comparison.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63AB2B-88CD-4931-B87C-327B1923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FC1642-5874-4DBF-B0B2-C146A2F1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1E8C6E-769E-4A69-ABB4-0B809E49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286F7F-92A2-4F8D-A09A-6C197412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Memory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367863-D082-4E87-BFD6-8276CA2D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8CD8BE-038D-4842-9EE4-98E20A5F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AD651E-030F-4C8F-A7D7-A68CE120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468B6A-034B-4105-9889-DC70DD06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Shared memory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4CF652-54BA-477B-B493-80FA9987C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7B0D11-81CA-46FA-92E5-7AD797842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89ABCF-C0F6-496B-BE1A-13A67386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9C6E56-1D6E-4639-9245-64F3CFD3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Distributed memory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06F314-65C4-4D1A-B5AE-345DD16C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DD1B45-1CEB-41EB-9B6E-943FEAC7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7406DF-5A5C-4F52-AF8F-40B4F9B19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3B5DF1-E96B-44AA-93DF-0D9CF793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Easy conceptual model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E59338-D187-4D76-91EC-5B8CA6159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D0174C-DD4A-4316-89EA-50655804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D57CD2-FC66-4803-9088-3662B9DA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Communicate through variables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62AF08-B6CA-44ED-94BC-44884ACD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E78F5D-3371-45A4-91FB-83D4FBD8E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1E7EAF-6FE7-4E49-ADBD-697625BB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Hardware coherence needed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5B800F-C26A-4018-9AD2-327BB8EB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8CCC56-ABFF-408B-87C7-225F467B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8A11B5-9CD1-4E3C-A427-CD859807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Scales to limited core counts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F67D30-102F-4FD4-A1B3-58DB60EB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989C1A-06D2-4258-862D-31B9A1CA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7E0E34-F039-4206-B9C6-A5DEC2571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Explicit message passing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C4B341-5890-4692-8BB5-BAE10A0E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A235B7-7DE0-4C48-951D-4C0390CE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C7F0D6-80B6-4B52-80B2-C7E23E82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Scales to large clusters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699CAA3-B567-430A-89B7-BA3E1D45D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1809E4B-05CF-4B42-87BF-F34088E0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4038323-128D-4A8E-AE42-02E115009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Programmer manages data movement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C26B955-4A1A-4747-8C7E-125068C4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4AB071A-B025-4A27-8BE5-E76E37B3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1B1420A-CCC4-4353-A3CF-13314F04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Network cost is visible</a:t>
            </a:r>
          </a:p>
        </p:txBody>
      </p:sp>
    </p:spTree>
    <p:extLst>
      <p:ext uri="{BB962C8B-B14F-4D97-AF65-F5344CB8AC3E}">
        <p14:creationId xmlns:p14="http://schemas.microsoft.com/office/powerpoint/2010/main" val="171564378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C6C74B2-9AAB-4AD9-A4BC-56C58D6B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A234E9-58A1-4082-9E4C-A1920145D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UMA and NUMA shared-memory systems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F30E80-DBA3-43F5-83DC-3EC7A5912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access-time variants.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DA60BD-2082-47B3-B632-1DC7D4164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264BF2-EE23-42DF-94C1-CE807E85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D189FB-21F4-41DB-8BA4-AD6B2F11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C1C5C2-7E9C-4F13-9726-A1B4CB75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Hardware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AA3AFB-E1A8-4A2D-AE0D-C76EDBF4B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DEEF5C-2BBF-4A60-8B22-C129809C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DB687E-B41B-4E8C-9C8C-1014E475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0B92F1-F0E1-48AF-BBB3-25BDF0CC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UMA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B1F0E0-F20F-4A66-858B-8EFB6762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D2F1D3-FACF-43F9-9465-ADF129CC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AE9038-9916-4351-A873-1BB024234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57D4D5-59FF-4CCE-89FF-7CC77C72F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NUMA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53F053-A55E-42F5-83CF-00703FD7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F47581-73A1-43E6-A1C2-5A065F13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79DBBF-2AF1-487C-B762-5F35EBDD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2EBC18-33CB-4527-ACEC-A511BB246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Uniform memory access time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97A075-9E29-4175-BEEF-E173641A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4C81DB-FD87-4738-ABDB-FD2AA02A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724D9C-E352-4A23-AD14-FB3802EFC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Simpler model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BBA76B-8DD9-4F3A-A2EE-183EC894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6251CB-AF9A-4ADE-844E-098D9FEA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221A6F-7C2C-4FD5-83DE-3FC6E718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Common in smaller systems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B443B4-5C48-40EC-B665-828AAE1C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7D90E7-FB65-4416-AD16-FAC0B97E3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508123-EDF6-4B6C-9046-FA74440D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Easier performance reasoning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3EE748-FC7E-4ED1-87CB-1F0EAD32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7AB5A8-EF7C-4568-AA09-DE6D2F819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ACDDCF-CC9E-451D-BD96-362BE6F8F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Non-uniform memory access time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0DA5F5-05EE-4772-B534-B7871405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DABAF8-79C7-40D3-8BFD-40FC17A8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2037C2-CA52-4A59-BB59-19CFB0457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Memory closer to some cores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E2A405-8A95-423B-8428-1C1F8140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A1074F-C500-4F0C-B990-9598B18A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7E4179B-5C29-4BDE-8CB1-FAD9D0700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Scales better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2E2269B-21BF-43FB-B5CD-45075DEE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6618C25-9FF5-4791-8F0E-4F0BF4AD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244A404-C408-4422-8C13-8E6B4C6B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Placement affects speed</a:t>
            </a:r>
          </a:p>
        </p:txBody>
      </p:sp>
    </p:spTree>
    <p:extLst>
      <p:ext uri="{BB962C8B-B14F-4D97-AF65-F5344CB8AC3E}">
        <p14:creationId xmlns:p14="http://schemas.microsoft.com/office/powerpoint/2010/main" val="47979980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B84B55-051C-487A-BB33-7BDFA4EA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D1DD85-3957-48F0-8E00-40F48ABC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Interconnection networks matter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E6A30F-F7B1-45B4-8A7B-CE3418AA5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Motivate networks.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2D7B16-0EC1-4387-A65D-DC8A89AE4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4E0CC6-359F-46BE-83BD-5E54FE33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75C501-67A8-47CF-9969-FA7E1BC4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6D26A6-732A-42B8-A8EA-6CF55B007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Networks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B24BE1-3DBD-4549-A815-351644D5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AD6BE8-3A75-4E2E-9873-8AE63988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9F1C"/>
                </a:solidFill>
              </a:defRPr>
            </a:pPr>
            <a:r>
              <a:rPr sz="3750" b="1">
                <a:solidFill>
                  <a:srgbClr val="FF9F1C"/>
                </a:solidFill>
              </a:rPr>
              <a:t>Interconnection network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88AA40-9D94-459A-BF5E-1080F1986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The communication structure that connects processors, memory modules or nodes in a parallel computer.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EAA012-C2C7-478B-B05B-0CA40F91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EE1CD9-06F1-40FB-891A-938BB08E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Latency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FB86F7-2BFD-46B2-BFC0-16A53FA67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9386F2-58CC-4930-ABF6-C83BFBFD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9A55BD-4865-4CC5-97F2-4B2709107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48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Bandwidth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95E2A0-9042-4AE2-B340-66000321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4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A95533-CA58-4293-9C2B-08A6E5E29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D28558-8C4B-4ACC-9EE3-E6CF6B75D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79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Topology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AC71EA-C21B-4A8A-9238-C2A58AAA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95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B04D33-98A5-4B1A-85CC-BE6ACC24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AA6693-025C-4DDB-898F-803B48F0F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10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Cost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B7C84D-874D-46D7-BADC-A749EC09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26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B1EE1C-2912-435D-B357-D96A39FA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945749-A8DF-4D1D-A528-77FC277F0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41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Scalability</a:t>
            </a:r>
          </a:p>
        </p:txBody>
      </p:sp>
    </p:spTree>
    <p:extLst>
      <p:ext uri="{BB962C8B-B14F-4D97-AF65-F5344CB8AC3E}">
        <p14:creationId xmlns:p14="http://schemas.microsoft.com/office/powerpoint/2010/main" val="48853831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412C11D-C05E-40D9-BDD4-64412B6F3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AFF18F-40A2-4A8C-B0FB-C102601F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Direct and indirect networks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02AA00-D154-40F2-B84D-CD9E057EC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Classify network style.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981BCE-E9AA-4D34-B987-3290EAF1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422CBA-CCF7-4983-9CB5-2619B4E8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E2D162-9B80-4543-A1BA-0D8BEC93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7C7637-5814-4EF9-919B-0036CC6E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Networks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6F19C2-E376-46C7-8C3D-92FD3111E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5415D9-A0E8-4E79-985E-E0AA8CE0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AF963E-07FE-440B-A711-868029CF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00FD99-EA5A-4CD4-AE22-F363EAA5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Direct network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99E0BD-6DFB-4B85-93A7-7FB465DB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02DB30-BCAE-4FB4-BB6E-F3FB6AA2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7DFDDC-78F2-422C-9158-77F7A53B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5C4EC1-DA58-4B00-9AE3-1B0AE8BC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Indirect network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A4BB6F-B92F-461B-83E5-027DF282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72B587-CB2F-46E8-8E08-255526E1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7F7C78-C5C6-483E-AF50-EB72E4B5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0A14BE-F188-40F7-9089-742F24F6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Nodes connect to neighboring nodes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740A35-01BA-419A-95D3-48D4E1FD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2ADDC0-E850-4AA0-960D-38C00E00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D37B41-2677-4429-9126-1CAC35D9A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Messages route through nodes/switches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CE8638-F9AA-406F-B19C-D5ACAE59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CFE44A-41F0-49E9-AB18-99E63ADA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8B9A6A-F3FA-431E-95BB-C294064D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Examples: mesh, torus, hypercube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4063F2-5E43-41A1-A63E-9C0EE38FA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08661C-9F90-4BC8-A013-F5CCC802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3FF657-BFF9-4BBB-B078-64CE43EF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Scales naturally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1D3B06-D608-4956-AF3B-A8D8D8A3D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BD2820-A059-45F0-BBC0-924A37061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44EFB3-E40F-43BF-A2FF-9E4B3AB8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Processors connect through switches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1C4D99-9D69-4435-915D-6FF8E23B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504658-5445-4C73-89C9-CC0261105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7ACAFB7-FE88-418A-A91F-2F8628D00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Switch network carries messages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93D9CD-528B-48E5-BA84-91AD9B78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C223AD-6E80-4BAC-8959-5005F8D2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31B51DF-8B23-4FB5-B7E8-3988A5E6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Examples: crossbar, omega network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4BC3C02-4733-4748-AE8F-6933F757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2682833-ACCB-4C0C-BC3A-C3DEF506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2F85C3F-4D26-4BF0-BB73-B97F6533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Can be costly but flexible</a:t>
            </a:r>
          </a:p>
        </p:txBody>
      </p:sp>
    </p:spTree>
    <p:extLst>
      <p:ext uri="{BB962C8B-B14F-4D97-AF65-F5344CB8AC3E}">
        <p14:creationId xmlns:p14="http://schemas.microsoft.com/office/powerpoint/2010/main" val="1776731087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1A6DF9-C0E3-4E98-81B9-50A9962A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5EA3D8-AFAC-483E-BAF6-C1185A8C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Network topologies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A6A92A-3459-4A75-A5B4-351806254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common examples.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DB9A4E-FE9E-4679-B0CE-1B1368DD5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31DE73-3B31-423C-8FE2-B367106AC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27023D-BE3B-452F-AB31-DB29BD958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28B671-F100-498B-9F28-AADC81DC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Networks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BB8EFA-9FF7-4356-BC15-E2EA4E52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CF5B80-4E63-4C6A-B19A-F8C364F2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81300"/>
            <a:ext cx="24765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D80999-C410-4BF4-B84F-8B3A04E5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956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7111F"/>
                </a:solidFill>
              </a:defRPr>
            </a:pPr>
            <a:r>
              <a:rPr sz="2250" b="1">
                <a:solidFill>
                  <a:srgbClr val="07111F"/>
                </a:solidFill>
              </a:rPr>
              <a:t>Networks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91C941-1AAB-48B6-A185-FC23DF5D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05000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F73119-785A-44DC-8546-E63ADDEB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050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C88D89-902E-4E59-B703-9505F9F7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057400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Bus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8B3088-AF2B-42D7-8058-6B0D6633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438400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Shared medium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787990-DC14-4D73-BA65-975863BF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19250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DC073C-4047-4BB3-B755-5B51F657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192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53E900-47B8-4A15-9DE0-1CB4C07C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71650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Crossbar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8559C6-E6DD-4805-B41D-96A2459E4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52650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Many simultaneous paths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591899-C545-4516-8A59-A338D024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05000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531638-2A21-47C3-AEA4-0F1B14435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050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C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021E57-9311-49B4-B075-648D6FB9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057400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7C8FF"/>
                </a:solidFill>
              </a:defRPr>
            </a:pPr>
            <a:r>
              <a:rPr sz="1725" b="1">
                <a:solidFill>
                  <a:srgbClr val="77C8FF"/>
                </a:solidFill>
              </a:rPr>
              <a:t>Mesh/Torus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7EAEB1-7635-4292-96C2-084993AC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438400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Grid-like links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9DCD49-FDCF-4986-B03D-9402096D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29125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BF8565-8EE6-4AB4-A483-33B1DEC5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29125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F7A9F9-CE21-458E-87B5-C6C8E9A7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581525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BF69"/>
                </a:solidFill>
              </a:defRPr>
            </a:pPr>
            <a:r>
              <a:rPr sz="1725" b="1">
                <a:solidFill>
                  <a:srgbClr val="FFBF69"/>
                </a:solidFill>
              </a:rPr>
              <a:t>Tree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472F5B-EFB6-40EF-9A80-3D53D0ED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962525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Hierarchical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5E7BFC-F5C0-400D-B111-5B7C1CF8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10125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E76BCD-1C4E-45A8-89C3-FC2F6145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10125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0690DD-C37E-484F-82E3-C4E01B21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962525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Hypercube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9C6A9D-AC45-4DB9-844B-36404FF1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343525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Log-dimensional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8F5595-4507-4535-AC8A-EBB1FF81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29125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6E3E7D-4D8C-4394-9627-32021F234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29125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834F6A-BC27-4672-9B50-7DD64BC2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581525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Omega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9292AD-4472-4ABD-8524-62478B79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962525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Multistage</a:t>
            </a:r>
          </a:p>
        </p:txBody>
      </p:sp>
    </p:spTree>
    <p:extLst>
      <p:ext uri="{BB962C8B-B14F-4D97-AF65-F5344CB8AC3E}">
        <p14:creationId xmlns:p14="http://schemas.microsoft.com/office/powerpoint/2010/main" val="67479263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96E7720-0494-45E3-B85F-63670824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854353-4890-4B8A-81BD-082DF7A1A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Shared medium vs switched medium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0B4CFD-1649-42D5-A42B-562E7D31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Quinn's network distinction.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262C57-2390-40F1-A4E9-01FDF752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7682EB-4513-4B88-84DB-C63AEFBF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EAEA8B-C6E5-4CDA-A66E-F3DFBA2F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84C6DD-15B9-4E7E-B889-07A632CF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Networks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49B9CF-AAFB-453A-A8C5-3E392597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5683D5-AC5C-420B-9DAB-ED8342C8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FB4D4F-A83C-4CC7-8FC9-7F0BA1107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9791AB-E443-4F9D-B82A-0E77105A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Shared medium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054BFC-543C-4FDB-8E70-6CF4A189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2EB489-F96C-429B-8C7B-189D4899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B0324A-318B-48A6-A50E-056C17F54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CDB584-8B42-4BD3-9DEE-4811FDA7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Switched medium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5BFADA-9F6F-407F-8C43-EAE63BE7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C67157-43B2-4B6F-86DD-AB630F60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7F7DE4-BAB2-4974-839B-79FCBD90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96D724-515B-44ED-A8E4-D484AB35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One communication at a time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3E1D83-2C51-40DB-862D-AB28A579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4BBBE7-CE6C-4EEC-A781-3B71E099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AD91ED-C030-40ED-ACBB-E8301D8E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Broadcast-like behavior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BBDCEE-86ED-420F-AFA6-8F69467A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11622C-D5FB-424E-84E1-7ADDABE7D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C2EEA8-0001-4BE7-BBC9-FD819DA7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Simple and cheaper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2557A5-FCDE-473A-8085-F16F1E68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800917-FB66-4D5A-BB9D-C182ED82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9FD00B-07FA-4B07-B9F5-6CCAC283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Contention grows quickly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397D04-F69D-43E3-9E77-571C9396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B55EEB-B3E2-4A95-9E17-8338B87E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36CF40-C9A1-4A63-92EF-272B135D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Point-to-point communication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13B14B-EE55-4495-9255-77C3F26A0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58FDC4-6EE2-4A79-BF07-74FE7F53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97E977-126E-44DC-9149-D4CE36E7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Multiple transfers can occur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1ED9A4-0355-4154-929C-940579459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BCFF6B4-C820-4E0C-912A-11C224F5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76BA61B-64E7-409C-A7AE-2D02521A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Higher performance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D73FC0D-8B58-4199-9183-E945E616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F5FE4DF-C83F-44A3-A7F6-DC0831F62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CBA149B-3405-465E-B25F-CC0F36D8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More hardware complexity</a:t>
            </a:r>
          </a:p>
        </p:txBody>
      </p:sp>
    </p:spTree>
    <p:extLst>
      <p:ext uri="{BB962C8B-B14F-4D97-AF65-F5344CB8AC3E}">
        <p14:creationId xmlns:p14="http://schemas.microsoft.com/office/powerpoint/2010/main" val="84843824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5B67A7-8B82-448B-9201-D33A1012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C8384F-081A-44B3-855B-41B64703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Mesh, torus and hypercube intuition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418E6F-9544-4E05-9C8D-F59F986B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Teach topology memory tricks.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289DB8-0107-478E-BED1-7854BAC75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B3BC11-3661-4410-8672-3EA400A7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A5F470-572A-4F45-B2B7-5A6B87CF4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B820A5-0A00-468F-9F69-72B7C917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Networks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E04F2D-61C6-43A7-B658-9BC2531AD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C1E6CB-9ED9-4A93-8666-6E22385B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6F5670-AB6F-4E96-85CB-4BDA1AEF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EE9EFB-3687-4B57-9F9B-65A7FBFE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02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Mesh/Torus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37E20F-7321-43B1-A14E-844A153C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81275"/>
            <a:ext cx="26860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Processors arranged like a grid; torus wraps edges around.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969460-D6D9-4FC1-8239-F8253B4C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43DDB7-C76B-4BDB-9E0F-1E0D7334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4C84B1-3EAC-460A-AD28-318573BE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002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Tree/Hypertree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4975E7-73DE-4E99-A8D5-91C22F8A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81275"/>
            <a:ext cx="26860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Hierarchical paths with possible bottlenecks near the root.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D8C2BF-5108-47E8-930A-274AC9B27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0FE6E8-2D69-4677-8EDF-81ED2539C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98B8EF-6041-4812-8854-EF085B31C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02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Hypercube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02142A-AC55-48D0-9909-876985CD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81275"/>
            <a:ext cx="26860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Nodes differ by one bit along each dimension.</a:t>
            </a:r>
          </a:p>
        </p:txBody>
      </p:sp>
    </p:spTree>
    <p:extLst>
      <p:ext uri="{BB962C8B-B14F-4D97-AF65-F5344CB8AC3E}">
        <p14:creationId xmlns:p14="http://schemas.microsoft.com/office/powerpoint/2010/main" val="79884042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D4FA27-E644-44FA-B65C-C7503EC7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C36E30-BFC4-40A8-AFDE-F9FCBE35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Communication cost vocabulary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3208FF-4C95-49A2-BC5C-494EED8D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Give terms used in performance reasoning.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AC271A-F17D-4B4B-B24A-03B96FC9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AD4259-FC05-4ADC-8F9A-5AB28B3B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26FA84-716A-4D2B-89EF-78FA6121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CE296C-1042-4519-BAC2-C2BDD948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Networks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A946E5-8F05-466F-A5A4-C9850B7A4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B517FA-15D3-426C-B703-69280634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0F4249-028E-49BC-A358-7FA7CFD1F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EB55E2-0B72-48E1-9C62-6CB1BABF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6215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Latency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E323E0-204E-4404-8BC6-9B3E7DA6D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4315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Startup time before data arrives.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7FF743-1536-4600-B4AB-7506FC5A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565F86-C950-4F68-A5D0-FC58921F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136E25-3375-4631-B4D6-0E0FA70F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6215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Bandwidth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319533-8ABF-445E-9CA8-23A7A474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4315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Rate of data transfer.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572B7E-754D-46D7-8FBD-8E0BFBA2B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4E176B-9E81-4CAC-9DB5-A3747815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B2F7ED-1D8E-4914-9CFB-177B44F0C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7190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Bisection width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6994BA-F457-4992-A5B8-FD9DD6245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5290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Capacity across a network cut.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A5D301-9B79-44B9-A916-8F668769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33E14B-EBF2-4104-8DE2-1DB135515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4430CC-8AF2-4F3E-8DF6-DAA82D71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7190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Contention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AC6483-05E9-4259-B9C0-BC0225A2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5290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Slowdown from competing messages.</a:t>
            </a:r>
          </a:p>
        </p:txBody>
      </p:sp>
    </p:spTree>
    <p:extLst>
      <p:ext uri="{BB962C8B-B14F-4D97-AF65-F5344CB8AC3E}">
        <p14:creationId xmlns:p14="http://schemas.microsoft.com/office/powerpoint/2010/main" val="1836796384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BA9B7C-BE03-4867-8988-6F3A8CD6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F338E4-FC26-400E-A90B-6A6997F5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The cache coherence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5B3BD5-1408-4E68-B06F-FBE57DE6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Introduce the issue.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F65841-D144-45AC-9107-063646DE8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244919-4870-49C3-BC81-7C14E674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8F35A6-B3E9-407C-B77F-9F5A937F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49BBDA-AF10-46E9-A410-CDC44B120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Cache coherence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2B62E1-29A0-44D7-9B3E-51B20989F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B74AAA-0A8F-4B1A-A2FA-6E1D935F9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9F1C"/>
                </a:solidFill>
              </a:defRPr>
            </a:pPr>
            <a:r>
              <a:rPr sz="3750" b="1">
                <a:solidFill>
                  <a:srgbClr val="FF9F1C"/>
                </a:solidFill>
              </a:rPr>
              <a:t>Cache coherence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D7544D-A5BD-47B8-8C6F-2FDB16F22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The problem of keeping multiple cached copies of shared data consistent when one core updates a value.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B294B6-D467-4672-B49C-CF0316BF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930716-ED5D-4811-99AF-2110F0C8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Private caches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71DF0B-C1EB-4209-963D-CC4533BB3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5D56F6-DD4F-4BC2-ADB9-2FD8C9C6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C0EEA0-0FA1-4E15-9D90-252190329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48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Shared 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DA0346-FD21-427B-85BC-6C0732F89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4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EF2754-FFDA-4E6E-8EA6-EDFA58471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ED6F09-952C-4CD1-B519-94C9AA44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79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Stale copy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F57A22-ACDE-484A-8FE8-ECCEAEC3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95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806B0D-2822-4E23-B98E-00409394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BD03FE-A161-4B15-A89E-610825AA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10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Consistency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9008D5-1C07-4A17-A899-571E4C9E0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26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8B3DE6-F172-4287-9B56-1F8C44706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601C79-2BAF-4AF3-8FEB-677F8A3DB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41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Protocol</a:t>
            </a:r>
          </a:p>
        </p:txBody>
      </p:sp>
    </p:spTree>
    <p:extLst>
      <p:ext uri="{BB962C8B-B14F-4D97-AF65-F5344CB8AC3E}">
        <p14:creationId xmlns:p14="http://schemas.microsoft.com/office/powerpoint/2010/main" val="858587619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08DB9A-2C6B-4658-8C88-9BE16D04D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7B6D38-02E0-43ED-B333-22116129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How stale data happens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2C5709-93B9-45B1-B622-EE846E2A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the scenario.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5496AE-24BF-4B6B-A3B4-C7119085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0CBCF8-ED10-4AC7-A503-3887E3136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E94CAA-DE41-4159-A214-6DDD1180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FD0726-76AC-4E8D-B805-B557ADAAA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Cache coherence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03645C-09A9-43D0-AE45-9277AEFD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2EFF6C-F6DF-494B-882F-F0E414B3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AD7BEA-CECE-478C-A5F9-D702C392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Core 0 reads 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269491-01EA-4586-9D89-125674D3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F692F0-C7F6-440B-A345-4D588ED49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3A88F8-D7FE-4A64-8F45-705DD243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Core 1 reads 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8B7570-7002-44A3-8F6F-0E7AA10F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049DC7-082D-496A-9A8D-15FFF748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0A8CE9-BF0B-4D81-BB98-CA1FF746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Core 0 writes 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83CE75-2FC6-4E07-9161-E237F1441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1FF704-631C-48E1-B8C3-F8701433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F7529E-95C7-469C-854A-CD838AE5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Core 1 cache is stale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33BA16-A4CF-446D-BB48-45BB6340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1C1286-2467-483D-A553-3C4B794E3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169078-2AFD-40F1-9209-91E71127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Protocol fixes visibility</a:t>
            </a:r>
          </a:p>
        </p:txBody>
      </p:sp>
    </p:spTree>
    <p:extLst>
      <p:ext uri="{BB962C8B-B14F-4D97-AF65-F5344CB8AC3E}">
        <p14:creationId xmlns:p14="http://schemas.microsoft.com/office/powerpoint/2010/main" val="847217623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59823A0-A5EB-4B97-AE32-A0AB2AB2A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BD0B7E-801A-4B7C-9F54-241892E80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Snooping vs directory coherence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E269F8-6E0B-4A15-B7CA-733397664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two approaches.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6E2C8D-1EF0-43A3-BAA8-D9932AC7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6DF37E-92D1-4D96-87D9-BFD7D2CE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0DE822-1F35-465E-89FE-47481E39D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E1AE2E-4276-4D45-9BA3-590B524A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Cache coherence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7133A9-1FCC-415C-9681-5C52C44B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ACEEC8-F879-4F8F-8D2B-58DAE2CD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0CF37D-061D-45F8-A6C0-6FCCBAABC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97F2F9-0B01-4412-B36F-DF177D54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Snooping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A738B0-8DC3-45A5-BF65-600EAA70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288871-363C-434A-942D-0F15A85F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71B4B0-D80D-444A-8FA4-1179A778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3ACC94-33F9-4476-8304-D95535B7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Directory based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CC2F1E-8F8B-49BC-BAAC-DB6CA837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DA035B-0C56-4584-AE95-AC150844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1EC2B3-3A23-4EF8-B329-8A11F473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790207-BCFE-4DC4-8CD4-93C8588BE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Caches watch/broadcast updates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281381-CE16-41F3-956A-18CE18E1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35225B-9E91-4F54-A71D-254BD18D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324ABD-57FB-4744-9539-897D566B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Works well on small bus-based systems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00FDEA-1CA2-48FB-BF9A-B38BEF55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8B349C-7BCE-4490-89BA-335C352C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B5FB6E-9A9C-4649-A438-2C263FFE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Simple idea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96C04E-9F51-4F94-B4EA-EA53A4B8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994392-FFD2-4772-8231-E1DEAAC9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66E366-D777-48F0-9DC1-D3B252A8C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Broadcast limits scalability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A09CB2-D6D0-4869-8489-2785292C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DCB234-4CE4-4F20-8E5B-032EBB6C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B5724C-723A-443E-8B95-CAE42176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Directory tracks sharers/owners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579578-1518-474F-9A8E-5AB7D21F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511242-5402-4B00-8943-76F49BEA5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7197C8-6BAB-4A45-BD4E-20C645AE0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Reduces global broadcast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8693B70-E810-44A7-8985-19AA3ACC3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838C35-27EC-4BD5-93E2-940C7378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CA52C33-A02C-4B08-ACBF-45ED908A8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Better for larger systems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DA705C0-34C8-44F3-ADE4-94998F9D6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1D55AC3-6444-4C98-B567-92E41B39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6E30362-AC6A-4433-8805-8BA4D37D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More metadata/control logic</a:t>
            </a:r>
          </a:p>
        </p:txBody>
      </p:sp>
    </p:spTree>
    <p:extLst>
      <p:ext uri="{BB962C8B-B14F-4D97-AF65-F5344CB8AC3E}">
        <p14:creationId xmlns:p14="http://schemas.microsoft.com/office/powerpoint/2010/main" val="1316720285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DF7FD6-5714-4877-9ED4-E8E52CF6E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A85261-9BE0-4DA2-92AC-CD208D6E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False sharing preview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492354-0920-4A48-91E8-185A65FA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Mention a related cache issue.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1B086F-394F-4AEC-B965-C2AD45086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15618B-7016-4404-A40D-90668E5B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0694CA-AD03-45DC-8260-679304B9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C2D6AE-C96A-4905-B7C1-8056B0189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Cache coherence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970F52-03EB-43E5-8B33-D51D8423A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698B2B-2E4C-4626-A361-3CB7E558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8DE9BF-862B-4488-8B3F-FB829926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95DBA4-681B-4A87-9B3F-DF96C3B6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02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Same cache block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08A307-EF62-4AE5-BE9B-5A2200794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81275"/>
            <a:ext cx="26860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Different variables may share one cache line.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297B48-EDEA-413A-A7CD-BE2E14E7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76A0BC-0B3E-4A62-AE37-896B2B53F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236749-EE28-45CE-BD9D-32EFC365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002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Different cores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8F861F-70C1-454E-B5B7-AA81357D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81275"/>
            <a:ext cx="26860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Cores update different variables.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81E8AF-0B77-48E2-8AA1-4D81BE1E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71164D-D392-45DF-A147-2AF6E498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06A3F0-115B-4C69-AC7E-F62758F6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02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Unexpected slowdown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3251AB-428C-499E-BC9E-293196054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81275"/>
            <a:ext cx="26860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Coherence traffic increases even without true sharing.</a:t>
            </a:r>
          </a:p>
        </p:txBody>
      </p:sp>
    </p:spTree>
    <p:extLst>
      <p:ext uri="{BB962C8B-B14F-4D97-AF65-F5344CB8AC3E}">
        <p14:creationId xmlns:p14="http://schemas.microsoft.com/office/powerpoint/2010/main" val="817856409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88731D-8696-43E4-A380-43729EDF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9ED166-3434-4289-AF36-9179DE348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Parallel software maps algorithms to hardware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C015C0-9357-4BCD-B5DC-879CCDD4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Introduce software side.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234D83-727F-4A7F-B6C7-BBBFD2DB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8F9815-CE3E-4B32-839D-3384B5BE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8F05B1-BE2C-4280-8FEC-E259D6C1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B00F09-02E9-4BEE-AFAE-17CEF6D4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Software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511E57-FB25-40E5-9AC3-EB1D57D0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51967F-B5CF-4F6A-8955-9071A201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8129DC-E86E-4C0F-AF13-9E128A02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Identify parallelism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7EF208-3CE5-4B45-AB28-FB73D6B9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519104-F331-4AA7-821A-BAD8F884D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809A3A-0BE5-4B5D-A49F-69CB4002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Partition work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1F3A4B-1FBB-4863-90FD-AA56518D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4D0573-5CA1-4443-BAC4-5DBA123DA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CD37A2-7060-4AC9-988F-463C462D6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Map to processes/threads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DE4D5F-331A-47B2-885A-BB5470127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48E991-4FDA-4BC6-9703-8AB83015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9A1AD0-D79E-4A21-AE28-33427913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Coordinate work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3CDBEE-F26B-4D40-A4F1-D63CCBF5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485173-ED18-46E8-895A-C55D27B99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CB81DA-B61B-4CCF-9DB9-03D8B272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Collect result</a:t>
            </a:r>
          </a:p>
        </p:txBody>
      </p:sp>
    </p:spTree>
    <p:extLst>
      <p:ext uri="{BB962C8B-B14F-4D97-AF65-F5344CB8AC3E}">
        <p14:creationId xmlns:p14="http://schemas.microsoft.com/office/powerpoint/2010/main" val="2033474318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F7ACF11-EE8A-4482-8708-4847A16DA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A11E2E-A16F-4D66-8F8F-AA4E25E4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Processes and threads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77C0DD-F82F-4F3F-AB2B-86B49CB07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the two execution units.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4BBDB0-AB0A-42C7-BB86-B39EA676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9BB673-24AC-4835-81ED-0052DDDE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33F9E6-91EA-4729-8DC2-41CE5959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47DDF1-3017-42AD-B6FE-7942089E9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Software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FB573D-4F60-4EBA-81B6-9B7958E13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451279-A056-4714-AD9A-7D4D23E2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0F6B7B-8B2B-4BD6-9EF1-CCE7401C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E1DB8F-F602-439B-AE7A-85282F51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31A4C4-B155-417F-9545-8F0C825C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BC4217-F36C-4A98-9BBE-980B31D6D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8A8972-E1F2-4A6C-B71E-56010578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3C6A26-245B-487E-82E3-7E7CCE99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Thread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9372EE-F7C2-4482-B132-231E570B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58D052-D178-4D0A-8991-F0C6AA65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CD4768-C753-45B4-9107-FB2C46C29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6FDB3B-8950-4D2B-AFF0-ED17A8B6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Independent program instance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8EB12B-81F5-4CDB-9D6A-B1F28F76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EE76CF-CFCD-4AD7-A8E3-F2FBC43C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EAD7D1-D38A-4236-96F7-97C7DB711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Own address space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06066B-8DC2-4F6A-9C8D-A261361A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0C7FBB-9767-4DD8-B018-519E4376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1A9840-979D-45BC-99D2-47CAB774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Communicates by messages or OS mechanisms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46954C-A378-4188-A4FF-7C589485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EFC78E-B9AC-4547-AFF1-5A5B71E1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C4739D-EA32-4D50-A3C3-5D15E6E1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Used heavily in MPI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BEEA47-6A0F-4418-8F81-E2262557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152F27-7FA4-49E0-AD8C-04A24055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DA86CD-4CD6-4175-9F1B-0FE2AA49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Lightweight execution path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04E068-75FD-40FB-A701-24DC68AD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38A6F5-AFFE-4685-9614-E6C3C1B7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69065DF-D8B9-41FE-874A-77C49A946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Shares process address space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67C74A-418C-416A-B200-3A5FDED9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C42912-227E-45F4-8700-6104843E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5D08CCF-9BB8-4CF6-9FCC-6BCA06916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Communicates through shared variables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B3EA432-D1BE-42F7-8692-AE7D075A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2EF2BEA-4769-4C8D-87B0-8C1DD27A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EDD8B3E-0EC5-44FB-B1F6-C6F15473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Used in OpenMP/Pthreads</a:t>
            </a:r>
          </a:p>
        </p:txBody>
      </p:sp>
    </p:spTree>
    <p:extLst>
      <p:ext uri="{BB962C8B-B14F-4D97-AF65-F5344CB8AC3E}">
        <p14:creationId xmlns:p14="http://schemas.microsoft.com/office/powerpoint/2010/main" val="548831698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8109E0-A45B-4E49-AF2D-C74840A8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6592F7-9280-4DA1-A915-B82288B40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Coordinating processes and threads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0AAC99-4AB4-4376-9341-551277E3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coordination tools.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1EE5BF-EF02-4005-A756-28C71F73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45EC14-289A-46BE-A81A-83EE8FD8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55A6A1-B801-4635-BCF0-FA44BD24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7BB4BF-4527-432D-A339-0E143CC58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Software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658900-B843-4434-BBB0-39B235D8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96FC7F-D98A-40F8-A1FF-95B61F37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D5CC2E-5904-4FE0-8D0E-6711CB04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B2D6BC-58F9-477C-B607-AA3E2F78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6215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Communication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AD5C74-5CC2-41D4-B75D-F04760EC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4315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Move data or share values.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AC268D-CAEB-49BB-B706-44850797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A5AC43-6F38-42D7-89D5-6D10F2622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ADB268-C788-4C87-A7E1-D3F27D22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6215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Synchronization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5030D8-4C2C-4A3B-AC69-61DF1CDD3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4315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Control ordering among tasks.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E71CE9-C51A-4757-9BD9-E8D1CD7B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3998E6-56B5-4E90-BC4B-5FC2D261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DAC114-669E-431A-9C7D-3E0FA929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7190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Mutual exclusion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2F3F21-4ABB-4528-A3E7-A94D22FF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5290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Protect critical shared updates.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5526A5-BB4A-44A0-9918-E0EBAF83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82F2E0-7EBC-4390-9B85-08BE3EDC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D24557-9CAD-481C-9381-BEE04C59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7190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Collective operations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BE4033-31ED-4549-B0B0-650EA981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5290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Coordinate groups of workers.</a:t>
            </a:r>
          </a:p>
        </p:txBody>
      </p:sp>
    </p:spTree>
    <p:extLst>
      <p:ext uri="{BB962C8B-B14F-4D97-AF65-F5344CB8AC3E}">
        <p14:creationId xmlns:p14="http://schemas.microsoft.com/office/powerpoint/2010/main" val="730142691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5F9539-2243-4C10-A48E-E8270787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1A52EF-E90B-4787-B702-2EB8B4EFE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Shared-memory programming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66FB43-68DD-49B8-AF52-7A67A5993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typical shared-memory approach.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DF2874-94EB-4287-9C8A-CDB75DF1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ABB584-1E77-41D7-B453-3C738F0F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AE5C94-75B2-497A-BC9F-A304432F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88F54D-2AE2-4182-B013-5DA03F15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Software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7EFFE1-8EC0-45C1-A063-A2B21F44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7916FF-5F0A-4F93-8D85-C34E34C6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807723-2A0C-4EC8-838C-A4585F84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Start program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27027A-4CD4-4ECD-B839-78CC5109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A666FB-1FD9-4080-9DDB-98350D12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11BA2C-0A48-4C0A-810D-60AB2094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Create threads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169DAE-EC16-4F54-A0E2-ADF9AE0F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7AD9D2-D55A-4A23-8C79-E89425475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B0415-7137-497E-8475-C2B582A3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Share variables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D49197-F189-4A74-9ACE-0933255F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DA4E95-3EA7-4730-A1B2-E6C42353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2C0342-5410-4D72-8A7D-2F702FFFA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Use locks/barriers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41703E-ABDE-4007-B2EC-11046343B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0AF7AB-6201-4D81-A4E0-E910495B6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447630-9FAC-44CB-AE3E-EE61A300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Join threads</a:t>
            </a:r>
          </a:p>
        </p:txBody>
      </p:sp>
    </p:spTree>
    <p:extLst>
      <p:ext uri="{BB962C8B-B14F-4D97-AF65-F5344CB8AC3E}">
        <p14:creationId xmlns:p14="http://schemas.microsoft.com/office/powerpoint/2010/main" val="1000790112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5625FC-4F34-486A-A03B-32FCCE8F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68BAEA-A158-4E6E-8855-BA9E8A3E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Distributed-memory programming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8ED5A2-4DE5-475B-B50E-D0FFB91A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typical distributed-memory approach.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330C3F-3224-48DC-BB5E-1FD4656B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E033F2-00D3-477C-B459-5BFAD839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4E5948-964E-4561-B4CD-82EE6C5B5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0E1029-E4B4-4423-9EE0-FC8054300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Software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96B034-F0E2-41F8-A053-0C3721BC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6D36F0-2B8E-4806-8714-B9CBF705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A6F75B-5A9F-4F75-84F3-0B371217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Start processes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07D94F-4116-483F-ADB3-640655E9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95B3D6-F9A5-4487-83FB-68E7F4934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FC3E4D-E043-46F3-B0BF-E443AFCD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Partition 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3AC7CC-B57C-4247-B4A0-76E872FE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9CCB98-B8D9-47EF-A8DA-7958C088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D21A7F-8F76-4F31-87C6-C5F0A0FBF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Send messages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CFACC9-9F86-4DD1-AA97-21614B38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B80F82-DEB4-46A6-8555-A40321D5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2631FF-DAEE-480A-8DB3-8AB405DA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Receive results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9D7AAA-13D8-455E-B2DE-3B950C58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EFE2A4-3543-4D62-A0B3-3F4042BB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6F88E7-8613-472F-A0CE-F16E8138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Combine output</a:t>
            </a:r>
          </a:p>
        </p:txBody>
      </p:sp>
    </p:spTree>
    <p:extLst>
      <p:ext uri="{BB962C8B-B14F-4D97-AF65-F5344CB8AC3E}">
        <p14:creationId xmlns:p14="http://schemas.microsoft.com/office/powerpoint/2010/main" val="77189161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7B35AC-AE23-4C97-B90A-DE361154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BB48B0-5279-4418-89FA-43890730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Programming approaches to parallelism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422A81-8DCB-47C8-89D3-8E1E7D05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Summarize textbook software paths.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2A454E-B745-4027-99DB-DAC957BB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91AB21-1DE4-4061-9F3D-2F5BFF76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4BB198-9795-416F-A019-B48731FD2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AA7DA6-262A-4A24-8624-6EB6FA3F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Software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0798BF-13FB-4E70-B20C-01150C05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50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219BFB-099E-4F1D-A2BD-C9497387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07DE36-AA2A-4ABA-A2E5-058FCAB1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9F2CE0-257B-4F11-8E69-C0C241B5E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6215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Parallelizing compiler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8353F7-EEFA-4BA7-BBAD-BBA98545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4315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Compiler tries to find parallelism.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26CD33-EAD0-496F-BDA8-6EB89D46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320B67-475F-485E-A83A-04D7B5CC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76838A-FF86-438F-8CA1-8F2CDCAA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6215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Library/API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F526BA-3238-4C68-AF26-4C251DA9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4315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Use MPI, Pthreads or OpenMP calls/directives.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8587C8-2AD6-4B02-9843-74A1A123C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C89615-E5E4-49A8-A033-BE1DE64A4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4C353E-DDD0-488B-9577-2B16BBCEB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7190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Parallel layer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D891D5-FCB8-46E2-BFC7-28EBF2DB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5290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Use a higher layer to express task graphs.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4D091D-85D0-41AA-BB4B-E0436691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92D3FA-558F-479B-95B0-38DF6847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3FD833-6188-4E0E-9BBD-8CF1391B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7190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Parallel language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FDDF41-1B36-4435-B3E9-680F5588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5290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Use a language with explicit parallel constructs.</a:t>
            </a:r>
          </a:p>
        </p:txBody>
      </p:sp>
    </p:spTree>
    <p:extLst>
      <p:ext uri="{BB962C8B-B14F-4D97-AF65-F5344CB8AC3E}">
        <p14:creationId xmlns:p14="http://schemas.microsoft.com/office/powerpoint/2010/main" val="857981975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CC1D17-3690-4D55-8C92-E3FD8F04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16B033-4277-49CB-BA1E-B7A35D12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MPI, Pthreads and OpenMP preview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8437C4-7B45-41D2-A081-6BDCC724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Place later modules in context.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9A3A73-27A3-4CB4-B188-507FA1E1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0D29D6-9E1C-4A0B-8675-C8CD5DCF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84516A-0094-4BFB-B68A-64103466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00EDF6-D8A7-46BE-9696-830819962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Software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91AA2B-5EAF-4EAD-8AB0-062F3C34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51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4682E8-B49A-49D2-96D4-EC3474280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8C52CB-EFA1-4573-94EA-3AEE7FC71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6BAAB3-8BD2-4948-8241-1132A4CD8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02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MPI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231D65-C9A0-4066-99CE-34AFA1C3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81275"/>
            <a:ext cx="26860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Message passing for distributed-memory MIMD systems.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8C407E-AB58-4DF1-970B-095A0EE7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8726D2-CB5B-40CD-9E3A-E2356DA1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206F11-CF38-4CAB-B006-C9C0DEE0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002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Pthreads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ED9131-4368-4866-990E-B06F91A5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81275"/>
            <a:ext cx="26860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Thread library for shared-memory MIMD systems.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28DEC2-FFD7-4F6E-9733-F5141454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1F9537-8033-4BAD-A439-98A655AF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291C2F-D51D-45E6-A14C-10E539B67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02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OpenMP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E048D5-693A-479B-90AC-C16702B4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81275"/>
            <a:ext cx="26860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Directive-based shared-memory parallel programming.</a:t>
            </a:r>
          </a:p>
        </p:txBody>
      </p:sp>
    </p:spTree>
    <p:extLst>
      <p:ext uri="{BB962C8B-B14F-4D97-AF65-F5344CB8AC3E}">
        <p14:creationId xmlns:p14="http://schemas.microsoft.com/office/powerpoint/2010/main" val="685845310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64622B-3AEF-4286-A70A-25B519D1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CDF600-8D1C-45D3-BC04-30C64687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Parallel programming is powerful but tricky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C526B5-94F5-43EB-8326-4F398C0F2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common risks.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F6B8C0-6C71-4550-BF92-F061D4A6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D7BD96-AD94-49D1-ADC5-4C561967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18F6A5-2071-40F8-96B7-79D6EE06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C13723-D4EA-48F2-B7E7-837662C6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Correctness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39D7A7-37B8-4256-920A-C506E0BA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52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377304-42FB-4660-A178-3AD5C8E80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E2951A-92F5-4649-992F-E24286D8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B5F385-F24F-4690-BD0B-F7E97FB8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6954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Race conditions make results depend on timing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B3BA64-A119-451B-9FC1-569A5FE2E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BD9A92-C534-401C-9181-ED2D8EEC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09CAAD-9427-4D53-9DA2-A9D0A9C87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098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Deadlocks occur when workers wait forever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026D56-E756-4D87-8F80-B45E3476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FE7681-7875-4B78-9BDB-F09FBBE8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5841BA-0586-4AA1-90DC-80691611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241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Load imbalance leaves some cores idle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9A6E45-0253-4A9B-85D7-DE6A5829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EF3F94-6769-481E-82C7-E11003F6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891AD4-D670-4B12-B597-E9A8663A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385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Communication overhead can erase speedup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6036EC-AF66-41FB-9D55-2EF51198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28270B-AF6D-4AD5-A817-3E63C341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4034AC-EBEA-43FB-A2D5-474B14A0F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528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Nondeterminism makes debugging harder</a:t>
            </a:r>
          </a:p>
        </p:txBody>
      </p:sp>
    </p:spTree>
    <p:extLst>
      <p:ext uri="{BB962C8B-B14F-4D97-AF65-F5344CB8AC3E}">
        <p14:creationId xmlns:p14="http://schemas.microsoft.com/office/powerpoint/2010/main" val="2121106378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0AC0B3-347A-4225-82FD-739F14AA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58281E-A5BE-4DB5-ACD3-C8D9AAA8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Module 1 in one mind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1014B9-A222-47F1-908F-0B7A134D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Connect all major headings.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8CBF2E-E8F7-41DC-9E9D-8EAE8716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B1FED4-5240-4D5E-B08A-AD1AB71E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186D9A-51C5-45FC-8314-2EA307BA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51B944-08E0-4A26-A2E9-56E26B9F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CBB328-A5F8-410C-A91B-D00C6FF0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53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DB8453-CEC4-4C7D-A8DC-758196A3F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81300"/>
            <a:ext cx="24765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708E20-A479-4C02-82EC-651471581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956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7111F"/>
                </a:solidFill>
              </a:defRPr>
            </a:pPr>
            <a:r>
              <a:rPr sz="2250" b="1">
                <a:solidFill>
                  <a:srgbClr val="07111F"/>
                </a:solidFill>
              </a:rPr>
              <a:t>Module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4D79B3-89A7-43E9-AEC2-1D16B555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05000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498AEE-73B4-4B49-89B1-C9E63DF0A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050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F73449-B968-49F6-B584-055ECFA61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057400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Need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16324D-6015-49D8-82E4-0EAB63166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438400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Performance/simulation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AC0E61-B96D-4A06-B25A-E17AFF2F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19250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7A51EB-2D3D-4BD7-A0EC-738604B3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192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43F4CF-D6F4-4738-BF8E-05567CCA8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71650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Parallelism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0ABD63-3C00-4EDA-A651-B5F34E702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52650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Data/function/pipeline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EDB0C4-74C7-4844-9452-2FB88344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05000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9F5118-6AEF-4A92-8F87-819789C0D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050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C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3F6032-3332-4C1F-9DDE-9AE7C56F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057400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7C8FF"/>
                </a:solidFill>
              </a:defRPr>
            </a:pPr>
            <a:r>
              <a:rPr sz="1725" b="1">
                <a:solidFill>
                  <a:srgbClr val="77C8FF"/>
                </a:solidFill>
              </a:rPr>
              <a:t>Hardware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916711-60C3-4853-9A7D-7E554B94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438400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SIMD/MIMD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393186-0F1C-4F4B-80CC-E96EB572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29125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6CB7EC-E75A-4DC9-8F31-B8F9FA2D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29125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6DC755-0379-4812-916F-368E5C96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581525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BF69"/>
                </a:solidFill>
              </a:defRPr>
            </a:pPr>
            <a:r>
              <a:rPr sz="1725" b="1">
                <a:solidFill>
                  <a:srgbClr val="FFBF69"/>
                </a:solidFill>
              </a:rPr>
              <a:t>Memory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77BBA3-BC2E-40B6-AF0D-EC5B3347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962525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Shared/distributed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088B3B-BE56-429E-82DC-4DC0EFC4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10125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EB4647-16DF-4869-96A3-E75C84C7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10125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EBCC40-580F-468A-A363-4323C5BE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962525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Networks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F49E1D-3300-42BA-AF72-5E5A9956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343525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Topology/cost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4186E1-8858-4F82-A7DD-0257B5B2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29125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79F36E-6E90-46BD-9416-E9456C364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29125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BC229E-AFBE-42EE-8318-88AF9FC0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581525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Software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9BC071-0AA7-411D-90ED-DB1F5EFA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962525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Processes/threads</a:t>
            </a:r>
          </a:p>
        </p:txBody>
      </p:sp>
    </p:spTree>
    <p:extLst>
      <p:ext uri="{BB962C8B-B14F-4D97-AF65-F5344CB8AC3E}">
        <p14:creationId xmlns:p14="http://schemas.microsoft.com/office/powerpoint/2010/main" val="1446100224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F0AE94-8CC6-4007-9ACC-DFD9082F2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B00D2E-C2EF-4961-B6F5-0A9D2E8B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Exam-writing shortcuts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F9C491-8471-4A7F-8594-C69B2384D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Turn concepts into marks.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F08B9F-32AE-481B-A94E-BC8D4110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2D6962-217C-455C-89AC-8681D184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B31155-5C1A-4ED9-9812-8B44E752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BD7D23-6048-4243-A08C-B5984E85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696A68-BCC1-45E4-939E-F4951AF33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54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B0C2D9-8120-46F7-863E-CB2ED8CA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66EABA-109E-4AAB-A2F2-BD393327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9B7964-21B6-47A0-B94C-79B768A9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6954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For definitions, write one clear line plus one 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2B78C8-06F9-4D4A-9F1A-60545547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B6B299-A6FF-4212-97A4-8E92B55A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C530A3-818D-4556-9E2B-84E4A358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098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For SIMD vs MIMD, use a two-column table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36F4EB-413B-4D35-AEA1-F62A0E3D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90B40A-AB36-4ECC-B13B-767FA87E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695725-13F2-425B-AEBE-9F4BF195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241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For memory systems, draw shared and distributed diagrams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8C63BE-14D6-4007-9007-A4CA6DB6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678B02-AE46-4EFA-9309-13C50062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44AF60-6032-4635-B047-845E6A36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385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For networks, mention latency, bandwidth and topology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D9DD74-2E75-4BD8-962C-E1BF1E72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D665AA-575B-41A9-98E9-9BA64627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C4DA7A-8FC7-420B-AF16-80296A7AD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528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For cache coherence, explain stale copies and protocols</a:t>
            </a:r>
          </a:p>
        </p:txBody>
      </p:sp>
    </p:spTree>
    <p:extLst>
      <p:ext uri="{BB962C8B-B14F-4D97-AF65-F5344CB8AC3E}">
        <p14:creationId xmlns:p14="http://schemas.microsoft.com/office/powerpoint/2010/main" val="1657306772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E8D302-A008-4763-B922-BB039FAC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9F7E36-E4BB-4247-942A-2A901951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20 important 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A24D0A-65F7-4761-8B39-A51F209B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Rapid oral revision.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7764B0-341D-45C0-978D-597B16D9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74721B-F48C-4F79-BD68-779F7693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174DF9-42DA-468B-9D60-FB369219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F0CA1D-AB79-4DB2-AF81-EFE48DC8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54130B-12F3-470B-B33C-A025501C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55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A52A29-0FD2-4D09-88B8-6307C620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1. What is parallel computing?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09542D-8860-4C20-87A8-30E936B9E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716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2. Why parallel programming?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1FBFD2-7575-4F7A-80F1-A1E2B0DC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3. What is a parallel computer?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194530-3CE6-4D0F-BB21-4A1C7527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4. What is parallel programming?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5430FD-2F1B-433A-A63E-EBC770A3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5. Concurrency vs parallelism?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CCD4E2-9FAD-48F5-8605-4726CC22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385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6. What is data parallelism?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CC1324-AF6F-4D80-8AD3-D2045BE0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7. What is functional parallelism?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89CEDD-037F-4BAA-8ED3-0E83082F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720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8. What is pipelining?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360D11-C9AB-4379-A697-7926BFA0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9. What is SIMD?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3BD4CC-603D-4F20-9E0C-E51B6D74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54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10. What is MIMD?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E2D3FD-393A-4C96-B6D9-EB12085C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049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11. Shared vs distributed memory?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1980D9-30B5-4806-80C5-2B48D297F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716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12. What is interconnection network?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084718-1AFF-4441-BC32-2924567C3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384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13. What is latency?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60A154-D93B-4D94-B137-F959F8347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051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14. What is bandwidth?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A15466-4241-40C2-9570-B45452F37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718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15. What is cache?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307C4B-9E76-4AD4-A0AA-6A5D72C0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8385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16. What is cache coherence?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B99CF7-F2EC-42F1-BABC-2CFEF6FDA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3053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17. Snooping vs directory?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EA27D4-4906-4B0A-A68E-1A992525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720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18. Process vs thread?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3AE66A-F0D0-4584-86F9-10F9046E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2387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19. What is synchronization?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6AE1CA-999D-4D07-9A71-822BB2E05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7054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20. MPI vs OpenMP?</a:t>
            </a:r>
          </a:p>
        </p:txBody>
      </p:sp>
    </p:spTree>
    <p:extLst>
      <p:ext uri="{BB962C8B-B14F-4D97-AF65-F5344CB8AC3E}">
        <p14:creationId xmlns:p14="http://schemas.microsoft.com/office/powerpoint/2010/main" val="1086693607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FBB728-C76F-46AB-9072-734F292E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4B3175-B24E-480E-A3DE-C7B0C525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10 two-mark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7E2845-F6AD-43C0-AE62-A8CADC42F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Practice short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5A09BD-8BF0-4E82-9F8C-EBAAEE1B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68B623-F801-4F67-A7D1-E31A1754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43F6DE-6840-4F7D-998D-AA1430E3D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000D15-D560-48D1-89B3-4E5FAF2F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1A9BF0-AD1F-47F1-A7B1-74383012C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56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8F9A38-DFAA-4958-BB62-015A43B3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1. Define parallel computing.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4A8B95-796B-4F69-92EF-98E8B055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716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2. Define parallel computer.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D92C76-940A-4108-BC99-CBBBEC44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3. What is data parallelism?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1C8C93-6E62-435E-B977-F0D4D55D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4. What is functional parallelism?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A69A58-4E8B-4BF2-8233-F8FA76B7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5. Define SIMD.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F8DBF9-3387-4310-96EA-2CCABE6F0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385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6. Define MIMD.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2CF618-0F21-424B-B202-7BF4C7FB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7. What is shared memory?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1E30F2-7FB5-45B7-9FC7-0C226AD66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720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8. What is distributed memory?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0CD800-0CFB-43DA-9AE7-19914623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9. What is cache coherence?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E25A09-D42A-4706-A075-C10AC729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54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10. Define thread.</a:t>
            </a:r>
          </a:p>
        </p:txBody>
      </p:sp>
    </p:spTree>
    <p:extLst>
      <p:ext uri="{BB962C8B-B14F-4D97-AF65-F5344CB8AC3E}">
        <p14:creationId xmlns:p14="http://schemas.microsoft.com/office/powerpoint/2010/main" val="1474890987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2F7038-761C-46C6-81B0-77BA56763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854F61-0D99-485A-BACF-FE22F544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10 five-mark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0B7B47-27FC-469E-84E9-059C1023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Practice medium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9A21D3-BAFD-41C3-96BD-13D0B191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FFEE2B-293F-4F15-9B29-E5A3EC050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39C319-6D11-4C26-B519-96D59486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3368AC-5E3B-4111-B019-B12CAC6A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3BEE31-A774-403D-8C28-4E82003A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57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6D550F-1ADD-4483-9594-AC915FEC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1. Explain the need for parallel programming.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DFE885-35C5-4B12-97A5-5188A0D9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716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2. Explain data, functional parallelism and pipelining.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06501F-9304-497E-BA42-C1789A7D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3. Explain Flynn's taxonomy.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AFC05B-43C2-4BF9-8636-ADD2F3A1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4. Differentiate SIMD and MIMD systems.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4DDF06-7CBA-48F4-8522-35B40037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5. Explain shared-memory architecture.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5237DC-B5F3-47EE-9019-DA407323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385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6. Explain distributed-memory architecture.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B90267-226F-4CE4-98B4-95D3E67C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7. Explain interconnection networks.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B0E32A-FFB7-4D55-A65A-C008DC21D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720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8. Explain cache coherence problem.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4210A3-7C6F-4FCF-A07F-0230BA36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9. Explain processes and threads.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3A82FC-55BB-4F79-889C-94FEB2E5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54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10. Explain shared-memory vs distributed-memory programming.</a:t>
            </a:r>
          </a:p>
        </p:txBody>
      </p:sp>
    </p:spTree>
    <p:extLst>
      <p:ext uri="{BB962C8B-B14F-4D97-AF65-F5344CB8AC3E}">
        <p14:creationId xmlns:p14="http://schemas.microsoft.com/office/powerpoint/2010/main" val="1453292674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3333B4-A44F-47D0-871D-D1487601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707920-1EA0-4FAD-992D-F9850F1CF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10 ten-mark questions and VTU placeholders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938B65-09EE-4F9B-87C7-50D734F94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Practice long-answer structure.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8236D4-0006-483C-AA38-E0BF69661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2EF533-3826-497E-8B55-35399764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53A165-D2E8-42D8-9B82-06B347C3D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1F8F9C-0135-4C0D-8E9C-5348A980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B09646-3FB8-42FF-8713-55699B0D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58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8E2DB2-24D6-4782-8598-DBD2B133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1. Explain introduction to parallel programming, need, concepts and examples.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C1F87D-DA08-4F17-BA72-3117855D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716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2. Explain classifications of parallel computers with SIMD and MIMD systems.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8C45DA-86A0-4372-97C6-E9B41440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3. Explain interconnection networks and their importance in parallel computers.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B65A8F-9141-47F9-9202-F3FD8B612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4. Explain cache coherence and shared-memory vs distributed-memory systems.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DC0BF6-F70A-463C-8250-4729F79AC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5. Explain coordinating processes/threads and parallel software approaches.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D3E811-57E6-4312-9A1D-E48B6695A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385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6. Previous VTU Q1 placeholder: fill from past paper.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3036BE-4593-4088-B0DB-FBEBD252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7. Previous VTU Q2 placeholder: fill from past paper.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51A633-74A4-4A33-A28C-55A80E64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720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8. Previous VTU Q3 placeholder: fill from past paper.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12D92C-9B18-46B6-8AB3-2E62E1FFC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9. Previous VTU Q4 placeholder: fill from past paper.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A659FE-D1F8-4D72-905A-6D6BA9AF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54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10. Previous VTU Q5 placeholder: fill from past paper.</a:t>
            </a:r>
          </a:p>
        </p:txBody>
      </p:sp>
    </p:spTree>
    <p:extLst>
      <p:ext uri="{BB962C8B-B14F-4D97-AF65-F5344CB8AC3E}">
        <p14:creationId xmlns:p14="http://schemas.microsoft.com/office/powerpoint/2010/main" val="770791000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5CB8D8-B372-478C-BF5D-28A41FF2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7FCA4C-82D3-4342-A834-38FFB9E88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One-page revision and keyword sheet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02DF92-A0DA-43FE-833F-00221EC21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Close with the must-remember terms.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DC9351-C6B9-48E4-98FD-EEDD79E8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3BACF1-4C66-49BB-A393-ECC3374B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419858-46FD-4748-96AD-9DE3C2896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243DA9-30A6-475C-93D6-43F557E25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CC5A40-A206-4D3A-B0CA-C81420DE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59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E170EA-B06F-4365-A6B8-8C379FDA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668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BB9896-A42E-48A6-A3F7-A87CF43E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8B7195-74CC-4233-9B5E-62FC851B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66900"/>
            <a:ext cx="1030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Keywords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239FF4-D9EC-4616-91A4-4337EB43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47900"/>
            <a:ext cx="103060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Parallel computing; parallel computer; parallel programming; concurrency; data parallelism; functional parallelism; pipelining; von Neumann model; cache; hardware multithreading; Flynn taxonomy; SISD; SIMD; MISD; MIMD; shared memory; distributed memory; UMA; NUMA; interconnection network; bus; mesh; torus; hypercube; crossbar; latency; bandwidth; cache coherence; snooping; directory; process; thread; synchronization; MPI; OpenMP.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44DF58-7406-4503-A487-24C7737D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10668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FCAC8F-848A-44C0-90CE-BBCCC767C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C6D9F6-C3D8-4335-BBE4-457FD83C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67150"/>
            <a:ext cx="1030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Memory path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4ACDA5-CA7F-458B-B134-CFA0D9F0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48150"/>
            <a:ext cx="10306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Need performance -&gt; identify parallelism -&gt; classify hardware -&gt; choose memory/network model -&gt; coordinate processes or threads -&gt; write correct parallel software.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398C84-52D4-4DAD-AB0A-C70B7E35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10668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B5CE55-DF43-4397-AB63-CA3B2141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CE3D5C-199A-44D2-883F-899C180A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95900"/>
            <a:ext cx="1030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Exam answer formula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40108D-2450-420F-837F-426963EA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676900"/>
            <a:ext cx="10306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Definition + diagram + comparison + example + risk/limitation = strong answer.</a:t>
            </a:r>
          </a:p>
        </p:txBody>
      </p:sp>
    </p:spTree>
    <p:extLst>
      <p:ext uri="{BB962C8B-B14F-4D97-AF65-F5344CB8AC3E}">
        <p14:creationId xmlns:p14="http://schemas.microsoft.com/office/powerpoint/2010/main" val="5380571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2026-08-05T09:08:43.9490000Z</dcterms:created>
  <dcterms:modified xsi:type="dcterms:W3CDTF">2026-08-05T09:08:43.9490000Z</dcterms:modified>
</coreProperties>
</file>