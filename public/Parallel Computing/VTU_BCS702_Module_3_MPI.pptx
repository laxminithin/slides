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803aede3a248d5" /><Relationship Type="http://schemas.openxmlformats.org/officeDocument/2006/relationships/extended-properties" Target="/docProps/app.xml" Id="Re518438ef47c43ba" /><Relationship Type="http://schemas.openxmlformats.org/officeDocument/2006/relationships/officeDocument" Target="/ppt/presentation.xml" Id="Rc83a86b41d76489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ca4576356a41fc"/>
  </p:sldMasterIdLst>
  <p:notesMasterIdLst>
    <p:notesMasterId xmlns:r="http://schemas.openxmlformats.org/officeDocument/2006/relationships" r:id="Rbe09210c93bc4423"/>
  </p:notesMasterIdLst>
  <p:sldIdLst>
    <p:sldId xmlns:r="http://schemas.openxmlformats.org/officeDocument/2006/relationships" id="256" r:id="R613c78186fb94bc8"/>
    <p:sldId xmlns:r="http://schemas.openxmlformats.org/officeDocument/2006/relationships" id="257" r:id="R6dc772595f3848e2"/>
    <p:sldId xmlns:r="http://schemas.openxmlformats.org/officeDocument/2006/relationships" id="258" r:id="R6fc0e57bed904716"/>
    <p:sldId xmlns:r="http://schemas.openxmlformats.org/officeDocument/2006/relationships" id="259" r:id="R50e8006ef8634fab"/>
    <p:sldId xmlns:r="http://schemas.openxmlformats.org/officeDocument/2006/relationships" id="260" r:id="R2e1932ee8f0d4d9a"/>
    <p:sldId xmlns:r="http://schemas.openxmlformats.org/officeDocument/2006/relationships" id="261" r:id="R6b7d51c06c4b4b48"/>
    <p:sldId xmlns:r="http://schemas.openxmlformats.org/officeDocument/2006/relationships" id="262" r:id="R22217020080948b8"/>
    <p:sldId xmlns:r="http://schemas.openxmlformats.org/officeDocument/2006/relationships" id="263" r:id="R607c24b353ed4319"/>
    <p:sldId xmlns:r="http://schemas.openxmlformats.org/officeDocument/2006/relationships" id="264" r:id="Rabd7fb851eb44d6d"/>
    <p:sldId xmlns:r="http://schemas.openxmlformats.org/officeDocument/2006/relationships" id="265" r:id="R0cb6225287ae4e5f"/>
    <p:sldId xmlns:r="http://schemas.openxmlformats.org/officeDocument/2006/relationships" id="266" r:id="R408479702ac24a01"/>
    <p:sldId xmlns:r="http://schemas.openxmlformats.org/officeDocument/2006/relationships" id="267" r:id="Rd0ab09ed3fd04afa"/>
    <p:sldId xmlns:r="http://schemas.openxmlformats.org/officeDocument/2006/relationships" id="268" r:id="Recb900ad19f14552"/>
    <p:sldId xmlns:r="http://schemas.openxmlformats.org/officeDocument/2006/relationships" id="269" r:id="Re10e550233094527"/>
    <p:sldId xmlns:r="http://schemas.openxmlformats.org/officeDocument/2006/relationships" id="270" r:id="R4a89e137522b48fe"/>
    <p:sldId xmlns:r="http://schemas.openxmlformats.org/officeDocument/2006/relationships" id="271" r:id="R829c13965edb4df3"/>
    <p:sldId xmlns:r="http://schemas.openxmlformats.org/officeDocument/2006/relationships" id="272" r:id="Re3598b84422240d1"/>
    <p:sldId xmlns:r="http://schemas.openxmlformats.org/officeDocument/2006/relationships" id="273" r:id="Ra77a64400cba4f65"/>
    <p:sldId xmlns:r="http://schemas.openxmlformats.org/officeDocument/2006/relationships" id="274" r:id="Rd60cb53e487548c2"/>
    <p:sldId xmlns:r="http://schemas.openxmlformats.org/officeDocument/2006/relationships" id="275" r:id="R1289539f31d84d83"/>
    <p:sldId xmlns:r="http://schemas.openxmlformats.org/officeDocument/2006/relationships" id="276" r:id="R99327b484c4f425f"/>
    <p:sldId xmlns:r="http://schemas.openxmlformats.org/officeDocument/2006/relationships" id="277" r:id="Raf90b26d8e8d4629"/>
    <p:sldId xmlns:r="http://schemas.openxmlformats.org/officeDocument/2006/relationships" id="278" r:id="Rd470a1959a884f0d"/>
    <p:sldId xmlns:r="http://schemas.openxmlformats.org/officeDocument/2006/relationships" id="279" r:id="Rf034eb568d8043a7"/>
    <p:sldId xmlns:r="http://schemas.openxmlformats.org/officeDocument/2006/relationships" id="280" r:id="R82697df235e34eea"/>
    <p:sldId xmlns:r="http://schemas.openxmlformats.org/officeDocument/2006/relationships" id="281" r:id="Re2fe1b049d8d498f"/>
    <p:sldId xmlns:r="http://schemas.openxmlformats.org/officeDocument/2006/relationships" id="282" r:id="R9c6eb2d088dd44e2"/>
    <p:sldId xmlns:r="http://schemas.openxmlformats.org/officeDocument/2006/relationships" id="283" r:id="R5b27881898094830"/>
    <p:sldId xmlns:r="http://schemas.openxmlformats.org/officeDocument/2006/relationships" id="284" r:id="R2cf2e71a86264819"/>
    <p:sldId xmlns:r="http://schemas.openxmlformats.org/officeDocument/2006/relationships" id="285" r:id="R5a732473eb3c484b"/>
    <p:sldId xmlns:r="http://schemas.openxmlformats.org/officeDocument/2006/relationships" id="286" r:id="R442a0fa740f2405b"/>
    <p:sldId xmlns:r="http://schemas.openxmlformats.org/officeDocument/2006/relationships" id="287" r:id="R6cc6f8dd1e734e7d"/>
    <p:sldId xmlns:r="http://schemas.openxmlformats.org/officeDocument/2006/relationships" id="288" r:id="R860efd73da214ba0"/>
    <p:sldId xmlns:r="http://schemas.openxmlformats.org/officeDocument/2006/relationships" id="289" r:id="R34488570b9ff4ef7"/>
    <p:sldId xmlns:r="http://schemas.openxmlformats.org/officeDocument/2006/relationships" id="290" r:id="R18ddb724fcd9480a"/>
    <p:sldId xmlns:r="http://schemas.openxmlformats.org/officeDocument/2006/relationships" id="291" r:id="R0320f87913554d0a"/>
    <p:sldId xmlns:r="http://schemas.openxmlformats.org/officeDocument/2006/relationships" id="292" r:id="R609ff094054446cc"/>
    <p:sldId xmlns:r="http://schemas.openxmlformats.org/officeDocument/2006/relationships" id="293" r:id="R1bc4625fa9f54d21"/>
    <p:sldId xmlns:r="http://schemas.openxmlformats.org/officeDocument/2006/relationships" id="294" r:id="R0d0bd1d1a415498d"/>
    <p:sldId xmlns:r="http://schemas.openxmlformats.org/officeDocument/2006/relationships" id="295" r:id="R23b1ac7df1a142a6"/>
    <p:sldId xmlns:r="http://schemas.openxmlformats.org/officeDocument/2006/relationships" id="296" r:id="R1d396b1f6e884761"/>
    <p:sldId xmlns:r="http://schemas.openxmlformats.org/officeDocument/2006/relationships" id="297" r:id="Ra80057fd1c5c4ca1"/>
    <p:sldId xmlns:r="http://schemas.openxmlformats.org/officeDocument/2006/relationships" id="298" r:id="R8e129bce395e4282"/>
    <p:sldId xmlns:r="http://schemas.openxmlformats.org/officeDocument/2006/relationships" id="299" r:id="R77e4961c71114f83"/>
    <p:sldId xmlns:r="http://schemas.openxmlformats.org/officeDocument/2006/relationships" id="300" r:id="Rada83817f482444e"/>
    <p:sldId xmlns:r="http://schemas.openxmlformats.org/officeDocument/2006/relationships" id="301" r:id="Rcee22e34fa9f43a5"/>
    <p:sldId xmlns:r="http://schemas.openxmlformats.org/officeDocument/2006/relationships" id="302" r:id="R114745bb574f4453"/>
    <p:sldId xmlns:r="http://schemas.openxmlformats.org/officeDocument/2006/relationships" id="303" r:id="R95367943f58e4509"/>
    <p:sldId xmlns:r="http://schemas.openxmlformats.org/officeDocument/2006/relationships" id="304" r:id="Ra9d26e0a2b7149da"/>
    <p:sldId xmlns:r="http://schemas.openxmlformats.org/officeDocument/2006/relationships" id="305" r:id="R0956985e353d46d6"/>
    <p:sldId xmlns:r="http://schemas.openxmlformats.org/officeDocument/2006/relationships" id="306" r:id="R46b4c24b4574497c"/>
    <p:sldId xmlns:r="http://schemas.openxmlformats.org/officeDocument/2006/relationships" id="307" r:id="R5a0bc4f842bd4bee"/>
    <p:sldId xmlns:r="http://schemas.openxmlformats.org/officeDocument/2006/relationships" id="308" r:id="R5d56018d860a4803"/>
    <p:sldId xmlns:r="http://schemas.openxmlformats.org/officeDocument/2006/relationships" id="309" r:id="R7abe3edce2014f27"/>
    <p:sldId xmlns:r="http://schemas.openxmlformats.org/officeDocument/2006/relationships" id="310" r:id="Ra0d19c8d9a734028"/>
    <p:sldId xmlns:r="http://schemas.openxmlformats.org/officeDocument/2006/relationships" id="311" r:id="R445647547e8d453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5c9bada168e4d59" /><Relationship Type="http://schemas.openxmlformats.org/officeDocument/2006/relationships/slideMaster" Target="/ppt/slideMasters/slideMaster1.xml" Id="R81ca4576356a41fc" /><Relationship Type="http://schemas.openxmlformats.org/officeDocument/2006/relationships/notesMaster" Target="/ppt/notesMasters/notesMaster1.xml" Id="Rbe09210c93bc4423" /><Relationship Type="http://schemas.openxmlformats.org/officeDocument/2006/relationships/presProps" Target="/ppt/presProps.xml" Id="Rd2477ae9ba014705" /><Relationship Type="http://schemas.openxmlformats.org/officeDocument/2006/relationships/tableStyles" Target="/ppt/tableStyles.xml" Id="Rf3687fc64ff2406d" /><Relationship Type="http://schemas.openxmlformats.org/officeDocument/2006/relationships/slide" Target="/ppt/slides/slide1.xml" Id="R613c78186fb94bc8" /><Relationship Type="http://schemas.openxmlformats.org/officeDocument/2006/relationships/slide" Target="/ppt/slides/slide2.xml" Id="R6dc772595f3848e2" /><Relationship Type="http://schemas.openxmlformats.org/officeDocument/2006/relationships/slide" Target="/ppt/slides/slide3.xml" Id="R6fc0e57bed904716" /><Relationship Type="http://schemas.openxmlformats.org/officeDocument/2006/relationships/slide" Target="/ppt/slides/slide4.xml" Id="R50e8006ef8634fab" /><Relationship Type="http://schemas.openxmlformats.org/officeDocument/2006/relationships/slide" Target="/ppt/slides/slide5.xml" Id="R2e1932ee8f0d4d9a" /><Relationship Type="http://schemas.openxmlformats.org/officeDocument/2006/relationships/slide" Target="/ppt/slides/slide6.xml" Id="R6b7d51c06c4b4b48" /><Relationship Type="http://schemas.openxmlformats.org/officeDocument/2006/relationships/slide" Target="/ppt/slides/slide7.xml" Id="R22217020080948b8" /><Relationship Type="http://schemas.openxmlformats.org/officeDocument/2006/relationships/slide" Target="/ppt/slides/slide8.xml" Id="R607c24b353ed4319" /><Relationship Type="http://schemas.openxmlformats.org/officeDocument/2006/relationships/slide" Target="/ppt/slides/slide9.xml" Id="Rabd7fb851eb44d6d" /><Relationship Type="http://schemas.openxmlformats.org/officeDocument/2006/relationships/slide" Target="/ppt/slides/slide10.xml" Id="R0cb6225287ae4e5f" /><Relationship Type="http://schemas.openxmlformats.org/officeDocument/2006/relationships/slide" Target="/ppt/slides/slide11.xml" Id="R408479702ac24a01" /><Relationship Type="http://schemas.openxmlformats.org/officeDocument/2006/relationships/slide" Target="/ppt/slides/slide12.xml" Id="Rd0ab09ed3fd04afa" /><Relationship Type="http://schemas.openxmlformats.org/officeDocument/2006/relationships/slide" Target="/ppt/slides/slide13.xml" Id="Recb900ad19f14552" /><Relationship Type="http://schemas.openxmlformats.org/officeDocument/2006/relationships/slide" Target="/ppt/slides/slide14.xml" Id="Re10e550233094527" /><Relationship Type="http://schemas.openxmlformats.org/officeDocument/2006/relationships/slide" Target="/ppt/slides/slide15.xml" Id="R4a89e137522b48fe" /><Relationship Type="http://schemas.openxmlformats.org/officeDocument/2006/relationships/slide" Target="/ppt/slides/slide16.xml" Id="R829c13965edb4df3" /><Relationship Type="http://schemas.openxmlformats.org/officeDocument/2006/relationships/slide" Target="/ppt/slides/slide17.xml" Id="Re3598b84422240d1" /><Relationship Type="http://schemas.openxmlformats.org/officeDocument/2006/relationships/slide" Target="/ppt/slides/slide18.xml" Id="Ra77a64400cba4f65" /><Relationship Type="http://schemas.openxmlformats.org/officeDocument/2006/relationships/slide" Target="/ppt/slides/slide19.xml" Id="Rd60cb53e487548c2" /><Relationship Type="http://schemas.openxmlformats.org/officeDocument/2006/relationships/slide" Target="/ppt/slides/slide20.xml" Id="R1289539f31d84d83" /><Relationship Type="http://schemas.openxmlformats.org/officeDocument/2006/relationships/slide" Target="/ppt/slides/slide21.xml" Id="R99327b484c4f425f" /><Relationship Type="http://schemas.openxmlformats.org/officeDocument/2006/relationships/slide" Target="/ppt/slides/slide22.xml" Id="Raf90b26d8e8d4629" /><Relationship Type="http://schemas.openxmlformats.org/officeDocument/2006/relationships/slide" Target="/ppt/slides/slide23.xml" Id="Rd470a1959a884f0d" /><Relationship Type="http://schemas.openxmlformats.org/officeDocument/2006/relationships/slide" Target="/ppt/slides/slide24.xml" Id="Rf034eb568d8043a7" /><Relationship Type="http://schemas.openxmlformats.org/officeDocument/2006/relationships/slide" Target="/ppt/slides/slide25.xml" Id="R82697df235e34eea" /><Relationship Type="http://schemas.openxmlformats.org/officeDocument/2006/relationships/slide" Target="/ppt/slides/slide26.xml" Id="Re2fe1b049d8d498f" /><Relationship Type="http://schemas.openxmlformats.org/officeDocument/2006/relationships/slide" Target="/ppt/slides/slide27.xml" Id="R9c6eb2d088dd44e2" /><Relationship Type="http://schemas.openxmlformats.org/officeDocument/2006/relationships/slide" Target="/ppt/slides/slide28.xml" Id="R5b27881898094830" /><Relationship Type="http://schemas.openxmlformats.org/officeDocument/2006/relationships/slide" Target="/ppt/slides/slide29.xml" Id="R2cf2e71a86264819" /><Relationship Type="http://schemas.openxmlformats.org/officeDocument/2006/relationships/slide" Target="/ppt/slides/slide30.xml" Id="R5a732473eb3c484b" /><Relationship Type="http://schemas.openxmlformats.org/officeDocument/2006/relationships/slide" Target="/ppt/slides/slide31.xml" Id="R442a0fa740f2405b" /><Relationship Type="http://schemas.openxmlformats.org/officeDocument/2006/relationships/slide" Target="/ppt/slides/slide32.xml" Id="R6cc6f8dd1e734e7d" /><Relationship Type="http://schemas.openxmlformats.org/officeDocument/2006/relationships/slide" Target="/ppt/slides/slide33.xml" Id="R860efd73da214ba0" /><Relationship Type="http://schemas.openxmlformats.org/officeDocument/2006/relationships/slide" Target="/ppt/slides/slide34.xml" Id="R34488570b9ff4ef7" /><Relationship Type="http://schemas.openxmlformats.org/officeDocument/2006/relationships/slide" Target="/ppt/slides/slide35.xml" Id="R18ddb724fcd9480a" /><Relationship Type="http://schemas.openxmlformats.org/officeDocument/2006/relationships/slide" Target="/ppt/slides/slide36.xml" Id="R0320f87913554d0a" /><Relationship Type="http://schemas.openxmlformats.org/officeDocument/2006/relationships/slide" Target="/ppt/slides/slide37.xml" Id="R609ff094054446cc" /><Relationship Type="http://schemas.openxmlformats.org/officeDocument/2006/relationships/slide" Target="/ppt/slides/slide38.xml" Id="R1bc4625fa9f54d21" /><Relationship Type="http://schemas.openxmlformats.org/officeDocument/2006/relationships/slide" Target="/ppt/slides/slide39.xml" Id="R0d0bd1d1a415498d" /><Relationship Type="http://schemas.openxmlformats.org/officeDocument/2006/relationships/slide" Target="/ppt/slides/slide40.xml" Id="R23b1ac7df1a142a6" /><Relationship Type="http://schemas.openxmlformats.org/officeDocument/2006/relationships/slide" Target="/ppt/slides/slide41.xml" Id="R1d396b1f6e884761" /><Relationship Type="http://schemas.openxmlformats.org/officeDocument/2006/relationships/slide" Target="/ppt/slides/slide42.xml" Id="Ra80057fd1c5c4ca1" /><Relationship Type="http://schemas.openxmlformats.org/officeDocument/2006/relationships/slide" Target="/ppt/slides/slide43.xml" Id="R8e129bce395e4282" /><Relationship Type="http://schemas.openxmlformats.org/officeDocument/2006/relationships/slide" Target="/ppt/slides/slide44.xml" Id="R77e4961c71114f83" /><Relationship Type="http://schemas.openxmlformats.org/officeDocument/2006/relationships/slide" Target="/ppt/slides/slide45.xml" Id="Rada83817f482444e" /><Relationship Type="http://schemas.openxmlformats.org/officeDocument/2006/relationships/slide" Target="/ppt/slides/slide46.xml" Id="Rcee22e34fa9f43a5" /><Relationship Type="http://schemas.openxmlformats.org/officeDocument/2006/relationships/slide" Target="/ppt/slides/slide47.xml" Id="R114745bb574f4453" /><Relationship Type="http://schemas.openxmlformats.org/officeDocument/2006/relationships/slide" Target="/ppt/slides/slide48.xml" Id="R95367943f58e4509" /><Relationship Type="http://schemas.openxmlformats.org/officeDocument/2006/relationships/slide" Target="/ppt/slides/slide49.xml" Id="Ra9d26e0a2b7149da" /><Relationship Type="http://schemas.openxmlformats.org/officeDocument/2006/relationships/slide" Target="/ppt/slides/slide50.xml" Id="R0956985e353d46d6" /><Relationship Type="http://schemas.openxmlformats.org/officeDocument/2006/relationships/slide" Target="/ppt/slides/slide51.xml" Id="R46b4c24b4574497c" /><Relationship Type="http://schemas.openxmlformats.org/officeDocument/2006/relationships/slide" Target="/ppt/slides/slide52.xml" Id="R5a0bc4f842bd4bee" /><Relationship Type="http://schemas.openxmlformats.org/officeDocument/2006/relationships/slide" Target="/ppt/slides/slide53.xml" Id="R5d56018d860a4803" /><Relationship Type="http://schemas.openxmlformats.org/officeDocument/2006/relationships/slide" Target="/ppt/slides/slide54.xml" Id="R7abe3edce2014f27" /><Relationship Type="http://schemas.openxmlformats.org/officeDocument/2006/relationships/slide" Target="/ppt/slides/slide55.xml" Id="Ra0d19c8d9a734028" /><Relationship Type="http://schemas.openxmlformats.org/officeDocument/2006/relationships/slide" Target="/ppt/slides/slide56.xml" Id="R445647547e8d45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86b40e00c748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46c0149e2d42f1" /><Relationship Type="http://schemas.openxmlformats.org/officeDocument/2006/relationships/notesMaster" Target="/ppt/notesMasters/notesMaster1.xml" Id="R6082dae1178c43e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bc8bbbe368b4fd9" /><Relationship Type="http://schemas.openxmlformats.org/officeDocument/2006/relationships/notesMaster" Target="/ppt/notesMasters/notesMaster1.xml" Id="Rf983f61b81e6446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f7c101bada459b" /><Relationship Type="http://schemas.openxmlformats.org/officeDocument/2006/relationships/notesMaster" Target="/ppt/notesMasters/notesMaster1.xml" Id="Rccac51df03d24ff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abf3faa033f448a" /><Relationship Type="http://schemas.openxmlformats.org/officeDocument/2006/relationships/notesMaster" Target="/ppt/notesMasters/notesMaster1.xml" Id="R29e6697ae7064fa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4b1aa7c03ff4d00" /><Relationship Type="http://schemas.openxmlformats.org/officeDocument/2006/relationships/notesMaster" Target="/ppt/notesMasters/notesMaster1.xml" Id="R7f86e7b23a38417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07bb645d9b44b05" /><Relationship Type="http://schemas.openxmlformats.org/officeDocument/2006/relationships/notesMaster" Target="/ppt/notesMasters/notesMaster1.xml" Id="Rcbc3121962b0409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21a073ec5fe47fb" /><Relationship Type="http://schemas.openxmlformats.org/officeDocument/2006/relationships/notesMaster" Target="/ppt/notesMasters/notesMaster1.xml" Id="Ra9db6f62a43347e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7f51861da5e4d1e" /><Relationship Type="http://schemas.openxmlformats.org/officeDocument/2006/relationships/notesMaster" Target="/ppt/notesMasters/notesMaster1.xml" Id="R1869e4d9fb7d454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be464c48961436c" /><Relationship Type="http://schemas.openxmlformats.org/officeDocument/2006/relationships/notesMaster" Target="/ppt/notesMasters/notesMaster1.xml" Id="Re65a83189e964aa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86bdcb235304721" /><Relationship Type="http://schemas.openxmlformats.org/officeDocument/2006/relationships/notesMaster" Target="/ppt/notesMasters/notesMaster1.xml" Id="Rf40b32fe2e09457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876f9b83d4543fb" /><Relationship Type="http://schemas.openxmlformats.org/officeDocument/2006/relationships/notesMaster" Target="/ppt/notesMasters/notesMaster1.xml" Id="R73c72392dcef472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253ef72c4e74894" /><Relationship Type="http://schemas.openxmlformats.org/officeDocument/2006/relationships/notesMaster" Target="/ppt/notesMasters/notesMaster1.xml" Id="R837fb97843954bf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cdb44cb387e4df8" /><Relationship Type="http://schemas.openxmlformats.org/officeDocument/2006/relationships/notesMaster" Target="/ppt/notesMasters/notesMaster1.xml" Id="Re49031f3c1764e3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21b02b023e84b8c" /><Relationship Type="http://schemas.openxmlformats.org/officeDocument/2006/relationships/notesMaster" Target="/ppt/notesMasters/notesMaster1.xml" Id="R062e8806c4304e5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6505e0920184334" /><Relationship Type="http://schemas.openxmlformats.org/officeDocument/2006/relationships/notesMaster" Target="/ppt/notesMasters/notesMaster1.xml" Id="Rab42aea90ba347f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e98735cc615417a" /><Relationship Type="http://schemas.openxmlformats.org/officeDocument/2006/relationships/notesMaster" Target="/ppt/notesMasters/notesMaster1.xml" Id="Rdc5e3f58705e43c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f9b38fed8b24c25" /><Relationship Type="http://schemas.openxmlformats.org/officeDocument/2006/relationships/notesMaster" Target="/ppt/notesMasters/notesMaster1.xml" Id="R8f2938ac0ff4444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76f448d21524bb4" /><Relationship Type="http://schemas.openxmlformats.org/officeDocument/2006/relationships/notesMaster" Target="/ppt/notesMasters/notesMaster1.xml" Id="Ra3b66ecb2c3a47c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e664d31710d436f" /><Relationship Type="http://schemas.openxmlformats.org/officeDocument/2006/relationships/notesMaster" Target="/ppt/notesMasters/notesMaster1.xml" Id="Rffe5d5498cfd48a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ade477314bd406e" /><Relationship Type="http://schemas.openxmlformats.org/officeDocument/2006/relationships/notesMaster" Target="/ppt/notesMasters/notesMaster1.xml" Id="R1a5659a1dbe9419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a1974c789a74701" /><Relationship Type="http://schemas.openxmlformats.org/officeDocument/2006/relationships/notesMaster" Target="/ppt/notesMasters/notesMaster1.xml" Id="Raa400ccc614c4d9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2b3dc642cca4358" /><Relationship Type="http://schemas.openxmlformats.org/officeDocument/2006/relationships/notesMaster" Target="/ppt/notesMasters/notesMaster1.xml" Id="R89ebeb4b2dd04cb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5b372c185d74385" /><Relationship Type="http://schemas.openxmlformats.org/officeDocument/2006/relationships/notesMaster" Target="/ppt/notesMasters/notesMaster1.xml" Id="Rd210d5b6a032494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6ec99a24982494f" /><Relationship Type="http://schemas.openxmlformats.org/officeDocument/2006/relationships/notesMaster" Target="/ppt/notesMasters/notesMaster1.xml" Id="Rc8f1ff912f704f7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4d29ab1ffed4485" /><Relationship Type="http://schemas.openxmlformats.org/officeDocument/2006/relationships/notesMaster" Target="/ppt/notesMasters/notesMaster1.xml" Id="Rb793557f49ca428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47883f2623c4abf" /><Relationship Type="http://schemas.openxmlformats.org/officeDocument/2006/relationships/notesMaster" Target="/ppt/notesMasters/notesMaster1.xml" Id="R11b06e71265b4e1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31df3f78f45408d" /><Relationship Type="http://schemas.openxmlformats.org/officeDocument/2006/relationships/notesMaster" Target="/ppt/notesMasters/notesMaster1.xml" Id="Rda32b23db2df439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908e962d47a4dd6" /><Relationship Type="http://schemas.openxmlformats.org/officeDocument/2006/relationships/notesMaster" Target="/ppt/notesMasters/notesMaster1.xml" Id="Rd3d3df09064c4b2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de239e2dca74066" /><Relationship Type="http://schemas.openxmlformats.org/officeDocument/2006/relationships/notesMaster" Target="/ppt/notesMasters/notesMaster1.xml" Id="R677854bb3e44490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0c76accd0e845d3" /><Relationship Type="http://schemas.openxmlformats.org/officeDocument/2006/relationships/notesMaster" Target="/ppt/notesMasters/notesMaster1.xml" Id="R2288074fea0e4292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9906c8e2fc643cb" /><Relationship Type="http://schemas.openxmlformats.org/officeDocument/2006/relationships/notesMaster" Target="/ppt/notesMasters/notesMaster1.xml" Id="Rf595ac5e144c4c8b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7834769339524d95" /><Relationship Type="http://schemas.openxmlformats.org/officeDocument/2006/relationships/notesMaster" Target="/ppt/notesMasters/notesMaster1.xml" Id="R0c3ae82d412c42e4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6e57a67e45e447df" /><Relationship Type="http://schemas.openxmlformats.org/officeDocument/2006/relationships/notesMaster" Target="/ppt/notesMasters/notesMaster1.xml" Id="Ra1c61f20800541c1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c686d29164734888" /><Relationship Type="http://schemas.openxmlformats.org/officeDocument/2006/relationships/notesMaster" Target="/ppt/notesMasters/notesMaster1.xml" Id="R6c740dfed6ee40b8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d1e8c88073e147a7" /><Relationship Type="http://schemas.openxmlformats.org/officeDocument/2006/relationships/notesMaster" Target="/ppt/notesMasters/notesMaster1.xml" Id="Ra141aa8da1a640de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b13ceac6dc004332" /><Relationship Type="http://schemas.openxmlformats.org/officeDocument/2006/relationships/notesMaster" Target="/ppt/notesMasters/notesMaster1.xml" Id="Rf6511cdf56694b3e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6ca93548b8ef41c4" /><Relationship Type="http://schemas.openxmlformats.org/officeDocument/2006/relationships/notesMaster" Target="/ppt/notesMasters/notesMaster1.xml" Id="Rc9d544df26d7474c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59af2383172c4c7b" /><Relationship Type="http://schemas.openxmlformats.org/officeDocument/2006/relationships/notesMaster" Target="/ppt/notesMasters/notesMaster1.xml" Id="R38fd4fead2854b23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d055893c70a54bc9" /><Relationship Type="http://schemas.openxmlformats.org/officeDocument/2006/relationships/notesMaster" Target="/ppt/notesMasters/notesMaster1.xml" Id="R3da94c30c664440b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a0a02f7bdd1a4fe0" /><Relationship Type="http://schemas.openxmlformats.org/officeDocument/2006/relationships/notesMaster" Target="/ppt/notesMasters/notesMaster1.xml" Id="Rfbec8d4ae47845be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4ec43fdf45c34369" /><Relationship Type="http://schemas.openxmlformats.org/officeDocument/2006/relationships/notesMaster" Target="/ppt/notesMasters/notesMaster1.xml" Id="R4519059c90b0443a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fe8b476a07834980" /><Relationship Type="http://schemas.openxmlformats.org/officeDocument/2006/relationships/notesMaster" Target="/ppt/notesMasters/notesMaster1.xml" Id="R2a05e1e169064dcf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ca1059ba213b4f9f" /><Relationship Type="http://schemas.openxmlformats.org/officeDocument/2006/relationships/notesMaster" Target="/ppt/notesMasters/notesMaster1.xml" Id="Rca4d6a5c06a844ef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472a27bcb956401d" /><Relationship Type="http://schemas.openxmlformats.org/officeDocument/2006/relationships/notesMaster" Target="/ppt/notesMasters/notesMaster1.xml" Id="Re50b58ab8fc04dc3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7cbfead2a91243ad" /><Relationship Type="http://schemas.openxmlformats.org/officeDocument/2006/relationships/notesMaster" Target="/ppt/notesMasters/notesMaster1.xml" Id="Raad366e8580e45eb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e818039bec4c44fe" /><Relationship Type="http://schemas.openxmlformats.org/officeDocument/2006/relationships/notesMaster" Target="/ppt/notesMasters/notesMaster1.xml" Id="Rca750584229143c0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1aa3800541c742e3" /><Relationship Type="http://schemas.openxmlformats.org/officeDocument/2006/relationships/notesMaster" Target="/ppt/notesMasters/notesMaster1.xml" Id="R509498fbd90e470a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fe50d37b5df44c84" /><Relationship Type="http://schemas.openxmlformats.org/officeDocument/2006/relationships/notesMaster" Target="/ppt/notesMasters/notesMaster1.xml" Id="R6474ecb1cb924dd3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ea21e1dbcfcb423b" /><Relationship Type="http://schemas.openxmlformats.org/officeDocument/2006/relationships/notesMaster" Target="/ppt/notesMasters/notesMaster1.xml" Id="R0d620e1008c14591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158a10ba9ad140f9" /><Relationship Type="http://schemas.openxmlformats.org/officeDocument/2006/relationships/notesMaster" Target="/ppt/notesMasters/notesMaster1.xml" Id="Rca31c97ba2d44e2f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bdfe410f387f43b3" /><Relationship Type="http://schemas.openxmlformats.org/officeDocument/2006/relationships/notesMaster" Target="/ppt/notesMasters/notesMaster1.xml" Id="R733f6615102e4321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043b637943f1445e" /><Relationship Type="http://schemas.openxmlformats.org/officeDocument/2006/relationships/notesMaster" Target="/ppt/notesMasters/notesMaster1.xml" Id="R9766011e840045ec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9cd7927bcaac4a88" /><Relationship Type="http://schemas.openxmlformats.org/officeDocument/2006/relationships/notesMaster" Target="/ppt/notesMasters/notesMaster1.xml" Id="Rabe22fcf485c4a97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72a31a589f524a15" /><Relationship Type="http://schemas.openxmlformats.org/officeDocument/2006/relationships/notesMaster" Target="/ppt/notesMasters/notesMaster1.xml" Id="Rd919631f92e64ce3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840cabfdfd4643f5" /><Relationship Type="http://schemas.openxmlformats.org/officeDocument/2006/relationships/notesMaster" Target="/ppt/notesMasters/notesMaster1.xml" Id="R7592d159283a4ee5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967da363f4c44c79" /><Relationship Type="http://schemas.openxmlformats.org/officeDocument/2006/relationships/notesMaster" Target="/ppt/notesMasters/notesMaster1.xml" Id="R31007c446162451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Open by saying Module 1 introduced distributed memory; Module 3 teaches the standard library used to program it.</a:t>
            </a:r>
          </a:p>
          <a:p xmlns:a="http://schemas.openxmlformats.org/drawingml/2006/main">
            <a:r>
              <a:t>Pause cue: pause after the message-flow visual appears, then restate the MPI concept in one sentence.</a:t>
            </a:r>
          </a:p>
          <a:p xmlns:a="http://schemas.openxmlformats.org/drawingml/2006/main">
            <a:r>
              <a:t>Pointing cue: point from process rank to process rank; for code slides, point to communicator, rank, count, datatype and tag.</a:t>
            </a:r>
          </a:p>
          <a:p xmlns:a="http://schemas.openxmlformats.org/drawingml/2006/main">
            <a:r>
              <a:t>Question to ask students: Ask students which MPI process owns this data or message.</a:t>
            </a:r>
          </a:p>
          <a:p xmlns:a="http://schemas.openxmlformats.org/drawingml/2006/main">
            <a:r>
              <a:t>Animation instructions: Fade title; appear processes/messages one by one; wipe arrows; highlight MPI function arguments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3 checklist; Peter S. Pacheco and Matthew Malensek, An Introduction to Parallel Programming, 2nd ed., Morgan Kaufmann, 2020, MPI chapters; Michael J. Quinn, Parallel Programming in C with MPI and OpenMP, McGraw-Hill, 2004, MPI and parallel sorting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Tell students this module connects directly to the MPI lab experiments.</a:t>
            </a:r>
          </a:p>
          <a:p xmlns:a="http://schemas.openxmlformats.org/drawingml/2006/main">
            <a:r>
              <a:t>Pause cue: pause after the message-flow visual appears, then restate the MPI concept in one sentence.</a:t>
            </a:r>
          </a:p>
          <a:p xmlns:a="http://schemas.openxmlformats.org/drawingml/2006/main">
            <a:r>
              <a:t>Pointing cue: point from process rank to process rank; for code slides, point to communicator, rank, count, datatype and tag.</a:t>
            </a:r>
          </a:p>
          <a:p xmlns:a="http://schemas.openxmlformats.org/drawingml/2006/main">
            <a:r>
              <a:t>Question to ask students: Ask students which MPI process owns this data or message.</a:t>
            </a:r>
          </a:p>
          <a:p xmlns:a="http://schemas.openxmlformats.org/drawingml/2006/main">
            <a:r>
              <a:t>Animation instructions: Fade title; appear processes/messages one by one; wipe arrows; highlight MPI function arguments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3 checklist; Peter S. Pacheco and Matthew Malensek, An Introduction to Parallel Programming, 2nd ed., Morgan Kaufmann, 2020, MPI chapters; Michael J. Quinn, Parallel Programming in C with MPI and OpenMP, McGraw-Hill, 2004, MPI and parallel sorting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Emphasize that in MPI each process owns its memory.</a:t>
            </a:r>
          </a:p>
          <a:p xmlns:a="http://schemas.openxmlformats.org/drawingml/2006/main">
            <a:r>
              <a:t>Pause cue: pause after the message-flow visual appears, then restate the MPI concept in one sentence.</a:t>
            </a:r>
          </a:p>
          <a:p xmlns:a="http://schemas.openxmlformats.org/drawingml/2006/main">
            <a:r>
              <a:t>Pointing cue: point from process rank to process rank; for code slides, point to communicator, rank, count, datatype and tag.</a:t>
            </a:r>
          </a:p>
          <a:p xmlns:a="http://schemas.openxmlformats.org/drawingml/2006/main">
            <a:r>
              <a:t>Question to ask students: Ask students which MPI process owns this data or message.</a:t>
            </a:r>
          </a:p>
          <a:p xmlns:a="http://schemas.openxmlformats.org/drawingml/2006/main">
            <a:r>
              <a:t>Animation instructions: Fade title; appear processes/messages one by one; wipe arrows; highlight MPI function arguments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3 checklist; Peter S. Pacheco and Matthew Malensek, An Introduction to Parallel Programming, 2nd ed., Morgan Kaufmann, 2020, MPI chapters; Michael J. Quinn, Parallel Programming in C with MPI and OpenMP, McGraw-Hill, 2004, MPI and parallel sorting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Clarify MPI is a specification with implementations such as MPICH and Open MPI.</a:t>
            </a:r>
          </a:p>
          <a:p xmlns:a="http://schemas.openxmlformats.org/drawingml/2006/main">
            <a:r>
              <a:t>Pause cue: pause after the message-flow visual appears, then restate the MPI concept in one sentence.</a:t>
            </a:r>
          </a:p>
          <a:p xmlns:a="http://schemas.openxmlformats.org/drawingml/2006/main">
            <a:r>
              <a:t>Pointing cue: point from process rank to process rank; for code slides, point to communicator, rank, count, datatype and tag.</a:t>
            </a:r>
          </a:p>
          <a:p xmlns:a="http://schemas.openxmlformats.org/drawingml/2006/main">
            <a:r>
              <a:t>Question to ask students: Ask students which MPI process owns this data or message.</a:t>
            </a:r>
          </a:p>
          <a:p xmlns:a="http://schemas.openxmlformats.org/drawingml/2006/main">
            <a:r>
              <a:t>Animation instructions: Fade title; appear processes/messages one by one; wipe arrows; highlight MPI function arguments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3 checklist; Peter S. Pacheco and Matthew Malensek, An Introduction to Parallel Programming, 2nd ed., Morgan Kaufmann, 2020, MPI chapters; Michael J. Quinn, Parallel Programming in C with MPI and OpenMP, McGraw-Hill, 2004, MPI and parallel sorting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SPMD: same program, different rank, different data.</a:t>
            </a:r>
          </a:p>
          <a:p xmlns:a="http://schemas.openxmlformats.org/drawingml/2006/main">
            <a:r>
              <a:t>Pause cue: pause after the message-flow visual appears, then restate the MPI concept in one sentence.</a:t>
            </a:r>
          </a:p>
          <a:p xmlns:a="http://schemas.openxmlformats.org/drawingml/2006/main">
            <a:r>
              <a:t>Pointing cue: point from process rank to process rank; for code slides, point to communicator, rank, count, datatype and tag.</a:t>
            </a:r>
          </a:p>
          <a:p xmlns:a="http://schemas.openxmlformats.org/drawingml/2006/main">
            <a:r>
              <a:t>Question to ask students: Ask students which MPI process owns this data or message.</a:t>
            </a:r>
          </a:p>
          <a:p xmlns:a="http://schemas.openxmlformats.org/drawingml/2006/main">
            <a:r>
              <a:t>Animation instructions: Fade title; appear processes/messages one by one; wipe arrows; highlight MPI function arguments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3 checklist; Peter S. Pacheco and Matthew Malensek, An Introduction to Parallel Programming, 2nd ed., Morgan Kaufmann, 2020, MPI chapters; Michael J. Quinn, Parallel Programming in C with MPI and OpenMP, McGraw-Hill, 2004, MPI and parallel sorting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Show how rank 0 may coordinate while other ranks compute.</a:t>
            </a:r>
          </a:p>
          <a:p xmlns:a="http://schemas.openxmlformats.org/drawingml/2006/main">
            <a:r>
              <a:t>Pause cue: pause after the message-flow visual appears, then restate the MPI concept in one sentence.</a:t>
            </a:r>
          </a:p>
          <a:p xmlns:a="http://schemas.openxmlformats.org/drawingml/2006/main">
            <a:r>
              <a:t>Pointing cue: point from process rank to process rank; for code slides, point to communicator, rank, count, datatype and tag.</a:t>
            </a:r>
          </a:p>
          <a:p xmlns:a="http://schemas.openxmlformats.org/drawingml/2006/main">
            <a:r>
              <a:t>Question to ask students: Ask students which MPI process owns this data or message.</a:t>
            </a:r>
          </a:p>
          <a:p xmlns:a="http://schemas.openxmlformats.org/drawingml/2006/main">
            <a:r>
              <a:t>Animation instructions: Fade title; appear processes/messages one by one; wipe arrows; highlight MPI function arguments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3 checklist; Peter S. Pacheco and Matthew Malensek, An Introduction to Parallel Programming, 2nd ed., Morgan Kaufmann, 2020, MPI chapters; Michael J. Quinn, Parallel Programming in C with MPI and OpenMP, McGraw-Hill, 2004, MPI and parallel sorting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Ask students what rank values exist when size is 4.</a:t>
            </a:r>
          </a:p>
          <a:p xmlns:a="http://schemas.openxmlformats.org/drawingml/2006/main">
            <a:r>
              <a:t>Pause cue: pause after the message-flow visual appears, then restate the MPI concept in one sentence.</a:t>
            </a:r>
          </a:p>
          <a:p xmlns:a="http://schemas.openxmlformats.org/drawingml/2006/main">
            <a:r>
              <a:t>Pointing cue: point from process rank to process rank; for code slides, point to communicator, rank, count, datatype and tag.</a:t>
            </a:r>
          </a:p>
          <a:p xmlns:a="http://schemas.openxmlformats.org/drawingml/2006/main">
            <a:r>
              <a:t>Question to ask students: Ask students which MPI process owns this data or message.</a:t>
            </a:r>
          </a:p>
          <a:p xmlns:a="http://schemas.openxmlformats.org/drawingml/2006/main">
            <a:r>
              <a:t>Animation instructions: Fade title; appear processes/messages one by one; wipe arrows; highlight MPI function arguments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3 checklist; Peter S. Pacheco and Matthew Malensek, An Introduction to Parallel Programming, 2nd ed., Morgan Kaufmann, 2020, MPI chapters; Michael J. Quinn, Parallel Programming in C with MPI and OpenMP, McGraw-Hill, 2004, MPI and parallel sorting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Walk through initialize, get rank/size, do work, finalize.</a:t>
            </a:r>
          </a:p>
          <a:p xmlns:a="http://schemas.openxmlformats.org/drawingml/2006/main">
            <a:r>
              <a:t>Pause cue: pause after the message-flow visual appears, then restate the MPI concept in one sentence.</a:t>
            </a:r>
          </a:p>
          <a:p xmlns:a="http://schemas.openxmlformats.org/drawingml/2006/main">
            <a:r>
              <a:t>Pointing cue: point from process rank to process rank; for code slides, point to communicator, rank, count, datatype and tag.</a:t>
            </a:r>
          </a:p>
          <a:p xmlns:a="http://schemas.openxmlformats.org/drawingml/2006/main">
            <a:r>
              <a:t>Question to ask students: Ask students which MPI process owns this data or message.</a:t>
            </a:r>
          </a:p>
          <a:p xmlns:a="http://schemas.openxmlformats.org/drawingml/2006/main">
            <a:r>
              <a:t>Animation instructions: Fade title; appear processes/messages one by one; wipe arrows; highlight MPI function arguments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3 checklist; Peter S. Pacheco and Matthew Malensek, An Introduction to Parallel Programming, 2nd ed., Morgan Kaufmann, 2020, MPI chapters; Michael J. Quinn, Parallel Programming in C with MPI and OpenMP, McGraw-Hill, 2004, MPI and parallel sorting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These are the first four functions every MPI program needs.</a:t>
            </a:r>
          </a:p>
          <a:p xmlns:a="http://schemas.openxmlformats.org/drawingml/2006/main">
            <a:r>
              <a:t>Pause cue: pause after the message-flow visual appears, then restate the MPI concept in one sentence.</a:t>
            </a:r>
          </a:p>
          <a:p xmlns:a="http://schemas.openxmlformats.org/drawingml/2006/main">
            <a:r>
              <a:t>Pointing cue: point from process rank to process rank; for code slides, point to communicator, rank, count, datatype and tag.</a:t>
            </a:r>
          </a:p>
          <a:p xmlns:a="http://schemas.openxmlformats.org/drawingml/2006/main">
            <a:r>
              <a:t>Question to ask students: Ask students which MPI process owns this data or message.</a:t>
            </a:r>
          </a:p>
          <a:p xmlns:a="http://schemas.openxmlformats.org/drawingml/2006/main">
            <a:r>
              <a:t>Animation instructions: Fade title; appear processes/messages one by one; wipe arrows; highlight MPI function arguments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3 checklist; Peter S. Pacheco and Matthew Malensek, An Introduction to Parallel Programming, 2nd ed., Morgan Kaufmann, 2020, MPI chapters; Michael J. Quinn, Parallel Programming in C with MPI and OpenMP, McGraw-Hill, 2004, MPI and parallel sorting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ranks are meaningful inside a communicator.</a:t>
            </a:r>
          </a:p>
          <a:p xmlns:a="http://schemas.openxmlformats.org/drawingml/2006/main">
            <a:r>
              <a:t>Pause cue: pause after the message-flow visual appears, then restate the MPI concept in one sentence.</a:t>
            </a:r>
          </a:p>
          <a:p xmlns:a="http://schemas.openxmlformats.org/drawingml/2006/main">
            <a:r>
              <a:t>Pointing cue: point from process rank to process rank; for code slides, point to communicator, rank, count, datatype and tag.</a:t>
            </a:r>
          </a:p>
          <a:p xmlns:a="http://schemas.openxmlformats.org/drawingml/2006/main">
            <a:r>
              <a:t>Question to ask students: Ask students which MPI process owns this data or message.</a:t>
            </a:r>
          </a:p>
          <a:p xmlns:a="http://schemas.openxmlformats.org/drawingml/2006/main">
            <a:r>
              <a:t>Animation instructions: Fade title; appear processes/messages one by one; wipe arrows; highlight MPI function arguments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3 checklist; Peter S. Pacheco and Matthew Malensek, An Introduction to Parallel Programming, 2nd ed., Morgan Kaufmann, 2020, MPI chapters; Michael J. Quinn, Parallel Programming in C with MPI and OpenMP, McGraw-Hill, 2004, MPI and parallel sorting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Point-to-point means one sender and one receiver.</a:t>
            </a:r>
          </a:p>
          <a:p xmlns:a="http://schemas.openxmlformats.org/drawingml/2006/main">
            <a:r>
              <a:t>Pause cue: pause after the message-flow visual appears, then restate the MPI concept in one sentence.</a:t>
            </a:r>
          </a:p>
          <a:p xmlns:a="http://schemas.openxmlformats.org/drawingml/2006/main">
            <a:r>
              <a:t>Pointing cue: point from process rank to process rank; for code slides, point to communicator, rank, count, datatype and tag.</a:t>
            </a:r>
          </a:p>
          <a:p xmlns:a="http://schemas.openxmlformats.org/drawingml/2006/main">
            <a:r>
              <a:t>Question to ask students: Ask students which MPI process owns this data or message.</a:t>
            </a:r>
          </a:p>
          <a:p xmlns:a="http://schemas.openxmlformats.org/drawingml/2006/main">
            <a:r>
              <a:t>Animation instructions: Fade title; appear processes/messages one by one; wipe arrows; highlight MPI function arguments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3 checklist; Peter S. Pacheco and Matthew Malensek, An Introduction to Parallel Programming, 2nd ed., Morgan Kaufmann, 2020, MPI chapters; Michael J. Quinn, Parallel Programming in C with MPI and OpenMP, McGraw-Hill, 2004, MPI and parallel sorting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buffer, count, datatype, rank, tag and communicator.</a:t>
            </a:r>
          </a:p>
          <a:p xmlns:a="http://schemas.openxmlformats.org/drawingml/2006/main">
            <a:r>
              <a:t>Pause cue: pause after the message-flow visual appears, then restate the MPI concept in one sentence.</a:t>
            </a:r>
          </a:p>
          <a:p xmlns:a="http://schemas.openxmlformats.org/drawingml/2006/main">
            <a:r>
              <a:t>Pointing cue: point from process rank to process rank; for code slides, point to communicator, rank, count, datatype and tag.</a:t>
            </a:r>
          </a:p>
          <a:p xmlns:a="http://schemas.openxmlformats.org/drawingml/2006/main">
            <a:r>
              <a:t>Question to ask students: Ask students which MPI process owns this data or message.</a:t>
            </a:r>
          </a:p>
          <a:p xmlns:a="http://schemas.openxmlformats.org/drawingml/2006/main">
            <a:r>
              <a:t>Animation instructions: Fade title; appear processes/messages one by one; wipe arrows; highlight MPI function arguments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3 checklist; Peter S. Pacheco and Matthew Malensek, An Introduction to Parallel Programming, 2nd ed., Morgan Kaufmann, 2020, MPI chapters; Michael J. Quinn, Parallel Programming in C with MPI and OpenMP, McGraw-Hill, 2004, MPI and parallel sorting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Rank 0 sends data and Rank 1 receives it; source/destination and tag must match.</a:t>
            </a:r>
          </a:p>
          <a:p xmlns:a="http://schemas.openxmlformats.org/drawingml/2006/main">
            <a:r>
              <a:t>Pause cue: pause after the message-flow visual appears, then restate the MPI concept in one sentence.</a:t>
            </a:r>
          </a:p>
          <a:p xmlns:a="http://schemas.openxmlformats.org/drawingml/2006/main">
            <a:r>
              <a:t>Pointing cue: point from process rank to process rank; for code slides, point to communicator, rank, count, datatype and tag.</a:t>
            </a:r>
          </a:p>
          <a:p xmlns:a="http://schemas.openxmlformats.org/drawingml/2006/main">
            <a:r>
              <a:t>Question to ask students: Ask students which MPI process owns this data or message.</a:t>
            </a:r>
          </a:p>
          <a:p xmlns:a="http://schemas.openxmlformats.org/drawingml/2006/main">
            <a:r>
              <a:t>Animation instructions: Fade title; appear processes/messages one by one; wipe arrows; highlight MPI function arguments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3 checklist; Peter S. Pacheco and Matthew Malensek, An Introduction to Parallel Programming, 2nd ed., Morgan Kaufmann, 2020, MPI chapters; Michael J. Quinn, Parallel Programming in C with MPI and OpenMP, McGraw-Hill, 2004, MPI and parallel sorting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Tags allow the same pair of ranks to exchange different kinds of messages safely.</a:t>
            </a:r>
          </a:p>
          <a:p xmlns:a="http://schemas.openxmlformats.org/drawingml/2006/main">
            <a:r>
              <a:t>Pause cue: pause after the message-flow visual appears, then restate the MPI concept in one sentence.</a:t>
            </a:r>
          </a:p>
          <a:p xmlns:a="http://schemas.openxmlformats.org/drawingml/2006/main">
            <a:r>
              <a:t>Pointing cue: point from process rank to process rank; for code slides, point to communicator, rank, count, datatype and tag.</a:t>
            </a:r>
          </a:p>
          <a:p xmlns:a="http://schemas.openxmlformats.org/drawingml/2006/main">
            <a:r>
              <a:t>Question to ask students: Ask students which MPI process owns this data or message.</a:t>
            </a:r>
          </a:p>
          <a:p xmlns:a="http://schemas.openxmlformats.org/drawingml/2006/main">
            <a:r>
              <a:t>Animation instructions: Fade title; appear processes/messages one by one; wipe arrows; highlight MPI function arguments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3 checklist; Peter S. Pacheco and Matthew Malensek, An Introduction to Parallel Programming, 2nd ed., Morgan Kaufmann, 2020, MPI chapters; Michael J. Quinn, Parallel Programming in C with MPI and OpenMP, McGraw-Hill, 2004, MPI and parallel sorting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Mention blocking calls are easier but can deadlock if badly ordered.</a:t>
            </a:r>
          </a:p>
          <a:p xmlns:a="http://schemas.openxmlformats.org/drawingml/2006/main">
            <a:r>
              <a:t>Pause cue: pause after the message-flow visual appears, then restate the MPI concept in one sentence.</a:t>
            </a:r>
          </a:p>
          <a:p xmlns:a="http://schemas.openxmlformats.org/drawingml/2006/main">
            <a:r>
              <a:t>Pointing cue: point from process rank to process rank; for code slides, point to communicator, rank, count, datatype and tag.</a:t>
            </a:r>
          </a:p>
          <a:p xmlns:a="http://schemas.openxmlformats.org/drawingml/2006/main">
            <a:r>
              <a:t>Question to ask students: Ask students which MPI process owns this data or message.</a:t>
            </a:r>
          </a:p>
          <a:p xmlns:a="http://schemas.openxmlformats.org/drawingml/2006/main">
            <a:r>
              <a:t>Animation instructions: Fade title; appear processes/messages one by one; wipe arrows; highlight MPI function arguments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3 checklist; Peter S. Pacheco and Matthew Malensek, An Introduction to Parallel Programming, 2nd ed., Morgan Kaufmann, 2020, MPI chapters; Michael J. Quinn, Parallel Programming in C with MPI and OpenMP, McGraw-Hill, 2004, MPI and parallel sorting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that changing call sequence or using sendrecv/nonblocking can avoid deadlock.</a:t>
            </a:r>
          </a:p>
          <a:p xmlns:a="http://schemas.openxmlformats.org/drawingml/2006/main">
            <a:r>
              <a:t>Pause cue: pause after the message-flow visual appears, then restate the MPI concept in one sentence.</a:t>
            </a:r>
          </a:p>
          <a:p xmlns:a="http://schemas.openxmlformats.org/drawingml/2006/main">
            <a:r>
              <a:t>Pointing cue: point from process rank to process rank; for code slides, point to communicator, rank, count, datatype and tag.</a:t>
            </a:r>
          </a:p>
          <a:p xmlns:a="http://schemas.openxmlformats.org/drawingml/2006/main">
            <a:r>
              <a:t>Question to ask students: Ask students which MPI process owns this data or message.</a:t>
            </a:r>
          </a:p>
          <a:p xmlns:a="http://schemas.openxmlformats.org/drawingml/2006/main">
            <a:r>
              <a:t>Animation instructions: Fade title; appear processes/messages one by one; wipe arrows; highlight MPI function arguments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3 checklist; Peter S. Pacheco and Matthew Malensek, An Introduction to Parallel Programming, 2nd ed., Morgan Kaufmann, 2020, MPI chapters; Michael J. Quinn, Parallel Programming in C with MPI and OpenMP, McGraw-Hill, 2004, MPI and parallel sorting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Ask students why both ranks receiving first is unsafe.</a:t>
            </a:r>
          </a:p>
          <a:p xmlns:a="http://schemas.openxmlformats.org/drawingml/2006/main">
            <a:r>
              <a:t>Pause cue: pause after the message-flow visual appears, then restate the MPI concept in one sentence.</a:t>
            </a:r>
          </a:p>
          <a:p xmlns:a="http://schemas.openxmlformats.org/drawingml/2006/main">
            <a:r>
              <a:t>Pointing cue: point from process rank to process rank; for code slides, point to communicator, rank, count, datatype and tag.</a:t>
            </a:r>
          </a:p>
          <a:p xmlns:a="http://schemas.openxmlformats.org/drawingml/2006/main">
            <a:r>
              <a:t>Question to ask students: Ask students which MPI process owns this data or message.</a:t>
            </a:r>
          </a:p>
          <a:p xmlns:a="http://schemas.openxmlformats.org/drawingml/2006/main">
            <a:r>
              <a:t>Animation instructions: Fade title; appear processes/messages one by one; wipe arrows; highlight MPI function arguments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3 checklist; Peter S. Pacheco and Matthew Malensek, An Introduction to Parallel Programming, 2nd ed., Morgan Kaufmann, 2020, MPI chapters; Michael J. Quinn, Parallel Programming in C with MPI and OpenMP, McGraw-Hill, 2004, MPI and parallel sorting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the area-under-curve intuition.</a:t>
            </a:r>
          </a:p>
          <a:p xmlns:a="http://schemas.openxmlformats.org/drawingml/2006/main">
            <a:r>
              <a:t>Pause cue: pause after the message-flow visual appears, then restate the MPI concept in one sentence.</a:t>
            </a:r>
          </a:p>
          <a:p xmlns:a="http://schemas.openxmlformats.org/drawingml/2006/main">
            <a:r>
              <a:t>Pointing cue: point from process rank to process rank; for code slides, point to communicator, rank, count, datatype and tag.</a:t>
            </a:r>
          </a:p>
          <a:p xmlns:a="http://schemas.openxmlformats.org/drawingml/2006/main">
            <a:r>
              <a:t>Question to ask students: Ask students which MPI process owns this data or message.</a:t>
            </a:r>
          </a:p>
          <a:p xmlns:a="http://schemas.openxmlformats.org/drawingml/2006/main">
            <a:r>
              <a:t>Animation instructions: Fade title; appear processes/messages one by one; wipe arrows; highlight MPI function arguments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3 checklist; Peter S. Pacheco and Matthew Malensek, An Introduction to Parallel Programming, 2nd ed., Morgan Kaufmann, 2020, MPI chapters; Michael J. Quinn, Parallel Programming in C with MPI and OpenMP, McGraw-Hill, 2004, MPI and parallel sorting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Prepare for distributing subintervals.</a:t>
            </a:r>
          </a:p>
          <a:p xmlns:a="http://schemas.openxmlformats.org/drawingml/2006/main">
            <a:r>
              <a:t>Pause cue: pause after the message-flow visual appears, then restate the MPI concept in one sentence.</a:t>
            </a:r>
          </a:p>
          <a:p xmlns:a="http://schemas.openxmlformats.org/drawingml/2006/main">
            <a:r>
              <a:t>Pointing cue: point from process rank to process rank; for code slides, point to communicator, rank, count, datatype and tag.</a:t>
            </a:r>
          </a:p>
          <a:p xmlns:a="http://schemas.openxmlformats.org/drawingml/2006/main">
            <a:r>
              <a:t>Question to ask students: Ask students which MPI process owns this data or message.</a:t>
            </a:r>
          </a:p>
          <a:p xmlns:a="http://schemas.openxmlformats.org/drawingml/2006/main">
            <a:r>
              <a:t>Animation instructions: Fade title; appear processes/messages one by one; wipe arrows; highlight MPI function arguments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3 checklist; Peter S. Pacheco and Matthew Malensek, An Introduction to Parallel Programming, 2nd ed., Morgan Kaufmann, 2020, MPI chapters; Michael J. Quinn, Parallel Programming in C with MPI and OpenMP, McGraw-Hill, 2004, MPI and parallel sorting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endpoints get half weight; interior points get full weight.</a:t>
            </a:r>
          </a:p>
          <a:p xmlns:a="http://schemas.openxmlformats.org/drawingml/2006/main">
            <a:r>
              <a:t>Pause cue: pause after the message-flow visual appears, then restate the MPI concept in one sentence.</a:t>
            </a:r>
          </a:p>
          <a:p xmlns:a="http://schemas.openxmlformats.org/drawingml/2006/main">
            <a:r>
              <a:t>Pointing cue: point from process rank to process rank; for code slides, point to communicator, rank, count, datatype and tag.</a:t>
            </a:r>
          </a:p>
          <a:p xmlns:a="http://schemas.openxmlformats.org/drawingml/2006/main">
            <a:r>
              <a:t>Question to ask students: Ask students which MPI process owns this data or message.</a:t>
            </a:r>
          </a:p>
          <a:p xmlns:a="http://schemas.openxmlformats.org/drawingml/2006/main">
            <a:r>
              <a:t>Animation instructions: Fade title; appear processes/messages one by one; wipe arrows; highlight MPI function arguments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3 checklist; Peter S. Pacheco and Matthew Malensek, An Introduction to Parallel Programming, 2nd ed., Morgan Kaufmann, 2020, MPI chapters; Michael J. Quinn, Parallel Programming in C with MPI and OpenMP, McGraw-Hill, 2004, MPI and parallel sorting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This is the main MPI example.</a:t>
            </a:r>
          </a:p>
          <a:p xmlns:a="http://schemas.openxmlformats.org/drawingml/2006/main">
            <a:r>
              <a:t>Pause cue: pause after the message-flow visual appears, then restate the MPI concept in one sentence.</a:t>
            </a:r>
          </a:p>
          <a:p xmlns:a="http://schemas.openxmlformats.org/drawingml/2006/main">
            <a:r>
              <a:t>Pointing cue: point from process rank to process rank; for code slides, point to communicator, rank, count, datatype and tag.</a:t>
            </a:r>
          </a:p>
          <a:p xmlns:a="http://schemas.openxmlformats.org/drawingml/2006/main">
            <a:r>
              <a:t>Question to ask students: Ask students which MPI process owns this data or message.</a:t>
            </a:r>
          </a:p>
          <a:p xmlns:a="http://schemas.openxmlformats.org/drawingml/2006/main">
            <a:r>
              <a:t>Animation instructions: Fade title; appear processes/messages one by one; wipe arrows; highlight MPI function arguments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3 checklist; Peter S. Pacheco and Matthew Malensek, An Introduction to Parallel Programming, 2nd ed., Morgan Kaufmann, 2020, MPI chapters; Michael J. Quinn, Parallel Programming in C with MPI and OpenMP, McGraw-Hill, 2004, MPI and parallel sorting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how each rank gets a contiguous subinterval.</a:t>
            </a:r>
          </a:p>
          <a:p xmlns:a="http://schemas.openxmlformats.org/drawingml/2006/main">
            <a:r>
              <a:t>Pause cue: pause after the message-flow visual appears, then restate the MPI concept in one sentence.</a:t>
            </a:r>
          </a:p>
          <a:p xmlns:a="http://schemas.openxmlformats.org/drawingml/2006/main">
            <a:r>
              <a:t>Pointing cue: point from process rank to process rank; for code slides, point to communicator, rank, count, datatype and tag.</a:t>
            </a:r>
          </a:p>
          <a:p xmlns:a="http://schemas.openxmlformats.org/drawingml/2006/main">
            <a:r>
              <a:t>Question to ask students: Ask students which MPI process owns this data or message.</a:t>
            </a:r>
          </a:p>
          <a:p xmlns:a="http://schemas.openxmlformats.org/drawingml/2006/main">
            <a:r>
              <a:t>Animation instructions: Fade title; appear processes/messages one by one; wipe arrows; highlight MPI function arguments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3 checklist; Peter S. Pacheco and Matthew Malensek, An Introduction to Parallel Programming, 2nd ed., Morgan Kaufmann, 2020, MPI chapters; Michael J. Quinn, Parallel Programming in C with MPI and OpenMP, McGraw-Hill, 2004, MPI and parallel sorting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Mention this works but collectives are cleaner.</a:t>
            </a:r>
          </a:p>
          <a:p xmlns:a="http://schemas.openxmlformats.org/drawingml/2006/main">
            <a:r>
              <a:t>Pause cue: pause after the message-flow visual appears, then restate the MPI concept in one sentence.</a:t>
            </a:r>
          </a:p>
          <a:p xmlns:a="http://schemas.openxmlformats.org/drawingml/2006/main">
            <a:r>
              <a:t>Pointing cue: point from process rank to process rank; for code slides, point to communicator, rank, count, datatype and tag.</a:t>
            </a:r>
          </a:p>
          <a:p xmlns:a="http://schemas.openxmlformats.org/drawingml/2006/main">
            <a:r>
              <a:t>Question to ask students: Ask students which MPI process owns this data or message.</a:t>
            </a:r>
          </a:p>
          <a:p xmlns:a="http://schemas.openxmlformats.org/drawingml/2006/main">
            <a:r>
              <a:t>Animation instructions: Fade title; appear processes/messages one by one; wipe arrows; highlight MPI function arguments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3 checklist; Peter S. Pacheco and Matthew Malensek, An Introduction to Parallel Programming, 2nd ed., Morgan Kaufmann, 2020, MPI chapters; Michael J. Quinn, Parallel Programming in C with MPI and OpenMP, McGraw-Hill, 2004, MPI and parallel sorting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printf chaos as a memorable example.</a:t>
            </a:r>
          </a:p>
          <a:p xmlns:a="http://schemas.openxmlformats.org/drawingml/2006/main">
            <a:r>
              <a:t>Pause cue: pause after the message-flow visual appears, then restate the MPI concept in one sentence.</a:t>
            </a:r>
          </a:p>
          <a:p xmlns:a="http://schemas.openxmlformats.org/drawingml/2006/main">
            <a:r>
              <a:t>Pointing cue: point from process rank to process rank; for code slides, point to communicator, rank, count, datatype and tag.</a:t>
            </a:r>
          </a:p>
          <a:p xmlns:a="http://schemas.openxmlformats.org/drawingml/2006/main">
            <a:r>
              <a:t>Question to ask students: Ask students which MPI process owns this data or message.</a:t>
            </a:r>
          </a:p>
          <a:p xmlns:a="http://schemas.openxmlformats.org/drawingml/2006/main">
            <a:r>
              <a:t>Animation instructions: Fade title; appear processes/messages one by one; wipe arrows; highlight MPI function arguments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3 checklist; Peter S. Pacheco and Matthew Malensek, An Introduction to Parallel Programming, 2nd ed., Morgan Kaufmann, 2020, MPI chapters; Michael J. Quinn, Parallel Programming in C with MPI and OpenMP, McGraw-Hill, 2004, MPI and parallel sorting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This pattern appears in many beginner MPI programs.</a:t>
            </a:r>
          </a:p>
          <a:p xmlns:a="http://schemas.openxmlformats.org/drawingml/2006/main">
            <a:r>
              <a:t>Pause cue: pause after the message-flow visual appears, then restate the MPI concept in one sentence.</a:t>
            </a:r>
          </a:p>
          <a:p xmlns:a="http://schemas.openxmlformats.org/drawingml/2006/main">
            <a:r>
              <a:t>Pointing cue: point from process rank to process rank; for code slides, point to communicator, rank, count, datatype and tag.</a:t>
            </a:r>
          </a:p>
          <a:p xmlns:a="http://schemas.openxmlformats.org/drawingml/2006/main">
            <a:r>
              <a:t>Question to ask students: Ask students which MPI process owns this data or message.</a:t>
            </a:r>
          </a:p>
          <a:p xmlns:a="http://schemas.openxmlformats.org/drawingml/2006/main">
            <a:r>
              <a:t>Animation instructions: Fade title; appear processes/messages one by one; wipe arrows; highlight MPI function arguments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3 checklist; Peter S. Pacheco and Matthew Malensek, An Introduction to Parallel Programming, 2nd ed., Morgan Kaufmann, 2020, MPI chapters; Michael J. Quinn, Parallel Programming in C with MPI and OpenMP, McGraw-Hill, 2004, MPI and parallel sorting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Mention for debugging only; ordered printing can be slow.</a:t>
            </a:r>
          </a:p>
          <a:p xmlns:a="http://schemas.openxmlformats.org/drawingml/2006/main">
            <a:r>
              <a:t>Pause cue: pause after the message-flow visual appears, then restate the MPI concept in one sentence.</a:t>
            </a:r>
          </a:p>
          <a:p xmlns:a="http://schemas.openxmlformats.org/drawingml/2006/main">
            <a:r>
              <a:t>Pointing cue: point from process rank to process rank; for code slides, point to communicator, rank, count, datatype and tag.</a:t>
            </a:r>
          </a:p>
          <a:p xmlns:a="http://schemas.openxmlformats.org/drawingml/2006/main">
            <a:r>
              <a:t>Question to ask students: Ask students which MPI process owns this data or message.</a:t>
            </a:r>
          </a:p>
          <a:p xmlns:a="http://schemas.openxmlformats.org/drawingml/2006/main">
            <a:r>
              <a:t>Animation instructions: Fade title; appear processes/messages one by one; wipe arrows; highlight MPI function arguments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3 checklist; Peter S. Pacheco and Matthew Malensek, An Introduction to Parallel Programming, 2nd ed., Morgan Kaufmann, 2020, MPI chapters; Michael J. Quinn, Parallel Programming in C with MPI and OpenMP, McGraw-Hill, 2004, MPI and parallel sorting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Tell students collectives are often optimized by MPI implementations.</a:t>
            </a:r>
          </a:p>
          <a:p xmlns:a="http://schemas.openxmlformats.org/drawingml/2006/main">
            <a:r>
              <a:t>Pause cue: pause after the message-flow visual appears, then restate the MPI concept in one sentence.</a:t>
            </a:r>
          </a:p>
          <a:p xmlns:a="http://schemas.openxmlformats.org/drawingml/2006/main">
            <a:r>
              <a:t>Pointing cue: point from process rank to process rank; for code slides, point to communicator, rank, count, datatype and tag.</a:t>
            </a:r>
          </a:p>
          <a:p xmlns:a="http://schemas.openxmlformats.org/drawingml/2006/main">
            <a:r>
              <a:t>Question to ask students: Ask students which MPI process owns this data or message.</a:t>
            </a:r>
          </a:p>
          <a:p xmlns:a="http://schemas.openxmlformats.org/drawingml/2006/main">
            <a:r>
              <a:t>Animation instructions: Fade title; appear processes/messages one by one; wipe arrows; highlight MPI function arguments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3 checklist; Peter S. Pacheco and Matthew Malensek, An Introduction to Parallel Programming, 2nd ed., Morgan Kaufmann, 2020, MPI chapters; Michael J. Quinn, Parallel Programming in C with MPI and OpenMP, McGraw-Hill, 2004, MPI and parallel sorting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One root rank has data; after broadcast, all ranks have a copy.</a:t>
            </a:r>
          </a:p>
          <a:p xmlns:a="http://schemas.openxmlformats.org/drawingml/2006/main">
            <a:r>
              <a:t>Pause cue: pause after the message-flow visual appears, then restate the MPI concept in one sentence.</a:t>
            </a:r>
          </a:p>
          <a:p xmlns:a="http://schemas.openxmlformats.org/drawingml/2006/main">
            <a:r>
              <a:t>Pointing cue: point from process rank to process rank; for code slides, point to communicator, rank, count, datatype and tag.</a:t>
            </a:r>
          </a:p>
          <a:p xmlns:a="http://schemas.openxmlformats.org/drawingml/2006/main">
            <a:r>
              <a:t>Question to ask students: Ask students which MPI process owns this data or message.</a:t>
            </a:r>
          </a:p>
          <a:p xmlns:a="http://schemas.openxmlformats.org/drawingml/2006/main">
            <a:r>
              <a:t>Animation instructions: Fade title; appear processes/messages one by one; wipe arrows; highlight MPI function arguments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3 checklist; Peter S. Pacheco and Matthew Malensek, An Introduction to Parallel Programming, 2nd ed., Morgan Kaufmann, 2020, MPI chapters; Michael J. Quinn, Parallel Programming in C with MPI and OpenMP, McGraw-Hill, 2004, MPI and parallel sorting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Point out all ranks call MPI_Bcast, not only root.</a:t>
            </a:r>
          </a:p>
          <a:p xmlns:a="http://schemas.openxmlformats.org/drawingml/2006/main">
            <a:r>
              <a:t>Pause cue: pause after the message-flow visual appears, then restate the MPI concept in one sentence.</a:t>
            </a:r>
          </a:p>
          <a:p xmlns:a="http://schemas.openxmlformats.org/drawingml/2006/main">
            <a:r>
              <a:t>Pointing cue: point from process rank to process rank; for code slides, point to communicator, rank, count, datatype and tag.</a:t>
            </a:r>
          </a:p>
          <a:p xmlns:a="http://schemas.openxmlformats.org/drawingml/2006/main">
            <a:r>
              <a:t>Question to ask students: Ask students which MPI process owns this data or message.</a:t>
            </a:r>
          </a:p>
          <a:p xmlns:a="http://schemas.openxmlformats.org/drawingml/2006/main">
            <a:r>
              <a:t>Animation instructions: Fade title; appear processes/messages one by one; wipe arrows; highlight MPI function arguments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3 checklist; Peter S. Pacheco and Matthew Malensek, An Introduction to Parallel Programming, 2nd ed., Morgan Kaufmann, 2020, MPI chapters; Michael J. Quinn, Parallel Programming in C with MPI and OpenMP, McGraw-Hill, 2004, MPI and parallel sorting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Scatter divides root data into chunks; gather collects chunks back to root.</a:t>
            </a:r>
          </a:p>
          <a:p xmlns:a="http://schemas.openxmlformats.org/drawingml/2006/main">
            <a:r>
              <a:t>Pause cue: pause after the message-flow visual appears, then restate the MPI concept in one sentence.</a:t>
            </a:r>
          </a:p>
          <a:p xmlns:a="http://schemas.openxmlformats.org/drawingml/2006/main">
            <a:r>
              <a:t>Pointing cue: point from process rank to process rank; for code slides, point to communicator, rank, count, datatype and tag.</a:t>
            </a:r>
          </a:p>
          <a:p xmlns:a="http://schemas.openxmlformats.org/drawingml/2006/main">
            <a:r>
              <a:t>Question to ask students: Ask students which MPI process owns this data or message.</a:t>
            </a:r>
          </a:p>
          <a:p xmlns:a="http://schemas.openxmlformats.org/drawingml/2006/main">
            <a:r>
              <a:t>Animation instructions: Fade title; appear processes/messages one by one; wipe arrows; highlight MPI function arguments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3 checklist; Peter S. Pacheco and Matthew Malensek, An Introduction to Parallel Programming, 2nd ed., Morgan Kaufmann, 2020, MPI chapters; Michael J. Quinn, Parallel Programming in C with MPI and OpenMP, McGraw-Hill, 2004, MPI and parallel sorting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sendcount/recvcount are per-process counts.</a:t>
            </a:r>
          </a:p>
          <a:p xmlns:a="http://schemas.openxmlformats.org/drawingml/2006/main">
            <a:r>
              <a:t>Pause cue: pause after the message-flow visual appears, then restate the MPI concept in one sentence.</a:t>
            </a:r>
          </a:p>
          <a:p xmlns:a="http://schemas.openxmlformats.org/drawingml/2006/main">
            <a:r>
              <a:t>Pointing cue: point from process rank to process rank; for code slides, point to communicator, rank, count, datatype and tag.</a:t>
            </a:r>
          </a:p>
          <a:p xmlns:a="http://schemas.openxmlformats.org/drawingml/2006/main">
            <a:r>
              <a:t>Question to ask students: Ask students which MPI process owns this data or message.</a:t>
            </a:r>
          </a:p>
          <a:p xmlns:a="http://schemas.openxmlformats.org/drawingml/2006/main">
            <a:r>
              <a:t>Animation instructions: Fade title; appear processes/messages one by one; wipe arrows; highlight MPI function arguments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3 checklist; Peter S. Pacheco and Matthew Malensek, An Introduction to Parallel Programming, 2nd ed., Morgan Kaufmann, 2020, MPI chapters; Michael J. Quinn, Parallel Programming in C with MPI and OpenMP, McGraw-Hill, 2004, MPI and parallel sorting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Reduce combines local values using an operation such as sum, max or min.</a:t>
            </a:r>
          </a:p>
          <a:p xmlns:a="http://schemas.openxmlformats.org/drawingml/2006/main">
            <a:r>
              <a:t>Pause cue: pause after the message-flow visual appears, then restate the MPI concept in one sentence.</a:t>
            </a:r>
          </a:p>
          <a:p xmlns:a="http://schemas.openxmlformats.org/drawingml/2006/main">
            <a:r>
              <a:t>Pointing cue: point from process rank to process rank; for code slides, point to communicator, rank, count, datatype and tag.</a:t>
            </a:r>
          </a:p>
          <a:p xmlns:a="http://schemas.openxmlformats.org/drawingml/2006/main">
            <a:r>
              <a:t>Question to ask students: Ask students which MPI process owns this data or message.</a:t>
            </a:r>
          </a:p>
          <a:p xmlns:a="http://schemas.openxmlformats.org/drawingml/2006/main">
            <a:r>
              <a:t>Animation instructions: Fade title; appear processes/messages one by one; wipe arrows; highlight MPI function arguments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3 checklist; Peter S. Pacheco and Matthew Malensek, An Introduction to Parallel Programming, 2nd ed., Morgan Kaufmann, 2020, MPI chapters; Michael J. Quinn, Parallel Programming in C with MPI and OpenMP, McGraw-Hill, 2004, MPI and parallel sorting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Connect directly to the lab experiment list.</a:t>
            </a:r>
          </a:p>
          <a:p xmlns:a="http://schemas.openxmlformats.org/drawingml/2006/main">
            <a:r>
              <a:t>Pause cue: pause after the message-flow visual appears, then restate the MPI concept in one sentence.</a:t>
            </a:r>
          </a:p>
          <a:p xmlns:a="http://schemas.openxmlformats.org/drawingml/2006/main">
            <a:r>
              <a:t>Pointing cue: point from process rank to process rank; for code slides, point to communicator, rank, count, datatype and tag.</a:t>
            </a:r>
          </a:p>
          <a:p xmlns:a="http://schemas.openxmlformats.org/drawingml/2006/main">
            <a:r>
              <a:t>Question to ask students: Ask students which MPI process owns this data or message.</a:t>
            </a:r>
          </a:p>
          <a:p xmlns:a="http://schemas.openxmlformats.org/drawingml/2006/main">
            <a:r>
              <a:t>Animation instructions: Fade title; appear processes/messages one by one; wipe arrows; highlight MPI function arguments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3 checklist; Peter S. Pacheco and Matthew Malensek, An Introduction to Parallel Programming, 2nd ed., Morgan Kaufmann, 2020, MPI chapters; Michael J. Quinn, Parallel Programming in C with MPI and OpenMP, McGraw-Hill, 2004, MPI and parallel sorting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Ask which one is better if every rank needs the total.</a:t>
            </a:r>
          </a:p>
          <a:p xmlns:a="http://schemas.openxmlformats.org/drawingml/2006/main">
            <a:r>
              <a:t>Pause cue: pause after the message-flow visual appears, then restate the MPI concept in one sentence.</a:t>
            </a:r>
          </a:p>
          <a:p xmlns:a="http://schemas.openxmlformats.org/drawingml/2006/main">
            <a:r>
              <a:t>Pointing cue: point from process rank to process rank; for code slides, point to communicator, rank, count, datatype and tag.</a:t>
            </a:r>
          </a:p>
          <a:p xmlns:a="http://schemas.openxmlformats.org/drawingml/2006/main">
            <a:r>
              <a:t>Question to ask students: Ask students which MPI process owns this data or message.</a:t>
            </a:r>
          </a:p>
          <a:p xmlns:a="http://schemas.openxmlformats.org/drawingml/2006/main">
            <a:r>
              <a:t>Animation instructions: Fade title; appear processes/messages one by one; wipe arrows; highlight MPI function arguments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3 checklist; Peter S. Pacheco and Matthew Malensek, An Introduction to Parallel Programming, 2nd ed., Morgan Kaufmann, 2020, MPI chapters; Michael J. Quinn, Parallel Programming in C with MPI and OpenMP, McGraw-Hill, 2004, MPI and parallel sorting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Mention barriers are useful for timing but overuse can slow programs.</a:t>
            </a:r>
          </a:p>
          <a:p xmlns:a="http://schemas.openxmlformats.org/drawingml/2006/main">
            <a:r>
              <a:t>Pause cue: pause after the message-flow visual appears, then restate the MPI concept in one sentence.</a:t>
            </a:r>
          </a:p>
          <a:p xmlns:a="http://schemas.openxmlformats.org/drawingml/2006/main">
            <a:r>
              <a:t>Pointing cue: point from process rank to process rank; for code slides, point to communicator, rank, count, datatype and tag.</a:t>
            </a:r>
          </a:p>
          <a:p xmlns:a="http://schemas.openxmlformats.org/drawingml/2006/main">
            <a:r>
              <a:t>Question to ask students: Ask students which MPI process owns this data or message.</a:t>
            </a:r>
          </a:p>
          <a:p xmlns:a="http://schemas.openxmlformats.org/drawingml/2006/main">
            <a:r>
              <a:t>Animation instructions: Fade title; appear processes/messages one by one; wipe arrows; highlight MPI function arguments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3 checklist; Peter S. Pacheco and Matthew Malensek, An Introduction to Parallel Programming, 2nd ed., Morgan Kaufmann, 2020, MPI chapters; Michael J. Quinn, Parallel Programming in C with MPI and OpenMP, McGraw-Hill, 2004, MPI and parallel sorting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datatype tells MPI how to pack/unpack bytes.</a:t>
            </a:r>
          </a:p>
          <a:p xmlns:a="http://schemas.openxmlformats.org/drawingml/2006/main">
            <a:r>
              <a:t>Pause cue: pause after the message-flow visual appears, then restate the MPI concept in one sentence.</a:t>
            </a:r>
          </a:p>
          <a:p xmlns:a="http://schemas.openxmlformats.org/drawingml/2006/main">
            <a:r>
              <a:t>Pointing cue: point from process rank to process rank; for code slides, point to communicator, rank, count, datatype and tag.</a:t>
            </a:r>
          </a:p>
          <a:p xmlns:a="http://schemas.openxmlformats.org/drawingml/2006/main">
            <a:r>
              <a:t>Question to ask students: Ask students which MPI process owns this data or message.</a:t>
            </a:r>
          </a:p>
          <a:p xmlns:a="http://schemas.openxmlformats.org/drawingml/2006/main">
            <a:r>
              <a:t>Animation instructions: Fade title; appear processes/messages one by one; wipe arrows; highlight MPI function arguments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3 checklist; Peter S. Pacheco and Matthew Malensek, An Introduction to Parallel Programming, 2nd ed., Morgan Kaufmann, 2020, MPI chapters; Michael J. Quinn, Parallel Programming in C with MPI and OpenMP, McGraw-Hill, 2004, MPI and parallel sorting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sending a matrix column as the classic example.</a:t>
            </a:r>
          </a:p>
          <a:p xmlns:a="http://schemas.openxmlformats.org/drawingml/2006/main">
            <a:r>
              <a:t>Pause cue: pause after the message-flow visual appears, then restate the MPI concept in one sentence.</a:t>
            </a:r>
          </a:p>
          <a:p xmlns:a="http://schemas.openxmlformats.org/drawingml/2006/main">
            <a:r>
              <a:t>Pointing cue: point from process rank to process rank; for code slides, point to communicator, rank, count, datatype and tag.</a:t>
            </a:r>
          </a:p>
          <a:p xmlns:a="http://schemas.openxmlformats.org/drawingml/2006/main">
            <a:r>
              <a:t>Question to ask students: Ask students which MPI process owns this data or message.</a:t>
            </a:r>
          </a:p>
          <a:p xmlns:a="http://schemas.openxmlformats.org/drawingml/2006/main">
            <a:r>
              <a:t>Animation instructions: Fade title; appear processes/messages one by one; wipe arrows; highlight MPI function arguments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3 checklist; Peter S. Pacheco and Matthew Malensek, An Introduction to Parallel Programming, 2nd ed., Morgan Kaufmann, 2020, MPI chapters; Michael J. Quinn, Parallel Programming in C with MPI and OpenMP, McGraw-Hill, 2004, MPI and parallel sorting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Mention MPI_Type_commit and MPI_Type_free.</a:t>
            </a:r>
          </a:p>
          <a:p xmlns:a="http://schemas.openxmlformats.org/drawingml/2006/main">
            <a:r>
              <a:t>Pause cue: pause after the message-flow visual appears, then restate the MPI concept in one sentence.</a:t>
            </a:r>
          </a:p>
          <a:p xmlns:a="http://schemas.openxmlformats.org/drawingml/2006/main">
            <a:r>
              <a:t>Pointing cue: point from process rank to process rank; for code slides, point to communicator, rank, count, datatype and tag.</a:t>
            </a:r>
          </a:p>
          <a:p xmlns:a="http://schemas.openxmlformats.org/drawingml/2006/main">
            <a:r>
              <a:t>Question to ask students: Ask students which MPI process owns this data or message.</a:t>
            </a:r>
          </a:p>
          <a:p xmlns:a="http://schemas.openxmlformats.org/drawingml/2006/main">
            <a:r>
              <a:t>Animation instructions: Fade title; appear processes/messages one by one; wipe arrows; highlight MPI function arguments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3 checklist; Peter S. Pacheco and Matthew Malensek, An Introduction to Parallel Programming, 2nd ed., Morgan Kaufmann, 2020, MPI chapters; Michael J. Quinn, Parallel Programming in C with MPI and OpenMP, McGraw-Hill, 2004, MPI and parallel sorting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count, blocklength and stride using a matrix column.</a:t>
            </a:r>
          </a:p>
          <a:p xmlns:a="http://schemas.openxmlformats.org/drawingml/2006/main">
            <a:r>
              <a:t>Pause cue: pause after the message-flow visual appears, then restate the MPI concept in one sentence.</a:t>
            </a:r>
          </a:p>
          <a:p xmlns:a="http://schemas.openxmlformats.org/drawingml/2006/main">
            <a:r>
              <a:t>Pointing cue: point from process rank to process rank; for code slides, point to communicator, rank, count, datatype and tag.</a:t>
            </a:r>
          </a:p>
          <a:p xmlns:a="http://schemas.openxmlformats.org/drawingml/2006/main">
            <a:r>
              <a:t>Question to ask students: Ask students which MPI process owns this data or message.</a:t>
            </a:r>
          </a:p>
          <a:p xmlns:a="http://schemas.openxmlformats.org/drawingml/2006/main">
            <a:r>
              <a:t>Animation instructions: Fade title; appear processes/messages one by one; wipe arrows; highlight MPI function arguments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3 checklist; Peter S. Pacheco and Matthew Malensek, An Introduction to Parallel Programming, 2nd ed., Morgan Kaufmann, 2020, MPI chapters; Michael J. Quinn, Parallel Programming in C with MPI and OpenMP, McGraw-Hill, 2004, MPI and parallel sorting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This is enough for exam-level understanding.</a:t>
            </a:r>
          </a:p>
          <a:p xmlns:a="http://schemas.openxmlformats.org/drawingml/2006/main">
            <a:r>
              <a:t>Pause cue: pause after the message-flow visual appears, then restate the MPI concept in one sentence.</a:t>
            </a:r>
          </a:p>
          <a:p xmlns:a="http://schemas.openxmlformats.org/drawingml/2006/main">
            <a:r>
              <a:t>Pointing cue: point from process rank to process rank; for code slides, point to communicator, rank, count, datatype and tag.</a:t>
            </a:r>
          </a:p>
          <a:p xmlns:a="http://schemas.openxmlformats.org/drawingml/2006/main">
            <a:r>
              <a:t>Question to ask students: Ask students which MPI process owns this data or message.</a:t>
            </a:r>
          </a:p>
          <a:p xmlns:a="http://schemas.openxmlformats.org/drawingml/2006/main">
            <a:r>
              <a:t>Animation instructions: Fade title; appear processes/messages one by one; wipe arrows; highlight MPI function arguments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3 checklist; Peter S. Pacheco and Matthew Malensek, An Introduction to Parallel Programming, 2nd ed., Morgan Kaufmann, 2020, MPI chapters; Michael J. Quinn, Parallel Programming in C with MPI and OpenMP, McGraw-Hill, 2004, MPI and parallel sorting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Connect back to Module 2 formulas.</a:t>
            </a:r>
          </a:p>
          <a:p xmlns:a="http://schemas.openxmlformats.org/drawingml/2006/main">
            <a:r>
              <a:t>Pause cue: pause after the message-flow visual appears, then restate the MPI concept in one sentence.</a:t>
            </a:r>
          </a:p>
          <a:p xmlns:a="http://schemas.openxmlformats.org/drawingml/2006/main">
            <a:r>
              <a:t>Pointing cue: point from process rank to process rank; for code slides, point to communicator, rank, count, datatype and tag.</a:t>
            </a:r>
          </a:p>
          <a:p xmlns:a="http://schemas.openxmlformats.org/drawingml/2006/main">
            <a:r>
              <a:t>Question to ask students: Ask students which MPI process owns this data or message.</a:t>
            </a:r>
          </a:p>
          <a:p xmlns:a="http://schemas.openxmlformats.org/drawingml/2006/main">
            <a:r>
              <a:t>Animation instructions: Fade title; appear processes/messages one by one; wipe arrows; highlight MPI function arguments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3 checklist; Peter S. Pacheco and Matthew Malensek, An Introduction to Parallel Programming, 2nd ed., Morgan Kaufmann, 2020, MPI chapters; Michael J. Quinn, Parallel Programming in C with MPI and OpenMP, McGraw-Hill, 2004, MPI and parallel sorting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barriers align timing across ranks.</a:t>
            </a:r>
          </a:p>
          <a:p xmlns:a="http://schemas.openxmlformats.org/drawingml/2006/main">
            <a:r>
              <a:t>Pause cue: pause after the message-flow visual appears, then restate the MPI concept in one sentence.</a:t>
            </a:r>
          </a:p>
          <a:p xmlns:a="http://schemas.openxmlformats.org/drawingml/2006/main">
            <a:r>
              <a:t>Pointing cue: point from process rank to process rank; for code slides, point to communicator, rank, count, datatype and tag.</a:t>
            </a:r>
          </a:p>
          <a:p xmlns:a="http://schemas.openxmlformats.org/drawingml/2006/main">
            <a:r>
              <a:t>Question to ask students: Ask students which MPI process owns this data or message.</a:t>
            </a:r>
          </a:p>
          <a:p xmlns:a="http://schemas.openxmlformats.org/drawingml/2006/main">
            <a:r>
              <a:t>Animation instructions: Fade title; appear processes/messages one by one; wipe arrows; highlight MPI function arguments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3 checklist; Peter S. Pacheco and Matthew Malensek, An Introduction to Parallel Programming, 2nd ed., Morgan Kaufmann, 2020, MPI chapters; Michael J. Quinn, Parallel Programming in C with MPI and OpenMP, McGraw-Hill, 2004, MPI and parallel sorting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Ask why one large message can be better than many tiny messages.</a:t>
            </a:r>
          </a:p>
          <a:p xmlns:a="http://schemas.openxmlformats.org/drawingml/2006/main">
            <a:r>
              <a:t>Pause cue: pause after the message-flow visual appears, then restate the MPI concept in one sentence.</a:t>
            </a:r>
          </a:p>
          <a:p xmlns:a="http://schemas.openxmlformats.org/drawingml/2006/main">
            <a:r>
              <a:t>Pointing cue: point from process rank to process rank; for code slides, point to communicator, rank, count, datatype and tag.</a:t>
            </a:r>
          </a:p>
          <a:p xmlns:a="http://schemas.openxmlformats.org/drawingml/2006/main">
            <a:r>
              <a:t>Question to ask students: Ask students which MPI process owns this data or message.</a:t>
            </a:r>
          </a:p>
          <a:p xmlns:a="http://schemas.openxmlformats.org/drawingml/2006/main">
            <a:r>
              <a:t>Animation instructions: Fade title; appear processes/messages one by one; wipe arrows; highlight MPI function arguments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3 checklist; Peter S. Pacheco and Matthew Malensek, An Introduction to Parallel Programming, 2nd ed., Morgan Kaufmann, 2020, MPI chapters; Michael J. Quinn, Parallel Programming in C with MPI and OpenMP, McGraw-Hill, 2004, MPI and parallel sorting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Tell students this table belongs in lab records.</a:t>
            </a:r>
          </a:p>
          <a:p xmlns:a="http://schemas.openxmlformats.org/drawingml/2006/main">
            <a:r>
              <a:t>Pause cue: pause after the message-flow visual appears, then restate the MPI concept in one sentence.</a:t>
            </a:r>
          </a:p>
          <a:p xmlns:a="http://schemas.openxmlformats.org/drawingml/2006/main">
            <a:r>
              <a:t>Pointing cue: point from process rank to process rank; for code slides, point to communicator, rank, count, datatype and tag.</a:t>
            </a:r>
          </a:p>
          <a:p xmlns:a="http://schemas.openxmlformats.org/drawingml/2006/main">
            <a:r>
              <a:t>Question to ask students: Ask students which MPI process owns this data or message.</a:t>
            </a:r>
          </a:p>
          <a:p xmlns:a="http://schemas.openxmlformats.org/drawingml/2006/main">
            <a:r>
              <a:t>Animation instructions: Fade title; appear processes/messages one by one; wipe arrows; highlight MPI function arguments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3 checklist; Peter S. Pacheco and Matthew Malensek, An Introduction to Parallel Programming, 2nd ed., Morgan Kaufmann, 2020, MPI chapters; Michael J. Quinn, Parallel Programming in C with MPI and OpenMP, McGraw-Hill, 2004, MPI and parallel sorting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Sorting needs both computation and communication.</a:t>
            </a:r>
          </a:p>
          <a:p xmlns:a="http://schemas.openxmlformats.org/drawingml/2006/main">
            <a:r>
              <a:t>Pause cue: pause after the message-flow visual appears, then restate the MPI concept in one sentence.</a:t>
            </a:r>
          </a:p>
          <a:p xmlns:a="http://schemas.openxmlformats.org/drawingml/2006/main">
            <a:r>
              <a:t>Pointing cue: point from process rank to process rank; for code slides, point to communicator, rank, count, datatype and tag.</a:t>
            </a:r>
          </a:p>
          <a:p xmlns:a="http://schemas.openxmlformats.org/drawingml/2006/main">
            <a:r>
              <a:t>Question to ask students: Ask students which MPI process owns this data or message.</a:t>
            </a:r>
          </a:p>
          <a:p xmlns:a="http://schemas.openxmlformats.org/drawingml/2006/main">
            <a:r>
              <a:t>Animation instructions: Fade title; appear processes/messages one by one; wipe arrows; highlight MPI function arguments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3 checklist; Peter S. Pacheco and Matthew Malensek, An Introduction to Parallel Programming, 2nd ed., Morgan Kaufmann, 2020, MPI chapters; Michael J. Quinn, Parallel Programming in C with MPI and OpenMP, McGraw-Hill, 2004, MPI and parallel sorting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This works as a conceptual template for several parallel sorting algorithms.</a:t>
            </a:r>
          </a:p>
          <a:p xmlns:a="http://schemas.openxmlformats.org/drawingml/2006/main">
            <a:r>
              <a:t>Pause cue: pause after the message-flow visual appears, then restate the MPI concept in one sentence.</a:t>
            </a:r>
          </a:p>
          <a:p xmlns:a="http://schemas.openxmlformats.org/drawingml/2006/main">
            <a:r>
              <a:t>Pointing cue: point from process rank to process rank; for code slides, point to communicator, rank, count, datatype and tag.</a:t>
            </a:r>
          </a:p>
          <a:p xmlns:a="http://schemas.openxmlformats.org/drawingml/2006/main">
            <a:r>
              <a:t>Question to ask students: Ask students which MPI process owns this data or message.</a:t>
            </a:r>
          </a:p>
          <a:p xmlns:a="http://schemas.openxmlformats.org/drawingml/2006/main">
            <a:r>
              <a:t>Animation instructions: Fade title; appear processes/messages one by one; wipe arrows; highlight MPI function arguments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3 checklist; Peter S. Pacheco and Matthew Malensek, An Introduction to Parallel Programming, 2nd ed., Morgan Kaufmann, 2020, MPI chapters; Michael J. Quinn, Parallel Programming in C with MPI and OpenMP, McGraw-Hill, 2004, MPI and parallel sorting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neighboring ranks compare-exchange data.</a:t>
            </a:r>
          </a:p>
          <a:p xmlns:a="http://schemas.openxmlformats.org/drawingml/2006/main">
            <a:r>
              <a:t>Pause cue: pause after the message-flow visual appears, then restate the MPI concept in one sentence.</a:t>
            </a:r>
          </a:p>
          <a:p xmlns:a="http://schemas.openxmlformats.org/drawingml/2006/main">
            <a:r>
              <a:t>Pointing cue: point from process rank to process rank; for code slides, point to communicator, rank, count, datatype and tag.</a:t>
            </a:r>
          </a:p>
          <a:p xmlns:a="http://schemas.openxmlformats.org/drawingml/2006/main">
            <a:r>
              <a:t>Question to ask students: Ask students which MPI process owns this data or message.</a:t>
            </a:r>
          </a:p>
          <a:p xmlns:a="http://schemas.openxmlformats.org/drawingml/2006/main">
            <a:r>
              <a:t>Animation instructions: Fade title; appear processes/messages one by one; wipe arrows; highlight MPI function arguments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3 checklist; Peter S. Pacheco and Matthew Malensek, An Introduction to Parallel Programming, 2nd ed., Morgan Kaufmann, 2020, MPI chapters; Michael J. Quinn, Parallel Programming in C with MPI and OpenMP, McGraw-Hill, 2004, MPI and parallel sorting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This is the heart of odd-even transposition sorting.</a:t>
            </a:r>
          </a:p>
          <a:p xmlns:a="http://schemas.openxmlformats.org/drawingml/2006/main">
            <a:r>
              <a:t>Pause cue: pause after the message-flow visual appears, then restate the MPI concept in one sentence.</a:t>
            </a:r>
          </a:p>
          <a:p xmlns:a="http://schemas.openxmlformats.org/drawingml/2006/main">
            <a:r>
              <a:t>Pointing cue: point from process rank to process rank; for code slides, point to communicator, rank, count, datatype and tag.</a:t>
            </a:r>
          </a:p>
          <a:p xmlns:a="http://schemas.openxmlformats.org/drawingml/2006/main">
            <a:r>
              <a:t>Question to ask students: Ask students which MPI process owns this data or message.</a:t>
            </a:r>
          </a:p>
          <a:p xmlns:a="http://schemas.openxmlformats.org/drawingml/2006/main">
            <a:r>
              <a:t>Animation instructions: Fade title; appear processes/messages one by one; wipe arrows; highlight MPI function arguments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3 checklist; Peter S. Pacheco and Matthew Malensek, An Introduction to Parallel Programming, 2nd ed., Morgan Kaufmann, 2020, MPI chapters; Michael J. Quinn, Parallel Programming in C with MPI and OpenMP, McGraw-Hill, 2004, MPI and parallel sorting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this as sorting evaluation notes.</a:t>
            </a:r>
          </a:p>
          <a:p xmlns:a="http://schemas.openxmlformats.org/drawingml/2006/main">
            <a:r>
              <a:t>Pause cue: pause after the message-flow visual appears, then restate the MPI concept in one sentence.</a:t>
            </a:r>
          </a:p>
          <a:p xmlns:a="http://schemas.openxmlformats.org/drawingml/2006/main">
            <a:r>
              <a:t>Pointing cue: point from process rank to process rank; for code slides, point to communicator, rank, count, datatype and tag.</a:t>
            </a:r>
          </a:p>
          <a:p xmlns:a="http://schemas.openxmlformats.org/drawingml/2006/main">
            <a:r>
              <a:t>Question to ask students: Ask students which MPI process owns this data or message.</a:t>
            </a:r>
          </a:p>
          <a:p xmlns:a="http://schemas.openxmlformats.org/drawingml/2006/main">
            <a:r>
              <a:t>Animation instructions: Fade title; appear processes/messages one by one; wipe arrows; highlight MPI function arguments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3 checklist; Peter S. Pacheco and Matthew Malensek, An Introduction to Parallel Programming, 2nd ed., Morgan Kaufmann, 2020, MPI chapters; Michael J. Quinn, Parallel Programming in C with MPI and OpenMP, McGraw-Hill, 2004, MPI and parallel sorting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this as the end-of-teaching summary.</a:t>
            </a:r>
          </a:p>
          <a:p xmlns:a="http://schemas.openxmlformats.org/drawingml/2006/main">
            <a:r>
              <a:t>Pause cue: pause after the message-flow visual appears, then restate the MPI concept in one sentence.</a:t>
            </a:r>
          </a:p>
          <a:p xmlns:a="http://schemas.openxmlformats.org/drawingml/2006/main">
            <a:r>
              <a:t>Pointing cue: point from process rank to process rank; for code slides, point to communicator, rank, count, datatype and tag.</a:t>
            </a:r>
          </a:p>
          <a:p xmlns:a="http://schemas.openxmlformats.org/drawingml/2006/main">
            <a:r>
              <a:t>Question to ask students: Ask students which MPI process owns this data or message.</a:t>
            </a:r>
          </a:p>
          <a:p xmlns:a="http://schemas.openxmlformats.org/drawingml/2006/main">
            <a:r>
              <a:t>Animation instructions: Fade title; appear processes/messages one by one; wipe arrows; highlight MPI function arguments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3 checklist; Peter S. Pacheco and Matthew Malensek, An Introduction to Parallel Programming, 2nd ed., Morgan Kaufmann, 2020, MPI chapters; Michael J. Quinn, Parallel Programming in C with MPI and OpenMP, McGraw-Hill, 2004, MPI and parallel sorting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Tell students syntax plus diagram is the winning pattern.</a:t>
            </a:r>
          </a:p>
          <a:p xmlns:a="http://schemas.openxmlformats.org/drawingml/2006/main">
            <a:r>
              <a:t>Pause cue: pause after the message-flow visual appears, then restate the MPI concept in one sentence.</a:t>
            </a:r>
          </a:p>
          <a:p xmlns:a="http://schemas.openxmlformats.org/drawingml/2006/main">
            <a:r>
              <a:t>Pointing cue: point from process rank to process rank; for code slides, point to communicator, rank, count, datatype and tag.</a:t>
            </a:r>
          </a:p>
          <a:p xmlns:a="http://schemas.openxmlformats.org/drawingml/2006/main">
            <a:r>
              <a:t>Question to ask students: Ask students which MPI process owns this data or message.</a:t>
            </a:r>
          </a:p>
          <a:p xmlns:a="http://schemas.openxmlformats.org/drawingml/2006/main">
            <a:r>
              <a:t>Animation instructions: Fade title; appear processes/messages one by one; wipe arrows; highlight MPI function arguments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3 checklist; Peter S. Pacheco and Matthew Malensek, An Introduction to Parallel Programming, 2nd ed., Morgan Kaufmann, 2020, MPI chapters; Michael J. Quinn, Parallel Programming in C with MPI and OpenMP, McGraw-Hill, 2004, MPI and parallel sorting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Run these as rapid-fire viva questions.</a:t>
            </a:r>
          </a:p>
          <a:p xmlns:a="http://schemas.openxmlformats.org/drawingml/2006/main">
            <a:r>
              <a:t>Pause cue: pause after the message-flow visual appears, then restate the MPI concept in one sentence.</a:t>
            </a:r>
          </a:p>
          <a:p xmlns:a="http://schemas.openxmlformats.org/drawingml/2006/main">
            <a:r>
              <a:t>Pointing cue: point from process rank to process rank; for code slides, point to communicator, rank, count, datatype and tag.</a:t>
            </a:r>
          </a:p>
          <a:p xmlns:a="http://schemas.openxmlformats.org/drawingml/2006/main">
            <a:r>
              <a:t>Question to ask students: Ask students which MPI process owns this data or message.</a:t>
            </a:r>
          </a:p>
          <a:p xmlns:a="http://schemas.openxmlformats.org/drawingml/2006/main">
            <a:r>
              <a:t>Animation instructions: Fade title; appear processes/messages one by one; wipe arrows; highlight MPI function arguments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3 checklist; Peter S. Pacheco and Matthew Malensek, An Introduction to Parallel Programming, 2nd ed., Morgan Kaufmann, 2020, MPI chapters; Michael J. Quinn, Parallel Programming in C with MPI and OpenMP, McGraw-Hill, 2004, MPI and parallel sorting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Two-mark answers should be exact and compact.</a:t>
            </a:r>
          </a:p>
          <a:p xmlns:a="http://schemas.openxmlformats.org/drawingml/2006/main">
            <a:r>
              <a:t>Pause cue: pause after the message-flow visual appears, then restate the MPI concept in one sentence.</a:t>
            </a:r>
          </a:p>
          <a:p xmlns:a="http://schemas.openxmlformats.org/drawingml/2006/main">
            <a:r>
              <a:t>Pointing cue: point from process rank to process rank; for code slides, point to communicator, rank, count, datatype and tag.</a:t>
            </a:r>
          </a:p>
          <a:p xmlns:a="http://schemas.openxmlformats.org/drawingml/2006/main">
            <a:r>
              <a:t>Question to ask students: Ask students which MPI process owns this data or message.</a:t>
            </a:r>
          </a:p>
          <a:p xmlns:a="http://schemas.openxmlformats.org/drawingml/2006/main">
            <a:r>
              <a:t>Animation instructions: Fade title; appear processes/messages one by one; wipe arrows; highlight MPI function arguments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3 checklist; Peter S. Pacheco and Matthew Malensek, An Introduction to Parallel Programming, 2nd ed., Morgan Kaufmann, 2020, MPI chapters; Michael J. Quinn, Parallel Programming in C with MPI and OpenMP, McGraw-Hill, 2004, MPI and parallel sorting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Five-mark answers need syntax or process diagram.</a:t>
            </a:r>
          </a:p>
          <a:p xmlns:a="http://schemas.openxmlformats.org/drawingml/2006/main">
            <a:r>
              <a:t>Pause cue: pause after the message-flow visual appears, then restate the MPI concept in one sentence.</a:t>
            </a:r>
          </a:p>
          <a:p xmlns:a="http://schemas.openxmlformats.org/drawingml/2006/main">
            <a:r>
              <a:t>Pointing cue: point from process rank to process rank; for code slides, point to communicator, rank, count, datatype and tag.</a:t>
            </a:r>
          </a:p>
          <a:p xmlns:a="http://schemas.openxmlformats.org/drawingml/2006/main">
            <a:r>
              <a:t>Question to ask students: Ask students which MPI process owns this data or message.</a:t>
            </a:r>
          </a:p>
          <a:p xmlns:a="http://schemas.openxmlformats.org/drawingml/2006/main">
            <a:r>
              <a:t>Animation instructions: Fade title; appear processes/messages one by one; wipe arrows; highlight MPI function arguments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3 checklist; Peter S. Pacheco and Matthew Malensek, An Introduction to Parallel Programming, 2nd ed., Morgan Kaufmann, 2020, MPI chapters; Michael J. Quinn, Parallel Programming in C with MPI and OpenMP, McGraw-Hill, 2004, MPI and parallel sorting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Long answers need definition, syntax, diagram, example and analysis.</a:t>
            </a:r>
          </a:p>
          <a:p xmlns:a="http://schemas.openxmlformats.org/drawingml/2006/main">
            <a:r>
              <a:t>Pause cue: pause after the message-flow visual appears, then restate the MPI concept in one sentence.</a:t>
            </a:r>
          </a:p>
          <a:p xmlns:a="http://schemas.openxmlformats.org/drawingml/2006/main">
            <a:r>
              <a:t>Pointing cue: point from process rank to process rank; for code slides, point to communicator, rank, count, datatype and tag.</a:t>
            </a:r>
          </a:p>
          <a:p xmlns:a="http://schemas.openxmlformats.org/drawingml/2006/main">
            <a:r>
              <a:t>Question to ask students: Ask students which MPI process owns this data or message.</a:t>
            </a:r>
          </a:p>
          <a:p xmlns:a="http://schemas.openxmlformats.org/drawingml/2006/main">
            <a:r>
              <a:t>Animation instructions: Fade title; appear processes/messages one by one; wipe arrows; highlight MPI function arguments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3 checklist; Peter S. Pacheco and Matthew Malensek, An Introduction to Parallel Programming, 2nd ed., Morgan Kaufmann, 2020, MPI chapters; Michael J. Quinn, Parallel Programming in C with MPI and OpenMP, McGraw-Hill, 2004, MPI and parallel sorting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End by asking students to explain MPI using only these keywords.</a:t>
            </a:r>
          </a:p>
          <a:p xmlns:a="http://schemas.openxmlformats.org/drawingml/2006/main">
            <a:r>
              <a:t>Pause cue: pause after the message-flow visual appears, then restate the MPI concept in one sentence.</a:t>
            </a:r>
          </a:p>
          <a:p xmlns:a="http://schemas.openxmlformats.org/drawingml/2006/main">
            <a:r>
              <a:t>Pointing cue: point from process rank to process rank; for code slides, point to communicator, rank, count, datatype and tag.</a:t>
            </a:r>
          </a:p>
          <a:p xmlns:a="http://schemas.openxmlformats.org/drawingml/2006/main">
            <a:r>
              <a:t>Question to ask students: Ask students which MPI process owns this data or message.</a:t>
            </a:r>
          </a:p>
          <a:p xmlns:a="http://schemas.openxmlformats.org/drawingml/2006/main">
            <a:r>
              <a:t>Animation instructions: Fade title; appear processes/messages one by one; wipe arrows; highlight MPI function arguments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3 checklist; Peter S. Pacheco and Matthew Malensek, An Introduction to Parallel Programming, 2nd ed., Morgan Kaufmann, 2020, MPI chapters; Michael J. Quinn, Parallel Programming in C with MPI and OpenMP, McGraw-Hill, 2004, MPI and parallel sorting chapters.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382cfe0e3d4fc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75af973f0cf43cd" /><Relationship Type="http://schemas.openxmlformats.org/officeDocument/2006/relationships/slideLayout" Target="/ppt/slideLayouts/slideLayout1.xml" Id="Rdcfa73911bbb400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fa73911bbb40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54e76d3c774667" /><Relationship Type="http://schemas.openxmlformats.org/officeDocument/2006/relationships/notesSlide" Target="/ppt/notesSlides/notesSlide1.xml" Id="Rb8d3148ecee94bc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c5a7b5fe524e89" /><Relationship Type="http://schemas.openxmlformats.org/officeDocument/2006/relationships/notesSlide" Target="/ppt/notesSlides/notesSlide2.xml" Id="Ra5fa758a0a734d2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21882ad8b74a0d" /><Relationship Type="http://schemas.openxmlformats.org/officeDocument/2006/relationships/notesSlide" Target="/ppt/notesSlides/notesSlide3.xml" Id="Rcdb80222ab1646a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a0340c172f4cf3" /><Relationship Type="http://schemas.openxmlformats.org/officeDocument/2006/relationships/notesSlide" Target="/ppt/notesSlides/notesSlide4.xml" Id="R1437b1977c1c4e6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4db30c0a4f4fc5" /><Relationship Type="http://schemas.openxmlformats.org/officeDocument/2006/relationships/notesSlide" Target="/ppt/notesSlides/notesSlide5.xml" Id="R6f6f7c4070f2430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27902cbb324d76" /><Relationship Type="http://schemas.openxmlformats.org/officeDocument/2006/relationships/notesSlide" Target="/ppt/notesSlides/notesSlide6.xml" Id="R0e2562020ece40c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75579955034a9b" /><Relationship Type="http://schemas.openxmlformats.org/officeDocument/2006/relationships/notesSlide" Target="/ppt/notesSlides/notesSlide7.xml" Id="Ra2092b43e34942c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bd355023a44b39" /><Relationship Type="http://schemas.openxmlformats.org/officeDocument/2006/relationships/notesSlide" Target="/ppt/notesSlides/notesSlide8.xml" Id="R854e3fef4ad34bc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a433cd0dfb4ac1" /><Relationship Type="http://schemas.openxmlformats.org/officeDocument/2006/relationships/notesSlide" Target="/ppt/notesSlides/notesSlide9.xml" Id="R34b41ecfe4234f7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26c8dc9e74484f" /><Relationship Type="http://schemas.openxmlformats.org/officeDocument/2006/relationships/notesSlide" Target="/ppt/notesSlides/notesSlide10.xml" Id="Rc67484e91c5e4d4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97b4542bc6461e" /><Relationship Type="http://schemas.openxmlformats.org/officeDocument/2006/relationships/notesSlide" Target="/ppt/notesSlides/notesSlide11.xml" Id="R37bf09134c1e421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a2aa9d4a8446ca" /><Relationship Type="http://schemas.openxmlformats.org/officeDocument/2006/relationships/notesSlide" Target="/ppt/notesSlides/notesSlide12.xml" Id="Rb3384c4b53d34ee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2bf7a8bfc14df0" /><Relationship Type="http://schemas.openxmlformats.org/officeDocument/2006/relationships/notesSlide" Target="/ppt/notesSlides/notesSlide13.xml" Id="Rc75eb16ec6464fa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079f0adbb54225" /><Relationship Type="http://schemas.openxmlformats.org/officeDocument/2006/relationships/notesSlide" Target="/ppt/notesSlides/notesSlide14.xml" Id="Rf8c049b26ad148d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2d1e7711d84e5b" /><Relationship Type="http://schemas.openxmlformats.org/officeDocument/2006/relationships/notesSlide" Target="/ppt/notesSlides/notesSlide15.xml" Id="R0e583e2d5fe845d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4a3a4341e249f3" /><Relationship Type="http://schemas.openxmlformats.org/officeDocument/2006/relationships/notesSlide" Target="/ppt/notesSlides/notesSlide16.xml" Id="Radaf0ab007054ba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4b32b36e07447c" /><Relationship Type="http://schemas.openxmlformats.org/officeDocument/2006/relationships/notesSlide" Target="/ppt/notesSlides/notesSlide17.xml" Id="Ra174a2da75a9456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901b0a7a1847e4" /><Relationship Type="http://schemas.openxmlformats.org/officeDocument/2006/relationships/notesSlide" Target="/ppt/notesSlides/notesSlide18.xml" Id="Rf25c9824da98445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250f4434964855" /><Relationship Type="http://schemas.openxmlformats.org/officeDocument/2006/relationships/notesSlide" Target="/ppt/notesSlides/notesSlide19.xml" Id="Re86268fcbef542e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5005899d4e4de0" /><Relationship Type="http://schemas.openxmlformats.org/officeDocument/2006/relationships/notesSlide" Target="/ppt/notesSlides/notesSlide20.xml" Id="R8d69001771344a7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e8bf83e9984fa4" /><Relationship Type="http://schemas.openxmlformats.org/officeDocument/2006/relationships/notesSlide" Target="/ppt/notesSlides/notesSlide21.xml" Id="R0508049fce904cc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6f464dc1a14852" /><Relationship Type="http://schemas.openxmlformats.org/officeDocument/2006/relationships/notesSlide" Target="/ppt/notesSlides/notesSlide22.xml" Id="R9ccee08f53d44db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d87fa81dd84fa4" /><Relationship Type="http://schemas.openxmlformats.org/officeDocument/2006/relationships/notesSlide" Target="/ppt/notesSlides/notesSlide23.xml" Id="R09df697f06c8406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4b3b5553224df6" /><Relationship Type="http://schemas.openxmlformats.org/officeDocument/2006/relationships/notesSlide" Target="/ppt/notesSlides/notesSlide24.xml" Id="R9eabf7b05258480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2d477f211143ad" /><Relationship Type="http://schemas.openxmlformats.org/officeDocument/2006/relationships/notesSlide" Target="/ppt/notesSlides/notesSlide25.xml" Id="R7f16912bde70416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e5ca04e84343f4" /><Relationship Type="http://schemas.openxmlformats.org/officeDocument/2006/relationships/notesSlide" Target="/ppt/notesSlides/notesSlide26.xml" Id="Rd9a358a72e6f44a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7ea1a423744ae9" /><Relationship Type="http://schemas.openxmlformats.org/officeDocument/2006/relationships/notesSlide" Target="/ppt/notesSlides/notesSlide27.xml" Id="Ra495d779707d4d6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72c3a650474949" /><Relationship Type="http://schemas.openxmlformats.org/officeDocument/2006/relationships/notesSlide" Target="/ppt/notesSlides/notesSlide28.xml" Id="R530e9b8f7d4c4eb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dd1d545b094ab4" /><Relationship Type="http://schemas.openxmlformats.org/officeDocument/2006/relationships/notesSlide" Target="/ppt/notesSlides/notesSlide29.xml" Id="R738942a95de0486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6ffc8d80424ff0" /><Relationship Type="http://schemas.openxmlformats.org/officeDocument/2006/relationships/notesSlide" Target="/ppt/notesSlides/notesSlide30.xml" Id="Ra8a2a28627e34c03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be39a0748e45d0" /><Relationship Type="http://schemas.openxmlformats.org/officeDocument/2006/relationships/notesSlide" Target="/ppt/notesSlides/notesSlide31.xml" Id="R90a7dfbf52484aef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0074027b6343c5" /><Relationship Type="http://schemas.openxmlformats.org/officeDocument/2006/relationships/notesSlide" Target="/ppt/notesSlides/notesSlide32.xml" Id="R865e515177aa4851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2a6fe6026f45c0" /><Relationship Type="http://schemas.openxmlformats.org/officeDocument/2006/relationships/notesSlide" Target="/ppt/notesSlides/notesSlide33.xml" Id="R8aac6a6137694bfe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314aefe0954f5b" /><Relationship Type="http://schemas.openxmlformats.org/officeDocument/2006/relationships/notesSlide" Target="/ppt/notesSlides/notesSlide34.xml" Id="Rb4fe565de6014439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4862a133944502" /><Relationship Type="http://schemas.openxmlformats.org/officeDocument/2006/relationships/notesSlide" Target="/ppt/notesSlides/notesSlide35.xml" Id="R907b9b2157f94849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512849e44e4a3f" /><Relationship Type="http://schemas.openxmlformats.org/officeDocument/2006/relationships/notesSlide" Target="/ppt/notesSlides/notesSlide36.xml" Id="Rde19a8226d7345ae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2151785ae245af" /><Relationship Type="http://schemas.openxmlformats.org/officeDocument/2006/relationships/notesSlide" Target="/ppt/notesSlides/notesSlide37.xml" Id="Rf440b227b26f41ae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d7a7631d144ad4" /><Relationship Type="http://schemas.openxmlformats.org/officeDocument/2006/relationships/notesSlide" Target="/ppt/notesSlides/notesSlide38.xml" Id="Rdc863b62146c48d6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3d4debaf5e46a1" /><Relationship Type="http://schemas.openxmlformats.org/officeDocument/2006/relationships/notesSlide" Target="/ppt/notesSlides/notesSlide39.xml" Id="R3d0339d98cb14776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2b44df3d91404a" /><Relationship Type="http://schemas.openxmlformats.org/officeDocument/2006/relationships/notesSlide" Target="/ppt/notesSlides/notesSlide40.xml" Id="R717ce1d62020454d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f41d9070394523" /><Relationship Type="http://schemas.openxmlformats.org/officeDocument/2006/relationships/notesSlide" Target="/ppt/notesSlides/notesSlide41.xml" Id="Rf96ba206859f4554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bde849c8c44f95" /><Relationship Type="http://schemas.openxmlformats.org/officeDocument/2006/relationships/notesSlide" Target="/ppt/notesSlides/notesSlide42.xml" Id="Rd3bc07614db041ad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99ffce717a4498" /><Relationship Type="http://schemas.openxmlformats.org/officeDocument/2006/relationships/notesSlide" Target="/ppt/notesSlides/notesSlide43.xml" Id="R2556f089e29448f5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bab642416148a5" /><Relationship Type="http://schemas.openxmlformats.org/officeDocument/2006/relationships/notesSlide" Target="/ppt/notesSlides/notesSlide44.xml" Id="R917ac52cd26e41ca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5d71646e404374" /><Relationship Type="http://schemas.openxmlformats.org/officeDocument/2006/relationships/notesSlide" Target="/ppt/notesSlides/notesSlide45.xml" Id="Rccf30d1cdde34c14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9ef3b5fe334442" /><Relationship Type="http://schemas.openxmlformats.org/officeDocument/2006/relationships/notesSlide" Target="/ppt/notesSlides/notesSlide46.xml" Id="Rcf65e243b17748f3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4fd3cc295d4665" /><Relationship Type="http://schemas.openxmlformats.org/officeDocument/2006/relationships/notesSlide" Target="/ppt/notesSlides/notesSlide47.xml" Id="R9a0e60a70e1248e9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2c4262490d45d7" /><Relationship Type="http://schemas.openxmlformats.org/officeDocument/2006/relationships/notesSlide" Target="/ppt/notesSlides/notesSlide48.xml" Id="R2587a6bfc3c04f2d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f0258273f140c2" /><Relationship Type="http://schemas.openxmlformats.org/officeDocument/2006/relationships/notesSlide" Target="/ppt/notesSlides/notesSlide49.xml" Id="R1b0d6d8cb40e42c8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501199df1d4fd9" /><Relationship Type="http://schemas.openxmlformats.org/officeDocument/2006/relationships/notesSlide" Target="/ppt/notesSlides/notesSlide50.xml" Id="R22099ea8d11e4c94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328ddb9ae24ec3" /><Relationship Type="http://schemas.openxmlformats.org/officeDocument/2006/relationships/notesSlide" Target="/ppt/notesSlides/notesSlide51.xml" Id="Rcd5ba72e7c3c4a16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dd74c23ccd4f88" /><Relationship Type="http://schemas.openxmlformats.org/officeDocument/2006/relationships/notesSlide" Target="/ppt/notesSlides/notesSlide52.xml" Id="Rdb899e1ca3fd48e3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6e0d31a20d4ce1" /><Relationship Type="http://schemas.openxmlformats.org/officeDocument/2006/relationships/notesSlide" Target="/ppt/notesSlides/notesSlide53.xml" Id="R6cea4c3b98174977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be1c5f01e3455c" /><Relationship Type="http://schemas.openxmlformats.org/officeDocument/2006/relationships/notesSlide" Target="/ppt/notesSlides/notesSlide54.xml" Id="Re7f0496926d44db4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bb9718add84825" /><Relationship Type="http://schemas.openxmlformats.org/officeDocument/2006/relationships/notesSlide" Target="/ppt/notesSlides/notesSlide55.xml" Id="R9ab769e9cb564fc6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79929dc2004d4f" /><Relationship Type="http://schemas.openxmlformats.org/officeDocument/2006/relationships/notesSlide" Target="/ppt/notesSlides/notesSlide56.xml" Id="Rd13e15e3800e4fb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9C0DB1-DA8F-49EB-83C7-FF681B6F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E475BD-3292-4DEC-BCAA-321F2F0B9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Distributed Memory Programming with MPI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A65C6F-EB37-4578-83E7-4ADE9DA0E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Module 3 teaches message passing, MPI functions, trapezoidal rule, collectives, datatypes, performance and sorting.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2CBCFC-5672-4DA9-AD59-9AC9AE7A5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365C49-537D-4558-A904-3F97C2A8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E5BD7C-4E8B-4B94-B634-00AA16F5C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71D243-E9E9-4FE7-8BA8-33FEEF340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Opening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5B77EC-15A4-4B68-8593-DCE36CED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7DDE15-E3B8-42E1-BB7F-F3205301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5334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8FBFF"/>
                </a:solidFill>
              </a:defRPr>
            </a:pPr>
            <a:r>
              <a:rPr sz="4650" b="1">
                <a:solidFill>
                  <a:srgbClr val="F8FBFF"/>
                </a:solidFill>
              </a:rPr>
              <a:t>VTU BCS702</a:t>
            </a:r>
          </a:p>
          <a:p xmlns:a="http://schemas.openxmlformats.org/drawingml/2006/main">
            <a:pPr>
              <a:defRPr sz="4650" b="1">
                <a:solidFill>
                  <a:srgbClr val="F8FBFF"/>
                </a:solidFill>
              </a:defRPr>
            </a:pPr>
            <a:r>
              <a:rPr sz="4650" b="1">
                <a:solidFill>
                  <a:srgbClr val="F8FBFF"/>
                </a:solidFill>
              </a:rPr>
              <a:t>Module 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EDB36E-DCAF-49B8-BD26-6F73C406A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67125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B8C7D9"/>
                </a:solidFill>
              </a:defRPr>
            </a:pPr>
            <a:r>
              <a:rPr sz="1800">
                <a:solidFill>
                  <a:srgbClr val="B8C7D9"/>
                </a:solidFill>
              </a:rPr>
              <a:t>MPI functions • Trapezoidal rule • I/O • Collectives • Derived datatypes • Performance • Parallel sorting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DF79B4-A6BD-42A5-AFDA-E6E9F39E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285875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C69"/>
          </a:solidFill>
          <a:ln xmlns:a="http://schemas.openxmlformats.org/drawingml/2006/main" w="19050">
            <a:solidFill>
              <a:srgbClr val="2C6CA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EDC0AD-5D7D-4E46-A268-32532EACE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955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70E2AB-91B5-4E4B-9B6E-71909A63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238375"/>
            <a:ext cx="2571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8FBFF"/>
                </a:solidFill>
              </a:defRPr>
            </a:pPr>
            <a:r>
              <a:rPr sz="2325" b="1">
                <a:solidFill>
                  <a:srgbClr val="F8FBFF"/>
                </a:solidFill>
              </a:rPr>
              <a:t>MPI</a:t>
            </a:r>
          </a:p>
          <a:p xmlns:a="http://schemas.openxmlformats.org/drawingml/2006/main">
            <a:pPr algn="ctr">
              <a:defRPr sz="2325" b="1">
                <a:solidFill>
                  <a:srgbClr val="F8FBFF"/>
                </a:solidFill>
              </a:defRPr>
            </a:pPr>
            <a:r>
              <a:rPr sz="2325" b="1">
                <a:solidFill>
                  <a:srgbClr val="F8FBFF"/>
                </a:solidFill>
              </a:rPr>
              <a:t>RANK</a:t>
            </a:r>
          </a:p>
          <a:p xmlns:a="http://schemas.openxmlformats.org/drawingml/2006/main">
            <a:pPr algn="ctr">
              <a:defRPr sz="2325" b="1">
                <a:solidFill>
                  <a:srgbClr val="F8FBFF"/>
                </a:solidFill>
              </a:defRPr>
            </a:pPr>
            <a:r>
              <a:rPr sz="2325" b="1">
                <a:solidFill>
                  <a:srgbClr val="F8FBFF"/>
                </a:solidFill>
              </a:rPr>
              <a:t>MSG</a:t>
            </a:r>
          </a:p>
        </p:txBody>
      </p:sp>
    </p:spTree>
    <p:extLst>
      <p:ext uri="{BB962C8B-B14F-4D97-AF65-F5344CB8AC3E}">
        <p14:creationId xmlns:p14="http://schemas.microsoft.com/office/powerpoint/2010/main" val="9264042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E1753C-7F7B-4AE3-B591-D07AF01B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82E4A2-CB39-4A50-B968-73B64565D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Module 3 learning journey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9C0D77-B7CE-4E3B-8027-D2EC28E8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Use the syllabus as the checklist.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CF8C17-660F-4525-BCE5-A9256F35C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02813D-FC86-4657-A616-7B2616C38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595589-AEB2-42A9-A9E0-3B27871E1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62B5B4-B7FB-46C1-8E57-AFECABED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Opening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3B559C-6154-461A-9EBD-2517831D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3E6727-489C-4134-939D-67579A3B2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3C74D7-291C-4A17-9546-54CA6ECAA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84A0FE-B5BC-48C0-9DC7-0B432E0B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6954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Explain distributed-memory programming with MPI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04E3F8-9A85-44E7-9830-456DF7107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146224-2BF3-40ED-B0E4-CDCEE3A5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7A4C41-0FEA-461D-8449-87D3C7C1A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2098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Use basic MPI functions and point-to-point communication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56361E-F71A-42A4-9CF3-8EF1909E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834A58-3F96-444B-AE08-7A5D66075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8C9C5D-7BA4-466B-9F5C-8CB87BC76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7241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Parallelize the trapezoidal rule in MPI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C65E07-2624-4B76-98BD-3A4411FA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0EFE08-553F-4D04-9D38-7471DAA8E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59F9D8-7F2F-42A3-A9A2-9E833C86E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2385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Handle I/O and collective communication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981B71-B96C-46F9-8FBC-4232388D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9556E9-DC00-49CB-B6F5-FCEF3AE9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2E915F-382D-4439-A663-9FE9C52F6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7528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Use MPI-derived datatypes and evaluate MPI performance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D40882-6A1F-4EE7-9DB8-B221C153D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053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4B0226-1E9B-4662-A54E-FB218C844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053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3DF9CC-83BC-4BA2-9C1C-98600430A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2672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Explain a parallel sorting algorithm</a:t>
            </a:r>
          </a:p>
        </p:txBody>
      </p:sp>
    </p:spTree>
    <p:extLst>
      <p:ext uri="{BB962C8B-B14F-4D97-AF65-F5344CB8AC3E}">
        <p14:creationId xmlns:p14="http://schemas.microsoft.com/office/powerpoint/2010/main" val="8298648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4BC28F-DA0A-4378-BA44-22F99CA69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E2E828-3103-439F-8836-5B61AFD77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Why MPI exists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353C4D-9474-40C7-AB2A-F832DD5CC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Distributed-memory processors need explicit communication.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6E0BC0-2942-4F51-B538-B56C5F1D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4546D4-0237-4A24-AC80-B25891C53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399745-240E-46AD-8A41-3C37D8D99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09DB28-C570-4E22-900E-DC728053D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Opening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5169AE-158E-42A7-8489-482BECCB0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F099EC-A708-40BA-B425-A718227B5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A1741B-F26F-48C7-AC12-7F2C4B1E1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Private memory per process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F10D8A-34AD-47C6-AC82-F6076841A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21A0E4-2067-464C-B11F-1A522D5A3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0FE73F-9F8D-4DA3-BE32-C0D4FBDE7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No shared variables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73C4E9-5E82-4AA0-8E09-EB3C887D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756D8B-CBC4-4A8D-9335-615139F9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B3ABF3-86FF-45BF-B17A-5CB11001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Need data exchange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3B91A3-B203-47BA-A91C-45FDEFC3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C210B0-D78C-4691-8334-D0B355A24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55A1CD-3B7B-4DD1-8837-D509AB8C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MPI messages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6C4BE2-A681-427C-8C09-DB291A13E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D4F492-F545-4549-92B2-EC382CFB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853EEE-D94D-4639-8141-9D5BC8364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Parallel result</a:t>
            </a:r>
          </a:p>
        </p:txBody>
      </p:sp>
    </p:spTree>
    <p:extLst>
      <p:ext uri="{BB962C8B-B14F-4D97-AF65-F5344CB8AC3E}">
        <p14:creationId xmlns:p14="http://schemas.microsoft.com/office/powerpoint/2010/main" val="10254301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631EA6-6FF9-4E99-B3FA-93DA2E097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82FCA5-6DB5-4701-BAE1-8B4F343A5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What is MPI?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41EE26-BCBF-4A59-A1E2-F0064D8D5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Define the standard.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56A167-20D2-4DC1-B62B-6B3DE0929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A6206A-41E3-49C3-9F4D-68E548E61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9C06AE-393F-4F05-A9DB-CB19E7F1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CE8D82-7E02-4C58-9C19-935540D1B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MPI Basics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A1F4F1-E66D-47B4-874D-44E27052F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DF4495-01F1-4CDD-9C60-EB5DF38D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9F1C"/>
                </a:solidFill>
              </a:defRPr>
            </a:pPr>
            <a:r>
              <a:rPr sz="3750" b="1">
                <a:solidFill>
                  <a:srgbClr val="FF9F1C"/>
                </a:solidFill>
              </a:rPr>
              <a:t>MPI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ADFE0D-42F3-493B-AF39-E1E7297D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990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8FBFF"/>
                </a:solidFill>
              </a:defRPr>
            </a:pPr>
            <a:r>
              <a:rPr sz="2175">
                <a:solidFill>
                  <a:srgbClr val="F8FBFF"/>
                </a:solidFill>
              </a:rPr>
              <a:t>Message Passing Interface is a standard API for writing parallel programs where processes communicate by sending and receiving messages.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7FCD64-7FE4-4A39-B834-A4AC669E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57D5A4-35F2-4F3F-A8EC-D4E990209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Standard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B280AA-B78D-4943-8633-E6E267043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33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7586B7-D78B-4D5D-9E6D-E4B6BEDF7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EC2F37-75E7-4206-940D-9D45B24B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48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Processes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3245DB-A30B-4329-AB41-62637BFED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64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8AFC88-F236-4E0D-9DEA-815E1C497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49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4558FD-E063-472E-9F1F-6732D4A08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79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Messages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90758C-4C03-4DC8-9530-133D93276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95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4D1BCE-E07D-442B-854D-FB23A92B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9132A4-4F50-4EC9-894B-8BD60D952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10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Communicator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6CC2B8-BB62-4F6C-87E6-0FDB57BEA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26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53B960-55B2-4193-88A1-7CDF0793C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211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64B49C-8378-41A5-8651-7BC08A3E9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41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Portable</a:t>
            </a:r>
          </a:p>
        </p:txBody>
      </p:sp>
    </p:spTree>
    <p:extLst>
      <p:ext uri="{BB962C8B-B14F-4D97-AF65-F5344CB8AC3E}">
        <p14:creationId xmlns:p14="http://schemas.microsoft.com/office/powerpoint/2010/main" val="17992562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C768953-FF1A-4FFC-9231-3EA2A3898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8D8F24-6721-4A83-A0DE-79DA08FB1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MPI programming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A0FF3B-BDD3-4AE0-A4D6-B8F380098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the mental model.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059ED2-4533-4E6A-95D0-442AC0EAC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A7787A-D9BD-4F17-B496-5A0D760C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E6066C-8BAC-442F-9732-B850D8E70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C1F3C3-71B4-4807-9025-32BA7EB7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MPI Basics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A40446-E311-4A4D-A77B-1B7EFD7B8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023B86-825C-4B47-94E5-D685E65D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81300"/>
            <a:ext cx="24765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489844-C0CE-4DDC-9393-A76B3BF36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0956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7111F"/>
                </a:solidFill>
              </a:defRPr>
            </a:pPr>
            <a:r>
              <a:rPr sz="2250" b="1">
                <a:solidFill>
                  <a:srgbClr val="07111F"/>
                </a:solidFill>
              </a:rPr>
              <a:t>MPI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CC1919-2EBD-46F0-8DCC-5AE7B5CAD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05000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A4C803-0920-44F7-B12F-275D87114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0500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1D0FD1-22B0-46C9-9A32-BB4B1341A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057400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Process/rank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08B5EC-7D04-409B-9669-2CF383CB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438400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Independent worker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71D628-2884-4A08-BDB4-3D34B7FE9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19250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48D7F9-4C9C-4171-B270-F8ED30716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1925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EFBCC5-92AF-44FB-BCE7-2D69202C1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71650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C4B6"/>
                </a:solidFill>
              </a:defRPr>
            </a:pPr>
            <a:r>
              <a:rPr sz="1725" b="1">
                <a:solidFill>
                  <a:srgbClr val="2EC4B6"/>
                </a:solidFill>
              </a:rPr>
              <a:t>Private memory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BFEFC3-BAFC-4584-BDBA-C3470908E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152650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Local data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B33142-FA43-494F-975A-D036E79A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05000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4E7A8B-B65A-4940-8ED5-03F2EC422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0500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C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7691A1-7A28-4E48-8B49-35BEF1A03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057400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7C8FF"/>
                </a:solidFill>
              </a:defRPr>
            </a:pPr>
            <a:r>
              <a:rPr sz="1725" b="1">
                <a:solidFill>
                  <a:srgbClr val="77C8FF"/>
                </a:solidFill>
              </a:rPr>
              <a:t>Message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E35D2E-80DA-42CF-B463-C9CEF6C7B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438400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Data movement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6EE4FD-4EF0-400D-A224-BCB66DFF3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29125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AC20E0-24BE-4039-B62F-D8125F6F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29125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C96D6F-5557-4586-AA4D-68DF8F1EC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581525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BF69"/>
                </a:solidFill>
              </a:defRPr>
            </a:pPr>
            <a:r>
              <a:rPr sz="1725" b="1">
                <a:solidFill>
                  <a:srgbClr val="FFBF69"/>
                </a:solidFill>
              </a:rPr>
              <a:t>Communicator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9AA684-6214-4D37-A75E-8887B706A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962525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Process group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7FAA0A-959C-4D7E-B3F3-BCAB887A3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10125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162D66-44E4-4D88-9B16-F38641105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10125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0FCF04-0179-459E-9EE1-39A10DEDE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962525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C4B6"/>
                </a:solidFill>
              </a:defRPr>
            </a:pPr>
            <a:r>
              <a:rPr sz="1725" b="1">
                <a:solidFill>
                  <a:srgbClr val="2EC4B6"/>
                </a:solidFill>
              </a:rPr>
              <a:t>Collectives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210424-9DA0-4C07-B917-E67C23CEA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343525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Group communication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AA6CC3-80E5-4EF8-91FF-3EA463D4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29125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ACC92F6-D9D9-42C4-8913-EF6F1D16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29125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4E8117D-7B28-4A94-843B-B5FF80C2F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581525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Runtime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8FC56E-3D57-4DF8-BDF7-212C1050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962525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Launches program</a:t>
            </a:r>
          </a:p>
        </p:txBody>
      </p:sp>
    </p:spTree>
    <p:extLst>
      <p:ext uri="{BB962C8B-B14F-4D97-AF65-F5344CB8AC3E}">
        <p14:creationId xmlns:p14="http://schemas.microsoft.com/office/powerpoint/2010/main" val="16985419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2B873C-6BA6-488C-80E4-2BF44A74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C2FB31-16FB-494B-BEEE-409EC807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SPMD: same program, multiple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ADDC23-551D-4F2F-AA39-E874B2CF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the common MPI style.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2C918B-80B7-4C98-9C1A-5E6616795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9FB39B-5A06-46DB-B612-D1D74FF1F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CD73D7-ACB3-4A47-93FF-687B64291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5AB6CA-FADA-4821-B907-992B79E5A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MPI Basics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C2C645-8681-427D-9485-C673DAFCF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84B888-C6E0-4E31-8EA6-A19B4AC2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9F1C"/>
                </a:solidFill>
              </a:defRPr>
            </a:pPr>
            <a:r>
              <a:rPr sz="3750" b="1">
                <a:solidFill>
                  <a:srgbClr val="FF9F1C"/>
                </a:solidFill>
              </a:rPr>
              <a:t>SPMD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E0E55A-B602-4662-99B7-525BDD2B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990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8FBFF"/>
                </a:solidFill>
              </a:defRPr>
            </a:pPr>
            <a:r>
              <a:rPr sz="2175">
                <a:solidFill>
                  <a:srgbClr val="F8FBFF"/>
                </a:solidFill>
              </a:rPr>
              <a:t>Single Program Multiple Data means every process runs the same executable, but uses rank to choose its role and data.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9EB11C-A15F-4EC6-A4AF-18D15E670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7186BE-565C-4AE4-A5A3-E563EDAA6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Same executable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8EEE23-5D3B-4BA4-938C-7460BFF5B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33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DCF898-A2A6-4F81-90EC-196A27EF8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CF6EFC-9AAF-46D3-A300-BEB62D57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48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Different rank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2BC969-78D6-413A-A704-318DC9B33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64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1D1F80-ED06-483B-8237-45E50B15C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49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1F3502-AB5E-42D3-8728-C41537E29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79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Different data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ECA194-92A7-4783-A6CF-0699BE9C4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95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D3814D-642F-4EA5-9B2F-6020000E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780968-CCFA-42D3-B65B-97D45C06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10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Branch by rank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58C1ED-2DF9-4A7B-85BE-7B0D6A79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26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4171D3-93A6-4F40-B621-A9B1EF301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211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98B8E8-9122-4190-A613-061C73CE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41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Scalable</a:t>
            </a:r>
          </a:p>
        </p:txBody>
      </p:sp>
    </p:spTree>
    <p:extLst>
      <p:ext uri="{BB962C8B-B14F-4D97-AF65-F5344CB8AC3E}">
        <p14:creationId xmlns:p14="http://schemas.microsoft.com/office/powerpoint/2010/main" val="9197699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275BC51-BFFE-4E09-A901-1CB5A29EE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6EEEE3-6804-4138-9ED2-9D460D24F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Rank and size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6A044E-0D6E-46B9-A8FD-2436AAB79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Teach the two key identifiers.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BB31EA-7CFE-4E5B-AEA7-AB818EF5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A2BCD5-622F-4812-BE35-3831D8CCE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04DC40-2EB8-4762-89B2-0748EF20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47F9A9-D8C7-40DA-A159-08A9EECE0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MPI Basics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FEE17E-EA49-4DBB-B980-1AD11E7E3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23D921-7993-4685-B2F1-659913AA7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EBA352-5394-44B8-889F-E63DE8303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377A28-DB14-4C40-B102-34D715B78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Rank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E04094-D560-4CDA-94DC-F20117A6A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F97AB6-994F-4A6B-A7B6-B0F007BED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357FC8-57E9-4C7A-BBCB-6D9EE3ABB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42E47D-50D3-491B-90FA-D6D3BD45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716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Size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7D7EFB-897F-4A6B-A2A3-7839C9E19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52650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523ED4-9CB8-4582-93D3-5314278C1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96F580-510F-42BD-9306-84C44D00F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C7D9D6-FEFD-4C9D-AA52-BF1C35BE8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86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Process ID inside communicator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EEBD5B-B262-4005-9212-EC87CFB8B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F1F471-DA40-467B-BE8E-964A1B31B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11EA47-418B-4C93-9EB3-1B3EEED7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003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Usually 0 to size-1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A7894F-38A8-45A1-9576-AAF9BE212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87A7CB-E673-4C97-89FF-DBFC37831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5E8B93-961D-452F-89F4-E29EDB796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Used to choose role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22636B-4D9D-4E4C-83A9-6BE830609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30C910-20E9-487F-A880-68A4A348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2C4EE8-F8E0-4360-B888-517F4D0A7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290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Used as message source/destination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F41250-A36B-460A-A6FC-AF590B05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A25843-3B3B-47F5-93F7-3CB0E1F02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04875D-7ADC-4679-8C66-A646545B2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86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Number of processes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E30591-8268-45C8-9F4E-67C5F3F3C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F6FEDA0-B383-4E2D-B26D-B16FADAB9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156221-F338-4634-965D-F7C324C25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003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Returned by communicator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287209-50AB-443F-8E58-9826A9E88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31321AD-E7F7-4E28-AEB4-63D0738C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6D70549-F266-4785-A560-DCD0ACD08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147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Used to split work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8A6E6BB-446C-44E2-8F61-E5D293BF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6BC931F-A566-4CCC-9F7A-E7E8C6B95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671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50C3799-A9C7-4CAF-B89E-43E967268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290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Controls loop over ranks</a:t>
            </a:r>
          </a:p>
        </p:txBody>
      </p:sp>
    </p:spTree>
    <p:extLst>
      <p:ext uri="{BB962C8B-B14F-4D97-AF65-F5344CB8AC3E}">
        <p14:creationId xmlns:p14="http://schemas.microsoft.com/office/powerpoint/2010/main" val="7642603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72BE32-A89D-4FB2-BB00-8CA44B83A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6E6C49-885A-40A8-9F8B-57E2D5D48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Minimal MPI program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F1D1CE-8BC1-4D02-822F-09F110BDD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the skeleton.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FA3826-7345-4FDF-8EFE-680AA72ED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D5D44C-22FA-4B75-AE44-1014DC1A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459BD4-0A30-4AD3-95A4-FB2C260C0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2CE637-9A8F-46A4-BA4D-09E374C6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MPI Basics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8939AD-81B6-4B09-AD27-27D895710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6E1437-F560-4353-90A4-8ACEA1053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95450"/>
            <a:ext cx="68580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50BF10-0134-482A-820E-4EE6179E9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623887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FBF69"/>
                </a:solidFill>
              </a:defRPr>
            </a:pPr>
            <a:r>
              <a:rPr sz="1575">
                <a:solidFill>
                  <a:srgbClr val="FFBF69"/>
                </a:solidFill>
              </a:rPr>
              <a:t>#include &lt;mpi.h&gt;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>
                <a:solidFill>
                  <a:srgbClr val="FFBF69"/>
                </a:solidFill>
              </a:defRPr>
            </a:pPr>
            <a:r>
              <a:rPr sz="1575">
                <a:solidFill>
                  <a:srgbClr val="FFBF69"/>
                </a:solidFill>
              </a:rPr>
              <a:t>int main(int argc, char** argv) {</a:t>
            </a:r>
          </a:p>
          <a:p xmlns:a="http://schemas.openxmlformats.org/drawingml/2006/main">
            <a:pPr>
              <a:defRPr sz="1575">
                <a:solidFill>
                  <a:srgbClr val="FFBF69"/>
                </a:solidFill>
              </a:defRPr>
            </a:pPr>
            <a:r>
              <a:rPr sz="1575">
                <a:solidFill>
                  <a:srgbClr val="FFBF69"/>
                </a:solidFill>
              </a:rPr>
              <a:t>  MPI_Init(&amp;argc, &amp;argv);</a:t>
            </a:r>
          </a:p>
          <a:p xmlns:a="http://schemas.openxmlformats.org/drawingml/2006/main">
            <a:pPr>
              <a:defRPr sz="1575">
                <a:solidFill>
                  <a:srgbClr val="FFBF69"/>
                </a:solidFill>
              </a:defRPr>
            </a:pPr>
            <a:r>
              <a:rPr sz="1575">
                <a:solidFill>
                  <a:srgbClr val="FFBF69"/>
                </a:solidFill>
              </a:rPr>
              <a:t>  MPI_Comm_rank(MPI_COMM_WORLD, &amp;rank);</a:t>
            </a:r>
          </a:p>
          <a:p xmlns:a="http://schemas.openxmlformats.org/drawingml/2006/main">
            <a:pPr>
              <a:defRPr sz="1575">
                <a:solidFill>
                  <a:srgbClr val="FFBF69"/>
                </a:solidFill>
              </a:defRPr>
            </a:pPr>
            <a:r>
              <a:rPr sz="1575">
                <a:solidFill>
                  <a:srgbClr val="FFBF69"/>
                </a:solidFill>
              </a:rPr>
              <a:t>  MPI_Comm_size(MPI_COMM_WORLD, &amp;size);</a:t>
            </a:r>
          </a:p>
          <a:p xmlns:a="http://schemas.openxmlformats.org/drawingml/2006/main">
            <a:pPr>
              <a:defRPr sz="1575">
                <a:solidFill>
                  <a:srgbClr val="FFBF69"/>
                </a:solidFill>
              </a:defRPr>
            </a:pPr>
            <a:r>
              <a:rPr sz="1575">
                <a:solidFill>
                  <a:srgbClr val="FFBF69"/>
                </a:solidFill>
              </a:rPr>
              <a:t>  /* parallel work */</a:t>
            </a:r>
          </a:p>
          <a:p xmlns:a="http://schemas.openxmlformats.org/drawingml/2006/main">
            <a:pPr>
              <a:defRPr sz="1575">
                <a:solidFill>
                  <a:srgbClr val="FFBF69"/>
                </a:solidFill>
              </a:defRPr>
            </a:pPr>
            <a:r>
              <a:rPr sz="1575">
                <a:solidFill>
                  <a:srgbClr val="FFBF69"/>
                </a:solidFill>
              </a:rPr>
              <a:t>  MPI_Finalize();</a:t>
            </a:r>
          </a:p>
          <a:p xmlns:a="http://schemas.openxmlformats.org/drawingml/2006/main">
            <a:pPr>
              <a:defRPr sz="1575">
                <a:solidFill>
                  <a:srgbClr val="FFBF69"/>
                </a:solidFill>
              </a:defRPr>
            </a:pPr>
            <a:r>
              <a:rPr sz="1575">
                <a:solidFill>
                  <a:srgbClr val="FFBF69"/>
                </a:solidFill>
              </a:rPr>
              <a:t>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0922DE-FA91-4CFD-B338-1A9376820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381250"/>
            <a:ext cx="2952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476D2E-2DCE-4487-A8F2-669217AA8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3812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6A013D-4E71-46AD-84D1-E0462EA2A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533650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MPI code pattern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EF5807-38E1-4C5F-8ACE-9CC78D459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914650"/>
            <a:ext cx="25908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Read every MPI call by identifying communicator, rank/source/destination, datatype, count and tag.</a:t>
            </a:r>
          </a:p>
        </p:txBody>
      </p:sp>
    </p:spTree>
    <p:extLst>
      <p:ext uri="{BB962C8B-B14F-4D97-AF65-F5344CB8AC3E}">
        <p14:creationId xmlns:p14="http://schemas.microsoft.com/office/powerpoint/2010/main" val="7322315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1A79DD-6D72-44C1-A899-E043FB323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601753-3E56-4507-A21D-40CE39B67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Core MPI functions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5D58FA-E4F0-4338-87D3-8965042BF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List must-know calls.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02A54A-6561-479C-8940-DEC4F30F4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4CB46B-C81B-4FA1-9201-ED95B9A1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3990A8-09F0-4D02-9C33-712FE09E9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415F55-8983-4175-8083-384361628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MPI Functions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A802B0-BE0B-464E-9748-08D71EF29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678EF8-A90F-47C7-A508-9D71880DE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33E6D8-1948-4EB4-B5DD-DCC0691A2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52ABC5-C0C1-4C0D-8BA2-3674C087F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6215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MPI_Init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F19C33-4C12-4240-83AC-1E738B721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4315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Start MPI environment.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874050-A43F-4ECB-8534-1C4A08A0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040872-6C39-42C2-9B57-B985166DA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4CAB3C-1837-4D58-B9F9-718FFF9C5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6215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MPI_Comm_rank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C93990-F003-4585-B863-9E030C450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4315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Find current process rank.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89C16F-6F8E-4B58-8663-906EB655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DA3417-F0AB-4B91-BB74-4E14C7844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E33C78-E935-4B56-84D2-B3F81061C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7190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MPI_Comm_size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CD95D9-DBE2-40CB-AAEB-FFE7C72A8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5290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Find number of processes.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781CB0-5A93-427C-B8C2-D263C9BA1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EAE174-EC5C-4F66-8714-9B3BF3C2F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419D10-E36B-4FA7-8317-9C579F69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7190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MPI_Finalize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74F3D5-9A42-4154-89B1-48F18548B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5290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End MPI environment cleanly.</a:t>
            </a:r>
          </a:p>
        </p:txBody>
      </p:sp>
    </p:spTree>
    <p:extLst>
      <p:ext uri="{BB962C8B-B14F-4D97-AF65-F5344CB8AC3E}">
        <p14:creationId xmlns:p14="http://schemas.microsoft.com/office/powerpoint/2010/main" val="194258737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F353AD-DD8B-4235-9EFB-6D2828A4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60A253-404D-4ED9-94A8-CF7D4D8D5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Communicators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27676A-CCB0-473D-BBDE-FF0B38A8D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MPI_COMM_WORLD.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CBFFE8-9681-483F-AB43-2F4E9862D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019076-CEC5-4A75-AAE6-114FBD8A0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6D4A12-45C2-427B-913C-0136C1219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CAC50C-3D7C-4AEF-8EE3-1A3BC770E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MPI Functions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A985A3-B2FF-4348-88BB-A1168079A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2CAC2D-5D86-49BD-AC7F-21C91576B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9F1C"/>
                </a:solidFill>
              </a:defRPr>
            </a:pPr>
            <a:r>
              <a:rPr sz="3750" b="1">
                <a:solidFill>
                  <a:srgbClr val="FF9F1C"/>
                </a:solidFill>
              </a:rPr>
              <a:t>Communicator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9E7D6C-F5D5-4336-95D9-6CC4504D3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990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8FBFF"/>
                </a:solidFill>
              </a:defRPr>
            </a:pPr>
            <a:r>
              <a:rPr sz="2175">
                <a:solidFill>
                  <a:srgbClr val="F8FBFF"/>
                </a:solidFill>
              </a:rPr>
              <a:t>An MPI object that defines a group of processes that can communicate with each other.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6484CD-775E-4523-BDB6-B31D1CE5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6D0475-04EA-459D-881A-81326FF69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Group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9C4B63-E9B4-4983-9E7A-BAF8D05D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33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1BC845-76C4-4344-B270-1C6B62F4F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00A80F-9273-4F3F-A55C-8A495419F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48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Context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542F58-06B0-4009-BE40-FF94F6617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64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F9FC65-3435-4F00-90A9-8F69637C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49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7F8F74-3AA2-4A15-B32F-9E4B4D0D3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79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MPI_COMM_WORLD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A99E25-382F-48FE-A2CC-45EC77FF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95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3E0F1F-D758-4DDA-99A8-8C11C6D3F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DAE075-8A89-4A57-8AAC-026353732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10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Rank scope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B502A6-33A6-41E5-9CFD-7A6669C49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26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F740F9-04F6-4522-A79B-054D03CF9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211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F25AD4-66B9-4A1D-B0AE-20D42B00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41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Collectives</a:t>
            </a:r>
          </a:p>
        </p:txBody>
      </p:sp>
    </p:spTree>
    <p:extLst>
      <p:ext uri="{BB962C8B-B14F-4D97-AF65-F5344CB8AC3E}">
        <p14:creationId xmlns:p14="http://schemas.microsoft.com/office/powerpoint/2010/main" val="180846551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34D5B4-93FA-4021-9A23-08549E80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891A83-CBB8-44DF-827A-D0F455EE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Point-to-point communication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CB0A8B-D837-4A4F-B38D-1EC5144C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Introduce send and receive.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387DA6-F304-40F7-AC5E-72965321C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463EC5-C9BD-4836-B813-60D5BFA5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6A1EEB-E265-4841-9127-82B659759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384B0F-A905-499B-8E35-930EBC7D1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Point-to-point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3FD213-AB1F-4722-9637-CA6626FAB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A4AB27-6177-4145-9DFE-0E4A0E93A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B02CA2-D9EB-46AF-B091-9723D947E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Sender rank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A31875-A803-4255-95B3-6367871B6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9FB209-C36C-4E57-937F-94493F5C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776724-450F-4E48-A656-98098DE1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Message buffer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298A75-0A60-4BE0-B851-1320C50B5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B55E5F-56BC-442A-80C7-5B92BE63A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BE5CAA-B2A7-45E9-A9D4-88DC4C129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MPI_Send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83632B-789E-426F-8232-36F79F823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A06761-2C5E-4CB9-BA49-952C9B583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5120E4-D80C-4857-8699-6479274B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MPI_Recv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BBB23C-4286-4570-A316-245CAB02C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C10B87-B71F-4048-A677-293CE93A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2229F8-498E-4020-8C56-B22C99A0B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Receiver rank</a:t>
            </a:r>
          </a:p>
        </p:txBody>
      </p:sp>
    </p:spTree>
    <p:extLst>
      <p:ext uri="{BB962C8B-B14F-4D97-AF65-F5344CB8AC3E}">
        <p14:creationId xmlns:p14="http://schemas.microsoft.com/office/powerpoint/2010/main" val="44541978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41A4F3-D780-416A-91BD-253C8C724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ACCACF-8733-4D28-8FA2-63AC2EDD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MPI_Send and MPI_Recv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F446FF-3A26-4B69-99E4-3C5D2155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syntax essentials.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3A0E23-1DDE-470D-A02B-56575ECA1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7ABAA3-FF07-47DB-A122-1C03F657C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DAD52F-C4BB-4BFC-BF11-AC338DBC2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1805B9-04D7-4A28-99FD-B27BD2BA2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Point-to-point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A0EDDB-9251-4213-A810-17C1F585B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B19D66-F252-4DC0-AAF6-8A9DC7BD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95450"/>
            <a:ext cx="68580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B18E81-BB76-495A-9513-AE92242A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623887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FBF69"/>
                </a:solidFill>
              </a:defRPr>
            </a:pPr>
            <a:r>
              <a:rPr sz="1575">
                <a:solidFill>
                  <a:srgbClr val="FFBF69"/>
                </a:solidFill>
              </a:rPr>
              <a:t>MPI_Send(buf, count, datatype,</a:t>
            </a:r>
          </a:p>
          <a:p xmlns:a="http://schemas.openxmlformats.org/drawingml/2006/main">
            <a:pPr>
              <a:defRPr sz="1575">
                <a:solidFill>
                  <a:srgbClr val="FFBF69"/>
                </a:solidFill>
              </a:defRPr>
            </a:pPr>
            <a:r>
              <a:rPr sz="1575">
                <a:solidFill>
                  <a:srgbClr val="FFBF69"/>
                </a:solidFill>
              </a:rPr>
              <a:t>         dest, tag, comm);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>
                <a:solidFill>
                  <a:srgbClr val="FFBF69"/>
                </a:solidFill>
              </a:defRPr>
            </a:pPr>
            <a:r>
              <a:rPr sz="1575">
                <a:solidFill>
                  <a:srgbClr val="FFBF69"/>
                </a:solidFill>
              </a:rPr>
              <a:t>MPI_Recv(buf, count, datatype,</a:t>
            </a:r>
          </a:p>
          <a:p xmlns:a="http://schemas.openxmlformats.org/drawingml/2006/main">
            <a:pPr>
              <a:defRPr sz="1575">
                <a:solidFill>
                  <a:srgbClr val="FFBF69"/>
                </a:solidFill>
              </a:defRPr>
            </a:pPr>
            <a:r>
              <a:rPr sz="1575">
                <a:solidFill>
                  <a:srgbClr val="FFBF69"/>
                </a:solidFill>
              </a:rPr>
              <a:t>         source, tag, comm, &amp;status);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C025D3-31A5-4FDA-9139-265DE95BF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381250"/>
            <a:ext cx="2952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63F0C0-1091-4270-87C2-C93D7B9CE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3812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1195C2-90D7-46F9-BC2D-D22506BDB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533650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MPI code pattern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BACC75-54A0-4756-B758-C5291A8A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914650"/>
            <a:ext cx="25908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Read every MPI call by identifying communicator, rank/source/destination, datatype, count and tag.</a:t>
            </a:r>
          </a:p>
        </p:txBody>
      </p:sp>
    </p:spTree>
    <p:extLst>
      <p:ext uri="{BB962C8B-B14F-4D97-AF65-F5344CB8AC3E}">
        <p14:creationId xmlns:p14="http://schemas.microsoft.com/office/powerpoint/2010/main" val="139335737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7907CB2-D837-4868-971F-C2F87A1C3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500371-B798-464B-B46C-73492A72A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Send/receive message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C8C4D5-6BBF-4AB2-92F0-D5703098B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Visualize one-to-one transfer.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6764EF-F158-4EFC-816C-B23FC47B8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E08BF7-8996-4E8A-A076-747AD0FB9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55A68E-D1FF-4898-8768-88C93ED89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CC164F-484C-487E-9300-477B69692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Point-to-point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D0266C-735A-40AF-B47A-8F2780A98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4F36DE-F530-4A7F-A9D7-21374189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00250"/>
            <a:ext cx="157162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667AA9-ED0E-40F6-BB43-4DD7BC36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00250"/>
            <a:ext cx="76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382B78-E6AF-4F06-A4FE-743098756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152650"/>
            <a:ext cx="1209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Rank 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6B02D6-1E87-4C4D-BB1E-29F470201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533650"/>
            <a:ext cx="12096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Process with private memory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3AF5D4-8225-40CE-864D-ECF2C017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0250"/>
            <a:ext cx="157162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387A69-9CA1-457C-8187-759BCA2A2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0250"/>
            <a:ext cx="76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315F17-E5FF-4489-8EA3-65EA4DDBE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152650"/>
            <a:ext cx="1209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C4B6"/>
                </a:solidFill>
              </a:defRPr>
            </a:pPr>
            <a:r>
              <a:rPr sz="1725" b="1">
                <a:solidFill>
                  <a:srgbClr val="2EC4B6"/>
                </a:solidFill>
              </a:rPr>
              <a:t>Rank 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1F5664-EE14-47EE-A2A0-D68DD700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533650"/>
            <a:ext cx="12096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Process with private memory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F0FBFA-1546-4CF5-A119-E6C0F6D08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000250"/>
            <a:ext cx="157162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465A89-A628-48F0-862C-5AC57619D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000250"/>
            <a:ext cx="76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F54D5A-BAE3-4D0D-B681-5E564AC01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152650"/>
            <a:ext cx="1209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Rank 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3955B3-06EA-4F4D-8723-D30015CE3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533650"/>
            <a:ext cx="12096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Process with private memory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95CEC5-6184-4176-ADDF-719C141C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0250"/>
            <a:ext cx="157162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A875A3-E105-4159-AF44-BA47B40D1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0250"/>
            <a:ext cx="76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C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BCB29A-9F3B-48BB-9468-08007E051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52650"/>
            <a:ext cx="1209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7C8FF"/>
                </a:solidFill>
              </a:defRPr>
            </a:pPr>
            <a:r>
              <a:rPr sz="1725" b="1">
                <a:solidFill>
                  <a:srgbClr val="77C8FF"/>
                </a:solidFill>
              </a:rPr>
              <a:t>Rank 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6CFBFE-0FBC-493F-884A-F251FD4C4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33650"/>
            <a:ext cx="12096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Process with private memory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FD01BB-5ADD-4195-BC0C-75C20C548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43375"/>
            <a:ext cx="16611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FF9F1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41F4BF-92FA-45BE-AB9E-59E949FCF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14825"/>
            <a:ext cx="14325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Rank 0 prepares data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5E7405-D7A1-4ED0-9FA8-2173465C0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443865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20216A-E54E-4C2C-A491-AB806CED0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4210" y="4143375"/>
            <a:ext cx="16611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FF9F1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FB3432-F814-497F-ACAC-D3B1FA84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8510" y="4314825"/>
            <a:ext cx="14325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MPI_Send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438D66-0E54-4690-A48D-CACFDF8B7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1570" y="443865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49C659-3C7D-4998-82E0-464C6DB1A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5420" y="4143375"/>
            <a:ext cx="16611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FF9F1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6A071E-2BF6-4311-8A8E-2AFBD3B2D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9720" y="4314825"/>
            <a:ext cx="14325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Network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0B4D31-3BE9-4249-AFAC-BDC2B59A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2780" y="443865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74A96E3-A6BA-47EB-81B4-FFAF25A9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143375"/>
            <a:ext cx="16611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FF9F1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7128399-CFAA-4C27-B46A-1E1FD626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0930" y="4314825"/>
            <a:ext cx="14325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MPI_Recv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3A8FA9-DF75-4C80-A076-96D902007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3990" y="443865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830D366-CD39-4C31-B83C-7B847CBC0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0" y="4143375"/>
            <a:ext cx="16611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FF9F1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635CC1C-2380-4DA7-BACE-90CDF902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2140" y="4314825"/>
            <a:ext cx="14325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Rank 1 uses data</a:t>
            </a:r>
          </a:p>
        </p:txBody>
      </p:sp>
    </p:spTree>
    <p:extLst>
      <p:ext uri="{BB962C8B-B14F-4D97-AF65-F5344CB8AC3E}">
        <p14:creationId xmlns:p14="http://schemas.microsoft.com/office/powerpoint/2010/main" val="4984770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77D802-A3F0-4180-9EA4-3F3EA8210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0FA5C1-AA51-40CF-94EE-91899EEAA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Message tags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DA960E-9E1A-4FF9-A2DA-E822A5C6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why tags exist.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9D4739-E9BC-404A-8862-3E72B27A4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DCF2E0-D114-42AB-867C-F11F950D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06D049-3BB1-432A-B67C-52A9FB4C2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718B42-DE90-4B27-AC83-58CC0B440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Point-to-point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2685F4-F08B-4F5A-B91F-89A01A5B5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53E9C3-77FC-4577-90F1-40CFECCA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30480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0A6EFE-C01A-4CCD-8859-34B53371E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6BFE35-48AD-4D91-8147-36E4569C3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02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Source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029647-BBCA-4393-8E26-7D6FF6F6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81275"/>
            <a:ext cx="268605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Which rank sent the message.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206BDE-63C1-4C27-B92A-150BE8C8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30480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361B7D-E099-465E-B687-B3FFAEDB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F205ED-F1E2-44FD-B951-3C4E21621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002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Tag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ACD2C8-E39A-47BD-932C-4F78572AA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81275"/>
            <a:ext cx="268605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Which logical message this is.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B9F6D8-7D7D-4DF4-BD81-4738DD7D3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30480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4287A9-D161-4525-BEEF-988A7F1A4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0C433B-9216-46BF-B38A-48045D615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02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C4B6"/>
                </a:solidFill>
              </a:defRPr>
            </a:pPr>
            <a:r>
              <a:rPr sz="1725" b="1">
                <a:solidFill>
                  <a:srgbClr val="2EC4B6"/>
                </a:solidFill>
              </a:rPr>
              <a:t>Communicator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0D75C1-465C-41D4-9CCC-5E0DE0099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81275"/>
            <a:ext cx="268605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Which process group/context is used.</a:t>
            </a:r>
          </a:p>
        </p:txBody>
      </p:sp>
    </p:spTree>
    <p:extLst>
      <p:ext uri="{BB962C8B-B14F-4D97-AF65-F5344CB8AC3E}">
        <p14:creationId xmlns:p14="http://schemas.microsoft.com/office/powerpoint/2010/main" val="113488720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7DF185-D131-4624-9AD0-7E731B0A1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5AB22E-3974-4469-B451-3CCBD277B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Blocking communication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754CEF-5A58-4FD8-9163-6BEFE1EA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waiting behavior.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7E7973-0343-46E0-878D-66020D849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44577A-FA70-4668-AFEC-8F8B7BAC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B55E2D-3C2A-48AC-A0E8-6BB731C31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70B5A1-1D12-493E-8506-F8EB8354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Point-to-point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54AB65-CC54-487F-8E38-B0016163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B1AC7F-C64E-4A29-97CE-996F20380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9F1C"/>
                </a:solidFill>
              </a:defRPr>
            </a:pPr>
            <a:r>
              <a:rPr sz="3750" b="1">
                <a:solidFill>
                  <a:srgbClr val="FF9F1C"/>
                </a:solidFill>
              </a:rPr>
              <a:t>Blocking call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8D8BC1-8777-4F35-958C-0B0C5956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990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8FBFF"/>
                </a:solidFill>
              </a:defRPr>
            </a:pPr>
            <a:r>
              <a:rPr sz="2175">
                <a:solidFill>
                  <a:srgbClr val="F8FBFF"/>
                </a:solidFill>
              </a:rPr>
              <a:t>A communication call that does not return until its local completion condition is satisfied.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FAD9F4-C70D-4724-86E2-59C301F78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00C74E-B87C-4090-A875-6F243524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Wait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38AD30-3E22-41C3-B8BE-27602FF23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33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C61888-4077-41F8-8FCF-57E07F8F8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44BDCF-6BBD-4935-82B0-641B43508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48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Safety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BEBF1F-F047-47A6-A408-8D323F965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64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25B843-D340-45E2-85EA-F96F1207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49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9A3546-0CBC-4CEA-BA3F-4D4A9E5F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79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Ordering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8A9161-26C3-4A06-99C6-3B32D2730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95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D8CF4D-FA4B-46B2-B78C-9A3423328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79E543-DB23-4B4E-8B63-37FD29B2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10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Possible deadlock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838B4C-6BA5-402E-A276-3F99E569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26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8B6B22-758C-4FFC-A46D-3E63CECE3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211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93C081-EC8D-470E-802A-17F6D8CB3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41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Simpler code</a:t>
            </a:r>
          </a:p>
        </p:txBody>
      </p:sp>
    </p:spTree>
    <p:extLst>
      <p:ext uri="{BB962C8B-B14F-4D97-AF65-F5344CB8AC3E}">
        <p14:creationId xmlns:p14="http://schemas.microsoft.com/office/powerpoint/2010/main" val="158193337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CA1C19-C948-4931-B6FF-F2F9E5DA5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18C7F1-9C3C-44A4-9867-351160C78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Deadlock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070052-F931-42E4-95D8-1B6FD080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Connect to lab experiment.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2F1E54-25A7-465D-BE89-4293EBB5E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622EC3-011B-43B8-A0BB-F9C98AC4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17CDF4-C1FF-4A4B-A19F-885E0DA04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8C012B-EA39-4099-AB4A-7701EDF43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Point-to-point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E779A4-AE62-4E64-8F1F-96CCE2AB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496C3C-A14C-4768-94E6-79C841B54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B57BEE-52C2-467A-819D-91832D29D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Rank 0 waits to receive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36CFE5-FAB9-4A69-B892-0B61CFA86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7A8C80-2D70-4F34-B431-7124AD5C3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AB4C64-CD2A-4B7F-9266-FA3FA22C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Rank 1 waits to receive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DAA029-956A-4123-ABA4-0740442E9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655D58-A5A7-4DB7-A80A-352783717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8071D0-622C-4D48-AB2C-EB69B1E49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No send happens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5128A1-99C2-48A0-88AF-0F1FF1C91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863380-DD9C-4436-A2C7-915773562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3A36F1-4B6A-4D0D-9CC3-1B66061A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Both wait forever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B81526-2AF6-44B5-ADE2-F465B4D7D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B8ADBB-CEC5-4AD4-A3DC-1EAECFAD2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B90D67-AA5D-49C4-8F51-7E95060B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Deadlock</a:t>
            </a:r>
          </a:p>
        </p:txBody>
      </p:sp>
    </p:spTree>
    <p:extLst>
      <p:ext uri="{BB962C8B-B14F-4D97-AF65-F5344CB8AC3E}">
        <p14:creationId xmlns:p14="http://schemas.microsoft.com/office/powerpoint/2010/main" val="60081219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7C8A13-E42A-449A-B815-D7CB42CA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BE223F-5EAE-41E8-A450-43709D011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Avoiding simple deadlock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042A67-0612-4941-8F21-FBFD680F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safe sequence.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C20B99-7AFB-4866-8861-31AF9807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854BC8-D389-4A4C-B7E8-6F3850C1F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37D0AE-FC44-45C8-B116-859266FC6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C0CDBD-B9B7-4E5E-A8BC-512AFF021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Point-to-point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9681FE-E2D5-4E29-B465-09F443F46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6ED972-195E-4A9D-A27A-F14B65132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16AAB3-A094-4CCF-94AD-CA93F2484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Rank 0 sends first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9329AD-0D3F-4982-B680-30EFF2E3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CEB1FB-256C-4988-9DD7-C7FC2E31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239CA4-8A31-4293-A02D-00F9A15D5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Rank 1 receives first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C59D24-FDB9-4C99-93C7-FECEE3B31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617122-FCEF-4F9C-A5E7-ABFB85A5F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1978FC-61D1-4001-B454-AEC980E6C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Rank 1 sends reply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D96569-1AED-4AF8-AF69-EE92E928E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68CC15-F991-42F0-8F01-DBE64DD53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549396-11B8-4222-8A75-7F068EFD2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Rank 0 receives reply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224DE0-345A-444E-A3B7-D6D9B5CC0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0167C1-50B3-4289-9DB9-9A0731825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D871EC-6EB8-4E80-B5C3-030E02ED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Both continue</a:t>
            </a:r>
          </a:p>
        </p:txBody>
      </p:sp>
    </p:spTree>
    <p:extLst>
      <p:ext uri="{BB962C8B-B14F-4D97-AF65-F5344CB8AC3E}">
        <p14:creationId xmlns:p14="http://schemas.microsoft.com/office/powerpoint/2010/main" val="109777489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421DBD-0573-4C72-BBC3-35849B57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469B83-FEA2-4FDC-8EFB-CEB94D9E7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Numerical integration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9FE7F0-8F4B-497F-938C-9E3F7128C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Introduce trapezoidal rule.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B9CA50-E31F-4745-BB98-D32E5E826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D11964-6C27-4EFE-B8F9-AB497A82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E58870-74F3-43FC-8CBA-12FE9E9CF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CCB324-4BCE-4226-9AD5-4458E27DE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Trapezoidal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6A7A6E-CAA8-443D-A3A3-DC05044B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0F0EDD-1DC6-494C-BAB2-C7A0ADE7E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9F1C"/>
                </a:solidFill>
              </a:defRPr>
            </a:pPr>
            <a:r>
              <a:rPr sz="3750" b="1">
                <a:solidFill>
                  <a:srgbClr val="FF9F1C"/>
                </a:solidFill>
              </a:rPr>
              <a:t>Trapezoidal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629C85-9D29-4592-84E8-8497E761B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990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8FBFF"/>
                </a:solidFill>
              </a:defRPr>
            </a:pPr>
            <a:r>
              <a:rPr sz="2175">
                <a:solidFill>
                  <a:srgbClr val="F8FBFF"/>
                </a:solidFill>
              </a:rPr>
              <a:t>A numerical method that approximates an integral by dividing an interval into subintervals and summing trapezoid areas.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741930-90A2-418B-B5D6-E6B797F3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D35865-E3C9-486C-9340-D365E19DA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Integral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440BDF-C645-4A07-9D49-139384DE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33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FA21CD-0E4F-4318-BEE1-CD635D8B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541937-96C1-4017-B5DB-B4424A2F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48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Interval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AC7847-6A6E-419D-90DA-5EA2E9F85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64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6384AF-80E5-462A-A95C-B173E119E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49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7EABC7-8B05-4635-B8D1-3FD0DC2A4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79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Subintervals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A5BAA7-C3F7-4361-95A8-59688DF19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95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B81973-C95D-4E3B-97B9-E8F9D9DAB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D94BB0-B446-4727-A3C2-EAFB80D99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10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Function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A206A6-45CA-4187-97C7-94B52A497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26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8FB192-3EEA-4C2C-B6B7-416CC3718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211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AC82B7-17D3-4960-9952-05540E7DC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41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Approximation</a:t>
            </a:r>
          </a:p>
        </p:txBody>
      </p:sp>
    </p:spTree>
    <p:extLst>
      <p:ext uri="{BB962C8B-B14F-4D97-AF65-F5344CB8AC3E}">
        <p14:creationId xmlns:p14="http://schemas.microsoft.com/office/powerpoint/2010/main" val="137473930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3E20E4-6531-4486-80E8-0F9DE887F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9F3170-2206-4421-AECE-95FAD6220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Sequential trapezoidal rule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3B300D-2B2F-4FD6-BCCC-3CBC5675A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the serial workflow.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668AB2-DC45-48F7-8371-3773816D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DDEA05-6BE5-4445-970C-16FC5B933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3B43E3-5836-48DE-8D3C-24CC2CEA2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174665-3D80-40C7-A8E8-C9DAECECB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Trapezoidal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9AE2E6-045F-435C-ABDA-45291D6E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A796E3-E678-471B-92FC-FCB0B22A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C69CA3-9529-4074-9A28-F69C48A28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Input a,b,n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79E832-CDD6-49EF-8339-515EF2B8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1DAD6F-3C75-426E-BA1D-96382006D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FB0A08-95D3-4BAB-B314-2FF320C47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Compute 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8FF431-05D7-498A-97F8-D9E05B922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AAA74B-BC95-4DE9-9EC3-21737648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3BF367-C4F2-4C9B-98C4-E5AE128A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Loop over points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F2F18F-510A-44E0-BEB4-7046F5D5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12CD23-1437-497A-9CE8-F42723D76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5E3F19-77DE-41A8-8A1D-44D1CDDE0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Sum weighted f(x)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414A96-AB2D-40D2-B316-B90E0070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FA47AD-6018-434C-9440-82D73CC22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BABDCA-F022-49A5-B28A-E6EF5BA26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Return estimate</a:t>
            </a:r>
          </a:p>
        </p:txBody>
      </p:sp>
    </p:spTree>
    <p:extLst>
      <p:ext uri="{BB962C8B-B14F-4D97-AF65-F5344CB8AC3E}">
        <p14:creationId xmlns:p14="http://schemas.microsoft.com/office/powerpoint/2010/main" val="31193881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D0375A-3F15-416D-A6D8-70AA03E60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2CCB15-CB08-4E59-A3DE-AFC6A53C8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Trapezoidal formula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15EB8B-BA24-4C8E-9E2C-72250D267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formula in code-like form.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F4800B-F9BA-470B-A388-CDCB6ECD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107697-029F-451F-8557-243FD9F78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04E474-3FF0-427E-8BC1-7271B575C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06CCF4-A61D-4106-B45D-97A93740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Trapezoidal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DF9B50-7FDE-4488-A7DE-955CB37FD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021781-470F-410F-A436-7583D244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95450"/>
            <a:ext cx="68580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DC6D1C-40C5-4A4E-BBB5-17C98E9B7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623887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FBF69"/>
                </a:solidFill>
              </a:defRPr>
            </a:pPr>
            <a:r>
              <a:rPr sz="1575">
                <a:solidFill>
                  <a:srgbClr val="FFBF69"/>
                </a:solidFill>
              </a:rPr>
              <a:t>h = (b - a) / n</a:t>
            </a:r>
          </a:p>
          <a:p xmlns:a="http://schemas.openxmlformats.org/drawingml/2006/main">
            <a:pPr>
              <a:defRPr sz="1575">
                <a:solidFill>
                  <a:srgbClr val="FFBF69"/>
                </a:solidFill>
              </a:defRPr>
            </a:pPr>
            <a:r>
              <a:rPr sz="1575">
                <a:solidFill>
                  <a:srgbClr val="FFBF69"/>
                </a:solidFill>
              </a:rPr>
              <a:t>estimate = (f(a) + f(b)) / 2</a:t>
            </a:r>
          </a:p>
          <a:p xmlns:a="http://schemas.openxmlformats.org/drawingml/2006/main">
            <a:pPr>
              <a:defRPr sz="1575">
                <a:solidFill>
                  <a:srgbClr val="FFBF69"/>
                </a:solidFill>
              </a:defRPr>
            </a:pPr>
            <a:r>
              <a:rPr sz="1575">
                <a:solidFill>
                  <a:srgbClr val="FFBF69"/>
                </a:solidFill>
              </a:rPr>
              <a:t>for i = 1 to n-1:</a:t>
            </a:r>
          </a:p>
          <a:p xmlns:a="http://schemas.openxmlformats.org/drawingml/2006/main">
            <a:pPr>
              <a:defRPr sz="1575">
                <a:solidFill>
                  <a:srgbClr val="FFBF69"/>
                </a:solidFill>
              </a:defRPr>
            </a:pPr>
            <a:r>
              <a:rPr sz="1575">
                <a:solidFill>
                  <a:srgbClr val="FFBF69"/>
                </a:solidFill>
              </a:rPr>
              <a:t>    estimate += f(a + i*h)</a:t>
            </a:r>
          </a:p>
          <a:p xmlns:a="http://schemas.openxmlformats.org/drawingml/2006/main">
            <a:pPr>
              <a:defRPr sz="1575">
                <a:solidFill>
                  <a:srgbClr val="FFBF69"/>
                </a:solidFill>
              </a:defRPr>
            </a:pPr>
            <a:r>
              <a:rPr sz="1575">
                <a:solidFill>
                  <a:srgbClr val="FFBF69"/>
                </a:solidFill>
              </a:rPr>
              <a:t>estimate = estimate * 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195E0A-8D3A-448A-8105-A4CCA5A40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381250"/>
            <a:ext cx="2952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B8C369-2C60-44A4-AA09-FF66BD9DD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3812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74F7B8-84F0-4E8A-9865-256B0CFB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533650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MPI code pattern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960E9B-A633-4D58-BEB4-584449EB1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914650"/>
            <a:ext cx="25908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Read every MPI call by identifying communicator, rank/source/destination, datatype, count and tag.</a:t>
            </a:r>
          </a:p>
        </p:txBody>
      </p:sp>
    </p:spTree>
    <p:extLst>
      <p:ext uri="{BB962C8B-B14F-4D97-AF65-F5344CB8AC3E}">
        <p14:creationId xmlns:p14="http://schemas.microsoft.com/office/powerpoint/2010/main" val="91793969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5EAE03-07A9-4DC3-88D7-C6901B306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9DF778-9F83-46EE-8028-AED2A2C01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Parallelizing the trapezoidal rule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3C24DA-5C55-4F84-94D6-C83820A0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Divide subintervals among ranks.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F3FE52-053B-41AB-8E8E-905F4857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AA8818-977F-4EBE-8EF6-7A29123DC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8FBB28-51A4-49CC-AA3A-389B2D524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CB5D2E-0B1F-4A9A-A0A0-7D1DC551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Trapezoidal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CF9983-542D-490F-84F1-F7D704821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2B1ABD-D9B7-41DA-B4CE-B0984AF12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CB0093-4CD9-4208-98C3-517BA4EA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Split n intervals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CAC6F4-EBE5-4875-A846-494F536D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7DDB2C-66C2-48F6-88CF-2DB87A903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193B15-5C34-4DB3-BE9D-B57D9F629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Each rank computes local area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43B85E-24A7-473E-A153-4C8963103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187266-D5E9-4B67-844C-D8C96F571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EADD2E-D596-4420-A1F7-892056C2D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Send local result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511DE8-606A-47F9-9DEA-5A4E49BDC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7E83F2-C019-4916-AC49-D3BF721B0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57F086-545D-460C-AEAB-70C0E9DD2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Root sums results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D50069-BF26-4235-AE61-34B05938E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589961-9544-4484-84EE-0759C63A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283F23-9E71-4FDB-8A37-C8F22F6F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Print estimate</a:t>
            </a:r>
          </a:p>
        </p:txBody>
      </p:sp>
    </p:spTree>
    <p:extLst>
      <p:ext uri="{BB962C8B-B14F-4D97-AF65-F5344CB8AC3E}">
        <p14:creationId xmlns:p14="http://schemas.microsoft.com/office/powerpoint/2010/main" val="110965857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665C47-DB7C-40E3-89FC-0515D47BA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A21318-CE3E-4418-AD02-7A5C85ABA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Local interval assignment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307DD8-F880-4D9F-9B6D-829744D3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rank-based partitioning.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177421-2DD0-49A6-A8A7-B4DA5BD2D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C0E8A3-7EA3-4755-9EBE-B5B1BD6EC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779C4E-F377-43CC-BBF9-7798B92CF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100166-20C6-4770-B65D-14A248C5E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Trapezoidal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AA2A6D-18AF-4735-A0B5-29FAB9D91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576F2B-B916-423B-A522-7C7D94749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95450"/>
            <a:ext cx="68580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DF2056-A5ED-4E39-B26B-DB5049813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623887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FBF69"/>
                </a:solidFill>
              </a:defRPr>
            </a:pPr>
            <a:r>
              <a:rPr sz="1575">
                <a:solidFill>
                  <a:srgbClr val="FFBF69"/>
                </a:solidFill>
              </a:rPr>
              <a:t>local_n = n / comm_sz;</a:t>
            </a:r>
          </a:p>
          <a:p xmlns:a="http://schemas.openxmlformats.org/drawingml/2006/main">
            <a:pPr>
              <a:defRPr sz="1575">
                <a:solidFill>
                  <a:srgbClr val="FFBF69"/>
                </a:solidFill>
              </a:defRPr>
            </a:pPr>
            <a:r>
              <a:rPr sz="1575">
                <a:solidFill>
                  <a:srgbClr val="FFBF69"/>
                </a:solidFill>
              </a:rPr>
              <a:t>local_a = a + my_rank * local_n * h;</a:t>
            </a:r>
          </a:p>
          <a:p xmlns:a="http://schemas.openxmlformats.org/drawingml/2006/main">
            <a:pPr>
              <a:defRPr sz="1575">
                <a:solidFill>
                  <a:srgbClr val="FFBF69"/>
                </a:solidFill>
              </a:defRPr>
            </a:pPr>
            <a:r>
              <a:rPr sz="1575">
                <a:solidFill>
                  <a:srgbClr val="FFBF69"/>
                </a:solidFill>
              </a:rPr>
              <a:t>local_b = local_a + local_n * h;</a:t>
            </a:r>
          </a:p>
          <a:p xmlns:a="http://schemas.openxmlformats.org/drawingml/2006/main">
            <a:pPr>
              <a:defRPr sz="1575">
                <a:solidFill>
                  <a:srgbClr val="FFBF69"/>
                </a:solidFill>
              </a:defRPr>
            </a:pPr>
            <a:r>
              <a:rPr sz="1575">
                <a:solidFill>
                  <a:srgbClr val="FFBF69"/>
                </a:solidFill>
              </a:rPr>
              <a:t>local_int = Trap(local_a, local_b, local_n, h);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611101-06E3-4DD3-ACBA-D75022AD5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381250"/>
            <a:ext cx="2952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2770B6-95F7-4AD7-8A55-A72DB960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3812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4C80AA-566C-469D-AF41-83DCFB358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533650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MPI code pattern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4189F0-EB84-44E7-9B4E-E7B053801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914650"/>
            <a:ext cx="25908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Read every MPI call by identifying communicator, rank/source/destination, datatype, count and tag.</a:t>
            </a:r>
          </a:p>
        </p:txBody>
      </p:sp>
    </p:spTree>
    <p:extLst>
      <p:ext uri="{BB962C8B-B14F-4D97-AF65-F5344CB8AC3E}">
        <p14:creationId xmlns:p14="http://schemas.microsoft.com/office/powerpoint/2010/main" val="98119106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9B290A-58C9-4F06-A9FE-893E5A55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827237-15D6-4CA2-956D-8268868DC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Manual reduction with send/receive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5FED4E-5FCE-490F-9124-D6825E055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root collection.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117979-0AA3-4C1C-8D93-2F6A91F86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949EAD-0575-4100-B5D2-FDC84B5EE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B6BCCF-D2D8-410D-A616-6DAC28ED1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FA5357-1932-4DCF-B097-8DEF6325E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Trapezoidal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51AE90-9058-41A7-81EF-2DB98CDAA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1EDF78-2B82-42D6-BB60-AED673922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445D36-E404-49BE-8AD0-49905580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Each rank computes local_int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3BE67A-650D-45F1-A201-DD38738A0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75968B-6E2C-479E-B5E7-97529541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CB5B25-87D4-45B8-9046-51F57F52C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Non-root sends to rank 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3BFDEE-00FD-45B1-AD22-D77F2EEC5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0BDED9-71B5-45AC-AA23-134C61F4A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7F1FED-9F11-4C25-ACF6-2E07C853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Rank 0 receives values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52AD0E-1439-4214-850C-9900EAA4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BFDD10-88E3-42CD-BB03-1BF815740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9B3496-7A40-4D3C-AAB6-EA1C3CB27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Rank 0 adds them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A9C848-7251-4434-A3C3-3A48FF3FB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BE428D-3804-403A-9889-F3139524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210874-A04D-434A-A297-95080BBAD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Rank 0 prints total</a:t>
            </a:r>
          </a:p>
        </p:txBody>
      </p:sp>
    </p:spTree>
    <p:extLst>
      <p:ext uri="{BB962C8B-B14F-4D97-AF65-F5344CB8AC3E}">
        <p14:creationId xmlns:p14="http://schemas.microsoft.com/office/powerpoint/2010/main" val="54352017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0538CA-8434-4877-A2E0-AE5C8CE68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89FECC-936A-4D74-84EB-CBADDC92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Dealing with I/O in MPI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9AFB31-FE18-40B8-92D3-53BA0BA56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why I/O is special.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8DF79C-11AF-4379-AA0B-BFB1AFCF1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84547C-3579-416E-9794-E9A90DAB6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13FC40-98A0-41D1-A860-288FD91D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2AECE8-9E9F-412A-B542-5CB4AB200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I/O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244DD6-9D98-44A1-B396-2A52DA8A8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329AEC-9819-4018-8CDC-3C48322B2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D4AE04-CD53-414A-881F-0B7AB4BA6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86F43A-D62E-4560-A2BD-5618B030B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6954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All ranks printing at once creates messy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55A42E-73CB-4610-9C98-25FD53F3A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59691E-FE89-4E20-B59B-A51CD5083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A8F016-C5C3-4A70-B82E-A75100840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2098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Input from keyboard is usually handled by one rank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C775B2-CA89-4E8C-8B20-D195BB97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1F8154-F639-4768-B9A8-FB185B1A5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3E959D-EEBB-45AE-9F12-DA964969D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7241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Root can read data and broadcast to others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885670-96EC-4909-85F4-0938B2CA3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C26264-12AC-4794-80F5-38BDA1D1C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C5597C-7497-4F25-BA22-532F67063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2385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Large file I/O may need coordinated parallel I/O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93BFD7-9C3A-4323-A2EE-E7CD04E4F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68D876-EF27-4C55-9931-94E4326A8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95B22B-01E2-4A95-A0BB-339AE0EB2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7528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I/O time can dominate performance</a:t>
            </a:r>
          </a:p>
        </p:txBody>
      </p:sp>
    </p:spTree>
    <p:extLst>
      <p:ext uri="{BB962C8B-B14F-4D97-AF65-F5344CB8AC3E}">
        <p14:creationId xmlns:p14="http://schemas.microsoft.com/office/powerpoint/2010/main" val="42127437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536018-9B0D-453E-8CEB-F5390403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7176B7-037A-4820-AF3D-C577223D4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Root-managed input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763BBD-49C2-4370-A980-566719981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common safe approach.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421B73-39F8-4032-B810-E979C270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1E0C38-0093-44D6-A284-C2186008E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0847B4-2B31-43EC-B3BE-A3193F19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76594E-FE88-4A0B-B2DD-2C1A1018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I/O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846058-8956-4E59-86D0-1855056D0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90F8C5-7624-49F1-BE48-6D7F47BF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7A20C8-546C-43F0-8055-E5EE520AA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Rank 0 reads input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838B20-7688-4963-A924-30B95264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C9FBEE-90DD-4D76-9520-803BEFBA3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DEAC50-6599-4BBB-9C69-BEF5D08A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Rank 0 validates values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CA1921-EF9E-47F0-B9F8-0672B04DA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68A664-0732-4F6A-BA55-1906B111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187D84-48AF-4BCC-80D5-E2D88B158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Broadcast input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3B05DD-44BF-493B-A6EB-5DF01696C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3EEB91-0EDF-4945-BC4F-133A5848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B2C376-97BF-4944-BE9A-F8C69DC7D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All ranks compute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128AE3-715E-4670-93A1-F6F09FF6E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05CC32-C4AB-4784-AA1F-C4C1893C0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CB2E5F-BDC1-4EE9-B4EB-1CBF3FE39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Rank 0 prints result</a:t>
            </a:r>
          </a:p>
        </p:txBody>
      </p:sp>
    </p:spTree>
    <p:extLst>
      <p:ext uri="{BB962C8B-B14F-4D97-AF65-F5344CB8AC3E}">
        <p14:creationId xmlns:p14="http://schemas.microsoft.com/office/powerpoint/2010/main" val="179518378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B1BE1B-A9A5-4D39-BA53-C3ECDD359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52EC71-EEC2-44D9-A6ED-741362B52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Ordered output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642ED2-D11E-4E92-AA2E-77871E6B9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Avoid messy printing.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44E55C-9022-4079-AAEB-79EBA384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F1E324-2ABD-45AE-9041-D97E189E3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8D8039-612E-47CD-AD86-89F5DE078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021E54-7871-4A19-9362-96E037C42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I/O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777F74-48EC-4015-A8C2-F3FA8CB6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D3FDA6-A833-4797-8FD9-438A9F29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6D3015-6050-4158-A469-D0DE99BC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Rank 0 prints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A2C7BE-9B87-4830-A556-0F057B182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67635B-7E85-43FF-B6B0-56B5EE9F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3AA846-AF25-4A62-B251-2C2223DEC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Rank 1 prints after signal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5E1EC7-B76B-421C-A74D-55CA3CF09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576B00-B1F5-4FAF-9F33-2985C7E6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815238-93E5-42BC-98C2-FD0BBA687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Rank 2 prints after signal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8912E7-8DF0-404D-9D27-B025D0CA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E91CF9-8F72-4E38-9DBB-66AD95921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77F49E-1454-4DD5-A290-482737208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...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1BE276-72F8-40C8-98D6-02B275A13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E4AE22-75FA-48A7-9A88-CF2CC2832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068F53-AC4D-47FE-99EC-9A7A286D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Readable output</a:t>
            </a:r>
          </a:p>
        </p:txBody>
      </p:sp>
    </p:spTree>
    <p:extLst>
      <p:ext uri="{BB962C8B-B14F-4D97-AF65-F5344CB8AC3E}">
        <p14:creationId xmlns:p14="http://schemas.microsoft.com/office/powerpoint/2010/main" val="166199427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36E7F3-BDEA-448B-8923-5F9CC0ECC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BB5697-F85A-4ADF-85CB-7E0C601C6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Collective communication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AB5C35-BD65-450B-9403-7D3944155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Define group operations.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A85B49-322E-4440-AAB8-D532DFFB7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281BC3-6198-4865-84B9-1DC31C8C8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FB6A5A-6115-4496-B243-8A58AD88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E936D8-8E96-4386-9854-D01B2C75F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Collectives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82B4B8-CDCA-4468-866A-8F7C3E328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86C94B-4976-4879-867A-4F479718B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9F1C"/>
                </a:solidFill>
              </a:defRPr>
            </a:pPr>
            <a:r>
              <a:rPr sz="3750" b="1">
                <a:solidFill>
                  <a:srgbClr val="FF9F1C"/>
                </a:solidFill>
              </a:rPr>
              <a:t>Collective communication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5E4C6E-B6D2-42D4-8164-4AC462005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990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8FBFF"/>
                </a:solidFill>
              </a:defRPr>
            </a:pPr>
            <a:r>
              <a:rPr sz="2175">
                <a:solidFill>
                  <a:srgbClr val="F8FBFF"/>
                </a:solidFill>
              </a:rPr>
              <a:t>MPI operations involving all processes in a communicator, used for broadcasting, scattering, gathering, reducing and synchronizing data.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FCC856-707B-4AB6-B9DF-B58405151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BF406E-9DC2-4422-A695-9E486D265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All ranks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252C9A-3DAA-4AB5-A2A2-729FBDBD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33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9D2FBB-A419-4B7B-BCE2-069B6FB3E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02FBFA-2CCA-4F14-9966-992A581D0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48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Communicator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E817A7-3581-44CD-A37B-AFBEF04B5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64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71ECB7-6AF8-4DD0-845F-3E10A0FB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49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7D47EF-8DFF-4FA4-9CD3-06E39B5E6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79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Broadcast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45CF39-2FB7-4D0E-8033-D8793EB0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95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D11147-B293-4A5D-A147-4783993F3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BAEBEE-366C-4274-A7A8-AAAA25DB2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10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Scatter/Gather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2E801C-BB36-4F0D-A949-1A38E92BB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26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439075-4E9F-4394-977B-8C26B2845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211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AF6B4F-CC46-4DD7-A3F5-DA0EDAFE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41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Reduce</a:t>
            </a:r>
          </a:p>
        </p:txBody>
      </p:sp>
    </p:spTree>
    <p:extLst>
      <p:ext uri="{BB962C8B-B14F-4D97-AF65-F5344CB8AC3E}">
        <p14:creationId xmlns:p14="http://schemas.microsoft.com/office/powerpoint/2010/main" val="133454375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F42328C-1CCC-4E4A-B5ED-113615A0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FC2510-87A4-48C4-AEFB-881AD5A71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MPI_Bcast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190A54-4E75-4EB8-B8D1-AF4469EF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broadcast.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781CD2-BA8A-4093-8FB3-341ADB82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48374E-55F1-4D84-A492-C35176409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B61144-B462-44AB-9096-36147E99F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EA1EB2-638C-45CC-AAA4-8E96EFD47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Collectives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C47566-C513-45C7-934A-143C451A5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69E70E-B10D-470C-8284-50E609FC0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00250"/>
            <a:ext cx="157162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56F47C-DBA9-438A-934D-CF546F226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00250"/>
            <a:ext cx="76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B08DCE-214B-47EF-9E57-84D7A46A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152650"/>
            <a:ext cx="1209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Rank 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B7B097-89D1-4A75-821E-3F73BC2DB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533650"/>
            <a:ext cx="12096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Process with private memory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30FE30-B090-4467-8BED-28CBC9EA7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0250"/>
            <a:ext cx="157162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DF45F8-FC2A-46E0-ACD2-E6587FFA2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0250"/>
            <a:ext cx="76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96B8E4-EB87-43BD-A619-4F6F48AEA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152650"/>
            <a:ext cx="1209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C4B6"/>
                </a:solidFill>
              </a:defRPr>
            </a:pPr>
            <a:r>
              <a:rPr sz="1725" b="1">
                <a:solidFill>
                  <a:srgbClr val="2EC4B6"/>
                </a:solidFill>
              </a:rPr>
              <a:t>Rank 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A6B191-6131-4E2B-B6F8-6F1E4CF4B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533650"/>
            <a:ext cx="12096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Process with private memory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019346-C784-4140-85C2-FBB5AFB93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000250"/>
            <a:ext cx="157162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A07533-BA02-4CDC-AA16-93E51B4F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000250"/>
            <a:ext cx="76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EDCFD8-7621-450B-8A8F-DBF89AB70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152650"/>
            <a:ext cx="1209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Rank 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A760BB-9E9E-4450-929D-83EA1BCDC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533650"/>
            <a:ext cx="12096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Process with private memory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5E1C96-9083-4272-BB97-D66ADDB9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0250"/>
            <a:ext cx="157162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3E6C50-C9E6-46D5-B2DE-C236EB6A6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0250"/>
            <a:ext cx="76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C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E49259-A7D0-45BC-B793-EDBBF0AA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52650"/>
            <a:ext cx="1209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7C8FF"/>
                </a:solidFill>
              </a:defRPr>
            </a:pPr>
            <a:r>
              <a:rPr sz="1725" b="1">
                <a:solidFill>
                  <a:srgbClr val="77C8FF"/>
                </a:solidFill>
              </a:rPr>
              <a:t>Rank 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0778AD-CEBB-48A4-9BF6-8FA5BE2CC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33650"/>
            <a:ext cx="12096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Process with private memory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4A693E-A04D-42A7-8771-F9C148E2C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95750"/>
            <a:ext cx="18097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BB8768-1272-4975-B8C7-C9C05B519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95750"/>
            <a:ext cx="762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1270A3-9826-40E7-AE99-6E13D0B0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248150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Root rank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4F70B7-6C56-44F5-9032-A3FB0334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629150"/>
            <a:ext cx="1447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Owns value first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ECE6CC-4405-4FF4-87BC-7B5807CE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29125"/>
            <a:ext cx="11430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2DD49A-57BC-4AE2-8CD5-C9F6481D6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429125"/>
            <a:ext cx="11430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B03C59-F27B-459D-A47A-9FF50566F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29125"/>
            <a:ext cx="11430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208389-7CD9-4958-8AED-BC7780DA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9587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7C8FF"/>
                </a:solidFill>
              </a:defRPr>
            </a:pPr>
            <a:r>
              <a:rPr sz="1800" b="1">
                <a:solidFill>
                  <a:srgbClr val="77C8FF"/>
                </a:solidFill>
              </a:rPr>
              <a:t>Same value reaches all ranks</a:t>
            </a:r>
          </a:p>
        </p:txBody>
      </p:sp>
    </p:spTree>
    <p:extLst>
      <p:ext uri="{BB962C8B-B14F-4D97-AF65-F5344CB8AC3E}">
        <p14:creationId xmlns:p14="http://schemas.microsoft.com/office/powerpoint/2010/main" val="73215207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279D27-6DCB-4609-88D5-CDC4AF043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2D172D-D01A-4EF1-91B1-705D103D2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Broadcast syntax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D240D9-07EE-4DF4-A585-2A11FE605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function signature idea.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593B54-6A82-44D1-A9F0-BFDE788A1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57E47C-FC3C-49DB-AE8D-81D696382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BE6877-985A-4C3B-AB88-C0AF9D3BC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86D5E7-5763-44E0-844B-B102230D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Collectives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5AB237-E798-4DCD-B125-58885F824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D57587-F058-43DB-9E43-440651CD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95450"/>
            <a:ext cx="68580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36A112-6ABC-405B-980A-A76542CC2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623887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FBF69"/>
                </a:solidFill>
              </a:defRPr>
            </a:pPr>
            <a:r>
              <a:rPr sz="1575">
                <a:solidFill>
                  <a:srgbClr val="FFBF69"/>
                </a:solidFill>
              </a:rPr>
              <a:t>MPI_Bcast(buffer, count, datatype,</a:t>
            </a:r>
          </a:p>
          <a:p xmlns:a="http://schemas.openxmlformats.org/drawingml/2006/main">
            <a:pPr>
              <a:defRPr sz="1575">
                <a:solidFill>
                  <a:srgbClr val="FFBF69"/>
                </a:solidFill>
              </a:defRPr>
            </a:pPr>
            <a:r>
              <a:rPr sz="1575">
                <a:solidFill>
                  <a:srgbClr val="FFBF69"/>
                </a:solidFill>
              </a:rPr>
              <a:t>          root, MPI_COMM_WORLD);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5342E9-E177-4922-9DD3-F543C197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381250"/>
            <a:ext cx="2952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EC76F3-77EC-4125-AFA2-7A1E688D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3812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7A36E5-D34C-43F2-8791-F23EE6779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533650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MPI code pattern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BE89A3-2FC6-4361-BEDF-18A7820D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914650"/>
            <a:ext cx="25908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Read every MPI call by identifying communicator, rank/source/destination, datatype, count and tag.</a:t>
            </a:r>
          </a:p>
        </p:txBody>
      </p:sp>
    </p:spTree>
    <p:extLst>
      <p:ext uri="{BB962C8B-B14F-4D97-AF65-F5344CB8AC3E}">
        <p14:creationId xmlns:p14="http://schemas.microsoft.com/office/powerpoint/2010/main" val="100150854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1769F5A-8541-48A1-985A-5BA197AEC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D88855-8962-4A4D-B372-9528FF140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MPI_Scatter and MPI_Gather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A38EE5-9C32-4C86-B53F-3F80EF5F8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data distribution and collection.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512BA5-EDD7-4AEB-BCAA-AC09F6692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D2D36E-FFBD-4050-AE29-B6EFD22E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7F676C-770C-43B3-A283-9CA698101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BF6E6E-84D4-4506-8532-5FB36119D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Collectives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F6915A-4CA7-4E39-AEA0-2BBB6B04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8EC386-3B76-45E0-B7C3-A4F518561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00250"/>
            <a:ext cx="157162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15654C-3747-4F3E-A088-8B7C605D2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00250"/>
            <a:ext cx="76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E9ED40-E644-4DA1-BB0B-1BAC71457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152650"/>
            <a:ext cx="1209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Rank 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3D3FF8-D7AB-420F-9849-EE7980A5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533650"/>
            <a:ext cx="12096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Process with private memory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4C9B8C-159D-44EB-AA58-923479D9F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0250"/>
            <a:ext cx="157162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A0E086-DFE3-4EB0-B395-E22173B62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0250"/>
            <a:ext cx="76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AAD913-BF73-450E-946C-AA88138E6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152650"/>
            <a:ext cx="1209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C4B6"/>
                </a:solidFill>
              </a:defRPr>
            </a:pPr>
            <a:r>
              <a:rPr sz="1725" b="1">
                <a:solidFill>
                  <a:srgbClr val="2EC4B6"/>
                </a:solidFill>
              </a:rPr>
              <a:t>Rank 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DED94F-7F18-434D-B8BF-4AD96C52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533650"/>
            <a:ext cx="12096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Process with private memory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DD4F8F-4C03-45E9-B987-66BA487C6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000250"/>
            <a:ext cx="157162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7136DE-EF48-4A19-A51F-A7AA9A88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000250"/>
            <a:ext cx="76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156907-009C-4702-A123-869A8A94C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152650"/>
            <a:ext cx="1209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Rank 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5CFE34-2D27-490B-B50A-74998479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533650"/>
            <a:ext cx="12096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Process with private memory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5BCFEE-AC7A-4D35-9A3A-9E6AA0316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0250"/>
            <a:ext cx="157162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2F44D5-8846-4D0D-A488-2A0F25A00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0250"/>
            <a:ext cx="76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C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019792-18E6-4C49-8972-77DF7DB23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52650"/>
            <a:ext cx="1209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7C8FF"/>
                </a:solidFill>
              </a:defRPr>
            </a:pPr>
            <a:r>
              <a:rPr sz="1725" b="1">
                <a:solidFill>
                  <a:srgbClr val="77C8FF"/>
                </a:solidFill>
              </a:rPr>
              <a:t>Rank 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483A59-4D1E-4E38-B787-F61A0C79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33650"/>
            <a:ext cx="12096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Process with private memory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DA0EE5-D6AF-461B-B391-FBD43152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43375"/>
            <a:ext cx="16611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FF9F1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41AEC1-4F92-44D7-894B-A215C6E43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14825"/>
            <a:ext cx="14325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Root array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263694-7C1D-4001-ABBB-BAE52B6D6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443865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AA3B1E-DA27-4BB1-88F9-1B8D716C7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4210" y="4143375"/>
            <a:ext cx="16611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FF9F1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C9AC35-AA21-4336-8D37-CDE69308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8510" y="4314825"/>
            <a:ext cx="14325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Scatter chunks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2E5019-6A90-44B8-8FC7-5009C91DC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1570" y="443865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21C1A3-9472-4ED6-AE67-4049475D0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5420" y="4143375"/>
            <a:ext cx="16611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FF9F1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FAD831-CB86-4861-ADD7-1A7719852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9720" y="4314825"/>
            <a:ext cx="14325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Each rank gets part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E0ACDE-64A7-40E7-AA8A-2BC879D1F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2780" y="443865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FCD96B-C297-40C2-BA83-1A85FC57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143375"/>
            <a:ext cx="16611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FF9F1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DEB4BFD-45BD-4DF8-86D5-1C80CCBF3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0930" y="4314825"/>
            <a:ext cx="14325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Local compute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7F7326-8BE1-4B95-8EDC-6CC3F8B6D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3990" y="443865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C71A11E-132A-4BC0-91C8-761167511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0" y="4143375"/>
            <a:ext cx="16611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FF9F1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7B075AB-82BF-468D-8FB0-CAC2AB3F3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2140" y="4314825"/>
            <a:ext cx="14325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Optional gather</a:t>
            </a:r>
          </a:p>
        </p:txBody>
      </p:sp>
    </p:spTree>
    <p:extLst>
      <p:ext uri="{BB962C8B-B14F-4D97-AF65-F5344CB8AC3E}">
        <p14:creationId xmlns:p14="http://schemas.microsoft.com/office/powerpoint/2010/main" val="46668904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2F4D39-3405-45E4-BC06-2EEB0699E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437732-F9D2-4C74-9664-EB7BB7FD0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Scatter/Gather syntax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67E7D3-BA1B-4309-90E6-5ACC9DDD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call pattern.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32CAB0-70E3-4489-BD4F-FEA43D3DF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322C5A-3070-43F4-8FFC-A1CDEBD0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E4E741-E3E4-4F69-A994-FF1FA65B3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82E817-550D-4C76-B156-BFE171450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Collectives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8450F3-7A07-44BA-B899-B945604B3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ABBAF4-4DA4-4D1C-A4F4-867928AF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95450"/>
            <a:ext cx="68580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DBE86C-4EF9-4279-8EA1-D809FD680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623887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FBF69"/>
                </a:solidFill>
              </a:defRPr>
            </a:pPr>
            <a:r>
              <a:rPr sz="1575">
                <a:solidFill>
                  <a:srgbClr val="FFBF69"/>
                </a:solidFill>
              </a:rPr>
              <a:t>MPI_Scatter(sendbuf, sendcount, type,</a:t>
            </a:r>
          </a:p>
          <a:p xmlns:a="http://schemas.openxmlformats.org/drawingml/2006/main">
            <a:pPr>
              <a:defRPr sz="1575">
                <a:solidFill>
                  <a:srgbClr val="FFBF69"/>
                </a:solidFill>
              </a:defRPr>
            </a:pPr>
            <a:r>
              <a:rPr sz="1575">
                <a:solidFill>
                  <a:srgbClr val="FFBF69"/>
                </a:solidFill>
              </a:rPr>
              <a:t>            recvbuf, recvcount, type,</a:t>
            </a:r>
          </a:p>
          <a:p xmlns:a="http://schemas.openxmlformats.org/drawingml/2006/main">
            <a:pPr>
              <a:defRPr sz="1575">
                <a:solidFill>
                  <a:srgbClr val="FFBF69"/>
                </a:solidFill>
              </a:defRPr>
            </a:pPr>
            <a:r>
              <a:rPr sz="1575">
                <a:solidFill>
                  <a:srgbClr val="FFBF69"/>
                </a:solidFill>
              </a:rPr>
              <a:t>            root, comm);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>
                <a:solidFill>
                  <a:srgbClr val="FFBF69"/>
                </a:solidFill>
              </a:defRPr>
            </a:pPr>
            <a:r>
              <a:rPr sz="1575">
                <a:solidFill>
                  <a:srgbClr val="FFBF69"/>
                </a:solidFill>
              </a:rPr>
              <a:t>MPI_Gather(sendbuf, sendcount, type,</a:t>
            </a:r>
          </a:p>
          <a:p xmlns:a="http://schemas.openxmlformats.org/drawingml/2006/main">
            <a:pPr>
              <a:defRPr sz="1575">
                <a:solidFill>
                  <a:srgbClr val="FFBF69"/>
                </a:solidFill>
              </a:defRPr>
            </a:pPr>
            <a:r>
              <a:rPr sz="1575">
                <a:solidFill>
                  <a:srgbClr val="FFBF69"/>
                </a:solidFill>
              </a:rPr>
              <a:t>           recvbuf, recvcount, type,</a:t>
            </a:r>
          </a:p>
          <a:p xmlns:a="http://schemas.openxmlformats.org/drawingml/2006/main">
            <a:pPr>
              <a:defRPr sz="1575">
                <a:solidFill>
                  <a:srgbClr val="FFBF69"/>
                </a:solidFill>
              </a:defRPr>
            </a:pPr>
            <a:r>
              <a:rPr sz="1575">
                <a:solidFill>
                  <a:srgbClr val="FFBF69"/>
                </a:solidFill>
              </a:rPr>
              <a:t>           root, comm);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A8BEAF-B94E-41A4-84F9-999EE4D8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381250"/>
            <a:ext cx="2952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A894F6-A9EF-4993-965B-2624EBDF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3812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AB1C1A-E9B2-49D4-9F34-DE4B4129E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533650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MPI code pattern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3E365E-C043-4BF5-88D6-FF422643F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914650"/>
            <a:ext cx="25908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Read every MPI call by identifying communicator, rank/source/destination, datatype, count and tag.</a:t>
            </a:r>
          </a:p>
        </p:txBody>
      </p:sp>
    </p:spTree>
    <p:extLst>
      <p:ext uri="{BB962C8B-B14F-4D97-AF65-F5344CB8AC3E}">
        <p14:creationId xmlns:p14="http://schemas.microsoft.com/office/powerpoint/2010/main" val="71772699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96681D3-3E76-466B-A008-24B5B4824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93E1F8-B1C4-488A-957D-D0F1263E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MPI_Reduce and MPI_Allreduce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9BAC07-937F-407A-9981-D4CA74E2D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combining values.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342475-2263-401A-A8AE-92131EC14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31C1CF-EACB-4F09-82A4-3216AB158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F7D004-9719-4204-B3D2-5659EF46F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7F72EF-E8A5-46C4-A31B-251517341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Collectives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F507D8-AD91-4829-A093-405BA39B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8011FF-D54E-4405-9541-707BE39C7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00250"/>
            <a:ext cx="157162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CD77E4-1032-4D17-9A6E-24ED94045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00250"/>
            <a:ext cx="76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F09B90-D25C-414F-96FC-8C98CE263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152650"/>
            <a:ext cx="1209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Rank 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AD1E81-5BEC-4CCF-BB55-72D9DABD2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533650"/>
            <a:ext cx="12096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Process with private memory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1B5404-6666-449D-8041-EAEE1B70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0250"/>
            <a:ext cx="157162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5D2A04-2555-419F-916E-47D4DF2F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0250"/>
            <a:ext cx="76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07B5B3-DD69-4ED1-90FC-A912D9D4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152650"/>
            <a:ext cx="1209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C4B6"/>
                </a:solidFill>
              </a:defRPr>
            </a:pPr>
            <a:r>
              <a:rPr sz="1725" b="1">
                <a:solidFill>
                  <a:srgbClr val="2EC4B6"/>
                </a:solidFill>
              </a:rPr>
              <a:t>Rank 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4056E6-1E8F-4FA2-A171-176416F9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533650"/>
            <a:ext cx="12096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Process with private memory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A667E5-B888-4226-8104-32994A0C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000250"/>
            <a:ext cx="157162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FAEB15-2FC3-4D53-80C4-F1E01DD8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000250"/>
            <a:ext cx="76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060F9E-5BAE-4755-B764-0BF1BEF98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152650"/>
            <a:ext cx="1209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Rank 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8FEF7A-676D-40AC-9E4A-87725D33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533650"/>
            <a:ext cx="12096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Process with private memory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6F6CCF-39A2-45DD-B52C-987E806B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0250"/>
            <a:ext cx="157162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8C1D0C-4BC3-4A42-85D6-214B7790F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0250"/>
            <a:ext cx="76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C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915B7C-A92C-491A-AEA1-6E91165A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52650"/>
            <a:ext cx="1209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7C8FF"/>
                </a:solidFill>
              </a:defRPr>
            </a:pPr>
            <a:r>
              <a:rPr sz="1725" b="1">
                <a:solidFill>
                  <a:srgbClr val="77C8FF"/>
                </a:solidFill>
              </a:rPr>
              <a:t>Rank 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969A40-2886-4360-9630-6B7ECD03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33650"/>
            <a:ext cx="12096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Process with private memory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0F3060-9F82-404C-8E79-143DFBDBF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43375"/>
            <a:ext cx="16611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FF9F1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363D02-6D0A-4C21-A1C3-6B9064D44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14825"/>
            <a:ext cx="14325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Local values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BD027A-CE8A-45CD-9191-1F14293F4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443865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3D516F-1896-4ECD-87B8-A017E608E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4210" y="4143375"/>
            <a:ext cx="16611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FF9F1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BE444E-6BF6-4780-B374-D6ACC5229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8510" y="4314825"/>
            <a:ext cx="14325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Tree communication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77A0BD-B1A3-428C-8AE1-A71463EB9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1570" y="443865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83CD3C-D79D-4EA2-8550-6AA68A1BB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5420" y="4143375"/>
            <a:ext cx="16611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FF9F1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AE50FB-37B3-480E-8972-B5455036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9720" y="4314825"/>
            <a:ext cx="14325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Combine operation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D2F938-FE09-42BA-80AD-F37658AD3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2780" y="443865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96BE92D-4071-44E6-A722-AAA6B56E4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143375"/>
            <a:ext cx="16611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FF9F1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009AC24-95AA-4E71-9F79-1EE71E43A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0930" y="4314825"/>
            <a:ext cx="14325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Root/all ranks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814024F-EC88-496C-8BB3-0C6DC12C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3990" y="443865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A79FFC2-7638-498C-BC23-5C0CBB706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0" y="4143375"/>
            <a:ext cx="16611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FF9F1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8C6CA7B-DA9E-479F-8B79-10CD9365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2140" y="4314825"/>
            <a:ext cx="14325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Final result</a:t>
            </a:r>
          </a:p>
        </p:txBody>
      </p:sp>
    </p:spTree>
    <p:extLst>
      <p:ext uri="{BB962C8B-B14F-4D97-AF65-F5344CB8AC3E}">
        <p14:creationId xmlns:p14="http://schemas.microsoft.com/office/powerpoint/2010/main" val="137250656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0A674C-C4D0-4CB3-BD79-410ED6A1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99F4F6-8C8B-4D7E-B5CF-8DD1F6744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Reduction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F7CF45-1BE7-46D6-A8E3-BEBC2A13A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List common operations.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C8E8E8-9286-4ADA-A650-A389185EC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B558EC-20F8-4019-9A24-C2585CA3F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E29027-C0D2-4627-B6D8-088FBE4A8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8E8C55-82A8-4C51-842B-D845E242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Collectives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0EF874-EAEE-4829-918F-6592BA74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37190D-4132-4A19-98E8-42A99E7F2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5AC616-9F17-4352-904E-127B9EA0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6D3986-15A7-4B70-BBDE-D6E2F30CB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6215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MPI_SUM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069EB3-E51A-474A-937C-3169AB22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4315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Add values.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49F977-AE4A-4BB4-82BB-894C5A32F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2E3709-B19A-4626-9E9D-BE55924F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62A87F-9807-400E-BF34-595138F6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6215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MPI_MAX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85C49E-D400-41D1-964A-7D5943D2A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4315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Find maximum.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23E1F3-E8B7-4F97-A100-27D454D53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E4E424-4983-4A7A-8BDA-07DA7BBF2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33BBC4-C7AE-4C94-8E18-DECAD583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7190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MPI_MIN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878961-C9F7-4D79-8E09-C8CDBA43D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5290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Find minimum.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983A1E-3DE1-4F6D-B2B9-0301ED368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A5B66D-1E8C-4E7C-9FD5-707BEA750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DF331B-6127-48FB-A68D-11280DF13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7190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MPI_PROD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2A545F-C3B0-467F-A32B-4C2F43242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5290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Multiply values.</a:t>
            </a:r>
          </a:p>
        </p:txBody>
      </p:sp>
    </p:spTree>
    <p:extLst>
      <p:ext uri="{BB962C8B-B14F-4D97-AF65-F5344CB8AC3E}">
        <p14:creationId xmlns:p14="http://schemas.microsoft.com/office/powerpoint/2010/main" val="62671839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1F31387-C1A9-427D-8D02-98171C8F3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298CCB-199F-4A7A-9EAE-54D96E970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Allreduce vs Reduce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5C00D8-CD0D-4C60-A0A1-EE1309E13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Compare result location.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991A2B-8C1D-45D6-B263-435EB8C6F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0F3D12-6E33-4F2F-9E0F-F994022A8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1A4632-7CCA-4345-AFC5-81460FEE0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9C080D-9833-4221-B155-C78FD2140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Collectives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FDDFF8-C647-490F-A2F2-EB32679B6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6F1B98-A909-4A25-A1E6-B9FC24154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CAD29B-B6BE-4245-AEA5-B014FFE5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A96D3F-AA67-4EDC-8E3C-E661372C1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MPI_Reduce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F7057F-A39E-40C3-86B4-2BD9BA52E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9CE7A6-4D6A-4472-90A5-61AE58192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E6D8CF-81DB-4AF6-91D6-7D12E4C03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B76EE0-AAE4-46B5-AE33-3E3BAA32D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716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MPI_Allreduce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B2B8EA-B71E-4F75-8FD5-3AA78B55E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52650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FE7090-6E86-4852-842A-04B42AAB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A47C3E-05E3-4399-9FD5-73F322E87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2BBCFB-6CF0-4DA4-B41B-972E11F6A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86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Combines values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369824-3D23-4776-8B31-EC93AB23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29F3DF-8820-4947-8464-469C6C5F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DF5D2F-9C28-4FAE-80C1-97708D66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003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Result available at root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0257BB-E6F1-4E30-AA4B-2B76271FD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F105E0-0300-4F88-B5EE-A8317ACFA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264040-0AE7-4E78-A2DA-DCE4611A1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Good for final output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85A883-A689-422C-A2A2-5105654F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FF6F45-2B0C-43AD-BDA6-53966DAFD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62D209-BF53-4B50-8ABA-5EA111FA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290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Less data returned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3E47C6-786D-47C6-B4FB-3703B237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1FF3FF-1AE3-414F-AB8B-CBA29880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694458-1571-41B7-9635-BA068DC40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86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Combines values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6983C1-04FA-489A-BF14-B34F3F763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E0E42D7-763E-46C2-A2B1-432375AB0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576F572-F81E-4951-8407-005C2DCE5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003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Result available at every rank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5580B0F-7F23-4131-B1FF-85EF3743D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4F4D253-72E2-4EB7-B8FA-6F678845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E7A6C5F-B5BE-4B67-AC2B-84422E7CF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147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Good for iterative algorithms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68C150-9673-4632-A9F9-B1710DE96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4AE6CF8-2FA8-495B-9D66-16869DF1A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671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4DCCF90-B746-4AF6-9683-1E0854EFD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290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More communication</a:t>
            </a:r>
          </a:p>
        </p:txBody>
      </p:sp>
    </p:spTree>
    <p:extLst>
      <p:ext uri="{BB962C8B-B14F-4D97-AF65-F5344CB8AC3E}">
        <p14:creationId xmlns:p14="http://schemas.microsoft.com/office/powerpoint/2010/main" val="35269728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A2EB8F-4C23-4820-A565-EE79F0162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3657EB-A192-495E-9A32-C47942E19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Barrier synchronization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40B773-4D67-4983-B1A5-39EC79388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MPI_Barrier.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2C14F3-CC91-426E-91A0-91205FD9A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5DE6DB-671C-41E5-9D52-1B21069A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3C959F-5482-4ADB-A42C-2C5C9BB0C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2B8F5B-B5F7-4F2A-B88B-C2AF4D07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Collectives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865816-BCBD-493A-8457-21AF07184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EFA958-41E5-412D-9F28-6A00B591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9F1C"/>
                </a:solidFill>
              </a:defRPr>
            </a:pPr>
            <a:r>
              <a:rPr sz="3750" b="1">
                <a:solidFill>
                  <a:srgbClr val="FF9F1C"/>
                </a:solidFill>
              </a:rPr>
              <a:t>MPI_Barrier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A130AD-224F-4BE8-8175-D0B275E5D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990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8FBFF"/>
                </a:solidFill>
              </a:defRPr>
            </a:pPr>
            <a:r>
              <a:rPr sz="2175">
                <a:solidFill>
                  <a:srgbClr val="F8FBFF"/>
                </a:solidFill>
              </a:rPr>
              <a:t>A collective synchronization call where every process waits until all processes in the communicator reach the barrier.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9F0167-E006-47D0-9553-1CEF6B8B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21E337-C06E-4260-9AF3-235C12986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All ranks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DCAD80-85FE-4E40-9FAD-B26DB8B74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33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2A272C-A680-444A-BEAB-118CAEE4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9CEB23-4C91-46B3-8C39-E6D785C97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48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Wait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11399A-3A10-49EC-9FF3-911828981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64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E72166-17E0-4CB3-BC3B-95C5B696E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49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8B2E7F-F89A-4CBC-8FB6-AEF76919B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79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Synchronization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1D29D3-6E0C-49A9-8B69-E2200E18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95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7D782E-A3DC-47A7-9152-3D4176F41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3147AA-CEC3-4738-A599-7140AD84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10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Timing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3C8499-7173-43D8-BF40-F211D44C6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26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270976-A5A5-4E8A-82E7-5127983F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211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EC14F5-5D33-4F3C-98E8-0D66BA09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41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Debugging</a:t>
            </a:r>
          </a:p>
        </p:txBody>
      </p:sp>
    </p:spTree>
    <p:extLst>
      <p:ext uri="{BB962C8B-B14F-4D97-AF65-F5344CB8AC3E}">
        <p14:creationId xmlns:p14="http://schemas.microsoft.com/office/powerpoint/2010/main" val="164957811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295A17-5844-4FAC-98BB-902DA8187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CE587B-2890-47C0-B325-7E8FD350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MPI datatypes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3F24CE-EDDE-4803-A9A0-EF86C4D7C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Introduce built-in datatypes.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865182-60DB-4DB6-98D9-451AD964E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397B61-A4B6-4001-9821-5AB7DD5C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A87CEB-E68A-4EC8-AFAF-5B548B725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394E2B-1930-41C9-868B-7030FBD8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Datatypes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41BC96-BEA5-4765-A86B-16F6CAC62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92EA08-080F-491C-92DD-2870DC6A4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728AC3-F49B-4896-A9BC-829BEB21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141E9A-7A12-4C95-8263-56FA3C045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6954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MPI_INT for C int values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7B1BCF-956C-4BC4-AC0E-AA7A2EECD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ED435D-A12E-467A-B559-8D1CE434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008B09-997B-4A64-9C05-DD5FD1EB9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2098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MPI_DOUBLE for double values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D97A5-5E12-4FD6-8E2E-CA1FA0F2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3FCBF4-A916-4FFF-9139-630D64DC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B677EC-4176-449F-A7C3-DF1EA5559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7241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MPI_CHAR for characters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9A19DD-7DBA-4F0A-822C-51B6A336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FA98F5-ED7C-49EC-9BBB-AF35B3785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195C50-22C3-489E-A19E-6F549CCAC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2385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MPI_FLOAT for float values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1764B1-AF2A-4F44-B5D5-85502DC41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5DFC11-B89C-49E6-82B4-6BF03E44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C6F021-ADD6-49B9-8E98-2AF8E5E87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7528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Datatype must match buffer memory layout</a:t>
            </a:r>
          </a:p>
        </p:txBody>
      </p:sp>
    </p:spTree>
    <p:extLst>
      <p:ext uri="{BB962C8B-B14F-4D97-AF65-F5344CB8AC3E}">
        <p14:creationId xmlns:p14="http://schemas.microsoft.com/office/powerpoint/2010/main" val="94890631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A22197-13BD-4795-8674-17B63852C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205489-78E8-40A1-8E3B-444861AA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Why derived datatypes?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568C3F-FED7-40CC-84E3-9CED43A9C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Motivate custom memory layouts.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E729E9-CFAA-41AB-A7B4-EF7340DCB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FC74EE-8226-4C49-9716-FB3D51DCF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EBB236-6E68-4DC8-9028-A7C804FE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B335A2-2882-4DF3-95B8-6205946C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Datatypes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14FBA4-9251-40E7-A66B-A0627E748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94B48B-5D01-465B-AD97-D50A8542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9F1C"/>
                </a:solidFill>
              </a:defRPr>
            </a:pPr>
            <a:r>
              <a:rPr sz="3750" b="1">
                <a:solidFill>
                  <a:srgbClr val="FF9F1C"/>
                </a:solidFill>
              </a:rPr>
              <a:t>Derived datatype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193280-7D5F-408A-905A-1DEA9C3C9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990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8FBFF"/>
                </a:solidFill>
              </a:defRPr>
            </a:pPr>
            <a:r>
              <a:rPr sz="2175">
                <a:solidFill>
                  <a:srgbClr val="F8FBFF"/>
                </a:solidFill>
              </a:rPr>
              <a:t>A user-defined MPI datatype that describes non-contiguous or structured memory so MPI can send it as one logical message.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68129A-FEFB-4C2B-83C9-4993FC86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A77B20-F60D-4AF2-ACAA-1991C636E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Non-contiguous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9A8B17-E6C7-4A41-9BA6-1FE53FC8F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33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4E8388-B5BC-4F85-A378-77D5160A0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EBB939-7B1C-44C1-A684-D8941D3C3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48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Struct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9F25AD-0B7B-4EE7-A27B-EF0D222F3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64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8AE6B4-4403-4EAF-A2CF-586BFD0DA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49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ECDF02-0C6D-4917-9FB5-4A4DB23C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79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Vector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B363F5-0606-485C-8E8B-E8AEA704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95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3042FC-7B4B-4940-AB67-DBDCFF14B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B29E7B-EE4B-4EA1-A392-867C84948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10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Packing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83414F-A575-4824-A6D6-33E1C0675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26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D8E094-C482-40ED-9B85-23146D82F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211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6F46D7-0322-4D9C-B544-CDC371BDB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41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Convenience</a:t>
            </a:r>
          </a:p>
        </p:txBody>
      </p:sp>
    </p:spTree>
    <p:extLst>
      <p:ext uri="{BB962C8B-B14F-4D97-AF65-F5344CB8AC3E}">
        <p14:creationId xmlns:p14="http://schemas.microsoft.com/office/powerpoint/2010/main" val="553989408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8B3441-86DF-4B4A-A019-A1B005B6F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C701B8-C870-48C3-B404-08BC2FCB8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Derived datatype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1C1109-1A19-4D56-BEE2-38359FC60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creation steps.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0871B1-3EBA-414E-AA52-27A937799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02EF7F-E93E-4492-BFA6-AE7BD995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1ED915-0B39-4B28-8EA5-3524C0E1E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10B25E-CE30-4892-B6A3-06150F27F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Datatypes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60ADF6-35ED-4FE6-91B5-8BACA164D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E98899-9E80-44DD-A23E-F53A02A7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EB33C8-32ED-4002-A392-EE535C3B5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Describe layout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23D9CD-EBD1-44EB-8974-5625D3DC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0E776D-4BB4-44FC-ABB9-87EC53CC3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7244BB-76EE-4904-B0CD-DACAA250C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Create datatype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2C6425-1FCC-48F0-B156-1A514E07F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58BA6D-3BC5-449F-847F-72508EDA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14867A-F75D-469A-9245-41712A53D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Commit datatype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44B6FB-A539-455D-BB31-7C860AF9A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712D54-FFF3-478E-BE2C-D4E676E8C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9E3DDC-C230-4D3F-A598-D23E7D86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Use in send/recv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897D9E-DC1D-4F43-B962-288C02FE7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F9C2D1-A4FD-4B74-BBE3-EFD3854F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43CF33-9C89-400C-B5BB-1BD0838F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Free datatype</a:t>
            </a:r>
          </a:p>
        </p:txBody>
      </p:sp>
    </p:spTree>
    <p:extLst>
      <p:ext uri="{BB962C8B-B14F-4D97-AF65-F5344CB8AC3E}">
        <p14:creationId xmlns:p14="http://schemas.microsoft.com/office/powerpoint/2010/main" val="62736984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693012-4BEF-40BC-97D9-CDA98B07C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FAA95E-B34E-4420-B999-7AECB49B5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Vector datatype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FDA484-206A-4BD5-A7E8-CE6801A5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non-contiguous columns.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56D63C-B042-47B9-901A-6F07FBC46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8C52B5-2182-452B-8607-76BC0D0C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E36E30-17F1-46B0-8333-EB98A76AF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12E0AE-FA53-4E22-A449-9BAFF50B9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Datatypes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2C9CC0-D82A-44EB-AFE6-E6108783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4CE4D8-7DE0-4886-A487-CDFA6FAE0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95450"/>
            <a:ext cx="68580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D7B110-E940-45D0-8523-7DF7C3EC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623887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FBF69"/>
                </a:solidFill>
              </a:defRPr>
            </a:pPr>
            <a:r>
              <a:rPr sz="1575">
                <a:solidFill>
                  <a:srgbClr val="FFBF69"/>
                </a:solidFill>
              </a:rPr>
              <a:t>MPI_Type_vector(count, blocklength, stride,</a:t>
            </a:r>
          </a:p>
          <a:p xmlns:a="http://schemas.openxmlformats.org/drawingml/2006/main">
            <a:pPr>
              <a:defRPr sz="1575">
                <a:solidFill>
                  <a:srgbClr val="FFBF69"/>
                </a:solidFill>
              </a:defRPr>
            </a:pPr>
            <a:r>
              <a:rPr sz="1575">
                <a:solidFill>
                  <a:srgbClr val="FFBF69"/>
                </a:solidFill>
              </a:rPr>
              <a:t>                oldtype, &amp;newtype);</a:t>
            </a:r>
          </a:p>
          <a:p xmlns:a="http://schemas.openxmlformats.org/drawingml/2006/main">
            <a:pPr>
              <a:defRPr sz="1575">
                <a:solidFill>
                  <a:srgbClr val="FFBF69"/>
                </a:solidFill>
              </a:defRPr>
            </a:pPr>
            <a:r>
              <a:rPr sz="1575">
                <a:solidFill>
                  <a:srgbClr val="FFBF69"/>
                </a:solidFill>
              </a:rPr>
              <a:t>MPI_Type_commit(&amp;newtype);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>
                <a:solidFill>
                  <a:srgbClr val="FFBF69"/>
                </a:solidFill>
              </a:defRPr>
            </a:pPr>
            <a:r>
              <a:rPr sz="1575">
                <a:solidFill>
                  <a:srgbClr val="FFBF69"/>
                </a:solidFill>
              </a:rPr>
              <a:t>/* send a matrix column-like pattern */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55E81D-058A-48AA-951C-349617D73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381250"/>
            <a:ext cx="2952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178267-AC50-410E-9C16-B77CE1222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3812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2F5761-11AC-4BC9-BC1D-5DF289A03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533650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MPI code pattern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A55D7D-BD83-4795-86C4-2F1B2B2B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914650"/>
            <a:ext cx="25908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Read every MPI call by identifying communicator, rank/source/destination, datatype, count and tag.</a:t>
            </a:r>
          </a:p>
        </p:txBody>
      </p:sp>
    </p:spTree>
    <p:extLst>
      <p:ext uri="{BB962C8B-B14F-4D97-AF65-F5344CB8AC3E}">
        <p14:creationId xmlns:p14="http://schemas.microsoft.com/office/powerpoint/2010/main" val="1804937695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9B5B0BB-88F2-48FB-907E-0DFF53A85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19DFAB-8DCE-404C-A899-725DE8421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Derived datatype benefits and costs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EE2396-1840-47B9-9B10-6D5FA785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Balance the concept.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98045D-139C-4A51-BE83-DBC3FDFA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EF3D78-E20D-4226-8271-90DBA5EFE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A4F4A6-A4D1-47A7-9789-3988492C4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9FF115-10B7-4844-B4F1-F3632A123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Datatypes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F6CCE5-3371-49F5-BE87-4B45B06F8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B74FFA-68A5-44B5-96EF-01AABF18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8B05CA-A08A-4B48-8CA8-E1A07049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834723-6FEE-4E0F-9736-F839C1791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Benefits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D97D7B-2EB7-4D2B-A304-B98EF91C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78B2C6-0DD0-45BD-B8ED-B1A7A141D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FFA376-8CA0-40AF-8208-1ED21D4F5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CFFB77-589B-42E4-9B8E-F88821F9B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716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Costs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433617-3E84-40E3-A4AD-4AD4FFCE1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52650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A301E0-CE8B-48E8-A458-FACA94D1A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73BAA3-BECB-416A-932A-029729D94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6D1623-D12D-4C43-81EB-265FB9F69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86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Cleaner code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5DFD56-6BB8-4661-8DCF-BA4FA96EE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9755A6-D7F6-4C5E-B44C-B7321804B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A9FCF8-5A1D-40E3-9F85-7B5EEDCD4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003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Avoid manual packing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F69A4E-EFB9-47D1-8979-75C00791C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8908C4-CA52-487E-AA66-1EAF63AE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E317A9-E3B5-4942-9732-3F0AFB7C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Express non-contiguous data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14F474-3A6B-4259-8093-EC98B918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C32D78-3F61-4E7C-ACBE-91DE9ABBA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6BE61F-4651-4C42-BAF6-C5A7521D4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290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Can reduce copy logic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04FD44-48B3-4C4E-85AC-E1717272A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99EB53-5DF9-46DC-9586-3019DDC6B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11D614-4748-47A4-9076-D6EB9980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86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Harder to understand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43D664-CA78-4D4D-AD33-14E16F60F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70BD78A-FD22-4057-A7F5-E26560DD1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98E4722-B25D-4A5D-A08F-4EBEE1D73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003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Commit/free required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D7D3914-09AD-419D-A98A-AD20F3233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5ADB717-C04B-4FCD-9B54-46AFE652F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AA9343D-FDF4-41EB-BB7E-E5A22E007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147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Performance depends on layout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FC3DDA1-311D-4637-A60D-533DCAED9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53207BF-5403-4F5C-9BD5-D14DCE87B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671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997CBE4-B7A5-43C7-892B-8997826A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290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Debugging can be tricky</a:t>
            </a:r>
          </a:p>
        </p:txBody>
      </p:sp>
    </p:spTree>
    <p:extLst>
      <p:ext uri="{BB962C8B-B14F-4D97-AF65-F5344CB8AC3E}">
        <p14:creationId xmlns:p14="http://schemas.microsoft.com/office/powerpoint/2010/main" val="75256725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E3DDA8-0A03-49EE-99CB-2F469E50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F6007A-157C-4535-A972-C0ED4475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Performance evaluation of MPI programs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E87FEE-2839-4156-B260-D7F94667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Introduce what to measure.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71A6EF-9282-4985-BFAC-49F7851AD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F5D246-0398-4B8B-BDB3-1E970C995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0DBA77-0888-48DF-96C6-5B4035030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1F580D-571D-42CE-8A87-97033E734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Performance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793AF2-6BC3-48E2-9E44-86950574D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003C97-4870-42E3-A857-5FE7BB6F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7C480E-E134-4D44-A9F9-6A804486C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Measure serial time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309BA9-4AFD-45FC-B622-C559C07EB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63C33F-AB6E-4574-B871-B931B1FF1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6C92FE-B730-4786-99FF-B25BB88AF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Measure parallel time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5F3C14-3455-4973-970B-EF0AD3A24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3FAE25-D62B-4AD8-8C04-CB68EE80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0C2B5B-4713-48FC-A9B2-CABDFACF2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Compute speedup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A53EAE-16E2-4641-AC68-1CA0EBEC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07FE91-73DC-4A08-9E2A-0C9695D7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E7E4DF-BA82-463F-9766-668391644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Compute efficiency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17A2FA-8D1F-4588-9BDF-91380DBEE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04E977-76C1-4BEE-A799-B6DBA5779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9ED1C3-5BFF-4538-80DD-279DE1D62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Analyze communication</a:t>
            </a:r>
          </a:p>
        </p:txBody>
      </p:sp>
    </p:spTree>
    <p:extLst>
      <p:ext uri="{BB962C8B-B14F-4D97-AF65-F5344CB8AC3E}">
        <p14:creationId xmlns:p14="http://schemas.microsoft.com/office/powerpoint/2010/main" val="393620465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FE0574-9733-4894-8F9A-2C624FBF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CD17D6-CECA-4009-BA0C-C039B4F0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MPI timing with MPI_Wtime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E278D5-6943-421B-B299-5C677E47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timing pattern.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B2209E-9F87-415D-8C73-BEA51B4DF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3F8747-C833-49BC-88A9-77E237B31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064265-5307-4F46-9641-714885EED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812DDA-76A8-412B-B026-D8CFB7B5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Performance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C0E5A0-48BA-4A8E-85CF-E9BEBF9EE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0F793B-F69D-4C67-90D9-788132653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95450"/>
            <a:ext cx="68580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14CDE0-F65A-47DC-B11E-863970CC9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623887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FBF69"/>
                </a:solidFill>
              </a:defRPr>
            </a:pPr>
            <a:r>
              <a:rPr sz="1575">
                <a:solidFill>
                  <a:srgbClr val="FFBF69"/>
                </a:solidFill>
              </a:rPr>
              <a:t>MPI_Barrier(MPI_COMM_WORLD);</a:t>
            </a:r>
          </a:p>
          <a:p xmlns:a="http://schemas.openxmlformats.org/drawingml/2006/main">
            <a:pPr>
              <a:defRPr sz="1575">
                <a:solidFill>
                  <a:srgbClr val="FFBF69"/>
                </a:solidFill>
              </a:defRPr>
            </a:pPr>
            <a:r>
              <a:rPr sz="1575">
                <a:solidFill>
                  <a:srgbClr val="FFBF69"/>
                </a:solidFill>
              </a:rPr>
              <a:t>start = MPI_Wtime();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>
                <a:solidFill>
                  <a:srgbClr val="FFBF69"/>
                </a:solidFill>
              </a:defRPr>
            </a:pPr>
            <a:r>
              <a:rPr sz="1575">
                <a:solidFill>
                  <a:srgbClr val="FFBF69"/>
                </a:solidFill>
              </a:rPr>
              <a:t>/* parallel work */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>
                <a:solidFill>
                  <a:srgbClr val="FFBF69"/>
                </a:solidFill>
              </a:defRPr>
            </a:pPr>
            <a:r>
              <a:rPr sz="1575">
                <a:solidFill>
                  <a:srgbClr val="FFBF69"/>
                </a:solidFill>
              </a:rPr>
              <a:t>MPI_Barrier(MPI_COMM_WORLD);</a:t>
            </a:r>
          </a:p>
          <a:p xmlns:a="http://schemas.openxmlformats.org/drawingml/2006/main">
            <a:pPr>
              <a:defRPr sz="1575">
                <a:solidFill>
                  <a:srgbClr val="FFBF69"/>
                </a:solidFill>
              </a:defRPr>
            </a:pPr>
            <a:r>
              <a:rPr sz="1575">
                <a:solidFill>
                  <a:srgbClr val="FFBF69"/>
                </a:solidFill>
              </a:rPr>
              <a:t>elapsed = MPI_Wtime() - start;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EE00AE-4C50-48FA-8FD4-AF3E5E510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381250"/>
            <a:ext cx="2952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C6CBF0-0750-4379-B871-DC1D823B8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3812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CA50BD-E09C-4FD2-859F-2347AD1DA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533650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MPI code pattern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6A0FD2-F2DC-4167-81A2-62EC0F7B1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914650"/>
            <a:ext cx="25908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Read every MPI call by identifying communicator, rank/source/destination, datatype, count and tag.</a:t>
            </a:r>
          </a:p>
        </p:txBody>
      </p:sp>
    </p:spTree>
    <p:extLst>
      <p:ext uri="{BB962C8B-B14F-4D97-AF65-F5344CB8AC3E}">
        <p14:creationId xmlns:p14="http://schemas.microsoft.com/office/powerpoint/2010/main" val="1237602741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C76C74-ADF7-4E8F-9115-7CFB00FD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26AEA7-6D90-41F5-BB89-94B8FF5CD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Communication overhead in MPI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E18408-412B-4FF0-A1DB-15F9DD5DD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main cost.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202AF0-459E-4AA9-8801-6C6C61565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D07593-65F7-4C24-B821-95B4D011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A72E42-7ACD-4AA7-9DFC-6E1E429D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E7EC26-7F8D-4AA0-9DAF-FCF66168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Performance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64AD61-FC8F-4968-9BF2-6A03C014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70516C-A695-4F6D-8855-AD765E82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AD2353-02F3-4241-9AD4-6907CFD4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07A413-9BD0-4F39-B14F-D9B95B95B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6954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Message startup latency affects many small messages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2B0776-B05C-41C2-A25A-3D04BB2B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CF2F05-AF8F-432E-93A3-57253B91F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D4E19F-77B7-4231-AC92-FC9E5D91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2098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Bandwidth limits large messages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4CFD07-269D-4AD8-9D8C-4F79B4AE7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BDBDC8-722A-4FA1-9A6E-90C4F2657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5232BF-8822-4529-B1B8-DDCEF5465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7241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Synchronization can make fast ranks wait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FFC3E2-24AF-46B5-8C93-2F8A54A46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774195-EABF-465F-8B62-DE899FDE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7FC44A-3BB4-42B7-BD3F-5C39459E8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2385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Load imbalance reduces useful processor time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66DA99-C4BA-4E33-9196-266F24828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CC78B4-D062-42FA-9D54-ABA13CF18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EA54F9-CC1B-4DD6-8CB3-FF209526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7528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Collectives can be faster than manual send/receive</a:t>
            </a:r>
          </a:p>
        </p:txBody>
      </p:sp>
    </p:spTree>
    <p:extLst>
      <p:ext uri="{BB962C8B-B14F-4D97-AF65-F5344CB8AC3E}">
        <p14:creationId xmlns:p14="http://schemas.microsoft.com/office/powerpoint/2010/main" val="849378007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F43AEF-9CFB-4ADA-B512-811FF167B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B52E35-8209-453A-A339-2413055EA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Timing table for MPI reports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30D024-1AD8-43C2-A0E3-62BCF3FC7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what to include.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6B24D1-BB56-45AF-A35E-647D3F003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5902DC-AFD4-4BFD-81A5-316AAC240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C3B346-1513-46A8-A2F8-80738144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736B49-F8D7-4AD9-AC12-98BB3D511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Performance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890805-B7BB-46D7-A0A9-033389120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DC0090-E116-4766-8B20-33C5D07B5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29A9F-B9F6-4455-B245-DD43DB4E0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BEE3BD-7A02-4796-ACFB-B6455960A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6215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2AFAE9-A1CA-4743-BA36-F892A2F9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4315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Number of MPI processes.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417A84-AB1B-4230-B628-A4538635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712EA6-B1EE-4A23-BDAC-C97EB87D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5FF202-E343-42EC-B4CF-436E3A35A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6215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T(p)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246607-BD72-4226-87D5-BBF085E8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4315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Measured runtime.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5F87F2-6BA1-4CD6-86B9-794325167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738D0B-78DC-43D6-B8B1-77E481BC9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BD1D82-23B5-469D-A43F-FF82DF937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7190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S(p)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914090-9B9C-46B3-807F-CA2496DEC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5290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Speedup T(1)/T(p).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30AD81-524E-4B98-AE10-C7C3CF2BB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CD1746-A7AA-463C-8292-2658E7537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B6622D-992E-4A82-B60C-80020AC29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7190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E(p)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B5E3A2-5EE3-44BC-942E-F46F7A25A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5290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Efficiency S(p)/p.</a:t>
            </a:r>
          </a:p>
        </p:txBody>
      </p:sp>
    </p:spTree>
    <p:extLst>
      <p:ext uri="{BB962C8B-B14F-4D97-AF65-F5344CB8AC3E}">
        <p14:creationId xmlns:p14="http://schemas.microsoft.com/office/powerpoint/2010/main" val="524681928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A5CF3C-F793-4F2A-9E2E-B89593DB0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B8985C-49A1-43D6-AB01-9A6F10D1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Parallel sorting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53BC6E-5360-4E11-9D2B-246342D34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Introduce why sorting is challenging.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CB1FA1-338D-4473-AD5D-53A6CB7B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3FADE3-F81F-4CE7-8529-C1E4EDF7C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EC38DB-25C3-476C-83A3-132E1CE09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EA86C7-8E1E-4A8C-BBA1-AF0AA440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Sorting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754EF5-CFFC-4DF7-A675-413C97E9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076519-0CA7-4C96-9852-60C5422A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9F1C"/>
                </a:solidFill>
              </a:defRPr>
            </a:pPr>
            <a:r>
              <a:rPr sz="3750" b="1">
                <a:solidFill>
                  <a:srgbClr val="FF9F1C"/>
                </a:solidFill>
              </a:rPr>
              <a:t>Parallel sorting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634F68-9193-4327-BE0D-D8B5F286F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990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8FBFF"/>
                </a:solidFill>
              </a:defRPr>
            </a:pPr>
            <a:r>
              <a:rPr sz="2175">
                <a:solidFill>
                  <a:srgbClr val="F8FBFF"/>
                </a:solidFill>
              </a:rPr>
              <a:t>Sorting data by dividing it across processes, sorting locally, exchanging data, and merging into global order.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892B9E-6D76-47E2-8167-CFB8423B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447FA0-A1C2-4A3B-9634-FE148A102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Partition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D92CD7-6D14-4BB8-9A66-1744D950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33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8067CC-F474-48AF-BEA0-3506FF359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2DD0CC-075B-4BBD-91E4-5BD494380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48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Local sort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FCF7BF-444A-4C91-A939-6CA08716C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64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B0E626-6672-4476-BD2D-56519329D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49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B33E49-C277-4686-8395-DD1540851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79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Exchange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972454-F320-49E7-B37E-6E608F759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95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B8D76C-F4AD-4CF4-B93B-DAD394F8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505039-DCA3-4A4B-BA3E-9A1F47FC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10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Merge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CA7DFF-8A1B-45BB-BBCF-179B50D49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26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279353-7368-4509-9D13-FBE26CE31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211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AC4939-A6D7-4B4D-8AF8-632EAB2AC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41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Global order</a:t>
            </a:r>
          </a:p>
        </p:txBody>
      </p:sp>
    </p:spTree>
    <p:extLst>
      <p:ext uri="{BB962C8B-B14F-4D97-AF65-F5344CB8AC3E}">
        <p14:creationId xmlns:p14="http://schemas.microsoft.com/office/powerpoint/2010/main" val="95472720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4194C1-4BBF-4741-BA67-ECA70CA21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6759FD-4E3B-43A1-B8AF-F266B754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Parallel sorting high-level algorithm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A09A14-7C52-483C-B4E5-EA11E649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generic process.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3BAE52-F8B6-45F0-BDA8-E1DEA2F42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A334E5-7D5A-4F68-83D9-60C8D7ED9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144C30-B18B-4514-B396-F086EBF8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94A6FD-373E-4B33-84B9-62D7B2ADF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Sorting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DBB994-8D84-4093-A9B7-9F264922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2A4AD9-449E-4208-A2B4-D29335A6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EAE811-5279-4664-B59B-839B92AD2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Distribute 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BC7A70-BE03-4EF7-A7F9-7832E9780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70AA6D-2092-460F-B1E2-8D52C228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9590B6-F1AF-4416-A0BA-74A300AFA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Local sort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F0A932-6AB0-42EB-8623-FA0352D22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87D9A0-079E-4C55-B3D5-561AF0695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E75456-69EF-40B2-BED6-192877B6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Choose splitters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01DD5D-4C02-412C-8965-0800EB4DE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6AE841-F96E-404F-BF2A-881542575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AB1913-2A5C-4C08-8F63-D2F7EE64D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Exchange partitions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02FC64-088E-49A1-9550-6B8EEF63A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EC10DD-E374-436E-851A-FF9CD01BA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FEF24D-E67E-40AF-816D-B40CA319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Merge results</a:t>
            </a:r>
          </a:p>
        </p:txBody>
      </p:sp>
    </p:spTree>
    <p:extLst>
      <p:ext uri="{BB962C8B-B14F-4D97-AF65-F5344CB8AC3E}">
        <p14:creationId xmlns:p14="http://schemas.microsoft.com/office/powerpoint/2010/main" val="631370878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24707D-70B7-4017-8A12-9691B980F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66228F-50CB-4AF1-98D0-24B7B47DC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Odd-even transposition sort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C84191-6215-43B8-9358-6E5557D3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Teach a simple MPI sorting algorithm.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F07A3C-C86A-440B-B5A3-0D5C46D73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3B44F6-DAEF-4B9A-B58F-8CDE8DB53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03F25F-FEC9-4ECC-BBBA-FBCDA38A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CDBB0F-024D-4137-A3B5-D3C3E9C74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Sorting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E7B268-B0E0-40FA-8CED-7188044FA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17A1F5-53C3-49F5-8B2D-EED40EF96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FBD4A0-7EA2-4A47-96F3-84752D55A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Local sort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5E6210-41A5-46BB-A911-84FC57FFF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722BB7-EA98-4F33-9D9B-278F3DCA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A823EC-A048-413B-81FC-9F61C9931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Even phase exchanges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626C61-88A0-4752-BB2D-1142D843D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72EB6E-4E02-4807-9339-5E7E2329F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51864D-17FA-4108-A598-9D88DC14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Odd phase exchanges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259863-2744-4C75-B41B-F77A3F77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FA3EE1-83EF-42F6-871A-66EB47691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4FDA32-32CC-4E69-96F4-DA71953DF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Keep smaller/larger half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E034AF-35C8-4BE0-8D81-133C2BBC8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51AB76-651A-4076-9877-7A2ECBCF1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7423C6-88EE-49CF-A81A-34992EFEF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Repeat phases</a:t>
            </a:r>
          </a:p>
        </p:txBody>
      </p:sp>
    </p:spTree>
    <p:extLst>
      <p:ext uri="{BB962C8B-B14F-4D97-AF65-F5344CB8AC3E}">
        <p14:creationId xmlns:p14="http://schemas.microsoft.com/office/powerpoint/2010/main" val="467462263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620813-F2A7-4FFF-8C57-6717F1E09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7DD52C-3B78-4ECF-87AA-D10091C49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Compare-split operation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A7D310-0E7D-4FBF-B72F-608DF1653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the key step.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54219A-3E23-4903-9733-8FA3445E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351B59-E0EA-4235-8E1A-1A19348D9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4D8EAD-11FB-437C-9106-BE17EB519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7CFF13-487E-413E-925F-2725332EE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Sorting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04B3AC-226E-43A1-BC02-ACF69573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4F1C00-4B4C-4A0F-89C9-842218D6F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30480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2179A8-FB83-4152-9F02-6CFC69E70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CB16FD-FE2A-4055-A317-67BD84CE8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02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Exchange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D0D79A-6B3C-4E28-AE6C-626546F35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81275"/>
            <a:ext cx="268605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Two neighbor ranks exchange sorted lists.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0154D8-D2B7-4B62-B8E3-826D2F97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30480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781E6F-F982-49EB-A924-ACA7C3BA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C368F0-DAF5-4A26-A597-7C24D6F42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002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Merge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A35AE3-EB8E-4E49-88B9-ED67C4E6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81275"/>
            <a:ext cx="268605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Combine both lists temporarily.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A7531E-98EA-430B-BBDB-A9917F80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30480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2C6B0F-F986-441C-92F2-DA8B3C197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0F0B25-76B5-4128-A81B-AB69186DE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02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C4B6"/>
                </a:solidFill>
              </a:defRPr>
            </a:pPr>
            <a:r>
              <a:rPr sz="1725" b="1">
                <a:solidFill>
                  <a:srgbClr val="2EC4B6"/>
                </a:solidFill>
              </a:rPr>
              <a:t>Split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F4F602-8E56-4359-973B-CA31E39A0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81275"/>
            <a:ext cx="268605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Lower rank keeps smaller half; higher rank keeps larger half.</a:t>
            </a:r>
          </a:p>
        </p:txBody>
      </p:sp>
    </p:spTree>
    <p:extLst>
      <p:ext uri="{BB962C8B-B14F-4D97-AF65-F5344CB8AC3E}">
        <p14:creationId xmlns:p14="http://schemas.microsoft.com/office/powerpoint/2010/main" val="1809556906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ACD967-EC4F-4EA6-AB20-4CC332976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29EAFE-012B-4A29-842A-6CF26AAC6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Sorting performance issues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516B9E-DB00-4E63-A6AE-AE079AB6C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Cover limitations.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5997F8-C3C5-43B7-9850-03435B5FB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42636D-F8B2-4255-8A0B-F97AD7C8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8D0E14-19BB-4915-A0B5-063C55FFC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9271CC-5B61-46A9-802A-2530D86C5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Sorting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F98FD4-182A-4E5B-A67A-8372B3AFD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E7FBD2-7A82-47A6-BB33-1BB1C816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0FEF31-6043-4319-BA4A-D0F081807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3E6206-D81B-443D-A13E-C9EAA771B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6954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Communication can dominate for large distributed arrays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9861D8-C9CB-43A3-896E-25025F66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1E13EE-958D-4DC5-AE0B-BF6530712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2417C8-E9B1-46AD-9325-72A2E822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2098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Load imbalance occurs with skewed 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1225C6-C1B4-4FE4-A938-89DB4248F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7118BD-2413-42ED-B21D-E28365A92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0A5842-6086-4B20-8B5B-A1835592A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7241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Choosing splitters affects balance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80C578-DDCA-4A85-B9B8-A115E4D8F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84959C-9233-45FD-AACC-A34CD987F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87344D-F5E5-4920-A32C-A1E47296B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2385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Local sort cost still matters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77A802-2EF9-45BD-BFE0-099D04A8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A50CDB-3CB3-48F8-AF1D-ABE1ED06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E02600-3410-4AF6-9727-E4F1EF8EC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7528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Scalability depends on algorithm and network</a:t>
            </a:r>
          </a:p>
        </p:txBody>
      </p:sp>
    </p:spTree>
    <p:extLst>
      <p:ext uri="{BB962C8B-B14F-4D97-AF65-F5344CB8AC3E}">
        <p14:creationId xmlns:p14="http://schemas.microsoft.com/office/powerpoint/2010/main" val="437483219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9DE86C8-9FF2-45AF-8A41-5BB342461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D42F81-C091-44B9-8EA2-40AD14A03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Module 3 in one mind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B15FD2-107F-491E-8F11-0936C331F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Connect all major headings.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5B5E5F-6E4B-46AF-B3DD-D158FEAF9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EF5805-DC40-4085-A50E-5462E0F16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50940C-C9FC-47A5-9362-CC369E421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86AF17-FF41-4721-A68F-8EB06BE91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6CE053-45A7-4AB5-AB48-2256E297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50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F9F620-0950-49DD-9709-D9955E88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81300"/>
            <a:ext cx="24765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1FC4DB-333A-41B4-9AD9-43A25FE45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0956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7111F"/>
                </a:solidFill>
              </a:defRPr>
            </a:pPr>
            <a:r>
              <a:rPr sz="2250" b="1">
                <a:solidFill>
                  <a:srgbClr val="07111F"/>
                </a:solidFill>
              </a:rPr>
              <a:t>Module 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4F35E0-EBB5-4C46-89E2-86788BE3E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05000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1159C6-6503-42DE-8D63-0BF146B08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0500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0570C4-BA58-4D36-B1E2-4CE5749BD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057400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MPI basics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41EF3B-4ED0-478E-84D7-D0FDB10C8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438400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Rank/size/comm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2F99D7-BA56-4807-8399-F3321366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19250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DDDA60-96DD-4E69-8228-6A833484F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1925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89BB9F-AA78-4781-8972-59DFB9978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71650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C4B6"/>
                </a:solidFill>
              </a:defRPr>
            </a:pPr>
            <a:r>
              <a:rPr sz="1725" b="1">
                <a:solidFill>
                  <a:srgbClr val="2EC4B6"/>
                </a:solidFill>
              </a:rPr>
              <a:t>Point-to-point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8FBD99-F4C8-4129-86BF-DB0687A5D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152650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Send/Recv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CE3B70-0056-4E6D-9266-FB2864267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05000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BAE33A-C67D-4661-B0FF-F5C09FD7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0500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C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5DF636-00CF-4ECD-9861-F422D2BB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057400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7C8FF"/>
                </a:solidFill>
              </a:defRPr>
            </a:pPr>
            <a:r>
              <a:rPr sz="1725" b="1">
                <a:solidFill>
                  <a:srgbClr val="77C8FF"/>
                </a:solidFill>
              </a:rPr>
              <a:t>Trapezoidal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C7A783-6C2D-4DB1-811A-39C9F868B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438400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Numerical integration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04E717-A478-4F63-A014-06617154A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29125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12E8D9-DF18-484D-B850-164108066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29125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8229E1-998E-4AEC-AECB-E5762B23E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581525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BF69"/>
                </a:solidFill>
              </a:defRPr>
            </a:pPr>
            <a:r>
              <a:rPr sz="1725" b="1">
                <a:solidFill>
                  <a:srgbClr val="FFBF69"/>
                </a:solidFill>
              </a:rPr>
              <a:t>Collectives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23B158-0530-4CF9-8CF3-6C79AD28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962525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Bcast/scatter/reduce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0FD930-D74E-446A-A303-706268C22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10125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1F1E99-1A77-4AC7-9038-58EC2CBD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10125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200133-0EB9-4604-8F4B-197C82D3C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962525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C4B6"/>
                </a:solidFill>
              </a:defRPr>
            </a:pPr>
            <a:r>
              <a:rPr sz="1725" b="1">
                <a:solidFill>
                  <a:srgbClr val="2EC4B6"/>
                </a:solidFill>
              </a:rPr>
              <a:t>Datatypes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9A14CB-3828-4AD2-89FF-85F6900E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343525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Derived layouts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C75C60-6F7B-433D-88FA-2EC3A1D85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29125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20ED55-7DC4-400D-A72A-BAB1DABAB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29125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5DA085-6974-4061-B729-E2608AC0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581525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Sorting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CC3B87-B67F-4D19-9069-FB595BCD8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962525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Parallel order</a:t>
            </a:r>
          </a:p>
        </p:txBody>
      </p:sp>
    </p:spTree>
    <p:extLst>
      <p:ext uri="{BB962C8B-B14F-4D97-AF65-F5344CB8AC3E}">
        <p14:creationId xmlns:p14="http://schemas.microsoft.com/office/powerpoint/2010/main" val="622143401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AC459F-AAEC-4930-86E0-59453119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DB6B15-7EA5-43BA-969F-77DCE47A3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Exam-writing shortcuts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5D43E6-D838-48CA-932F-5EB84524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Turn concepts into marks.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E940E0-0B05-411E-B086-8492A094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BB76B2-4D9B-4A16-A38D-6FFDBBA43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78A75C-9866-4C16-AE7E-623D04E84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A8978D-3781-417A-8028-75705316A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F8484F-9B59-4990-9F66-4B1AD3D3F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51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03C82F-0617-4FB5-80A5-7737C6B7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10FA80-9B64-4745-898D-446BA5E92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45F2C2-C9BB-4318-AF20-DD98D655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6954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For MPI programs, always mention Init, rank, size and Finalize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9EFDB5-29DD-4886-A263-1CDDDA412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1C655A-D3DA-41E9-8FAA-8FF569AC6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442009-1B0D-4977-B483-DB5B9F4D7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2098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For Send/Recv, write arguments and explain tag/source/destination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302F79-0A7D-4341-8808-C1C1D646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3943D0-15BD-45DB-A40D-DA4CD976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BE884E-E9C9-41DA-AEC1-5FF62F51A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7241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For trapezoidal rule, draw interval partition among ranks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59E977-FA31-40BA-9491-35368F6F9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686846-E885-4CB2-B5C8-49536D9F3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ED55F8-9159-441A-9973-CCF292959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2385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For collectives, identify root and result location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00E7ED-EB55-4C24-AB40-0CC153093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70CD71-2F73-454B-8E9A-F9DDE877F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721627-D7A1-4B22-AC51-2273E8D09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7528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For sorting, explain local sort, exchange and merge</a:t>
            </a:r>
          </a:p>
        </p:txBody>
      </p:sp>
    </p:spTree>
    <p:extLst>
      <p:ext uri="{BB962C8B-B14F-4D97-AF65-F5344CB8AC3E}">
        <p14:creationId xmlns:p14="http://schemas.microsoft.com/office/powerpoint/2010/main" val="1386100954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466199-2786-4A3A-B78D-6555832C6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5418F0-3307-449F-9836-DFE490A9A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20 important 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816043-3CB2-46D5-AB3A-AA365CAF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Rapid oral revision.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1878E5-221E-4FEE-8572-41C83F7C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B3F60D-5AC4-4A0A-9C2F-F2CEAB95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F018FA-AC5C-4E54-B4C3-35DFC8FA4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ED4096-7F8A-414A-81DA-2C15C4F7A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CBB5E5-05AC-4CC4-A018-ACBFDD9B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52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35279C-C04F-4661-8917-9A15AF2E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1. What is MPI?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53EAA5-29B3-4FEF-9CA6-B94AF971B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716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2. What is rank?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9AECE8-2750-4FC9-BA8A-7D2C9D727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3. What is communicator?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6A6612-ECB2-40BD-8DA3-F2769AF36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4. What is MPI_COMM_WORLD?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338BE4-A4E0-43F0-96C0-1FD19B135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5. What is MPI_Init?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6BAC30-327C-498D-87B3-20D992DB4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385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6. What is MPI_Finalize?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10A46D-BE51-468A-AF29-6CCEE5507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7. MPI_Send arguments?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9474EF-4875-4612-87B7-7DBCA0927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720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8. MPI_Recv arguments?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EE39AD-E55A-4D84-AFC9-076632918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9. What is tag?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587FD1-3E8D-49C8-B32C-C92A2FAC3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054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10. What is deadlock?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841FE9-DCCE-49D3-B706-9B44A602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049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11. What is trapezoidal rule?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907A68-F033-47A6-899A-C9EEBB951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716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12. Why root handles I/O?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D58F21-5633-4C12-A3C9-B96D545D8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384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13. What is MPI_Bcast?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00F23D-77F5-462C-806D-F14216E7E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051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14. Scatter vs Gather?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41C151-7249-4555-BDC5-F8C66DF9D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718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15. Reduce vs Allreduce?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449FA8-BE5F-4F53-A972-50576936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8385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16. What is MPI_Barrier?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11D3FD-DE97-4654-81C3-F1CD177A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3053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17. What is derived datatype?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4E81E1-CFA9-47D7-9131-9DAB0C0E3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720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18. What is MPI_Wtime?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EB3D0E-915E-49EA-BAD5-FFF8D022F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2387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19. What is speedup?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4141CF-E4CB-4E8F-B147-D2577B09E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7054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20. Parallel sorting idea?</a:t>
            </a:r>
          </a:p>
        </p:txBody>
      </p:sp>
    </p:spTree>
    <p:extLst>
      <p:ext uri="{BB962C8B-B14F-4D97-AF65-F5344CB8AC3E}">
        <p14:creationId xmlns:p14="http://schemas.microsoft.com/office/powerpoint/2010/main" val="1346720078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84BF93-99F3-44A4-9302-5BC8AD12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DF68DF-2CB7-4E43-A221-995E4B846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10 two-mark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A8522A-386C-40DC-8401-7EB02205C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Practice short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52F33B-6667-4A7B-BF68-18090B0FC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EF513E-70B3-421D-9621-645F84E0E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1FE927-89B1-4F77-AE53-FB0833FC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5A2B8A-A56C-4302-9890-8932E2A5A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955808-6141-4E2B-A70A-24FF7DF65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53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027C14-2D89-431E-A683-07371556B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1. Define MPI.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7A0333-2607-4114-AB4D-D71B32A1D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716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2. What is rank?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29D4C1-5004-4A16-9E77-3986E3863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3. What is communicator?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DD4D91-D870-4EDE-B185-0C5C3881D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4. What is MPI_Send?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8A140D-6EF6-402E-BBA9-FAC928AB3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5. What is MPI_Recv?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7179C2-0F41-47D8-B5A8-F7A6113E7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385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6. Define collective communication.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CE3CBA-B78F-4A8F-A9ED-5FBB315C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7. What is MPI_Bcast?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27DDC2-722C-4C17-84BE-666751907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720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8. What is MPI_Reduce?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3A87AB-3FE4-4105-B45B-8941B451B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9. What is derived datatype?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6DD02E-09E3-4535-B92E-F3384D60B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054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10. What is MPI_Wtime?</a:t>
            </a:r>
          </a:p>
        </p:txBody>
      </p:sp>
    </p:spTree>
    <p:extLst>
      <p:ext uri="{BB962C8B-B14F-4D97-AF65-F5344CB8AC3E}">
        <p14:creationId xmlns:p14="http://schemas.microsoft.com/office/powerpoint/2010/main" val="569580102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0A00A6-7E30-4E75-A5DC-31DBF441D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91DAB0-143E-4064-8FCF-2E794D8DC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10 five-mark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1ECB1E-10B3-4C83-9D5D-7EF59139A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Practice medium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0ED6B1-7D9E-4213-8822-4B24C35A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303DFC-B244-4E6D-B66B-1F8726218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9B1E6C-E55F-44B1-B8DC-B90AD89F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9F262D-22E4-4292-A38E-559A29A25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B46B7B-C83B-4F3D-942B-00B614BC1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54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E527F3-6A7F-4F82-A7C1-0D9A3330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1. Explain MPI program structure.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9DEC44-74EE-4F68-A91F-74FB3BD2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716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2. Explain MPI_Send and MPI_Recv.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DAD78B-F373-455F-9057-3CF0AF026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3. Explain deadlock in MPI and avoidance.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63D16A-D96C-46EB-88D9-15BBE3764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4. Explain trapezoidal rule in MPI.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034C17-5863-464B-8381-4ADF5DE4D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5. Explain dealing with I/O in MPI.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6FD922-E676-4F49-80E6-F411575E0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385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6. Explain collective communication.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F09F77-89D2-44FB-A7E2-23430A40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7. Explain MPI_Reduce and MPI_Allreduce.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85E505-DE3D-449F-888B-560861DD7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720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8. Explain MPI-derived datatypes.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77C2FC-A9A0-475F-8539-F2473C56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9. Explain performance evaluation of MPI programs.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A13526-6A3A-4586-90C0-937A6C1F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054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10. Explain a parallel sorting algorithm.</a:t>
            </a:r>
          </a:p>
        </p:txBody>
      </p:sp>
    </p:spTree>
    <p:extLst>
      <p:ext uri="{BB962C8B-B14F-4D97-AF65-F5344CB8AC3E}">
        <p14:creationId xmlns:p14="http://schemas.microsoft.com/office/powerpoint/2010/main" val="1242464630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B3EC34-3FB5-4CEB-AD58-190F6F9B7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10A573-D31F-4AA9-9FA5-031DDCF59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10 ten-mark questions and VTU placeholders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1A4C5A-0D6B-4E4F-8E14-097C1FC11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Practice long-answer structure.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1900AD-9CC3-4D45-8361-A989A95C4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86E0F7-3A3E-43F7-A53A-13D87BB3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22415D-8ED4-4234-9801-3EDC1768F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F99B7D-F48B-47DE-A8BA-07D62F007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DB7AEE-0785-41C9-8CF8-49031EEB4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55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CA557E-0238-407B-A247-76C4D9BC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1. Explain distributed-memory programming with MPI and important MPI functions.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57F969-6086-43ED-B966-362930B34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716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2. Explain trapezoidal rule implementation in MPI with interval partitioning.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80B446-E6D0-4E8D-8E8C-36AF8068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3. Explain MPI I/O handling and collective communication with examples.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1F9675-9BFE-4999-B918-4F6DC8EC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4. Explain MPI-derived datatypes and performance evaluation of MPI programs.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472ABA-2130-41A4-8890-C03CCD7DB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5. Explain a parallel sorting algorithm using local sort, exchange and merge.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F8714C-D440-494D-BD36-61AF5AE60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385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6. Previous VTU Q1 placeholder: fill from past paper.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7EC58D-55AA-41A1-810E-9D795CA80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7. Previous VTU Q2 placeholder: fill from past paper.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435622-4B39-4273-802C-783906DE0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720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8. Previous VTU Q3 placeholder: fill from past paper.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89FBF4-EF6A-4899-8208-C6C8CEC4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9. Previous VTU Q4 placeholder: fill from past paper.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8A5C3A-4F7F-4FA5-A1A8-3FFF9793A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054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10. Previous VTU Q5 placeholder: fill from past paper.</a:t>
            </a:r>
          </a:p>
        </p:txBody>
      </p:sp>
    </p:spTree>
    <p:extLst>
      <p:ext uri="{BB962C8B-B14F-4D97-AF65-F5344CB8AC3E}">
        <p14:creationId xmlns:p14="http://schemas.microsoft.com/office/powerpoint/2010/main" val="1071188391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DDAD58-D794-4D2B-931F-9113EF731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A5CD45-6E23-424A-BAB6-06C45EF7C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One-page revision and keyword sheet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37DB8E-82DE-45B5-BB1A-D993ACBF3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Close with the must-remember terms.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BE867A-239F-4580-BD05-D84111EA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305028-B447-4C0B-A5BC-B1506EF38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304251-D690-4AE3-AE06-C50FE9494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FAFE5D-1E28-472A-9E4B-052DAAA65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017F01-43F6-4B83-A73A-28BCA2F4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56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DB0D98-1CA4-48B6-A5CB-D5F2C44B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668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D978F6-E645-47FC-A1A2-90C5E052D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E76312-C927-47C8-931D-84E3E808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66900"/>
            <a:ext cx="1030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Keywords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0B18A0-E97A-4B3E-A2FD-D87CEEF7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47900"/>
            <a:ext cx="103060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MPI; distributed memory; SPMD; process; rank; size; communicator; MPI_COMM_WORLD; MPI_Init; MPI_Finalize; MPI_Comm_rank; MPI_Comm_size; MPI_Send; MPI_Recv; buffer; count; datatype; source; destination; tag; status; deadlock; trapezoidal rule; root rank; I/O; MPI_Bcast; MPI_Scatter; MPI_Gather; MPI_Reduce; MPI_Allreduce; MPI_Barrier; MPI_Wtime; derived datatype; MPI_Type_vector; performance; speedup; efficiency; parallel sorting; compare-split.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9C9619-78A4-4B43-8DC5-55C129274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10668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27DB5F-7D4E-4F0F-A005-D120EEF57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76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86669D-A181-48A1-BB9D-BF0B5041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67150"/>
            <a:ext cx="1030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Memory path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0CC178-11A4-4DE2-8F87-8C74AEE4B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48150"/>
            <a:ext cx="10306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MPI starts processes -&gt; ranks own private data -&gt; Send/Recv moves messages -&gt; collectives coordinate groups -&gt; datatypes describe layout -&gt; timing proves performance.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CF8919-09A9-4F97-8D37-3D80FF6D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10668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713DA3-9069-4BA8-A9AF-DD805235D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93113D-3B79-40E3-9D6F-0D71A1646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95900"/>
            <a:ext cx="1030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C4B6"/>
                </a:solidFill>
              </a:defRPr>
            </a:pPr>
            <a:r>
              <a:rPr sz="1725" b="1">
                <a:solidFill>
                  <a:srgbClr val="2EC4B6"/>
                </a:solidFill>
              </a:rPr>
              <a:t>Exam answer formula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CFAF64-6658-4BF5-8B2D-3EA67DA7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676900"/>
            <a:ext cx="10306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Definition + syntax + message diagram + example + performance note = strong answer.</a:t>
            </a:r>
          </a:p>
        </p:txBody>
      </p:sp>
    </p:spTree>
    <p:extLst>
      <p:ext uri="{BB962C8B-B14F-4D97-AF65-F5344CB8AC3E}">
        <p14:creationId xmlns:p14="http://schemas.microsoft.com/office/powerpoint/2010/main" val="20848578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2026-08-05T09:24:38.2880000Z</dcterms:created>
  <dcterms:modified xsi:type="dcterms:W3CDTF">2026-08-05T09:24:38.2880000Z</dcterms:modified>
</coreProperties>
</file>