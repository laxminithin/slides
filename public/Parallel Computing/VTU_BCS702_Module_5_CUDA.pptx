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35d26f1484ddd" /><Relationship Type="http://schemas.openxmlformats.org/officeDocument/2006/relationships/extended-properties" Target="/docProps/app.xml" Id="R8911f435bc0c424f" /><Relationship Type="http://schemas.openxmlformats.org/officeDocument/2006/relationships/officeDocument" Target="/ppt/presentation.xml" Id="R308d9bdf681a4b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42d715953446d"/>
  </p:sldMasterIdLst>
  <p:notesMasterIdLst>
    <p:notesMasterId xmlns:r="http://schemas.openxmlformats.org/officeDocument/2006/relationships" r:id="Radbfc90e0a1740b4"/>
  </p:notesMasterIdLst>
  <p:sldIdLst>
    <p:sldId xmlns:r="http://schemas.openxmlformats.org/officeDocument/2006/relationships" id="256" r:id="R4cae6e436a664f4a"/>
    <p:sldId xmlns:r="http://schemas.openxmlformats.org/officeDocument/2006/relationships" id="257" r:id="R41c28d9696e54b71"/>
    <p:sldId xmlns:r="http://schemas.openxmlformats.org/officeDocument/2006/relationships" id="258" r:id="Rdc19e646267f4072"/>
    <p:sldId xmlns:r="http://schemas.openxmlformats.org/officeDocument/2006/relationships" id="259" r:id="Rbac7025e3f5a4af5"/>
    <p:sldId xmlns:r="http://schemas.openxmlformats.org/officeDocument/2006/relationships" id="260" r:id="Rc9b18b47208b4ba0"/>
    <p:sldId xmlns:r="http://schemas.openxmlformats.org/officeDocument/2006/relationships" id="261" r:id="R401c6595244e4ce6"/>
    <p:sldId xmlns:r="http://schemas.openxmlformats.org/officeDocument/2006/relationships" id="262" r:id="Rccd0422dee994bd9"/>
    <p:sldId xmlns:r="http://schemas.openxmlformats.org/officeDocument/2006/relationships" id="263" r:id="Rd5668202326d4c3e"/>
    <p:sldId xmlns:r="http://schemas.openxmlformats.org/officeDocument/2006/relationships" id="264" r:id="R815504ddd72940a8"/>
    <p:sldId xmlns:r="http://schemas.openxmlformats.org/officeDocument/2006/relationships" id="265" r:id="R06b8cb884f904298"/>
    <p:sldId xmlns:r="http://schemas.openxmlformats.org/officeDocument/2006/relationships" id="266" r:id="Rbaa419b957704a46"/>
    <p:sldId xmlns:r="http://schemas.openxmlformats.org/officeDocument/2006/relationships" id="267" r:id="R485bc65349cd4a0f"/>
    <p:sldId xmlns:r="http://schemas.openxmlformats.org/officeDocument/2006/relationships" id="268" r:id="Rb9c8ec47d37b4574"/>
    <p:sldId xmlns:r="http://schemas.openxmlformats.org/officeDocument/2006/relationships" id="269" r:id="R5b824e74b1e94784"/>
    <p:sldId xmlns:r="http://schemas.openxmlformats.org/officeDocument/2006/relationships" id="270" r:id="R3719680ed7734b96"/>
    <p:sldId xmlns:r="http://schemas.openxmlformats.org/officeDocument/2006/relationships" id="271" r:id="R6891b887d03c4b8e"/>
    <p:sldId xmlns:r="http://schemas.openxmlformats.org/officeDocument/2006/relationships" id="272" r:id="Rcf558a907ee04692"/>
    <p:sldId xmlns:r="http://schemas.openxmlformats.org/officeDocument/2006/relationships" id="273" r:id="R8101b146617e47be"/>
    <p:sldId xmlns:r="http://schemas.openxmlformats.org/officeDocument/2006/relationships" id="274" r:id="R3f0d2fa0a4344e17"/>
    <p:sldId xmlns:r="http://schemas.openxmlformats.org/officeDocument/2006/relationships" id="275" r:id="Re6d7a34b3420432c"/>
    <p:sldId xmlns:r="http://schemas.openxmlformats.org/officeDocument/2006/relationships" id="276" r:id="Re95c2d814bf5470f"/>
    <p:sldId xmlns:r="http://schemas.openxmlformats.org/officeDocument/2006/relationships" id="277" r:id="R2f493c21259a47ec"/>
    <p:sldId xmlns:r="http://schemas.openxmlformats.org/officeDocument/2006/relationships" id="278" r:id="Rf11c3fef6eef467c"/>
    <p:sldId xmlns:r="http://schemas.openxmlformats.org/officeDocument/2006/relationships" id="279" r:id="Rd8ae8154f9e3475c"/>
    <p:sldId xmlns:r="http://schemas.openxmlformats.org/officeDocument/2006/relationships" id="280" r:id="Re1ffdebb5c3640ca"/>
    <p:sldId xmlns:r="http://schemas.openxmlformats.org/officeDocument/2006/relationships" id="281" r:id="R0117336d05f24cde"/>
    <p:sldId xmlns:r="http://schemas.openxmlformats.org/officeDocument/2006/relationships" id="282" r:id="Rc43f42cedfc34367"/>
    <p:sldId xmlns:r="http://schemas.openxmlformats.org/officeDocument/2006/relationships" id="283" r:id="Rf9191ffaca414e58"/>
    <p:sldId xmlns:r="http://schemas.openxmlformats.org/officeDocument/2006/relationships" id="284" r:id="Rc084f6fbf3584fb7"/>
    <p:sldId xmlns:r="http://schemas.openxmlformats.org/officeDocument/2006/relationships" id="285" r:id="R2b7b1b1d33314fb4"/>
    <p:sldId xmlns:r="http://schemas.openxmlformats.org/officeDocument/2006/relationships" id="286" r:id="R814f0eaaca094e0e"/>
    <p:sldId xmlns:r="http://schemas.openxmlformats.org/officeDocument/2006/relationships" id="287" r:id="R2f079673c9404df8"/>
    <p:sldId xmlns:r="http://schemas.openxmlformats.org/officeDocument/2006/relationships" id="288" r:id="Rb9d8808f020e4112"/>
    <p:sldId xmlns:r="http://schemas.openxmlformats.org/officeDocument/2006/relationships" id="289" r:id="Re14c20d70e37432c"/>
    <p:sldId xmlns:r="http://schemas.openxmlformats.org/officeDocument/2006/relationships" id="290" r:id="R570d8e32ea2e4c2b"/>
    <p:sldId xmlns:r="http://schemas.openxmlformats.org/officeDocument/2006/relationships" id="291" r:id="R008349c9f7c8457d"/>
    <p:sldId xmlns:r="http://schemas.openxmlformats.org/officeDocument/2006/relationships" id="292" r:id="Re13bd54c322447e3"/>
    <p:sldId xmlns:r="http://schemas.openxmlformats.org/officeDocument/2006/relationships" id="293" r:id="Rda0a1c5ce5304508"/>
    <p:sldId xmlns:r="http://schemas.openxmlformats.org/officeDocument/2006/relationships" id="294" r:id="Rf47879e835c34c69"/>
    <p:sldId xmlns:r="http://schemas.openxmlformats.org/officeDocument/2006/relationships" id="295" r:id="Rb1bc52630bde4300"/>
    <p:sldId xmlns:r="http://schemas.openxmlformats.org/officeDocument/2006/relationships" id="296" r:id="R9aa00138838746f4"/>
    <p:sldId xmlns:r="http://schemas.openxmlformats.org/officeDocument/2006/relationships" id="297" r:id="R77ae63f03ed84a6e"/>
    <p:sldId xmlns:r="http://schemas.openxmlformats.org/officeDocument/2006/relationships" id="298" r:id="R8e53f8fc001f49c9"/>
    <p:sldId xmlns:r="http://schemas.openxmlformats.org/officeDocument/2006/relationships" id="299" r:id="R8e2d67ceb3024e4f"/>
    <p:sldId xmlns:r="http://schemas.openxmlformats.org/officeDocument/2006/relationships" id="300" r:id="Reafdbfba413c4627"/>
    <p:sldId xmlns:r="http://schemas.openxmlformats.org/officeDocument/2006/relationships" id="301" r:id="R0b1746f558cd47bf"/>
    <p:sldId xmlns:r="http://schemas.openxmlformats.org/officeDocument/2006/relationships" id="302" r:id="Rc2ec3a8af850484e"/>
    <p:sldId xmlns:r="http://schemas.openxmlformats.org/officeDocument/2006/relationships" id="303" r:id="R93a6abd8773b42af"/>
    <p:sldId xmlns:r="http://schemas.openxmlformats.org/officeDocument/2006/relationships" id="304" r:id="R854c1d6837e44c4f"/>
    <p:sldId xmlns:r="http://schemas.openxmlformats.org/officeDocument/2006/relationships" id="305" r:id="R2e0e0f3b37394135"/>
    <p:sldId xmlns:r="http://schemas.openxmlformats.org/officeDocument/2006/relationships" id="306" r:id="Rb8d47eb4564b4bed"/>
    <p:sldId xmlns:r="http://schemas.openxmlformats.org/officeDocument/2006/relationships" id="307" r:id="R172aa9cd90ae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3c50960c144d99" /><Relationship Type="http://schemas.openxmlformats.org/officeDocument/2006/relationships/slideMaster" Target="/ppt/slideMasters/slideMaster1.xml" Id="R7d642d715953446d" /><Relationship Type="http://schemas.openxmlformats.org/officeDocument/2006/relationships/notesMaster" Target="/ppt/notesMasters/notesMaster1.xml" Id="Radbfc90e0a1740b4" /><Relationship Type="http://schemas.openxmlformats.org/officeDocument/2006/relationships/presProps" Target="/ppt/presProps.xml" Id="R38241f9e88f84a21" /><Relationship Type="http://schemas.openxmlformats.org/officeDocument/2006/relationships/tableStyles" Target="/ppt/tableStyles.xml" Id="R24d99cc68dc24fb4" /><Relationship Type="http://schemas.openxmlformats.org/officeDocument/2006/relationships/slide" Target="/ppt/slides/slide1.xml" Id="R4cae6e436a664f4a" /><Relationship Type="http://schemas.openxmlformats.org/officeDocument/2006/relationships/slide" Target="/ppt/slides/slide2.xml" Id="R41c28d9696e54b71" /><Relationship Type="http://schemas.openxmlformats.org/officeDocument/2006/relationships/slide" Target="/ppt/slides/slide3.xml" Id="Rdc19e646267f4072" /><Relationship Type="http://schemas.openxmlformats.org/officeDocument/2006/relationships/slide" Target="/ppt/slides/slide4.xml" Id="Rbac7025e3f5a4af5" /><Relationship Type="http://schemas.openxmlformats.org/officeDocument/2006/relationships/slide" Target="/ppt/slides/slide5.xml" Id="Rc9b18b47208b4ba0" /><Relationship Type="http://schemas.openxmlformats.org/officeDocument/2006/relationships/slide" Target="/ppt/slides/slide6.xml" Id="R401c6595244e4ce6" /><Relationship Type="http://schemas.openxmlformats.org/officeDocument/2006/relationships/slide" Target="/ppt/slides/slide7.xml" Id="Rccd0422dee994bd9" /><Relationship Type="http://schemas.openxmlformats.org/officeDocument/2006/relationships/slide" Target="/ppt/slides/slide8.xml" Id="Rd5668202326d4c3e" /><Relationship Type="http://schemas.openxmlformats.org/officeDocument/2006/relationships/slide" Target="/ppt/slides/slide9.xml" Id="R815504ddd72940a8" /><Relationship Type="http://schemas.openxmlformats.org/officeDocument/2006/relationships/slide" Target="/ppt/slides/slide10.xml" Id="R06b8cb884f904298" /><Relationship Type="http://schemas.openxmlformats.org/officeDocument/2006/relationships/slide" Target="/ppt/slides/slide11.xml" Id="Rbaa419b957704a46" /><Relationship Type="http://schemas.openxmlformats.org/officeDocument/2006/relationships/slide" Target="/ppt/slides/slide12.xml" Id="R485bc65349cd4a0f" /><Relationship Type="http://schemas.openxmlformats.org/officeDocument/2006/relationships/slide" Target="/ppt/slides/slide13.xml" Id="Rb9c8ec47d37b4574" /><Relationship Type="http://schemas.openxmlformats.org/officeDocument/2006/relationships/slide" Target="/ppt/slides/slide14.xml" Id="R5b824e74b1e94784" /><Relationship Type="http://schemas.openxmlformats.org/officeDocument/2006/relationships/slide" Target="/ppt/slides/slide15.xml" Id="R3719680ed7734b96" /><Relationship Type="http://schemas.openxmlformats.org/officeDocument/2006/relationships/slide" Target="/ppt/slides/slide16.xml" Id="R6891b887d03c4b8e" /><Relationship Type="http://schemas.openxmlformats.org/officeDocument/2006/relationships/slide" Target="/ppt/slides/slide17.xml" Id="Rcf558a907ee04692" /><Relationship Type="http://schemas.openxmlformats.org/officeDocument/2006/relationships/slide" Target="/ppt/slides/slide18.xml" Id="R8101b146617e47be" /><Relationship Type="http://schemas.openxmlformats.org/officeDocument/2006/relationships/slide" Target="/ppt/slides/slide19.xml" Id="R3f0d2fa0a4344e17" /><Relationship Type="http://schemas.openxmlformats.org/officeDocument/2006/relationships/slide" Target="/ppt/slides/slide20.xml" Id="Re6d7a34b3420432c" /><Relationship Type="http://schemas.openxmlformats.org/officeDocument/2006/relationships/slide" Target="/ppt/slides/slide21.xml" Id="Re95c2d814bf5470f" /><Relationship Type="http://schemas.openxmlformats.org/officeDocument/2006/relationships/slide" Target="/ppt/slides/slide22.xml" Id="R2f493c21259a47ec" /><Relationship Type="http://schemas.openxmlformats.org/officeDocument/2006/relationships/slide" Target="/ppt/slides/slide23.xml" Id="Rf11c3fef6eef467c" /><Relationship Type="http://schemas.openxmlformats.org/officeDocument/2006/relationships/slide" Target="/ppt/slides/slide24.xml" Id="Rd8ae8154f9e3475c" /><Relationship Type="http://schemas.openxmlformats.org/officeDocument/2006/relationships/slide" Target="/ppt/slides/slide25.xml" Id="Re1ffdebb5c3640ca" /><Relationship Type="http://schemas.openxmlformats.org/officeDocument/2006/relationships/slide" Target="/ppt/slides/slide26.xml" Id="R0117336d05f24cde" /><Relationship Type="http://schemas.openxmlformats.org/officeDocument/2006/relationships/slide" Target="/ppt/slides/slide27.xml" Id="Rc43f42cedfc34367" /><Relationship Type="http://schemas.openxmlformats.org/officeDocument/2006/relationships/slide" Target="/ppt/slides/slide28.xml" Id="Rf9191ffaca414e58" /><Relationship Type="http://schemas.openxmlformats.org/officeDocument/2006/relationships/slide" Target="/ppt/slides/slide29.xml" Id="Rc084f6fbf3584fb7" /><Relationship Type="http://schemas.openxmlformats.org/officeDocument/2006/relationships/slide" Target="/ppt/slides/slide30.xml" Id="R2b7b1b1d33314fb4" /><Relationship Type="http://schemas.openxmlformats.org/officeDocument/2006/relationships/slide" Target="/ppt/slides/slide31.xml" Id="R814f0eaaca094e0e" /><Relationship Type="http://schemas.openxmlformats.org/officeDocument/2006/relationships/slide" Target="/ppt/slides/slide32.xml" Id="R2f079673c9404df8" /><Relationship Type="http://schemas.openxmlformats.org/officeDocument/2006/relationships/slide" Target="/ppt/slides/slide33.xml" Id="Rb9d8808f020e4112" /><Relationship Type="http://schemas.openxmlformats.org/officeDocument/2006/relationships/slide" Target="/ppt/slides/slide34.xml" Id="Re14c20d70e37432c" /><Relationship Type="http://schemas.openxmlformats.org/officeDocument/2006/relationships/slide" Target="/ppt/slides/slide35.xml" Id="R570d8e32ea2e4c2b" /><Relationship Type="http://schemas.openxmlformats.org/officeDocument/2006/relationships/slide" Target="/ppt/slides/slide36.xml" Id="R008349c9f7c8457d" /><Relationship Type="http://schemas.openxmlformats.org/officeDocument/2006/relationships/slide" Target="/ppt/slides/slide37.xml" Id="Re13bd54c322447e3" /><Relationship Type="http://schemas.openxmlformats.org/officeDocument/2006/relationships/slide" Target="/ppt/slides/slide38.xml" Id="Rda0a1c5ce5304508" /><Relationship Type="http://schemas.openxmlformats.org/officeDocument/2006/relationships/slide" Target="/ppt/slides/slide39.xml" Id="Rf47879e835c34c69" /><Relationship Type="http://schemas.openxmlformats.org/officeDocument/2006/relationships/slide" Target="/ppt/slides/slide40.xml" Id="Rb1bc52630bde4300" /><Relationship Type="http://schemas.openxmlformats.org/officeDocument/2006/relationships/slide" Target="/ppt/slides/slide41.xml" Id="R9aa00138838746f4" /><Relationship Type="http://schemas.openxmlformats.org/officeDocument/2006/relationships/slide" Target="/ppt/slides/slide42.xml" Id="R77ae63f03ed84a6e" /><Relationship Type="http://schemas.openxmlformats.org/officeDocument/2006/relationships/slide" Target="/ppt/slides/slide43.xml" Id="R8e53f8fc001f49c9" /><Relationship Type="http://schemas.openxmlformats.org/officeDocument/2006/relationships/slide" Target="/ppt/slides/slide44.xml" Id="R8e2d67ceb3024e4f" /><Relationship Type="http://schemas.openxmlformats.org/officeDocument/2006/relationships/slide" Target="/ppt/slides/slide45.xml" Id="Reafdbfba413c4627" /><Relationship Type="http://schemas.openxmlformats.org/officeDocument/2006/relationships/slide" Target="/ppt/slides/slide46.xml" Id="R0b1746f558cd47bf" /><Relationship Type="http://schemas.openxmlformats.org/officeDocument/2006/relationships/slide" Target="/ppt/slides/slide47.xml" Id="Rc2ec3a8af850484e" /><Relationship Type="http://schemas.openxmlformats.org/officeDocument/2006/relationships/slide" Target="/ppt/slides/slide48.xml" Id="R93a6abd8773b42af" /><Relationship Type="http://schemas.openxmlformats.org/officeDocument/2006/relationships/slide" Target="/ppt/slides/slide49.xml" Id="R854c1d6837e44c4f" /><Relationship Type="http://schemas.openxmlformats.org/officeDocument/2006/relationships/slide" Target="/ppt/slides/slide50.xml" Id="R2e0e0f3b37394135" /><Relationship Type="http://schemas.openxmlformats.org/officeDocument/2006/relationships/slide" Target="/ppt/slides/slide51.xml" Id="Rb8d47eb4564b4bed" /><Relationship Type="http://schemas.openxmlformats.org/officeDocument/2006/relationships/slide" Target="/ppt/slides/slide52.xml" Id="R172aa9cd90ae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42f0e5e15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162d9946445a3" /><Relationship Type="http://schemas.openxmlformats.org/officeDocument/2006/relationships/notesMaster" Target="/ppt/notesMasters/notesMaster1.xml" Id="R87e98d6ddc15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26570729b4430" /><Relationship Type="http://schemas.openxmlformats.org/officeDocument/2006/relationships/notesMaster" Target="/ppt/notesMasters/notesMaster1.xml" Id="R1d978ab29442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b300dbf554b12" /><Relationship Type="http://schemas.openxmlformats.org/officeDocument/2006/relationships/notesMaster" Target="/ppt/notesMasters/notesMaster1.xml" Id="Rd1b839f7941544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3414ff9c94cc2" /><Relationship Type="http://schemas.openxmlformats.org/officeDocument/2006/relationships/notesMaster" Target="/ppt/notesMasters/notesMaster1.xml" Id="Reae80538b03347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8320d603254f43" /><Relationship Type="http://schemas.openxmlformats.org/officeDocument/2006/relationships/notesMaster" Target="/ppt/notesMasters/notesMaster1.xml" Id="R42a7598a2345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c7fe182dc455b" /><Relationship Type="http://schemas.openxmlformats.org/officeDocument/2006/relationships/notesMaster" Target="/ppt/notesMasters/notesMaster1.xml" Id="Rdee1464e5bb544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e1ebc8c4594a60" /><Relationship Type="http://schemas.openxmlformats.org/officeDocument/2006/relationships/notesMaster" Target="/ppt/notesMasters/notesMaster1.xml" Id="R9d78a4440258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23d2605cf4c52" /><Relationship Type="http://schemas.openxmlformats.org/officeDocument/2006/relationships/notesMaster" Target="/ppt/notesMasters/notesMaster1.xml" Id="R704a6fe8a31b48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9b25af2a14ea6" /><Relationship Type="http://schemas.openxmlformats.org/officeDocument/2006/relationships/notesMaster" Target="/ppt/notesMasters/notesMaster1.xml" Id="Ra95d33d217fb49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d4a5319e2140a9" /><Relationship Type="http://schemas.openxmlformats.org/officeDocument/2006/relationships/notesMaster" Target="/ppt/notesMasters/notesMaster1.xml" Id="R094ac68b7e57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8f9b1bc40f420b" /><Relationship Type="http://schemas.openxmlformats.org/officeDocument/2006/relationships/notesMaster" Target="/ppt/notesMasters/notesMaster1.xml" Id="R1e2102cce0c04d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3290e83786447d" /><Relationship Type="http://schemas.openxmlformats.org/officeDocument/2006/relationships/notesMaster" Target="/ppt/notesMasters/notesMaster1.xml" Id="R1afa74dbcb9a45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75eef5e5f3476e" /><Relationship Type="http://schemas.openxmlformats.org/officeDocument/2006/relationships/notesMaster" Target="/ppt/notesMasters/notesMaster1.xml" Id="R3a5ad56f70084d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ef1f2dfecd4960" /><Relationship Type="http://schemas.openxmlformats.org/officeDocument/2006/relationships/notesMaster" Target="/ppt/notesMasters/notesMaster1.xml" Id="R2b6ec7554b0b44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3623874df2433c" /><Relationship Type="http://schemas.openxmlformats.org/officeDocument/2006/relationships/notesMaster" Target="/ppt/notesMasters/notesMaster1.xml" Id="Rdcba30bcca1540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0e4899a4d94847" /><Relationship Type="http://schemas.openxmlformats.org/officeDocument/2006/relationships/notesMaster" Target="/ppt/notesMasters/notesMaster1.xml" Id="Rfb77bac37fbd41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8a049e90304d3d" /><Relationship Type="http://schemas.openxmlformats.org/officeDocument/2006/relationships/notesMaster" Target="/ppt/notesMasters/notesMaster1.xml" Id="Rc997abd590554f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3c311b46f64eeb" /><Relationship Type="http://schemas.openxmlformats.org/officeDocument/2006/relationships/notesMaster" Target="/ppt/notesMasters/notesMaster1.xml" Id="Rab59ae10af1142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d388013c9549a5" /><Relationship Type="http://schemas.openxmlformats.org/officeDocument/2006/relationships/notesMaster" Target="/ppt/notesMasters/notesMaster1.xml" Id="R5aad4e52f29b49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d8ab52dd5a4fb5" /><Relationship Type="http://schemas.openxmlformats.org/officeDocument/2006/relationships/notesMaster" Target="/ppt/notesMasters/notesMaster1.xml" Id="Ra4f4c624c36e45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0bb6441bfe14114" /><Relationship Type="http://schemas.openxmlformats.org/officeDocument/2006/relationships/notesMaster" Target="/ppt/notesMasters/notesMaster1.xml" Id="R878c868d1a3e42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37c6ffb4f6446b" /><Relationship Type="http://schemas.openxmlformats.org/officeDocument/2006/relationships/notesMaster" Target="/ppt/notesMasters/notesMaster1.xml" Id="R472478fd8b4143b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574da8bb7f4519" /><Relationship Type="http://schemas.openxmlformats.org/officeDocument/2006/relationships/notesMaster" Target="/ppt/notesMasters/notesMaster1.xml" Id="Rb404eb0f9dcb4b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c26db946154cc1" /><Relationship Type="http://schemas.openxmlformats.org/officeDocument/2006/relationships/notesMaster" Target="/ppt/notesMasters/notesMaster1.xml" Id="Re3298f903e5246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65d5d0956440dc" /><Relationship Type="http://schemas.openxmlformats.org/officeDocument/2006/relationships/notesMaster" Target="/ppt/notesMasters/notesMaster1.xml" Id="R9b531c7f37ab4a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09c56883f64bd4" /><Relationship Type="http://schemas.openxmlformats.org/officeDocument/2006/relationships/notesMaster" Target="/ppt/notesMasters/notesMaster1.xml" Id="Rfeb562a34a4c42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489ac954f84c48" /><Relationship Type="http://schemas.openxmlformats.org/officeDocument/2006/relationships/notesMaster" Target="/ppt/notesMasters/notesMaster1.xml" Id="R18a38542ace0496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b3d4206a814707" /><Relationship Type="http://schemas.openxmlformats.org/officeDocument/2006/relationships/notesMaster" Target="/ppt/notesMasters/notesMaster1.xml" Id="Re78508ceea8c4a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75b307c7654c16" /><Relationship Type="http://schemas.openxmlformats.org/officeDocument/2006/relationships/notesMaster" Target="/ppt/notesMasters/notesMaster1.xml" Id="Rc39b87f81f3e4cb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154bb49748c4dd5" /><Relationship Type="http://schemas.openxmlformats.org/officeDocument/2006/relationships/notesMaster" Target="/ppt/notesMasters/notesMaster1.xml" Id="R3f01602a923f40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8dbeb039da4e25" /><Relationship Type="http://schemas.openxmlformats.org/officeDocument/2006/relationships/notesMaster" Target="/ppt/notesMasters/notesMaster1.xml" Id="Ree15794146fb4f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d7bfc9440a5495d" /><Relationship Type="http://schemas.openxmlformats.org/officeDocument/2006/relationships/notesMaster" Target="/ppt/notesMasters/notesMaster1.xml" Id="R7936158442dd4e3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26daa824504e4c" /><Relationship Type="http://schemas.openxmlformats.org/officeDocument/2006/relationships/notesMaster" Target="/ppt/notesMasters/notesMaster1.xml" Id="R0099572010b74f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891746ca134d68" /><Relationship Type="http://schemas.openxmlformats.org/officeDocument/2006/relationships/notesMaster" Target="/ppt/notesMasters/notesMaster1.xml" Id="R042b94ee996945f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ea8c3e355e4559" /><Relationship Type="http://schemas.openxmlformats.org/officeDocument/2006/relationships/notesMaster" Target="/ppt/notesMasters/notesMaster1.xml" Id="Ra88fef0fe3284e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c2eee64b3614b26" /><Relationship Type="http://schemas.openxmlformats.org/officeDocument/2006/relationships/notesMaster" Target="/ppt/notesMasters/notesMaster1.xml" Id="Ra528b316022a4d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f9f4f0eea5c497d" /><Relationship Type="http://schemas.openxmlformats.org/officeDocument/2006/relationships/notesMaster" Target="/ppt/notesMasters/notesMaster1.xml" Id="Re125eee562a041b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e8165db40545e4" /><Relationship Type="http://schemas.openxmlformats.org/officeDocument/2006/relationships/notesMaster" Target="/ppt/notesMasters/notesMaster1.xml" Id="Ra200c9e19c264a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b1a33e4d3a841dd" /><Relationship Type="http://schemas.openxmlformats.org/officeDocument/2006/relationships/notesMaster" Target="/ppt/notesMasters/notesMaster1.xml" Id="Ra425f1cd4d714ee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adabcd1e15241bf" /><Relationship Type="http://schemas.openxmlformats.org/officeDocument/2006/relationships/notesMaster" Target="/ppt/notesMasters/notesMaster1.xml" Id="Rf2819484c8334c6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6636128898483f" /><Relationship Type="http://schemas.openxmlformats.org/officeDocument/2006/relationships/notesMaster" Target="/ppt/notesMasters/notesMaster1.xml" Id="R49f2e41085e041f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5a4fede78054ebe" /><Relationship Type="http://schemas.openxmlformats.org/officeDocument/2006/relationships/notesMaster" Target="/ppt/notesMasters/notesMaster1.xml" Id="R41b576adea114ed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4e38e14fe344924" /><Relationship Type="http://schemas.openxmlformats.org/officeDocument/2006/relationships/notesMaster" Target="/ppt/notesMasters/notesMaster1.xml" Id="R34e5ba5599fb481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d3eb857d6f24d75" /><Relationship Type="http://schemas.openxmlformats.org/officeDocument/2006/relationships/notesMaster" Target="/ppt/notesMasters/notesMaster1.xml" Id="R9c918851d39c4c3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7be8f05bc454c96" /><Relationship Type="http://schemas.openxmlformats.org/officeDocument/2006/relationships/notesMaster" Target="/ppt/notesMasters/notesMaster1.xml" Id="R1d9de14553d04f2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ee9edb71ba94048" /><Relationship Type="http://schemas.openxmlformats.org/officeDocument/2006/relationships/notesMaster" Target="/ppt/notesMasters/notesMaster1.xml" Id="R3eb0c102b1a74bd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100a5f2a47a4a84" /><Relationship Type="http://schemas.openxmlformats.org/officeDocument/2006/relationships/notesMaster" Target="/ppt/notesMasters/notesMaster1.xml" Id="Rc6b3435de8114ff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96202c910b14f01" /><Relationship Type="http://schemas.openxmlformats.org/officeDocument/2006/relationships/notesMaster" Target="/ppt/notesMasters/notesMaster1.xml" Id="Rf5336ab3519b474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a4c302b3ce340b8" /><Relationship Type="http://schemas.openxmlformats.org/officeDocument/2006/relationships/notesMaster" Target="/ppt/notesMasters/notesMaster1.xml" Id="R6fdb44a5840e411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127888f98184030" /><Relationship Type="http://schemas.openxmlformats.org/officeDocument/2006/relationships/notesMaster" Target="/ppt/notesMasters/notesMaster1.xml" Id="R98293c09a4f2441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4094021a0304e24" /><Relationship Type="http://schemas.openxmlformats.org/officeDocument/2006/relationships/notesMaster" Target="/ppt/notesMasters/notesMaster1.xml" Id="Re08db44e210b438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775ec19b7054da7" /><Relationship Type="http://schemas.openxmlformats.org/officeDocument/2006/relationships/notesMaster" Target="/ppt/notesMasters/notesMaster1.xml" Id="R4968ab81e881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2 introduced GPUs; Module 5 teaches how to program NVIDIA GPUs using CUDA.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is the bridge from performance ideas to actual GPU code.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CUDA exposes GPU parallelism to C/C++ style programs.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simulations, image processing and ML as examples.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device suits vector addition and which suits OS control logic.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host/device language used in CUDA.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through allocate, copy, launch, copy back and free.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architecture vocabulary without going into vendor-specific depths.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SM is the basic execution engine in NVIDIA GPUs.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SIMT to SIMD but explain CUDA uses thread abstraction.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if-else inside a kernel as example.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memory choice affects performance.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transfers can erase GPU speedup if too frequent.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it affects available features and limits, not just speed.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properties guide kernel configuration.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programs can inspect GPU capabilities at runtime.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most important CUDA mental model.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this maps one thread to one array element.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the guard handles n not divisible by block size.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grid size and block size inside &lt;&lt;&lt; &gt;&gt;&gt;.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host pointers and device pointers are different.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essential for returning results.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Kernel cannot directly print a final C variable unless result is copied or printed carefully.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CUDA errors can otherwise be missed.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CUDA hello-world after printing.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each iteration is independent, so it maps cleanly to GPU threads.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__global__ means host launches, device executes.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standard CUDA program structure.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the classic first CUDA errors.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MPI/OpenMP trapezoidal rule.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parallelism comes from independent function evaluations.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this version stores partial values for later summation.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simple version is easy but may transfer lots of data.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performance improves when fewer partial results cross PCIe.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key improvement over storing every partial.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__syncthreads waits for block threads before reduction steps.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cost was reduced: computation or transfer.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larger blocks can improve occupancy but need correct block-wide reduction.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clarifies the title phrase from the syllabus.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reduction must combine across warps too.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essential CUDA correctness.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closes performance thinking.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honest timing includes transfer time when comparing whole applications.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timing should be used in a lab speedup claim.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practical and saves lab time.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code plus diagram is the best answer shape.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compact.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include diagram or code.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architecture diagram, code, workflow and performance note.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CUDA using only these keywords.</a:t>
            </a:r>
          </a:p>
          <a:p xmlns:a="http://schemas.openxmlformats.org/drawingml/2006/main">
            <a:r>
              <a:t>Pause cue: pause after the host-device visual or code appears, then restate the CUDA concept in one sentence.</a:t>
            </a:r>
          </a:p>
          <a:p xmlns:a="http://schemas.openxmlformats.org/drawingml/2006/main">
            <a:r>
              <a:t>Pointing cue: point from host to device, then from grid to block to thread; for code slides, point to kernel launch and memory-copy calls.</a:t>
            </a:r>
          </a:p>
          <a:p xmlns:a="http://schemas.openxmlformats.org/drawingml/2006/main">
            <a:r>
              <a:t>Question to ask students: Ask students which work runs on CPU and which work runs on GPU.</a:t>
            </a:r>
          </a:p>
          <a:p xmlns:a="http://schemas.openxmlformats.org/drawingml/2006/main">
            <a:r>
              <a:t>Animation instructions: Fade title; appear code/blocks one by one; wipe arrows for host-device transfers; highlight CUDA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5 checklist; Peter S. Pacheco and Matthew Malensek, An Introduction to Parallel Programming, 2nd ed., Morgan Kaufmann, 2020, GPU/CUDA programming chapters; Michael J. Quinn, Parallel Programming in C with MPI and OpenMP, McGraw-Hill, 2004, parallel architecture/performance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6a44fd0dc4d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205d54027436a" /><Relationship Type="http://schemas.openxmlformats.org/officeDocument/2006/relationships/slideLayout" Target="/ppt/slideLayouts/slideLayout1.xml" Id="R27970eb38bd5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970eb38bd5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3394627f94cd4" /><Relationship Type="http://schemas.openxmlformats.org/officeDocument/2006/relationships/notesSlide" Target="/ppt/notesSlides/notesSlide1.xml" Id="R5d93053fd55e4f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a7d90b2bc4ce1" /><Relationship Type="http://schemas.openxmlformats.org/officeDocument/2006/relationships/notesSlide" Target="/ppt/notesSlides/notesSlide2.xml" Id="R5b6aac1ae1f549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0f46028f4182" /><Relationship Type="http://schemas.openxmlformats.org/officeDocument/2006/relationships/notesSlide" Target="/ppt/notesSlides/notesSlide3.xml" Id="R46cf56632ece4c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5350f51284fa6" /><Relationship Type="http://schemas.openxmlformats.org/officeDocument/2006/relationships/notesSlide" Target="/ppt/notesSlides/notesSlide4.xml" Id="Rd3a46cd812e84f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3eac9b4f4018" /><Relationship Type="http://schemas.openxmlformats.org/officeDocument/2006/relationships/notesSlide" Target="/ppt/notesSlides/notesSlide5.xml" Id="R19e92268bbec44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ce8cc901041f4" /><Relationship Type="http://schemas.openxmlformats.org/officeDocument/2006/relationships/notesSlide" Target="/ppt/notesSlides/notesSlide6.xml" Id="R035f69c59b924d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08d93f5194fc7" /><Relationship Type="http://schemas.openxmlformats.org/officeDocument/2006/relationships/notesSlide" Target="/ppt/notesSlides/notesSlide7.xml" Id="R5f391a513c88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696fd1b74fe8" /><Relationship Type="http://schemas.openxmlformats.org/officeDocument/2006/relationships/notesSlide" Target="/ppt/notesSlides/notesSlide8.xml" Id="R2413f71477cb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cf2d67ba4e01" /><Relationship Type="http://schemas.openxmlformats.org/officeDocument/2006/relationships/notesSlide" Target="/ppt/notesSlides/notesSlide9.xml" Id="R176e655e2ef040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e098d1910404e" /><Relationship Type="http://schemas.openxmlformats.org/officeDocument/2006/relationships/notesSlide" Target="/ppt/notesSlides/notesSlide10.xml" Id="Rf01ed48162bb43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e7777d434b91" /><Relationship Type="http://schemas.openxmlformats.org/officeDocument/2006/relationships/notesSlide" Target="/ppt/notesSlides/notesSlide11.xml" Id="Rded744b59cf447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156189474edf" /><Relationship Type="http://schemas.openxmlformats.org/officeDocument/2006/relationships/notesSlide" Target="/ppt/notesSlides/notesSlide12.xml" Id="Rc28865255b4c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3bf075df54b05" /><Relationship Type="http://schemas.openxmlformats.org/officeDocument/2006/relationships/notesSlide" Target="/ppt/notesSlides/notesSlide13.xml" Id="Rb9ef77a6beda4f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d471904af4e3b" /><Relationship Type="http://schemas.openxmlformats.org/officeDocument/2006/relationships/notesSlide" Target="/ppt/notesSlides/notesSlide14.xml" Id="Rced13f5c3dbc40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9ed621b914b51" /><Relationship Type="http://schemas.openxmlformats.org/officeDocument/2006/relationships/notesSlide" Target="/ppt/notesSlides/notesSlide15.xml" Id="R63d19e0091ae47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399775424037" /><Relationship Type="http://schemas.openxmlformats.org/officeDocument/2006/relationships/notesSlide" Target="/ppt/notesSlides/notesSlide16.xml" Id="Rb021b0bd70fb4d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fa12744b54fac" /><Relationship Type="http://schemas.openxmlformats.org/officeDocument/2006/relationships/notesSlide" Target="/ppt/notesSlides/notesSlide17.xml" Id="R773db27680a54a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2fdd60b584dfc" /><Relationship Type="http://schemas.openxmlformats.org/officeDocument/2006/relationships/notesSlide" Target="/ppt/notesSlides/notesSlide18.xml" Id="R017ae383b4d74c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9f1c131524a85" /><Relationship Type="http://schemas.openxmlformats.org/officeDocument/2006/relationships/notesSlide" Target="/ppt/notesSlides/notesSlide19.xml" Id="Rf560223c593640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63b26327e4dae" /><Relationship Type="http://schemas.openxmlformats.org/officeDocument/2006/relationships/notesSlide" Target="/ppt/notesSlides/notesSlide20.xml" Id="Ra078ec189f554e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ddd246b024445" /><Relationship Type="http://schemas.openxmlformats.org/officeDocument/2006/relationships/notesSlide" Target="/ppt/notesSlides/notesSlide21.xml" Id="Re8dfe79a64e744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68f8db0334dc1" /><Relationship Type="http://schemas.openxmlformats.org/officeDocument/2006/relationships/notesSlide" Target="/ppt/notesSlides/notesSlide22.xml" Id="Rde82cd07b2b946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613a19184a07" /><Relationship Type="http://schemas.openxmlformats.org/officeDocument/2006/relationships/notesSlide" Target="/ppt/notesSlides/notesSlide23.xml" Id="Rf50e4a1226834c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b4ac9003b466c" /><Relationship Type="http://schemas.openxmlformats.org/officeDocument/2006/relationships/notesSlide" Target="/ppt/notesSlides/notesSlide24.xml" Id="R75616d02f5c14c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cfcecb0e94666" /><Relationship Type="http://schemas.openxmlformats.org/officeDocument/2006/relationships/notesSlide" Target="/ppt/notesSlides/notesSlide25.xml" Id="R4574f6c3fac34e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c6b511f741ff" /><Relationship Type="http://schemas.openxmlformats.org/officeDocument/2006/relationships/notesSlide" Target="/ppt/notesSlides/notesSlide26.xml" Id="R3f82d98422974d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c4462006546ec" /><Relationship Type="http://schemas.openxmlformats.org/officeDocument/2006/relationships/notesSlide" Target="/ppt/notesSlides/notesSlide27.xml" Id="R444c2cfda42d4c9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091eba84c432e" /><Relationship Type="http://schemas.openxmlformats.org/officeDocument/2006/relationships/notesSlide" Target="/ppt/notesSlides/notesSlide28.xml" Id="Re197aa1c9c8d45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131dfd114f56" /><Relationship Type="http://schemas.openxmlformats.org/officeDocument/2006/relationships/notesSlide" Target="/ppt/notesSlides/notesSlide29.xml" Id="R31208eea9fb94f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078152a7b4009" /><Relationship Type="http://schemas.openxmlformats.org/officeDocument/2006/relationships/notesSlide" Target="/ppt/notesSlides/notesSlide30.xml" Id="Rba1558c32d1046d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32ef49b547b2" /><Relationship Type="http://schemas.openxmlformats.org/officeDocument/2006/relationships/notesSlide" Target="/ppt/notesSlides/notesSlide31.xml" Id="R995375f3db174c6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5673050c46f5" /><Relationship Type="http://schemas.openxmlformats.org/officeDocument/2006/relationships/notesSlide" Target="/ppt/notesSlides/notesSlide32.xml" Id="Re68554c2eb0642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01fa695e84d1f" /><Relationship Type="http://schemas.openxmlformats.org/officeDocument/2006/relationships/notesSlide" Target="/ppt/notesSlides/notesSlide33.xml" Id="R3679893a241a45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ac1ffc0334bd7" /><Relationship Type="http://schemas.openxmlformats.org/officeDocument/2006/relationships/notesSlide" Target="/ppt/notesSlides/notesSlide34.xml" Id="Rfe5d3599e47a42a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2f20a385b4de0" /><Relationship Type="http://schemas.openxmlformats.org/officeDocument/2006/relationships/notesSlide" Target="/ppt/notesSlides/notesSlide35.xml" Id="R4b80df2bac1b4bc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9145a5ad8471f" /><Relationship Type="http://schemas.openxmlformats.org/officeDocument/2006/relationships/notesSlide" Target="/ppt/notesSlides/notesSlide36.xml" Id="R6a5b65a3a3e541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b7605845c47bc" /><Relationship Type="http://schemas.openxmlformats.org/officeDocument/2006/relationships/notesSlide" Target="/ppt/notesSlides/notesSlide37.xml" Id="Rbffbcad0487c4f9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c96203912432c" /><Relationship Type="http://schemas.openxmlformats.org/officeDocument/2006/relationships/notesSlide" Target="/ppt/notesSlides/notesSlide38.xml" Id="R6b5d0351f63c49d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c0d6f7fb46e7" /><Relationship Type="http://schemas.openxmlformats.org/officeDocument/2006/relationships/notesSlide" Target="/ppt/notesSlides/notesSlide39.xml" Id="R1902699fdd364c0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fda9e5c04b5c" /><Relationship Type="http://schemas.openxmlformats.org/officeDocument/2006/relationships/notesSlide" Target="/ppt/notesSlides/notesSlide40.xml" Id="Ref7bd683b46d412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65e77f7654a27" /><Relationship Type="http://schemas.openxmlformats.org/officeDocument/2006/relationships/notesSlide" Target="/ppt/notesSlides/notesSlide41.xml" Id="Rec103e4c40d34aa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7f4b3655b45f0" /><Relationship Type="http://schemas.openxmlformats.org/officeDocument/2006/relationships/notesSlide" Target="/ppt/notesSlides/notesSlide42.xml" Id="Refd9363557b94d2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7413fe4144b6" /><Relationship Type="http://schemas.openxmlformats.org/officeDocument/2006/relationships/notesSlide" Target="/ppt/notesSlides/notesSlide43.xml" Id="R41c9c1d5ff8249e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c15c0058c4383" /><Relationship Type="http://schemas.openxmlformats.org/officeDocument/2006/relationships/notesSlide" Target="/ppt/notesSlides/notesSlide44.xml" Id="R6b5b458f37c246a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a8fe438f48f9" /><Relationship Type="http://schemas.openxmlformats.org/officeDocument/2006/relationships/notesSlide" Target="/ppt/notesSlides/notesSlide45.xml" Id="R6bf9da358e84420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dfba887143ac" /><Relationship Type="http://schemas.openxmlformats.org/officeDocument/2006/relationships/notesSlide" Target="/ppt/notesSlides/notesSlide46.xml" Id="R68a776b65e1b437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dc2f04d8743f9" /><Relationship Type="http://schemas.openxmlformats.org/officeDocument/2006/relationships/notesSlide" Target="/ppt/notesSlides/notesSlide47.xml" Id="Rf8904ecfdc97473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bdae6569e4190" /><Relationship Type="http://schemas.openxmlformats.org/officeDocument/2006/relationships/notesSlide" Target="/ppt/notesSlides/notesSlide48.xml" Id="R4472caf025164ec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f5110414045d3" /><Relationship Type="http://schemas.openxmlformats.org/officeDocument/2006/relationships/notesSlide" Target="/ppt/notesSlides/notesSlide49.xml" Id="R34eed5e801754c1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75218f6714a4e" /><Relationship Type="http://schemas.openxmlformats.org/officeDocument/2006/relationships/notesSlide" Target="/ppt/notesSlides/notesSlide50.xml" Id="R86d84dcc542547d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d1619e0364575" /><Relationship Type="http://schemas.openxmlformats.org/officeDocument/2006/relationships/notesSlide" Target="/ppt/notesSlides/notesSlide51.xml" Id="R7c97141770044ed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83a28d964426e" /><Relationship Type="http://schemas.openxmlformats.org/officeDocument/2006/relationships/notesSlide" Target="/ppt/notesSlides/notesSlide52.xml" Id="R14b9b04fab5742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862BD-30A9-4967-8985-07095B6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650A-7C73-48F2-B919-C4616615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Programming with CUDA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ECA06-87E3-49DB-B9F5-9C333AE9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5 teaches CUDA programming: GPU architecture, kernels, memory transfer, vector addition and trapezoidal rule versions.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E9B0B-546B-44CF-B67E-20FB4FD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57BE-AC0A-487F-864B-59CE2BA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84F6F-AC23-413B-88B5-583BCC4A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F593B-A1D2-43B3-B6BC-70D1BF97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17051-EFF6-45D0-A377-57D726F8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D6A8-42DC-46C5-B83F-B05B6155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BCS702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E18FD-7AB6-49BB-9518-CB4E16E7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CUDA • GPGPU • GPU architecture • Threads/blocks/grids • Vector addition • CUDA trapezoidal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3E22E-64BD-43B7-9EFD-AFD4B11D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9DDB6-1281-4F21-AC43-95CF21C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615D3-3E4C-47EC-95F3-901A04F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CUDA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GPU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GRID</a:t>
            </a:r>
          </a:p>
        </p:txBody>
      </p:sp>
    </p:spTree>
    <p:extLst>
      <p:ext uri="{BB962C8B-B14F-4D97-AF65-F5344CB8AC3E}">
        <p14:creationId xmlns:p14="http://schemas.microsoft.com/office/powerpoint/2010/main" val="96054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9FA06-9ACE-4919-A2A9-BB12ECEE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ED875-689E-48C4-9E1B-8DDFEF81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5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39781-95A9-4C15-B273-B3FB5DDB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84561-FD23-4144-B22F-2A23BE0C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6B123-E8AE-4F47-929C-5402D9C5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7445C-C45F-406B-ABD3-DA28F46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7CDF0-FD27-42D5-A5D6-9CC78A50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2C33B-EF09-4BFB-A9AF-B64C3A20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2192C-2066-43B0-A75C-5B28F12A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E4559-C43B-477A-87D2-8D79B9E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40606-8FB3-4D48-A752-C72FA327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GPUs, GPGPU and heterogeneous computing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92EAC-71C3-49A1-81BF-8AECC3A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E8A7B-8D8D-4799-A251-471E7BA1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D235A-A1E4-4FC5-83E6-D5145F2E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GPU architectures and NVIDIA compute capabilities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97357-20CF-4577-AA4A-667D95B2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10E07-DB41-44E4-8F45-36DCAC5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6CEA2-045C-437E-B0C5-5B45C5C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Understand threads, blocks and grids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B2E7F-8CD2-40AF-B8AC-47BECA8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F453F-F85A-4D74-B156-B48ACBB1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FF53E-AB31-4BC9-9F1E-D60946D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Write CUDA vector addition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27BD9-3E9C-4CE7-95D3-B2B0891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B1929-679A-4D61-A713-EAA412ED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744B1-FDA1-4C71-80E9-5EE21D8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Return results from CUDA kernels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2365C-8E38-4B97-AB44-69B8890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7057F-340E-4E77-9F9D-0CFF3FC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6153F-A7F4-4F2C-9B41-66DFB760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672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CUDA trapezoidal rule I, II and III</a:t>
            </a:r>
          </a:p>
        </p:txBody>
      </p:sp>
    </p:spTree>
    <p:extLst>
      <p:ext uri="{BB962C8B-B14F-4D97-AF65-F5344CB8AC3E}">
        <p14:creationId xmlns:p14="http://schemas.microsoft.com/office/powerpoint/2010/main" val="1099602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A99F9-48B7-4B34-88C8-14BD8F31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4C6F2-5D87-44DE-91AE-0B357961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CUDA?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51E2F-A115-4A53-BA17-DAEEC09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CPU and GPU cooperate in a heterogeneous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66C7E-51C1-4387-A430-4C760430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A7350-BFE3-4B43-8C81-9AAB19C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C60BD-D3E6-4FB1-A2A0-1443DF57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D00BC-EC61-4D60-8262-EAF1BD9F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6B402-C51A-4FE4-A080-56317AE9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E412B-4C3B-46BA-8582-C715B17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134A6-F0A3-41DD-AC01-0925282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 controls program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9BDF1-0375-4207-A4C2-709374B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C2002-0F01-408D-914B-E64978CA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6DA0E-8C4C-4605-BDC0-A442E25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copied to 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9345B-EF14-4D5C-A4F6-2E40695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A6BED-61B6-447A-928B-E40DA43F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0DC02-5D84-4C7A-8A9C-FD93ADD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GPU runs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FA28D-33D5-41F3-BD42-ACD69A5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7F384-4F61-44D9-B957-E4BC0E70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9BD43-AFC0-4744-8FA9-9D53C73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Result copied 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D5968-A161-4E0A-8063-3A1EFEF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9E26A-CAF0-44D6-BD2F-606CA94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DA09B-C014-4C7D-BE5F-60598BD4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 continues</a:t>
            </a:r>
          </a:p>
        </p:txBody>
      </p:sp>
    </p:spTree>
    <p:extLst>
      <p:ext uri="{BB962C8B-B14F-4D97-AF65-F5344CB8AC3E}">
        <p14:creationId xmlns:p14="http://schemas.microsoft.com/office/powerpoint/2010/main" val="1643311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156C1-BE12-4E3D-B418-59EF961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74762-F837-46B3-AB9E-E85FBA9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GPGPU?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2DBAD-A2D9-44D6-84F2-AE27C3F7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general-purpose GPU computing.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F4D64-E92F-4847-BF98-A7F1DCC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34688-2F10-4D93-97DA-3B7E9E7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C1AA-736D-4078-803C-CE8ADC0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DA679-FE86-4FA2-9481-DB2928BF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71CEC-7314-4AA4-978F-2DD3DBF3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E7629-F56B-42D1-8CD1-DD4919C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GPGPU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C3F2D-6EB1-4413-BFDF-04E50CC6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General-purpose GPU computing uses graphics processors for non-graphics, data-parallel computation.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324C7-E1D9-43BD-BCD2-06D8819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69BBF-5CF4-43B0-81FA-BCBA1B68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E4DD5-9036-42F6-9C1B-80AC70D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33EF5-8C22-41B0-98C3-1AA5E22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F11E0-D24A-4474-BCE4-63E165A4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General purpose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132C4-8DB7-4823-B22E-9AB2664B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F6BC9-B9A5-433A-B415-46D4EECA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DB41E-1469-463E-8197-358B37DA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parallel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68899-D662-46E7-805A-D9E632E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73774-257E-4A0C-BB14-DEF20568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6784A-D794-478D-9D61-0C14AD98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Throughput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099D6-CCB8-4131-9055-F62E75A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27313-0107-4A61-830B-4C99A0D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47E62-782A-4819-80F0-C0E7A83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Acceleration</a:t>
            </a:r>
          </a:p>
        </p:txBody>
      </p:sp>
    </p:spTree>
    <p:extLst>
      <p:ext uri="{BB962C8B-B14F-4D97-AF65-F5344CB8AC3E}">
        <p14:creationId xmlns:p14="http://schemas.microsoft.com/office/powerpoint/2010/main" val="1443817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44C2AF-B969-4D80-A399-3D283D2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800AB-A58C-481D-9924-5562F01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vs CPU thinking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F2E3D-DA44-469B-90CA-2EBD497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control and throughput.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EBF46-5A66-4326-A2E6-17750567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31BA2-9B7E-452E-BD84-BCBEC62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AA8EE-DEAA-4DE2-957C-9E4483E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3F270-D0A3-4C3D-95F1-88524B7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9376C-F8DB-4934-9703-3822535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7AADF-08EE-4DC4-BFCD-9349A75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B96DF-1994-4573-8891-FED7DC09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52BD1-BA36-4F9D-BA50-DC1A8B1D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C03C7-111A-4F30-AF71-A25D7D6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75EC7-85FB-4195-B32B-A581E04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08962-D2F6-48A7-9963-1069AC4A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508E7-9404-4FC7-B6AE-0C4F8C1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25B58-5A33-47D7-8BAC-677AD40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A37CF-486B-4A05-B676-97C1EA2E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A226B-A08E-468C-B6E9-D8E54B3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57578-5781-4EAF-89E4-BD0054B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Few powerful 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791B9-CC27-485B-97F5-E29130A8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224C1-E764-4E02-B757-298D7ED9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E404E-DCEA-47AD-AEDA-BDC711B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Great for branching/control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B264C-D4FA-4F8F-9CAE-B3C79F9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61039-FDB1-465D-8DD7-C645CC0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C24D1-8A31-4F05-8AED-121D6AD8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Large caches per 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2F1DF-E329-4D13-86A6-09E8B4B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034CE-FA64-45C7-9226-8253AF28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EDC8E-CE58-43BE-990C-0A9639A9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Low-latency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255C9-6933-4189-8FB1-397264D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88AF53-B08E-4BE6-9F1D-FD9EF1A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B4480-2680-457C-8B06-C863C57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Many simpler cores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D4B25E-6533-496B-8F3C-168E625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FCB24C-0FF6-4990-9CAD-158A2C85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5E0E1-03F4-4595-A4E4-136FD3E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Great for data parallelism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F9CB1-AB57-41DF-BAB5-8D505CB4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0839F-B402-496D-BD1F-D7633D2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5FC99D-AF8A-46AE-A84A-FD7CB93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 memory bandwidth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14C82E-2442-4C1E-BF71-34F7029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9D5E4C-31B8-46B0-A723-636CACB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3F34DE-2C57-40DB-856A-8081762E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Throughput focus</a:t>
            </a:r>
          </a:p>
        </p:txBody>
      </p:sp>
    </p:spTree>
    <p:extLst>
      <p:ext uri="{BB962C8B-B14F-4D97-AF65-F5344CB8AC3E}">
        <p14:creationId xmlns:p14="http://schemas.microsoft.com/office/powerpoint/2010/main" val="59486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63334-723E-4582-B868-A32A53A4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BA70B-2280-460C-8316-74C991B8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Heterogeneous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1162-977E-44F7-AE40-A334620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CPU+GPU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25F8A-5F6C-496B-88BD-4A068C5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0954-E5F4-4FA1-B4FF-ACD2DB7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D1717-AB0C-494F-9684-BF3271CB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723DF-0CAF-4C77-AAD1-4F587CDA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1AC0F-74F9-49A3-B336-E79A1CF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5AAC5-59D4-4278-B1FF-F57E3912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Heterogeneous computing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3387D-6FA6-44DF-BC38-7B6CFE8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Using different processor types together, typically CPU for control-heavy work and GPU for massively parallel kernels.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6FC4E-9B84-411D-B199-D535FD43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3EA84-AD5B-4C33-AD09-34195439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2B2B8-5245-4E4D-9FFC-EBAA18A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946EC-58B5-4A68-9CE9-A3B8340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41631-BC16-4D44-ACFF-C8492E1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D1573-83D9-4FA2-9B9E-D78C1E1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AF62C-2713-4A16-B3E4-DBA1317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2327E-6513-4EB3-A71F-B49D9CFE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62B43-49ED-48FD-A692-94495A2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9453F-6A7C-4A64-AE4E-310337AB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B0191-5E0D-4C98-90F3-882391E6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441D7-EC5C-4504-BF8B-293EDB3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520F6-8630-4EA6-AF38-DB3F214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EE994-B4BC-4FC6-9FB3-D57AE54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504619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AF564-2903-4968-A02B-A30D490E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E3666-8977-4A9D-8F47-62D7DD3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program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DEC8D-BB7F-480E-A4C2-18F7410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full host-device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0E23D-CE2B-48E5-AA21-0B0ECBD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FAF07-FFA5-4AF0-A808-4D68E7A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E787D-91E0-47C3-A9EC-ACA4FB2E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F81CE-2FD9-432E-8B78-57CFADB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BFB6E-530B-4100-BBFE-01C195C9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4814E-6ADE-4647-A4C4-CFFC337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3D5A0-8A4C-4B70-BD42-DF31D97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DE1EA-1431-495F-A069-08D86973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CPU 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739E6-4A36-4026-8203-FBA1BA6A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49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serial/control code, allocates memory and launches kernels.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450C-33BA-46E0-8FF1-69D65CF6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44BDB-2C49-4732-A671-E36BE82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CC3F3-1FD5-442B-8B6B-907047F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GPU 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BC032-56AB-4479-85FC-6D53FB4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495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Runs thousands of lightweight threads for data-parallel kernels.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C76D5-36DB-4423-A66E-EFCAC84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13944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6E579-E54D-4929-A64F-E2D0096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11658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cudaMalloc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5E7F5-B0F0-4063-A5DE-6B73AE3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0" y="46291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CF684-C258-4C2F-99C2-13238CB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0" y="4333875"/>
            <a:ext cx="13944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F9B1D-E5BD-432C-A421-3581A136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560" y="4505325"/>
            <a:ext cx="11658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cudaMemcpy H→D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B2610-1D21-4E75-926F-F343B6F4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6291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75E18-5E1B-46EE-ACE6-5D08FFBC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4333875"/>
            <a:ext cx="13944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DAB04-A9C5-42C9-B109-8259C911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70" y="4505325"/>
            <a:ext cx="11658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 launch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B635A-3AB4-43BE-8E3A-0ACCC6A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430" y="46291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CDD36-0157-46DC-BCDB-D863A091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333875"/>
            <a:ext cx="13944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7ADA5-A07B-48CB-9B98-40433ACA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505325"/>
            <a:ext cx="11658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cudaMemcpy D→H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7D14A-4D0E-4272-959E-E62E739D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940" y="46291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C6788-07CB-4BC2-BFE8-6D07FB1E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333875"/>
            <a:ext cx="13944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E3BC9-CFDB-46AF-86F8-18F5F0F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4505325"/>
            <a:ext cx="11658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cudaFree</a:t>
            </a:r>
          </a:p>
        </p:txBody>
      </p:sp>
    </p:spTree>
    <p:extLst>
      <p:ext uri="{BB962C8B-B14F-4D97-AF65-F5344CB8AC3E}">
        <p14:creationId xmlns:p14="http://schemas.microsoft.com/office/powerpoint/2010/main" val="1276152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DA0067-B568-4063-A403-4B5DD67E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80426-83BA-4480-B6AA-6EFF1E5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architecture at a high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01863-41D3-48E4-8495-F05DB10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major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E58C1-228B-48C5-A72E-CE9EE49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A20FA-7B6B-4075-8F95-D75ACA87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CF3E4-BD8D-4A32-9B44-30340ABF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A0390-6F70-4217-8AE8-787DA2C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8092E-81B4-455B-896B-90BC227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DFF1C-6725-4F78-ABE8-A7DC82F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6AEC3-6EB7-4E91-8BF1-40C5470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9F988-B4D5-494F-AD4A-1A2104D6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8731B-D9B2-4A7F-93CB-7F66D77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C7C11-43EA-4CCC-8B29-D1C958A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5F7C-4738-4874-9887-B930F8AC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Streaming multiprocessor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A2C28-45D8-4671-8264-CEA1E2D5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9DC95-4312-4F69-BE33-92F8D63F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11C22-C8ED-424D-92C6-25CC626D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CUDA 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9F63E-99A7-471A-A984-DEF29A9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Thread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9430E-EF38-4A1D-9BE1-78DE399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DC245-6612-4D82-A222-4755BFB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7CEA8-DC99-4F79-9AB7-06F35FC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Global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C2F7F-8EE7-4F22-B8E5-ACD1C40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 device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BB19F-6824-4298-883C-9F6FBB7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0ADD8-0F03-4355-B5D2-E1543750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0795C-7233-4BF4-9B9D-B27AA48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Shared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FA4C3-AC59-4D1D-A804-5D2551A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Block-local fast 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BE39F-BE4A-4D20-BC4E-7733393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6998D-18A0-4067-8D19-63ABF55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0A3A5-DA18-4381-ACE6-284739ED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Registers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7637C8-4164-47CE-8761-B3A4C51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Thread-private 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BCB27D-00A3-4D6D-B575-C5BFF97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DA546-9A03-4360-905E-394F482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6C4B39-877D-4B5E-BA22-A818869C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Warp scheduler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83C83-53D5-4B0C-A054-779F6A7E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Issues warps</a:t>
            </a:r>
          </a:p>
        </p:txBody>
      </p:sp>
    </p:spTree>
    <p:extLst>
      <p:ext uri="{BB962C8B-B14F-4D97-AF65-F5344CB8AC3E}">
        <p14:creationId xmlns:p14="http://schemas.microsoft.com/office/powerpoint/2010/main" val="15679676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ED38E-310E-47E6-A0B8-B5E11748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B4DD-E773-4A7B-9E24-9FEFA23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Streaming multiprocessor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ABD1B-03DF-42BF-BB6E-D61D3F9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SM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9B874-AF99-48A7-AA7E-38EB3FDD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BFBB4-7089-4E68-8380-72CE6DBD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A2F3-10EB-457F-9355-664A112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880C6-982A-4FB5-8DE2-F067BD1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79282-F785-4904-8F94-462AAC2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61BE3-A3FC-4997-960A-85B2807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BB167-A8DB-4405-B206-87EC07C2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4AC51-A787-4CFF-9725-AA40124F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Warps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C8269-BEE1-4DA3-BF2D-1CD3E56C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Groups of threads scheduled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6BA9C-60B4-428B-B8F5-C81E3AAD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C09DC-1979-4FD0-A508-DDC563D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5ED6B-B933-4FDE-BD39-ADB2546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04FBF-99C2-4A92-A33E-C1AF67FE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 arithmetic instructions.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CE7BC-9591-4E79-96D3-26DBF68F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60459-035D-4766-9CD9-1D3B5F1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68D1C-F007-4CF6-9953-B2BAB2E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Shared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7012B-4444-4588-AB08-445F226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cooperation inside a block.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BBB9C-55B6-464E-A937-7F3B030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72D4B-D44E-4052-B99B-407AA06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30AC0-A229-4118-989F-0135009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Registers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6BC89-3DBE-49D7-8202-C34418A5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Private per-thread values.</a:t>
            </a:r>
          </a:p>
        </p:txBody>
      </p:sp>
    </p:spTree>
    <p:extLst>
      <p:ext uri="{BB962C8B-B14F-4D97-AF65-F5344CB8AC3E}">
        <p14:creationId xmlns:p14="http://schemas.microsoft.com/office/powerpoint/2010/main" val="336214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31DC0-F1C7-41E4-9E54-0A7ADD6A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EEC22-95E9-48C3-A9A9-66C9ABE6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SIMT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A1BC4-7927-4C21-AE1B-12C69E0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CUDA's execution style.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541F3-A0E0-4836-BED8-880E9726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91D71-2F2E-40E1-85E4-873C873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E6FE9-2C7F-4E78-8310-36F257B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B6A72-EE20-4F8A-B8EC-5AD929CE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745EB-8A7F-4BE8-A64C-4745AD3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CEA42-A79F-4AE0-8DC5-E0F4E568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SIMT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43A87-49AC-4269-914A-8AA6B685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Single Instruction Multiple Threads means many threads execute the same instruction stream, while each thread has its own data and registers.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E0F35-6CAC-4125-B297-C357273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54C66-8915-4E79-949C-103BA44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99342-5D79-47BE-B9B2-9E54011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BB15D-1A3B-4056-B9C7-B65B7A3E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220AE-5235-490C-8160-C6606208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Warp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9861D-8440-4F96-A4DC-137C44F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8AB53-F6CA-4D45-972E-955DDE2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10943-0947-451F-B2C5-F53C6F6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Same instruction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C5BA4-E295-4E68-844B-025225EC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8CA84-EFB3-4EFB-9AAF-BA153CF1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7BD7B-0AAF-4039-BED2-34DF2F4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BE0E4-8E50-4E4C-B515-23C7D7E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DD070-EC5C-44A5-B5B8-551600B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0DE9C-AA31-4A53-8566-D989059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Divergence</a:t>
            </a:r>
          </a:p>
        </p:txBody>
      </p:sp>
    </p:spTree>
    <p:extLst>
      <p:ext uri="{BB962C8B-B14F-4D97-AF65-F5344CB8AC3E}">
        <p14:creationId xmlns:p14="http://schemas.microsoft.com/office/powerpoint/2010/main" val="1752845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62EA-8F3B-48BC-ACB8-6A584FCF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EACE4-B045-49F6-88A7-6265E161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Warp and divergence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E73B2-EA87-4F18-AF91-04E0C74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branch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6D67E-475D-4C3B-B9BA-80E2559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39E15-46DA-4420-923D-5163F6D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6A9B8-C430-4BBB-9680-A0C780A7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EB136-5BA3-4F15-8E6A-4FBBB98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D280-2F85-405B-8A07-2D5AAB5F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84602-54B9-4BEB-97C9-2D527D11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18EED-F7A2-4094-88F0-ED57FCC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68113-B135-4C71-B1A2-9C74295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Warp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465E5-0234-431C-BA9F-93733718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group of CUDA threads scheduled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0A92D-D994-4821-9658-CE4D106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C82F8-CF06-4149-B068-D8EA2FD3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B603-B611-4D2C-B147-1FA5F04E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Same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85F09-B0E0-4897-83E8-148ABBFF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when threads follow same branch.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989C8-07EE-45C0-AC7F-F1261BEF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6F1EF-10F6-49FA-AE0F-393032D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BE2CB-6F1E-4FD2-80EC-B47D9FB1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Divergence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122C7-2D87-4C47-874D-B79CBF23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Slower when warp threads take different branches.</a:t>
            </a:r>
          </a:p>
        </p:txBody>
      </p:sp>
    </p:spTree>
    <p:extLst>
      <p:ext uri="{BB962C8B-B14F-4D97-AF65-F5344CB8AC3E}">
        <p14:creationId xmlns:p14="http://schemas.microsoft.com/office/powerpoint/2010/main" val="1487802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6F6B7-E76E-4F97-9A4B-5E33CFCF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84614-FB57-466A-86ED-0200F8F2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memory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CB607-8F19-45E6-8024-9F79D4BD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memory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79E4C-86CF-40C8-9719-310802C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640F6-74D5-47B2-9B5F-7C2DC97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808B-EB9F-4C1B-BA12-D5D29E87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DF766-4B30-4EC0-B372-E28ECE6A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297BA-F64C-4643-BFA1-B1E493D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72D96-1379-45F6-AAD4-F2C9AC6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B937A-F8AF-4BC9-8DFB-D6D44B4E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3E310-6FB1-4C9A-A595-6B4BCDE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Global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2864B-EC06-4DD3-9503-7749DD43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Large, high-latency device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4EC55-90F0-4D50-90D3-8202D7D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32D42-D405-4A98-B2ED-F7CFFDF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425A2-EFF6-4919-9C87-8FDC9CA6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Shared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04EEE-86FD-49D6-9042-51DDD729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memory shared by block threads.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298FD-E302-4450-9A34-FE46C1E9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5A7D6-4861-4DF0-A2FF-D4674E6B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82533-E6DE-457F-97CD-5F0C77B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Registers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1F716-1111-4857-9BF6-E1B04B5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private thread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48696-EA46-43C0-9B0A-1705203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8E872-26D0-4353-9E25-78849D01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B7A84-3FC2-4AF2-AB0C-541D718A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Constant/texture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A7537-C6B7-44B8-AFA9-BFDF16B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Special cached read-only memory spaces.</a:t>
            </a:r>
          </a:p>
        </p:txBody>
      </p:sp>
    </p:spTree>
    <p:extLst>
      <p:ext uri="{BB962C8B-B14F-4D97-AF65-F5344CB8AC3E}">
        <p14:creationId xmlns:p14="http://schemas.microsoft.com/office/powerpoint/2010/main" val="1210833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1061B-E78B-49B1-AA0A-0B3A34D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A1BBF-3CF0-4F85-BCCA-5BBFF2E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Memory transfer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E144-EE34-4AD3-8C3D-5A2C209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careful data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24FB-B1AC-4029-A1F1-8CFF7D7C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8C612-E3D7-45D0-B17E-047A037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37FC5-B52D-4BCA-A158-A09212D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83885-E4E4-4AB2-9F54-6D0BC4E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43714-E877-411D-ACC8-C8F63ED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C7E55-AF1A-434E-A5E1-0F42CCC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91D5-C00C-461F-A825-E21DCEC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Host array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34952-D2C3-47E5-B98C-3FBF88A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D3B7C-7B9A-4D24-B3E7-B003965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DFE8E-A9FD-4EE5-9E59-8D5CF07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cudaMemcpy to 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2CC78-04E7-437B-8908-0F974F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46F21-656F-4568-9FCA-001F334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B108-1F0D-4953-A60A-AC9A06A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 uses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DE91B-E6E3-4C52-A5B2-B9673B8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31144-60EB-4DFC-8557-4CA7834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959DD-9C9E-45FD-A6F0-2314E6A1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cudaMemcpy to host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E6DEF-E652-4934-9912-D8678A5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DCC58-CFC9-47CD-B262-9220296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2B9F4-4A94-4F3F-9983-A3771D4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 uses result</a:t>
            </a:r>
          </a:p>
        </p:txBody>
      </p:sp>
    </p:spTree>
    <p:extLst>
      <p:ext uri="{BB962C8B-B14F-4D97-AF65-F5344CB8AC3E}">
        <p14:creationId xmlns:p14="http://schemas.microsoft.com/office/powerpoint/2010/main" val="1013327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64027-A025-4501-80BA-AC8878BD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C007F-9F67-4C83-A770-F9EDFCB5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NVIDIA compute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49CC1-D0A2-44E4-A9BC-AB86D5D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device architecture 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97BB9-1B7C-47FA-997D-512A087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54203-2508-424D-80B6-FA70A1D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BA73D-A7A7-4384-BD3B-BDDFD50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67AAC-6791-47E6-B653-BE6D69F5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Compute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1ABEA-AA78-4B48-8517-9EE1296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E62D4-85F7-4FE1-97E7-B74B6C23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Compute 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76299-A97A-41FE-8292-C4F4596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version number that describes the features supported by an NVIDIA GPU architecture.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9925B-3006-4908-A9DE-276E201E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E513-4D0C-4835-A1C1-D3AFF99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Major/minor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D1FAB-959B-4460-8A38-6943BE47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1F87E-BEEA-4584-813D-E61552A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D5512-11CC-45A4-B1BC-EF41EFA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Hardware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427FF-F446-4983-9F47-59DD862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71DEF-3279-4EC0-B02C-4725FB1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3F90A-3445-47C6-B3B6-ACB7D9D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F8C99-B4E2-495B-AAF8-D20FBB81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4FBB5-0DAC-49E6-9A2F-D0F1706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54253-2D7A-4D38-A45D-C9899668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Compatibility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44154-38EF-470B-8FA9-3A6471B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9F190-166A-4F17-B871-23ABD3E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B57BD-EE59-4BA5-A5C6-CF7B037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1656814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57344-EEAC-463D-83E4-4A04715E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2DF4-4578-40FD-B626-F069FE1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Device properties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3173F-5CE0-478A-9E14-79207BA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what to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88BC-6D6F-4C3C-A4AB-7199DF8D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0345B-494C-4BE7-BD35-8096A08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1C405-F68F-4420-8F49-6BB128F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7FB21-3FED-4DD8-8398-51FF90FC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Compute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82CDE-0967-42DB-A9B9-074AC530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CF769-65DB-401B-8DCD-D7F29E8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7DEC5-A9B5-43C5-8A58-70F8B6EE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723BF-92B6-4BFC-89DC-4CEED38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Maximum threads per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98130-4120-47BF-B597-7628F2A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1B720-65AA-4FEC-997B-720E177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C559C-D4CF-4E46-9CA6-FEDC15F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Maximum grid and block dimensions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E74EB-CC9A-40B9-BB73-C328799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32DFE-FA02-46EA-99B7-DE23D56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9B554-673F-4782-855F-5AB0C3F0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Shared memory per block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87F37-48A8-4194-A9CE-BC6B9432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D4FB5-79E6-4E98-B5C3-F027D8BF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DA024-E871-43C1-A901-225DBF1C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Number of streaming multiprocessors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5551F-17F4-49F8-9535-23AF4432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4A48B-C7F6-435E-8F87-3BBE73DA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77695-0BDC-4C7E-9F02-2F80DBBC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Warp size and memory limits</a:t>
            </a:r>
          </a:p>
        </p:txBody>
      </p:sp>
    </p:spTree>
    <p:extLst>
      <p:ext uri="{BB962C8B-B14F-4D97-AF65-F5344CB8AC3E}">
        <p14:creationId xmlns:p14="http://schemas.microsoft.com/office/powerpoint/2010/main" val="2635027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26C5D-956B-4A48-BAEF-F7A5B5F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11D08-7F64-4F6A-BD6F-F3E7160E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Query device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FF4DF-CBD1-4EC5-BB2B-5BF9A9A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code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4CAD2-39CD-43DA-8F72-9424420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55A26-A31C-458E-810F-935F324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12C9D-6B22-4076-9598-DD82C2E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5988A-F82D-4D85-8421-2F2C400C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Compute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2BB3A-29D8-4565-863A-CF505E0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2E5F6-0481-4A4C-975C-8296ED74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00952-D9A1-4CBB-9D41-50B2535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cudaDeviceProp prop;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cudaGetDeviceProperties(&amp;prop, 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printf("Name: %s\n", prop.name);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printf("Max threads/block: %d\n",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prop.maxThreadsPerBlock);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E2C2F-D06D-4084-8E89-D37369E0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C4218-2EAE-4E45-AF0A-D0D39009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21F94-8CAA-4CBA-ADE4-655B5144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C5630-C29B-45FA-8A8D-12207C15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9146854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D339D-DC22-4B35-B0C4-70419E2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A68E3-5DA2-47B3-AE4C-DF97B71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Threads, blocks and grids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EE333-E27D-40D0-B1FB-ABD3EE3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execution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A0E61-C06C-472C-BD46-BC7BAC96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29632-C825-4221-879E-0A08BA7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9F2D1-CD86-4773-B741-69D4233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07153-E296-414C-A48C-239E8DD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3707A-219E-4B37-B107-8B119B5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DBF81-A6C6-4198-AB54-ACEC6BF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3FA84-60F3-43EC-811D-91C604B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F4386-C72C-41B2-84B9-25B647D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05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E6626-A35B-45A8-99EA-2DC0ADEF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86025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 blocks launched by one kernel 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11D16-D2D2-493E-8670-02F91E6F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A2208-A018-4A66-BED7-836156D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35E33-96F0-4D60-A289-F1717AD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05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1D6E9-7B2E-42D4-8AFC-775231C9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86025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 of threads that can cooperate.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37F52-95A7-4CBD-A216-E79801D7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01970-8916-45BE-9A5A-FA047743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31332-D78E-4E99-9440-E28EF3F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05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Thread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B9291-51E4-44E3-A64D-D48EE94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86025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one instance of kernel code.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3D4B6-5428-4839-A87D-084F2FF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1623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3E2F7-6318-464E-8029-2C074AB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3944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gridDim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50752-64E8-46DB-B716-CF47CD25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9B401-1E4E-4AD5-AA8C-717F483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360" y="4191000"/>
            <a:ext cx="1623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EFC2B-644F-4CD6-B630-C2E1B21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362450"/>
            <a:ext cx="13944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blockIdx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EBB02-591B-4883-9436-6289D366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3E88F-5554-4CE0-ABDA-CD19B38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4191000"/>
            <a:ext cx="1623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D691F-D37B-43A1-B4AF-93EEA083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4362450"/>
            <a:ext cx="13944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blockDim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11D26-A6A8-4FAF-8A8A-D6C066C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5794C-D6FC-439B-8553-866DE1A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191000"/>
            <a:ext cx="1623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62C38-D28D-4901-A21D-BFF71259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362450"/>
            <a:ext cx="13944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threadIdx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80564-A3E9-45D8-8D98-0C10395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142DB-A635-4CDC-942A-BB53C5E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4191000"/>
            <a:ext cx="16230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F13D6F-D3EA-4000-B632-3221C95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62450"/>
            <a:ext cx="13944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global index</a:t>
            </a:r>
          </a:p>
        </p:txBody>
      </p:sp>
    </p:spTree>
    <p:extLst>
      <p:ext uri="{BB962C8B-B14F-4D97-AF65-F5344CB8AC3E}">
        <p14:creationId xmlns:p14="http://schemas.microsoft.com/office/powerpoint/2010/main" val="1344354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7D06E-8515-4BF3-BA08-3FA5B5C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0033F-6A59-49F5-97CA-CA171EF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Global thread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99A08-7F96-4495-8B1B-7EEB41D2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indexing formula.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54D05-B3D3-4197-B1DC-A7E8B5AB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B7CF2-9846-4CFC-958A-DF2F04A5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64738-CB11-4401-B084-AB97F4D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D6682-9767-44F3-8223-5B556D4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55227-0723-47F6-AE91-B798C3E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75C70-9D39-4B1D-998B-6E35DFE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D5398-E538-4803-9D61-9F00615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int i = blockIdx.x * blockDim.x + threadIdx.x;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if (i &lt; n)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c[i] = a[i] + b[i];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7EF1C-E790-4615-AE3B-CD61799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789D2-C82D-4923-9F65-33037FA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6C932-9F6F-4719-8921-CBAAE79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91448-1DBF-4463-82FB-87A5616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9593596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C61DE-72B6-4938-A0AB-58F704A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2CC6-BEC9-41D0-BEAA-E21B762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Choosing block and grid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BA730-B308-473D-9833-3613498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launch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66325-B083-4D0C-A0B5-74EC9719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F821F-4284-4460-A32D-1E4013B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7B15-F4F0-45FD-8886-CFAC3B8F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79538-A087-43B9-BA02-E06BAA3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0ED21-3EC3-4E81-A26E-91BEF4D4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D396-3ECE-4145-A585-A9A2FD2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F8528-12AD-41ED-82C3-A9A7BE6D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threadsPerBlock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D387A-3AED-4507-8736-17AC1D18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EBCF8-79C1-42E2-B496-D4EBFA25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6B71D-F127-44C0-9F29-1FAE5136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blocksPerGrid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6953E-B42C-41F0-9817-EC929BA0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C0381-3ED7-4BDA-BF25-2A14A77F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71DA0-86AF-4458-ADB2-A7F4702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Launch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F5F03-8639-4286-922D-634412C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8CC6F-9240-44DE-BAEE-4C87E6B4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E1F5A-1F4C-4433-83EC-2B7442B9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Guard i &lt;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33FAE-2CF0-4966-B881-A6C55E91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C9575-838B-4060-B5F5-EDA0E192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A4485-2DFB-4621-9787-D6EBBB9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Cover all elements</a:t>
            </a:r>
          </a:p>
        </p:txBody>
      </p:sp>
    </p:spTree>
    <p:extLst>
      <p:ext uri="{BB962C8B-B14F-4D97-AF65-F5344CB8AC3E}">
        <p14:creationId xmlns:p14="http://schemas.microsoft.com/office/powerpoint/2010/main" val="725183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1A201-5A96-4935-A23B-F07C207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25D35-8681-4178-B873-DF88A3B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Kernel launch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BC913-4499-47ED-841F-B664100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triple-chevron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26791-AD57-4192-B971-E8D1344D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0D86-C42E-4A5D-B778-C0758933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C5655-563F-4496-988C-530C1B79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FD126-6ECC-4131-8CB4-9EF3560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7566F-1F2D-4BEB-863B-2D6491C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65164-3E4B-43A3-AEB7-A42676CA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D5DE5-48C4-480C-BFD7-F9CD41DB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int threadsPerBlock = 256;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int blocksPerGrid = (n + threadsPerBlock - 1)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            / threadsPerBlock;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VecAdd&lt;&lt;&lt;blocksPerGrid, threadsPerBlock&gt;&gt;&gt;(d_a,d_b,d_c,n);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83447-262D-454B-B0A0-EA3C014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43370-5B19-495D-80F9-647F7E0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BB863-BE7D-4DDC-882A-49E7D22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78026-FD5F-4EF7-B9C9-80951BB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0172972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2030E-D553-4239-8A95-975C397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A2E66-3A58-4417-B2B2-F384A68D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cudaMalloc and cudaFree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5AC6-0D55-4E8D-933C-8BC3AF6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device allocation.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6CDF6-F535-4E72-B1B7-29979246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E4241-5704-49B3-A639-3BB2A6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60446-A6A0-4C0D-B913-A9107CE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5C3F9-6A6B-44BA-AC30-03FFD9B8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CUDA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D0281-FCF0-4889-B92E-B328E938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0D10F-133B-4231-A6FB-0EAF4547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2D2FB-8719-4546-AF64-48F3181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float *d_a;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cudaMalloc((void**)&amp;d_a, n * sizeof(float));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/* use d_a on GPU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cudaFree(d_a);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10D24-30D0-47AD-9DC6-6437B07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55C90-84F9-4BBC-9A4F-DEE524E9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FE55D-5FA5-4462-99F4-D88CB16B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C5164-44DE-49F1-88A5-CF5F613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8509568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DF88F-3D35-436E-81D6-64EEC24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C4AC-E5B3-4285-A019-910C3D0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cudaMemcpy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F4ADA-1A8C-4430-9B91-73FD22A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transfer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55154-AB7A-4B9B-84B8-571FD15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D3E27-13AA-41C7-9AF3-08125F0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F3D3E-66C6-4821-88B8-6C1D956F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3818-D12D-42FE-A6A2-729A93A2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CUDA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4B8A1-8AA8-457B-8E32-16305E9A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DC4F7-D348-487A-9C0B-060E6B0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EFF77-90A3-4EC4-A9AF-A00397A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22C81-9679-40C8-A411-730550FA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HostToDevice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61314-96E3-4090-88E7-A99F4BE0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Copy input from CPU memory to GPU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D3DD4-CBD2-48CF-9227-EC13E8A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D21A3-4237-4B5F-B806-72B1BCA0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359F4-3E89-41C8-98FE-E2FCFD6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DeviceToHost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C8B49-348C-4F60-8139-FA17E68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Copy output from GPU memory to CPU memory.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DEFAA-C2F2-4B71-83B2-94628C7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6F98A-E2A9-408A-851B-E800D95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769ED-4FA7-4821-996F-B5064F4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DeviceToDevice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81D9D-647D-45E0-A327-859B3821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Copy inside GPU memory.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96E62-4F47-45E9-9DA9-EDF95B2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EFB46-D3B9-4B89-94C9-AB262ED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9DC9A-A348-4713-8FA3-524C1073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HostToHost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69F6C-19C2-44FA-A759-16159009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Ordinary host-side copy.</a:t>
            </a:r>
          </a:p>
        </p:txBody>
      </p:sp>
    </p:spTree>
    <p:extLst>
      <p:ext uri="{BB962C8B-B14F-4D97-AF65-F5344CB8AC3E}">
        <p14:creationId xmlns:p14="http://schemas.microsoft.com/office/powerpoint/2010/main" val="17469362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B8EB-BFDB-422F-89DE-0655AD2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C6048-B418-4EBF-8207-3528034F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Returning results from CUDA kernels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5568-7FB5-4D57-B278-4845238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output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7075F-4A14-4057-8377-658DF9CA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D569-93CB-4499-BDD8-D238B0FF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77CC2-31E6-4408-98E5-2B52F7C5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551F4-5B06-45C6-BA48-59CD0C76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CUDA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6E2D3-C274-4221-AC0D-D4F0C5D2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A839C-52CD-423A-9795-0B6291B2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CE1C-F84D-4D51-8120-50186781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 writes d_result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D81E4-BA41-4F38-A2D6-5E2C4AC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ADE1E-0D46-46A3-A12C-E581317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F0033-9815-4179-B241-E3D46D3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cudaDeviceSynchronize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92F12-EFAF-4F3B-AFB6-CEB725EA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BFBB3-66EE-4584-982B-8CB52D3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48E3B-22DD-4935-90DC-6EB2F5A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cudaMemcpy D→H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2DFA3-C956-4187-BA10-D102FB9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356B9-10A5-4A07-AB54-8E7C2F7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AE555-316B-44BA-9307-A6B2DEC4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Check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EE6C2-38C2-40B2-A183-78DE292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E3647-4883-450C-846E-E21C9EEB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DC037-0275-4F21-B4AC-8A094CD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Free device memory</a:t>
            </a:r>
          </a:p>
        </p:txBody>
      </p:sp>
    </p:spTree>
    <p:extLst>
      <p:ext uri="{BB962C8B-B14F-4D97-AF65-F5344CB8AC3E}">
        <p14:creationId xmlns:p14="http://schemas.microsoft.com/office/powerpoint/2010/main" val="17014659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C807-8917-43A1-AF8F-3EE8ABE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690B-11EC-4009-ADFD-429302D0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error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A5CB8-38FF-42BE-B277-CB5BCDA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Add practical safety.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32776-81DC-4733-B422-3F45F929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D293F-5BCA-4C61-A328-6790C1A5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74B9E-7CAE-4FAD-8FBC-3B85A8E5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FC100-9C0F-4871-8892-A786ABA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CUDA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82071-BE8C-4F95-8619-F42EA88A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3EDB0-0609-4268-965D-D712806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6A40C-02DE-45B4-82FC-2C7FDF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cudaError_t err = cudaGetLastError();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if (err != cudaSuccess)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printf("CUDA error: %s\n",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   cudaGetErrorString(err));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7F816-092B-45DB-AB37-6032929F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9E09E-E8B6-49F5-BE51-E510D53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BA004-B57F-44CE-9928-2EA93309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28FE4-4357-4717-A848-B7DBD50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9409818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78C34-E1AB-4C30-A0B0-B13BD64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8B282-DA02-478A-88FB-12B041D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Vector addition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C5890-A740-43ED-B2C6-EA869359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first CUDA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1A369-ADF0-4B26-A2EB-261234A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88C8-2354-4A0D-AF1E-A4BEEDCE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D155C-A2D7-4F96-95A9-99408EE2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CBB87-3CF8-476E-8E0F-506E3734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Vector Addition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71B6F-A794-4159-A005-660F173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AEDA7-842B-4E14-ABA9-B0B47092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Vector addition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4F60F-4962-4617-A2D1-A779977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data-parallel operation where each output element is computed independently as c[i] = a[i] + b[i].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0822-B85A-44A3-8D7F-5F3F2B7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76CDF-2DB7-4303-B537-86DCC724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Independent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A025A-1051-44CF-915F-3E889B1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E5A34-B4D0-4B1B-AB84-185C82B7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7691D-0605-4C8F-B362-38E4773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One thread per element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0F397-5CA0-4521-B041-44DB44B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FE2FA-5C2F-42FA-974D-8C7094A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71EFD-9805-4B99-9E16-6421842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parallel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E826F-C9B8-47ED-B85C-AD0AE66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CFA08-3F2E-49E0-81FE-64373A2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1B0C6-5D49-46C6-82F7-260FDCC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4B4BF-A54D-45EF-80E2-87B288D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123A5-CA02-4B1A-BDD5-BDC96AE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20C99-A8A3-428F-A234-3474AE3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5860124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76CBC-BEDD-4597-A70C-E960A3D1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4AFAB-54DE-48CB-A9A7-9A1E559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Sequential vector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BE255-F71A-4597-B0C1-6D3087E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BE9BE-8774-4C97-B9E3-9FC4E4E8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26C5E-F7BB-462F-937E-04687F1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A288E-F86E-4BE7-A1F0-4476DDEA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B464D-EEF0-4F97-BBE9-ABAD725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Vector Addition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7EEA-EABE-41AE-BC16-7162B0A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CF9EE-994A-4DE7-9F6D-FCDD1083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66C98-E867-4850-87EE-66F86DE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for (int i = 0; i &lt; n; i++)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c[i] = a[i] + b[i];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44BA5-70E9-4C0D-B19F-A8D83F93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F5A9E-FEFD-4CE4-B850-F054899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39426-447E-45BE-BF4E-C00D5AAF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602BE-C278-42A3-AA49-07C726B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14258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8BD7A-8F96-457B-805A-B397C21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CCB41-CE3B-410E-8202-BB308480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vector-add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4E8B7-38E2-4737-8196-8902A4EA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kernel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33EB2-12A8-4A94-94ED-26B8BC21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5B41A-2B97-4F7F-A582-0A486EAF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34F9-601F-42C6-97C0-B328BF39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57E94-86B3-4689-9DB3-5F8B42D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Vector Addition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70767-04C4-48FF-A6AF-9E5D52C2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A0A3B-5688-443E-9D0F-178B218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05AAA-98E7-4934-8E68-AE1ED37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__global__ void VecAdd(float* a, float* b,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               float* c, int n)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int i = blockIdx.x * blockDim.x + threadIdx.x;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if (i &lt; n) c[i] = a[i] + b[i];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4D7D0-E736-4F85-B4B7-7A53348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476D0-81C7-4552-B518-0324194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0C0A7-C512-4C05-AFDA-1FBA2C3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CF966-02CD-4115-95B3-F358E250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5881326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BBB66-9137-46E3-A3D3-EAD8ADBE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1342C-4374-4395-9A6F-DC7B8BB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Vector-add host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B1E4-237E-4367-B286-F494C15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complete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6D8B6-4ECF-4897-ABDC-B351BFCE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2BD29-5C06-431E-A31C-3735774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AC641-7D73-4FD0-9AFF-18F80EA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02609-30F2-4ADE-85A1-908E893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Vector Addition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E6AB6-5C24-4137-B7AD-C834ABA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F0654-EA9A-412E-81CD-36AB1080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52E78-7A2C-4E56-9CB3-FB650D2A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Allocate host arrays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DBDF4-EF73-4103-8C7E-F72D6431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81E12-ECD2-4B6B-BD51-14FB8CA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F206F-A773-42C3-A86A-02F94E13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cudaMalloc device arrays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1C010-6408-4A65-AF46-0C42D07C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B9971-85AD-4194-85D2-4C27D3B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FF165-32DC-441D-A420-DE4D9BB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inputs to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07723-939B-479D-BCB7-E49E5361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DAADE-4946-49E5-8F18-8155937B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A0134-C227-4A0D-B710-5F469FA9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Launch VecAdd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A6414-F400-4E60-890D-6F887F87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580CC-DC4E-4BB8-A70E-8D23743D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330C7-578F-4EBF-9CDF-5686A06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result back</a:t>
            </a:r>
          </a:p>
        </p:txBody>
      </p:sp>
    </p:spTree>
    <p:extLst>
      <p:ext uri="{BB962C8B-B14F-4D97-AF65-F5344CB8AC3E}">
        <p14:creationId xmlns:p14="http://schemas.microsoft.com/office/powerpoint/2010/main" val="12854876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704DA-D9C9-4E7F-B1F3-F99354E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59BF3-416D-4FFC-B2C5-6734A75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Vector addition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C24E7-BB39-49CA-8063-49A5A30F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lab bugs.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217A-E18D-442F-A2BA-A3480C7C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24904-452B-440D-96D7-5651BC3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D706B-CFFB-4273-B101-F8B0729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238D0-E846-4766-A515-015BAE63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Vector Addition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194A3-88D7-4AE8-93C1-E5E0B26A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23503-875F-4E48-A5C9-0A366E7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D203B-99B3-466D-9B03-87C05ED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ADB21-7266-4102-9D1F-90FA067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Forgetting i &lt; n 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9D9E9-AEFF-4A23-8771-0327578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91831-AC5E-48B1-80AF-8978B6E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6470E-3B58-4F1C-98B3-04ADB4AD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host pointer inside kernel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A0F7F-A194-4DD9-95DF-5CC4B08F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D04BC-04FF-4A71-A05D-171ABD52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B519B-CACD-4196-A7E6-98972031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Forgetting cudaMemcpy result 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D6456-D7C9-417F-8F49-EA617BDF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00B2D-93E5-4707-9B8F-9784A75B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4206B-D523-4AD9-A5B4-C9E1034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Launching too few blocks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20DF6-C7BA-4084-B95C-2E582AA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F8393-D56A-47EE-97CA-93F97621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355E4-04A2-469C-94C9-9ECB99FE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Ignoring CUDA error codes</a:t>
            </a:r>
          </a:p>
        </p:txBody>
      </p:sp>
    </p:spTree>
    <p:extLst>
      <p:ext uri="{BB962C8B-B14F-4D97-AF65-F5344CB8AC3E}">
        <p14:creationId xmlns:p14="http://schemas.microsoft.com/office/powerpoint/2010/main" val="14305243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BB819-77A2-4CCF-825E-7DD4648E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3426E-1B60-4AA1-AEF2-77237AB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trapezoidal rule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0A42D-9905-492A-9096-42A45DCA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first 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DD960-3DE1-4B3D-93E4-EE4BE09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55D3B-7CBE-41DB-B46A-4C0665CC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2F536-517A-415D-93C1-DD7541D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29386-3893-4C14-B221-18F8966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F7AB6-2512-4EF2-9804-B9682419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3B8D4-FA7A-4F9B-BC3F-AD2E239D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CUDA trapezoidal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29EC0-1DBF-4E85-8626-66DAF033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GPU version where threads compute partial trapezoid contributions and results are combined to form the integral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06911-50FE-4004-9AB1-E4E78E9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1E429-1F4E-49FE-ACD0-73692EF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Integral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3B26D-61EA-4745-94F2-718173E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57A7A-9785-4EDC-8AFE-1A5E5CA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3E878-3A7A-456E-B91B-43A8AA5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Subintervals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3CBFA-F65A-4770-AF04-EEE69E33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BAB4E-F15D-4739-871F-648477B9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0CE1A-E350-4EAA-BADA-9CB40D8D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6470D-78C4-41CF-B00C-1426C60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A0724-6C0B-4309-B59A-39C20C3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E5617-56CC-4B67-8481-EE0A8B5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Partial sums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6CA9B-7BDD-4545-B93A-E0D8CE94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F34EB-58DB-4D1F-8763-2F46FBA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B5AD1-1FEC-481A-B071-58AB4E5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860959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DEBFB-57A7-4ABF-8EB0-7EAF9267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24CC-9CD9-43B6-BDE9-5C303C3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Trapezoidal rule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A7B10-4B3C-4E4E-BE5D-F7ACBD7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thread assignment.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7277C-195F-43B2-AD7D-E61C403E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E9214-F361-40C3-9920-7260FFA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B7AB3-DB30-4262-8AA3-94A8339C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7B66E-A872-4F20-9B76-2A06DB6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70B1A-01CF-4256-979E-B83D8C2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76D4-31E7-40B8-A9C1-C173B7DF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213E7-22C1-4895-8496-9DD0449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 trapezoids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8FDED-A1DF-4D60-A62F-0E67D058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4BCC6-427B-45D5-A830-F76F583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02FB9-B815-413D-B2DA-2CB297C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One/few per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F9DA5-41B1-4B8B-965C-4FB5CE8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B2352-4640-426C-81D1-66EAC7D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9D126-16BB-4AAD-AE3E-85A012E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f(x) contribution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FFAC2-06A6-4F37-8C19-45A4E7C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525FE-8056-4504-8E03-BC32922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66567-9879-4344-B41A-0E3DB46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Store partial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5A112-69EF-4F88-942B-C92CAC1E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81CEB-A189-4BB1-AC4B-675ED77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383B3-504D-40D7-AC09-71FC9090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Reduce/sum partials</a:t>
            </a:r>
          </a:p>
        </p:txBody>
      </p:sp>
    </p:spTree>
    <p:extLst>
      <p:ext uri="{BB962C8B-B14F-4D97-AF65-F5344CB8AC3E}">
        <p14:creationId xmlns:p14="http://schemas.microsoft.com/office/powerpoint/2010/main" val="4511131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23BBC-A2F0-4729-BB57-F99519FB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650B-D306-4253-8B19-C061FEB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trapezoid kernel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50193-C37D-4AD1-93A8-DB2FE7A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simple code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30898-2CB3-411D-95A8-67A93EE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07B10-3DA6-493F-B372-1B872279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26B9B-C5ED-4DC2-B113-240D9EEA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85C66-CDAD-494E-9D2C-C3933A3B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EFF31-2339-4D1E-B9BA-FDF7678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C35F4-5E6B-4E35-BA35-653377B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8EC42-3DD2-4E62-943D-AE4E445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__global__ void TrapKernel(double a, double h,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                   int n, double* partial)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int i = blockIdx.x * blockDim.x + threadIdx.x;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if (i &gt; 0 &amp;&amp; i &lt; n) {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double x = a + i*h;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    partial[i] = f(x);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0F70F-56DC-4B9B-BCFA-11F261C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36EAA-42BF-435E-96B9-EC655F62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7FE48-14E9-427C-B081-DF5CE48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376FC-DB5F-4B91-8BEF-321D970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7918330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46171-17A0-4D93-9842-3C3A076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88667-FE4B-4114-A216-50F687C7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Combining partial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99D68-C74B-45D6-BBBE-9D150C9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reduction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242CC-2458-40FE-BFCC-FF278FB1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2A0C7-0C8E-40B3-8DAE-ED487CE5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90BE8-5AB8-4A47-BED2-E4AF320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ECE4E-A064-4BF9-A7DD-016E663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06487-8FB2-49BF-A84F-717D9FED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D3C1C-7112-4468-8FDF-C538078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9A556-34D7-4212-B744-2CE3D3C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Partial array on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2572E-3618-478C-9AC7-E519D65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B5C05-AB8E-4339-B4A6-5CD728B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6D3AA-B77F-4A6A-8B4E-C0DC1D0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partials to host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2C19D-E2CF-4E41-985D-BFD845A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6334D-57ED-448C-A1AE-11AE071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2DE4B-B7C3-4223-AA19-4A4E14E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 sums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CB811-8C42-4F97-8442-2A0732EC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C6FE2-ED89-4626-A3A9-3A7CCA7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734F8-59D9-4232-9BFD-DA324E5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Add endpoints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26F09-D1B2-4761-B3AC-3BC029A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FF0B7-3CDF-4845-A1E4-14E81F00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66F2E-BF13-4D0C-AB6B-A36B9C8B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Multiply by h</a:t>
            </a:r>
          </a:p>
        </p:txBody>
      </p:sp>
    </p:spTree>
    <p:extLst>
      <p:ext uri="{BB962C8B-B14F-4D97-AF65-F5344CB8AC3E}">
        <p14:creationId xmlns:p14="http://schemas.microsoft.com/office/powerpoint/2010/main" val="20810393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10678-79B9-493E-A2EA-ED719D9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1AD27-9F0A-4D9A-B870-82900CE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trapezoidal rule II: improving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0C9BE-5427-435F-BFEF-F3DF8CD5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optimization.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CF5A5-4451-4052-A6AF-0B07BA2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0C9C2-6835-4196-B214-160E2AC8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91EF-0F32-4CE2-9179-504ACA2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F7CD8-DABD-4446-8FB9-CDAA2C0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1AE05-3EB9-4C81-AD9C-AC9D290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D921E-0211-42C8-898C-E3015A2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Trapezoidal 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37B92-1C72-4D4C-AEF1-52AB5131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improved version that reduces overhead by doing more accumulation on the GPU and reducing host-device data transfer.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498C1-F89A-4DF0-ABF2-1772128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CA9E4-D636-425D-A304-ED87D2E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09FBC-4258-4B1A-9E46-5730A36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2C563-B913-4F29-ADC2-7C6BF98D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B1521-4252-475B-87D7-96561570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Less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BE784-A5EA-433D-9460-B25E65A7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DD2E0-1F0F-4542-95E4-4897150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6D705-3509-431B-8E70-FD26685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 sums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10859-A572-4FC9-8075-783E7BE0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7C8B4-0F82-44AA-B7D6-76E06C4D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D80E0-EF47-46B0-B9B1-C4B4ED6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3F9B7-EB26-4E6B-A89E-6FE2BEF7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891A5-3B17-4FBA-AC8D-64DE965F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CA967-F7A8-482D-8171-563EA6A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7828071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21623-521B-43A0-BA3C-1E9E1E9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BAFB7-4443-4B38-A79A-827CD11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Block-level reduction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9AC3-DB93-43B7-978B-D7782B2E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improved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1BFF6-F401-47B5-B80A-2EC975B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89BD3-7506-4323-8383-D53E37A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5C353-D5FF-4A60-99FD-7CF2CC36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CAAE-B7B7-4E04-B550-E7D9F763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9A3F6-FA5C-4686-91C6-59AC643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927E6-AE72-4D5E-B942-58029720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ADC9-761C-4A6D-81F7-FB7E585B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thread computes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B1867-607E-4C98-B824-12BC762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941F-D735-44D9-8044-BFB0C9D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D183A-CC41-4C30-AF60-5135F453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 reduces in shared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4E595-3265-4559-A80C-6EF64D5F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3FD6D-9906-4BDA-9C11-E8BD154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83EB8-27A5-44A1-ABED-B8BCAFF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One sum per 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8DA4E-28A0-4F79-ACF1-7C9375D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90E54-B5CE-4D21-B6BD-0D2910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59001-1547-42F6-A998-01A3597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block sums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01A28-7AF0-431B-9B67-F646333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5BB2F-905C-48FF-8419-7D38F6C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7B53E-B383-4413-8F4C-D14F0C4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CPU/GPU final sum</a:t>
            </a:r>
          </a:p>
        </p:txBody>
      </p:sp>
    </p:spTree>
    <p:extLst>
      <p:ext uri="{BB962C8B-B14F-4D97-AF65-F5344CB8AC3E}">
        <p14:creationId xmlns:p14="http://schemas.microsoft.com/office/powerpoint/2010/main" val="12518001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8B02A-A245-4DDA-B878-98D4D31B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1C57C-F3BC-4E80-B94A-5F80984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 memory reduction sketch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F787C-2AC9-4ED8-9F78-A5C6D17F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conceptual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E9BC4-C42F-412E-8D27-FDE5A191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6D6EA-BD77-46A2-891F-19244AC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A3874-5FE0-4A4F-814C-6198E94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2CD85-F575-4252-B047-5FD1E3B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8819E-B8E7-40B6-AF0E-D2CD33A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79E97-B481-449E-BF53-0629201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B3D19-455D-4845-94E4-2E3E0771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extern __shared__ double sdata[];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int tid = threadIdx.x;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sdata[tid] = local_value;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__syncthreads();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/* reduce sdata within block */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if (tid == 0) block_sums[blockIdx.x] = sdata[0];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D866F-7442-4B96-8C42-2FF301D4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3BA5D-30DA-40B7-9FA8-3ACA465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E5B2A-7C9C-41E3-AB01-F3079E8A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CUDA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3D52C-721C-440E-8470-F9F1C8E2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14650"/>
            <a:ext cx="2305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CUDA code by finding host memory, device memory, memory copies, kernel launch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20612135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3DA44-ADDB-49F5-9EDF-2678E268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1CE1E-AE9A-4BE4-9DC9-65F1EC5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performance improves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C54ED-25E8-4271-BE30-CE8DB8FE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B24B-AA36-4534-87AC-5F2D9A9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BCDEA-41B3-484A-9D10-7691FC8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81C57-96D7-42CB-962B-DF44673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53411-6E02-4121-B1ED-3B4F6D7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9099D-7EBA-41DE-AE25-FB93AAC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0F15C-8003-4290-B6C8-FB82D79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3DE15-CBF6-4F4D-B89F-BAD29FB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B22E1-8E82-482D-BB65-3A60D521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Fewer values copied back to 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60E59-A72D-47B8-8748-3A3780D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ED96C-C456-4141-9280-9493E6FC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9A46E-9E3C-4235-B563-D6F1DC6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Shared memory is faster than global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434FE-8F5D-4123-B8A9-12A90C12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ED89D-DFD9-441C-BA35-64C5A7B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34B48-CD42-4F71-9FFF-FD63B8CC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Block-level work improves locality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20D6D-5150-4E70-9E5C-A6BFF93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5D713-7826-4424-9DB0-17F7325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53522-FD6F-4071-BB80-BA210961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Less CPU work for final summation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F6A79-E00D-43AD-BED1-A53A868D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FEB75-80BD-4152-B309-84B45CC1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1F2B7-EE32-4E89-A81A-C85A7322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Kernel still exposes many parallel function evaluations</a:t>
            </a:r>
          </a:p>
        </p:txBody>
      </p:sp>
    </p:spTree>
    <p:extLst>
      <p:ext uri="{BB962C8B-B14F-4D97-AF65-F5344CB8AC3E}">
        <p14:creationId xmlns:p14="http://schemas.microsoft.com/office/powerpoint/2010/main" val="197476673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4A83B-BD78-4913-8F90-AB11AFC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C1C67-2EEA-4B59-AE6F-FC6B9AE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trapezoidal rule III: more than one warp per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0E02D-EC48-46AD-8B75-16FF073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block configuration 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80EED-6BEC-492B-861A-587248D2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90B5F-B0BC-4C16-A15D-ACA7BAF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33CFD-D120-452E-AA1D-E63632E5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CFF56-1724-4E6A-8F14-2D05953A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C50C3-A25D-45EB-AFCE-27FB4B9D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9D29B-7D5E-4122-9BE5-303EDD4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Trapezoidal III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22F6C-9AB5-4001-80DB-579605E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further version that uses blocks with multiple warps, requiring careful synchronization and reduction across more threads.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91AD7-52D2-4F34-B516-9AD1BC52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A5E90-A877-49AF-88B0-198DC67C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Warp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D5502-8C51-478A-8536-45AF39B0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AB70E-0AF7-45F7-9DCD-C177BC40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D7578-353A-41CB-9950-41EAADD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0787A-F872-4922-8EAA-5FA917F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E44B9-E263-4A64-9D62-D7AE25B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25ED0-0318-44C7-8B6E-6357085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9BFB4-E661-45EC-A3FF-E2823110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5DC2C-D4E2-47CC-916F-205B694D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ADAA2-EB85-4F1A-B74A-CD0F149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83C11-5F67-4EC9-908B-8AE6566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543E8-0092-4A90-B53E-A44B965B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691DD-069C-4F60-8C14-5F64B12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8899185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8DD3CB-88C2-481B-B063-73E4C6D4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AD1BB-030E-42D4-AF80-4C76A936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Warp vs block thinking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562D-90E7-4F22-9D1D-788942A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levels.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2C748-9D82-45AA-8BC9-ED6895A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6B143-75FA-46F9-9415-260AF4E6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FFEC8-1AE3-4FC2-A992-7F6B380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1D1E1-0B2F-495C-BE8C-9F769BDE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A10F3-B0CE-40CA-89C7-3C2B40B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5C6ED-4201-4456-B511-6CEAC5F5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D81A6-5BDC-41B9-A425-789B55B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28716-31D5-4E21-A784-D6287FE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Warp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253DE-CC89-484F-AABF-42BE9DE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4B482-BCB9-4EF6-83AF-2E154ECC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62CAB-1CB9-4F04-8404-0B257E2E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3BFC9-B138-435E-BCE0-27203EA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5028D-C071-43F7-8865-DA23D3E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2275A-1A1E-47BD-A5D3-B075E6D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11624-EB21-40CE-8E67-6612282B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E4345-7243-46D4-A71A-F73CD46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Usually 32 threads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9A9DD-61C0-4945-95C4-3FC9D33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CAE13-02E8-4317-87F8-558BCDF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67B0E-321C-484C-91A7-81757B5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Scheduled together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35267-0D95-469F-8696-2A9CABE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6A0CE-A66B-409B-A011-58661A3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5B091-3F77-4F98-BC16-48A4FDAF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Fast warp-level progress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6BCA4-802A-4BE4-A3B1-05E1F03C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F7AE8-9696-401D-87C0-295E182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EBE61-5486-4D68-8FBF-BE02DE69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Divergence hurts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07A43-34CF-48B0-80DB-641359C4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5F5F6-64E7-42F1-91A7-8D5E412F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88BB5-7255-46A1-BF5E-2C07901C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Contains one or more warps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0AFE1-03D7-4E52-94D5-D00948A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59757-FB85-45FC-BFF0-AFC2D20E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30CB5B-9F3B-41D8-A623-B6295F7C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use shared 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F1FCD-DEE0-424E-9DF8-F5CC046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F1D292-53BB-4C86-8082-FEF7793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22D14-063F-4B74-B543-0D5B955A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synchronize with __syncthreads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533570-6FD8-45C3-8CEC-5F96894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E2D566-A84A-47BB-8B5B-D00CBC2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4EE8C-AE0B-4F08-A54A-F30EBA5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Maps to one SM at a time</a:t>
            </a:r>
          </a:p>
        </p:txBody>
      </p:sp>
    </p:spTree>
    <p:extLst>
      <p:ext uri="{BB962C8B-B14F-4D97-AF65-F5344CB8AC3E}">
        <p14:creationId xmlns:p14="http://schemas.microsoft.com/office/powerpoint/2010/main" val="2459193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3A2F0-C827-4535-8351-900385C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C50D1-2B30-4EC1-97C6-D79C7116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More-than-one-warp block reduction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7E512-9457-4B96-BB66-739A6DB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2B13-51CB-4DBF-BD0E-F00E1072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014DB-4CED-4375-9598-EE81396F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A8B54-DBEF-4F35-BC2A-1D8EF76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AC1E0-8B8F-4113-815B-DBE48380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2EB0-8F8F-409E-9B89-33BB1DE0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9C846-EF44-4B72-87B1-EE1495A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C1A07-5C0D-4B4D-9EB5-ACE0540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 compute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F04BC-B4DC-4D73-9EE5-3B8C6FA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BFECB-C629-4535-BDE5-656C4DC3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97136-7FF9-4259-B97A-5F697B8F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Warp partial reductions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394C7-5399-4090-9C03-CA588E1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0C84A-665E-4F4D-B719-C80C700F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9A846-FB61-4E26-BCC4-8898A3A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memory stores warp sums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4274B-AF40-49B1-A832-48B4EC90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566FF-5388-4240-A46C-08E1A5F8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5FA2A-ABF5-47C8-850A-51BC5331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 combines warp sums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2834E-9EAB-4E7A-8888-064EE590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364E1-E960-4E2E-AE32-2DBD1EC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5D4EC-BE86-466A-94CC-38D8E529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Write block sum</a:t>
            </a:r>
          </a:p>
        </p:txBody>
      </p:sp>
    </p:spTree>
    <p:extLst>
      <p:ext uri="{BB962C8B-B14F-4D97-AF65-F5344CB8AC3E}">
        <p14:creationId xmlns:p14="http://schemas.microsoft.com/office/powerpoint/2010/main" val="10086773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1F797-C842-40AF-813A-AA8C53A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F7ED4-DA40-4C0A-9779-105EF7FD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Synchronization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43365-9E31-4695-A428-E5CCA232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correctness bugs.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9C77-7025-440D-8223-6B67A96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B288C-9EE1-42FF-A628-C65A23C9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FC99E-BA2A-4E79-AB92-E837AFFA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3CA1-F09B-43EF-B89E-94E2ECA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52DD6-2E99-41C2-859B-F079027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DB3AA-1E6C-432E-BD52-7024CF2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A49A8-B929-4E50-B10C-A2B54E6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37B70-82D0-4976-A652-50E42AE8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__syncthreads synchronizes threads within a block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7613C-F4D3-4C47-9A8E-384ACA6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EEA63-8D38-4DEE-8A3F-AD1C610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AC51D-6B33-4BAD-B3FA-8A27375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Threads from different blocks cannot synchronize inside one kernel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29D36-4DBB-4EDB-849D-04021A9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8A999-DBB9-4DD6-BDC0-1A8101E8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5F0F-FFE7-454C-B7D4-57FB4E2E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Shared memory is visible only inside a block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FFE0A-F836-47A9-BB74-86F5DB1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05305-5032-4B6A-A5EF-660FA01A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CDEB6-13DE-46AD-8D77-7F3A094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Do not read shared data before all writers finish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ADF70-D197-444F-8EEC-C36A088F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98DF6-94DD-4F00-BA9D-9A936C0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B0B54-C445-48E7-80F6-94620C07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separate kernel launches for global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338860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F1779-A362-4B8E-B0AA-9C4B2C6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93FBC-1D35-43D9-A0BB-F3E9A999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performance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FB245-E493-4B8E-AAFD-D7158DDB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what affects speed.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5B518-151B-41B7-A377-198F52F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92482-F925-4D83-9F01-C0A9185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0A10-DB65-413B-A026-02E4479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E42CF-40EA-47EB-9C21-A318D88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3BC67-371D-46D4-BBE9-BFC11E2E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1B6F7-486C-4F68-980B-C1C8A48B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B709A-DA71-4E8E-9B04-4789015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684C6-F7B3-4D01-9A02-E330BD6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Enough threads to fill the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61C4-5323-49FE-8477-4179F3A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229D3-E5CF-4796-A82F-F513DBA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EB6F5-A6E6-4BC1-8EB3-2897673B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Coalesced global memory accesses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3E313-AD3E-4986-90D5-510119FB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8296E-25FF-4178-8952-461CA61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82F64-DE84-4037-B9E0-B3C42FE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Minimize host-device transfers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2C1A2-BD22-4A1B-9521-FD54F20F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169FB-A7EB-4772-912F-6B00824D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63C2E-929E-4F17-B277-54084FB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shared memory when it reduces global traffic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11896-DE2A-4B35-9C32-AEA5640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379C0-4E20-4743-883F-1512B23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0DCF9-C9F7-4B72-B020-ECF566C9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branch divergence and excessive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0232639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B32D7-138D-45E8-91B5-07E1322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D46B-C000-4A4A-B6DF-EBBAFC1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timing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6386-05F4-4AA3-B0FC-F72B612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measuring GPU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85D9A-270A-47F2-9904-0B6602D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68D06-1CE1-4184-A35C-23FD7965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9F9E6-26CA-451A-901F-17BBFA4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F7A98-9BA4-4248-8BC9-9CE7F4E0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43EB8-5CBB-464C-BCDB-D877152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5AB93-8A80-442C-B1E0-961FA999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44941-A488-4395-9357-9EC8AF0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Start timer/event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A518A-56CA-4DD2-880B-A3AC1BA2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4B36C-B35A-471B-85FA-0E0418F5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1A345-56DF-4808-8FDA-DBEFAD5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inputs if included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E27AB-4F8F-4E27-B9F6-EFA2751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AA205-F3F4-45CD-9F47-3BBE4E0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53BE6-672B-4168-A9D8-CDF9C0B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Launch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EA56D-E3F3-40D4-85E2-8E71BB37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12903-E06C-419D-8768-2BAA0376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E36F9-3CC3-45A8-8FEE-F3C94EF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483C-8541-4E94-A2EB-3AFAA53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27F3C-BCC4-4A71-8C43-0A7D717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581AB-A7F5-43FC-80E8-5DCD2767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Stop timer/event</a:t>
            </a:r>
          </a:p>
        </p:txBody>
      </p:sp>
    </p:spTree>
    <p:extLst>
      <p:ext uri="{BB962C8B-B14F-4D97-AF65-F5344CB8AC3E}">
        <p14:creationId xmlns:p14="http://schemas.microsoft.com/office/powerpoint/2010/main" val="204435684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907D5-700F-4BB5-9CC0-585C13E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A2DE7-E47F-4987-B788-9673936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Kernel-only vs total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F7DC-6D11-45D3-A583-A143FCC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timing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95466-30D8-43E9-9C6D-37EFADC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9499B-EB7E-48AF-9277-7D762E9E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03474-7501-42D4-B943-04907F76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09D5B-6056-4787-91F4-21AADF73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2C90A-49BD-46F2-86E3-96D341D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4E55C-EBF8-4133-9446-021643B2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BCD2D-CE12-451A-A10D-3AA09B8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B5C5-25D7-4C72-B62D-6BE0691D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Kernel-only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2DD36-1FD9-4A35-B144-8B42C143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766B7-431E-4F1B-88CD-78D52E1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98051-A4FD-42E9-A5EB-51E7071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B9E45-8060-49D2-82CA-824FF1F8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Total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73D91-1E07-4FB2-92E1-708123F2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0EEF8-A64B-4E69-9DE2-0C24096C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3DAE6-B73E-4987-BFD5-DE07950D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9A373-5457-460D-8A56-2FBEE421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Measures GPU computation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BB39B-A5C7-4D60-B974-CF196B1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D3B34-979A-4F94-84A7-1D78D612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4C4E1-55A4-4DE3-8CD4-27B95DE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for kernel tuning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C330D-37B9-4E1E-AE85-AE09331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89576-6EFE-4972-90D8-43787C8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23A4B-C23A-4FE9-9A76-D418C7D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Ignores transfer overhead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03636E-9883-4C2C-A1F1-FA1A18C4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5F9FF-F627-4EE4-B7C7-99C7E5A7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48A4F-51FF-4F1A-BCD1-8790B05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overstate application speedup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62176-B57C-489A-BADA-A7D9772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E1445-4F36-4118-A9E3-A7EE3A4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238B8-50AF-4B38-894F-75C6E93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Includes allocation/copies/kernel/result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0FF0C-CC38-4085-9C0A-BAB366FE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24903-0AF6-43FB-8E95-B790B11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49010-F79C-45D1-B19B-2E38463A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CPU vs GPU comparison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2D3BA-6B14-4A56-9579-37EC0929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79FCBA-E3A5-4237-A49A-31DFA5A0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297A70-846E-4F01-A13A-A3A6D3C8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Reflects real user cost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D8C386-CD60-4C3D-9D72-36D026C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FBA44D-33A0-4C39-9441-AA543AC0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FBB09-4873-401A-A33C-808F3149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May reveal transfer bottleneck</a:t>
            </a:r>
          </a:p>
        </p:txBody>
      </p:sp>
    </p:spTree>
    <p:extLst>
      <p:ext uri="{BB962C8B-B14F-4D97-AF65-F5344CB8AC3E}">
        <p14:creationId xmlns:p14="http://schemas.microsoft.com/office/powerpoint/2010/main" val="134872353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F7796-6825-4E4A-BDBB-B71393FA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21A4-4062-4A57-92A2-7A1086F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CUDA debugging mindset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95609-DEE7-4C68-A111-1A6E263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common failure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6C31B-967A-423B-AD2F-EBB8DBA0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15F99-A199-4F78-8B21-FCAC473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7FD0-8277-471F-BBD9-57FFBB69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18750-C3E6-4EDD-8323-BD8796B9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Correctness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25669-E8E4-4E92-ACD6-098A531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CA737-670C-4E59-ABBB-2B5346D1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40A69-C6D2-41B8-92F5-451D0F8E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EEA08-7701-4BA1-BE54-FBC3C13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Check every CUDA API return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13556-6AC8-49D1-B629-0A19883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58240-04E3-4D21-A1FB-D44D122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99B12-5A5B-4623-9043-237FCB12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cudaDeviceSynchronize before reading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6E17C-5394-474B-A91B-804CFBA1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77E8-3469-483F-A4DE-3AE286C9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1C7DD-E247-456F-846F-0FA04324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Validate output against CPU 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0367D-F3DD-4D50-8763-E01813C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E8AB5-F224-4FC2-A030-6F4D1208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CE13B-927F-4DD5-A8B0-E2F5EFBA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Start with small arrays and simple blocks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336F4-55A9-4174-9946-6CA858A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4D113-CF8B-4932-AC1C-F1694B4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D5499-05F0-4CE9-B491-DAE5AAC5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Watch for out-of-bounds global indexes</a:t>
            </a:r>
          </a:p>
        </p:txBody>
      </p:sp>
    </p:spTree>
    <p:extLst>
      <p:ext uri="{BB962C8B-B14F-4D97-AF65-F5344CB8AC3E}">
        <p14:creationId xmlns:p14="http://schemas.microsoft.com/office/powerpoint/2010/main" val="11444530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0254D-CA70-4E2D-ACC0-98FF421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EF7A9-8371-4C41-9CB1-82D196EE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5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7EA5-F737-41DC-90A0-AC02C75E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DB7D1-34EB-4231-B5E9-D7CAA7E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C236-6B8A-4E57-81F0-D604D33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5C9F4-90FC-48DD-B4C5-7FD0C52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12007-E9ED-4742-B9C2-92F29A54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54C70-FBAE-49A0-8DAC-4C84E8AB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AABE9-F5D5-43CB-B1AB-9BD9EFC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9EA55-D8A7-4678-8DAB-A8F9AC2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790CE-E664-407C-AFA4-58C20AF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D7168-00B2-410D-BE45-8F5B92D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34AF7-4F4A-4CFB-8461-2F836C0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GPGPU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31A12-59A5-4B7D-9E3E-717880F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GPU for general compute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1279F-6A22-455A-B42D-8182A23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8D878-9084-4020-B34E-F1896733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2053E-E1D1-4EEA-B371-CA500D7A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65040-E8C6-4C67-89BB-A312AD64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SM/warp/memory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48F5C-24BF-4F16-B23D-CE03E3E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38FDB-1D27-455B-AD3C-293F884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9F3D4-1760-4F52-B93E-34602FD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Hierarchy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94017-A741-4FDA-91A5-939C050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Grid/block/thread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C64FB-4B29-4C05-9F6F-AC3733BB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102F3-F7FB-49C1-B55B-18448ED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0BF50-AB5C-4C84-9139-5497900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Vector add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6F916-B647-4D3F-B183-43F679D1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First kernel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E1C35-7655-4FE1-A34F-685CA15A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1B732-4FE8-4807-8526-7ABBD184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640EA-9391-4B67-B901-91072AA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9EC58-5CF0-4669-96BE-940241B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Memcpy/sync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3EDB9-07E1-4437-B500-576A9D40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79600-0B7F-426C-AC64-D5DEAA3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2E9FF-B0F7-4B8A-A277-DD87B39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Trapezoid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40AB6-42E7-4CA0-A343-C56C59F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I/II/III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740971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A564D-80FE-40DE-AB3A-235EBB6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5C791-B001-4A01-8FE9-A51EC14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DEF83-55F6-4286-AA9D-A44328C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82CD-6B3E-4F15-BE90-5F40379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88AA8-2879-47E3-8F5A-26D20CF5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EC14-5831-4390-912A-A3774F67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5571E-A4EE-41A3-AD03-35EED9D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2735C-18D5-40A7-8676-D7C6259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E78EC-3D68-4530-9212-A73A6CCA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8EDC2-70A6-4196-BE17-8FDD0952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D2135-51FE-4500-A1D1-4D308E4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CUDA, draw host-device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5F082-2599-4849-A0EB-47C1026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5596E-DC3C-4F3F-A538-6510FDE4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79340-9046-4639-863F-5E1A88A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threads/blocks/grids, write global index formula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3CC0C-1A75-4DAB-93BE-F5495B8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F3902-8287-41C3-9834-F8811F9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91628-C578-4AC3-B335-69706C2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vector addition, show kernel and launch syntax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EB19-D6D4-424C-8F8C-83FAA52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2D2DD-5DC4-402B-8F06-48D259C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60E0A-1275-43A7-AA88-9389BE4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returning results, mention cudaMemcpy DeviceToHost and synchronization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36303-DD38-4F85-B1E3-446F2EF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93593-497E-49D9-B243-94FC976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9A95E-B39E-4C3C-BFB1-28F7A76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trapezoidal rule, compare simple partials, block reduction and multi-warp block reduction</a:t>
            </a:r>
          </a:p>
        </p:txBody>
      </p:sp>
    </p:spTree>
    <p:extLst>
      <p:ext uri="{BB962C8B-B14F-4D97-AF65-F5344CB8AC3E}">
        <p14:creationId xmlns:p14="http://schemas.microsoft.com/office/powerpoint/2010/main" val="10602928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28B20-BC92-4C55-B9A2-D136560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F826A-9D0A-4C70-82B5-8D36B016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B724F-C14B-42B0-8536-CF6BF8B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6BB94-3807-4417-9534-82988AD6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302EC-3AB3-4842-9E1D-37B9AFFD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0AD67-43F7-477B-B643-E66D939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92EE1-1552-48AD-B4A3-DF8079C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B5320-574D-474D-B882-042BA9D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5D47-D87E-466D-908F-0276D16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CUDA?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7D74F-1F09-4E1A-9256-62C52FE7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What is GPGPU?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7E18A-4AC4-4777-8FCF-9F9C3059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CPU vs GPU?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38F8A-92A5-4085-B47D-C1343A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host?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98948-20ED-491E-BF6D-7317867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device?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789D2-D7B2-4BEC-811F-DD2ED61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kernel?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48AD2-C038-41AD-84AC-925F69CB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__global__?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B6AE8-801A-4045-986A-BE45180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What is grid?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FFDCC-A0A2-4533-A362-5B0718F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block?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74CAB-8823-419D-B43E-2D3E7BA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thread?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FC582-1AD9-4B2A-99DA-C7121CC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warp?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9C885-B496-413D-9568-709B65F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blockIdx?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F8A9B-FA6D-453F-9AC1-5AA322E5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threadIdx?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B0BC3-3650-4396-A9C2-640F5015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cudaMalloc?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5C454-DFD0-4128-BC71-6C1AEF0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cudaMemcpy?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A7186-C8CC-41E1-AAFE-6233B27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How to return kernel results?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36985-9B80-440F-819F-7D75130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vector addition?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875E9-E0A8-4785-83D5-5E0C42B7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Why i &lt; n guard?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82ECE-1043-4E6E-BB24-22BADAB0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shared memory?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7B465-22D0-41C4-934E-E34E482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What is __syncthreads?</a:t>
            </a:r>
          </a:p>
        </p:txBody>
      </p:sp>
    </p:spTree>
    <p:extLst>
      <p:ext uri="{BB962C8B-B14F-4D97-AF65-F5344CB8AC3E}">
        <p14:creationId xmlns:p14="http://schemas.microsoft.com/office/powerpoint/2010/main" val="3937009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DD696-E458-4AAC-BFE7-84CC92D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A7A78-435D-4215-A0B6-F2233C3C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9E6E4-B562-46B9-AAF5-D0DF53A4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5FB0C-2BB4-4781-9C90-FDDF2CB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E03A1-0A81-432C-8E96-299206A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BAD8C-A663-4CAD-8843-15E8C66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EFA5C-E0A2-4586-95DF-92DD566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2980A-0904-47C7-8658-6149E3E2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B5BC2-232A-49AD-9AF6-2CCB538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CUDA.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D5160-FFCF-4EC8-A1B6-4600B4EE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Define GPGPU.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8680B-EFD2-4E1F-BFB6-6555A424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kernel?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2D7D8-81B7-4E05-ACD5-BF38785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host?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614C2-350D-4370-B784-77EFC21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device?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EBC1A-DB06-4B82-ABFB-EB3D008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What is grid?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07B27-95DF-459E-8792-444F801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What is block?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04D4D-78B1-4860-B25A-42E7AE2F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thread?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1EFD9-8E37-45C0-B5EE-A8E6BF8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warp?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82DC8-5976-4646-814D-212344F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cudaMemcpy?</a:t>
            </a:r>
          </a:p>
        </p:txBody>
      </p:sp>
    </p:spTree>
    <p:extLst>
      <p:ext uri="{BB962C8B-B14F-4D97-AF65-F5344CB8AC3E}">
        <p14:creationId xmlns:p14="http://schemas.microsoft.com/office/powerpoint/2010/main" val="8475264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29601-A0B8-4B4A-8598-2F5F53A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6396C-C1DD-426E-B4F3-9C26F77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463E9-24EF-4876-9EDD-4C2CC81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B9057-60EA-44E3-B678-9BEC7D5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F622D-8133-4E85-B052-48AF4E4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B03D7-5FD3-4F92-976F-ADFA05F7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62218-22AE-4736-A912-092C0D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33221-ECA0-4A27-980E-588F8C6E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19EDF-7527-4496-B35B-BB4A99C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GPU architecture.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5BA7A-3F9C-4B47-A83F-F4C7E6EB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heterogeneous computing.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495B-33F9-4CAC-A5E8-9A8BD7F2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threads, blocks and grids.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1B0B-ABA7-4B6C-BB8A-0878C335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CUDA memory transfer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28F72-A3F4-41F0-8496-F0E8DEE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vector addition in CUDA.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21202-4AA1-41F7-9BE8-8DFF9C4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returning results from CUDA kernels.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031EE-E7A4-4208-B164-97625B5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CUDA trapezoidal rule 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4CFED-4D58-4685-B6C3-F356CF7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CUDA trapezoidal rule II improvement.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F935F-D47D-4D61-8E96-7505EE0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CUDA trapezoidal rule III with multiple warps.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EB5A2-A0F4-4AEE-9BC3-A90E581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CUDA performance checklist.</a:t>
            </a:r>
          </a:p>
        </p:txBody>
      </p:sp>
    </p:spTree>
    <p:extLst>
      <p:ext uri="{BB962C8B-B14F-4D97-AF65-F5344CB8AC3E}">
        <p14:creationId xmlns:p14="http://schemas.microsoft.com/office/powerpoint/2010/main" val="4224487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A67E0-6134-4ABC-B3F0-3EB549FD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489A3-5DF0-4244-BF74-972BE89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30E4E-5F1E-47BF-A473-81C2C5E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26778-077C-4158-A3CF-6E1BCE62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DECFC-765A-4041-8432-6A2349E9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306F0-9FD3-4511-B97E-33B447A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9FA71-7CF4-43AD-8215-44668A3F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92AAA-97BA-4CE4-BC84-25483DA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A9AA2-ECD3-4862-97E6-33C3FB0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GPU programming with CUDA, GPGPU and heterogeneous computing.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3209E-C100-463B-8A2F-4B2897E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GPU architecture, compute capabilities and device architecture concepts.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779D6-F7C4-48E9-8127-85FE94BB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threads, blocks and grids with vector addition CUDA program.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C128A-2ED7-495A-A6DC-D4727BA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returning results from CUDA kernels and common CUDA mistakes.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03DE6-B854-437F-B15D-B9818682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CUDA trapezoidal rule I, II and III with performance improvements.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23C80-6E41-4C61-90B1-6B9C1A7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C78C5-7AB7-447A-9401-D1640DF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DB16B-B372-4720-90AB-F73F3293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359F8-D9A3-4090-B774-E8C26BD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09304-46DE-4E03-A09C-B8A8692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2981063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738FA-44F5-4773-B343-49B0285F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A94E-0953-4A40-89F9-62C4CA6D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F290A-0BD4-406B-BD44-49BC2F0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81FB2-BFF2-4EA5-B0F1-84EED32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2A373-0B84-4CDC-B262-58D15395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54653-E2B3-4E18-A696-FFB4E43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7B9BD-709F-404A-8D9F-E202A861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8C89E-0C62-47B9-A0C0-A0D483C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696DE-FB21-42E4-8811-0676D5C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226D8-3E8A-40B4-865E-0FA247F6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7EA7-9B15-4DEC-9085-11812F7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5F43A-1114-4BD1-B259-0BEEC63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CUDA; GPGPU; GPU; CPU host; device; heterogeneous computing; kernel; __global__; cudaMalloc; cudaMemcpy; cudaFree; cudaDeviceSynchronize; grid; block; thread; warp; blockIdx; blockDim; threadIdx; global index; SM; CUDA core; global memory; shared memory; registers; compute capability; vector addition; HostToDevice; DeviceToHost; trapezoidal rule; partial sum; reduction; shared memory reduction; __syncthreads; occupancy; divergence; coalescing.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48C32-3031-4E65-886D-1E6A698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C14A6-EE06-4740-B9A4-B9E5859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A4543-A7BF-494F-83A2-6751D65E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02B84-8E9E-41DC-B1A9-D83290B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CPU host allocates and copies data -&gt; GPU launches grid of blocks -&gt; threads compute by global index -&gt; copy results back -&gt; optimize transfers, memory and reductions.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77C47-30B2-4939-AD1C-E5130DE1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B5344-B295-4D73-851B-E758F939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57440-6E03-4A6B-A3CF-A8BCAE3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85146-6882-4C93-963D-C495024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host-device diagram + code snippet + memory workflow + performance note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1283117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2026-08-05T09:42:59.1350000Z</dcterms:created>
  <dcterms:modified xsi:type="dcterms:W3CDTF">2026-08-05T09:42:59.1350000Z</dcterms:modified>
</coreProperties>
</file>