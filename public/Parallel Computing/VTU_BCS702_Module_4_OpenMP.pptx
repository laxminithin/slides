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62f421986342ee" /><Relationship Type="http://schemas.openxmlformats.org/officeDocument/2006/relationships/extended-properties" Target="/docProps/app.xml" Id="Rbf339490dde34956" /><Relationship Type="http://schemas.openxmlformats.org/officeDocument/2006/relationships/officeDocument" Target="/ppt/presentation.xml" Id="R5b84ddebff274e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6400f6f488407d"/>
  </p:sldMasterIdLst>
  <p:notesMasterIdLst>
    <p:notesMasterId xmlns:r="http://schemas.openxmlformats.org/officeDocument/2006/relationships" r:id="R95086c9104484627"/>
  </p:notesMasterIdLst>
  <p:sldIdLst>
    <p:sldId xmlns:r="http://schemas.openxmlformats.org/officeDocument/2006/relationships" id="256" r:id="R29a4425b8abb4416"/>
    <p:sldId xmlns:r="http://schemas.openxmlformats.org/officeDocument/2006/relationships" id="257" r:id="R9e957ea94c354c2a"/>
    <p:sldId xmlns:r="http://schemas.openxmlformats.org/officeDocument/2006/relationships" id="258" r:id="R1589fcdf8cc5496a"/>
    <p:sldId xmlns:r="http://schemas.openxmlformats.org/officeDocument/2006/relationships" id="259" r:id="Rd6bc24c3c59141f4"/>
    <p:sldId xmlns:r="http://schemas.openxmlformats.org/officeDocument/2006/relationships" id="260" r:id="Ra775f27b75b44e57"/>
    <p:sldId xmlns:r="http://schemas.openxmlformats.org/officeDocument/2006/relationships" id="261" r:id="R8ddd1c9e232c46f7"/>
    <p:sldId xmlns:r="http://schemas.openxmlformats.org/officeDocument/2006/relationships" id="262" r:id="Rb406c88292cf429d"/>
    <p:sldId xmlns:r="http://schemas.openxmlformats.org/officeDocument/2006/relationships" id="263" r:id="Rad1f903138594447"/>
    <p:sldId xmlns:r="http://schemas.openxmlformats.org/officeDocument/2006/relationships" id="264" r:id="R96370f96b3c9498c"/>
    <p:sldId xmlns:r="http://schemas.openxmlformats.org/officeDocument/2006/relationships" id="265" r:id="Rf603f550d4094e94"/>
    <p:sldId xmlns:r="http://schemas.openxmlformats.org/officeDocument/2006/relationships" id="266" r:id="R30d28ad4597547a9"/>
    <p:sldId xmlns:r="http://schemas.openxmlformats.org/officeDocument/2006/relationships" id="267" r:id="R64d077d68ef74893"/>
    <p:sldId xmlns:r="http://schemas.openxmlformats.org/officeDocument/2006/relationships" id="268" r:id="Reff4c696e9c64b6c"/>
    <p:sldId xmlns:r="http://schemas.openxmlformats.org/officeDocument/2006/relationships" id="269" r:id="Rbff83b01bc3e4492"/>
    <p:sldId xmlns:r="http://schemas.openxmlformats.org/officeDocument/2006/relationships" id="270" r:id="R4ad1d21f891c4217"/>
    <p:sldId xmlns:r="http://schemas.openxmlformats.org/officeDocument/2006/relationships" id="271" r:id="R96ed36366323484d"/>
    <p:sldId xmlns:r="http://schemas.openxmlformats.org/officeDocument/2006/relationships" id="272" r:id="R4ec546fbb6194d13"/>
    <p:sldId xmlns:r="http://schemas.openxmlformats.org/officeDocument/2006/relationships" id="273" r:id="R31229bfbdc7d497e"/>
    <p:sldId xmlns:r="http://schemas.openxmlformats.org/officeDocument/2006/relationships" id="274" r:id="Rdbb0e997d34848d5"/>
    <p:sldId xmlns:r="http://schemas.openxmlformats.org/officeDocument/2006/relationships" id="275" r:id="R0dd1f9d4b2a54b13"/>
    <p:sldId xmlns:r="http://schemas.openxmlformats.org/officeDocument/2006/relationships" id="276" r:id="R4a8bc77d8d9a4d69"/>
    <p:sldId xmlns:r="http://schemas.openxmlformats.org/officeDocument/2006/relationships" id="277" r:id="R0f1dbad919ac4601"/>
    <p:sldId xmlns:r="http://schemas.openxmlformats.org/officeDocument/2006/relationships" id="278" r:id="R54d79e7bc17f40a5"/>
    <p:sldId xmlns:r="http://schemas.openxmlformats.org/officeDocument/2006/relationships" id="279" r:id="R5150867643c24f30"/>
    <p:sldId xmlns:r="http://schemas.openxmlformats.org/officeDocument/2006/relationships" id="280" r:id="Rc9e2922cc7614e7b"/>
    <p:sldId xmlns:r="http://schemas.openxmlformats.org/officeDocument/2006/relationships" id="281" r:id="R081af3b11e1e48e0"/>
    <p:sldId xmlns:r="http://schemas.openxmlformats.org/officeDocument/2006/relationships" id="282" r:id="Rf59a7d0e14c644ce"/>
    <p:sldId xmlns:r="http://schemas.openxmlformats.org/officeDocument/2006/relationships" id="283" r:id="Rfa7abfe60b034799"/>
    <p:sldId xmlns:r="http://schemas.openxmlformats.org/officeDocument/2006/relationships" id="284" r:id="R2722813bbcdb45cf"/>
    <p:sldId xmlns:r="http://schemas.openxmlformats.org/officeDocument/2006/relationships" id="285" r:id="R0a0e9e09943041e9"/>
    <p:sldId xmlns:r="http://schemas.openxmlformats.org/officeDocument/2006/relationships" id="286" r:id="R736d6ac0ac634f11"/>
    <p:sldId xmlns:r="http://schemas.openxmlformats.org/officeDocument/2006/relationships" id="287" r:id="R5b861c82b3bb4257"/>
    <p:sldId xmlns:r="http://schemas.openxmlformats.org/officeDocument/2006/relationships" id="288" r:id="R86e9275ad2a94662"/>
    <p:sldId xmlns:r="http://schemas.openxmlformats.org/officeDocument/2006/relationships" id="289" r:id="Re3d2fbe56f334b02"/>
    <p:sldId xmlns:r="http://schemas.openxmlformats.org/officeDocument/2006/relationships" id="290" r:id="Rca070a2a11dc42d3"/>
    <p:sldId xmlns:r="http://schemas.openxmlformats.org/officeDocument/2006/relationships" id="291" r:id="R5d5db084c2e0433f"/>
    <p:sldId xmlns:r="http://schemas.openxmlformats.org/officeDocument/2006/relationships" id="292" r:id="R437357dd7db84b42"/>
    <p:sldId xmlns:r="http://schemas.openxmlformats.org/officeDocument/2006/relationships" id="293" r:id="Redc061cf2a7f4c15"/>
    <p:sldId xmlns:r="http://schemas.openxmlformats.org/officeDocument/2006/relationships" id="294" r:id="R17a92f91174d4cf4"/>
    <p:sldId xmlns:r="http://schemas.openxmlformats.org/officeDocument/2006/relationships" id="295" r:id="Rfa6175bcfd6e415a"/>
    <p:sldId xmlns:r="http://schemas.openxmlformats.org/officeDocument/2006/relationships" id="296" r:id="R7c94ad753e1c4df3"/>
    <p:sldId xmlns:r="http://schemas.openxmlformats.org/officeDocument/2006/relationships" id="297" r:id="Rccc27940870f4016"/>
    <p:sldId xmlns:r="http://schemas.openxmlformats.org/officeDocument/2006/relationships" id="298" r:id="Rb8c9fd0b182c43e9"/>
    <p:sldId xmlns:r="http://schemas.openxmlformats.org/officeDocument/2006/relationships" id="299" r:id="R306d79ba42c84d48"/>
    <p:sldId xmlns:r="http://schemas.openxmlformats.org/officeDocument/2006/relationships" id="300" r:id="Rbe05b349ef674508"/>
    <p:sldId xmlns:r="http://schemas.openxmlformats.org/officeDocument/2006/relationships" id="301" r:id="R5294cad9a7f7416d"/>
    <p:sldId xmlns:r="http://schemas.openxmlformats.org/officeDocument/2006/relationships" id="302" r:id="R6681fc13d6804af4"/>
    <p:sldId xmlns:r="http://schemas.openxmlformats.org/officeDocument/2006/relationships" id="303" r:id="Rd8d34b5ea20646d0"/>
    <p:sldId xmlns:r="http://schemas.openxmlformats.org/officeDocument/2006/relationships" id="304" r:id="R88dabdacb64b4147"/>
    <p:sldId xmlns:r="http://schemas.openxmlformats.org/officeDocument/2006/relationships" id="305" r:id="R6448a5f20ca7401e"/>
    <p:sldId xmlns:r="http://schemas.openxmlformats.org/officeDocument/2006/relationships" id="306" r:id="R08a8352154ef4bf5"/>
    <p:sldId xmlns:r="http://schemas.openxmlformats.org/officeDocument/2006/relationships" id="307" r:id="R0c9ce190e53540e7"/>
    <p:sldId xmlns:r="http://schemas.openxmlformats.org/officeDocument/2006/relationships" id="308" r:id="R86c6bdb3e9914ea3"/>
    <p:sldId xmlns:r="http://schemas.openxmlformats.org/officeDocument/2006/relationships" id="309" r:id="R2fd0541336944189"/>
    <p:sldId xmlns:r="http://schemas.openxmlformats.org/officeDocument/2006/relationships" id="310" r:id="Rc70231901efa4239"/>
    <p:sldId xmlns:r="http://schemas.openxmlformats.org/officeDocument/2006/relationships" id="311" r:id="Rc90ecd04a9ed45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21ce23dfec42cf" /><Relationship Type="http://schemas.openxmlformats.org/officeDocument/2006/relationships/slideMaster" Target="/ppt/slideMasters/slideMaster1.xml" Id="R936400f6f488407d" /><Relationship Type="http://schemas.openxmlformats.org/officeDocument/2006/relationships/notesMaster" Target="/ppt/notesMasters/notesMaster1.xml" Id="R95086c9104484627" /><Relationship Type="http://schemas.openxmlformats.org/officeDocument/2006/relationships/presProps" Target="/ppt/presProps.xml" Id="R67632910a0bf4a60" /><Relationship Type="http://schemas.openxmlformats.org/officeDocument/2006/relationships/tableStyles" Target="/ppt/tableStyles.xml" Id="R3bd6fe1947864196" /><Relationship Type="http://schemas.openxmlformats.org/officeDocument/2006/relationships/slide" Target="/ppt/slides/slide1.xml" Id="R29a4425b8abb4416" /><Relationship Type="http://schemas.openxmlformats.org/officeDocument/2006/relationships/slide" Target="/ppt/slides/slide2.xml" Id="R9e957ea94c354c2a" /><Relationship Type="http://schemas.openxmlformats.org/officeDocument/2006/relationships/slide" Target="/ppt/slides/slide3.xml" Id="R1589fcdf8cc5496a" /><Relationship Type="http://schemas.openxmlformats.org/officeDocument/2006/relationships/slide" Target="/ppt/slides/slide4.xml" Id="Rd6bc24c3c59141f4" /><Relationship Type="http://schemas.openxmlformats.org/officeDocument/2006/relationships/slide" Target="/ppt/slides/slide5.xml" Id="Ra775f27b75b44e57" /><Relationship Type="http://schemas.openxmlformats.org/officeDocument/2006/relationships/slide" Target="/ppt/slides/slide6.xml" Id="R8ddd1c9e232c46f7" /><Relationship Type="http://schemas.openxmlformats.org/officeDocument/2006/relationships/slide" Target="/ppt/slides/slide7.xml" Id="Rb406c88292cf429d" /><Relationship Type="http://schemas.openxmlformats.org/officeDocument/2006/relationships/slide" Target="/ppt/slides/slide8.xml" Id="Rad1f903138594447" /><Relationship Type="http://schemas.openxmlformats.org/officeDocument/2006/relationships/slide" Target="/ppt/slides/slide9.xml" Id="R96370f96b3c9498c" /><Relationship Type="http://schemas.openxmlformats.org/officeDocument/2006/relationships/slide" Target="/ppt/slides/slide10.xml" Id="Rf603f550d4094e94" /><Relationship Type="http://schemas.openxmlformats.org/officeDocument/2006/relationships/slide" Target="/ppt/slides/slide11.xml" Id="R30d28ad4597547a9" /><Relationship Type="http://schemas.openxmlformats.org/officeDocument/2006/relationships/slide" Target="/ppt/slides/slide12.xml" Id="R64d077d68ef74893" /><Relationship Type="http://schemas.openxmlformats.org/officeDocument/2006/relationships/slide" Target="/ppt/slides/slide13.xml" Id="Reff4c696e9c64b6c" /><Relationship Type="http://schemas.openxmlformats.org/officeDocument/2006/relationships/slide" Target="/ppt/slides/slide14.xml" Id="Rbff83b01bc3e4492" /><Relationship Type="http://schemas.openxmlformats.org/officeDocument/2006/relationships/slide" Target="/ppt/slides/slide15.xml" Id="R4ad1d21f891c4217" /><Relationship Type="http://schemas.openxmlformats.org/officeDocument/2006/relationships/slide" Target="/ppt/slides/slide16.xml" Id="R96ed36366323484d" /><Relationship Type="http://schemas.openxmlformats.org/officeDocument/2006/relationships/slide" Target="/ppt/slides/slide17.xml" Id="R4ec546fbb6194d13" /><Relationship Type="http://schemas.openxmlformats.org/officeDocument/2006/relationships/slide" Target="/ppt/slides/slide18.xml" Id="R31229bfbdc7d497e" /><Relationship Type="http://schemas.openxmlformats.org/officeDocument/2006/relationships/slide" Target="/ppt/slides/slide19.xml" Id="Rdbb0e997d34848d5" /><Relationship Type="http://schemas.openxmlformats.org/officeDocument/2006/relationships/slide" Target="/ppt/slides/slide20.xml" Id="R0dd1f9d4b2a54b13" /><Relationship Type="http://schemas.openxmlformats.org/officeDocument/2006/relationships/slide" Target="/ppt/slides/slide21.xml" Id="R4a8bc77d8d9a4d69" /><Relationship Type="http://schemas.openxmlformats.org/officeDocument/2006/relationships/slide" Target="/ppt/slides/slide22.xml" Id="R0f1dbad919ac4601" /><Relationship Type="http://schemas.openxmlformats.org/officeDocument/2006/relationships/slide" Target="/ppt/slides/slide23.xml" Id="R54d79e7bc17f40a5" /><Relationship Type="http://schemas.openxmlformats.org/officeDocument/2006/relationships/slide" Target="/ppt/slides/slide24.xml" Id="R5150867643c24f30" /><Relationship Type="http://schemas.openxmlformats.org/officeDocument/2006/relationships/slide" Target="/ppt/slides/slide25.xml" Id="Rc9e2922cc7614e7b" /><Relationship Type="http://schemas.openxmlformats.org/officeDocument/2006/relationships/slide" Target="/ppt/slides/slide26.xml" Id="R081af3b11e1e48e0" /><Relationship Type="http://schemas.openxmlformats.org/officeDocument/2006/relationships/slide" Target="/ppt/slides/slide27.xml" Id="Rf59a7d0e14c644ce" /><Relationship Type="http://schemas.openxmlformats.org/officeDocument/2006/relationships/slide" Target="/ppt/slides/slide28.xml" Id="Rfa7abfe60b034799" /><Relationship Type="http://schemas.openxmlformats.org/officeDocument/2006/relationships/slide" Target="/ppt/slides/slide29.xml" Id="R2722813bbcdb45cf" /><Relationship Type="http://schemas.openxmlformats.org/officeDocument/2006/relationships/slide" Target="/ppt/slides/slide30.xml" Id="R0a0e9e09943041e9" /><Relationship Type="http://schemas.openxmlformats.org/officeDocument/2006/relationships/slide" Target="/ppt/slides/slide31.xml" Id="R736d6ac0ac634f11" /><Relationship Type="http://schemas.openxmlformats.org/officeDocument/2006/relationships/slide" Target="/ppt/slides/slide32.xml" Id="R5b861c82b3bb4257" /><Relationship Type="http://schemas.openxmlformats.org/officeDocument/2006/relationships/slide" Target="/ppt/slides/slide33.xml" Id="R86e9275ad2a94662" /><Relationship Type="http://schemas.openxmlformats.org/officeDocument/2006/relationships/slide" Target="/ppt/slides/slide34.xml" Id="Re3d2fbe56f334b02" /><Relationship Type="http://schemas.openxmlformats.org/officeDocument/2006/relationships/slide" Target="/ppt/slides/slide35.xml" Id="Rca070a2a11dc42d3" /><Relationship Type="http://schemas.openxmlformats.org/officeDocument/2006/relationships/slide" Target="/ppt/slides/slide36.xml" Id="R5d5db084c2e0433f" /><Relationship Type="http://schemas.openxmlformats.org/officeDocument/2006/relationships/slide" Target="/ppt/slides/slide37.xml" Id="R437357dd7db84b42" /><Relationship Type="http://schemas.openxmlformats.org/officeDocument/2006/relationships/slide" Target="/ppt/slides/slide38.xml" Id="Redc061cf2a7f4c15" /><Relationship Type="http://schemas.openxmlformats.org/officeDocument/2006/relationships/slide" Target="/ppt/slides/slide39.xml" Id="R17a92f91174d4cf4" /><Relationship Type="http://schemas.openxmlformats.org/officeDocument/2006/relationships/slide" Target="/ppt/slides/slide40.xml" Id="Rfa6175bcfd6e415a" /><Relationship Type="http://schemas.openxmlformats.org/officeDocument/2006/relationships/slide" Target="/ppt/slides/slide41.xml" Id="R7c94ad753e1c4df3" /><Relationship Type="http://schemas.openxmlformats.org/officeDocument/2006/relationships/slide" Target="/ppt/slides/slide42.xml" Id="Rccc27940870f4016" /><Relationship Type="http://schemas.openxmlformats.org/officeDocument/2006/relationships/slide" Target="/ppt/slides/slide43.xml" Id="Rb8c9fd0b182c43e9" /><Relationship Type="http://schemas.openxmlformats.org/officeDocument/2006/relationships/slide" Target="/ppt/slides/slide44.xml" Id="R306d79ba42c84d48" /><Relationship Type="http://schemas.openxmlformats.org/officeDocument/2006/relationships/slide" Target="/ppt/slides/slide45.xml" Id="Rbe05b349ef674508" /><Relationship Type="http://schemas.openxmlformats.org/officeDocument/2006/relationships/slide" Target="/ppt/slides/slide46.xml" Id="R5294cad9a7f7416d" /><Relationship Type="http://schemas.openxmlformats.org/officeDocument/2006/relationships/slide" Target="/ppt/slides/slide47.xml" Id="R6681fc13d6804af4" /><Relationship Type="http://schemas.openxmlformats.org/officeDocument/2006/relationships/slide" Target="/ppt/slides/slide48.xml" Id="Rd8d34b5ea20646d0" /><Relationship Type="http://schemas.openxmlformats.org/officeDocument/2006/relationships/slide" Target="/ppt/slides/slide49.xml" Id="R88dabdacb64b4147" /><Relationship Type="http://schemas.openxmlformats.org/officeDocument/2006/relationships/slide" Target="/ppt/slides/slide50.xml" Id="R6448a5f20ca7401e" /><Relationship Type="http://schemas.openxmlformats.org/officeDocument/2006/relationships/slide" Target="/ppt/slides/slide51.xml" Id="R08a8352154ef4bf5" /><Relationship Type="http://schemas.openxmlformats.org/officeDocument/2006/relationships/slide" Target="/ppt/slides/slide52.xml" Id="R0c9ce190e53540e7" /><Relationship Type="http://schemas.openxmlformats.org/officeDocument/2006/relationships/slide" Target="/ppt/slides/slide53.xml" Id="R86c6bdb3e9914ea3" /><Relationship Type="http://schemas.openxmlformats.org/officeDocument/2006/relationships/slide" Target="/ppt/slides/slide54.xml" Id="R2fd0541336944189" /><Relationship Type="http://schemas.openxmlformats.org/officeDocument/2006/relationships/slide" Target="/ppt/slides/slide55.xml" Id="Rc70231901efa4239" /><Relationship Type="http://schemas.openxmlformats.org/officeDocument/2006/relationships/slide" Target="/ppt/slides/slide56.xml" Id="Rc90ecd04a9ed45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19f4e1733046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ee9c20df9946eb" /><Relationship Type="http://schemas.openxmlformats.org/officeDocument/2006/relationships/notesMaster" Target="/ppt/notesMasters/notesMaster1.xml" Id="R11a25b66d2ff4f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4e6215d84042c0" /><Relationship Type="http://schemas.openxmlformats.org/officeDocument/2006/relationships/notesMaster" Target="/ppt/notesMasters/notesMaster1.xml" Id="R9bb5495bdd374f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26a1d52cfd43f2" /><Relationship Type="http://schemas.openxmlformats.org/officeDocument/2006/relationships/notesMaster" Target="/ppt/notesMasters/notesMaster1.xml" Id="Rf22e8e461f7d45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dea7403a5a4a2b" /><Relationship Type="http://schemas.openxmlformats.org/officeDocument/2006/relationships/notesMaster" Target="/ppt/notesMasters/notesMaster1.xml" Id="Rc4de2caf43064c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0810c4b9df4c2d" /><Relationship Type="http://schemas.openxmlformats.org/officeDocument/2006/relationships/notesMaster" Target="/ppt/notesMasters/notesMaster1.xml" Id="R79bf68916a064c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2f5de7015b4b64" /><Relationship Type="http://schemas.openxmlformats.org/officeDocument/2006/relationships/notesMaster" Target="/ppt/notesMasters/notesMaster1.xml" Id="R34ddccc9382241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21498290cb42d3" /><Relationship Type="http://schemas.openxmlformats.org/officeDocument/2006/relationships/notesMaster" Target="/ppt/notesMasters/notesMaster1.xml" Id="R8460fc03e2ce49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35546abcac4d73" /><Relationship Type="http://schemas.openxmlformats.org/officeDocument/2006/relationships/notesMaster" Target="/ppt/notesMasters/notesMaster1.xml" Id="R5e372c7f9f5343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6612c8af3b413e" /><Relationship Type="http://schemas.openxmlformats.org/officeDocument/2006/relationships/notesMaster" Target="/ppt/notesMasters/notesMaster1.xml" Id="R952138d991ae42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503e579e4d4210" /><Relationship Type="http://schemas.openxmlformats.org/officeDocument/2006/relationships/notesMaster" Target="/ppt/notesMasters/notesMaster1.xml" Id="R05f9530a9e6549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916ed050bf4cda" /><Relationship Type="http://schemas.openxmlformats.org/officeDocument/2006/relationships/notesMaster" Target="/ppt/notesMasters/notesMaster1.xml" Id="R3eb178b28fda49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9c6f05af784cc6" /><Relationship Type="http://schemas.openxmlformats.org/officeDocument/2006/relationships/notesMaster" Target="/ppt/notesMasters/notesMaster1.xml" Id="Rcf2bf94e016b437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b3009f92d8438a" /><Relationship Type="http://schemas.openxmlformats.org/officeDocument/2006/relationships/notesMaster" Target="/ppt/notesMasters/notesMaster1.xml" Id="Rda005424c9c743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f40c1b5a7b042e0" /><Relationship Type="http://schemas.openxmlformats.org/officeDocument/2006/relationships/notesMaster" Target="/ppt/notesMasters/notesMaster1.xml" Id="R7d79433924eb475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f086c0fb16d4581" /><Relationship Type="http://schemas.openxmlformats.org/officeDocument/2006/relationships/notesMaster" Target="/ppt/notesMasters/notesMaster1.xml" Id="R395bc892c16d411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8f6908658844126" /><Relationship Type="http://schemas.openxmlformats.org/officeDocument/2006/relationships/notesMaster" Target="/ppt/notesMasters/notesMaster1.xml" Id="R1b6fc8cd21fc496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af314599f3c4ec6" /><Relationship Type="http://schemas.openxmlformats.org/officeDocument/2006/relationships/notesMaster" Target="/ppt/notesMasters/notesMaster1.xml" Id="R513d6ea4db9c478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5ca48a2add8498f" /><Relationship Type="http://schemas.openxmlformats.org/officeDocument/2006/relationships/notesMaster" Target="/ppt/notesMasters/notesMaster1.xml" Id="R58db7c0eb3da488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32ce39111d94e7c" /><Relationship Type="http://schemas.openxmlformats.org/officeDocument/2006/relationships/notesMaster" Target="/ppt/notesMasters/notesMaster1.xml" Id="R4467306288604a6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19c7c6695494a73" /><Relationship Type="http://schemas.openxmlformats.org/officeDocument/2006/relationships/notesMaster" Target="/ppt/notesMasters/notesMaster1.xml" Id="R73ebb3c44274437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a166f3003b24df7" /><Relationship Type="http://schemas.openxmlformats.org/officeDocument/2006/relationships/notesMaster" Target="/ppt/notesMasters/notesMaster1.xml" Id="R0b327422441d473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6a4e3aa5058489c" /><Relationship Type="http://schemas.openxmlformats.org/officeDocument/2006/relationships/notesMaster" Target="/ppt/notesMasters/notesMaster1.xml" Id="Rdb99c140246d4ac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959196ba20a4132" /><Relationship Type="http://schemas.openxmlformats.org/officeDocument/2006/relationships/notesMaster" Target="/ppt/notesMasters/notesMaster1.xml" Id="R6e5ffbbb1f864b7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6048de2cb25402c" /><Relationship Type="http://schemas.openxmlformats.org/officeDocument/2006/relationships/notesMaster" Target="/ppt/notesMasters/notesMaster1.xml" Id="R8a03b4769dc44e1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ff7afcd37e44197" /><Relationship Type="http://schemas.openxmlformats.org/officeDocument/2006/relationships/notesMaster" Target="/ppt/notesMasters/notesMaster1.xml" Id="Rf211b1f1b20c410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5322ccd7f5c4ef9" /><Relationship Type="http://schemas.openxmlformats.org/officeDocument/2006/relationships/notesMaster" Target="/ppt/notesMasters/notesMaster1.xml" Id="Radc34da051fa444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dfe3dd0965e475f" /><Relationship Type="http://schemas.openxmlformats.org/officeDocument/2006/relationships/notesMaster" Target="/ppt/notesMasters/notesMaster1.xml" Id="Ra4d1fdcfea18425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bf24701e81f4b07" /><Relationship Type="http://schemas.openxmlformats.org/officeDocument/2006/relationships/notesMaster" Target="/ppt/notesMasters/notesMaster1.xml" Id="R244496354814488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e77043e6b3a40ae" /><Relationship Type="http://schemas.openxmlformats.org/officeDocument/2006/relationships/notesMaster" Target="/ppt/notesMasters/notesMaster1.xml" Id="R98979c43197d428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8571592a4da43a7" /><Relationship Type="http://schemas.openxmlformats.org/officeDocument/2006/relationships/notesMaster" Target="/ppt/notesMasters/notesMaster1.xml" Id="Ra3589310a847474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314d93ec6bf46dd" /><Relationship Type="http://schemas.openxmlformats.org/officeDocument/2006/relationships/notesMaster" Target="/ppt/notesMasters/notesMaster1.xml" Id="Rc9b4b361984d40b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0af4e745ea040fb" /><Relationship Type="http://schemas.openxmlformats.org/officeDocument/2006/relationships/notesMaster" Target="/ppt/notesMasters/notesMaster1.xml" Id="R5de05f13a944489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007a6696d434477" /><Relationship Type="http://schemas.openxmlformats.org/officeDocument/2006/relationships/notesMaster" Target="/ppt/notesMasters/notesMaster1.xml" Id="Re207e51a12b0442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dcbc54a1c784a26" /><Relationship Type="http://schemas.openxmlformats.org/officeDocument/2006/relationships/notesMaster" Target="/ppt/notesMasters/notesMaster1.xml" Id="R7d7f69c9389b4ea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1643fca8eeb4119" /><Relationship Type="http://schemas.openxmlformats.org/officeDocument/2006/relationships/notesMaster" Target="/ppt/notesMasters/notesMaster1.xml" Id="R9a948d43167f42c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53beeddf08d4674" /><Relationship Type="http://schemas.openxmlformats.org/officeDocument/2006/relationships/notesMaster" Target="/ppt/notesMasters/notesMaster1.xml" Id="Rd7c2fab6c716450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08bb1ea64de4c11" /><Relationship Type="http://schemas.openxmlformats.org/officeDocument/2006/relationships/notesMaster" Target="/ppt/notesMasters/notesMaster1.xml" Id="Rd9e5591739e546b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58eca8711a64b8c" /><Relationship Type="http://schemas.openxmlformats.org/officeDocument/2006/relationships/notesMaster" Target="/ppt/notesMasters/notesMaster1.xml" Id="Radab1afca9a04d7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cbe08a19d3e4e0e" /><Relationship Type="http://schemas.openxmlformats.org/officeDocument/2006/relationships/notesMaster" Target="/ppt/notesMasters/notesMaster1.xml" Id="Rbc7a992bd051490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b37c9c5946e4080" /><Relationship Type="http://schemas.openxmlformats.org/officeDocument/2006/relationships/notesMaster" Target="/ppt/notesMasters/notesMaster1.xml" Id="Rb656bad478794cf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f0256a7504a49a2" /><Relationship Type="http://schemas.openxmlformats.org/officeDocument/2006/relationships/notesMaster" Target="/ppt/notesMasters/notesMaster1.xml" Id="Ra75c2f4a1de343d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b3ad2c3011045d9" /><Relationship Type="http://schemas.openxmlformats.org/officeDocument/2006/relationships/notesMaster" Target="/ppt/notesMasters/notesMaster1.xml" Id="Rced5096e47a5422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dcf3bd81f324e3d" /><Relationship Type="http://schemas.openxmlformats.org/officeDocument/2006/relationships/notesMaster" Target="/ppt/notesMasters/notesMaster1.xml" Id="Rdfeb5f2f9a7f483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9587c8f6e104ee2" /><Relationship Type="http://schemas.openxmlformats.org/officeDocument/2006/relationships/notesMaster" Target="/ppt/notesMasters/notesMaster1.xml" Id="Re9e1a2dde371463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786060dec6884747" /><Relationship Type="http://schemas.openxmlformats.org/officeDocument/2006/relationships/notesMaster" Target="/ppt/notesMasters/notesMaster1.xml" Id="R4d060d082d45476e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16d1b1c6fa504263" /><Relationship Type="http://schemas.openxmlformats.org/officeDocument/2006/relationships/notesMaster" Target="/ppt/notesMasters/notesMaster1.xml" Id="R07863b6c812d4d15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65b7657bd7aa4125" /><Relationship Type="http://schemas.openxmlformats.org/officeDocument/2006/relationships/notesMaster" Target="/ppt/notesMasters/notesMaster1.xml" Id="R27fa35ff4fb84bd4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d501292f2f4d4a3e" /><Relationship Type="http://schemas.openxmlformats.org/officeDocument/2006/relationships/notesMaster" Target="/ppt/notesMasters/notesMaster1.xml" Id="Rcef6e0d47dcb493e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07757e3bb73c466d" /><Relationship Type="http://schemas.openxmlformats.org/officeDocument/2006/relationships/notesMaster" Target="/ppt/notesMasters/notesMaster1.xml" Id="R5771717334a74c05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8a085b0328834a21" /><Relationship Type="http://schemas.openxmlformats.org/officeDocument/2006/relationships/notesMaster" Target="/ppt/notesMasters/notesMaster1.xml" Id="R27a82179d07b4c63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9b80bae661f04a40" /><Relationship Type="http://schemas.openxmlformats.org/officeDocument/2006/relationships/notesMaster" Target="/ppt/notesMasters/notesMaster1.xml" Id="R1c0aca92714c43db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9d24ddf8a6914c6b" /><Relationship Type="http://schemas.openxmlformats.org/officeDocument/2006/relationships/notesMaster" Target="/ppt/notesMasters/notesMaster1.xml" Id="R28f95ff0b2ab420f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30ca519339674613" /><Relationship Type="http://schemas.openxmlformats.org/officeDocument/2006/relationships/notesMaster" Target="/ppt/notesMasters/notesMaster1.xml" Id="Rb405ee66df2c47dd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8a6c9b1d876347ff" /><Relationship Type="http://schemas.openxmlformats.org/officeDocument/2006/relationships/notesMaster" Target="/ppt/notesMasters/notesMaster1.xml" Id="R688ebc0426d64c5c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e911a1fcd50a473b" /><Relationship Type="http://schemas.openxmlformats.org/officeDocument/2006/relationships/notesMaster" Target="/ppt/notesMasters/notesMaster1.xml" Id="R563c50dd1d844b6b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d4a5bc82df6e492b" /><Relationship Type="http://schemas.openxmlformats.org/officeDocument/2006/relationships/notesMaster" Target="/ppt/notesMasters/notesMaster1.xml" Id="Rdfa5e561de6c4f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Open by saying Module 3 used MPI processes and messages; Module 4 uses threads sharing one address space.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this module is closely tied to practical OpenMP programs.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OpenMP lets programmers parallelize incrementally without rewriting into a new language.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OpenMP is mainly for multicore shared-memory systems.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The master thread reaches a parallel region, forks worker threads, then joins back after the region.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a high-value definition slide.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pragmas are ignored by compilers that do not understand OpenMP.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the base directive for OpenMP.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out that the loop must have safe independent iterations.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OpenMP divides loop iterations among the thread team.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task directive later.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omp_get_wtime to timing practicals.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mirrors MPI trapezoidal but uses shared memory and reduction.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the serial loop before parallelizing it.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reduction avoids race conditions on sum.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which variables should be shared and which should be private in a loop.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Stress shared write requires protection or reduction.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firstprivate if initial value is needed.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it practical and example-based.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sum += value as the classic example.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critical prevents simultaneous execution but can reduce performance.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Atomic is narrower than critical and useful for simple read-modify-write updates.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reduction is preferred over critical for sums where possible.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operator list exam-friendly.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which one to use for computing total sum.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crucial before parallel for.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to identify dependency in partial sums.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scheduling affects load balance and overhead.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to lab OMP_SCHEDULE=static,2.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which schedule helps prime checking with uneven costs.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chunk size as number of iterations per assignment.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maps directly to the practical component.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a queue of tasks as the visual model.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why the buffer must be protected.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OpenMP lacks classic condition variables but tasks/locks/barriers help.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bridges Module 1 cache coherence into OpenMP.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Multiple threads may cache shared values; hardware coherence keeps copies consistent but traffic costs time.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False sharing happens when threads update different variables on the same cache line.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false sharing is a performance bug, not usually a correctness bug.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tasks are useful when loop iterations are not the natural unit.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single creates tasks and the team executes them.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taskwait ensures child tasks finish before combining results.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task overhead: do not create tiny tasks blindly.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Good tasking balances overhead and load.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library functions and global variables as examples.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the closing correctness checklist.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practical advice for labs.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timing should focus on the parallel region or full workload consistently.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prepares for exam performance questions.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the end-of-teaching summary.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code snippets plus short explanations are very effective here.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Run these as rapid-fire viva questions.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Two-mark answers should be exact and compact.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Five-mark answers should include code or diagram.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Long answers need definition, syntax, diagram, example and caution.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End by asking students to explain OpenMP using only these keywords.</a:t>
            </a:r>
          </a:p>
          <a:p xmlns:a="http://schemas.openxmlformats.org/drawingml/2006/main">
            <a:r>
              <a:t>Pause cue: pause after the code/diagram appears, then restate the OpenMP rule in one sentence.</a:t>
            </a:r>
          </a:p>
          <a:p xmlns:a="http://schemas.openxmlformats.org/drawingml/2006/main">
            <a:r>
              <a:t>Pointing cue: point to the pragma first, then threads, variables, scheduling or synchronization points.</a:t>
            </a:r>
          </a:p>
          <a:p xmlns:a="http://schemas.openxmlformats.org/drawingml/2006/main">
            <a:r>
              <a:t>Question to ask students: Ask students which variables are shared, private, or protected here.</a:t>
            </a:r>
          </a:p>
          <a:p xmlns:a="http://schemas.openxmlformats.org/drawingml/2006/main">
            <a:r>
              <a:t>Animation instructions: Fade title; appear code blocks or thread cards one by one; wipe arrows; highlight pragma clauses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4 checklist; Peter S. Pacheco and Matthew Malensek, An Introduction to Parallel Programming, 2nd ed., Morgan Kaufmann, 2020, OpenMP chapters; Michael J. Quinn, Parallel Programming in C with MPI and OpenMP, McGraw-Hill, 2004, OpenMP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f0211eeed748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01fabe99df4cce" /><Relationship Type="http://schemas.openxmlformats.org/officeDocument/2006/relationships/slideLayout" Target="/ppt/slideLayouts/slideLayout1.xml" Id="Rcb8fb497616a4d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8fb497616a4d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e43c108cc4f46" /><Relationship Type="http://schemas.openxmlformats.org/officeDocument/2006/relationships/notesSlide" Target="/ppt/notesSlides/notesSlide1.xml" Id="R1882defd97c14c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86d5685924cec" /><Relationship Type="http://schemas.openxmlformats.org/officeDocument/2006/relationships/notesSlide" Target="/ppt/notesSlides/notesSlide2.xml" Id="Recf61dc953ea4f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5cb9beb204d19" /><Relationship Type="http://schemas.openxmlformats.org/officeDocument/2006/relationships/notesSlide" Target="/ppt/notesSlides/notesSlide3.xml" Id="Rfd94f0a4c9c742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9cee627e34658" /><Relationship Type="http://schemas.openxmlformats.org/officeDocument/2006/relationships/notesSlide" Target="/ppt/notesSlides/notesSlide4.xml" Id="R2eb187ffc58340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0bdfbafe44069" /><Relationship Type="http://schemas.openxmlformats.org/officeDocument/2006/relationships/notesSlide" Target="/ppt/notesSlides/notesSlide5.xml" Id="R5f99476231ad49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3efffbc70421e" /><Relationship Type="http://schemas.openxmlformats.org/officeDocument/2006/relationships/notesSlide" Target="/ppt/notesSlides/notesSlide6.xml" Id="Rbe24072b0bfa4b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59c6fb5684154" /><Relationship Type="http://schemas.openxmlformats.org/officeDocument/2006/relationships/notesSlide" Target="/ppt/notesSlides/notesSlide7.xml" Id="R6c51273c525942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41fceed244164" /><Relationship Type="http://schemas.openxmlformats.org/officeDocument/2006/relationships/notesSlide" Target="/ppt/notesSlides/notesSlide8.xml" Id="R02ae49d1136e4d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0720d4541484a" /><Relationship Type="http://schemas.openxmlformats.org/officeDocument/2006/relationships/notesSlide" Target="/ppt/notesSlides/notesSlide9.xml" Id="R40f0f4989f6b4c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64cedacc54b87" /><Relationship Type="http://schemas.openxmlformats.org/officeDocument/2006/relationships/notesSlide" Target="/ppt/notesSlides/notesSlide10.xml" Id="R629d846e47574a8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c45b734f24a44" /><Relationship Type="http://schemas.openxmlformats.org/officeDocument/2006/relationships/notesSlide" Target="/ppt/notesSlides/notesSlide11.xml" Id="Rd336398e284047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db18d169549e3" /><Relationship Type="http://schemas.openxmlformats.org/officeDocument/2006/relationships/notesSlide" Target="/ppt/notesSlides/notesSlide12.xml" Id="R9114b6f92cf941f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fe0c987bd4746" /><Relationship Type="http://schemas.openxmlformats.org/officeDocument/2006/relationships/notesSlide" Target="/ppt/notesSlides/notesSlide13.xml" Id="R1b41b177721740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a9e602ae34671" /><Relationship Type="http://schemas.openxmlformats.org/officeDocument/2006/relationships/notesSlide" Target="/ppt/notesSlides/notesSlide14.xml" Id="R960deaaf05f4409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8104c625048d4" /><Relationship Type="http://schemas.openxmlformats.org/officeDocument/2006/relationships/notesSlide" Target="/ppt/notesSlides/notesSlide15.xml" Id="Rbdb72bf08774431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3fd7080a44007" /><Relationship Type="http://schemas.openxmlformats.org/officeDocument/2006/relationships/notesSlide" Target="/ppt/notesSlides/notesSlide16.xml" Id="Rda043317569841d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74a5d1b0940a4" /><Relationship Type="http://schemas.openxmlformats.org/officeDocument/2006/relationships/notesSlide" Target="/ppt/notesSlides/notesSlide17.xml" Id="R80c6af3ddce449b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b59375c294100" /><Relationship Type="http://schemas.openxmlformats.org/officeDocument/2006/relationships/notesSlide" Target="/ppt/notesSlides/notesSlide18.xml" Id="R82512b90d45d441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cc08ecfd54439" /><Relationship Type="http://schemas.openxmlformats.org/officeDocument/2006/relationships/notesSlide" Target="/ppt/notesSlides/notesSlide19.xml" Id="R1e9553820a36406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e4904dc819425e" /><Relationship Type="http://schemas.openxmlformats.org/officeDocument/2006/relationships/notesSlide" Target="/ppt/notesSlides/notesSlide20.xml" Id="R82a253972b7e492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e367d0d1a49c6" /><Relationship Type="http://schemas.openxmlformats.org/officeDocument/2006/relationships/notesSlide" Target="/ppt/notesSlides/notesSlide21.xml" Id="Readc99234e324fd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84c8480ec480c" /><Relationship Type="http://schemas.openxmlformats.org/officeDocument/2006/relationships/notesSlide" Target="/ppt/notesSlides/notesSlide22.xml" Id="Rda42c718f1854f9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203496e8a436b" /><Relationship Type="http://schemas.openxmlformats.org/officeDocument/2006/relationships/notesSlide" Target="/ppt/notesSlides/notesSlide23.xml" Id="R0d06e6c30f174f2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de73fd06d4406" /><Relationship Type="http://schemas.openxmlformats.org/officeDocument/2006/relationships/notesSlide" Target="/ppt/notesSlides/notesSlide24.xml" Id="Ra07b34e10019463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d50baedfc492f" /><Relationship Type="http://schemas.openxmlformats.org/officeDocument/2006/relationships/notesSlide" Target="/ppt/notesSlides/notesSlide25.xml" Id="R2b1567abf461418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12d28c224459e" /><Relationship Type="http://schemas.openxmlformats.org/officeDocument/2006/relationships/notesSlide" Target="/ppt/notesSlides/notesSlide26.xml" Id="R6e0266123bc74a6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556dcbe174e3c" /><Relationship Type="http://schemas.openxmlformats.org/officeDocument/2006/relationships/notesSlide" Target="/ppt/notesSlides/notesSlide27.xml" Id="R04205bc9de0e4d3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01b65e5806410c" /><Relationship Type="http://schemas.openxmlformats.org/officeDocument/2006/relationships/notesSlide" Target="/ppt/notesSlides/notesSlide28.xml" Id="R4d9c8d7ac7b04ed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adf2b8e484708" /><Relationship Type="http://schemas.openxmlformats.org/officeDocument/2006/relationships/notesSlide" Target="/ppt/notesSlides/notesSlide29.xml" Id="R0dab501520094e9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4626e3aac4698" /><Relationship Type="http://schemas.openxmlformats.org/officeDocument/2006/relationships/notesSlide" Target="/ppt/notesSlides/notesSlide30.xml" Id="R2e57958aa99f414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313cdfc944d9b" /><Relationship Type="http://schemas.openxmlformats.org/officeDocument/2006/relationships/notesSlide" Target="/ppt/notesSlides/notesSlide31.xml" Id="R3937770516304bb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6c61da2124509" /><Relationship Type="http://schemas.openxmlformats.org/officeDocument/2006/relationships/notesSlide" Target="/ppt/notesSlides/notesSlide32.xml" Id="R6b2d61359c47420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c6530216e4f08" /><Relationship Type="http://schemas.openxmlformats.org/officeDocument/2006/relationships/notesSlide" Target="/ppt/notesSlides/notesSlide33.xml" Id="Rd798558d29c4460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a74b2a2d64e8a" /><Relationship Type="http://schemas.openxmlformats.org/officeDocument/2006/relationships/notesSlide" Target="/ppt/notesSlides/notesSlide34.xml" Id="Rfc5decbbf24141c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61bd869ea47d0" /><Relationship Type="http://schemas.openxmlformats.org/officeDocument/2006/relationships/notesSlide" Target="/ppt/notesSlides/notesSlide35.xml" Id="R41e4b372e26849d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50211f14b4ed2" /><Relationship Type="http://schemas.openxmlformats.org/officeDocument/2006/relationships/notesSlide" Target="/ppt/notesSlides/notesSlide36.xml" Id="R9d69d499844c4ba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3a28b5c964f27" /><Relationship Type="http://schemas.openxmlformats.org/officeDocument/2006/relationships/notesSlide" Target="/ppt/notesSlides/notesSlide37.xml" Id="R7b21a193175a43e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962db2e344428" /><Relationship Type="http://schemas.openxmlformats.org/officeDocument/2006/relationships/notesSlide" Target="/ppt/notesSlides/notesSlide38.xml" Id="R5b50c2f5169d41e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87ba9e924433c" /><Relationship Type="http://schemas.openxmlformats.org/officeDocument/2006/relationships/notesSlide" Target="/ppt/notesSlides/notesSlide39.xml" Id="R8253c1dada914bd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4e2db62c3456d" /><Relationship Type="http://schemas.openxmlformats.org/officeDocument/2006/relationships/notesSlide" Target="/ppt/notesSlides/notesSlide40.xml" Id="R793a702e4140497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fcc45284841d7" /><Relationship Type="http://schemas.openxmlformats.org/officeDocument/2006/relationships/notesSlide" Target="/ppt/notesSlides/notesSlide41.xml" Id="Rb453ed51c1d64bd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2adc918754cd2" /><Relationship Type="http://schemas.openxmlformats.org/officeDocument/2006/relationships/notesSlide" Target="/ppt/notesSlides/notesSlide42.xml" Id="Rac0cbff15d244bb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e85dfe3cc4c69" /><Relationship Type="http://schemas.openxmlformats.org/officeDocument/2006/relationships/notesSlide" Target="/ppt/notesSlides/notesSlide43.xml" Id="R3bd5916214eb49d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7239dce7a42f1" /><Relationship Type="http://schemas.openxmlformats.org/officeDocument/2006/relationships/notesSlide" Target="/ppt/notesSlides/notesSlide44.xml" Id="Re2957aa1c0984a8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ee9bdaff544f2" /><Relationship Type="http://schemas.openxmlformats.org/officeDocument/2006/relationships/notesSlide" Target="/ppt/notesSlides/notesSlide45.xml" Id="Reed8c3e609054314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4dbad3b6a4117" /><Relationship Type="http://schemas.openxmlformats.org/officeDocument/2006/relationships/notesSlide" Target="/ppt/notesSlides/notesSlide46.xml" Id="Recd84548c6884dcb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3c48af18c43ae" /><Relationship Type="http://schemas.openxmlformats.org/officeDocument/2006/relationships/notesSlide" Target="/ppt/notesSlides/notesSlide47.xml" Id="R9225ba0be47841ac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ec520161045dd" /><Relationship Type="http://schemas.openxmlformats.org/officeDocument/2006/relationships/notesSlide" Target="/ppt/notesSlides/notesSlide48.xml" Id="R62cb24090bfb4930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e7ba5149b494c" /><Relationship Type="http://schemas.openxmlformats.org/officeDocument/2006/relationships/notesSlide" Target="/ppt/notesSlides/notesSlide49.xml" Id="R4c00d9c0cc024eb0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362509e594777" /><Relationship Type="http://schemas.openxmlformats.org/officeDocument/2006/relationships/notesSlide" Target="/ppt/notesSlides/notesSlide50.xml" Id="Rf5c7ecba0c0244c1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d74e8501c4609" /><Relationship Type="http://schemas.openxmlformats.org/officeDocument/2006/relationships/notesSlide" Target="/ppt/notesSlides/notesSlide51.xml" Id="R377dda4e7ff14d6d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33e18061c421d" /><Relationship Type="http://schemas.openxmlformats.org/officeDocument/2006/relationships/notesSlide" Target="/ppt/notesSlides/notesSlide52.xml" Id="R6a2f6496fb234d3f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72861c0a24edd" /><Relationship Type="http://schemas.openxmlformats.org/officeDocument/2006/relationships/notesSlide" Target="/ppt/notesSlides/notesSlide53.xml" Id="Rb876fc3ec90d4753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af27b7c294330" /><Relationship Type="http://schemas.openxmlformats.org/officeDocument/2006/relationships/notesSlide" Target="/ppt/notesSlides/notesSlide54.xml" Id="Rfe6fa06342994f43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72f91884c4823" /><Relationship Type="http://schemas.openxmlformats.org/officeDocument/2006/relationships/notesSlide" Target="/ppt/notesSlides/notesSlide55.xml" Id="R7aff9d215d19443a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bcc9907ac44d3" /><Relationship Type="http://schemas.openxmlformats.org/officeDocument/2006/relationships/notesSlide" Target="/ppt/notesSlides/notesSlide56.xml" Id="R8f1a5576ac714b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FFBBC3-3EE4-4BFA-A33F-8E58D524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0E2AD-20A7-44B8-BDFB-F2285609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Shared-Memory Programming with OpenMP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77911-5280-494F-8B62-2F5FE8CF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Module 4 teaches OpenMP pragmas, work sharing, reductions, scheduling, tasks, cache effects and thread safety.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5F717-5F34-4103-B52B-C85F5297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08896-1943-416A-B8C6-27C46782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088C9-8168-4490-A862-B20BDA33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9EEEC-F99B-4567-8553-7795338E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6D89B-02F1-4F2F-BE7D-B3E65964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4B121-A0AC-49FD-A6F4-66D2E9CC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533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8FBFF"/>
                </a:solidFill>
              </a:defRPr>
            </a:pPr>
            <a:r>
              <a:rPr sz="4650" b="1">
                <a:solidFill>
                  <a:srgbClr val="F8FBFF"/>
                </a:solidFill>
              </a:rPr>
              <a:t>VTU BCS702</a:t>
            </a:r>
          </a:p>
          <a:p xmlns:a="http://schemas.openxmlformats.org/drawingml/2006/main">
            <a:pPr>
              <a:defRPr sz="4650" b="1">
                <a:solidFill>
                  <a:srgbClr val="F8FBFF"/>
                </a:solidFill>
              </a:defRPr>
            </a:pPr>
            <a:r>
              <a:rPr sz="4650" b="1">
                <a:solidFill>
                  <a:srgbClr val="F8FBFF"/>
                </a:solidFill>
              </a:rPr>
              <a:t>Module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D3407-9146-4B2A-A15E-1F1797BB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8C7D9"/>
                </a:solidFill>
              </a:defRPr>
            </a:pPr>
            <a:r>
              <a:rPr sz="1800">
                <a:solidFill>
                  <a:srgbClr val="B8C7D9"/>
                </a:solidFill>
              </a:rPr>
              <a:t>OpenMP • Pragmas • Scope • Reduction • Scheduling • False sharing • Tasking • Thread safety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F1520-F353-4135-8680-41BDE0CB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8587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C69"/>
          </a:solidFill>
          <a:ln xmlns:a="http://schemas.openxmlformats.org/drawingml/2006/main" w="19050">
            <a:solidFill>
              <a:srgbClr val="2C6CA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219EB-A440-493E-AD0A-75FA5531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874099-508E-41A9-A76A-415DA3A5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38375"/>
            <a:ext cx="2571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8FBFF"/>
                </a:solidFill>
              </a:defRPr>
            </a:pPr>
            <a:r>
              <a:rPr sz="2325" b="1">
                <a:solidFill>
                  <a:srgbClr val="F8FBFF"/>
                </a:solidFill>
              </a:rPr>
              <a:t>OMP</a:t>
            </a:r>
          </a:p>
          <a:p xmlns:a="http://schemas.openxmlformats.org/drawingml/2006/main">
            <a:pPr algn="ctr">
              <a:defRPr sz="2325" b="1">
                <a:solidFill>
                  <a:srgbClr val="F8FBFF"/>
                </a:solidFill>
              </a:defRPr>
            </a:pPr>
            <a:r>
              <a:rPr sz="2325" b="1">
                <a:solidFill>
                  <a:srgbClr val="F8FBFF"/>
                </a:solidFill>
              </a:rPr>
              <a:t>TASK</a:t>
            </a:r>
          </a:p>
          <a:p xmlns:a="http://schemas.openxmlformats.org/drawingml/2006/main">
            <a:pPr algn="ctr">
              <a:defRPr sz="2325" b="1">
                <a:solidFill>
                  <a:srgbClr val="F8FBFF"/>
                </a:solidFill>
              </a:defRPr>
            </a:pPr>
            <a:r>
              <a:rPr sz="2325" b="1">
                <a:solidFill>
                  <a:srgbClr val="F8FBFF"/>
                </a:solidFill>
              </a:rPr>
              <a:t>SYNC</a:t>
            </a:r>
          </a:p>
        </p:txBody>
      </p:sp>
    </p:spTree>
    <p:extLst>
      <p:ext uri="{BB962C8B-B14F-4D97-AF65-F5344CB8AC3E}">
        <p14:creationId xmlns:p14="http://schemas.microsoft.com/office/powerpoint/2010/main" val="21375914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9D548D-8EC7-4E49-9BFF-0D8AE4D5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699B2-590A-4F9A-A8DE-CBD39BBE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Module 4 learning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D9729-EAE0-4644-9665-66ECD38D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Use the syllabus as the checklist.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EB66A-9D56-4A97-BA6F-C7BD9F7A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C2FFB-0AE9-41A4-A993-6B904243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EC1EA-0574-450C-9689-4ED02D37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51853-DB4A-4B43-9F59-2C82A3CE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B8BE9-8B3F-4B00-A84B-9A17C09C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78861-CF92-4550-838E-64CEDFC9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D833E-401C-4E9E-90C2-D854D2CE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1E8D9-1995-4657-B453-836A7302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Explain OpenMP pragmas and directives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F93C5-03A6-410C-A28F-A3EA3BA4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E42416-8999-4C1B-8947-D27EA959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0D99A6-F730-4AD3-91F5-85A1E962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Parallelize the trapezoidal rule with OpenMP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FC45E2-2A34-4DC2-AE28-343A020E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8AA6B2-CAFF-4E4B-B1EB-26DFC6C7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E39C3A-B49F-4E55-84D1-BCE2D0EE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Understand scope of variables and reduction clause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7CB4BF-C780-4D53-98B3-5FB11F18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B79D0E-2EA2-44C4-A0F5-5AEAD122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B567BF-DA0D-46E4-ADC1-AAB5B268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Explain loop-carried dependency and scheduling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E9BBAE-91F6-42CF-A73D-3D6399EE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DF6136-4D7E-4468-A4A5-DB442308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117F0A-1391-454F-9BA5-D57FC6FD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Cover producers-consumers, caches, coherence and false sharing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EAB1B5-C5AF-4BA0-ADEA-707288D9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05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97E382-F6A4-4B6F-B8B1-B533E2A6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053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1415AE-E366-49CD-87E3-EDB9C005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2672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Explain tasking and thread safety</a:t>
            </a:r>
          </a:p>
        </p:txBody>
      </p:sp>
    </p:spTree>
    <p:extLst>
      <p:ext uri="{BB962C8B-B14F-4D97-AF65-F5344CB8AC3E}">
        <p14:creationId xmlns:p14="http://schemas.microsoft.com/office/powerpoint/2010/main" val="4465168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C2816D-FADE-4FFA-90C0-0FABE8A9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5093B-E617-44E4-BCF7-1F16027C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Why OpenMP?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CDD3E-9AF7-4D7E-BC83-E8CA2CE5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Shared-memory machines need a simple thread-programming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50F0E-F1EA-4DD0-9D79-70679F51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DC23D-80F3-4DF9-96A2-043B0BB5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21CBAE-191B-4ED1-B421-B79BB613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2F9D9-8F51-49A9-8619-3264F7A5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3B5DB-F6C2-488A-B155-77D92F2B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A2022-29BC-434B-A229-36CEFFA6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B66F86-3E69-4E28-A6B7-8CD5CE26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Serial C program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366883-32AF-4453-A9FF-96AF0212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2CE3BD-EAAF-44EC-ADD2-FF54F1C4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271AAF-7432-42C5-9860-1E20F002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Add pragmas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58E15F-3005-4056-AF73-77A2AA71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966CBE-815B-4466-A239-EF2068B8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E28DDB-F30C-4457-9988-97E26AFC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Compiler creates threads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D794BF-1BF0-4C88-87D1-F2CF0425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E6A2E-D1D7-4E7E-B46F-A8A2B5FD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BFE97C-5869-4053-991E-E3382EE2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Runtime schedules work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A95B2A-81E8-4E3D-9EA6-C07CE270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500136-1441-4DCF-B7B6-9AD75BA1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94FCE5-07CF-4DCD-8CB5-B986110E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Parallel result</a:t>
            </a:r>
          </a:p>
        </p:txBody>
      </p:sp>
    </p:spTree>
    <p:extLst>
      <p:ext uri="{BB962C8B-B14F-4D97-AF65-F5344CB8AC3E}">
        <p14:creationId xmlns:p14="http://schemas.microsoft.com/office/powerpoint/2010/main" val="11046805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B0179F-6363-4761-A008-30C20E14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4033E-5AA1-4FF9-8736-2F62FEC8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What is OpenMP?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E9E0B4-43BE-4589-9F4C-00785425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OpenMP.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96040-0785-48E5-9400-7BAE7591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7A0DB-257E-4033-A622-8B244660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F79EA-70EB-4E09-8571-CB750A41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A0728-F7ED-4BFC-A5FB-1B23090A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OpenMP Basics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BCEB13-C71B-48A6-8B29-01169A1E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4FAF1-5996-4D86-A5F6-9524BC99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OpenMP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6B1A06-66EE-4BE4-ACF8-CB4544BE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OpenMP is a shared-memory parallel programming API that uses compiler directives, runtime functions and environment variables to create and coordinate threads.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9C23B-1A6B-41E1-BD45-0C09308A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22EB7-D2D0-46C5-87AC-D92648C1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Shared memory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5FC48F-C978-406B-990E-BD0F430B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1FEA34-EDD8-4A00-9D92-A6245264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D0FE47-221F-45AE-A423-DC1FE75C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Threads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DCBCB4-ED08-4894-AC06-F3081DFE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651BFE-9EB9-4991-8E8A-C143C5F2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C54CDE-859C-4382-A3E6-8747427C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Pragmas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F693E1-1E24-4207-9496-5BD35E12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7499F2-AF8D-462C-9E60-0E80F087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1A2B39-153C-4076-8F0B-14D597A5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Directives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89B89A-B06D-460F-9AEF-961EE3EA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D3EF15-89D1-4D67-BF3B-FA5C8639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11208C-B353-4850-89A2-6B4F1C67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Runtime</a:t>
            </a:r>
          </a:p>
        </p:txBody>
      </p:sp>
    </p:spTree>
    <p:extLst>
      <p:ext uri="{BB962C8B-B14F-4D97-AF65-F5344CB8AC3E}">
        <p14:creationId xmlns:p14="http://schemas.microsoft.com/office/powerpoint/2010/main" val="17974551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D08F0B-62D0-45CF-B12F-82EB5FE7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86739-A551-4DEB-98CD-71F5573B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OpenMP programming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1C0FB-54E7-4D9A-AEB4-515FD1C3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fork-join execution.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57CAE-AE3F-4B51-99A1-BAC1C31C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B13D4-C4AD-4ADF-BD02-75DCBC8D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580E9-D2E9-4936-A228-28931230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99A501-79B8-43FB-BB90-FFDF19E2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OpenMP Basics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E65FE8-17B1-46CC-AB0F-6C642C89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44D04-E5E7-438A-BD3D-777D62F2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12C091-EC02-4510-A274-5120DB35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4D4BD7-27F4-42F7-AB6F-BFB7ADDE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1526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Master thread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115BCE-85DA-4443-A3D2-7C01AF9B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533650"/>
            <a:ext cx="2495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Starts serial program and creates team at a parallel region.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47E31F-AB69-4369-B868-EB082BDB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12858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BEE9BC-D29F-4F29-A95D-B27575FF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99A729-9D0E-47C1-99DA-9A24E81D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52650"/>
            <a:ext cx="923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Thread 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C4C9CB-6882-4AE7-BF61-68C4883E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33650"/>
            <a:ext cx="923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Executes part of the region.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C756C5-68B0-4CC4-B78E-633C8BDA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2858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F3FAC7-31B2-48D6-AF7B-E5E988C0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614391-02E2-4429-93C9-43A8FCA8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52650"/>
            <a:ext cx="923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Thread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52DAF7-81BA-495E-8B6E-FA776FEE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33650"/>
            <a:ext cx="923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Executes part of the region.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6D284C-36E8-44B4-83A1-AB30DA49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0250"/>
            <a:ext cx="12858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22EC72-8FED-4F85-BAE1-1BD41AFB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02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CB7C43-65FE-44E3-BD49-330B2D73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52650"/>
            <a:ext cx="923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7C8FF"/>
                </a:solidFill>
              </a:defRPr>
            </a:pPr>
            <a:r>
              <a:rPr sz="1725" b="1">
                <a:solidFill>
                  <a:srgbClr val="77C8FF"/>
                </a:solidFill>
              </a:rPr>
              <a:t>Thread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F7DFFF-3698-4779-A451-3A562E55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33650"/>
            <a:ext cx="923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Executes part of the region.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0BA564-EBF6-464F-BD2F-4C4FF58D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00250"/>
            <a:ext cx="12858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350E40-31E2-4489-8C3D-626F9E16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002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F9A5E7-B82C-4353-B229-062A9AED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52650"/>
            <a:ext cx="923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F69"/>
                </a:solidFill>
              </a:defRPr>
            </a:pPr>
            <a:r>
              <a:rPr sz="1725" b="1">
                <a:solidFill>
                  <a:srgbClr val="FFBF69"/>
                </a:solidFill>
              </a:rPr>
              <a:t>Thread 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CFA8C5-2FCE-43AC-8705-7EDC3532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33650"/>
            <a:ext cx="923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Executes part of the region.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553594-E458-4D1E-A17C-F183D574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86250"/>
            <a:ext cx="164211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A8B4D4-AE4E-425B-A465-F4DE8B8B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457700"/>
            <a:ext cx="141351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Serial code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6C0E0E-9EE6-4814-BF8D-A6956D7B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35" y="45815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CAFE3C-63E2-4E09-B538-A1EEB52E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785" y="4286250"/>
            <a:ext cx="164211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8D0403-38EF-4A6D-AA51-B8504525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7085" y="4457700"/>
            <a:ext cx="141351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parallel region begins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7BA9F5-1DAA-42D1-8E75-5710E468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095" y="45815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A518C2-1880-45E4-95EF-44290BE5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4945" y="4286250"/>
            <a:ext cx="164211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4AFBCF-8E16-4A42-A5D1-805AE6FD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9245" y="4457700"/>
            <a:ext cx="141351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Thread team works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5C7469-B3D3-4CED-B976-C73A0415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3255" y="45815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9C4220-E342-434A-B797-8E892D52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286250"/>
            <a:ext cx="164211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24985C-7CD3-4ED4-A9D7-264AFEE3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1405" y="4457700"/>
            <a:ext cx="141351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Implicit barrier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63D9AB-7971-4123-B9D2-95C2A869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5415" y="45815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052C8A8-8F85-4D7D-A33B-262A7AAA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265" y="4286250"/>
            <a:ext cx="164211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1828CF-60FB-43D8-B352-56B58B8B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565" y="4457700"/>
            <a:ext cx="141351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Serial code resumes</a:t>
            </a:r>
          </a:p>
        </p:txBody>
      </p:sp>
    </p:spTree>
    <p:extLst>
      <p:ext uri="{BB962C8B-B14F-4D97-AF65-F5344CB8AC3E}">
        <p14:creationId xmlns:p14="http://schemas.microsoft.com/office/powerpoint/2010/main" val="17672270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33E34F-CEDF-4B33-9423-8AC2BA36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2E88E-CE1B-4FE7-B5CF-43768B9F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OpenMP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9995D-31C8-4DC3-9C3F-6EFA39A7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Break the API into pieces.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07108-924A-47B7-A58F-283BD301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5379A-1CF8-4CD2-9474-AD73C96A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38EDB-B8AD-448E-8685-5E0DE517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0953D-0899-4DE8-B050-E0F72118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OpenMP Basics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D931D-FF7E-4BA5-A95D-B53D7277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98AFD-AB5E-4156-A9D9-2AF0F541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2805EB-0D97-4694-A3B4-9F29F1B9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76B6F8-850E-4454-985A-6A4DB35F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Compiler directives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4BE61-158A-4DE9-B92D-867C2801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Pragmas tell the compiler what to parallelize.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32F01A-0705-44EB-B0E1-E0A83AA1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FB1631-9013-4C2D-AD16-5EEE0898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A144E3-B50C-40DA-A20C-C6EBAAC6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Runtime library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E67747-520F-4A86-8937-66A67D36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Functions query and control threads.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6CF9BF-ED60-4BDB-BACB-EB0A5341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E90207-21CD-4676-AF38-F14F23DE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E3B65C-1100-444A-BE5C-049BAC9B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Environment variables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6ACB4B-353D-478C-9355-816D87C9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Settings such as OMP_NUM_THREADS affect execution.</a:t>
            </a:r>
          </a:p>
        </p:txBody>
      </p:sp>
    </p:spTree>
    <p:extLst>
      <p:ext uri="{BB962C8B-B14F-4D97-AF65-F5344CB8AC3E}">
        <p14:creationId xmlns:p14="http://schemas.microsoft.com/office/powerpoint/2010/main" val="5539134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D4FDF8-4580-4863-B188-562BECC6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F39EB-2700-40D3-AC44-0C67BA28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OpenMP pragma syntax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CA2CE-A0A2-42A6-80A4-9CFF078F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Teach directive pattern.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AC3B0-1D78-4FA8-97E1-1FE39922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642B8-4464-4DE6-BBE2-6855D4C7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E8674-B424-402A-B146-61F5602E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E931A-B5EA-45F9-8A1C-15331F97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Pragmas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AE7EBE-CAF6-477B-A553-35D161EE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8F2A3-71DF-4FDE-8E7D-F89FA4B9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7000875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EDA87-88B4-4B86-B6E5-03356904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81200"/>
            <a:ext cx="6334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#pragma omp directive [clauses]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{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    /* structured block */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#pragma omp parallel num_threads(4)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{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    printf("Hello from thread\n");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C1AAC6-C662-45B4-8541-B9BDE05C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0F6B4B-533E-4679-9192-1B724A69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384C38-F460-4327-8497-D8356CD3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5336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OpenMP code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A35A4-AF7C-48A7-8872-088EE187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914650"/>
            <a:ext cx="24955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pragma, identify the region or loop, then check variable scope and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21237435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79C10B-75E9-4CCA-BC75-5297DFE9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C06D3E-845F-4481-8365-F252FD19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parallel directive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51D3E-D0CB-44BF-B4EB-3C3985DA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Create a team of threads.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8BA12-C01F-445C-896D-7D9D11C1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9D421-E575-4DB5-A32D-32411015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3BB88-EA11-41CF-B330-520A7F92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90821-E28F-4B64-AD9C-F04EEE82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Pragmas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3F591-98E3-4DC3-A008-1E4C9421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F1BCB-E564-4B19-986C-4B3C2F76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parallel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E88E2-1341-475C-9FCA-268F06AB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The OpenMP directive that creates a team of threads to execute a structured block concurrently.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3B9E3-9B7F-47C8-91D8-1C2209E9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8E6BB-EA87-4184-B7F1-8F67101B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Thread team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690E9-DCBE-482C-8CF3-1DB9ACD7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74D054-2008-465B-A471-EDFC9C93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CBCE6B-BFE0-4FF5-85CE-8FFCB201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Fork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B857B6-CA03-428B-B2D7-3A16156E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704BAE-6D78-43F6-B9CE-71C6817B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1B24CD-F551-41C3-8FA0-B69EDCE0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Join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3CF9F7-0735-4C52-979A-0671B90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CA2526-BF27-4FD3-867E-CFB57463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0381BD-C534-45F9-97A9-D89B2B63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Structured block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0CDA12-5477-4D17-AA3F-08DD1F23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5A3D13-3876-4CB4-AA26-1AE31F0C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59FC5F-EF54-4F11-BB55-B4AD2A21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Implicit barrier</a:t>
            </a:r>
          </a:p>
        </p:txBody>
      </p:sp>
    </p:spTree>
    <p:extLst>
      <p:ext uri="{BB962C8B-B14F-4D97-AF65-F5344CB8AC3E}">
        <p14:creationId xmlns:p14="http://schemas.microsoft.com/office/powerpoint/2010/main" val="9069600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B00186-9433-44F7-9C17-73499DB5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4337A-BCB0-48AE-A2EC-3E551892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parallel for directive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F41F0-4F52-49CB-91AF-1D878EC8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Split loop iterations among threads.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36A06-0A03-403E-B5AA-AEC86FF4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72D01-2E18-4A61-A36C-9588BBDE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47CC6-0AD8-4A61-B9A6-0EE0052D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1C93F-1159-4492-87BC-F81553D8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Pragmas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12771-16CC-4B29-B98E-21748EF2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41089-8056-48F4-BD87-8FD7F05B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7000875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28ACA-DEB0-4943-AA04-0D7E0F84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81200"/>
            <a:ext cx="6334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#pragma omp parallel for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for (int i = 0; i &lt; n; i++) {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    a[i] = b[i] + c[i];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457B1-8943-4C32-9756-8ED87998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A1D34-CC8A-46DF-A1E3-0A0AC287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B9CC22-D241-4A5E-A5E8-1252F334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5336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OpenMP code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749BD-6D43-4BA7-B23A-89C53081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914650"/>
            <a:ext cx="24955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pragma, identify the region or loop, then check variable scope and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16462592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03E536-FDFC-47D1-B48A-879970C8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86C49-F488-457F-A3C8-DF79FF8E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Work-sharing loop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A5FD0-1324-4F9C-93BE-7458B57F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Visualize iteration chunks.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65806-58CA-40F4-93C3-8C745517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F416F-C101-499B-B7E0-6623D78D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673A2-C3D7-4F9A-8D97-BB4D51B2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D7941-0B61-4A63-AC88-6928DFFF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Pragmas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2796F-F023-4603-9CDB-DB397497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0B1FB4-C65E-4428-8E8C-5709F6A6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F34A5-7EAC-4B36-8FB6-F4B55863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82391B-F0D7-473D-8478-C09EC294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1526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Master thread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4D3B2-7906-49DB-BC2C-081A3210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533650"/>
            <a:ext cx="2495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Starts serial program and creates team at a parallel region.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310DCD-9965-4630-AC14-E9EC91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12858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41F7EF-17D2-47D8-A2D8-321AF76D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311DAE-80DE-4175-8404-A763340D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52650"/>
            <a:ext cx="923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Thread 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01F628-589F-4DB9-B3D5-92A072E2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33650"/>
            <a:ext cx="923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Executes part of the region.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2ED600-2D2E-4C07-85C7-C2B1A0B8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2858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5DAC37-3FB4-4497-8428-7A850515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49DD02-C380-4782-95CB-65A9EFC7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52650"/>
            <a:ext cx="923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Thread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330D0B-2D35-4FCE-A757-1EA9BE3A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33650"/>
            <a:ext cx="923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Executes part of the region.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67CB73-1273-47CD-AF21-C3319546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0250"/>
            <a:ext cx="12858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A1B892-D6E2-4CB3-AA37-AED4408B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02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B680E4-9024-4AF6-B3C2-5D705038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52650"/>
            <a:ext cx="923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7C8FF"/>
                </a:solidFill>
              </a:defRPr>
            </a:pPr>
            <a:r>
              <a:rPr sz="1725" b="1">
                <a:solidFill>
                  <a:srgbClr val="77C8FF"/>
                </a:solidFill>
              </a:rPr>
              <a:t>Thread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CA4AB1-712B-4889-9C53-56D8A3A1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33650"/>
            <a:ext cx="923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Executes part of the region.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E5B4E5-C0CF-44D9-A798-F7101E30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00250"/>
            <a:ext cx="12858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1CCC9C-271F-4CE2-8684-3FA03D85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002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84F2CF-D079-4031-9607-EED79B6E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52650"/>
            <a:ext cx="923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F69"/>
                </a:solidFill>
              </a:defRPr>
            </a:pPr>
            <a:r>
              <a:rPr sz="1725" b="1">
                <a:solidFill>
                  <a:srgbClr val="FFBF69"/>
                </a:solidFill>
              </a:rPr>
              <a:t>Thread 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13DCB1-4317-46B3-B59A-F4A46E50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33650"/>
            <a:ext cx="923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Executes part of the region.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40906B-A112-406F-B478-2E7E6006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86250"/>
            <a:ext cx="164211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3FB9E7-8266-467D-AEE4-DE7F4DC6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457700"/>
            <a:ext cx="141351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Loop iterations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C09111-B98A-4090-BC6B-F3D3829A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35" y="45815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872725-2261-4609-A046-75F9B41C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785" y="4286250"/>
            <a:ext cx="164211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238257-545B-44C8-98B5-F0E6EC94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7085" y="4457700"/>
            <a:ext cx="141351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Chunks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3B1662-8235-4E73-A1F3-FDDCF69B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095" y="45815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8D9AE5-2BDA-49DD-9618-5E45F593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4945" y="4286250"/>
            <a:ext cx="164211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C69F93-FCFF-4787-AFDB-ED398CC8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9245" y="4457700"/>
            <a:ext cx="141351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Thread team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0B983F-57C7-4809-8CAB-152497EF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3255" y="45815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0B76B5-206B-4690-8BCE-28D14043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286250"/>
            <a:ext cx="164211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7809AB-3A28-4FD8-AA2E-9E0A6E27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1405" y="4457700"/>
            <a:ext cx="141351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Local work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61C683-03F2-4780-972A-0600813D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5415" y="45815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A2FC04-2FBE-4281-BC9E-77669D95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265" y="4286250"/>
            <a:ext cx="164211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B0A88A-0248-424B-8870-F9952F44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565" y="4457700"/>
            <a:ext cx="141351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Join/barrier</a:t>
            </a:r>
          </a:p>
        </p:txBody>
      </p:sp>
    </p:spTree>
    <p:extLst>
      <p:ext uri="{BB962C8B-B14F-4D97-AF65-F5344CB8AC3E}">
        <p14:creationId xmlns:p14="http://schemas.microsoft.com/office/powerpoint/2010/main" val="11346844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E6E795-FD08-47E4-8538-04FA23B8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49CD0-1217-4BE1-A908-5365E777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Common OpenMP directives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4AA3B-7BF4-4378-AFA4-70FE8BAF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List important directives.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9C155-4E17-4B53-931E-095DD43A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21F5D-0796-4BF3-A647-41922587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E3050-67A7-41B3-96FB-F2E401B3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CA3E5-31DB-4F9C-ACCA-F615EAC4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Pragmas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42D84-04F2-4E2B-AA51-FEF770FC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6E2765-F3F0-4D77-B9BE-8EDFD285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9E3C74-7924-4EB6-A568-3B10F2A8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F36DAA-2858-477E-94E5-D09F4562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parallel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5D12F9-4735-40FA-8F74-0B994280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Create thread team.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9CB984-AE72-4827-9326-241EA804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239240-B3F9-4F19-9D87-EC3AC66E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168241-AD56-4999-AEB8-AB4065F1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for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3FD58B-C0A1-495D-B2A6-4C727B48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Distribute loop iterations.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64B92D-3838-490D-A2E8-FCFDF398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F8E874-0EB4-410E-9D00-4455EB50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44618C-8CED-4531-AFA5-E46AB476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sections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3F274A-4730-43F5-9231-7BB8D0AF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Run different code sections.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B0A4D4-9533-4C71-988E-7FE7F811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9E94F3-A49C-4C64-BF57-12A38E86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75E715-D221-42D7-8023-96284248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single/master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E9A22F-0D89-472D-ACA3-6174CB71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Restrict a block to one thread.</a:t>
            </a:r>
          </a:p>
        </p:txBody>
      </p:sp>
    </p:spTree>
    <p:extLst>
      <p:ext uri="{BB962C8B-B14F-4D97-AF65-F5344CB8AC3E}">
        <p14:creationId xmlns:p14="http://schemas.microsoft.com/office/powerpoint/2010/main" val="13704488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D773C6-CBFB-44AC-9D06-3D850CE8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CBD2B-82C0-4775-AB45-5F850640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Runtime functions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0292F-E5B3-4854-95B8-28B86043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Preview useful calls.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DF55F-2FC9-47DB-87EF-C90CF17F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F5EBF-9BE2-4902-B9B3-580CF2F3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F6B13-B714-4AE6-AC10-DD94C4DA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EF019-6181-44A7-8DF7-7C4A4FD0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Pragmas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C4177-EBC4-409B-A5B4-F5CBA9AE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16BA28-903B-4B0B-867A-9DD570A3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F11EA-2733-4D53-BEA9-7BB007D7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589FF-1C8D-46AD-91D2-4E97E1AA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omp_get_thread_num() returns current thread 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155E10-1034-45A4-BAEF-AFB6D8C1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2A7816-B466-4338-AB72-4A17A6B0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48034D-8B34-485B-83D8-B52B46F0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omp_get_num_threads() returns team size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FBDB6-C74E-461F-9C81-93B050DC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377B64-A178-43DB-90DE-015E55BB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982F51-4458-4F95-9462-1517BC1B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omp_set_num_threads() requests thread count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FBC065-A7AA-40CC-81D1-C2049427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488842-1549-4AAF-8BC8-D7AC209D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19B1B9-4ABC-4AE2-AA90-7EB847F6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omp_get_wtime() returns wall-clock time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D21ED0-1DEE-491D-8610-5E51BE9E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161AFE-15B5-45D3-8E25-8FD7C576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DB3FD5-1E71-4767-84C9-2EC6939F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omp_get_max_threads() returns maximum available threads</a:t>
            </a:r>
          </a:p>
        </p:txBody>
      </p:sp>
    </p:spTree>
    <p:extLst>
      <p:ext uri="{BB962C8B-B14F-4D97-AF65-F5344CB8AC3E}">
        <p14:creationId xmlns:p14="http://schemas.microsoft.com/office/powerpoint/2010/main" val="9629771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EBB8F1-155E-4201-BAFE-A065E9FB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7DDC6-C3FD-4479-AA29-750B0E7E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Trapezoidal rule in OpenMP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E537D-5364-44C5-9BAE-2D1781CD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numerical integration to threads.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5CFB7-739D-48DE-A8AF-3E992FC0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313B1-B2DB-4531-A665-70017067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896A0-5FA6-4933-A7CD-F4B54321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FAB50-EF8E-4026-9795-8948F8E9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Trapezoidal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6D9B1-224D-4823-9663-08F0BA60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2CC6B1-5E98-4AE9-8E46-CB9C5578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BA9DCD-D4BC-4C32-B024-060F93A1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Split loop iterations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E65F38-146A-4D13-895E-FC5BB5F4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61749-CAC3-4849-A2B6-6AD5B7D6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BCA1D7-3BE5-44AF-A8C7-EC96A2AA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Each thread computes partial sum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83759F-2A5B-4934-95A9-F49E5097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AA8E69-5EE0-49ED-9DB8-A6C1AEC5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C482EF-E43D-403D-A02C-24FC3E99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Reduction combines sums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6A3087-DBAB-4778-9DB7-C0FB270E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47CB1D-1855-48AD-81D1-9A613544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CB2237-C09F-4E18-B92C-041EDB6A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Multiply by 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D9CC10-D75F-4909-9797-47BF198B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D4B5A5-EA82-4EB8-8B82-F99D54A7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DD32D6-5069-4140-8567-593A65F8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Print estimate</a:t>
            </a:r>
          </a:p>
        </p:txBody>
      </p:sp>
    </p:spTree>
    <p:extLst>
      <p:ext uri="{BB962C8B-B14F-4D97-AF65-F5344CB8AC3E}">
        <p14:creationId xmlns:p14="http://schemas.microsoft.com/office/powerpoint/2010/main" val="304616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91CE40-B8B4-4AF2-85E8-934DDD0D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08ECF-D063-4B6A-B74F-DA23D3A4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Sequential trapezoidal skeleton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92561-98A1-4DCE-8DD0-D575FE74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baseline.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640D1-D778-4601-B672-7340EAEF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01B83-F3C7-49E6-B822-E653E532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5A820D-E22A-4983-9506-4891AE96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B3B26-6277-451A-BC11-AD2AADA4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Trapezoidal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C2A70-4C91-4280-BA85-2FBAFF28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AE7500-D5CC-4433-906E-0729BA14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7000875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2D88BB-3F9E-4F53-9D91-9AD35952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81200"/>
            <a:ext cx="6334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h = (b - a) / n;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approx = (f(a) + f(b)) / 2.0;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for (i = 1; i &lt;= n-1; i++)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    approx += f(a + i*h);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approx = h * approx;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B55B5-599E-4B43-8E98-0963CCA9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52D9E1-C131-4E09-8959-632BDF31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74D2B0-41E3-4EEE-B19B-9F387AD8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5336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OpenMP code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5E17E2-7747-407B-B2E2-EF21D79F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914650"/>
            <a:ext cx="24955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pragma, identify the region or loop, then check variable scope and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9743879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41674C-273A-4E7F-91F4-E61CB6B1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ABB16-278D-41F6-9448-2E7BA237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OpenMP trapezoidal with reduction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20FAEA-FE64-4BEC-96BE-D4C37846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parallel pattern.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D718B-F7E4-463C-8646-DAD677D7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75E27-2CF1-4246-8C15-8220AFE0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62401-C93D-4435-8A26-EF9E2A71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52468-6163-46EA-8D9D-ADDB8E3C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Trapezoidal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4F656-9CAB-431C-9D38-E43A1E62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60C09-AF69-4C79-86B2-E8357548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7000875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E6FDD-E820-4F0B-B8E1-A1271992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81200"/>
            <a:ext cx="6334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double sum = 0.0;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#pragma omp parallel for reduction(+:sum)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for (int i = 1; i &lt;= n-1; i++) {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    sum += f(a + i*h);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}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approx = h * ((f(a)+f(b))/2.0 + sum);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CC0E08-12DE-4F72-A35E-FF39F422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8CBD47-0C44-45A7-A7C0-642ED8A2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4848FB-3D92-4DF3-A08B-65C08D19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5336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OpenMP code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6AC24B-8562-43DA-AE20-67AF4D59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914650"/>
            <a:ext cx="24955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pragma, identify the region or loop, then check variable scope and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18928869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883BDE-3AEB-46EE-AC3E-9069DB30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75D7A-7B8B-4E9D-B4CB-E2A3EF1B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Scope of variables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655C4-B284-4E99-B5BA-C41BC08A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shared and private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03251-814D-4CDC-9167-165C2F55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06A3C-61EE-443B-AA5A-924A3DC4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EEA6A-0CA3-4431-81BB-9D5B4FCB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AA14E-86FC-4AF8-8B58-EC48788B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A582C-5B98-4B3B-9C21-7A190FB9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ED10D-EEA5-4508-93B8-010C5E34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Variable 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2E7F74-5661-4475-A092-44B8E6DF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In OpenMP, variable scope decides whether threads see one shared copy or each thread gets its own private copy.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31751-42CA-4C9D-991C-5F67E564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746A04-9165-4AFE-AF6D-AB4C0F40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shared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14F270-3CB1-43A8-BE9C-1DB68378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082FF7-9AEA-4AAE-B4C6-357C4F6C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0653E-0EB9-4CB5-9DD8-98E51AE3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private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AEFC06-462C-422B-B7D3-6868C89A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BBE3B4-BF83-4786-A020-F8463B9C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860106-57BB-41F0-8053-D3849805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firstprivate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F5572C-3F8B-49F6-8E45-D2775FC1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F68D4A-9361-4A57-B0BF-E3EF065D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0F2C85-7CF7-408D-BED5-95744AD0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lastprivate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D0FB9F-BAF7-49E5-A049-B65202C1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7A0768-26B5-4F92-8388-D2468E47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0997EC-4B11-490C-8812-D2CA7428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default</a:t>
            </a:r>
          </a:p>
        </p:txBody>
      </p:sp>
    </p:spTree>
    <p:extLst>
      <p:ext uri="{BB962C8B-B14F-4D97-AF65-F5344CB8AC3E}">
        <p14:creationId xmlns:p14="http://schemas.microsoft.com/office/powerpoint/2010/main" val="96768399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7368DB-5A92-4034-8061-C5E7CB28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3A7A6-6237-4024-BDA5-8F233D8E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Shared variables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D22A7-3228-42D3-AFFC-68FEF064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shared.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33359-EEA1-4A30-B9F5-7B35CC02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4C2C3-6FBD-4E38-8814-28974120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03B4E-A130-4B3A-9154-81FE47A4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3A9FB-41EA-4852-9A70-A90A7AF2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94CD5D-9847-46C4-9316-14BFBC80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D6DE2-076F-42E5-A4A6-DBF7F09B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1E0E7-ABA2-411A-8D8F-79C13109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BABF3-6FD1-428B-80F4-E0417AFC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One copy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D654CA-821A-49A8-B232-3EEF9E63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All threads access the same memory location.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BE9C96-B874-493E-8A54-9E6FB45D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82AEE7-98BA-4E9E-93B5-7A0FC258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17B737-9C05-48E6-8C37-920BAF60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Useful for input arrays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D0F6E3-00DD-4640-BEBB-CA1230A7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Read-only shared data is usually safe.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24CB13-85F0-4514-8FC5-39ADFE5A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96DD63-1FEA-43B2-98E2-BA75970F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89096D-DA36-443C-8625-C16AB7E6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Risk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7382BD-5CF1-4196-BC3B-EF52FC94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Concurrent writes can create races.</a:t>
            </a:r>
          </a:p>
        </p:txBody>
      </p:sp>
    </p:spTree>
    <p:extLst>
      <p:ext uri="{BB962C8B-B14F-4D97-AF65-F5344CB8AC3E}">
        <p14:creationId xmlns:p14="http://schemas.microsoft.com/office/powerpoint/2010/main" val="2768781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1AE761-3077-4985-BE67-F3E0856D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EDF328-DBB4-4862-920C-4B06F639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Private variables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21468-DD18-4115-93E4-77657FE0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private.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1A6FB-4596-4EED-913E-6C29DB64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D7A31-86CC-4EDF-9155-AA99D66C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3646C-F02A-462C-990F-1AC0717A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2B32D-CCAF-42D8-93D4-7FEED7DC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09C264-AC32-4FF1-91BB-4719B2F2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3A7BAE-B5F8-40D2-9B74-66092570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AAC3D6-2921-4C41-B7E8-C14F9CA0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817FF9-BD2B-4A63-A2AB-DDDA5224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One copy per thread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F98BE9-0186-4EA8-A0DB-23F7E806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Each thread gets its own variable instance.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3D42BA-5637-4C57-9B3E-CFD70316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86C534-E839-4F4F-AB65-96F4D057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434E5E-39F4-42D5-AB23-5D22B457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Useful for loop temporaries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F8F464-8E78-4EC5-9749-3A960895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Avoids accidental interference.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5D3CD7-1A23-40B9-8079-D4E656F1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7E7BB1-9E96-493F-A81A-A2E1FAF2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4B1493-38F0-4FBF-964F-B87B8A36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Uninitialized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385C49-6935-4F4C-8BEA-B50BD222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private variables do not automatically inherit old values.</a:t>
            </a:r>
          </a:p>
        </p:txBody>
      </p:sp>
    </p:spTree>
    <p:extLst>
      <p:ext uri="{BB962C8B-B14F-4D97-AF65-F5344CB8AC3E}">
        <p14:creationId xmlns:p14="http://schemas.microsoft.com/office/powerpoint/2010/main" val="117434133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C79F94-DF03-46D4-A046-1F64268C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19D59-73D0-41C1-97A6-BC41A964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firstprivate and lastprivate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A5AB2-485A-4EAA-BF75-EDED7694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scope clauses.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63577-1525-4812-B18E-DE2FBA7F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4060FE-0208-429C-8604-5A4D4486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DEB1F-B06D-41B5-ACF9-4FEB8DD7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C7B1A-AE7C-4D99-9549-6C42D635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BEA402-9B17-4BF1-A123-688E0B54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75C15-9F2A-4E22-B6A0-17DD89FE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B1F212-27CC-4D61-A216-617F8D83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B5C8A-F55B-45C8-A3AE-773C0AAF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firstprivate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90F50B-5112-4689-8AF0-6EF2424D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532F84-227F-4CB7-89FC-4A4C0FBE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47C4BE-22F3-4051-A44B-0C3A837C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2171CA-F3E3-4D0B-81EB-35A70EF9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lastprivate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65E80-E07E-43F7-8F89-744EF206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50BDE6-087B-486B-A79E-FE42A0D0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C347DA-A950-431C-A9D1-82AECD9C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FED3A7-4061-4C81-9A8F-CCB410CF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Private copy per thread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BDFBE9-9C07-4B3F-B486-C5966F3D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7AA22B-86CB-4746-BDCD-08BD90A4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19DE67-E5BA-4D8B-8513-5AB5EF7B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Initialized from original value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ED240B-46EE-4D9B-AB75-5DC11AF4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163435-AB60-47BC-A633-248C20B6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01B890-2992-44E0-B8D9-43B9B857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Useful for constants copied into region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E4882C-F7F2-4133-84E0-212364BB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496B48-0390-486E-918C-78494E92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512BB2-FD8D-418B-A087-70618AA0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Avoids shared updates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63E819-AB75-4118-AB01-77BEDFFD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02D14B-4BCB-4EDF-9F1F-A037ED75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32F812-1253-4121-B4F8-6DC572BB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Private during loop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AC240C-E260-4629-BB10-97600109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74A1DE-3625-4919-803B-237227ED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D9F889-32C8-467E-993B-00A5AA33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Final value copied back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E86EC4-66F7-49A2-AB65-A16123F3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D11A8D-8504-4375-98C7-A0235425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777D9C-A762-4634-B063-9364FA0F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Useful when sequential final value matters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0E070D-5210-49EC-99AD-AC0902FE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043EA2-A75B-494B-9392-AC4ED607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6FE1CD-A3EA-4D52-A877-5D7807D5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Depends on last iteration</a:t>
            </a:r>
          </a:p>
        </p:txBody>
      </p:sp>
    </p:spTree>
    <p:extLst>
      <p:ext uri="{BB962C8B-B14F-4D97-AF65-F5344CB8AC3E}">
        <p14:creationId xmlns:p14="http://schemas.microsoft.com/office/powerpoint/2010/main" val="15799908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431B3E-7EA6-4E55-994D-99A94800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A7156-F1D7-4C9C-BF9B-AC937816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Race condition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4D0D1-A578-4472-B1D8-F01EB8BA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a core bug.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9874D7-C007-4F2E-8A00-32162C7F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47442-2EE0-4113-83B3-300D0D74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8C0EB2-129C-452E-A362-8CB2B8B6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ACC98-9F77-49C5-8995-CFDC85D1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BE922-CC26-4556-A127-FD96FB59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D627A-CBC6-4211-83FB-C7D90F8A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Race condition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CF030-0B8C-4F5D-9527-47B0D35A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correctness bug where the result depends on unpredictable timing of multiple threads accessing shared 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66A1F-7617-4498-9153-8E58709F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A04E57-01A2-490E-86C2-17430A84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Shared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3F29B-B8BC-476C-ACA5-0624FD4D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90408A-0CC3-4C75-B4A9-F2B0CE02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FB5B85-A8BD-4687-972E-03B44359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Concurrent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7A88D0-4CEB-4171-99CB-D8EBC9FE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EAD992-4805-4CCF-A892-B5F193C6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C4D6BD-563A-4A54-81BC-36EAF15A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At least one write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D41AE2-4156-4BE7-B6F9-8203979A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1CACB2-AA52-48B2-B140-6BDF8A28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C48EFF-AA26-43B6-99AD-07913F1B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Timing-dependent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604C19-0315-4718-A9DC-F8CABEA9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41EAEB-1134-458D-B905-D6D08B01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40269D-9158-4175-9CEE-B717A275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Incorrect result</a:t>
            </a:r>
          </a:p>
        </p:txBody>
      </p:sp>
    </p:spTree>
    <p:extLst>
      <p:ext uri="{BB962C8B-B14F-4D97-AF65-F5344CB8AC3E}">
        <p14:creationId xmlns:p14="http://schemas.microsoft.com/office/powerpoint/2010/main" val="6148945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CEE394-C40D-4D48-999F-5B4665A3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E0403-9EAC-4D67-94EB-38D6105D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Critical section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9D06B-83BA-4A2D-9C32-724082A0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Protect one-at-a-time code.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5D108-0223-48FA-97E8-635F053D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265EE-2C0B-4B7A-93FA-FCEAB80F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F34E2-B253-4918-B3C9-E9B5AA00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79A33-9DCF-40FB-8FE8-10487610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Synchronization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DA176-506C-4D49-A961-40BF678D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5DED77-703B-4296-9C17-36F9933D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7000875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A68FC-1EC6-4013-B4E7-CC5EA9CE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81200"/>
            <a:ext cx="6334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#pragma omp critical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{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    total += local_value;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6CFE70-5DBD-456A-A7E8-29808D37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8A4E4-B9CB-41D8-917A-F2FCA6CB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FD412F-F7E4-4062-85D9-14DC82FD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5336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OpenMP code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28C1B9-AF1F-4041-A4AD-FEB4ED86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914650"/>
            <a:ext cx="24955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pragma, identify the region or loop, then check variable scope and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72249060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0702C-9CEC-40A6-AA1A-7954006E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A385B-DF2A-44AE-AAC5-08CA750C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Atomic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94E4B-1ADC-48C6-AB7C-49A6865D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Use lighter protection for simple operations.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940AC-738E-45F1-913C-7333D2A3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15819-916E-4D2F-9D85-7ED63577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9AEB6-7B31-4177-8FA3-7495D43F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90194-F869-43C6-B9A3-2D5C2223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Synchronization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DC65DD-B350-4F89-A123-9D4D1140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39732-C682-4A12-95EA-B429E1E1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7000875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775B4B-1E78-497C-B29F-3694F6C0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81200"/>
            <a:ext cx="6334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#pragma omp atomic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total += value;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94D213-9795-4E56-A3A4-0F382BDF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B49763-A8B6-40CA-8349-F9DA43E9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CC7205-18FC-4526-85E8-BDE907AF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5336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OpenMP code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C48E8-3B1E-4F8B-AE1C-861D226A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914650"/>
            <a:ext cx="24955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pragma, identify the region or loop, then check variable scope and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168706677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65AEA6-DDEA-4228-9384-E432D55E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3723B-AD68-4635-9739-3BFB9D5A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Reduction clause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408B1-C222-4A66-8E57-2A925D24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reduction.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AE976-686A-4E05-9630-C2BCC84B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5A0ED-1CBF-4190-A022-D11246D0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D4F17-92E0-40AD-BE77-AE4D8E9A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9ABA3C-A574-4A62-862C-192818BC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Reduction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D1CB15-1FB1-444F-B8CC-7FD3F12A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2C14D-9A4C-43C5-B1C9-35BBF4EC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reduction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90E2F3-8336-411F-B1E9-0ED81BA1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An OpenMP clause that gives each thread a private copy of a variable and combines all copies using an operator at the end.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97E5D-7017-4B04-886B-4BD87F81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512CBA-8811-441E-99FC-D4FA9EB1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Private copy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992F30-C7AA-4A63-8036-AB55EB6F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6610D0-8E05-46F8-906B-B3625B72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4D920E-5482-415B-94D1-0F099C90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Combine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93B4FB-C3BE-46A0-BC77-1695B1AF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D5EE71-CADE-4FB3-ADA6-4B89613F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75F9D9-162A-46BD-BF49-AE799ADC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Operator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EDA7FB-5498-4B71-A420-8C63C892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6188A3-F572-4096-A2CC-41B0A69E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1EC69C-73CC-4DEA-B89C-730748E4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Race-free sum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04F846-5738-4955-8DF0-88949875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95DA59-4189-4E3E-B211-4F26ADF7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A1ABC1-B67D-4716-9290-6D11B37A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Implicit 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202350116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88F371-588E-4D7F-9E12-F409EA16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1EE53-16EA-4D71-8587-678DC174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Reduction operators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D2A3C-E8EF-4FDC-9D93-D0F24C10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List common operators.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785FF-84D6-4D38-AA79-69502662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2900E-2288-4FF9-B369-52502970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B2F7C-B761-481D-ACE1-2A1A1333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776A2-D4FA-44C0-AAB1-1A75A5A7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Reduction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EA5DE-7E67-400D-8F74-4B462B64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1E7F75-8DF4-4B8B-ADAA-EB16DDE6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BBC87-C222-4BF5-BC0A-3B12D9AC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C1AA71-EAC1-4381-8A97-ABA7D5B0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+ / *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D4741-19D4-4840-AD08-7D7422AF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Sum or product.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A77316-AADA-4B1C-92BA-FFE955F4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2D56AA-6338-4924-B806-CEEDB738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D9CB27-ACD0-4BD0-9C7B-5914E24E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min / max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89BDFF-7E20-43E5-B132-1D15C89D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Find smallest or largest.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0E9CF7-C0D3-43C5-93A3-83438E22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201A07-6808-40E3-93F5-45BB3886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54AE04-17C7-428D-8959-1BD87D2A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&amp;&amp; / ||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8664A0-C586-494D-9565-381E95EB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Logical combination.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14520E-8482-4340-BFDB-CB838311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D3DB2D-8F20-40E7-BBB3-6B929EF8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68F673-A3F8-4167-AD5B-F8FFAA0C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&amp; / | / ^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4DA6BD-6A6F-4272-B891-C6BEE42E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Bitwise reductions.</a:t>
            </a:r>
          </a:p>
        </p:txBody>
      </p:sp>
    </p:spTree>
    <p:extLst>
      <p:ext uri="{BB962C8B-B14F-4D97-AF65-F5344CB8AC3E}">
        <p14:creationId xmlns:p14="http://schemas.microsoft.com/office/powerpoint/2010/main" val="199670011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10F132-819D-44BB-AF86-265A80A8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346EC-8F07-43A1-BA0C-4F649671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Reduction vs critical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D933F-F889-467C-8B8C-0FCA1A6D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Compare performance and clarity.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F93F1-69A8-4868-84B4-C7F47DF0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FC26C-12F3-4D7B-AB3E-F7B0456C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57261-4137-4151-978B-12B76497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ECD11-5F6A-459E-AECC-2EE902F6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Reduction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5E7D9-C3D2-404C-A9B9-4F95ED20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5A9499-119C-41CF-BA97-DF52234F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F1A37-E3DA-4EC6-A067-2335C75A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64B10-0662-4CBA-AB91-C37AFF61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critical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AFF1B-8BA9-4EA9-B63A-58C89C29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F291A6-3C9F-4034-A81E-A2E01E9F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9D7188-ACFF-4D1B-A508-1B6F097D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FFBBBB-4056-4326-BB04-305C09BF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reduction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2A4628-B016-4270-B321-A9987BC4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2AD920-E454-4DAA-A66E-4EB35D49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BD0612-9E8C-43DD-A240-6BA56B8B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C7D1B2-0FF8-4C0F-9FC0-5DC2F98E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General protected block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613A17-587D-45A9-9ECD-88930E8D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007EAB-D5E7-4504-A8DF-3961F5F1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751586-CC9E-44EE-A164-045D27CA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One thread at a time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BEF7FC-D0D6-484A-9665-04087EE8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C2BA42-E746-417B-8111-78BAC1CE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EC2C33-B04E-47D2-8772-7F2C9E1B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Can serialize work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8AE829-3CF1-4D45-AF68-86E83965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34B6E7-96D0-453E-9B22-A868CBB8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419073-7175-4E54-B0B3-F750551A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Easy but slower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ADE1FE-969B-442F-B821-43CCC217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67150D-7B05-4D4D-98D3-3D5AE887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730E93-6F20-4D70-A2E9-449314CD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Designed for combining values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D08A18-6919-49C6-AFC8-3B25B3C8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D85AD4-9080-4A4B-B6B4-009853AF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C90733-00A6-4EE6-9DDD-543F3173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Thread-local copies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DA4C70-5317-4EF1-B1AE-5D1B6D16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5551B7-4A5D-4239-9B79-594D75CF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1E95B5-951D-46BC-908C-998F9C6E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Efficient combine step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EA7C1B-DFB8-49A7-8656-90BBDEBF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4E0303-C7C2-43D5-98D1-5FB62032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5EF825-22C4-4CA4-A796-DAE07D0A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Cleaner for sums/min/max</a:t>
            </a:r>
          </a:p>
        </p:txBody>
      </p:sp>
    </p:spTree>
    <p:extLst>
      <p:ext uri="{BB962C8B-B14F-4D97-AF65-F5344CB8AC3E}">
        <p14:creationId xmlns:p14="http://schemas.microsoft.com/office/powerpoint/2010/main" val="38835256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4D198A-304B-4AE6-9612-9DED1BDF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93A810-4EFA-4DA7-9485-3187EDF9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Loop-carried dependency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3FE5B-09A6-420F-8522-4AB631B8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dependency across iterations.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8D38E8-5CB1-4525-B87F-EE8AF2E5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B7B09-6DB3-441E-BA66-67C349F5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97152-0BA1-4F29-9C78-37C8B8C2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98E3A-32BB-45D0-9D06-23061591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Dependencies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D4D05-F34B-45CE-9BEA-BF50B579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5BE62-133D-4E17-BEED-2F7BBE6F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Loop-carried dependency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3A5A84-0AEE-42B2-A00B-4DC99141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dependency where an iteration of a loop needs a value produced by an earlier or later iteration.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93E58-A260-4038-B540-788701DE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1CA232-FEB3-4C44-B5B3-35188247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Iteration order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F9BC67-4AD7-4B00-A793-A265B9D2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0EE903-32EB-4F63-9487-A25D2698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8E3B64-82DD-4D4C-898B-4CA3002E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Dependence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507CAB-444C-40B1-99BD-D82F0197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B4A0A1-F3B6-4CD1-B6FF-3CD705C4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C40616-53D9-412C-B758-B17A0995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Not safely parallel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A394E1-2510-4FD7-B864-14F833D3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D08BD0-B20C-4B54-A2C7-F177631D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9DEE80-9040-43B4-8792-FDE12B4E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Prefix sums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86D790-B9E9-45D5-A96F-E450411D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D74E27-DE52-4736-8B50-937039A9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081A72-752E-466E-B2D4-23EE4497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Correctness first</a:t>
            </a:r>
          </a:p>
        </p:txBody>
      </p:sp>
    </p:spTree>
    <p:extLst>
      <p:ext uri="{BB962C8B-B14F-4D97-AF65-F5344CB8AC3E}">
        <p14:creationId xmlns:p14="http://schemas.microsoft.com/office/powerpoint/2010/main" val="84086723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FDEBB8-9003-4E16-B528-54E06BD8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6462E-4D22-43CF-9D19-999352B7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Independent loop vs dependent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D21C8-33A9-4F0A-9A7C-420D51EA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Give examples.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AF6DF-E886-4810-A03E-BA4F5BE4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E4DA1-969B-4939-9362-71546AB3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B1FF4-BA4D-4355-8158-6157E65E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B7958-C588-4A65-BCEA-8DF3A01E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Dependencies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3D50C-9849-4DD2-813E-B0BE19BC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3EFD1-975A-40C8-BF81-4A0CC9DB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F80C3-7596-44E4-BD8E-3FF3059B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01E6B2-C047-4C58-80CC-EE992532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Independent 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A62D69-CCB3-4352-9EF3-EF0D4F3C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06BE3A-DA85-4795-AEED-989F9D0E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746C6B-BE21-4F3F-9342-BAD01B44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0B5429-994F-4C17-8B32-0A4F3400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Dependent loop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92FF50-361C-4210-8DC6-2C96D2E1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62CF79-1858-426F-A530-A04CDE53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4EA6FD-B472-44AF-8138-19403241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CCA2A6-0831-47E5-90DB-25E2C761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a[i] = b[i] + c[i]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772B6A-C79E-4AC5-8D16-33A5EF15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150A5B-832F-4D94-A167-404A8BF4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42D593-A734-4965-9D3E-AC8B8F6F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No iteration needs another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147C09-0B71-487D-8C1C-073E16FE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F50F34-4AF2-4633-A099-FB7D43C7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A1EFA1-7F79-4332-A60C-1C19A6BC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Safe for parallel for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8F513B-2DC3-4F2E-B4E2-2066937C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83DEDA-5018-4E93-A5CF-C4F6BF54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7D2021-6C70-4AB6-9DDB-5E4022BC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Data parallel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79929C-4AC5-46A1-9C29-E8E0E09B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324D35-331F-4A37-B2BA-57AC77C6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179999-8491-4D9B-9F65-F2A5AFD9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p[i] = p[i-1] + a[i]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360F1A-6EC0-4443-93FD-F373D027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C05D36-4814-461C-9D29-C4D4BC7C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4CCB55-20AB-4FC6-9404-D3233B58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Iteration i needs i-1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7034FB-3131-44DC-8D7E-3593E9BA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2A01BE-B611-4D44-A444-1B925EA7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FC0ED3-6A6B-4846-ADB6-561F909B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Not directly parallel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6D6F1A-FD36-41DA-823C-65A4C3B5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1ED976-1692-48D3-BAFF-6EFAF9B2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A925D8-691D-40B4-BE0F-FB3C94C1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Needs redesign</a:t>
            </a:r>
          </a:p>
        </p:txBody>
      </p:sp>
    </p:spTree>
    <p:extLst>
      <p:ext uri="{BB962C8B-B14F-4D97-AF65-F5344CB8AC3E}">
        <p14:creationId xmlns:p14="http://schemas.microsoft.com/office/powerpoint/2010/main" val="211624363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1A228B-3AF9-4D80-96A9-5233EEF3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CF947-E545-4FB4-B48F-F978F93A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Why scheduling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8C598-C41E-4FC0-854C-D0469532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load distribution.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B0FAB-A5A6-4803-B9CD-70C5838F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4A326-588B-43AF-8604-0221AB1C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9EAD3-4178-4758-8DE2-BBA9347B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4DCCD-AF8A-4914-8E10-2C2C5C82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Scheduling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2F8B13-E4D0-415A-8CEE-15293F3F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C861ED-7803-4094-A4A2-235DA721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Scheduling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BD1638-5192-4567-8F9F-2F6E5AFB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The OpenMP policy for assigning loop iterations to threads.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523E4-D35D-4833-9E8E-8B40DEBA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27A7A-CDFC-4EB9-A3E2-B6AAE823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Iterations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99EF3C-E69D-4DD8-8A26-E0ED73DA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26A81-8A51-4CA3-A3B3-CD2197C8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842747-DE70-4966-8651-2FD3B14D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Chunks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4B0C82-5933-46F6-ABAB-96673B25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F06889-C4D7-48AE-8A5F-81C2A067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C9CF4C-FD20-4B25-85DA-B99FDC20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Static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16FBF8-D4C8-4919-AD1F-CC5E2F65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000962-7B48-41FD-A324-A9AAC52B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550A45-FF3E-4C54-8014-FC34CDA8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Dynamic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77A3C7-F57C-4185-9B9E-0B544A07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9D22F4-EE15-47DF-BFD0-4FD03717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C725CA-D71C-496B-8BEE-16073E4D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Guided</a:t>
            </a:r>
          </a:p>
        </p:txBody>
      </p:sp>
    </p:spTree>
    <p:extLst>
      <p:ext uri="{BB962C8B-B14F-4D97-AF65-F5344CB8AC3E}">
        <p14:creationId xmlns:p14="http://schemas.microsoft.com/office/powerpoint/2010/main" val="152188062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B26902-0108-4AFD-BE19-461BC6D5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DD4EA-3E39-4F53-A1D9-58A8DDF5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static scheduling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C78E3-7E3C-40F4-AAFD-085CF3C2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static.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86D68-7C5D-4335-B991-F8CF6E7E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E59BB2-71E9-4285-A183-F7CA9F3C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6E209-5A3E-49CC-A7EA-99237EA9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19263-A4BF-4AD8-817B-42B116C0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Scheduling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C08E3-CC09-4DBE-917A-EE25F2B3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C7745-D553-45F1-A91D-E48BD62F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BCAD97-FC68-4F77-941B-3BBCD476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1AE42-99C1-4398-BA7E-99BCDD67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Before loop starts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D87298-CCC1-4E5C-8E14-3B1905A3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Iterations are divided predictably.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6889F7-9AC4-4F66-B890-A4EEB47A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535501-91B2-40E8-8A5C-2B21A503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4B02FD-671C-4669-A4C0-5F45AF82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Low overhead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A84069-F99D-48E0-BD43-391B4A9A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Good when work per iteration is similar.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2CD7E9-EE28-4E28-8F69-F6DACBA6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A7D8EB-FFCF-4432-9E71-C8A24271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44227A-FDAC-48E8-B3BA-887AD790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Possible imbalance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BD3B30-06D8-4B3F-9509-049ECD6A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Bad if iterations have uneven cost.</a:t>
            </a:r>
          </a:p>
        </p:txBody>
      </p:sp>
    </p:spTree>
    <p:extLst>
      <p:ext uri="{BB962C8B-B14F-4D97-AF65-F5344CB8AC3E}">
        <p14:creationId xmlns:p14="http://schemas.microsoft.com/office/powerpoint/2010/main" val="10584378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C4545A-EFBD-4F0B-93C3-9CC4EB67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0158C-29C3-4381-BBE6-21999E07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dynamic and guided scheduling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21D3E-DC8B-42A9-A177-DA642FE7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adaptive scheduling.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AC824-09AE-4402-ADA0-3DB53399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52D97-BFA5-4258-9279-3755B2B1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BB4B6-27B4-41C1-B78D-A7F2D3D8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651D1-53C8-4863-89C7-1390D865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Scheduling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1D355-70EF-44C1-8438-4FF82E4F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F59A0-E766-4FA9-BA8A-3AFAAB1E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41FE5-5CDD-49BD-8485-B7C6C0E3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2FBF23-64BA-41AE-BDE3-B7E7E3D7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dynamic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356B18-712E-4BFB-8795-43763919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7A1968-D3AE-4F23-891A-64EC8446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D94019-B643-4B8B-9DC8-D43F16A6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14A4A3-DAEB-4D58-832A-580B0F25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guided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9B35B5-C4E9-4878-9A8C-D6331F94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C27A6E-D46C-49BB-B17B-9FAB4A61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98466D-F3BC-4CD1-A52B-1BE9D656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23BEE2-711C-4EAE-B63E-023E8109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Threads request chunks as they finish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7A0758-2CCE-49F8-A9C3-ED69401D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122E64-7B72-40CA-8C73-913C87EF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64EE11-6A30-4327-93E8-9DD4DF4F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Good for irregular 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BA3D23-7730-465E-BE52-97E8AB60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A0824C-AF92-4545-A968-210DFC8E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60A2B6-F80C-4AA7-8689-7713DEE2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More scheduling overhead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56C39D-A6D2-4ADA-AF23-5C0D47D6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C34CEE-5362-45B1-B4EC-A383458E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BF1CC9-B360-4B46-9E04-1CEE0FB8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Chunk size matters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ED22DC-6301-48C6-8E1A-2369E284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69C8DD-0D8B-430F-887D-F29ADB98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B4871D-6651-468E-828E-8046E1BD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Large chunks first, smaller later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DE7FF4-1223-4C74-8B85-0F8C5010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E84B0F-152F-4CDC-9CE3-C40D78EE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EF826B-A70A-4E0B-93CF-9591912F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Balances overhead and load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29D8B1-C93B-4566-AE9D-FA88235C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26E5DE-8659-446A-8A29-F24BA1AD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AE6049-2A49-46C8-90D6-39A0742C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Good for decreasing remaining work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967426-026E-4593-B6AE-B008AA62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A6F789-3D1F-4A4D-87F3-85F58E16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32938F-0E2E-45EA-A042-EFD587AD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Runtime managed</a:t>
            </a:r>
          </a:p>
        </p:txBody>
      </p:sp>
    </p:spTree>
    <p:extLst>
      <p:ext uri="{BB962C8B-B14F-4D97-AF65-F5344CB8AC3E}">
        <p14:creationId xmlns:p14="http://schemas.microsoft.com/office/powerpoint/2010/main" val="202953043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965E9D-77D7-495A-8729-73677977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55325-6E0F-4368-8A78-E001E60D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schedule clause examples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A5CF9-0B4B-452E-9C55-06C51AC7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syntax.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37324-6BE7-4284-B6FD-CE769E87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3B99A-2733-4B5C-B443-16D3F5A4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930D1-3999-45BC-A593-E95B68A6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C2F626-1E8D-4289-A92E-C28A7645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Scheduling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48BC49-5831-4C31-B7C8-93A8420E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757B2-1B67-46D9-9887-BD7C1692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7000875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77119B-86BC-4DB5-BD92-000B7280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81200"/>
            <a:ext cx="6334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#pragma omp parallel for schedule(static, 2)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for (int i = 0; i &lt; n; i++) work(i);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#pragma omp parallel for schedule(dynamic, 4)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for (int i = 0; i &lt; n; i++) work(i);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B9EF6-BAB6-4161-9BE2-D3B3C270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CBE49D-B067-4927-9972-6D83CF06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EA96D2-DF5D-4C29-8240-DC9798A3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5336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OpenMP code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EE2FC-2CE3-4D00-AFB5-F5F8A303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914650"/>
            <a:ext cx="24955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pragma, identify the region or loop, then check variable scope and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163364255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39FD2B-062B-48FF-AB0E-E34805F7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CA7AB-ABEE-4140-B9CC-3FCB8DD4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Scheduling practical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AE62D-8BF6-4FAE-AE4E-47051D0D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to lab experiment.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24257-C5DB-40B0-9FD1-5CE03023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1DD91A-C061-4FF9-A47B-E3CEDAE8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C0A7E-E55E-4CB4-B167-40DE2A2C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BF205C-F93E-438B-A5BD-FA1EDE89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Scheduling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C7817-D1DF-433F-9A94-5605FDB2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DF688-9DC8-4757-842E-8E75B18F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20417-19DE-4213-A13D-0D1E5298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Set OMP_SCHEDULE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4F9958-18BF-4EC2-A735-B9755F87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57289-8DA1-4B47-B700-26C2A025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391263-CFC9-41D5-BE5F-72F970A8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Run loop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974F88-AB31-422C-9E0F-EADB3B30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7A1065-9A0E-42D9-B34D-8CA14FFB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E9DFF9-300D-4B0D-9913-0F0DD4A7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Each thread prints iterations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2F47EC-9176-4FAA-87C4-3395C757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78DF1D-63FE-4E7E-A459-657F5A0A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F8313D-D440-425B-B419-7EE83461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Observe chunks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CE8125-A365-4A5C-8C59-2A5C87F4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F45D91-B8A8-4407-AD75-EFFD817E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394BDE-0B48-4FC6-A315-2EE60C00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Compare schedules</a:t>
            </a:r>
          </a:p>
        </p:txBody>
      </p:sp>
    </p:spTree>
    <p:extLst>
      <p:ext uri="{BB962C8B-B14F-4D97-AF65-F5344CB8AC3E}">
        <p14:creationId xmlns:p14="http://schemas.microsoft.com/office/powerpoint/2010/main" val="143118248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3942CD-7204-4629-9C81-4362801F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A6757-28D5-4184-B46B-B2773AE3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Producer-consumer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91BFFA-4D8E-4C30-ADD9-807A810A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coordination problem.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CF766-4700-45A7-AA3D-1766211F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187403-5F42-4AD8-A8C9-5D27B334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1825A-BFD1-4D6C-95A1-50D0521F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F32F7-2D41-40E1-B7BD-573D79D5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Producer Consumer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1F451-42F5-4CA0-97CC-E7FFAF58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05AA15-225D-4C3B-B49C-DA722F8C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Producer-consumer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2440E-19E5-458E-9E3C-D8E0AB61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pattern where producer threads create work/items and consumer threads process them, requiring safe coordination through a buffer or queue.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D565C6-FAD2-4621-8865-90EE0D84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E50C7C-89C3-4C91-AB53-AABD9C81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Producer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FFF5C7-A838-4DAE-9950-5172B3C3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4759F-4EFD-42CF-8661-C5AE6D2B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D30928-5DCF-4AFF-81D6-AA74D29C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Consumer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401E9C-B843-4D8F-8BD9-941560B3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57DD5D-470A-4250-B5A7-188373DA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CD50D2-12E7-43C8-BA38-4251D6DE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Buffer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6D8C16-B10C-46F6-A6B7-446E1311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80E5F4-A19C-42CB-9321-7F084B90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B3DDD7-C0C5-41EF-8794-4F323D38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Synchronization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9E89CA-C51D-4B53-8EFA-37B8F9BF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7D0AAC-347E-4ADC-8643-E52D4CA6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CA3A2D-63D6-40F6-A97A-98E15AD4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Condition</a:t>
            </a:r>
          </a:p>
        </p:txBody>
      </p:sp>
    </p:spTree>
    <p:extLst>
      <p:ext uri="{BB962C8B-B14F-4D97-AF65-F5344CB8AC3E}">
        <p14:creationId xmlns:p14="http://schemas.microsoft.com/office/powerpoint/2010/main" val="197541901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B22546-D3F6-4E94-A206-A7C328DA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B14BA-4289-4105-99BD-C4CE8D82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Producer-consumer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52C2A-5432-4F58-ACB3-190B9F99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process.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B3425-11A0-4031-BE38-15A1FB39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52AAA8-A8C1-4AA6-90B3-821F0E97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AB506-673B-4FFB-BC17-414F16D6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E1A5F-4BC1-4524-BA35-6E944D18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Producer Consumer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50A715-1779-4DCB-B3B9-ED5E594B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02439-D96A-4A39-BAAE-B07B947A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8570B-4232-42D5-92AE-E67AEEBB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Producer creates item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B7C641-0B7A-4E30-BDD8-37CC6D7F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22279-E7DE-49DE-A2DC-E1478D30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481FC2-5540-402C-BA8A-2A2C0037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Lock buffer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4BAFC8-0999-4915-BBBC-27BAF97A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76B70B-14D6-49A3-9019-C2428E5F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08E8C3-1B5E-4263-A67F-CA60C8A8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Insert item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106FB4-604D-422F-9CCD-F1267056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791AD5-78B1-419A-BE4B-86C817D5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A2C67B-C172-4D72-8C31-242149AA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Consumer removes item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1070DD-F539-4444-B714-6DC32D86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28A582-189F-4E6D-B675-56BDF294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B71C85-D918-43E3-B652-D1A48878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Process item</a:t>
            </a:r>
          </a:p>
        </p:txBody>
      </p:sp>
    </p:spTree>
    <p:extLst>
      <p:ext uri="{BB962C8B-B14F-4D97-AF65-F5344CB8AC3E}">
        <p14:creationId xmlns:p14="http://schemas.microsoft.com/office/powerpoint/2010/main" val="183181122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179429-2082-4D35-94DB-13960F75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A32EE-C1A4-4DF4-9755-0F1D6B50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Synchronization choices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276DD-D09D-40BC-9DFD-BD750DF8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tools.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9C8C1-4C04-4B99-AC6F-86CE0C86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87283-1280-49B3-AB57-BB4071F9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761AB-1702-480F-812E-24601B15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9C5CB-C383-4111-84F4-1B493163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Producer Consumer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5E7C90-3800-4F9B-9FE4-C45CA5F9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1AA4E-9FA3-4676-9D46-1F51148B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D744D1-CF66-47AD-9A76-AEF2097C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1C3EF7-91F8-41DA-83FA-DBC116C9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critical/lock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9F17C7-0CDF-4E67-8F5C-FB3AEC23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Protect shared queue.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60524-339B-43D0-9FE3-0D97C8DA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6A9583-1FA7-47E8-9488-689FAF65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D31B83-A1F2-4AA8-8D49-2A62730B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barrier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B2660A-2C09-40EE-8702-DAE0AE58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Make phases wait.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536F95-2BB8-4CFB-9133-5E45FC70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E8F768-7E56-4C67-94BB-E3545705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4DEDFF-B20A-441E-A43F-3F501B14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single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93BFE0-FE02-452F-A1DE-39A51A6C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One thread creates work.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AB6B4E-D443-4021-9073-2C1DAFF7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6753D0-8FE8-4935-89D0-3FCD3035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6E2456-092D-4E5E-8772-6597A8C2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task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E95F25-3A31-4FA2-922D-78E2A0CA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Represent work items flexibly.</a:t>
            </a:r>
          </a:p>
        </p:txBody>
      </p:sp>
    </p:spTree>
    <p:extLst>
      <p:ext uri="{BB962C8B-B14F-4D97-AF65-F5344CB8AC3E}">
        <p14:creationId xmlns:p14="http://schemas.microsoft.com/office/powerpoint/2010/main" val="88764296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E41B94-A2A1-434B-ABCF-FD73D0F9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149E7-14E2-4287-8790-F106F0B9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Caches in OpenMP programs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CA283-4E94-4F8D-8442-E357E1E4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hardware to performance.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91773-A4D5-4908-A1E9-82F5C159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E9241-6B36-41EA-86F6-ED47A759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691FE9-BDE8-4B47-8D42-4E8B88FA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1F406-ABB5-48B2-8731-45D88010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Caches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012E4-2A4C-48AC-A3BB-9346BB96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7D9FB-38C3-4ABE-94DB-602996EE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Cache effects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6E8C34-B33A-4E38-9968-9B03E573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Thread performance can be limited by how data moves through private caches and shared memory.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8D84BB-1391-444F-B85D-D3A57B0D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8296A2-440C-4890-9944-950504C4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Locality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1474A2-A094-4798-920E-F1DFC5CF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CE509-7C55-42A9-9E8B-D43DBDC8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A3A305-569D-4D3E-9218-E9B008CE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Cache 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DF6888-015D-4553-923B-BC02BE8C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9E25E9-4832-4752-BEDA-313A9078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2B45B4-FF7F-48FC-853E-5AD446FE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Coherence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40590B-65C9-4F95-B551-1C6C0D4E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9186C1-4D66-4D6D-B49E-40AECFDF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16B8CD-7896-4842-ACBB-E73E06D9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False sharing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56CDE6-365C-48AA-A446-494F0B50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1CE8DF-A56D-4331-83DD-2905108C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E81E45-6A7B-4566-A111-48E7D574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Bandwidth</a:t>
            </a:r>
          </a:p>
        </p:txBody>
      </p:sp>
    </p:spTree>
    <p:extLst>
      <p:ext uri="{BB962C8B-B14F-4D97-AF65-F5344CB8AC3E}">
        <p14:creationId xmlns:p14="http://schemas.microsoft.com/office/powerpoint/2010/main" val="99474349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1AB0B9-A16C-4150-BC26-29A7C884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A93F3-49E4-480F-A60F-A9F98C24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Cache coherence in OpenMP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93DCB-9A0C-491D-A8CC-BF481A26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shared-memory consistency issue.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9D0F5-29A6-42EB-9BEC-D2D3FC71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CF38B-13D1-4938-B268-BF98E22F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D440E-56C3-4AB5-9489-3CAA7E24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C5FFF-A24D-45AC-ADBB-84B31E8B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Caches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A023D-A7E3-49EC-B063-C1D623FF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51D41-8EB4-4A81-A71B-BFA36232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000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217A65-21EE-4451-AB65-09EF2F9C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A9BE4-9992-4EB3-B125-36EE81E0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Core 0 cache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787AD-14E0-4A3C-88DC-487C7596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241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x copy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E5842B-38DD-4217-8314-160F7991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90750"/>
            <a:ext cx="2000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9B6846-DCAF-4347-B8FC-51324A1C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9075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660063-F9A9-43BD-86B7-B452D177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3431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Core 1 cache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7A4D23-F33C-4203-8D58-F598D309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7241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x copy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C0E434-D46B-410E-BC4C-950C6912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9075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925217-E5DA-4BB2-AF7E-0EAD3498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9075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35D2E4-1BA3-4CF3-AEFB-CEC6AB33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4315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Shared memory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40BE90-058B-4B1F-A993-552B841A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2415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Original 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9B0F5C-9306-4BA4-901D-2FAC4864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7373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FF9F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326FCB-54F6-4A8C-A1AB-6F354576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57700"/>
            <a:ext cx="15087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Core writes 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56F207-3A67-4FD3-8A4D-C08AA46E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810" y="45815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837AE4-C235-4ABB-9828-40E6D682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4660" y="4286250"/>
            <a:ext cx="17373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FF9F1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1E4477-C9B9-434A-9004-263F9C88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457700"/>
            <a:ext cx="15087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Other cache stale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6EBEE2-A255-487E-99C5-8390AA2F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220" y="45815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D45F0B-D666-4E0E-AB08-77FE80CE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4286250"/>
            <a:ext cx="17373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FF9F1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7054A2-9D44-4D1B-BCF5-E3C2DB11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6370" y="4457700"/>
            <a:ext cx="15087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Coherence protocol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6FF99D-9D96-4F27-BD98-B3A4FB95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5630" y="45815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7AFAA4-FEAC-4380-997F-1FF2A44D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286250"/>
            <a:ext cx="17373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FF9F1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5F742F-4850-466E-86F7-FCBEEC7B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3780" y="4457700"/>
            <a:ext cx="15087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Invalidate/update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5B4638-F1D7-4106-98F3-A04273BC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040" y="45815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649EC4-14D9-456A-9C4F-20C42427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286250"/>
            <a:ext cx="17373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FF9F1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2B780B-D768-4D0C-BE8F-5D379DD0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190" y="4457700"/>
            <a:ext cx="15087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Correct visibility</a:t>
            </a:r>
          </a:p>
        </p:txBody>
      </p:sp>
    </p:spTree>
    <p:extLst>
      <p:ext uri="{BB962C8B-B14F-4D97-AF65-F5344CB8AC3E}">
        <p14:creationId xmlns:p14="http://schemas.microsoft.com/office/powerpoint/2010/main" val="142014840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538E49-D28E-4CB5-98EF-1F10F22D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CC7CF-55E2-4D84-AB4C-D6A13A23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False sharing in OpenMP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9DAC8-C2B5-4123-A2E8-B7DBE69C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false sharing.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4E8C5-7141-4174-85FA-028B0088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12341-613C-4588-AABC-0BB8FCC0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9A68E-C6AF-4C53-BB4A-9901A648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B5C36-BF45-4E66-8836-22CA02B2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Caches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0596C-110D-4805-9467-ACFAC17A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E72D95-1AC8-4970-AB32-4CD77A1A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43125"/>
            <a:ext cx="3429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232A0-0938-4443-A3CF-9E37CC46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43125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63FB76-9121-4B00-A198-99CC034A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295525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Cache 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D955CF-8BD2-4762-848F-8F671793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6765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a[0] a[1] a[2] a[3]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1CFEE5-A06B-4B1F-A27B-DC7047F3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95750"/>
            <a:ext cx="2000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8540B5-45F6-48BE-802D-8E7B3F5F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95750"/>
            <a:ext cx="762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DA1B6A-91E7-4564-ABC6-47BCCE8D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2481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Thread 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DDA4D6-8CFF-40E7-B46D-D7F61334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629150"/>
            <a:ext cx="1638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Updates a[0]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A8AF0C-73D0-4AD9-AE5C-72F681ED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95750"/>
            <a:ext cx="2000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65F3D0-238F-4481-A6B4-E54714AC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95750"/>
            <a:ext cx="762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CD4F08-78BF-4280-9CB5-CA36187E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481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Thread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0B249B-827D-4A57-A510-1557AF57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29150"/>
            <a:ext cx="1638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Updates a[1]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D4ED4A-671F-4177-97BF-4B4D578D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19375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55BF44-7005-4CF1-8B34-5C557116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19375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D214F6-BE39-43CD-B5D1-FFF953FE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717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6B6B"/>
                </a:solidFill>
              </a:defRPr>
            </a:pPr>
            <a:r>
              <a:rPr sz="1725" b="1">
                <a:solidFill>
                  <a:srgbClr val="FF6B6B"/>
                </a:solidFill>
              </a:rPr>
              <a:t>Problem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79F565-7D53-4F34-ABB7-8A62FC9A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52775"/>
            <a:ext cx="2781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Different variables share one cache line, so coherence traffic slows both threads.</a:t>
            </a:r>
          </a:p>
        </p:txBody>
      </p:sp>
    </p:spTree>
    <p:extLst>
      <p:ext uri="{BB962C8B-B14F-4D97-AF65-F5344CB8AC3E}">
        <p14:creationId xmlns:p14="http://schemas.microsoft.com/office/powerpoint/2010/main" val="195063890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B66B8A-EE08-4256-B460-F488A622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4F870-823B-4633-ADF8-B08F648B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Avoiding false sharing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01526-4603-47FC-B7D1-58CE9DEF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Give practical fixes.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1D82B-20B6-43DF-AEE2-D421B44C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8023D-9C0F-46CB-8C06-836764F4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0DA9D-01FC-43D6-9305-69A6DDA4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06C491-6810-4293-A25B-22B36EB7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Caches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D9BDC4-E43C-44C8-ABEE-8E78BBCA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C541FB-4184-4832-BA7F-8000153F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87A1F-0DB9-4FC2-956C-6DE0A120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8EA61E-5635-4D82-A2C4-9C1A4FE5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Give each thread separate cache-line-friendly storage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635754-894B-4214-B6AA-6C1EA3D3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1C443-A5B6-4650-85C2-8E300445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EAA5BA-1D31-49D6-9301-F3586051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Use padding for per-thread counters when needed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BDB2AB-DDEB-4305-B7D1-F92E1D05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FF3306-1531-4B88-9AB5-1AF445AF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45325F-D62A-483E-92A7-C2D15A9F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Prefer reduction clauses for combined totals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19907C-B781-4AE6-9482-7233C59A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7BAE1D-4F0A-410E-806B-E7F97720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8BFBB2-B7F5-407D-8080-8AAFFF2D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Avoid frequent writes to adjacent shared variables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792E06-1688-48F3-B287-5D4C99E0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70E28F-BD78-44A3-8A5F-98B660F2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F70EC6-F77C-4815-B3D8-994A773F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Measure performance because effects can be hardware dependent</a:t>
            </a:r>
          </a:p>
        </p:txBody>
      </p:sp>
    </p:spTree>
    <p:extLst>
      <p:ext uri="{BB962C8B-B14F-4D97-AF65-F5344CB8AC3E}">
        <p14:creationId xmlns:p14="http://schemas.microsoft.com/office/powerpoint/2010/main" val="149989451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E381E6-EFFA-494E-807D-A105F164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83D57-14B4-4730-B518-FD146484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What is OpenMP tasking?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C990F-92D5-4295-9A91-A17559D8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tasking.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2031B-B0FC-43A7-817B-0F284C3C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C4DB5-132B-413E-AEFF-743BBA88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E0746C-CDFB-4AC0-8229-B81528FF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24290-CE81-47E4-80ED-332BCB50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Tasking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3FAD4-6502-4B1B-9C22-51B78807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0B0763-A861-4AC5-BBD1-AA16AC4C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Tasking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03529-1BFE-4142-9D1A-52EE42D1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OpenMP tasking lets a program create units of work that can be scheduled dynamically among threads.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E80CD4-1496-4422-9C17-47692BEF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2301EC-A5D6-4896-85CE-EEB2DE27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Task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8A6D08-9CB2-48FD-B95B-55E6DF6E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886598-BD46-4141-973B-A0005F10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B4F393-8910-4C33-9CBC-258383D7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Dynamic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EDD4D6-5509-44AF-A0BC-4221537C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B4C15E-F7AC-443D-9754-E1AA81B3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620109-F4D0-449B-A739-0066F27C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Irregular parallelism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FB1439-4D79-49F9-9DBD-64C6987D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15696C-AC5F-4A7B-8B53-9EED67A5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30A6D5-F00B-4E53-9CAB-AE8A91EE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Task queue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30FB6D-6E4F-4404-AA11-6206C453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809D48-BEA9-4196-BFA2-ABCEAC48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FA18E8-CA84-42FA-9D8B-33BE7A19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Work stealing</a:t>
            </a:r>
          </a:p>
        </p:txBody>
      </p:sp>
    </p:spTree>
    <p:extLst>
      <p:ext uri="{BB962C8B-B14F-4D97-AF65-F5344CB8AC3E}">
        <p14:creationId xmlns:p14="http://schemas.microsoft.com/office/powerpoint/2010/main" val="28949004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9CE86D-006B-4C3E-8644-285CBC34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6E20C-18CB-47F9-8D78-E3A04463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task directive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FEC84-151F-479D-A78B-7C9873CF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syntax.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39FC34-E862-4E97-ACE6-79127983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DC3C4-6614-4A56-93E1-FF917F41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90A3E-C186-482D-8080-E8A06DB2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73AD5-D881-449F-B067-A5E57B93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Tasking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439B8-92FA-4668-943C-BEDFBECC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09F881-4BFE-42E0-8380-2202FB9D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7000875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70442-E797-4326-8A7D-C7BACEF4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81200"/>
            <a:ext cx="6334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#pragma omp parallel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#pragma omp single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{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    #pragma omp task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    work_left();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    #pragma omp task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    work_right();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05299-97CA-42F3-9474-BAF31B86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A95B24-7FAB-41E4-BC5B-127098D9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95C8BE-5A74-4DDA-9947-FD848C12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5336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OpenMP code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B006DF-76E8-485B-8444-4D6B0500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914650"/>
            <a:ext cx="24955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pragma, identify the region or loop, then check variable scope and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160308459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692B0C-7DC7-496E-8957-F1AAB67A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AEBC4-198E-4B18-956D-DF5E78A6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taskwait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1E407-B47D-4C97-B0FE-B9E0712D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waiting for child tasks.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B83C9-D4E4-4623-9E10-33300412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957F3-C72A-4F60-B214-46DB11E3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12009-A303-47AD-8D75-5F169C3D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8997B-E712-49FA-B6D1-3CC94F9D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Tasking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5EDBA-AF94-473A-BB00-3FA2E483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89F923-D910-43E3-BCDC-D384876B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7000875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242B61-C40C-472A-B5D3-AF2C283D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81200"/>
            <a:ext cx="6334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#pragma omp task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compute_part_A();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#pragma omp task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compute_part_B();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#pragma omp taskwait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combine_results();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A13EA8-312D-4C86-AFBD-DD9E0C80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423B0-D324-46D9-81C5-E8C979CB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EB3A8B-B7F6-4594-AD8B-D0F354D4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5336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OpenMP code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980466-EC03-4DA3-9FCE-DF856D85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914650"/>
            <a:ext cx="24955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pragma, identify the region or loop, then check variable scope and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109512271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7F3F3C-B582-462D-8E4F-78EDCED0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9B5C3-5034-4644-808A-A34C2D8D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Tasking for Fibonacci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DD3C2-68C5-4F34-8BA3-A3F37082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to practical component.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40034-C1CB-45C1-B058-3609B938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A26E6-4816-42D5-8414-497AAE0B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9F98A-3286-4F9B-8E8C-1553B522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B0E96-882C-43AF-9B29-9103CAF4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Tasking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FAB8C3-3B10-4F34-8822-051A99A1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07B56-7DB8-4695-AEDF-F866BFA6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CFBCF-8193-43BC-83AB-4C8A38AC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fib(n)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3C1E25-1781-4D9C-BB0A-950367B4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EBB2BF-DEF9-4A4D-8048-B1C6AC60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8F9376-D063-4C9D-9C84-C8E0C87A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Create fib(n-1) task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BAB55B-D4DA-4366-869C-C35CE917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FDD220-B4BB-40F7-92A8-72934098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A01A32-6523-49FF-B626-E4FC7892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Create fib(n-2) task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B800B0-6DE9-46DC-837E-9E066EBF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150752-AC56-4786-AB8A-71C2C9B4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9985E6-4514-4327-92B4-517A116C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taskwait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44008A-D08D-49B3-AB60-A2153091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C76D3B-3687-40F1-9178-80EF1BEA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8A1CA6-A829-4E56-B680-F1F7592C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Add results</a:t>
            </a:r>
          </a:p>
        </p:txBody>
      </p:sp>
    </p:spTree>
    <p:extLst>
      <p:ext uri="{BB962C8B-B14F-4D97-AF65-F5344CB8AC3E}">
        <p14:creationId xmlns:p14="http://schemas.microsoft.com/office/powerpoint/2010/main" val="100249837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519FD3-8FE5-4BA4-8178-0DE050F6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8FC4B-7DD4-4F12-A916-ACF8A016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Task granularity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D0ECA3-4376-4E97-9EDD-D67775E7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task size tradeoff.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BA914-E7A8-4390-A698-55498941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D5034-96C5-46A4-9D87-9D2423EE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55171-864C-448E-AB57-E060E269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C5962-8DAC-4B42-8DC0-42D5E661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Tasking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09BDA-EEC8-4A4B-B4CA-1AA3D360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93C67-C7E7-4C3D-B5B0-B4ED2118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26E6E-207B-464F-8771-726E7E47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0C562-159F-4F42-B5C4-54CA36E8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Too fine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FF5894-7189-43A3-8CB0-69A0E9DD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945EB-BA3D-4F4E-BBB7-B0585D1B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C67EA9-836C-419C-835B-08A98C7E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02267E-7DB4-45AA-AD8E-59B6337B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Too coarse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87641D-43A4-44D3-BBB2-B0063191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3AC885-80C2-46A7-A939-C9DFF6FD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73BC35-AC66-4879-B05F-013E8C3C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931251-2C2A-4B7E-89EC-1F1C29DC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Many tiny tasks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A01021-A7A3-4343-949A-4FD30AAC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252434-0E9F-4D84-AABE-6D184B23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C26B27-B567-49FE-BB4C-600CEED7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High overhead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FFFEF5-9C8E-480D-8041-1E6C1E26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BE6905-B2A1-407A-AC4C-C8BCB928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9304FC-8926-44BE-9791-A05C1D87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Poor speedup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969368-6625-4AC8-836C-77E7FFFD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B85EA7-522B-4806-BA9A-1423AF45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C4323E-E57A-4C3F-A9F2-8845382D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Runtime overloaded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837455-0675-49DD-BA69-573D6D95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DCE7F0-D12A-4A68-80EC-A89AB4ED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D37C80-6591-4B87-AB04-3FB406EB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Few big tasks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272358-04FF-4B13-B47E-8027A776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CC3C3C-1BB8-428F-AB81-B1D4E745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3F60E6-7123-44ED-B5AF-31CAEDE0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Less overhead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4AC6CF-B243-445A-BC07-D02FCE3E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EE41C4-207B-4E82-94B0-C9B9C1B2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06097A-3492-4B6A-8FE8-B2C0B913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Poor load balance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A16B97-0633-49AB-BFF7-51767122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72AA80-D8E3-45C4-8D63-49BD4A5E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2BCD63-5370-431B-ACF7-33CD4603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Threads may idle</a:t>
            </a:r>
          </a:p>
        </p:txBody>
      </p:sp>
    </p:spTree>
    <p:extLst>
      <p:ext uri="{BB962C8B-B14F-4D97-AF65-F5344CB8AC3E}">
        <p14:creationId xmlns:p14="http://schemas.microsoft.com/office/powerpoint/2010/main" val="177567875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EF3DC2-6962-4DDD-9C83-7E5DB036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0F922-0EF7-4C24-A289-57DD7D81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Thread 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A29C0-13B6-446E-950F-E02A96B7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concept.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33853-7785-4BED-B3FF-91EFB1BE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815AD-8BAE-4049-B46E-8A4DDBE4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B02A49-8F60-4620-AFFD-764FA528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A760A-712E-4866-9EC2-096B9788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Thread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CB05C-628B-482F-9373-8651A6AE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D0C73B-1933-479C-A2CB-A9C0F0CE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Thread safety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9739D-3665-41DC-A12E-03338536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Code is thread-safe if it behaves correctly when multiple threads execute it concurrently.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400FC-D444-4184-9C7C-1583B6BD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E30DAC-B009-42D5-9ADC-8B2266D9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Correctness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4D1642-4C26-4F06-AF99-2672B06F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BB43EF-076E-474F-B4FA-1DA1F2B5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2CE031-1968-4348-889D-C487AA93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Shared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F6CAE-B8A0-4C75-94A1-BF648631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B10B6A-D639-44DB-B641-190DE317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20ACA6-0222-43E9-90FF-07006105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Race-free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CDFE9A-7ABC-4E87-8EE8-05143048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F1E54F-51C2-4893-8923-67A2F61A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BD99FD-354D-4C9B-869F-223F1C1E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Reentrant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634657-D36C-425D-A0C0-83D4BE8B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56F58C-BBD2-4022-BA41-6EC1B3AE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EA225B-6F02-48F8-A07A-9AD1E525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42568770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8EFD4F-80DC-4575-86EE-7FB7AEF6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829EA-20B4-431E-BDBF-E1B028A5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Thread-safe coding rules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2FA75-92EA-4D89-9851-1B513715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Give practical checklist.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3FACA-0DE0-426C-BA70-817A8E87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E85FD-7C05-4630-8219-DBC5C53A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B158C-0328-4768-9F69-8C9C39B8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A0F4F-D21C-49A7-B79F-633B34EB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Thread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5DE40E-D1CF-4DED-8024-C07D404F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81B62-F6B6-4F8A-9A89-2CD33C38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26C41-CC82-4F9F-B68D-206F14E4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0375C6-91BC-4F9E-9C14-62051AFD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Avoid unsynchronized shared writes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437B9-0DA1-41CF-B936-E75AFBB0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E4AF08-4DD9-42CA-B709-18E282E1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BB7EF3-C381-4E8A-B843-627B84B3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Prefer private variables for temporaries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E8A7EB-3DB0-404D-9236-822B73D3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29694F-42AF-4FCF-A950-A91A4AFD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595333-9D66-4CAF-AC19-DF151D30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Use reductions for accumulations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03766E-C205-4F7E-ABC5-7851C8A5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8733FC-89FB-4FBF-91C9-A2338DB1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C0DD01-2B49-4CB3-9E5E-57210973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Protect shared data structures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5E4127-CED6-4A30-AB94-41274E78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48AB7D-2A3F-4971-9D6C-23224D5F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CAD2B0-79FD-4AE3-85A7-8A2C8F50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Be careful with non-thread-safe library calls and global state</a:t>
            </a:r>
          </a:p>
        </p:txBody>
      </p:sp>
    </p:spTree>
    <p:extLst>
      <p:ext uri="{BB962C8B-B14F-4D97-AF65-F5344CB8AC3E}">
        <p14:creationId xmlns:p14="http://schemas.microsoft.com/office/powerpoint/2010/main" val="43366549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AAFA71-A8C1-4390-BB80-05F39C5C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BB9BE-5DCC-43E0-A55D-7EA09797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OpenMP debugging mindset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FD93E-D880-49B6-8227-7C0183C1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Warn about nondeterminism.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9D221-8CC5-46C8-98A1-91ED87A2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E7C84-3EAA-41F9-8AC1-DE53C436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44C83-0873-4BE6-A1B2-B1BF2251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CCA20-2782-4275-8564-85C5B911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Thread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F636D-4E9F-4AE2-8C21-97500B7C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37981-4BE0-434E-B4E0-177B928E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407F63-DB35-42FA-943E-005FD8A1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ED2136-A1CA-4070-A07D-6EA22552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A race may appear only sometimes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A5CA3-7517-4972-BF3F-6D7CED1D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807613-92E3-47DA-AE85-66BE6022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939B8-21C1-4908-BBFB-E7AB39C1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Changing print statements can hide timing bugs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F19403-83C5-4B11-9D5A-A7600D29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E9018F-1504-4CA5-A2D8-E20010BB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819F39-B4AD-460B-81A3-212B6D5A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Correct serial code can become wrong when shared variables are updated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2E1E4E-3ECB-42B1-940C-62473CFA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42D5BC-AF79-4618-B0EF-0B29550E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77AEC5-BAE9-48F1-871A-8FCE2C70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Start with small inputs and known answers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C16250-C684-41B7-9CA1-C3876244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F23045-92CD-4774-88DC-F2F13C60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442384-2442-48FD-AB1A-DD3C2DFC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Test with multiple thread counts</a:t>
            </a:r>
          </a:p>
        </p:txBody>
      </p:sp>
    </p:spTree>
    <p:extLst>
      <p:ext uri="{BB962C8B-B14F-4D97-AF65-F5344CB8AC3E}">
        <p14:creationId xmlns:p14="http://schemas.microsoft.com/office/powerpoint/2010/main" val="352125992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85AE1D-62D1-4729-852D-541B8552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5CC44-C6E7-4EBF-80B7-D37DA3E9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Timing OpenMP programs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F4DBF-54E0-4639-A993-FEDDEB5B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measurement pattern.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574936-8D6F-48EA-B18C-FFC900AA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EDAC7-2E43-4B70-A98C-40A1883D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CEDC5-E4F9-4BC9-985D-3C803F9E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B2940-F396-4C09-B75E-28EF6F04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E44EB8-72DD-4899-90E0-5BF0B3E2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8B3F8-88A0-4600-9A0A-987DF2AB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7000875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6ACE0B-502C-4799-84A7-7EC43002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81200"/>
            <a:ext cx="6334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double start = omp_get_wtime();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#pragma omp parallel for reduction(+:sum)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for (int i = 0; i &lt; n; i++) sum += a[i];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double elapsed = omp_get_wtime() - start;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78308-BC28-47DB-81E5-79CDFFD6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6C4941-9D08-4660-B178-5E64B64D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ABCAA7-CE6F-416B-8AF2-796CFE81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5336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OpenMP code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B1F83E-31F2-40A6-B990-419F7356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914650"/>
            <a:ext cx="24955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pragma, identify the region or loop, then check variable scope and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140482297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39CC6E-FF8D-49F2-B965-72596157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F6191-F3A2-4AB8-91ED-BF54CF67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OpenMP performance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1984F-0540-4BB1-B6D6-414889F9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Summarize speed factors.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2F5CC-3BBC-4E66-90FB-D8CE08DE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8E7D6-DAA7-4431-9E5D-4A102998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6F09E-1384-4CF1-86ED-47BFF1CE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6601A-20D0-4747-9B81-5EC6469B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AB5B3-A874-4BD6-BD7C-F8710405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BDD25F-BEFA-445A-AFE0-C54C8602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041B3-83B4-47D7-BB6D-31EA7D4A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21D1F-8D1B-4015-8BB0-97D4994A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Enough parallel work to amortize thread overhead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611AE1-5EAD-49E1-9F06-798B447A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6658B-D55D-43F8-B2B2-A931679C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A238B7-B2CB-43E3-834B-986FE388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Balanced scheduling across threads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E64F4F-B569-40AE-9BA6-63622AAD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20F608-0D20-4C7A-9424-40B722D0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CCE229-8397-4304-9B3D-55E72E9A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Low synchronization overhead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56EAB8-A139-4AA0-8B39-AF8A51E1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DF9C5B-1F1A-498D-AE43-7C846303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05F755-09B8-4699-96BC-3C385E48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Good cache locality and minimal false sharing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394B22-CF4F-49EF-A09F-FAAEDD0D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C4C540-29AD-449B-9EB9-198D7777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8A6E9E-3486-4B08-A0F9-02E2C736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Correct variable scoping and reductions</a:t>
            </a:r>
          </a:p>
        </p:txBody>
      </p:sp>
    </p:spTree>
    <p:extLst>
      <p:ext uri="{BB962C8B-B14F-4D97-AF65-F5344CB8AC3E}">
        <p14:creationId xmlns:p14="http://schemas.microsoft.com/office/powerpoint/2010/main" val="96478412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569FB2-762A-4FC1-9C72-E923B4FB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011DD-FF55-4D61-AAD6-32CB4C2C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Module 4 in one mind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DA0E7-DDDB-4111-B347-0F53AB68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all major headings.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0897B-707F-41E7-B289-F513D7F0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F571E-1336-4828-A19D-F36E71CC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CF9F4-E5BE-4C31-A408-E52FFD14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E09B5-6819-4558-8D06-EECB309A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7FE945-7783-435F-8213-BB85EB65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F80177-067A-4ABA-A3C5-A633ED4F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24765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99D5A-DC9B-4D96-9DEE-26172A98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95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11F"/>
                </a:solidFill>
              </a:defRPr>
            </a:pPr>
            <a:r>
              <a:rPr sz="2250" b="1">
                <a:solidFill>
                  <a:srgbClr val="07111F"/>
                </a:solidFill>
              </a:rPr>
              <a:t>Module 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1899F-A6CB-47A2-ACEE-BCC6B897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47EE4-6F0D-40AF-92BB-0996579D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0EBE05-44E4-4AC9-AEF6-F3F40DFA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OpenMP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F403AC-DF46-4E93-B98F-1C976E43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Pragmas/directives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6574A8-D116-4393-8FAD-3CAD213D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3B53FF-BBBB-42EE-BAB1-0058CE8D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1F41CC-A1AC-4257-BD54-A330EA52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7165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Variables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A5C417-CB19-459D-9F11-7008C94D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5265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Scope/reduction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057E53-7742-4594-B712-160A492A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8AFE7B-3AA7-423B-9FB4-075FA570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21612F-9F04-46BA-A4AC-7E1E5362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7C8FF"/>
                </a:solidFill>
              </a:defRPr>
            </a:pPr>
            <a:r>
              <a:rPr sz="1725" b="1">
                <a:solidFill>
                  <a:srgbClr val="77C8FF"/>
                </a:solidFill>
              </a:rPr>
              <a:t>Loops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A5C6C1-620E-427C-8868-9C702BC6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Dependency/schedule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54DEC2-FDF9-4FD3-A1EA-DADDE35F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6EB774-A2B4-46C8-8313-710EDAA2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B53503-DF12-4751-91C7-06F26F35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F69"/>
                </a:solidFill>
              </a:defRPr>
            </a:pPr>
            <a:r>
              <a:rPr sz="1725" b="1">
                <a:solidFill>
                  <a:srgbClr val="FFBF69"/>
                </a:solidFill>
              </a:rPr>
              <a:t>Patterns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99FD05-E0B2-4192-9A1A-26902C10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Producer-consumer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47D6F7-7511-47AD-888A-30D3B672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C4F1DE-F5C3-44A7-B0C2-BBBBD243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F3984D-5927-4A5A-92AF-B5C4D127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62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Caches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2B354D-B2EB-4A5B-AC59-112A3EAE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343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Coherence/false sharing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2289AC-1E19-4134-A6FB-734F3102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E9C743-4185-4A3C-A155-46B94438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638383-1DE1-4056-B986-B8DEF031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Tasks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01C714-FE9B-4D9B-A0B8-EA22DFD3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Tasking/thread safety</a:t>
            </a:r>
          </a:p>
        </p:txBody>
      </p:sp>
    </p:spTree>
    <p:extLst>
      <p:ext uri="{BB962C8B-B14F-4D97-AF65-F5344CB8AC3E}">
        <p14:creationId xmlns:p14="http://schemas.microsoft.com/office/powerpoint/2010/main" val="124195462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6367C3-6059-47F3-8550-CB5A40FF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62120-CDE7-42BB-8506-127AC821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Exam-writing shortcuts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73DF9-4999-4AAB-A9DB-B16A2F70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Turn concepts into marks.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AFFD9-E376-4E20-85D7-B2ED253C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B57E7-B2FF-4D6B-B861-8408DCFC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1613E-76F7-40EC-9631-623BFE16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470FC-FDEE-41A7-B27E-4A7B4439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CA378-F069-4FE4-A3BD-833B163B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6F4CB7-B907-4757-BFF0-F556365D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5BA6C-6BD3-4D6E-83FC-4E569548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53A05B-71FE-4D63-B78A-3C7B3509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OpenMP, write pragma syntax and explain clauses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98E981-9509-4873-80EB-C023CAF0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EBF0BC-88F9-42F3-8F51-BEE6D173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896605-FA7F-486D-9278-4DDD0F39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trapezoidal rule, use reduction instead of critical for sum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1A5165-8903-427B-9CB7-A7CE9286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17C307-00D3-42BC-B0F6-81951AC2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EFB3C6-6C87-49F6-B320-BD74F302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variable scope, classify shared/private/firstprivate/lastprivate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919D81-CABB-426F-8EB2-4289DCE6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F9F707-E942-44AC-AE0A-5247D74B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BE492D-2E75-41D6-95F2-4C6BBBFE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scheduling, compare static, dynamic and guided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93271F-3EE9-48B0-A9EC-DA5986B6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2C4D6C-767A-4056-A99B-0D08FB1D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B46DA7-0506-440C-8BB1-3A647359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false sharing, draw cache-line example</a:t>
            </a:r>
          </a:p>
        </p:txBody>
      </p:sp>
    </p:spTree>
    <p:extLst>
      <p:ext uri="{BB962C8B-B14F-4D97-AF65-F5344CB8AC3E}">
        <p14:creationId xmlns:p14="http://schemas.microsoft.com/office/powerpoint/2010/main" val="670460072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ABBCA8-8734-49D6-9BD5-83E0DAC4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6C287-0B1D-4670-A12C-5907D2C6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20 important 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E4071-813B-426E-AE92-634AEEB4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Rapid oral revision.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9EB86-3CE7-4448-BC85-15457341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B23B3-EED2-4293-A9C1-606407EC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D7FB4-CF22-4914-A1C9-64A3B383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55DDC-7EEF-4F8A-B4CF-E5886C28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BF3531-EB23-4705-9407-833EC980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773762-6D7A-4B91-B665-9D0AFE4A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1. What is OpenMP?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AF5EB-C070-4141-A53A-FD624DAD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2. What is pragma?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0B3E4-E32E-412F-A3F7-352C1D9F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3. What is parallel directive?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5E61AC-7EFD-4C2C-B242-FD6911F2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4. What is parallel for?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6058F-29AA-47F6-8738-FDBCDD2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5. What is fork-join model?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9D3B86-7860-4225-9AF0-B99ECFEC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6. What is shared variable?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F65F4-0145-497D-B3CA-FCF86C64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7. What is private variable?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178A49-DA82-4001-921E-F31AEACE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8. What is race condition?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DB11C5-D248-40A5-880D-18A868D3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9. What is critical section?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0F7FF3-0660-4996-A3EE-F88A0120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10. What is atomic?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77BF75-593D-4F34-AA9E-6DAD1EF1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11. What is reduction?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1ECDE9-4250-457A-AF93-C4EE286B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12. Loop-carried dependency?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FD621E-70B9-4692-8FFE-C3F9AE7A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13. What is scheduling?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BF5A30-53C0-45BD-BD3C-DA2CF5ED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14. static vs dynamic?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24FBD2-F86C-424C-8997-1A12AA55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15. Producer-consumer?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EDE21D-BF2A-4E5A-A1F5-04FF46D7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16. Cache coherence?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0C3441-8D28-4700-B277-0C806B12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17. False sharing?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9204AD-4D7B-41F5-8040-D5AB2047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18. What is tasking?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1553E2-A1A8-4831-93CF-5AB8560D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19. What is taskwait?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FE16E7-3A85-4320-92B5-8E3D8B7F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20. Thread safety?</a:t>
            </a:r>
          </a:p>
        </p:txBody>
      </p:sp>
    </p:spTree>
    <p:extLst>
      <p:ext uri="{BB962C8B-B14F-4D97-AF65-F5344CB8AC3E}">
        <p14:creationId xmlns:p14="http://schemas.microsoft.com/office/powerpoint/2010/main" val="580668830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DA0317-4E30-4EF5-B1D2-B7E55541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B2FEF-9CD4-46C2-BFAA-79461507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10 two-mark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163DB-7885-46A9-A21D-CCA87849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Practice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7AC9A-D57F-46DD-BD52-F62DA78B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CB2A9-E5EC-4577-BC1C-49562903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4E03AD-3EB3-4EE8-9004-9EEF0B59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5FF2F-AA41-4002-A068-20B17D8B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9F891-5001-480A-97B5-555F02A1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A96BE-0C2F-4A16-A992-84C48F28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1. Define OpenMP.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4E88D-AACE-499F-96D9-20BE2D30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2. What is pragma?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DB7092-2CD4-4142-99AB-31E94C41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3. Define parallel region.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4612AA-AA44-4644-AC46-510246C9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4. What is reduction clause?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FB02E8-55E0-45EC-A140-0AFAF646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5. What is private variable?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E6EE78-A214-4CB3-A967-AB599E46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6. What is shared variable?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CE7089-3D74-47D4-A8DE-166908A4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7. Define loop-carried dependency.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99A13-E44D-4DB3-941A-D5B9A42B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8. What is schedule(static)?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7F7921-FF21-4509-96B1-BA01C72F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9. Define false sharing.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FA6D08-7AA7-44F1-B137-2C953A14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10. What is thread safety?</a:t>
            </a:r>
          </a:p>
        </p:txBody>
      </p:sp>
    </p:spTree>
    <p:extLst>
      <p:ext uri="{BB962C8B-B14F-4D97-AF65-F5344CB8AC3E}">
        <p14:creationId xmlns:p14="http://schemas.microsoft.com/office/powerpoint/2010/main" val="122934927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7B6BB7-FB17-4A66-82DE-DBAAA16B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B9D72-3415-49AA-9369-9C480562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10 five-mark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EA84B-F0E0-4826-B4A0-973137EA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Practice medium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22AA5F-8545-4C4F-B6B3-C30FA145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54D35-4455-4A01-B76C-EDBD855A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275DB-A809-4359-A58A-188E05CC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09AD5-C264-4AB6-87CD-9A90045E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45550-5D5F-4BF2-A22C-C7D553F9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0A554-0587-48D1-83B1-23470EB5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1. Explain OpenMP pragmas and directives.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64CB19-E35B-4DC8-BF6E-78B657E1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2. Explain trapezoidal rule using OpenMP.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D7B6D-AE29-42BF-B6EC-BF44424F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3. Explain scope of variables in OpenMP.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519CB-449A-4A5F-A2A6-894700F1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4. Explain reduction clause with example.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B28198-A029-4222-879C-1D2EA673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5. Explain loop-carried dependency.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84417A-4B8F-455B-B11D-DAA8C5C0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6. Explain OpenMP scheduling.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55A2FD-F9A6-4328-87DB-924E3C67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7. Explain producer-consumer pattern.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515DC6-4C31-44A0-8411-B25C2298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8. Explain cache coherence and false sharing in OpenMP.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485040-BE40-4481-867C-EFF7D85A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9. Explain tasking in OpenMP.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811048-633C-4D95-8934-7214C2C9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10. Explain thread safety.</a:t>
            </a:r>
          </a:p>
        </p:txBody>
      </p:sp>
    </p:spTree>
    <p:extLst>
      <p:ext uri="{BB962C8B-B14F-4D97-AF65-F5344CB8AC3E}">
        <p14:creationId xmlns:p14="http://schemas.microsoft.com/office/powerpoint/2010/main" val="2133542696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E36964-6D65-4ABB-B22D-27AA51B6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149A3-C4CF-42BE-A170-1F7A4962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10 ten-mark questions and VTU placeholders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1A65C-040D-4809-B01A-4601B3A3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Practice long-answer structure.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0CA529-4969-4A2B-9216-A08CC160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9137A-FC0A-49E8-9FEC-9834B048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F0807-87A2-4C48-B09C-9180B436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8AEA1-7A93-4EF7-B898-0817BE49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C2B24-1C3E-458D-B4DA-162BB7AE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AC6B8-23E9-4ED4-9F13-7C6313D6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1. Explain shared-memory programming with OpenMP pragmas and directives.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D49FB8-82BD-49B6-9B54-A336769C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2. Explain trapezoidal rule in OpenMP with scope and reduction clauses.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BFD158-D946-4438-8BBC-78A0E230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3. Explain loop-carried dependency, scheduling and producer-consumer pattern.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5188B1-046A-4108-AD09-66B9D3A2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4. Explain caches, cache coherence and false sharing in OpenMP programs.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69C5F6-B935-4CF2-97B2-66F01726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5. Explain tasking, taskwait and thread safety in OpenMP.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78BCB1-238A-496D-BB2F-A5871C1B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6. Previous VTU Q1 placeholder: fill from past paper.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409FB5-9036-49C6-B423-30BB7EA9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7. Previous VTU Q2 placeholder: fill from past paper.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5F1082-B3A1-4902-8237-7EB3A672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8. Previous VTU Q3 placeholder: fill from past paper.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4C56EB-F853-42A5-8774-5B09CA36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9. Previous VTU Q4 placeholder: fill from past paper.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1AFB97-741B-4342-BF52-BA021A9A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10. Previous VTU Q5 placeholder: fill from past paper.</a:t>
            </a:r>
          </a:p>
        </p:txBody>
      </p:sp>
    </p:spTree>
    <p:extLst>
      <p:ext uri="{BB962C8B-B14F-4D97-AF65-F5344CB8AC3E}">
        <p14:creationId xmlns:p14="http://schemas.microsoft.com/office/powerpoint/2010/main" val="1958054788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449091-402B-4B02-ADA5-3B811F54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A06E7-6758-404D-B9CB-E835823A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One-page revision and keyword sheet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3F504-9CAA-4777-8367-187EE959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Close with the must-remember terms.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9ED89-F4D9-4786-B1D0-FB15C1FF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DAF64-4012-4113-A3B4-9A1CF750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1109B-551C-4884-AEC2-842AD907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BEE7E-412F-4E3F-9FFB-7471C812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5EAC6-3B90-4E91-B3FB-3C9C1CA5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0B2E1-0787-4103-844D-5DF94AE9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AFC859-8CC4-4EEC-8AFD-04623631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E3208-51E7-4273-B84C-96BF3535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66900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Keywords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D3DE4A-FBA0-4073-9E76-FD4522FC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103060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OpenMP; shared memory; thread; pragma; directive; parallel; parallel for; sections; single; master; omp_get_thread_num; omp_get_num_threads; omp_get_wtime; fork-join; trapezoidal rule; shared; private; firstprivate; lastprivate; default; race condition; critical; atomic; reduction; loop-carried dependency; schedule; static; dynamic; guided; chunk; producer-consumer; cache; cache coherence; false sharing; task; taskwait; task granularity; thread safety.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A59F5C-1B6F-4242-B8AE-32C980FB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0668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793EC9-9737-4A1D-A6FA-5ED2D481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E3B021-C296-4190-ACDF-BADB6F8D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Memory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6B77AF-9921-436E-8485-143E342C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1030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OpenMP pragmas create thread teams -&gt; scopes control data -&gt; reductions prevent races -&gt; scheduling balances loops -&gt; tasks handle irregular work -&gt; thread safety protects correctness.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4915F2-F549-4ABA-87A9-2C538436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10668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D16A74-542F-4D9F-AADA-8EE973AB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3AD989-146E-4E66-A45E-43533857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95900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Exam answer formula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9E6D80-EEA4-4A45-A049-3F12BACA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76900"/>
            <a:ext cx="1030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Definition + pragma syntax + diagram + example + race/performance note = strong answer.</a:t>
            </a:r>
          </a:p>
        </p:txBody>
      </p:sp>
    </p:spTree>
    <p:extLst>
      <p:ext uri="{BB962C8B-B14F-4D97-AF65-F5344CB8AC3E}">
        <p14:creationId xmlns:p14="http://schemas.microsoft.com/office/powerpoint/2010/main" val="691662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2026-08-05T09:32:55.4410000Z</dcterms:created>
  <dcterms:modified xsi:type="dcterms:W3CDTF">2026-08-05T09:32:55.4410000Z</dcterms:modified>
</coreProperties>
</file>