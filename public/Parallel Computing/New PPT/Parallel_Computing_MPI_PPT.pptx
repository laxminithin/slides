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90" r:id="rId20"/>
    <p:sldId id="291" r:id="rId21"/>
    <p:sldId id="292" r:id="rId22"/>
    <p:sldId id="293" r:id="rId23"/>
    <p:sldId id="294" r:id="rId24"/>
    <p:sldId id="295" r:id="rId25"/>
    <p:sldId id="296" r:id="rId26"/>
    <p:sldId id="297" r:id="rId27"/>
    <p:sldId id="298" r:id="rId28"/>
    <p:sldId id="258" r:id="rId29"/>
    <p:sldId id="259" r:id="rId30"/>
    <p:sldId id="260" r:id="rId31"/>
    <p:sldId id="261" r:id="rId32"/>
    <p:sldId id="262" r:id="rId33"/>
    <p:sldId id="263" r:id="rId34"/>
    <p:sldId id="264" r:id="rId35"/>
    <p:sldId id="265" r:id="rId36"/>
    <p:sldId id="266" r:id="rId37"/>
    <p:sldId id="267" r:id="rId38"/>
    <p:sldId id="268" r:id="rId39"/>
    <p:sldId id="269" r:id="rId40"/>
    <p:sldId id="270" r:id="rId41"/>
    <p:sldId id="271" r:id="rId42"/>
    <p:sldId id="272"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3" d="100"/>
          <a:sy n="63" d="100"/>
        </p:scale>
        <p:origin x="70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en.wikipedia.org/wiki/Message_Passing_Interface"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file:///\\MPI_Finalize()" TargetMode="External"/><Relationship Id="rId2" Type="http://schemas.openxmlformats.org/officeDocument/2006/relationships/hyperlink" Target="file:///\\MPI_Recv()"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PARALLEL COMPUTING</a:t>
            </a:r>
          </a:p>
        </p:txBody>
      </p:sp>
      <p:sp>
        <p:nvSpPr>
          <p:cNvPr id="3" name="TextBox 2"/>
          <p:cNvSpPr txBox="1"/>
          <p:nvPr/>
        </p:nvSpPr>
        <p:spPr>
          <a:xfrm>
            <a:off x="914400" y="2011680"/>
            <a:ext cx="10332720" cy="2286000"/>
          </a:xfrm>
          <a:prstGeom prst="rect">
            <a:avLst/>
          </a:prstGeom>
          <a:noFill/>
        </p:spPr>
        <p:txBody>
          <a:bodyPr wrap="none">
            <a:spAutoFit/>
          </a:bodyPr>
          <a:lstStyle/>
          <a:p>
            <a:pPr>
              <a:defRPr sz="3800" b="1"/>
            </a:pPr>
            <a:r>
              <a:t>MPI Programming and Parallel Algorithms</a:t>
            </a:r>
          </a:p>
          <a:p>
            <a:pPr>
              <a:spcBef>
                <a:spcPts val="2000"/>
              </a:spcBef>
              <a:defRPr sz="2200"/>
            </a:pPr>
            <a:r>
              <a:t>Distributed Memory Programming • Collective Communication • Performance Evaluation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Learning Objectives</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Understand distributed-memory programming with MPI</a:t>
            </a:r>
          </a:p>
          <a:p>
            <a:pPr>
              <a:spcAft>
                <a:spcPts val="1200"/>
              </a:spcAft>
              <a:defRPr sz="2100"/>
            </a:pPr>
            <a:r>
              <a:t>Explain the trapezoidal rule using MPI</a:t>
            </a:r>
          </a:p>
          <a:p>
            <a:pPr>
              <a:spcAft>
                <a:spcPts val="1200"/>
              </a:spcAft>
              <a:defRPr sz="2100"/>
            </a:pPr>
            <a:r>
              <a:t>Understand MPI I/O and collective communication</a:t>
            </a:r>
          </a:p>
          <a:p>
            <a:pPr>
              <a:spcAft>
                <a:spcPts val="1200"/>
              </a:spcAft>
              <a:defRPr sz="2100"/>
            </a:pPr>
            <a:r>
              <a:t>Evaluate MPI program performance</a:t>
            </a:r>
          </a:p>
          <a:p>
            <a:pPr>
              <a:spcAft>
                <a:spcPts val="1200"/>
              </a:spcAft>
              <a:defRPr sz="2100"/>
            </a:pPr>
            <a:r>
              <a:t>Understand parallel sorting algorithms</a:t>
            </a:r>
          </a:p>
          <a:p>
            <a:pPr>
              <a:spcAft>
                <a:spcPts val="1200"/>
              </a:spcAft>
              <a:defRPr sz="2100"/>
            </a:pPr>
            <a:r>
              <a:t>Explain MPI-derived datatypes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61975" y="142876"/>
            <a:ext cx="10106025" cy="657224"/>
          </a:xfrm>
        </p:spPr>
        <p:txBody>
          <a:bodyPr>
            <a:normAutofit/>
          </a:bodyPr>
          <a:lstStyle/>
          <a:p>
            <a:r>
              <a:rPr lang="en-US" sz="3600" b="1" dirty="0" smtClean="0">
                <a:latin typeface="Arial" panose="020B0604020202020204" pitchFamily="34" charset="0"/>
                <a:cs typeface="Arial" panose="020B0604020202020204" pitchFamily="34" charset="0"/>
              </a:rPr>
              <a:t>MODULE 3</a:t>
            </a:r>
            <a:endParaRPr lang="en-US" sz="36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228600" y="1123950"/>
            <a:ext cx="11563350" cy="4133850"/>
          </a:xfrm>
        </p:spPr>
        <p:txBody>
          <a:bodyPr>
            <a:normAutofit/>
          </a:bodyPr>
          <a:lstStyle/>
          <a:p>
            <a:pPr marL="457200" indent="-457200" algn="l">
              <a:buFont typeface="+mj-lt"/>
              <a:buAutoNum type="arabicPeriod"/>
            </a:pPr>
            <a:r>
              <a:rPr lang="en-US" sz="2800" b="1" dirty="0" smtClean="0"/>
              <a:t>Distributed memory programming with MPI</a:t>
            </a:r>
          </a:p>
          <a:p>
            <a:pPr marL="457200" indent="-457200" algn="l">
              <a:buFont typeface="+mj-lt"/>
              <a:buAutoNum type="arabicPeriod"/>
            </a:pPr>
            <a:r>
              <a:rPr lang="en-IN" sz="2800" b="1" dirty="0" smtClean="0"/>
              <a:t>MPI functions</a:t>
            </a:r>
          </a:p>
          <a:p>
            <a:pPr marL="457200" indent="-457200" algn="l">
              <a:buFont typeface="+mj-lt"/>
              <a:buAutoNum type="arabicPeriod"/>
            </a:pPr>
            <a:r>
              <a:rPr lang="en-IN" sz="2800" b="1" dirty="0" smtClean="0"/>
              <a:t>The trapezoidal rule in MPI-Dealing with I/</a:t>
            </a:r>
            <a:r>
              <a:rPr lang="en-IN" sz="2800" b="1" dirty="0" err="1" smtClean="0"/>
              <a:t>O,Collective</a:t>
            </a:r>
            <a:r>
              <a:rPr lang="en-IN" sz="2800" b="1" dirty="0" smtClean="0"/>
              <a:t> communication, </a:t>
            </a:r>
          </a:p>
          <a:p>
            <a:pPr algn="l"/>
            <a:r>
              <a:rPr lang="en-IN" sz="2800" b="1" dirty="0" smtClean="0"/>
              <a:t>Performance evaluation of MPI programs</a:t>
            </a:r>
          </a:p>
          <a:p>
            <a:pPr marL="457200" indent="-457200" algn="l">
              <a:buFont typeface="+mj-lt"/>
              <a:buAutoNum type="arabicPeriod"/>
            </a:pPr>
            <a:r>
              <a:rPr lang="en-IN" sz="2800" b="1" dirty="0" smtClean="0"/>
              <a:t>A parallel sorting algorithm.</a:t>
            </a:r>
          </a:p>
          <a:p>
            <a:pPr marL="457200" indent="-457200" algn="l">
              <a:buFont typeface="+mj-lt"/>
              <a:buAutoNum type="arabicPeriod"/>
            </a:pPr>
            <a:r>
              <a:rPr lang="en-IN" sz="2800" b="1" dirty="0" smtClean="0"/>
              <a:t>MPI-derived datatypes</a:t>
            </a:r>
          </a:p>
          <a:p>
            <a:pPr marL="457200" indent="-457200" algn="l">
              <a:buFont typeface="+mj-lt"/>
              <a:buAutoNum type="arabicPeriod"/>
            </a:pPr>
            <a:endParaRPr lang="en-US" dirty="0"/>
          </a:p>
        </p:txBody>
      </p:sp>
    </p:spTree>
    <p:extLst>
      <p:ext uri="{BB962C8B-B14F-4D97-AF65-F5344CB8AC3E}">
        <p14:creationId xmlns:p14="http://schemas.microsoft.com/office/powerpoint/2010/main" val="896697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33450" y="0"/>
            <a:ext cx="9144000" cy="658812"/>
          </a:xfrm>
        </p:spPr>
        <p:txBody>
          <a:bodyPr>
            <a:normAutofit/>
          </a:bodyPr>
          <a:lstStyle/>
          <a:p>
            <a:r>
              <a:rPr lang="en-US" sz="3200" b="1" dirty="0" smtClean="0">
                <a:latin typeface="Arial" panose="020B0604020202020204" pitchFamily="34" charset="0"/>
                <a:cs typeface="Arial" panose="020B0604020202020204" pitchFamily="34" charset="0"/>
              </a:rPr>
              <a:t>DEFINITION </a:t>
            </a:r>
            <a:endParaRPr lang="en-US" sz="32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0" y="819151"/>
            <a:ext cx="12192000" cy="5895974"/>
          </a:xfrm>
        </p:spPr>
        <p:txBody>
          <a:bodyPr>
            <a:normAutofit fontScale="92500" lnSpcReduction="20000"/>
          </a:bodyPr>
          <a:lstStyle/>
          <a:p>
            <a:r>
              <a:rPr lang="en-US" dirty="0" smtClean="0"/>
              <a:t>Distributed memory programming with MPI divides a </a:t>
            </a:r>
            <a:r>
              <a:rPr lang="en-US" dirty="0" smtClean="0">
                <a:solidFill>
                  <a:srgbClr val="FF0000"/>
                </a:solidFill>
              </a:rPr>
              <a:t>computation among multiple processes</a:t>
            </a:r>
            <a:r>
              <a:rPr lang="en-US" dirty="0" smtClean="0"/>
              <a:t>, where each process has its own memory, and processes communicate with each other by explicitly sending and receiving messages.</a:t>
            </a:r>
          </a:p>
          <a:p>
            <a:r>
              <a:rPr lang="en-US" b="1" dirty="0" smtClean="0"/>
              <a:t>Distributed memory programming</a:t>
            </a:r>
            <a:r>
              <a:rPr lang="en-US" dirty="0" smtClean="0"/>
              <a:t> is a method of parallel programming where </a:t>
            </a:r>
            <a:r>
              <a:rPr lang="en-US" b="1" dirty="0" smtClean="0"/>
              <a:t>each processor has its own private memory</a:t>
            </a:r>
            <a:r>
              <a:rPr lang="en-US" dirty="0" smtClean="0"/>
              <a:t>. Processors cannot directly access another processor's memory. They communicate by </a:t>
            </a:r>
            <a:r>
              <a:rPr lang="en-US" b="1" dirty="0" smtClean="0"/>
              <a:t>sending and receiving messages</a:t>
            </a:r>
            <a:r>
              <a:rPr lang="en-US" dirty="0" smtClean="0"/>
              <a:t>.</a:t>
            </a:r>
          </a:p>
          <a:p>
            <a:r>
              <a:rPr lang="en-US" dirty="0" smtClean="0"/>
              <a:t>WHY?</a:t>
            </a:r>
          </a:p>
          <a:p>
            <a:pPr algn="just" fontAlgn="base"/>
            <a:r>
              <a:rPr lang="en-US" dirty="0"/>
              <a:t>To make things easier, let’s directly jump to some statistics:</a:t>
            </a:r>
          </a:p>
          <a:p>
            <a:pPr algn="just" fontAlgn="base"/>
            <a:r>
              <a:rPr lang="en-US" dirty="0"/>
              <a:t>Facebook, currently, has </a:t>
            </a:r>
            <a:r>
              <a:rPr lang="en-US" b="1" dirty="0"/>
              <a:t>1.5 billion</a:t>
            </a:r>
            <a:r>
              <a:rPr lang="en-US" dirty="0"/>
              <a:t> active monthly users.</a:t>
            </a:r>
          </a:p>
          <a:p>
            <a:pPr algn="just" fontAlgn="base"/>
            <a:r>
              <a:rPr lang="en-US" dirty="0"/>
              <a:t>Google performs at least </a:t>
            </a:r>
            <a:r>
              <a:rPr lang="en-US" b="1" dirty="0"/>
              <a:t>1 trillion</a:t>
            </a:r>
            <a:r>
              <a:rPr lang="en-US" dirty="0"/>
              <a:t> searches per year.</a:t>
            </a:r>
          </a:p>
          <a:p>
            <a:pPr algn="just" fontAlgn="base"/>
            <a:r>
              <a:rPr lang="en-US" dirty="0"/>
              <a:t>About </a:t>
            </a:r>
            <a:r>
              <a:rPr lang="en-US" b="1" dirty="0"/>
              <a:t>48 hours</a:t>
            </a:r>
            <a:r>
              <a:rPr lang="en-US" dirty="0"/>
              <a:t> of video are uploaded on </a:t>
            </a:r>
            <a:r>
              <a:rPr lang="en-US" dirty="0" err="1"/>
              <a:t>Youtube</a:t>
            </a:r>
            <a:r>
              <a:rPr lang="en-US" dirty="0"/>
              <a:t> every minute.</a:t>
            </a:r>
          </a:p>
          <a:p>
            <a:pPr algn="just" fontAlgn="base"/>
            <a:r>
              <a:rPr lang="en-US" dirty="0"/>
              <a:t>With such high demand, </a:t>
            </a:r>
            <a:r>
              <a:rPr lang="en-US" dirty="0" smtClean="0"/>
              <a:t>a </a:t>
            </a:r>
            <a:r>
              <a:rPr lang="en-US" dirty="0"/>
              <a:t>single system would be unable to handle the processing. Thus, comes the need for Distributed Systems.</a:t>
            </a:r>
          </a:p>
          <a:p>
            <a:endParaRPr lang="en-US" dirty="0"/>
          </a:p>
        </p:txBody>
      </p:sp>
    </p:spTree>
    <p:extLst>
      <p:ext uri="{BB962C8B-B14F-4D97-AF65-F5344CB8AC3E}">
        <p14:creationId xmlns:p14="http://schemas.microsoft.com/office/powerpoint/2010/main" val="1788339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7649" y="0"/>
            <a:ext cx="11877675" cy="6858000"/>
          </a:xfrm>
        </p:spPr>
        <p:txBody>
          <a:bodyPr>
            <a:normAutofit fontScale="85000" lnSpcReduction="10000"/>
          </a:bodyPr>
          <a:lstStyle/>
          <a:p>
            <a:pPr algn="just" fontAlgn="base"/>
            <a:r>
              <a:rPr lang="en-US" dirty="0"/>
              <a:t>A distributed system consists </a:t>
            </a:r>
            <a:r>
              <a:rPr lang="en-US" dirty="0">
                <a:solidFill>
                  <a:srgbClr val="FF0000"/>
                </a:solidFill>
              </a:rPr>
              <a:t>of a collection of autonomous computers</a:t>
            </a:r>
            <a:r>
              <a:rPr lang="en-US" b="1" dirty="0"/>
              <a:t>, connected through a network and distribution middleware</a:t>
            </a:r>
            <a:r>
              <a:rPr lang="en-US" dirty="0"/>
              <a:t>, which enables </a:t>
            </a:r>
            <a:r>
              <a:rPr lang="en-US" dirty="0">
                <a:solidFill>
                  <a:srgbClr val="FF0000"/>
                </a:solidFill>
              </a:rPr>
              <a:t>computers to coordinate their activities and to share the resources of the system </a:t>
            </a:r>
            <a:r>
              <a:rPr lang="en-US" dirty="0"/>
              <a:t>so that users perceive the system as a single, integrated computing facility.</a:t>
            </a:r>
          </a:p>
          <a:p>
            <a:pPr algn="just" fontAlgn="base"/>
            <a:r>
              <a:rPr lang="en-US" dirty="0" err="1" smtClean="0"/>
              <a:t>EXAMPLE:Google</a:t>
            </a:r>
            <a:r>
              <a:rPr lang="en-US" dirty="0" smtClean="0"/>
              <a:t> </a:t>
            </a:r>
            <a:r>
              <a:rPr lang="en-US" dirty="0"/>
              <a:t>Web Server, from users perspective while they submit the searched query, they assume google web server as a single system. However, behind the curtain, Google has built a lot of servers which is distributed (geographically and computationally) to give us the result within a few seconds</a:t>
            </a:r>
            <a:r>
              <a:rPr lang="en-US" dirty="0" smtClean="0"/>
              <a:t>.</a:t>
            </a:r>
          </a:p>
          <a:p>
            <a:pPr algn="just" fontAlgn="base"/>
            <a:r>
              <a:rPr lang="en-US" b="1" dirty="0"/>
              <a:t>Advantages of Distributed Computing?</a:t>
            </a:r>
            <a:endParaRPr lang="en-US" dirty="0"/>
          </a:p>
          <a:p>
            <a:pPr marL="457200" indent="-457200" algn="just" fontAlgn="base">
              <a:buFont typeface="+mj-lt"/>
              <a:buAutoNum type="arabicPeriod"/>
            </a:pPr>
            <a:r>
              <a:rPr lang="en-US" b="1" dirty="0"/>
              <a:t>Highly efficient</a:t>
            </a:r>
          </a:p>
          <a:p>
            <a:pPr marL="457200" indent="-457200" algn="just" fontAlgn="base">
              <a:buFont typeface="+mj-lt"/>
              <a:buAutoNum type="arabicPeriod"/>
            </a:pPr>
            <a:r>
              <a:rPr lang="en-US" b="1" dirty="0"/>
              <a:t>Scalability</a:t>
            </a:r>
          </a:p>
          <a:p>
            <a:pPr marL="457200" indent="-457200" algn="just" fontAlgn="base">
              <a:buFont typeface="+mj-lt"/>
              <a:buAutoNum type="arabicPeriod"/>
            </a:pPr>
            <a:r>
              <a:rPr lang="en-US" b="1" dirty="0"/>
              <a:t>Less tolerant of failures</a:t>
            </a:r>
          </a:p>
          <a:p>
            <a:pPr marL="457200" indent="-457200" algn="just" fontAlgn="base">
              <a:buFont typeface="+mj-lt"/>
              <a:buAutoNum type="arabicPeriod"/>
            </a:pPr>
            <a:r>
              <a:rPr lang="en-US" b="1" dirty="0"/>
              <a:t>High Availability</a:t>
            </a:r>
          </a:p>
          <a:p>
            <a:pPr algn="just" fontAlgn="base"/>
            <a:r>
              <a:rPr lang="en-US" dirty="0"/>
              <a:t>A</a:t>
            </a:r>
            <a:r>
              <a:rPr lang="en-US" dirty="0" smtClean="0"/>
              <a:t>n </a:t>
            </a:r>
            <a:r>
              <a:rPr lang="en-US" dirty="0"/>
              <a:t>example where we save computational time by using distributed computing. </a:t>
            </a:r>
          </a:p>
          <a:p>
            <a:pPr algn="just"/>
            <a:endParaRPr lang="en-US" dirty="0"/>
          </a:p>
        </p:txBody>
      </p:sp>
    </p:spTree>
    <p:extLst>
      <p:ext uri="{BB962C8B-B14F-4D97-AF65-F5344CB8AC3E}">
        <p14:creationId xmlns:p14="http://schemas.microsoft.com/office/powerpoint/2010/main" val="1157695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3350" y="95250"/>
            <a:ext cx="12058650" cy="6591300"/>
          </a:xfrm>
        </p:spPr>
        <p:txBody>
          <a:bodyPr>
            <a:normAutofit fontScale="92500"/>
          </a:bodyPr>
          <a:lstStyle/>
          <a:p>
            <a:pPr fontAlgn="base"/>
            <a:r>
              <a:rPr lang="en-US" b="1" dirty="0" smtClean="0">
                <a:latin typeface="Arial" panose="020B0604020202020204" pitchFamily="34" charset="0"/>
                <a:cs typeface="Arial" panose="020B0604020202020204" pitchFamily="34" charset="0"/>
              </a:rPr>
              <a:t>Examples :</a:t>
            </a:r>
          </a:p>
          <a:p>
            <a:pPr algn="just" fontAlgn="base"/>
            <a:r>
              <a:rPr lang="en-US" sz="2600" dirty="0" smtClean="0">
                <a:latin typeface="Arial" panose="020B0604020202020204" pitchFamily="34" charset="0"/>
                <a:cs typeface="Arial" panose="020B0604020202020204" pitchFamily="34" charset="0"/>
              </a:rPr>
              <a:t>If </a:t>
            </a:r>
            <a:r>
              <a:rPr lang="en-US" sz="2600" dirty="0">
                <a:latin typeface="Arial" panose="020B0604020202020204" pitchFamily="34" charset="0"/>
                <a:cs typeface="Arial" panose="020B0604020202020204" pitchFamily="34" charset="0"/>
              </a:rPr>
              <a:t>we have an array, </a:t>
            </a:r>
            <a:r>
              <a:rPr lang="en-US" sz="2600" b="1" dirty="0">
                <a:latin typeface="Arial" panose="020B0604020202020204" pitchFamily="34" charset="0"/>
                <a:cs typeface="Arial" panose="020B0604020202020204" pitchFamily="34" charset="0"/>
              </a:rPr>
              <a:t>a</a:t>
            </a:r>
            <a:r>
              <a:rPr lang="en-US" sz="2600" dirty="0">
                <a:latin typeface="Arial" panose="020B0604020202020204" pitchFamily="34" charset="0"/>
                <a:cs typeface="Arial" panose="020B0604020202020204" pitchFamily="34" charset="0"/>
              </a:rPr>
              <a:t>, having </a:t>
            </a:r>
            <a:r>
              <a:rPr lang="en-US" sz="2600" b="1" dirty="0">
                <a:latin typeface="Arial" panose="020B0604020202020204" pitchFamily="34" charset="0"/>
                <a:cs typeface="Arial" panose="020B0604020202020204" pitchFamily="34" charset="0"/>
              </a:rPr>
              <a:t>n</a:t>
            </a:r>
            <a:r>
              <a:rPr lang="en-US" sz="2600" dirty="0">
                <a:latin typeface="Arial" panose="020B0604020202020204" pitchFamily="34" charset="0"/>
                <a:cs typeface="Arial" panose="020B0604020202020204" pitchFamily="34" charset="0"/>
              </a:rPr>
              <a:t> elements, a=[1, 2, 3, 4, 5, 6]</a:t>
            </a:r>
          </a:p>
          <a:p>
            <a:pPr algn="just" fontAlgn="base"/>
            <a:r>
              <a:rPr lang="en-US" sz="2600" dirty="0">
                <a:latin typeface="Arial" panose="020B0604020202020204" pitchFamily="34" charset="0"/>
                <a:cs typeface="Arial" panose="020B0604020202020204" pitchFamily="34" charset="0"/>
              </a:rPr>
              <a:t>We want to sum up all the elements of the array and output it. Now, let us assume that there are 10</a:t>
            </a:r>
            <a:r>
              <a:rPr lang="en-US" sz="2600" baseline="30000" dirty="0">
                <a:latin typeface="Arial" panose="020B0604020202020204" pitchFamily="34" charset="0"/>
                <a:cs typeface="Arial" panose="020B0604020202020204" pitchFamily="34" charset="0"/>
              </a:rPr>
              <a:t>20 </a:t>
            </a:r>
            <a:r>
              <a:rPr lang="en-US" sz="2600" dirty="0">
                <a:latin typeface="Arial" panose="020B0604020202020204" pitchFamily="34" charset="0"/>
                <a:cs typeface="Arial" panose="020B0604020202020204" pitchFamily="34" charset="0"/>
              </a:rPr>
              <a:t>elements in the array and the time to compute the </a:t>
            </a:r>
            <a:r>
              <a:rPr lang="en-US" sz="2600" b="1" dirty="0">
                <a:latin typeface="Arial" panose="020B0604020202020204" pitchFamily="34" charset="0"/>
                <a:cs typeface="Arial" panose="020B0604020202020204" pitchFamily="34" charset="0"/>
              </a:rPr>
              <a:t>sum is x.</a:t>
            </a:r>
            <a:endParaRPr lang="en-US" sz="2600" dirty="0">
              <a:latin typeface="Arial" panose="020B0604020202020204" pitchFamily="34" charset="0"/>
              <a:cs typeface="Arial" panose="020B0604020202020204" pitchFamily="34" charset="0"/>
            </a:endParaRPr>
          </a:p>
          <a:p>
            <a:pPr algn="just" fontAlgn="base"/>
            <a:r>
              <a:rPr lang="en-US" sz="2600" dirty="0">
                <a:latin typeface="Arial" panose="020B0604020202020204" pitchFamily="34" charset="0"/>
                <a:cs typeface="Arial" panose="020B0604020202020204" pitchFamily="34" charset="0"/>
              </a:rPr>
              <a:t>If we now divide the array in 3 parts, </a:t>
            </a:r>
            <a:r>
              <a:rPr lang="en-US" sz="2600" b="1" dirty="0">
                <a:latin typeface="Arial" panose="020B0604020202020204" pitchFamily="34" charset="0"/>
                <a:cs typeface="Arial" panose="020B0604020202020204" pitchFamily="34" charset="0"/>
              </a:rPr>
              <a:t>a1</a:t>
            </a:r>
            <a:r>
              <a:rPr lang="en-US" sz="2600" dirty="0">
                <a:latin typeface="Arial" panose="020B0604020202020204" pitchFamily="34" charset="0"/>
                <a:cs typeface="Arial" panose="020B0604020202020204" pitchFamily="34" charset="0"/>
              </a:rPr>
              <a:t>,</a:t>
            </a:r>
            <a:r>
              <a:rPr lang="en-US" sz="2600" b="1" dirty="0">
                <a:latin typeface="Arial" panose="020B0604020202020204" pitchFamily="34" charset="0"/>
                <a:cs typeface="Arial" panose="020B0604020202020204" pitchFamily="34" charset="0"/>
              </a:rPr>
              <a:t> a2</a:t>
            </a:r>
            <a:r>
              <a:rPr lang="en-US" sz="2600" dirty="0">
                <a:latin typeface="Arial" panose="020B0604020202020204" pitchFamily="34" charset="0"/>
                <a:cs typeface="Arial" panose="020B0604020202020204" pitchFamily="34" charset="0"/>
              </a:rPr>
              <a:t> and </a:t>
            </a:r>
            <a:r>
              <a:rPr lang="en-US" sz="2600" b="1" dirty="0">
                <a:latin typeface="Arial" panose="020B0604020202020204" pitchFamily="34" charset="0"/>
                <a:cs typeface="Arial" panose="020B0604020202020204" pitchFamily="34" charset="0"/>
              </a:rPr>
              <a:t>a3</a:t>
            </a:r>
            <a:r>
              <a:rPr lang="en-US" sz="2600" dirty="0">
                <a:latin typeface="Arial" panose="020B0604020202020204" pitchFamily="34" charset="0"/>
                <a:cs typeface="Arial" panose="020B0604020202020204" pitchFamily="34" charset="0"/>
              </a:rPr>
              <a:t> where a1 = { Set of elements where modulo(element from a) == 0 } a2 = { Set of elements where modulo(element from a) == 1 } a3 = { Set of elements where modulo(element from a) == 2 }</a:t>
            </a:r>
          </a:p>
          <a:p>
            <a:pPr algn="just" fontAlgn="base"/>
            <a:r>
              <a:rPr lang="en-US" sz="2600" dirty="0">
                <a:latin typeface="Arial" panose="020B0604020202020204" pitchFamily="34" charset="0"/>
                <a:cs typeface="Arial" panose="020B0604020202020204" pitchFamily="34" charset="0"/>
              </a:rPr>
              <a:t>We will send these 3 arrays to 3 different processes for computing the sum of these individual processes. On average, let’s assume that each array has </a:t>
            </a:r>
            <a:r>
              <a:rPr lang="en-US" sz="2600" b="1" dirty="0">
                <a:latin typeface="Arial" panose="020B0604020202020204" pitchFamily="34" charset="0"/>
                <a:cs typeface="Arial" panose="020B0604020202020204" pitchFamily="34" charset="0"/>
              </a:rPr>
              <a:t>n/3 elements</a:t>
            </a:r>
            <a:r>
              <a:rPr lang="en-US" sz="2600" dirty="0">
                <a:latin typeface="Arial" panose="020B0604020202020204" pitchFamily="34" charset="0"/>
                <a:cs typeface="Arial" panose="020B0604020202020204" pitchFamily="34" charset="0"/>
              </a:rPr>
              <a:t>. Thus, the time taken by each process will also reduce to </a:t>
            </a:r>
            <a:r>
              <a:rPr lang="en-US" sz="2600" b="1" dirty="0">
                <a:latin typeface="Arial" panose="020B0604020202020204" pitchFamily="34" charset="0"/>
                <a:cs typeface="Arial" panose="020B0604020202020204" pitchFamily="34" charset="0"/>
              </a:rPr>
              <a:t>x/3</a:t>
            </a:r>
            <a:r>
              <a:rPr lang="en-US" sz="2600" dirty="0">
                <a:latin typeface="Arial" panose="020B0604020202020204" pitchFamily="34" charset="0"/>
                <a:cs typeface="Arial" panose="020B0604020202020204" pitchFamily="34" charset="0"/>
              </a:rPr>
              <a:t>. Since these processes will be running in parallel, the three “x/3” will be computed simultaneously and the sum of each array is returned to the main process. In the end, we can compute the final sum of a by </a:t>
            </a:r>
            <a:r>
              <a:rPr lang="en-US" sz="2600" b="1" dirty="0">
                <a:latin typeface="Arial" panose="020B0604020202020204" pitchFamily="34" charset="0"/>
                <a:cs typeface="Arial" panose="020B0604020202020204" pitchFamily="34" charset="0"/>
              </a:rPr>
              <a:t>summing up the individual sum of the arrays: a1, a2, and a3</a:t>
            </a:r>
            <a:r>
              <a:rPr lang="en-US" sz="2600" dirty="0">
                <a:latin typeface="Arial" panose="020B0604020202020204" pitchFamily="34" charset="0"/>
                <a:cs typeface="Arial" panose="020B0604020202020204" pitchFamily="34" charset="0"/>
              </a:rPr>
              <a:t>.</a:t>
            </a:r>
          </a:p>
          <a:p>
            <a:pPr algn="just"/>
            <a:r>
              <a:rPr lang="en-US" sz="2600" dirty="0">
                <a:latin typeface="Arial" panose="020B0604020202020204" pitchFamily="34" charset="0"/>
                <a:cs typeface="Arial" panose="020B0604020202020204" pitchFamily="34" charset="0"/>
              </a:rPr>
              <a:t>Thus, we are able to reduce the time from </a:t>
            </a:r>
            <a:r>
              <a:rPr lang="en-US" sz="2600" b="1" dirty="0">
                <a:latin typeface="Arial" panose="020B0604020202020204" pitchFamily="34" charset="0"/>
                <a:cs typeface="Arial" panose="020B0604020202020204" pitchFamily="34" charset="0"/>
              </a:rPr>
              <a:t>x to x/3</a:t>
            </a:r>
            <a:r>
              <a:rPr lang="en-US" sz="2600" dirty="0">
                <a:latin typeface="Arial" panose="020B0604020202020204" pitchFamily="34" charset="0"/>
                <a:cs typeface="Arial" panose="020B0604020202020204" pitchFamily="34" charset="0"/>
              </a:rPr>
              <a:t>, if we are running the process simultaneously. </a:t>
            </a:r>
          </a:p>
        </p:txBody>
      </p:sp>
    </p:spTree>
    <p:extLst>
      <p:ext uri="{BB962C8B-B14F-4D97-AF65-F5344CB8AC3E}">
        <p14:creationId xmlns:p14="http://schemas.microsoft.com/office/powerpoint/2010/main" val="3180561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95275" y="0"/>
            <a:ext cx="11896725" cy="6705600"/>
          </a:xfrm>
        </p:spPr>
        <p:txBody>
          <a:bodyPr>
            <a:normAutofit fontScale="85000" lnSpcReduction="10000"/>
          </a:bodyPr>
          <a:lstStyle/>
          <a:p>
            <a:r>
              <a:rPr lang="en-US" sz="2600" u="sng" dirty="0">
                <a:latin typeface="Arial" panose="020B0604020202020204" pitchFamily="34" charset="0"/>
                <a:cs typeface="Arial" panose="020B0604020202020204" pitchFamily="34" charset="0"/>
                <a:hlinkClick r:id="rId2"/>
              </a:rPr>
              <a:t>Message Passing Interface (MPI) </a:t>
            </a:r>
            <a:r>
              <a:rPr lang="en-US" sz="2600" dirty="0">
                <a:latin typeface="Arial" panose="020B0604020202020204" pitchFamily="34" charset="0"/>
                <a:cs typeface="Arial" panose="020B0604020202020204" pitchFamily="34" charset="0"/>
              </a:rPr>
              <a:t>is a standardized and portable </a:t>
            </a:r>
            <a:r>
              <a:rPr lang="en-US" sz="2600" b="1" dirty="0">
                <a:latin typeface="Arial" panose="020B0604020202020204" pitchFamily="34" charset="0"/>
                <a:cs typeface="Arial" panose="020B0604020202020204" pitchFamily="34" charset="0"/>
              </a:rPr>
              <a:t>message-passing</a:t>
            </a:r>
            <a:r>
              <a:rPr lang="en-US" sz="2600" dirty="0">
                <a:latin typeface="Arial" panose="020B0604020202020204" pitchFamily="34" charset="0"/>
                <a:cs typeface="Arial" panose="020B0604020202020204" pitchFamily="34" charset="0"/>
              </a:rPr>
              <a:t> system developed for distributed and parallel computing. MPI provides parallel hardware vendors with a clearly defined base set of routines that can be efficiently implemented</a:t>
            </a:r>
            <a:r>
              <a:rPr lang="en-US" sz="2600" dirty="0" smtClean="0">
                <a:latin typeface="Arial" panose="020B0604020202020204" pitchFamily="34" charset="0"/>
                <a:cs typeface="Arial" panose="020B0604020202020204" pitchFamily="34" charset="0"/>
              </a:rPr>
              <a:t>.</a:t>
            </a:r>
          </a:p>
          <a:p>
            <a:r>
              <a:rPr lang="en-US" sz="2600" b="1" dirty="0" smtClean="0">
                <a:latin typeface="Arial" panose="020B0604020202020204" pitchFamily="34" charset="0"/>
                <a:cs typeface="Arial" panose="020B0604020202020204" pitchFamily="34" charset="0"/>
              </a:rPr>
              <a:t>MPI = Message Passing Interface</a:t>
            </a:r>
            <a:endParaRPr lang="en-US" sz="2600" dirty="0" smtClean="0">
              <a:latin typeface="Arial" panose="020B0604020202020204" pitchFamily="34" charset="0"/>
              <a:cs typeface="Arial" panose="020B0604020202020204" pitchFamily="34" charset="0"/>
            </a:endParaRPr>
          </a:p>
          <a:p>
            <a:r>
              <a:rPr lang="en-US" sz="2600" dirty="0" smtClean="0">
                <a:latin typeface="Arial" panose="020B0604020202020204" pitchFamily="34" charset="0"/>
                <a:cs typeface="Arial" panose="020B0604020202020204" pitchFamily="34" charset="0"/>
              </a:rPr>
              <a:t>MPI is a </a:t>
            </a:r>
            <a:r>
              <a:rPr lang="en-US" sz="2600" b="1" dirty="0" smtClean="0">
                <a:latin typeface="Arial" panose="020B0604020202020204" pitchFamily="34" charset="0"/>
                <a:cs typeface="Arial" panose="020B0604020202020204" pitchFamily="34" charset="0"/>
              </a:rPr>
              <a:t>standard/library for writing parallel programs</a:t>
            </a:r>
            <a:r>
              <a:rPr lang="en-US" sz="2600" dirty="0" smtClean="0">
                <a:latin typeface="Arial" panose="020B0604020202020204" pitchFamily="34" charset="0"/>
                <a:cs typeface="Arial" panose="020B0604020202020204" pitchFamily="34" charset="0"/>
              </a:rPr>
              <a:t> that run on distributed-memory systems</a:t>
            </a:r>
            <a:r>
              <a:rPr lang="en-US" dirty="0" smtClean="0"/>
              <a:t>.</a:t>
            </a:r>
          </a:p>
          <a:p>
            <a:r>
              <a:rPr lang="en-US" sz="2600" dirty="0" smtClean="0">
                <a:latin typeface="Arial" panose="020B0604020202020204" pitchFamily="34" charset="0"/>
                <a:cs typeface="Arial" panose="020B0604020202020204" pitchFamily="34" charset="0"/>
              </a:rPr>
              <a:t>MPI provides functions for:</a:t>
            </a:r>
          </a:p>
          <a:p>
            <a:r>
              <a:rPr lang="en-US" sz="2600" dirty="0" smtClean="0">
                <a:latin typeface="Arial" panose="020B0604020202020204" pitchFamily="34" charset="0"/>
                <a:cs typeface="Arial" panose="020B0604020202020204" pitchFamily="34" charset="0"/>
              </a:rPr>
              <a:t>Sending messages </a:t>
            </a:r>
          </a:p>
          <a:p>
            <a:r>
              <a:rPr lang="en-US" sz="2600" dirty="0" smtClean="0">
                <a:latin typeface="Arial" panose="020B0604020202020204" pitchFamily="34" charset="0"/>
                <a:cs typeface="Arial" panose="020B0604020202020204" pitchFamily="34" charset="0"/>
              </a:rPr>
              <a:t>Receiving messages </a:t>
            </a:r>
          </a:p>
          <a:p>
            <a:r>
              <a:rPr lang="en-US" sz="2600" dirty="0" smtClean="0">
                <a:latin typeface="Arial" panose="020B0604020202020204" pitchFamily="34" charset="0"/>
                <a:cs typeface="Arial" panose="020B0604020202020204" pitchFamily="34" charset="0"/>
              </a:rPr>
              <a:t>Communicating among processes </a:t>
            </a:r>
          </a:p>
          <a:p>
            <a:r>
              <a:rPr lang="en-US" sz="2600" dirty="0" smtClean="0">
                <a:latin typeface="Arial" panose="020B0604020202020204" pitchFamily="34" charset="0"/>
                <a:cs typeface="Arial" panose="020B0604020202020204" pitchFamily="34" charset="0"/>
              </a:rPr>
              <a:t>Synchronizing processes </a:t>
            </a:r>
          </a:p>
          <a:p>
            <a:r>
              <a:rPr lang="en-US" sz="2600" dirty="0" smtClean="0">
                <a:latin typeface="Arial" panose="020B0604020202020204" pitchFamily="34" charset="0"/>
                <a:cs typeface="Arial" panose="020B0604020202020204" pitchFamily="34" charset="0"/>
              </a:rPr>
              <a:t>Dividing work among processes </a:t>
            </a:r>
          </a:p>
          <a:p>
            <a:r>
              <a:rPr lang="en-US" sz="2600" dirty="0" smtClean="0">
                <a:latin typeface="Arial" panose="020B0604020202020204" pitchFamily="34" charset="0"/>
                <a:cs typeface="Arial" panose="020B0604020202020204" pitchFamily="34" charset="0"/>
              </a:rPr>
              <a:t>MPI is commonly used in:</a:t>
            </a:r>
          </a:p>
          <a:p>
            <a:r>
              <a:rPr lang="en-US" sz="2600" dirty="0" smtClean="0">
                <a:latin typeface="Arial" panose="020B0604020202020204" pitchFamily="34" charset="0"/>
                <a:cs typeface="Arial" panose="020B0604020202020204" pitchFamily="34" charset="0"/>
              </a:rPr>
              <a:t>High Performance Computing (HPC) </a:t>
            </a:r>
          </a:p>
          <a:p>
            <a:r>
              <a:rPr lang="en-US" sz="2600" dirty="0" smtClean="0">
                <a:latin typeface="Arial" panose="020B0604020202020204" pitchFamily="34" charset="0"/>
                <a:cs typeface="Arial" panose="020B0604020202020204" pitchFamily="34" charset="0"/>
              </a:rPr>
              <a:t>Supercomputers </a:t>
            </a:r>
          </a:p>
          <a:p>
            <a:r>
              <a:rPr lang="en-US" sz="2600" dirty="0" smtClean="0">
                <a:latin typeface="Arial" panose="020B0604020202020204" pitchFamily="34" charset="0"/>
                <a:cs typeface="Arial" panose="020B0604020202020204" pitchFamily="34" charset="0"/>
              </a:rPr>
              <a:t>Computer clusters </a:t>
            </a:r>
          </a:p>
          <a:p>
            <a:r>
              <a:rPr lang="en-US" sz="2600" dirty="0" smtClean="0">
                <a:latin typeface="Arial" panose="020B0604020202020204" pitchFamily="34" charset="0"/>
                <a:cs typeface="Arial" panose="020B0604020202020204" pitchFamily="34" charset="0"/>
              </a:rPr>
              <a:t>Scientific simulations </a:t>
            </a:r>
          </a:p>
          <a:p>
            <a:r>
              <a:rPr lang="en-US" sz="2600" dirty="0" smtClean="0">
                <a:latin typeface="Arial" panose="020B0604020202020204" pitchFamily="34" charset="0"/>
                <a:cs typeface="Arial" panose="020B0604020202020204" pitchFamily="34" charset="0"/>
              </a:rPr>
              <a:t>Large-scale numerical computations</a:t>
            </a:r>
          </a:p>
          <a:p>
            <a:endParaRPr lang="en-US" dirty="0"/>
          </a:p>
        </p:txBody>
      </p:sp>
    </p:spTree>
    <p:extLst>
      <p:ext uri="{BB962C8B-B14F-4D97-AF65-F5344CB8AC3E}">
        <p14:creationId xmlns:p14="http://schemas.microsoft.com/office/powerpoint/2010/main" val="2592073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1449" y="85725"/>
            <a:ext cx="11877675" cy="6705600"/>
          </a:xfrm>
        </p:spPr>
        <p:txBody>
          <a:bodyPr>
            <a:normAutofit/>
          </a:bodyPr>
          <a:lstStyle/>
          <a:p>
            <a:r>
              <a:rPr lang="en-US" b="1" dirty="0" smtClean="0"/>
              <a:t>3. How MPI works</a:t>
            </a:r>
          </a:p>
          <a:p>
            <a:r>
              <a:rPr lang="en-US" dirty="0" smtClean="0"/>
              <a:t>When an MPI program starts, multiple </a:t>
            </a:r>
            <a:r>
              <a:rPr lang="en-US" b="1" dirty="0" smtClean="0"/>
              <a:t>processes</a:t>
            </a:r>
            <a:r>
              <a:rPr lang="en-US" dirty="0" smtClean="0"/>
              <a:t> are created.</a:t>
            </a:r>
          </a:p>
          <a:p>
            <a:r>
              <a:rPr lang="en-US" dirty="0" smtClean="0"/>
              <a:t>For example:</a:t>
            </a:r>
          </a:p>
          <a:p>
            <a:r>
              <a:rPr lang="en-US" b="1" dirty="0" smtClean="0"/>
              <a:t>3. How MPI works</a:t>
            </a:r>
          </a:p>
          <a:p>
            <a:r>
              <a:rPr lang="en-US" dirty="0" smtClean="0"/>
              <a:t>Each process gets a unique number called its </a:t>
            </a:r>
            <a:r>
              <a:rPr lang="en-US" b="1" dirty="0" smtClean="0"/>
              <a:t>rank</a:t>
            </a:r>
            <a:r>
              <a:rPr lang="en-US" dirty="0" smtClean="0"/>
              <a:t>.</a:t>
            </a:r>
          </a:p>
          <a:p>
            <a:r>
              <a:rPr lang="en-US" dirty="0" smtClean="0"/>
              <a:t>For 4 processes:</a:t>
            </a:r>
          </a:p>
          <a:p>
            <a:endParaRPr lang="en-US" dirty="0" smtClean="0"/>
          </a:p>
          <a:p>
            <a:endParaRPr lang="en-US" dirty="0"/>
          </a:p>
        </p:txBody>
      </p:sp>
      <p:graphicFrame>
        <p:nvGraphicFramePr>
          <p:cNvPr id="4" name="Table 3"/>
          <p:cNvGraphicFramePr>
            <a:graphicFrameLocks noGrp="1"/>
          </p:cNvGraphicFramePr>
          <p:nvPr/>
        </p:nvGraphicFramePr>
        <p:xfrm>
          <a:off x="838200" y="3086894"/>
          <a:ext cx="10515600" cy="1828800"/>
        </p:xfrm>
        <a:graphic>
          <a:graphicData uri="http://schemas.openxmlformats.org/drawingml/2006/table">
            <a:tbl>
              <a:tblPr/>
              <a:tblGrid>
                <a:gridCol w="5257800"/>
                <a:gridCol w="5257800"/>
              </a:tblGrid>
              <a:tr h="0">
                <a:tc>
                  <a:txBody>
                    <a:bodyPr/>
                    <a:lstStyle/>
                    <a:p>
                      <a:r>
                        <a:rPr lang="en-US" dirty="0"/>
                        <a:t>Process</a:t>
                      </a:r>
                    </a:p>
                  </a:txBody>
                  <a:tcPr anchor="ctr">
                    <a:lnL>
                      <a:noFill/>
                    </a:lnL>
                    <a:lnR>
                      <a:noFill/>
                    </a:lnR>
                    <a:lnT>
                      <a:noFill/>
                    </a:lnT>
                    <a:lnB>
                      <a:noFill/>
                    </a:lnB>
                  </a:tcPr>
                </a:tc>
                <a:tc>
                  <a:txBody>
                    <a:bodyPr/>
                    <a:lstStyle/>
                    <a:p>
                      <a:pPr algn="r"/>
                      <a:r>
                        <a:rPr lang="en-US"/>
                        <a:t>Rank</a:t>
                      </a:r>
                    </a:p>
                  </a:txBody>
                  <a:tcPr anchor="ctr">
                    <a:lnL>
                      <a:noFill/>
                    </a:lnL>
                    <a:lnR>
                      <a:noFill/>
                    </a:lnR>
                    <a:lnT>
                      <a:noFill/>
                    </a:lnT>
                    <a:lnB>
                      <a:noFill/>
                    </a:lnB>
                  </a:tcPr>
                </a:tc>
              </a:tr>
              <a:tr h="0">
                <a:tc>
                  <a:txBody>
                    <a:bodyPr/>
                    <a:lstStyle/>
                    <a:p>
                      <a:r>
                        <a:rPr lang="en-US"/>
                        <a:t>Process 0</a:t>
                      </a:r>
                    </a:p>
                  </a:txBody>
                  <a:tcPr anchor="ctr">
                    <a:lnL>
                      <a:noFill/>
                    </a:lnL>
                    <a:lnR>
                      <a:noFill/>
                    </a:lnR>
                    <a:lnT>
                      <a:noFill/>
                    </a:lnT>
                    <a:lnB>
                      <a:noFill/>
                    </a:lnB>
                  </a:tcPr>
                </a:tc>
                <a:tc>
                  <a:txBody>
                    <a:bodyPr/>
                    <a:lstStyle/>
                    <a:p>
                      <a:pPr algn="r"/>
                      <a:r>
                        <a:rPr lang="en-US"/>
                        <a:t>0</a:t>
                      </a:r>
                    </a:p>
                  </a:txBody>
                  <a:tcPr anchor="ctr">
                    <a:lnL>
                      <a:noFill/>
                    </a:lnL>
                    <a:lnR>
                      <a:noFill/>
                    </a:lnR>
                    <a:lnT>
                      <a:noFill/>
                    </a:lnT>
                    <a:lnB>
                      <a:noFill/>
                    </a:lnB>
                  </a:tcPr>
                </a:tc>
              </a:tr>
              <a:tr h="0">
                <a:tc>
                  <a:txBody>
                    <a:bodyPr/>
                    <a:lstStyle/>
                    <a:p>
                      <a:r>
                        <a:rPr lang="en-US"/>
                        <a:t>Process 1</a:t>
                      </a:r>
                    </a:p>
                  </a:txBody>
                  <a:tcPr anchor="ctr">
                    <a:lnL>
                      <a:noFill/>
                    </a:lnL>
                    <a:lnR>
                      <a:noFill/>
                    </a:lnR>
                    <a:lnT>
                      <a:noFill/>
                    </a:lnT>
                    <a:lnB>
                      <a:noFill/>
                    </a:lnB>
                  </a:tcPr>
                </a:tc>
                <a:tc>
                  <a:txBody>
                    <a:bodyPr/>
                    <a:lstStyle/>
                    <a:p>
                      <a:pPr algn="r"/>
                      <a:r>
                        <a:rPr lang="en-US"/>
                        <a:t>1</a:t>
                      </a:r>
                    </a:p>
                  </a:txBody>
                  <a:tcPr anchor="ctr">
                    <a:lnL>
                      <a:noFill/>
                    </a:lnL>
                    <a:lnR>
                      <a:noFill/>
                    </a:lnR>
                    <a:lnT>
                      <a:noFill/>
                    </a:lnT>
                    <a:lnB>
                      <a:noFill/>
                    </a:lnB>
                  </a:tcPr>
                </a:tc>
              </a:tr>
              <a:tr h="0">
                <a:tc>
                  <a:txBody>
                    <a:bodyPr/>
                    <a:lstStyle/>
                    <a:p>
                      <a:r>
                        <a:rPr lang="en-US"/>
                        <a:t>Process 2</a:t>
                      </a:r>
                    </a:p>
                  </a:txBody>
                  <a:tcPr anchor="ctr">
                    <a:lnL>
                      <a:noFill/>
                    </a:lnL>
                    <a:lnR>
                      <a:noFill/>
                    </a:lnR>
                    <a:lnT>
                      <a:noFill/>
                    </a:lnT>
                    <a:lnB>
                      <a:noFill/>
                    </a:lnB>
                  </a:tcPr>
                </a:tc>
                <a:tc>
                  <a:txBody>
                    <a:bodyPr/>
                    <a:lstStyle/>
                    <a:p>
                      <a:pPr algn="r"/>
                      <a:r>
                        <a:rPr lang="en-US"/>
                        <a:t>2</a:t>
                      </a:r>
                    </a:p>
                  </a:txBody>
                  <a:tcPr anchor="ctr">
                    <a:lnL>
                      <a:noFill/>
                    </a:lnL>
                    <a:lnR>
                      <a:noFill/>
                    </a:lnR>
                    <a:lnT>
                      <a:noFill/>
                    </a:lnT>
                    <a:lnB>
                      <a:noFill/>
                    </a:lnB>
                  </a:tcPr>
                </a:tc>
              </a:tr>
              <a:tr h="0">
                <a:tc>
                  <a:txBody>
                    <a:bodyPr/>
                    <a:lstStyle/>
                    <a:p>
                      <a:r>
                        <a:rPr lang="en-US"/>
                        <a:t>Process 3</a:t>
                      </a:r>
                    </a:p>
                  </a:txBody>
                  <a:tcPr anchor="ctr">
                    <a:lnL>
                      <a:noFill/>
                    </a:lnL>
                    <a:lnR>
                      <a:noFill/>
                    </a:lnR>
                    <a:lnT>
                      <a:noFill/>
                    </a:lnT>
                    <a:lnB>
                      <a:noFill/>
                    </a:lnB>
                  </a:tcPr>
                </a:tc>
                <a:tc>
                  <a:txBody>
                    <a:bodyPr/>
                    <a:lstStyle/>
                    <a:p>
                      <a:pPr algn="r"/>
                      <a:r>
                        <a:rPr lang="en-US" dirty="0"/>
                        <a:t>3</a:t>
                      </a:r>
                    </a:p>
                  </a:txBody>
                  <a:tcPr anchor="ctr">
                    <a:lnL>
                      <a:noFill/>
                    </a:lnL>
                    <a:lnR>
                      <a:noFill/>
                    </a:lnR>
                    <a:lnT>
                      <a:noFill/>
                    </a:lnT>
                    <a:lnB>
                      <a:noFill/>
                    </a:lnB>
                  </a:tcPr>
                </a:tc>
              </a:tr>
            </a:tbl>
          </a:graphicData>
        </a:graphic>
      </p:graphicFrame>
      <p:sp>
        <p:nvSpPr>
          <p:cNvPr id="6" name="Rectangle 5"/>
          <p:cNvSpPr/>
          <p:nvPr/>
        </p:nvSpPr>
        <p:spPr>
          <a:xfrm>
            <a:off x="838199" y="5081885"/>
            <a:ext cx="11039475" cy="1477328"/>
          </a:xfrm>
          <a:prstGeom prst="rect">
            <a:avLst/>
          </a:prstGeom>
        </p:spPr>
        <p:txBody>
          <a:bodyPr wrap="square">
            <a:spAutoFit/>
          </a:bodyPr>
          <a:lstStyle/>
          <a:p>
            <a:r>
              <a:rPr lang="en-US" dirty="0" smtClean="0"/>
              <a:t>4.MPI </a:t>
            </a:r>
            <a:r>
              <a:rPr lang="en-US" dirty="0" err="1" smtClean="0"/>
              <a:t>communicationThe</a:t>
            </a:r>
            <a:r>
              <a:rPr lang="en-US" dirty="0" smtClean="0"/>
              <a:t> most basic communication </a:t>
            </a:r>
            <a:r>
              <a:rPr lang="en-US" dirty="0" err="1" smtClean="0"/>
              <a:t>is:SendOne</a:t>
            </a:r>
            <a:r>
              <a:rPr lang="en-US" dirty="0" smtClean="0"/>
              <a:t> process sends </a:t>
            </a:r>
            <a:r>
              <a:rPr lang="en-US" dirty="0" err="1" smtClean="0"/>
              <a:t>data:Process</a:t>
            </a:r>
            <a:r>
              <a:rPr lang="en-US" dirty="0" smtClean="0"/>
              <a:t> 0  ─────── message ───────&gt;  Process 1</a:t>
            </a:r>
          </a:p>
          <a:p>
            <a:r>
              <a:rPr lang="en-US" dirty="0" err="1" smtClean="0"/>
              <a:t>ReceiveThe</a:t>
            </a:r>
            <a:r>
              <a:rPr lang="en-US" dirty="0" smtClean="0"/>
              <a:t> other process receives the </a:t>
            </a:r>
            <a:r>
              <a:rPr lang="en-US" dirty="0" err="1" smtClean="0"/>
              <a:t>data:Process</a:t>
            </a:r>
            <a:r>
              <a:rPr lang="en-US" dirty="0" smtClean="0"/>
              <a:t> 1 receives the message</a:t>
            </a:r>
          </a:p>
          <a:p>
            <a:r>
              <a:rPr lang="en-US" dirty="0" smtClean="0"/>
              <a:t>Conceptually:</a:t>
            </a:r>
          </a:p>
          <a:p>
            <a:endParaRPr lang="en-US" dirty="0"/>
          </a:p>
        </p:txBody>
      </p:sp>
    </p:spTree>
    <p:extLst>
      <p:ext uri="{BB962C8B-B14F-4D97-AF65-F5344CB8AC3E}">
        <p14:creationId xmlns:p14="http://schemas.microsoft.com/office/powerpoint/2010/main" val="3539404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14325" y="-1"/>
            <a:ext cx="10353675" cy="6619875"/>
          </a:xfrm>
        </p:spPr>
        <p:txBody>
          <a:bodyPr>
            <a:normAutofit fontScale="85000" lnSpcReduction="20000"/>
          </a:bodyPr>
          <a:lstStyle/>
          <a:p>
            <a:r>
              <a:rPr lang="en-US" dirty="0" smtClean="0"/>
              <a:t>Process 0                    Process 1</a:t>
            </a:r>
          </a:p>
          <a:p>
            <a:r>
              <a:rPr lang="en-US" dirty="0" smtClean="0"/>
              <a:t>   │                             │</a:t>
            </a:r>
          </a:p>
          <a:p>
            <a:r>
              <a:rPr lang="en-US" dirty="0" smtClean="0"/>
              <a:t>   │       "Hello"         │</a:t>
            </a:r>
          </a:p>
          <a:p>
            <a:r>
              <a:rPr lang="en-US" dirty="0" smtClean="0"/>
              <a:t>   ├────────────────────────────&gt;│</a:t>
            </a:r>
          </a:p>
          <a:p>
            <a:r>
              <a:rPr lang="en-US" dirty="0" smtClean="0"/>
              <a:t>   │                             │</a:t>
            </a:r>
          </a:p>
          <a:p>
            <a:r>
              <a:rPr lang="en-US" dirty="0" smtClean="0"/>
              <a:t> Send                          Receive</a:t>
            </a:r>
          </a:p>
          <a:p>
            <a:r>
              <a:rPr lang="en-US" dirty="0" smtClean="0"/>
              <a:t>MPI provides functions such </a:t>
            </a:r>
            <a:r>
              <a:rPr lang="en-US" dirty="0" err="1" smtClean="0"/>
              <a:t>as:MPI_Send</a:t>
            </a:r>
            <a:r>
              <a:rPr lang="en-US" dirty="0" smtClean="0"/>
              <a:t>() → send </a:t>
            </a:r>
            <a:r>
              <a:rPr lang="en-US" dirty="0" err="1" smtClean="0"/>
              <a:t>dataMPI_Recv</a:t>
            </a:r>
            <a:r>
              <a:rPr lang="en-US" dirty="0" smtClean="0"/>
              <a:t>() → receive data</a:t>
            </a:r>
          </a:p>
          <a:p>
            <a:r>
              <a:rPr lang="en-US" dirty="0" smtClean="0"/>
              <a:t>5. Important MPI </a:t>
            </a:r>
            <a:r>
              <a:rPr lang="en-US" dirty="0" err="1" smtClean="0"/>
              <a:t>functionsMPI_Init</a:t>
            </a:r>
            <a:r>
              <a:rPr lang="en-US" dirty="0" smtClean="0"/>
              <a:t>()Starts the MPI environment.</a:t>
            </a:r>
          </a:p>
          <a:p>
            <a:r>
              <a:rPr lang="en-US" dirty="0" err="1" smtClean="0"/>
              <a:t>MPI_Comm_size</a:t>
            </a:r>
            <a:r>
              <a:rPr lang="en-US" dirty="0" smtClean="0"/>
              <a:t>()  \\Gets the total number of processes.</a:t>
            </a:r>
          </a:p>
          <a:p>
            <a:r>
              <a:rPr lang="en-US" dirty="0" err="1" smtClean="0"/>
              <a:t>MPI_Comm_size</a:t>
            </a:r>
            <a:r>
              <a:rPr lang="en-US" dirty="0" smtClean="0"/>
              <a:t>(MPI_COMM_WORLD, &amp;size);</a:t>
            </a:r>
          </a:p>
          <a:p>
            <a:r>
              <a:rPr lang="en-US" dirty="0" smtClean="0"/>
              <a:t>For example, if 4 processes are running:</a:t>
            </a:r>
          </a:p>
          <a:p>
            <a:r>
              <a:rPr lang="en-US" dirty="0" smtClean="0"/>
              <a:t>size = 4</a:t>
            </a:r>
          </a:p>
          <a:p>
            <a:r>
              <a:rPr lang="en-US" dirty="0" err="1" smtClean="0"/>
              <a:t>MPI_Comm_rank</a:t>
            </a:r>
            <a:r>
              <a:rPr lang="en-US" dirty="0" smtClean="0"/>
              <a:t>()\\Gets the </a:t>
            </a:r>
            <a:r>
              <a:rPr lang="en-US" b="1" dirty="0" smtClean="0"/>
              <a:t>rank of the current process</a:t>
            </a:r>
            <a:r>
              <a:rPr lang="en-US" dirty="0" smtClean="0"/>
              <a:t>.</a:t>
            </a:r>
          </a:p>
          <a:p>
            <a:r>
              <a:rPr lang="en-US" dirty="0" err="1" smtClean="0"/>
              <a:t>MPI_Comm_rank</a:t>
            </a:r>
            <a:r>
              <a:rPr lang="en-US" dirty="0" smtClean="0"/>
              <a:t>(MPI_COMM_WORLD, &amp;rank);</a:t>
            </a:r>
          </a:p>
        </p:txBody>
      </p:sp>
    </p:spTree>
    <p:extLst>
      <p:ext uri="{BB962C8B-B14F-4D97-AF65-F5344CB8AC3E}">
        <p14:creationId xmlns:p14="http://schemas.microsoft.com/office/powerpoint/2010/main" val="2551946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04774" y="0"/>
            <a:ext cx="10563225" cy="6781800"/>
          </a:xfrm>
        </p:spPr>
        <p:txBody>
          <a:bodyPr>
            <a:normAutofit fontScale="92500" lnSpcReduction="20000"/>
          </a:bodyPr>
          <a:lstStyle/>
          <a:p>
            <a:r>
              <a:rPr lang="en-US" dirty="0" smtClean="0"/>
              <a:t>The value could be:</a:t>
            </a:r>
          </a:p>
          <a:p>
            <a:r>
              <a:rPr lang="en-US" dirty="0" smtClean="0"/>
              <a:t>rank = 0</a:t>
            </a:r>
          </a:p>
          <a:p>
            <a:r>
              <a:rPr lang="en-US" dirty="0" smtClean="0"/>
              <a:t>rank = 1</a:t>
            </a:r>
          </a:p>
          <a:p>
            <a:r>
              <a:rPr lang="en-US" dirty="0" smtClean="0"/>
              <a:t>rank = 2</a:t>
            </a:r>
          </a:p>
          <a:p>
            <a:r>
              <a:rPr lang="en-US" dirty="0" smtClean="0"/>
              <a:t>rank = 3</a:t>
            </a:r>
          </a:p>
          <a:p>
            <a:r>
              <a:rPr lang="en-US" dirty="0" smtClean="0"/>
              <a:t>depending on which process is executing the statement.</a:t>
            </a:r>
          </a:p>
          <a:p>
            <a:r>
              <a:rPr lang="en-US" dirty="0" smtClean="0"/>
              <a:t>\\MPI_Send()</a:t>
            </a:r>
          </a:p>
          <a:p>
            <a:r>
              <a:rPr lang="en-US" dirty="0" smtClean="0"/>
              <a:t>\\Sends a message.</a:t>
            </a:r>
          </a:p>
          <a:p>
            <a:r>
              <a:rPr lang="en-US" dirty="0" err="1" smtClean="0"/>
              <a:t>MPI_Send</a:t>
            </a:r>
            <a:r>
              <a:rPr lang="en-US" dirty="0" smtClean="0"/>
              <a:t>(data, count, datatype, destination, tag, communicator);</a:t>
            </a:r>
          </a:p>
          <a:p>
            <a:r>
              <a:rPr lang="en-US" dirty="0" smtClean="0">
                <a:hlinkClick r:id="rId2" action="ppaction://hlinkfile"/>
              </a:rPr>
              <a:t>\\MPI_Recv()</a:t>
            </a:r>
            <a:endParaRPr lang="en-US" dirty="0" smtClean="0"/>
          </a:p>
          <a:p>
            <a:r>
              <a:rPr lang="en-US" dirty="0" err="1" smtClean="0"/>
              <a:t>MPI_Recv</a:t>
            </a:r>
            <a:r>
              <a:rPr lang="en-US" dirty="0" smtClean="0"/>
              <a:t>(data, count, datatype, source, tag, communicator, &amp;status);</a:t>
            </a:r>
          </a:p>
          <a:p>
            <a:r>
              <a:rPr lang="en-US" dirty="0" smtClean="0">
                <a:hlinkClick r:id="rId3" action="ppaction://hlinkfile"/>
              </a:rPr>
              <a:t>\\MPI_Finalize()</a:t>
            </a:r>
            <a:endParaRPr lang="en-US" dirty="0" smtClean="0"/>
          </a:p>
          <a:p>
            <a:r>
              <a:rPr lang="en-US" dirty="0" smtClean="0"/>
              <a:t>\\Terminates the MPI environment.</a:t>
            </a:r>
          </a:p>
          <a:p>
            <a:r>
              <a:rPr lang="en-US" dirty="0" err="1" smtClean="0"/>
              <a:t>MPI_Finalize</a:t>
            </a:r>
            <a:r>
              <a:rPr lang="en-US" dirty="0" smtClean="0"/>
              <a:t>();</a:t>
            </a:r>
            <a:endParaRPr lang="en-US" dirty="0"/>
          </a:p>
        </p:txBody>
      </p:sp>
    </p:spTree>
    <p:extLst>
      <p:ext uri="{BB962C8B-B14F-4D97-AF65-F5344CB8AC3E}">
        <p14:creationId xmlns:p14="http://schemas.microsoft.com/office/powerpoint/2010/main" val="464361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2950" y="0"/>
            <a:ext cx="9144000" cy="773112"/>
          </a:xfrm>
        </p:spPr>
        <p:txBody>
          <a:bodyPr>
            <a:normAutofit/>
          </a:bodyPr>
          <a:lstStyle/>
          <a:p>
            <a:r>
              <a:rPr lang="en-US" sz="3200" b="1" dirty="0" smtClean="0">
                <a:latin typeface="Arial" panose="020B0604020202020204" pitchFamily="34" charset="0"/>
                <a:cs typeface="Arial" panose="020B0604020202020204" pitchFamily="34" charset="0"/>
              </a:rPr>
              <a:t>6. Simple example</a:t>
            </a:r>
            <a:endParaRPr lang="en-US" sz="3200"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457200" y="773112"/>
            <a:ext cx="10210800" cy="5932488"/>
          </a:xfrm>
        </p:spPr>
        <p:txBody>
          <a:bodyPr>
            <a:normAutofit fontScale="85000" lnSpcReduction="20000"/>
          </a:bodyPr>
          <a:lstStyle/>
          <a:p>
            <a:r>
              <a:rPr lang="en-US" dirty="0" smtClean="0"/>
              <a:t>if (rank == 0) {</a:t>
            </a:r>
          </a:p>
          <a:p>
            <a:r>
              <a:rPr lang="en-US" dirty="0" smtClean="0"/>
              <a:t>    </a:t>
            </a:r>
            <a:r>
              <a:rPr lang="en-US" dirty="0" err="1" smtClean="0"/>
              <a:t>int</a:t>
            </a:r>
            <a:r>
              <a:rPr lang="en-US" dirty="0" smtClean="0"/>
              <a:t> number = 100;</a:t>
            </a:r>
          </a:p>
          <a:p>
            <a:r>
              <a:rPr lang="en-US" dirty="0" smtClean="0"/>
              <a:t>    </a:t>
            </a:r>
            <a:r>
              <a:rPr lang="en-US" dirty="0" err="1" smtClean="0"/>
              <a:t>MPI_Send</a:t>
            </a:r>
            <a:r>
              <a:rPr lang="en-US" dirty="0" smtClean="0"/>
              <a:t>(&amp;number, 1, MPI_INT, 1, 0, MPI_COMM_WORLD);</a:t>
            </a:r>
          </a:p>
          <a:p>
            <a:r>
              <a:rPr lang="en-US" dirty="0" smtClean="0"/>
              <a:t>}</a:t>
            </a:r>
          </a:p>
          <a:p>
            <a:endParaRPr lang="en-US" dirty="0" smtClean="0"/>
          </a:p>
          <a:p>
            <a:r>
              <a:rPr lang="en-US" dirty="0" smtClean="0"/>
              <a:t>if (rank == 1) {</a:t>
            </a:r>
          </a:p>
          <a:p>
            <a:r>
              <a:rPr lang="en-US" dirty="0" smtClean="0"/>
              <a:t>    </a:t>
            </a:r>
            <a:r>
              <a:rPr lang="en-US" dirty="0" err="1" smtClean="0"/>
              <a:t>int</a:t>
            </a:r>
            <a:r>
              <a:rPr lang="en-US" dirty="0" smtClean="0"/>
              <a:t> number;</a:t>
            </a:r>
          </a:p>
          <a:p>
            <a:r>
              <a:rPr lang="en-US" dirty="0" smtClean="0"/>
              <a:t>    </a:t>
            </a:r>
            <a:r>
              <a:rPr lang="en-US" dirty="0" err="1" smtClean="0"/>
              <a:t>MPI_Recv</a:t>
            </a:r>
            <a:r>
              <a:rPr lang="en-US" dirty="0" smtClean="0"/>
              <a:t>(&amp;number, 1, MPI_INT, 0, 0,</a:t>
            </a:r>
          </a:p>
          <a:p>
            <a:r>
              <a:rPr lang="en-US" dirty="0" smtClean="0"/>
              <a:t>             MPI_COMM_WORLD, MPI_STATUS_IGNORE);</a:t>
            </a:r>
          </a:p>
          <a:p>
            <a:r>
              <a:rPr lang="en-US" dirty="0" smtClean="0"/>
              <a:t>}</a:t>
            </a:r>
          </a:p>
          <a:p>
            <a:r>
              <a:rPr lang="en-US" dirty="0" smtClean="0"/>
              <a:t>Here:</a:t>
            </a:r>
          </a:p>
          <a:p>
            <a:r>
              <a:rPr lang="en-US" dirty="0" smtClean="0"/>
              <a:t>rank == 0 </a:t>
            </a:r>
            <a:r>
              <a:rPr lang="en-US" smtClean="0"/>
              <a:t>→ sender</a:t>
            </a:r>
          </a:p>
          <a:p>
            <a:r>
              <a:rPr lang="en-US" smtClean="0"/>
              <a:t>rank </a:t>
            </a:r>
            <a:r>
              <a:rPr lang="en-US" dirty="0" smtClean="0"/>
              <a:t>== 1 → receiver100 → message1 → destination rank0 → source rank in </a:t>
            </a:r>
            <a:r>
              <a:rPr lang="en-US" dirty="0" err="1" smtClean="0"/>
              <a:t>MPI_Recv</a:t>
            </a:r>
            <a:r>
              <a:rPr lang="en-US" dirty="0" smtClean="0"/>
              <a:t>()</a:t>
            </a:r>
            <a:endParaRPr lang="en-US" dirty="0"/>
          </a:p>
        </p:txBody>
      </p:sp>
    </p:spTree>
    <p:extLst>
      <p:ext uri="{BB962C8B-B14F-4D97-AF65-F5344CB8AC3E}">
        <p14:creationId xmlns:p14="http://schemas.microsoft.com/office/powerpoint/2010/main" val="1752678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12192000" cy="6858000"/>
          </a:xfrm>
        </p:spPr>
        <p:txBody>
          <a:bodyPr>
            <a:normAutofit fontScale="85000" lnSpcReduction="20000"/>
          </a:bodyPr>
          <a:lstStyle/>
          <a:p>
            <a:r>
              <a:rPr lang="en-US" sz="2600" dirty="0">
                <a:latin typeface="Arial" panose="020B0604020202020204" pitchFamily="34" charset="0"/>
                <a:cs typeface="Arial" panose="020B0604020202020204" pitchFamily="34" charset="0"/>
              </a:rPr>
              <a:t>Suppose Process 0 wants to send the number </a:t>
            </a:r>
            <a:r>
              <a:rPr lang="en-US" sz="2600" b="1" dirty="0">
                <a:latin typeface="Arial" panose="020B0604020202020204" pitchFamily="34" charset="0"/>
                <a:cs typeface="Arial" panose="020B0604020202020204" pitchFamily="34" charset="0"/>
              </a:rPr>
              <a:t>100</a:t>
            </a:r>
            <a:r>
              <a:rPr lang="en-US" sz="2600" dirty="0">
                <a:latin typeface="Arial" panose="020B0604020202020204" pitchFamily="34" charset="0"/>
                <a:cs typeface="Arial" panose="020B0604020202020204" pitchFamily="34" charset="0"/>
              </a:rPr>
              <a:t> to Process 1</a:t>
            </a:r>
            <a:r>
              <a:rPr lang="en-US" sz="2600" dirty="0" smtClean="0">
                <a:latin typeface="Arial" panose="020B0604020202020204" pitchFamily="34" charset="0"/>
                <a:cs typeface="Arial" panose="020B0604020202020204" pitchFamily="34" charset="0"/>
              </a:rPr>
              <a:t>.</a:t>
            </a:r>
          </a:p>
          <a:p>
            <a:r>
              <a:rPr lang="en-US" sz="2600" dirty="0">
                <a:latin typeface="Arial" panose="020B0604020202020204" pitchFamily="34" charset="0"/>
                <a:cs typeface="Arial" panose="020B0604020202020204" pitchFamily="34" charset="0"/>
              </a:rPr>
              <a:t>Process 0                         Process 1</a:t>
            </a:r>
          </a:p>
          <a:p>
            <a:r>
              <a:rPr lang="en-US" sz="2600" dirty="0">
                <a:latin typeface="Arial" panose="020B0604020202020204" pitchFamily="34" charset="0"/>
                <a:cs typeface="Arial" panose="020B0604020202020204" pitchFamily="34" charset="0"/>
              </a:rPr>
              <a:t>   │                                  │</a:t>
            </a:r>
          </a:p>
          <a:p>
            <a:r>
              <a:rPr lang="en-US" sz="2600" dirty="0">
                <a:latin typeface="Arial" panose="020B0604020202020204" pitchFamily="34" charset="0"/>
                <a:cs typeface="Arial" panose="020B0604020202020204" pitchFamily="34" charset="0"/>
              </a:rPr>
              <a:t>   │       100             </a:t>
            </a:r>
            <a:r>
              <a:rPr lang="en-US" sz="2600" dirty="0" smtClean="0">
                <a:latin typeface="Arial" panose="020B0604020202020204" pitchFamily="34" charset="0"/>
                <a:cs typeface="Arial" panose="020B0604020202020204" pitchFamily="34" charset="0"/>
              </a:rPr>
              <a:t>       </a:t>
            </a:r>
            <a:r>
              <a:rPr lang="en-US" sz="2600" dirty="0">
                <a:latin typeface="Arial" panose="020B0604020202020204" pitchFamily="34" charset="0"/>
                <a:cs typeface="Arial" panose="020B0604020202020204" pitchFamily="34" charset="0"/>
              </a:rPr>
              <a:t>│</a:t>
            </a:r>
          </a:p>
          <a:p>
            <a:r>
              <a:rPr lang="en-US" sz="2600" dirty="0">
                <a:latin typeface="Arial" panose="020B0604020202020204" pitchFamily="34" charset="0"/>
                <a:cs typeface="Arial" panose="020B0604020202020204" pitchFamily="34" charset="0"/>
              </a:rPr>
              <a:t>   ├─────────────────────────────────&gt;│</a:t>
            </a:r>
          </a:p>
          <a:p>
            <a:r>
              <a:rPr lang="en-US" sz="2600" dirty="0">
                <a:latin typeface="Arial" panose="020B0604020202020204" pitchFamily="34" charset="0"/>
                <a:cs typeface="Arial" panose="020B0604020202020204" pitchFamily="34" charset="0"/>
              </a:rPr>
              <a:t>   │                                  │</a:t>
            </a:r>
          </a:p>
          <a:p>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MPI_Send</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MPI_Recv</a:t>
            </a:r>
            <a:r>
              <a:rPr lang="en-US" sz="2600" dirty="0" smtClean="0">
                <a:latin typeface="Arial" panose="020B0604020202020204" pitchFamily="34" charset="0"/>
                <a:cs typeface="Arial" panose="020B0604020202020204" pitchFamily="34" charset="0"/>
              </a:rPr>
              <a:t>()</a:t>
            </a:r>
          </a:p>
          <a:p>
            <a:pPr algn="just"/>
            <a:r>
              <a:rPr lang="en-US" sz="2600" dirty="0">
                <a:latin typeface="Arial" panose="020B0604020202020204" pitchFamily="34" charset="0"/>
                <a:cs typeface="Arial" panose="020B0604020202020204" pitchFamily="34" charset="0"/>
              </a:rPr>
              <a:t>Conceptually</a:t>
            </a:r>
            <a:r>
              <a:rPr lang="en-US" sz="2600" dirty="0" smtClean="0">
                <a:latin typeface="Arial" panose="020B0604020202020204" pitchFamily="34" charset="0"/>
                <a:cs typeface="Arial" panose="020B0604020202020204" pitchFamily="34" charset="0"/>
              </a:rPr>
              <a:t>:</a:t>
            </a:r>
          </a:p>
          <a:p>
            <a:pPr algn="just"/>
            <a:r>
              <a:rPr lang="en-US" dirty="0">
                <a:latin typeface="Arial" panose="020B0604020202020204" pitchFamily="34" charset="0"/>
                <a:cs typeface="Arial" panose="020B0604020202020204" pitchFamily="34" charset="0"/>
              </a:rPr>
              <a:t>if (rank == 0) {</a:t>
            </a:r>
          </a:p>
          <a:p>
            <a:pPr algn="just"/>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int</a:t>
            </a:r>
            <a:r>
              <a:rPr lang="en-US" dirty="0">
                <a:latin typeface="Arial" panose="020B0604020202020204" pitchFamily="34" charset="0"/>
                <a:cs typeface="Arial" panose="020B0604020202020204" pitchFamily="34" charset="0"/>
              </a:rPr>
              <a:t> number = 100;</a:t>
            </a:r>
          </a:p>
          <a:p>
            <a:pPr algn="just"/>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MPI_Send</a:t>
            </a:r>
            <a:r>
              <a:rPr lang="en-US" dirty="0">
                <a:latin typeface="Arial" panose="020B0604020202020204" pitchFamily="34" charset="0"/>
                <a:cs typeface="Arial" panose="020B0604020202020204" pitchFamily="34" charset="0"/>
              </a:rPr>
              <a:t>(&amp;number, 1, MPI_INT, 1, 0, MPI_COMM_WORLD);</a:t>
            </a:r>
          </a:p>
          <a:p>
            <a:pPr algn="just"/>
            <a:r>
              <a:rPr lang="en-US" dirty="0">
                <a:latin typeface="Arial" panose="020B0604020202020204" pitchFamily="34" charset="0"/>
                <a:cs typeface="Arial" panose="020B0604020202020204" pitchFamily="34" charset="0"/>
              </a:rPr>
              <a: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if (rank == 1) {</a:t>
            </a:r>
          </a:p>
          <a:p>
            <a:pPr algn="just"/>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int</a:t>
            </a:r>
            <a:r>
              <a:rPr lang="en-US" dirty="0">
                <a:latin typeface="Arial" panose="020B0604020202020204" pitchFamily="34" charset="0"/>
                <a:cs typeface="Arial" panose="020B0604020202020204" pitchFamily="34" charset="0"/>
              </a:rPr>
              <a:t> number;</a:t>
            </a:r>
          </a:p>
          <a:p>
            <a:pPr algn="just"/>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MPI_Recv</a:t>
            </a:r>
            <a:r>
              <a:rPr lang="en-US" dirty="0">
                <a:latin typeface="Arial" panose="020B0604020202020204" pitchFamily="34" charset="0"/>
                <a:cs typeface="Arial" panose="020B0604020202020204" pitchFamily="34" charset="0"/>
              </a:rPr>
              <a:t>(&amp;number, 1, MPI_INT, 0, 0,</a:t>
            </a:r>
          </a:p>
          <a:p>
            <a:pPr algn="just"/>
            <a:r>
              <a:rPr lang="en-US" dirty="0">
                <a:latin typeface="Arial" panose="020B0604020202020204" pitchFamily="34" charset="0"/>
                <a:cs typeface="Arial" panose="020B0604020202020204" pitchFamily="34" charset="0"/>
              </a:rPr>
              <a:t>             MPI_COMM_WORLD, MPI_STATUS_IGNORE);</a:t>
            </a:r>
          </a:p>
          <a:p>
            <a:pPr algn="just"/>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417354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subTitle" idx="1"/>
          </p:nvPr>
        </p:nvSpPr>
        <p:spPr bwMode="auto">
          <a:xfrm>
            <a:off x="133564" y="-1803081"/>
            <a:ext cx="12058436" cy="8863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Here: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rank == 0 → sender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rank == 1 → receiver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100 → message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1 → destination rank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0 → source rank in </a:t>
            </a:r>
            <a:r>
              <a:rPr kumimoji="0" lang="en-US" altLang="en-US" b="1"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MPI_Recv</a:t>
            </a:r>
            <a:r>
              <a:rPr kumimoji="0" lang="en-US" altLang="en-US"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p>
          <a:p>
            <a:pPr lvl="0" algn="l" eaLnBrk="0" fontAlgn="base" hangingPunct="0">
              <a:lnSpc>
                <a:spcPct val="100000"/>
              </a:lnSpc>
              <a:spcBef>
                <a:spcPct val="0"/>
              </a:spcBef>
              <a:spcAft>
                <a:spcPct val="0"/>
              </a:spcAft>
            </a:pPr>
            <a:r>
              <a:rPr lang="en-US" dirty="0"/>
              <a:t>7. Why is MPI called distributed-memory programming</a:t>
            </a:r>
            <a:r>
              <a:rPr lang="en-US" dirty="0" smtClean="0"/>
              <a:t>?</a:t>
            </a:r>
          </a:p>
          <a:p>
            <a:pPr lvl="0" algn="l" eaLnBrk="0" fontAlgn="base" hangingPunct="0">
              <a:lnSpc>
                <a:spcPct val="100000"/>
              </a:lnSpc>
              <a:spcBef>
                <a:spcPct val="0"/>
              </a:spcBef>
              <a:spcAft>
                <a:spcPct val="0"/>
              </a:spcAft>
            </a:pPr>
            <a:r>
              <a:rPr lang="en-US" dirty="0"/>
              <a:t>Because memory is </a:t>
            </a:r>
            <a:r>
              <a:rPr lang="en-US" b="1" dirty="0"/>
              <a:t>physically distributed</a:t>
            </a:r>
            <a:r>
              <a:rPr lang="en-US" dirty="0"/>
              <a:t> among different processes/nodes</a:t>
            </a:r>
            <a:r>
              <a:rPr lang="en-US" dirty="0" smtClean="0"/>
              <a:t>.</a:t>
            </a:r>
          </a:p>
          <a:p>
            <a:pPr lvl="0" algn="l" eaLnBrk="0" fontAlgn="base" hangingPunct="0">
              <a:lnSpc>
                <a:spcPct val="100000"/>
              </a:lnSpc>
              <a:spcBef>
                <a:spcPct val="0"/>
              </a:spcBef>
              <a:spcAft>
                <a:spcPct val="0"/>
              </a:spcAft>
            </a:pPr>
            <a:r>
              <a:rPr lang="en-US" dirty="0"/>
              <a:t>Shared </a:t>
            </a:r>
            <a:r>
              <a:rPr lang="en-US" dirty="0" smtClean="0"/>
              <a:t>memory</a:t>
            </a:r>
          </a:p>
          <a:p>
            <a:pPr lvl="0" algn="l" eaLnBrk="0" fontAlgn="base" hangingPunct="0">
              <a:lnSpc>
                <a:spcPct val="100000"/>
              </a:lnSpc>
              <a:spcBef>
                <a:spcPct val="0"/>
              </a:spcBef>
              <a:spcAft>
                <a:spcPct val="0"/>
              </a:spcAft>
            </a:pPr>
            <a:r>
              <a:rPr lang="en-US" altLang="en-US" b="1" dirty="0">
                <a:latin typeface="Arial" panose="020B0604020202020204" pitchFamily="34" charset="0"/>
                <a:cs typeface="Arial" panose="020B0604020202020204" pitchFamily="34" charset="0"/>
              </a:rPr>
              <a:t> Shared Memory</a:t>
            </a:r>
          </a:p>
          <a:p>
            <a:pPr lvl="0" algn="l" eaLnBrk="0" fontAlgn="base" hangingPunct="0">
              <a:lnSpc>
                <a:spcPct val="100000"/>
              </a:lnSpc>
              <a:spcBef>
                <a:spcPct val="0"/>
              </a:spcBef>
              <a:spcAft>
                <a:spcPct val="0"/>
              </a:spcAft>
            </a:pPr>
            <a:r>
              <a:rPr lang="en-US" altLang="en-US" b="1" dirty="0">
                <a:latin typeface="Arial" panose="020B0604020202020204" pitchFamily="34" charset="0"/>
                <a:cs typeface="Arial" panose="020B0604020202020204" pitchFamily="34" charset="0"/>
              </a:rPr>
              <a:t>   ┌─────────────────┐</a:t>
            </a:r>
          </a:p>
          <a:p>
            <a:pPr lvl="0" algn="l" eaLnBrk="0" fontAlgn="base" hangingPunct="0">
              <a:lnSpc>
                <a:spcPct val="100000"/>
              </a:lnSpc>
              <a:spcBef>
                <a:spcPct val="0"/>
              </a:spcBef>
              <a:spcAft>
                <a:spcPct val="0"/>
              </a:spcAft>
            </a:pPr>
            <a:r>
              <a:rPr lang="en-US" altLang="en-US" b="1" dirty="0">
                <a:latin typeface="Arial" panose="020B0604020202020204" pitchFamily="34" charset="0"/>
                <a:cs typeface="Arial" panose="020B0604020202020204" pitchFamily="34" charset="0"/>
              </a:rPr>
              <a:t>   │      Memory     │</a:t>
            </a:r>
          </a:p>
          <a:p>
            <a:pPr algn="l" eaLnBrk="0" fontAlgn="base" hangingPunct="0">
              <a:lnSpc>
                <a:spcPct val="100000"/>
              </a:lnSpc>
              <a:spcBef>
                <a:spcPct val="0"/>
              </a:spcBef>
              <a:spcAft>
                <a:spcPct val="0"/>
              </a:spcAft>
            </a:pPr>
            <a:r>
              <a:rPr lang="en-US" altLang="en-US" b="1" dirty="0">
                <a:latin typeface="Arial" panose="020B0604020202020204" pitchFamily="34" charset="0"/>
                <a:cs typeface="Arial" panose="020B0604020202020204" pitchFamily="34" charset="0"/>
              </a:rPr>
              <a:t>   </a:t>
            </a:r>
            <a:r>
              <a:rPr lang="en-US" altLang="en-US" b="1" dirty="0" smtClean="0">
                <a:latin typeface="Arial" panose="020B0604020202020204" pitchFamily="34" charset="0"/>
                <a:cs typeface="Arial" panose="020B0604020202020204" pitchFamily="34" charset="0"/>
              </a:rPr>
              <a:t>└─────────────────┘        </a:t>
            </a:r>
            <a:r>
              <a:rPr lang="en-US" dirty="0" smtClean="0"/>
              <a:t>All </a:t>
            </a:r>
            <a:r>
              <a:rPr lang="en-US" dirty="0"/>
              <a:t>processors can access </a:t>
            </a:r>
            <a:r>
              <a:rPr lang="en-US" b="1" dirty="0"/>
              <a:t>the same memory</a:t>
            </a:r>
            <a:r>
              <a:rPr lang="en-US" b="1" dirty="0" smtClean="0"/>
              <a:t>.</a:t>
            </a:r>
            <a:endParaRPr lang="en-US" altLang="en-US" b="1" dirty="0">
              <a:latin typeface="Arial" panose="020B0604020202020204" pitchFamily="34" charset="0"/>
              <a:cs typeface="Arial" panose="020B0604020202020204" pitchFamily="34" charset="0"/>
            </a:endParaRPr>
          </a:p>
          <a:p>
            <a:pPr lvl="0" algn="l" eaLnBrk="0" fontAlgn="base" hangingPunct="0">
              <a:lnSpc>
                <a:spcPct val="100000"/>
              </a:lnSpc>
              <a:spcBef>
                <a:spcPct val="0"/>
              </a:spcBef>
              <a:spcAft>
                <a:spcPct val="0"/>
              </a:spcAft>
            </a:pPr>
            <a:r>
              <a:rPr lang="en-US" altLang="en-US" b="1" dirty="0">
                <a:latin typeface="Arial" panose="020B0604020202020204" pitchFamily="34" charset="0"/>
                <a:cs typeface="Arial" panose="020B0604020202020204" pitchFamily="34" charset="0"/>
              </a:rPr>
              <a:t>       ↑  </a:t>
            </a:r>
            <a:r>
              <a:rPr lang="en-US" altLang="en-US" b="1" dirty="0" smtClean="0">
                <a:latin typeface="Arial" panose="020B0604020202020204" pitchFamily="34" charset="0"/>
                <a:cs typeface="Arial" panose="020B0604020202020204" pitchFamily="34" charset="0"/>
              </a:rPr>
              <a:t>     </a:t>
            </a:r>
            <a:r>
              <a:rPr lang="en-US" altLang="en-US" b="1" dirty="0">
                <a:latin typeface="Arial" panose="020B0604020202020204" pitchFamily="34" charset="0"/>
                <a:cs typeface="Arial" panose="020B0604020202020204" pitchFamily="34" charset="0"/>
              </a:rPr>
              <a:t>↑  </a:t>
            </a:r>
            <a:r>
              <a:rPr lang="en-US" altLang="en-US" b="1" dirty="0" smtClean="0">
                <a:latin typeface="Arial" panose="020B0604020202020204" pitchFamily="34" charset="0"/>
                <a:cs typeface="Arial" panose="020B0604020202020204" pitchFamily="34" charset="0"/>
              </a:rPr>
              <a:t>        </a:t>
            </a:r>
            <a:r>
              <a:rPr lang="en-US" altLang="en-US" b="1" dirty="0">
                <a:latin typeface="Arial" panose="020B0604020202020204" pitchFamily="34" charset="0"/>
                <a:cs typeface="Arial" panose="020B0604020202020204" pitchFamily="34" charset="0"/>
              </a:rPr>
              <a:t>↑</a:t>
            </a:r>
          </a:p>
          <a:p>
            <a:pPr lvl="0" algn="l" eaLnBrk="0" fontAlgn="base" hangingPunct="0">
              <a:lnSpc>
                <a:spcPct val="100000"/>
              </a:lnSpc>
              <a:spcBef>
                <a:spcPct val="0"/>
              </a:spcBef>
              <a:spcAft>
                <a:spcPct val="0"/>
              </a:spcAft>
            </a:pPr>
            <a:r>
              <a:rPr lang="en-US" altLang="en-US" b="1" dirty="0">
                <a:latin typeface="Arial" panose="020B0604020202020204" pitchFamily="34" charset="0"/>
                <a:cs typeface="Arial" panose="020B0604020202020204" pitchFamily="34" charset="0"/>
              </a:rPr>
              <a:t>      P0  </a:t>
            </a:r>
            <a:r>
              <a:rPr lang="en-US" altLang="en-US" b="1" dirty="0" smtClean="0">
                <a:latin typeface="Arial" panose="020B0604020202020204" pitchFamily="34" charset="0"/>
                <a:cs typeface="Arial" panose="020B0604020202020204" pitchFamily="34" charset="0"/>
              </a:rPr>
              <a:t>   </a:t>
            </a:r>
            <a:r>
              <a:rPr lang="en-US" altLang="en-US" b="1" dirty="0">
                <a:latin typeface="Arial" panose="020B0604020202020204" pitchFamily="34" charset="0"/>
                <a:cs typeface="Arial" panose="020B0604020202020204" pitchFamily="34" charset="0"/>
              </a:rPr>
              <a:t>P1   </a:t>
            </a:r>
            <a:r>
              <a:rPr lang="en-US" altLang="en-US" b="1" dirty="0" smtClean="0">
                <a:latin typeface="Arial" panose="020B0604020202020204" pitchFamily="34" charset="0"/>
                <a:cs typeface="Arial" panose="020B0604020202020204" pitchFamily="34" charset="0"/>
              </a:rPr>
              <a:t>    P2</a:t>
            </a:r>
          </a:p>
          <a:p>
            <a:pPr lvl="0" algn="l" eaLnBrk="0" fontAlgn="base" hangingPunct="0">
              <a:lnSpc>
                <a:spcPct val="100000"/>
              </a:lnSpc>
              <a:spcBef>
                <a:spcPct val="0"/>
              </a:spcBef>
              <a:spcAft>
                <a:spcPct val="0"/>
              </a:spcAft>
            </a:pPr>
            <a:r>
              <a:rPr lang="en-US" b="1" dirty="0" smtClean="0"/>
              <a:t>Distributed memory</a:t>
            </a:r>
          </a:p>
          <a:p>
            <a:pPr lvl="0" algn="l" eaLnBrk="0" fontAlgn="base" hangingPunct="0">
              <a:lnSpc>
                <a:spcPct val="100000"/>
              </a:lnSpc>
              <a:spcBef>
                <a:spcPct val="0"/>
              </a:spcBef>
              <a:spcAft>
                <a:spcPct val="0"/>
              </a:spcAft>
            </a:pPr>
            <a:r>
              <a:rPr lang="en-US" altLang="en-US" b="1" dirty="0">
                <a:latin typeface="Arial" panose="020B0604020202020204" pitchFamily="34" charset="0"/>
                <a:cs typeface="Arial" panose="020B0604020202020204" pitchFamily="34" charset="0"/>
              </a:rPr>
              <a:t> P0             P1             P2</a:t>
            </a:r>
          </a:p>
          <a:p>
            <a:pPr lvl="0" algn="l" eaLnBrk="0" fontAlgn="base" hangingPunct="0">
              <a:lnSpc>
                <a:spcPct val="100000"/>
              </a:lnSpc>
              <a:spcBef>
                <a:spcPct val="0"/>
              </a:spcBef>
              <a:spcAft>
                <a:spcPct val="0"/>
              </a:spcAft>
            </a:pPr>
            <a:r>
              <a:rPr lang="en-US" altLang="en-US" b="1" dirty="0">
                <a:latin typeface="Arial" panose="020B0604020202020204" pitchFamily="34" charset="0"/>
                <a:cs typeface="Arial" panose="020B0604020202020204" pitchFamily="34" charset="0"/>
              </a:rPr>
              <a:t> ┌─────┐        ┌─────┐        ┌─────┐</a:t>
            </a:r>
          </a:p>
          <a:p>
            <a:pPr lvl="0" algn="l" eaLnBrk="0" fontAlgn="base" hangingPunct="0">
              <a:lnSpc>
                <a:spcPct val="100000"/>
              </a:lnSpc>
              <a:spcBef>
                <a:spcPct val="0"/>
              </a:spcBef>
              <a:spcAft>
                <a:spcPct val="0"/>
              </a:spcAft>
            </a:pPr>
            <a:r>
              <a:rPr lang="en-US" altLang="en-US" b="1" dirty="0">
                <a:latin typeface="Arial" panose="020B0604020202020204" pitchFamily="34" charset="0"/>
                <a:cs typeface="Arial" panose="020B0604020202020204" pitchFamily="34" charset="0"/>
              </a:rPr>
              <a:t> │Mem 0│        │Mem 1│        │Mem 2│</a:t>
            </a:r>
          </a:p>
          <a:p>
            <a:pPr lvl="0" algn="l" eaLnBrk="0" fontAlgn="base" hangingPunct="0">
              <a:lnSpc>
                <a:spcPct val="100000"/>
              </a:lnSpc>
              <a:spcBef>
                <a:spcPct val="0"/>
              </a:spcBef>
              <a:spcAft>
                <a:spcPct val="0"/>
              </a:spcAft>
            </a:pPr>
            <a:r>
              <a:rPr lang="en-US" altLang="en-US" b="1" dirty="0">
                <a:latin typeface="Arial" panose="020B0604020202020204" pitchFamily="34" charset="0"/>
                <a:cs typeface="Arial" panose="020B0604020202020204" pitchFamily="34" charset="0"/>
              </a:rPr>
              <a:t> └─────┘        └─────┘        └─────┘</a:t>
            </a:r>
          </a:p>
          <a:p>
            <a:pPr lvl="0" algn="l" eaLnBrk="0" fontAlgn="base" hangingPunct="0">
              <a:lnSpc>
                <a:spcPct val="100000"/>
              </a:lnSpc>
              <a:spcBef>
                <a:spcPct val="0"/>
              </a:spcBef>
              <a:spcAft>
                <a:spcPct val="0"/>
              </a:spcAft>
            </a:pPr>
            <a:r>
              <a:rPr lang="en-US" altLang="en-US" b="1" dirty="0">
                <a:latin typeface="Arial" panose="020B0604020202020204" pitchFamily="34" charset="0"/>
                <a:cs typeface="Arial" panose="020B0604020202020204" pitchFamily="34" charset="0"/>
              </a:rPr>
              <a:t>    │              │              │</a:t>
            </a:r>
          </a:p>
          <a:p>
            <a:pPr lvl="0" algn="l" eaLnBrk="0" fontAlgn="base" hangingPunct="0">
              <a:lnSpc>
                <a:spcPct val="100000"/>
              </a:lnSpc>
              <a:spcBef>
                <a:spcPct val="0"/>
              </a:spcBef>
              <a:spcAft>
                <a:spcPct val="0"/>
              </a:spcAft>
            </a:pPr>
            <a:r>
              <a:rPr lang="en-US" altLang="en-US" b="1" dirty="0">
                <a:latin typeface="Arial" panose="020B0604020202020204" pitchFamily="34" charset="0"/>
                <a:cs typeface="Arial" panose="020B0604020202020204" pitchFamily="34" charset="0"/>
              </a:rPr>
              <a:t>  </a:t>
            </a:r>
            <a:r>
              <a:rPr lang="en-US" altLang="en-US" b="1" dirty="0" smtClean="0">
                <a:latin typeface="Arial" panose="020B0604020202020204" pitchFamily="34" charset="0"/>
                <a:cs typeface="Arial" panose="020B0604020202020204" pitchFamily="34" charset="0"/>
              </a:rPr>
              <a:t>  </a:t>
            </a:r>
            <a:r>
              <a:rPr lang="en-US" altLang="en-US" b="1" dirty="0">
                <a:latin typeface="Arial" panose="020B0604020202020204" pitchFamily="34" charset="0"/>
                <a:cs typeface="Arial" panose="020B0604020202020204" pitchFamily="34" charset="0"/>
              </a:rPr>
              <a:t>└──────── Network </a:t>
            </a:r>
            <a:r>
              <a:rPr lang="en-US" altLang="en-US" b="1" dirty="0" smtClean="0">
                <a:latin typeface="Arial" panose="020B0604020202020204" pitchFamily="34" charset="0"/>
                <a:cs typeface="Arial" panose="020B0604020202020204" pitchFamily="34" charset="0"/>
              </a:rPr>
              <a:t>────────────┘</a:t>
            </a:r>
            <a:r>
              <a:rPr lang="en-US" dirty="0"/>
              <a:t>Each processor has its </a:t>
            </a:r>
            <a:r>
              <a:rPr lang="en-US" b="1" dirty="0"/>
              <a:t>own memory</a:t>
            </a:r>
            <a:r>
              <a:rPr lang="en-US" dirty="0"/>
              <a:t>.</a:t>
            </a:r>
            <a:endParaRPr lang="en-US" altLang="en-US" b="1" dirty="0" smtClean="0">
              <a:latin typeface="Arial" panose="020B0604020202020204" pitchFamily="34" charset="0"/>
              <a:cs typeface="Arial" panose="020B0604020202020204" pitchFamily="34" charset="0"/>
            </a:endParaRPr>
          </a:p>
          <a:p>
            <a:pPr lvl="0" algn="l" eaLnBrk="0" fontAlgn="base" hangingPunct="0">
              <a:lnSpc>
                <a:spcPct val="100000"/>
              </a:lnSpc>
              <a:spcBef>
                <a:spcPct val="0"/>
              </a:spcBef>
              <a:spcAft>
                <a:spcPct val="0"/>
              </a:spcAft>
            </a:pPr>
            <a:endParaRPr kumimoji="0" lang="en-US" altLang="en-US"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37459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468" y="945221"/>
            <a:ext cx="10668000" cy="534257"/>
          </a:xfrm>
        </p:spPr>
        <p:txBody>
          <a:bodyPr>
            <a:normAutofit fontScale="90000"/>
          </a:bodyPr>
          <a:lstStyle/>
          <a:p>
            <a:r>
              <a:rPr lang="en-US" sz="3100" b="1" dirty="0" smtClean="0">
                <a:latin typeface="Arial" panose="020B0604020202020204" pitchFamily="34" charset="0"/>
                <a:cs typeface="Arial" panose="020B0604020202020204" pitchFamily="34" charset="0"/>
              </a:rPr>
              <a:t/>
            </a:r>
            <a:br>
              <a:rPr lang="en-US" sz="3100" b="1" dirty="0" smtClean="0">
                <a:latin typeface="Arial" panose="020B0604020202020204" pitchFamily="34" charset="0"/>
                <a:cs typeface="Arial" panose="020B0604020202020204" pitchFamily="34" charset="0"/>
              </a:rPr>
            </a:br>
            <a:r>
              <a:rPr lang="en-US" sz="3100" b="1" dirty="0">
                <a:latin typeface="Arial" panose="020B0604020202020204" pitchFamily="34" charset="0"/>
                <a:cs typeface="Arial" panose="020B0604020202020204" pitchFamily="34" charset="0"/>
              </a:rPr>
              <a:t/>
            </a:r>
            <a:br>
              <a:rPr lang="en-US" sz="3100" b="1" dirty="0">
                <a:latin typeface="Arial" panose="020B0604020202020204" pitchFamily="34" charset="0"/>
                <a:cs typeface="Arial" panose="020B0604020202020204" pitchFamily="34" charset="0"/>
              </a:rPr>
            </a:br>
            <a:r>
              <a:rPr lang="en-US" sz="3100" b="1" dirty="0" smtClean="0">
                <a:latin typeface="Arial" panose="020B0604020202020204" pitchFamily="34" charset="0"/>
                <a:cs typeface="Arial" panose="020B0604020202020204" pitchFamily="34" charset="0"/>
              </a:rPr>
              <a:t/>
            </a:r>
            <a:br>
              <a:rPr lang="en-US" sz="3100" b="1" dirty="0" smtClean="0">
                <a:latin typeface="Arial" panose="020B0604020202020204" pitchFamily="34" charset="0"/>
                <a:cs typeface="Arial" panose="020B0604020202020204" pitchFamily="34" charset="0"/>
              </a:rPr>
            </a:br>
            <a:r>
              <a:rPr lang="en-US" sz="3100" b="1" dirty="0">
                <a:latin typeface="Arial" panose="020B0604020202020204" pitchFamily="34" charset="0"/>
                <a:cs typeface="Arial" panose="020B0604020202020204" pitchFamily="34" charset="0"/>
              </a:rPr>
              <a:t/>
            </a:r>
            <a:br>
              <a:rPr lang="en-US" sz="3100" b="1" dirty="0">
                <a:latin typeface="Arial" panose="020B0604020202020204" pitchFamily="34" charset="0"/>
                <a:cs typeface="Arial" panose="020B0604020202020204" pitchFamily="34" charset="0"/>
              </a:rPr>
            </a:br>
            <a:r>
              <a:rPr lang="en-US" sz="3100" b="1" dirty="0" smtClean="0">
                <a:latin typeface="Arial" panose="020B0604020202020204" pitchFamily="34" charset="0"/>
                <a:cs typeface="Arial" panose="020B0604020202020204" pitchFamily="34" charset="0"/>
              </a:rPr>
              <a:t/>
            </a:r>
            <a:br>
              <a:rPr lang="en-US" sz="3100" b="1" dirty="0" smtClean="0">
                <a:latin typeface="Arial" panose="020B0604020202020204" pitchFamily="34" charset="0"/>
                <a:cs typeface="Arial" panose="020B0604020202020204" pitchFamily="34" charset="0"/>
              </a:rPr>
            </a:br>
            <a:r>
              <a:rPr lang="en-US" sz="3100" b="1" dirty="0" smtClean="0">
                <a:latin typeface="Arial" panose="020B0604020202020204" pitchFamily="34" charset="0"/>
                <a:cs typeface="Arial" panose="020B0604020202020204" pitchFamily="34" charset="0"/>
              </a:rPr>
              <a:t/>
            </a:r>
            <a:br>
              <a:rPr lang="en-US" sz="3100" b="1" dirty="0" smtClean="0">
                <a:latin typeface="Arial" panose="020B0604020202020204" pitchFamily="34" charset="0"/>
                <a:cs typeface="Arial" panose="020B0604020202020204" pitchFamily="34" charset="0"/>
              </a:rPr>
            </a:br>
            <a:r>
              <a:rPr lang="en-US" sz="3100" b="1" dirty="0">
                <a:latin typeface="Arial" panose="020B0604020202020204" pitchFamily="34" charset="0"/>
                <a:cs typeface="Arial" panose="020B0604020202020204" pitchFamily="34" charset="0"/>
              </a:rPr>
              <a:t/>
            </a:r>
            <a:br>
              <a:rPr lang="en-US" sz="3100" b="1" dirty="0">
                <a:latin typeface="Arial" panose="020B0604020202020204" pitchFamily="34" charset="0"/>
                <a:cs typeface="Arial" panose="020B0604020202020204" pitchFamily="34" charset="0"/>
              </a:rPr>
            </a:br>
            <a:r>
              <a:rPr lang="en-US" sz="3100" b="1" dirty="0" smtClean="0">
                <a:latin typeface="Arial" panose="020B0604020202020204" pitchFamily="34" charset="0"/>
                <a:cs typeface="Arial" panose="020B0604020202020204" pitchFamily="34" charset="0"/>
              </a:rPr>
              <a:t>8</a:t>
            </a:r>
            <a:r>
              <a:rPr lang="en-US" sz="3100" b="1" dirty="0">
                <a:latin typeface="Arial" panose="020B0604020202020204" pitchFamily="34" charset="0"/>
                <a:cs typeface="Arial" panose="020B0604020202020204" pitchFamily="34" charset="0"/>
              </a:rPr>
              <a:t>. Example: Adding numbers using MPI</a:t>
            </a:r>
            <a:r>
              <a:rPr lang="en-US" dirty="0"/>
              <a:t/>
            </a:r>
            <a:br>
              <a:rPr lang="en-US" dirty="0"/>
            </a:br>
            <a:endParaRPr lang="en-US" dirty="0"/>
          </a:p>
        </p:txBody>
      </p:sp>
      <p:sp>
        <p:nvSpPr>
          <p:cNvPr id="3" name="Subtitle 2"/>
          <p:cNvSpPr>
            <a:spLocks noGrp="1"/>
          </p:cNvSpPr>
          <p:nvPr>
            <p:ph type="subTitle" idx="1"/>
          </p:nvPr>
        </p:nvSpPr>
        <p:spPr>
          <a:xfrm>
            <a:off x="164387" y="945221"/>
            <a:ext cx="11887200" cy="5912779"/>
          </a:xfrm>
        </p:spPr>
        <p:txBody>
          <a:bodyPr>
            <a:normAutofit fontScale="85000" lnSpcReduction="20000"/>
          </a:bodyPr>
          <a:lstStyle/>
          <a:p>
            <a:r>
              <a:rPr lang="en-US" dirty="0"/>
              <a:t>Suppose we want to calculate</a:t>
            </a:r>
            <a:r>
              <a:rPr lang="en-US" dirty="0" smtClean="0"/>
              <a:t>:</a:t>
            </a:r>
          </a:p>
          <a:p>
            <a:r>
              <a:rPr lang="en-US" dirty="0"/>
              <a:t>1 + 2 + 3 + 4 + 5 + 6 + 7 + </a:t>
            </a:r>
            <a:r>
              <a:rPr lang="en-US" dirty="0" smtClean="0"/>
              <a:t>8</a:t>
            </a:r>
          </a:p>
          <a:p>
            <a:r>
              <a:rPr lang="en-US" dirty="0"/>
              <a:t>Using 4 processes, we can divide the work</a:t>
            </a:r>
            <a:r>
              <a:rPr lang="en-US" dirty="0" smtClean="0"/>
              <a:t>:</a:t>
            </a:r>
          </a:p>
          <a:p>
            <a:r>
              <a:rPr lang="sv-SE" dirty="0"/>
              <a:t>Process 0 → 1 + 2</a:t>
            </a:r>
          </a:p>
          <a:p>
            <a:r>
              <a:rPr lang="sv-SE" dirty="0"/>
              <a:t>Process 1 → 3 + 4</a:t>
            </a:r>
          </a:p>
          <a:p>
            <a:r>
              <a:rPr lang="sv-SE" dirty="0"/>
              <a:t>Process 2 → 5 + 6</a:t>
            </a:r>
          </a:p>
          <a:p>
            <a:r>
              <a:rPr lang="sv-SE" dirty="0"/>
              <a:t>Process 3 → 7 + </a:t>
            </a:r>
            <a:r>
              <a:rPr lang="sv-SE" dirty="0" smtClean="0"/>
              <a:t>8</a:t>
            </a:r>
          </a:p>
          <a:p>
            <a:r>
              <a:rPr lang="en-US" dirty="0"/>
              <a:t>Each process calculates its </a:t>
            </a:r>
            <a:r>
              <a:rPr lang="en-US" b="1" dirty="0"/>
              <a:t>local sum</a:t>
            </a:r>
            <a:r>
              <a:rPr lang="en-US" dirty="0" smtClean="0"/>
              <a:t>:</a:t>
            </a:r>
          </a:p>
          <a:p>
            <a:r>
              <a:rPr lang="en-US" dirty="0"/>
              <a:t>P0 → 3</a:t>
            </a:r>
          </a:p>
          <a:p>
            <a:r>
              <a:rPr lang="en-US" dirty="0"/>
              <a:t>P1 → 7</a:t>
            </a:r>
          </a:p>
          <a:p>
            <a:r>
              <a:rPr lang="en-US" dirty="0"/>
              <a:t>P2 → 11</a:t>
            </a:r>
          </a:p>
          <a:p>
            <a:r>
              <a:rPr lang="en-US" dirty="0"/>
              <a:t>P3 → </a:t>
            </a:r>
            <a:r>
              <a:rPr lang="en-US" dirty="0" smtClean="0"/>
              <a:t>15</a:t>
            </a:r>
          </a:p>
          <a:p>
            <a:r>
              <a:rPr lang="en-US" dirty="0"/>
              <a:t>Then the results are combined</a:t>
            </a:r>
            <a:r>
              <a:rPr lang="en-US" dirty="0" smtClean="0"/>
              <a:t>:</a:t>
            </a:r>
          </a:p>
          <a:p>
            <a:r>
              <a:rPr lang="en-US" dirty="0"/>
              <a:t>3 + 7 + 11 + 15 = 36</a:t>
            </a:r>
          </a:p>
        </p:txBody>
      </p:sp>
    </p:spTree>
    <p:extLst>
      <p:ext uri="{BB962C8B-B14F-4D97-AF65-F5344CB8AC3E}">
        <p14:creationId xmlns:p14="http://schemas.microsoft.com/office/powerpoint/2010/main" val="183036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90418" y="-1"/>
            <a:ext cx="11342670" cy="6729573"/>
          </a:xfrm>
        </p:spPr>
        <p:txBody>
          <a:bodyPr>
            <a:normAutofit fontScale="92500" lnSpcReduction="20000"/>
          </a:bodyPr>
          <a:lstStyle/>
          <a:p>
            <a:r>
              <a:rPr lang="en-US" dirty="0"/>
              <a:t>So</a:t>
            </a:r>
            <a:r>
              <a:rPr lang="en-US" dirty="0" smtClean="0"/>
              <a:t>:</a:t>
            </a:r>
          </a:p>
          <a:p>
            <a:r>
              <a:rPr lang="en-US" dirty="0"/>
              <a:t> MPI Program</a:t>
            </a:r>
          </a:p>
          <a:p>
            <a:r>
              <a:rPr lang="en-US" dirty="0"/>
              <a:t>                 │</a:t>
            </a:r>
          </a:p>
          <a:p>
            <a:r>
              <a:rPr lang="en-US" dirty="0"/>
              <a:t>       ┌─────────┼─────────┐</a:t>
            </a:r>
          </a:p>
          <a:p>
            <a:r>
              <a:rPr lang="en-US" dirty="0"/>
              <a:t>       ↓         ↓         ↓</a:t>
            </a:r>
          </a:p>
          <a:p>
            <a:r>
              <a:rPr lang="en-US" dirty="0"/>
              <a:t>      P0        P1        P2        P3</a:t>
            </a:r>
          </a:p>
          <a:p>
            <a:r>
              <a:rPr lang="en-US" dirty="0"/>
              <a:t>     1+2       3+4       5+6       7+8</a:t>
            </a:r>
          </a:p>
          <a:p>
            <a:r>
              <a:rPr lang="en-US" dirty="0"/>
              <a:t>       ↓         ↓         ↓         ↓</a:t>
            </a:r>
          </a:p>
          <a:p>
            <a:r>
              <a:rPr lang="en-US" dirty="0"/>
              <a:t>       3         7        11        15</a:t>
            </a:r>
          </a:p>
          <a:p>
            <a:r>
              <a:rPr lang="en-US" dirty="0"/>
              <a:t>       └─────────┴─────────┴─────────┘</a:t>
            </a:r>
          </a:p>
          <a:p>
            <a:r>
              <a:rPr lang="en-US" dirty="0"/>
              <a:t>                     ↓</a:t>
            </a:r>
          </a:p>
          <a:p>
            <a:r>
              <a:rPr lang="en-US" dirty="0"/>
              <a:t>                   </a:t>
            </a:r>
            <a:r>
              <a:rPr lang="en-US" dirty="0" smtClean="0"/>
              <a:t>36</a:t>
            </a:r>
          </a:p>
          <a:p>
            <a:r>
              <a:rPr lang="en-US" dirty="0"/>
              <a:t>MPI provides a convenient operation called </a:t>
            </a:r>
            <a:r>
              <a:rPr lang="en-US" dirty="0" err="1"/>
              <a:t>MPI_Reduce</a:t>
            </a:r>
            <a:r>
              <a:rPr lang="en-US" dirty="0"/>
              <a:t>() to perform this type of combination.</a:t>
            </a:r>
          </a:p>
        </p:txBody>
      </p:sp>
    </p:spTree>
    <p:extLst>
      <p:ext uri="{BB962C8B-B14F-4D97-AF65-F5344CB8AC3E}">
        <p14:creationId xmlns:p14="http://schemas.microsoft.com/office/powerpoint/2010/main" val="3270551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19100" y="0"/>
            <a:ext cx="11315700" cy="6477000"/>
          </a:xfrm>
        </p:spPr>
        <p:txBody>
          <a:bodyPr>
            <a:normAutofit lnSpcReduction="10000"/>
          </a:bodyPr>
          <a:lstStyle/>
          <a:p>
            <a:pPr algn="just"/>
            <a:r>
              <a:rPr lang="en-US" dirty="0"/>
              <a:t>9</a:t>
            </a:r>
            <a:r>
              <a:rPr lang="en-US" sz="2600" dirty="0">
                <a:latin typeface="Arial" panose="020B0604020202020204" pitchFamily="34" charset="0"/>
                <a:cs typeface="Arial" panose="020B0604020202020204" pitchFamily="34" charset="0"/>
              </a:rPr>
              <a:t>. Advantages of </a:t>
            </a:r>
            <a:r>
              <a:rPr lang="en-US" sz="2600" dirty="0" smtClean="0">
                <a:latin typeface="Arial" panose="020B0604020202020204" pitchFamily="34" charset="0"/>
                <a:cs typeface="Arial" panose="020B0604020202020204" pitchFamily="34" charset="0"/>
              </a:rPr>
              <a:t>MPI</a:t>
            </a:r>
          </a:p>
          <a:p>
            <a:pPr marL="457200" indent="-457200" algn="just">
              <a:buAutoNum type="arabicPeriod"/>
            </a:pPr>
            <a:r>
              <a:rPr lang="en-US" sz="2600" dirty="0" smtClean="0">
                <a:latin typeface="Arial" panose="020B0604020202020204" pitchFamily="34" charset="0"/>
                <a:cs typeface="Arial" panose="020B0604020202020204" pitchFamily="34" charset="0"/>
              </a:rPr>
              <a:t>High </a:t>
            </a:r>
            <a:r>
              <a:rPr lang="en-US" sz="2600" dirty="0" err="1">
                <a:latin typeface="Arial" panose="020B0604020202020204" pitchFamily="34" charset="0"/>
                <a:cs typeface="Arial" panose="020B0604020202020204" pitchFamily="34" charset="0"/>
              </a:rPr>
              <a:t>performanceSuitable</a:t>
            </a:r>
            <a:r>
              <a:rPr lang="en-US" sz="2600" dirty="0">
                <a:latin typeface="Arial" panose="020B0604020202020204" pitchFamily="34" charset="0"/>
                <a:cs typeface="Arial" panose="020B0604020202020204" pitchFamily="34" charset="0"/>
              </a:rPr>
              <a:t> for large parallel computations</a:t>
            </a:r>
            <a:r>
              <a:rPr lang="en-US" sz="2600" dirty="0" smtClean="0">
                <a:latin typeface="Arial" panose="020B0604020202020204" pitchFamily="34" charset="0"/>
                <a:cs typeface="Arial" panose="020B0604020202020204" pitchFamily="34" charset="0"/>
              </a:rPr>
              <a:t>.</a:t>
            </a:r>
          </a:p>
          <a:p>
            <a:pPr algn="just"/>
            <a:r>
              <a:rPr lang="en-US" sz="2600" dirty="0" smtClean="0">
                <a:latin typeface="Arial" panose="020B0604020202020204" pitchFamily="34" charset="0"/>
                <a:cs typeface="Arial" panose="020B0604020202020204" pitchFamily="34" charset="0"/>
              </a:rPr>
              <a:t>2</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ScalableCan</a:t>
            </a:r>
            <a:r>
              <a:rPr lang="en-US" sz="2600" dirty="0">
                <a:latin typeface="Arial" panose="020B0604020202020204" pitchFamily="34" charset="0"/>
                <a:cs typeface="Arial" panose="020B0604020202020204" pitchFamily="34" charset="0"/>
              </a:rPr>
              <a:t> run on a small number of processors or thousands of processors</a:t>
            </a:r>
            <a:r>
              <a:rPr lang="en-US" sz="2600" dirty="0" smtClean="0">
                <a:latin typeface="Arial" panose="020B0604020202020204" pitchFamily="34" charset="0"/>
                <a:cs typeface="Arial" panose="020B0604020202020204" pitchFamily="34" charset="0"/>
              </a:rPr>
              <a:t>.</a:t>
            </a:r>
          </a:p>
          <a:p>
            <a:pPr algn="just"/>
            <a:r>
              <a:rPr lang="en-US" sz="2600" dirty="0" smtClean="0">
                <a:latin typeface="Arial" panose="020B0604020202020204" pitchFamily="34" charset="0"/>
                <a:cs typeface="Arial" panose="020B0604020202020204" pitchFamily="34" charset="0"/>
              </a:rPr>
              <a:t>3</a:t>
            </a:r>
            <a:r>
              <a:rPr lang="en-US" sz="2600" dirty="0">
                <a:latin typeface="Arial" panose="020B0604020202020204" pitchFamily="34" charset="0"/>
                <a:cs typeface="Arial" panose="020B0604020202020204" pitchFamily="34" charset="0"/>
              </a:rPr>
              <a:t>. Works across multiple </a:t>
            </a:r>
            <a:r>
              <a:rPr lang="en-US" sz="2600" dirty="0" err="1">
                <a:latin typeface="Arial" panose="020B0604020202020204" pitchFamily="34" charset="0"/>
                <a:cs typeface="Arial" panose="020B0604020202020204" pitchFamily="34" charset="0"/>
              </a:rPr>
              <a:t>computersMPI</a:t>
            </a:r>
            <a:r>
              <a:rPr lang="en-US" sz="2600" dirty="0">
                <a:latin typeface="Arial" panose="020B0604020202020204" pitchFamily="34" charset="0"/>
                <a:cs typeface="Arial" panose="020B0604020202020204" pitchFamily="34" charset="0"/>
              </a:rPr>
              <a:t> programs can run on a cluster</a:t>
            </a:r>
            <a:r>
              <a:rPr lang="en-US" sz="2600" dirty="0" smtClean="0">
                <a:latin typeface="Arial" panose="020B0604020202020204" pitchFamily="34" charset="0"/>
                <a:cs typeface="Arial" panose="020B0604020202020204" pitchFamily="34" charset="0"/>
              </a:rPr>
              <a:t>.</a:t>
            </a:r>
          </a:p>
          <a:p>
            <a:pPr algn="just"/>
            <a:r>
              <a:rPr lang="en-US" sz="2600" dirty="0" smtClean="0">
                <a:latin typeface="Arial" panose="020B0604020202020204" pitchFamily="34" charset="0"/>
                <a:cs typeface="Arial" panose="020B0604020202020204" pitchFamily="34" charset="0"/>
              </a:rPr>
              <a:t>4</a:t>
            </a:r>
            <a:r>
              <a:rPr lang="en-US" sz="2600" dirty="0">
                <a:latin typeface="Arial" panose="020B0604020202020204" pitchFamily="34" charset="0"/>
                <a:cs typeface="Arial" panose="020B0604020202020204" pitchFamily="34" charset="0"/>
              </a:rPr>
              <a:t>. Explicit </a:t>
            </a:r>
            <a:r>
              <a:rPr lang="en-US" sz="2600" dirty="0" smtClean="0">
                <a:latin typeface="Arial" panose="020B0604020202020204" pitchFamily="34" charset="0"/>
                <a:cs typeface="Arial" panose="020B0604020202020204" pitchFamily="34" charset="0"/>
              </a:rPr>
              <a:t>communication The </a:t>
            </a:r>
            <a:r>
              <a:rPr lang="en-US" sz="2600" dirty="0">
                <a:latin typeface="Arial" panose="020B0604020202020204" pitchFamily="34" charset="0"/>
                <a:cs typeface="Arial" panose="020B0604020202020204" pitchFamily="34" charset="0"/>
              </a:rPr>
              <a:t>programmer controls how and when data is exchanged</a:t>
            </a:r>
            <a:r>
              <a:rPr lang="en-US" sz="2600" dirty="0" smtClean="0">
                <a:latin typeface="Arial" panose="020B0604020202020204" pitchFamily="34" charset="0"/>
                <a:cs typeface="Arial" panose="020B0604020202020204" pitchFamily="34" charset="0"/>
              </a:rPr>
              <a:t>.</a:t>
            </a:r>
          </a:p>
          <a:p>
            <a:pPr algn="just"/>
            <a:r>
              <a:rPr lang="en-US" sz="2600" dirty="0" smtClean="0">
                <a:latin typeface="Arial" panose="020B0604020202020204" pitchFamily="34" charset="0"/>
                <a:cs typeface="Arial" panose="020B0604020202020204" pitchFamily="34" charset="0"/>
              </a:rPr>
              <a:t>5</a:t>
            </a:r>
            <a:r>
              <a:rPr lang="en-US" sz="2600" dirty="0">
                <a:latin typeface="Arial" panose="020B0604020202020204" pitchFamily="34" charset="0"/>
                <a:cs typeface="Arial" panose="020B0604020202020204" pitchFamily="34" charset="0"/>
              </a:rPr>
              <a:t>. Suitable for distributed </a:t>
            </a:r>
            <a:r>
              <a:rPr lang="en-US" sz="2600" dirty="0" smtClean="0">
                <a:latin typeface="Arial" panose="020B0604020202020204" pitchFamily="34" charset="0"/>
                <a:cs typeface="Arial" panose="020B0604020202020204" pitchFamily="34" charset="0"/>
              </a:rPr>
              <a:t>systems</a:t>
            </a:r>
          </a:p>
          <a:p>
            <a:pPr algn="just"/>
            <a:r>
              <a:rPr lang="en-US" sz="2600" dirty="0" smtClean="0">
                <a:latin typeface="Arial" panose="020B0604020202020204" pitchFamily="34" charset="0"/>
                <a:cs typeface="Arial" panose="020B0604020202020204" pitchFamily="34" charset="0"/>
              </a:rPr>
              <a:t>6.Each </a:t>
            </a:r>
            <a:r>
              <a:rPr lang="en-US" sz="2600" dirty="0">
                <a:latin typeface="Arial" panose="020B0604020202020204" pitchFamily="34" charset="0"/>
                <a:cs typeface="Arial" panose="020B0604020202020204" pitchFamily="34" charset="0"/>
              </a:rPr>
              <a:t>computer can have its own memory and </a:t>
            </a:r>
            <a:r>
              <a:rPr lang="en-US" sz="2600" dirty="0" smtClean="0">
                <a:latin typeface="Arial" panose="020B0604020202020204" pitchFamily="34" charset="0"/>
                <a:cs typeface="Arial" panose="020B0604020202020204" pitchFamily="34" charset="0"/>
              </a:rPr>
              <a:t>processor.</a:t>
            </a:r>
          </a:p>
          <a:p>
            <a:pPr algn="just"/>
            <a:r>
              <a:rPr lang="en-US" sz="2600" dirty="0" smtClean="0">
                <a:latin typeface="Arial" panose="020B0604020202020204" pitchFamily="34" charset="0"/>
                <a:cs typeface="Arial" panose="020B0604020202020204" pitchFamily="34" charset="0"/>
              </a:rPr>
              <a:t> Disadvantages</a:t>
            </a:r>
          </a:p>
          <a:p>
            <a:pPr algn="just"/>
            <a:r>
              <a:rPr lang="en-US" sz="2600" dirty="0" smtClean="0">
                <a:latin typeface="Arial" panose="020B0604020202020204" pitchFamily="34" charset="0"/>
                <a:cs typeface="Arial" panose="020B0604020202020204" pitchFamily="34" charset="0"/>
              </a:rPr>
              <a:t>1.Programming </a:t>
            </a:r>
            <a:r>
              <a:rPr lang="en-US" sz="2600" dirty="0">
                <a:latin typeface="Arial" panose="020B0604020202020204" pitchFamily="34" charset="0"/>
                <a:cs typeface="Arial" panose="020B0604020202020204" pitchFamily="34" charset="0"/>
              </a:rPr>
              <a:t>is more complex than shared-memory programming</a:t>
            </a:r>
            <a:r>
              <a:rPr lang="en-US" sz="2600" dirty="0" smtClean="0">
                <a:latin typeface="Arial" panose="020B0604020202020204" pitchFamily="34" charset="0"/>
                <a:cs typeface="Arial" panose="020B0604020202020204" pitchFamily="34" charset="0"/>
              </a:rPr>
              <a:t>.</a:t>
            </a:r>
          </a:p>
          <a:p>
            <a:pPr algn="just"/>
            <a:r>
              <a:rPr lang="en-US" sz="2600" dirty="0" smtClean="0">
                <a:latin typeface="Arial" panose="020B0604020202020204" pitchFamily="34" charset="0"/>
                <a:cs typeface="Arial" panose="020B0604020202020204" pitchFamily="34" charset="0"/>
              </a:rPr>
              <a:t>2.Programmer </a:t>
            </a:r>
            <a:r>
              <a:rPr lang="en-US" sz="2600" dirty="0">
                <a:latin typeface="Arial" panose="020B0604020202020204" pitchFamily="34" charset="0"/>
                <a:cs typeface="Arial" panose="020B0604020202020204" pitchFamily="34" charset="0"/>
              </a:rPr>
              <a:t>must manage communication</a:t>
            </a:r>
            <a:r>
              <a:rPr lang="en-US" sz="2600" dirty="0" smtClean="0">
                <a:latin typeface="Arial" panose="020B0604020202020204" pitchFamily="34" charset="0"/>
                <a:cs typeface="Arial" panose="020B0604020202020204" pitchFamily="34" charset="0"/>
              </a:rPr>
              <a:t>.</a:t>
            </a:r>
          </a:p>
          <a:p>
            <a:pPr algn="just"/>
            <a:r>
              <a:rPr lang="en-US" sz="2600" dirty="0" smtClean="0">
                <a:latin typeface="Arial" panose="020B0604020202020204" pitchFamily="34" charset="0"/>
                <a:cs typeface="Arial" panose="020B0604020202020204" pitchFamily="34" charset="0"/>
              </a:rPr>
              <a:t>3.Communication </a:t>
            </a:r>
            <a:r>
              <a:rPr lang="en-US" sz="2600" dirty="0">
                <a:latin typeface="Arial" panose="020B0604020202020204" pitchFamily="34" charset="0"/>
                <a:cs typeface="Arial" panose="020B0604020202020204" pitchFamily="34" charset="0"/>
              </a:rPr>
              <a:t>between processes introduces latency</a:t>
            </a:r>
            <a:r>
              <a:rPr lang="en-US" sz="2600" dirty="0" smtClean="0">
                <a:latin typeface="Arial" panose="020B0604020202020204" pitchFamily="34" charset="0"/>
                <a:cs typeface="Arial" panose="020B0604020202020204" pitchFamily="34" charset="0"/>
              </a:rPr>
              <a:t>.</a:t>
            </a:r>
          </a:p>
          <a:p>
            <a:pPr algn="just"/>
            <a:r>
              <a:rPr lang="en-US" sz="2600" dirty="0" smtClean="0">
                <a:latin typeface="Arial" panose="020B0604020202020204" pitchFamily="34" charset="0"/>
                <a:cs typeface="Arial" panose="020B0604020202020204" pitchFamily="34" charset="0"/>
              </a:rPr>
              <a:t>4.Sending </a:t>
            </a:r>
            <a:r>
              <a:rPr lang="en-US" sz="2600" dirty="0">
                <a:latin typeface="Arial" panose="020B0604020202020204" pitchFamily="34" charset="0"/>
                <a:cs typeface="Arial" panose="020B0604020202020204" pitchFamily="34" charset="0"/>
              </a:rPr>
              <a:t>large amounts of data can reduce performance</a:t>
            </a:r>
            <a:r>
              <a:rPr lang="en-US" sz="2600" dirty="0" smtClean="0">
                <a:latin typeface="Arial" panose="020B0604020202020204" pitchFamily="34" charset="0"/>
                <a:cs typeface="Arial" panose="020B0604020202020204" pitchFamily="34" charset="0"/>
              </a:rPr>
              <a:t>.</a:t>
            </a:r>
          </a:p>
          <a:p>
            <a:pPr algn="just"/>
            <a:r>
              <a:rPr lang="en-US" sz="2600" dirty="0" smtClean="0">
                <a:latin typeface="Arial" panose="020B0604020202020204" pitchFamily="34" charset="0"/>
                <a:cs typeface="Arial" panose="020B0604020202020204" pitchFamily="34" charset="0"/>
              </a:rPr>
              <a:t>5.Debugging </a:t>
            </a:r>
            <a:r>
              <a:rPr lang="en-US" sz="2600" dirty="0">
                <a:latin typeface="Arial" panose="020B0604020202020204" pitchFamily="34" charset="0"/>
                <a:cs typeface="Arial" panose="020B0604020202020204" pitchFamily="34" charset="0"/>
              </a:rPr>
              <a:t>parallel MPI programs can be difficult.</a:t>
            </a:r>
          </a:p>
        </p:txBody>
      </p:sp>
    </p:spTree>
    <p:extLst>
      <p:ext uri="{BB962C8B-B14F-4D97-AF65-F5344CB8AC3E}">
        <p14:creationId xmlns:p14="http://schemas.microsoft.com/office/powerpoint/2010/main" val="2388163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nvPr>
        </p:nvGraphicFramePr>
        <p:xfrm>
          <a:off x="73922" y="536214"/>
          <a:ext cx="12118078" cy="6012974"/>
        </p:xfrm>
        <a:graphic>
          <a:graphicData uri="http://schemas.openxmlformats.org/drawingml/2006/table">
            <a:tbl>
              <a:tblPr/>
              <a:tblGrid>
                <a:gridCol w="6059039"/>
                <a:gridCol w="6059039"/>
              </a:tblGrid>
              <a:tr h="546634">
                <a:tc>
                  <a:txBody>
                    <a:bodyPr/>
                    <a:lstStyle/>
                    <a:p>
                      <a:r>
                        <a:rPr lang="en-US" sz="2000" dirty="0">
                          <a:latin typeface="Arial" panose="020B0604020202020204" pitchFamily="34" charset="0"/>
                          <a:cs typeface="Arial" panose="020B0604020202020204" pitchFamily="34" charset="0"/>
                        </a:rPr>
                        <a:t>Term</a:t>
                      </a:r>
                    </a:p>
                  </a:txBody>
                  <a:tcPr anchor="ctr">
                    <a:lnL>
                      <a:noFill/>
                    </a:lnL>
                    <a:lnR>
                      <a:noFill/>
                    </a:lnR>
                    <a:lnT>
                      <a:noFill/>
                    </a:lnT>
                    <a:lnB>
                      <a:noFill/>
                    </a:lnB>
                  </a:tcPr>
                </a:tc>
                <a:tc>
                  <a:txBody>
                    <a:bodyPr/>
                    <a:lstStyle/>
                    <a:p>
                      <a:r>
                        <a:rPr lang="en-US" sz="2000">
                          <a:latin typeface="Arial" panose="020B0604020202020204" pitchFamily="34" charset="0"/>
                          <a:cs typeface="Arial" panose="020B0604020202020204" pitchFamily="34" charset="0"/>
                        </a:rPr>
                        <a:t>Meaning</a:t>
                      </a:r>
                    </a:p>
                  </a:txBody>
                  <a:tcPr anchor="ctr">
                    <a:lnL>
                      <a:noFill/>
                    </a:lnL>
                    <a:lnR>
                      <a:noFill/>
                    </a:lnR>
                    <a:lnT>
                      <a:noFill/>
                    </a:lnT>
                    <a:lnB>
                      <a:noFill/>
                    </a:lnB>
                  </a:tcPr>
                </a:tc>
              </a:tr>
              <a:tr h="546634">
                <a:tc>
                  <a:txBody>
                    <a:bodyPr/>
                    <a:lstStyle/>
                    <a:p>
                      <a:r>
                        <a:rPr lang="en-US" sz="2000" b="1" dirty="0">
                          <a:latin typeface="Arial" panose="020B0604020202020204" pitchFamily="34" charset="0"/>
                          <a:cs typeface="Arial" panose="020B0604020202020204" pitchFamily="34" charset="0"/>
                        </a:rPr>
                        <a:t>MPI</a:t>
                      </a:r>
                      <a:endParaRPr lang="en-US" sz="2000"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en-US" sz="2000">
                          <a:latin typeface="Arial" panose="020B0604020202020204" pitchFamily="34" charset="0"/>
                          <a:cs typeface="Arial" panose="020B0604020202020204" pitchFamily="34" charset="0"/>
                        </a:rPr>
                        <a:t>Message Passing Interface</a:t>
                      </a:r>
                    </a:p>
                  </a:txBody>
                  <a:tcPr anchor="ctr">
                    <a:lnL>
                      <a:noFill/>
                    </a:lnL>
                    <a:lnR>
                      <a:noFill/>
                    </a:lnR>
                    <a:lnT>
                      <a:noFill/>
                    </a:lnT>
                    <a:lnB>
                      <a:noFill/>
                    </a:lnB>
                  </a:tcPr>
                </a:tc>
              </a:tr>
              <a:tr h="546634">
                <a:tc>
                  <a:txBody>
                    <a:bodyPr/>
                    <a:lstStyle/>
                    <a:p>
                      <a:r>
                        <a:rPr lang="en-US" sz="2000" b="1" dirty="0">
                          <a:latin typeface="Arial" panose="020B0604020202020204" pitchFamily="34" charset="0"/>
                          <a:cs typeface="Arial" panose="020B0604020202020204" pitchFamily="34" charset="0"/>
                        </a:rPr>
                        <a:t>Process</a:t>
                      </a:r>
                      <a:endParaRPr lang="en-US" sz="2000"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en-US" sz="2000" dirty="0">
                          <a:latin typeface="Arial" panose="020B0604020202020204" pitchFamily="34" charset="0"/>
                          <a:cs typeface="Arial" panose="020B0604020202020204" pitchFamily="34" charset="0"/>
                        </a:rPr>
                        <a:t>Independent execution unit</a:t>
                      </a:r>
                    </a:p>
                  </a:txBody>
                  <a:tcPr anchor="ctr">
                    <a:lnL>
                      <a:noFill/>
                    </a:lnL>
                    <a:lnR>
                      <a:noFill/>
                    </a:lnR>
                    <a:lnT>
                      <a:noFill/>
                    </a:lnT>
                    <a:lnB>
                      <a:noFill/>
                    </a:lnB>
                  </a:tcPr>
                </a:tc>
              </a:tr>
              <a:tr h="546634">
                <a:tc>
                  <a:txBody>
                    <a:bodyPr/>
                    <a:lstStyle/>
                    <a:p>
                      <a:r>
                        <a:rPr lang="en-US" sz="2000" b="1" dirty="0">
                          <a:latin typeface="Arial" panose="020B0604020202020204" pitchFamily="34" charset="0"/>
                          <a:cs typeface="Arial" panose="020B0604020202020204" pitchFamily="34" charset="0"/>
                        </a:rPr>
                        <a:t>Rank</a:t>
                      </a:r>
                      <a:endParaRPr lang="en-US" sz="2000"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en-US" sz="2000" dirty="0">
                          <a:latin typeface="Arial" panose="020B0604020202020204" pitchFamily="34" charset="0"/>
                          <a:cs typeface="Arial" panose="020B0604020202020204" pitchFamily="34" charset="0"/>
                        </a:rPr>
                        <a:t>Unique ID of an MPI process</a:t>
                      </a:r>
                    </a:p>
                  </a:txBody>
                  <a:tcPr anchor="ctr">
                    <a:lnL>
                      <a:noFill/>
                    </a:lnL>
                    <a:lnR>
                      <a:noFill/>
                    </a:lnR>
                    <a:lnT>
                      <a:noFill/>
                    </a:lnT>
                    <a:lnB>
                      <a:noFill/>
                    </a:lnB>
                  </a:tcPr>
                </a:tc>
              </a:tr>
              <a:tr h="546634">
                <a:tc>
                  <a:txBody>
                    <a:bodyPr/>
                    <a:lstStyle/>
                    <a:p>
                      <a:r>
                        <a:rPr lang="en-US" sz="2000" b="1" dirty="0">
                          <a:latin typeface="Arial" panose="020B0604020202020204" pitchFamily="34" charset="0"/>
                          <a:cs typeface="Arial" panose="020B0604020202020204" pitchFamily="34" charset="0"/>
                        </a:rPr>
                        <a:t>Communicator</a:t>
                      </a:r>
                      <a:endParaRPr lang="en-US" sz="2000"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en-US" sz="2000" dirty="0">
                          <a:latin typeface="Arial" panose="020B0604020202020204" pitchFamily="34" charset="0"/>
                          <a:cs typeface="Arial" panose="020B0604020202020204" pitchFamily="34" charset="0"/>
                        </a:rPr>
                        <a:t>Defines a group of processes that can communicate</a:t>
                      </a:r>
                    </a:p>
                  </a:txBody>
                  <a:tcPr anchor="ctr">
                    <a:lnL>
                      <a:noFill/>
                    </a:lnL>
                    <a:lnR>
                      <a:noFill/>
                    </a:lnR>
                    <a:lnT>
                      <a:noFill/>
                    </a:lnT>
                    <a:lnB>
                      <a:noFill/>
                    </a:lnB>
                  </a:tcPr>
                </a:tc>
              </a:tr>
              <a:tr h="546634">
                <a:tc>
                  <a:txBody>
                    <a:bodyPr/>
                    <a:lstStyle/>
                    <a:p>
                      <a:r>
                        <a:rPr lang="en-US" sz="2000" b="1" dirty="0">
                          <a:latin typeface="Arial" panose="020B0604020202020204" pitchFamily="34" charset="0"/>
                          <a:cs typeface="Arial" panose="020B0604020202020204" pitchFamily="34" charset="0"/>
                        </a:rPr>
                        <a:t>MPI_COMM_WORLD</a:t>
                      </a:r>
                      <a:endParaRPr lang="en-US" sz="2000"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en-US" sz="2000" dirty="0">
                          <a:latin typeface="Arial" panose="020B0604020202020204" pitchFamily="34" charset="0"/>
                          <a:cs typeface="Arial" panose="020B0604020202020204" pitchFamily="34" charset="0"/>
                        </a:rPr>
                        <a:t>Default communicator containing all MPI processes</a:t>
                      </a:r>
                    </a:p>
                  </a:txBody>
                  <a:tcPr anchor="ctr">
                    <a:lnL>
                      <a:noFill/>
                    </a:lnL>
                    <a:lnR>
                      <a:noFill/>
                    </a:lnR>
                    <a:lnT>
                      <a:noFill/>
                    </a:lnT>
                    <a:lnB>
                      <a:noFill/>
                    </a:lnB>
                  </a:tcPr>
                </a:tc>
              </a:tr>
              <a:tr h="546634">
                <a:tc>
                  <a:txBody>
                    <a:bodyPr/>
                    <a:lstStyle/>
                    <a:p>
                      <a:r>
                        <a:rPr lang="en-US" sz="2000" b="1" dirty="0">
                          <a:latin typeface="Arial" panose="020B0604020202020204" pitchFamily="34" charset="0"/>
                          <a:cs typeface="Arial" panose="020B0604020202020204" pitchFamily="34" charset="0"/>
                        </a:rPr>
                        <a:t>Send</a:t>
                      </a:r>
                      <a:endParaRPr lang="en-US" sz="2000"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en-US" sz="2000" dirty="0">
                          <a:latin typeface="Arial" panose="020B0604020202020204" pitchFamily="34" charset="0"/>
                          <a:cs typeface="Arial" panose="020B0604020202020204" pitchFamily="34" charset="0"/>
                        </a:rPr>
                        <a:t>Sending data from one process to another</a:t>
                      </a:r>
                    </a:p>
                  </a:txBody>
                  <a:tcPr anchor="ctr">
                    <a:lnL>
                      <a:noFill/>
                    </a:lnL>
                    <a:lnR>
                      <a:noFill/>
                    </a:lnR>
                    <a:lnT>
                      <a:noFill/>
                    </a:lnT>
                    <a:lnB>
                      <a:noFill/>
                    </a:lnB>
                  </a:tcPr>
                </a:tc>
              </a:tr>
              <a:tr h="546634">
                <a:tc>
                  <a:txBody>
                    <a:bodyPr/>
                    <a:lstStyle/>
                    <a:p>
                      <a:r>
                        <a:rPr lang="en-US" sz="2000" b="1" dirty="0">
                          <a:latin typeface="Arial" panose="020B0604020202020204" pitchFamily="34" charset="0"/>
                          <a:cs typeface="Arial" panose="020B0604020202020204" pitchFamily="34" charset="0"/>
                        </a:rPr>
                        <a:t>Receive</a:t>
                      </a:r>
                      <a:endParaRPr lang="en-US" sz="2000"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en-US" sz="2000" dirty="0">
                          <a:latin typeface="Arial" panose="020B0604020202020204" pitchFamily="34" charset="0"/>
                          <a:cs typeface="Arial" panose="020B0604020202020204" pitchFamily="34" charset="0"/>
                        </a:rPr>
                        <a:t>Receiving data from another process</a:t>
                      </a:r>
                    </a:p>
                  </a:txBody>
                  <a:tcPr anchor="ctr">
                    <a:lnL>
                      <a:noFill/>
                    </a:lnL>
                    <a:lnR>
                      <a:noFill/>
                    </a:lnR>
                    <a:lnT>
                      <a:noFill/>
                    </a:lnT>
                    <a:lnB>
                      <a:noFill/>
                    </a:lnB>
                  </a:tcPr>
                </a:tc>
              </a:tr>
              <a:tr h="546634">
                <a:tc>
                  <a:txBody>
                    <a:bodyPr/>
                    <a:lstStyle/>
                    <a:p>
                      <a:r>
                        <a:rPr lang="en-US" sz="2000" b="1">
                          <a:latin typeface="Arial" panose="020B0604020202020204" pitchFamily="34" charset="0"/>
                          <a:cs typeface="Arial" panose="020B0604020202020204" pitchFamily="34" charset="0"/>
                        </a:rPr>
                        <a:t>Point-to-point communication</a:t>
                      </a:r>
                      <a:endParaRPr lang="en-US" sz="200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en-US" sz="2000" dirty="0">
                          <a:latin typeface="Arial" panose="020B0604020202020204" pitchFamily="34" charset="0"/>
                          <a:cs typeface="Arial" panose="020B0604020202020204" pitchFamily="34" charset="0"/>
                        </a:rPr>
                        <a:t>Communication between two processes</a:t>
                      </a:r>
                    </a:p>
                  </a:txBody>
                  <a:tcPr anchor="ctr">
                    <a:lnL>
                      <a:noFill/>
                    </a:lnL>
                    <a:lnR>
                      <a:noFill/>
                    </a:lnR>
                    <a:lnT>
                      <a:noFill/>
                    </a:lnT>
                    <a:lnB>
                      <a:noFill/>
                    </a:lnB>
                  </a:tcPr>
                </a:tc>
              </a:tr>
              <a:tr h="546634">
                <a:tc>
                  <a:txBody>
                    <a:bodyPr/>
                    <a:lstStyle/>
                    <a:p>
                      <a:r>
                        <a:rPr lang="en-US" sz="2000" b="1">
                          <a:latin typeface="Arial" panose="020B0604020202020204" pitchFamily="34" charset="0"/>
                          <a:cs typeface="Arial" panose="020B0604020202020204" pitchFamily="34" charset="0"/>
                        </a:rPr>
                        <a:t>Collective communication</a:t>
                      </a:r>
                      <a:endParaRPr lang="en-US" sz="200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en-US" sz="2000" dirty="0">
                          <a:latin typeface="Arial" panose="020B0604020202020204" pitchFamily="34" charset="0"/>
                          <a:cs typeface="Arial" panose="020B0604020202020204" pitchFamily="34" charset="0"/>
                        </a:rPr>
                        <a:t>Communication involving a group of processes</a:t>
                      </a:r>
                    </a:p>
                  </a:txBody>
                  <a:tcPr anchor="ctr">
                    <a:lnL>
                      <a:noFill/>
                    </a:lnL>
                    <a:lnR>
                      <a:noFill/>
                    </a:lnR>
                    <a:lnT>
                      <a:noFill/>
                    </a:lnT>
                    <a:lnB>
                      <a:noFill/>
                    </a:lnB>
                  </a:tcPr>
                </a:tc>
              </a:tr>
              <a:tr h="546634">
                <a:tc>
                  <a:txBody>
                    <a:bodyPr/>
                    <a:lstStyle/>
                    <a:p>
                      <a:r>
                        <a:rPr lang="en-US" sz="2000" b="1" dirty="0">
                          <a:latin typeface="Arial" panose="020B0604020202020204" pitchFamily="34" charset="0"/>
                          <a:cs typeface="Arial" panose="020B0604020202020204" pitchFamily="34" charset="0"/>
                        </a:rPr>
                        <a:t>Distributed memory</a:t>
                      </a:r>
                      <a:endParaRPr lang="en-US" sz="2000"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r>
                        <a:rPr lang="en-US" sz="2000" dirty="0">
                          <a:latin typeface="Arial" panose="020B0604020202020204" pitchFamily="34" charset="0"/>
                          <a:cs typeface="Arial" panose="020B0604020202020204" pitchFamily="34" charset="0"/>
                        </a:rPr>
                        <a:t>Each process has its own private memory</a:t>
                      </a:r>
                    </a:p>
                  </a:txBody>
                  <a:tcPr anchor="ctr">
                    <a:lnL>
                      <a:noFill/>
                    </a:lnL>
                    <a:lnR>
                      <a:noFill/>
                    </a:lnR>
                    <a:lnT>
                      <a:noFill/>
                    </a:lnT>
                    <a:lnB>
                      <a:noFill/>
                    </a:lnB>
                  </a:tcPr>
                </a:tc>
              </a:tr>
            </a:tbl>
          </a:graphicData>
        </a:graphic>
      </p:graphicFrame>
      <p:sp>
        <p:nvSpPr>
          <p:cNvPr id="5" name="Rectangle 1"/>
          <p:cNvSpPr>
            <a:spLocks noGrp="1" noChangeArrowheads="1"/>
          </p:cNvSpPr>
          <p:nvPr>
            <p:ph type="subTitle" idx="1"/>
          </p:nvPr>
        </p:nvSpPr>
        <p:spPr bwMode="auto">
          <a:xfrm>
            <a:off x="805070" y="-54038"/>
            <a:ext cx="974863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smtClean="0">
                <a:ln>
                  <a:noFill/>
                </a:ln>
                <a:solidFill>
                  <a:schemeClr val="tx1"/>
                </a:solidFill>
                <a:effectLst/>
                <a:latin typeface="Arial" panose="020B0604020202020204" pitchFamily="34" charset="0"/>
              </a:rPr>
              <a:t>11. Key terms to remember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1907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10668000" cy="5257800"/>
          </a:xfrm>
        </p:spPr>
        <p:txBody>
          <a:bodyPr/>
          <a:lstStyle/>
          <a:p>
            <a:r>
              <a:rPr lang="en-US" dirty="0"/>
              <a:t>The Trapezoidal Rule in </a:t>
            </a:r>
            <a:r>
              <a:rPr lang="en-US" dirty="0" smtClean="0"/>
              <a:t>MPI</a:t>
            </a:r>
          </a:p>
          <a:p>
            <a:r>
              <a:rPr lang="en-US" dirty="0"/>
              <a:t>The </a:t>
            </a:r>
            <a:r>
              <a:rPr lang="en-US" b="1" dirty="0"/>
              <a:t>trapezoidal rule</a:t>
            </a:r>
            <a:r>
              <a:rPr lang="en-US" dirty="0"/>
              <a:t> is a numerical method used to </a:t>
            </a:r>
            <a:r>
              <a:rPr lang="en-US" b="1" dirty="0"/>
              <a:t>approximate the definite integral</a:t>
            </a:r>
            <a:r>
              <a:rPr lang="en-US" dirty="0"/>
              <a:t> of a function.</a:t>
            </a:r>
          </a:p>
          <a:p>
            <a:r>
              <a:rPr lang="en-US" dirty="0"/>
              <a:t>For example:</a:t>
            </a:r>
          </a:p>
          <a:p>
            <a:endParaRPr lang="en-US" dirty="0"/>
          </a:p>
        </p:txBody>
      </p:sp>
      <p:pic>
        <p:nvPicPr>
          <p:cNvPr id="4" name="Picture 3"/>
          <p:cNvPicPr>
            <a:picLocks noChangeAspect="1"/>
          </p:cNvPicPr>
          <p:nvPr/>
        </p:nvPicPr>
        <p:blipFill>
          <a:blip r:embed="rId2"/>
          <a:stretch>
            <a:fillRect/>
          </a:stretch>
        </p:blipFill>
        <p:spPr>
          <a:xfrm>
            <a:off x="275452" y="1685574"/>
            <a:ext cx="11478398" cy="5029902"/>
          </a:xfrm>
          <a:prstGeom prst="rect">
            <a:avLst/>
          </a:prstGeom>
        </p:spPr>
      </p:pic>
    </p:spTree>
    <p:extLst>
      <p:ext uri="{BB962C8B-B14F-4D97-AF65-F5344CB8AC3E}">
        <p14:creationId xmlns:p14="http://schemas.microsoft.com/office/powerpoint/2010/main" val="653045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0"/>
            <a:ext cx="11963400" cy="6762750"/>
          </a:xfrm>
        </p:spPr>
        <p:txBody>
          <a:bodyPr/>
          <a:lstStyle/>
          <a:p>
            <a:r>
              <a:rPr lang="en-US" dirty="0"/>
              <a:t>The trapezoidal rule in MPI divides the interval of integration among multiple processes. Each process calculates the area of the trapezoids in its assigned portion, and MPI combines all the local results to obtain the final integral</a:t>
            </a:r>
            <a:r>
              <a:rPr lang="en-US" dirty="0" smtClean="0"/>
              <a:t>.</a:t>
            </a:r>
          </a:p>
          <a:p>
            <a:endParaRPr lang="en-US" dirty="0"/>
          </a:p>
        </p:txBody>
      </p:sp>
      <p:pic>
        <p:nvPicPr>
          <p:cNvPr id="4" name="Picture 3"/>
          <p:cNvPicPr>
            <a:picLocks noChangeAspect="1"/>
          </p:cNvPicPr>
          <p:nvPr/>
        </p:nvPicPr>
        <p:blipFill>
          <a:blip r:embed="rId2"/>
          <a:stretch>
            <a:fillRect/>
          </a:stretch>
        </p:blipFill>
        <p:spPr>
          <a:xfrm>
            <a:off x="394819" y="1962800"/>
            <a:ext cx="11260121" cy="4334480"/>
          </a:xfrm>
          <a:prstGeom prst="rect">
            <a:avLst/>
          </a:prstGeom>
        </p:spPr>
      </p:pic>
    </p:spTree>
    <p:extLst>
      <p:ext uri="{BB962C8B-B14F-4D97-AF65-F5344CB8AC3E}">
        <p14:creationId xmlns:p14="http://schemas.microsoft.com/office/powerpoint/2010/main" val="3362450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84939" y="1371313"/>
            <a:ext cx="11622122" cy="4115374"/>
          </a:xfrm>
          <a:prstGeom prst="rect">
            <a:avLst/>
          </a:prstGeom>
        </p:spPr>
      </p:pic>
    </p:spTree>
    <p:extLst>
      <p:ext uri="{BB962C8B-B14F-4D97-AF65-F5344CB8AC3E}">
        <p14:creationId xmlns:p14="http://schemas.microsoft.com/office/powerpoint/2010/main" val="1853249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 y="114299"/>
            <a:ext cx="11706225" cy="6600825"/>
          </a:xfrm>
        </p:spPr>
        <p:txBody>
          <a:bodyPr>
            <a:normAutofit fontScale="70000" lnSpcReduction="20000"/>
          </a:bodyPr>
          <a:lstStyle/>
          <a:p>
            <a:r>
              <a:rPr lang="en-US" b="1" dirty="0"/>
              <a:t>2. Why use MPI?</a:t>
            </a:r>
          </a:p>
          <a:p>
            <a:r>
              <a:rPr lang="en-US" dirty="0"/>
              <a:t>For a large value of </a:t>
            </a:r>
            <a:r>
              <a:rPr lang="en-US" b="1" dirty="0"/>
              <a:t>n</a:t>
            </a:r>
            <a:r>
              <a:rPr lang="en-US" dirty="0"/>
              <a:t>, calculating all the values of f(x) can take a lot of time.</a:t>
            </a:r>
          </a:p>
          <a:p>
            <a:r>
              <a:rPr lang="en-US" dirty="0"/>
              <a:t>MPI allows us to </a:t>
            </a:r>
            <a:r>
              <a:rPr lang="en-US" b="1" dirty="0"/>
              <a:t>divide the work among multiple processes</a:t>
            </a:r>
            <a:r>
              <a:rPr lang="en-US" dirty="0"/>
              <a:t>.</a:t>
            </a:r>
          </a:p>
          <a:p>
            <a:r>
              <a:rPr lang="en-US" dirty="0"/>
              <a:t>For example, with 4 processes</a:t>
            </a:r>
            <a:r>
              <a:rPr lang="en-US" dirty="0" smtClean="0"/>
              <a:t>:</a:t>
            </a:r>
            <a:endParaRPr lang="en-US" dirty="0"/>
          </a:p>
          <a:p>
            <a:r>
              <a:rPr lang="en-US" dirty="0"/>
              <a:t> Entire interval [</a:t>
            </a:r>
            <a:r>
              <a:rPr lang="en-US" dirty="0" err="1"/>
              <a:t>a,b</a:t>
            </a:r>
            <a:r>
              <a:rPr lang="en-US" dirty="0"/>
              <a:t>]</a:t>
            </a:r>
          </a:p>
          <a:p>
            <a:r>
              <a:rPr lang="en-US" dirty="0"/>
              <a:t>      </a:t>
            </a:r>
            <a:r>
              <a:rPr lang="en-US" dirty="0" smtClean="0"/>
              <a:t>  </a:t>
            </a:r>
            <a:r>
              <a:rPr lang="en-US" dirty="0"/>
              <a:t>│</a:t>
            </a:r>
          </a:p>
          <a:p>
            <a:r>
              <a:rPr lang="en-US" dirty="0"/>
              <a:t>        </a:t>
            </a:r>
            <a:r>
              <a:rPr lang="en-US" dirty="0" smtClean="0"/>
              <a:t>┌────────────┼────────────┐</a:t>
            </a:r>
          </a:p>
          <a:p>
            <a:r>
              <a:rPr lang="en-US" dirty="0" smtClean="0"/>
              <a:t>↓            ↓            ↓</a:t>
            </a:r>
          </a:p>
          <a:p>
            <a:r>
              <a:rPr lang="en-US" dirty="0" smtClean="0"/>
              <a:t>      </a:t>
            </a:r>
            <a:r>
              <a:rPr lang="en-US" dirty="0"/>
              <a:t>Process 0   </a:t>
            </a:r>
            <a:r>
              <a:rPr lang="en-US" dirty="0" smtClean="0"/>
              <a:t>       </a:t>
            </a:r>
            <a:r>
              <a:rPr lang="en-US" dirty="0"/>
              <a:t>Process 1   </a:t>
            </a:r>
            <a:r>
              <a:rPr lang="en-US" dirty="0" smtClean="0"/>
              <a:t>      </a:t>
            </a:r>
            <a:r>
              <a:rPr lang="en-US" dirty="0"/>
              <a:t>Process 2   </a:t>
            </a:r>
            <a:r>
              <a:rPr lang="en-US" dirty="0" smtClean="0"/>
              <a:t>            </a:t>
            </a:r>
            <a:r>
              <a:rPr lang="en-US" dirty="0"/>
              <a:t>Process </a:t>
            </a:r>
            <a:r>
              <a:rPr lang="en-US" dirty="0" smtClean="0"/>
              <a:t>3</a:t>
            </a:r>
          </a:p>
          <a:p>
            <a:r>
              <a:rPr lang="en-US" dirty="0" smtClean="0"/>
              <a:t>    Part 1               Part 2               Part 3           Part 4</a:t>
            </a:r>
          </a:p>
          <a:p>
            <a:r>
              <a:rPr lang="en-US" dirty="0" smtClean="0"/>
              <a:t>         │              │             │            │</a:t>
            </a:r>
          </a:p>
          <a:p>
            <a:r>
              <a:rPr lang="en-US" dirty="0" smtClean="0"/>
              <a:t>     </a:t>
            </a:r>
            <a:r>
              <a:rPr lang="en-US" dirty="0"/>
              <a:t>Local sum    </a:t>
            </a:r>
            <a:r>
              <a:rPr lang="en-US" dirty="0" smtClean="0"/>
              <a:t>Local  </a:t>
            </a:r>
            <a:r>
              <a:rPr lang="en-US" dirty="0"/>
              <a:t>sum     Local sum    Local sum</a:t>
            </a:r>
          </a:p>
          <a:p>
            <a:r>
              <a:rPr lang="en-US" dirty="0"/>
              <a:t>        │            │             │            │</a:t>
            </a:r>
          </a:p>
          <a:p>
            <a:r>
              <a:rPr lang="en-US" dirty="0"/>
              <a:t>        └────────────┴─────────────┴────────────┘</a:t>
            </a:r>
          </a:p>
          <a:p>
            <a:r>
              <a:rPr lang="en-US" dirty="0"/>
              <a:t>                           ↓</a:t>
            </a:r>
          </a:p>
          <a:p>
            <a:r>
              <a:rPr lang="en-US" dirty="0"/>
              <a:t>                    Global sum</a:t>
            </a:r>
          </a:p>
          <a:p>
            <a:r>
              <a:rPr lang="en-US" dirty="0"/>
              <a:t>                           ↓</a:t>
            </a:r>
          </a:p>
          <a:p>
            <a:r>
              <a:rPr lang="en-US" dirty="0"/>
              <a:t>                    Final </a:t>
            </a:r>
            <a:r>
              <a:rPr lang="en-US" dirty="0" smtClean="0"/>
              <a:t>integral</a:t>
            </a:r>
          </a:p>
          <a:p>
            <a:r>
              <a:rPr lang="en-US" dirty="0"/>
              <a:t>Each process calculates the trapezoidal sum for </a:t>
            </a:r>
            <a:r>
              <a:rPr lang="en-US" b="1" dirty="0"/>
              <a:t>its own portion</a:t>
            </a:r>
            <a:r>
              <a:rPr lang="en-US" dirty="0"/>
              <a:t> of the interval.</a:t>
            </a:r>
          </a:p>
        </p:txBody>
      </p:sp>
    </p:spTree>
    <p:extLst>
      <p:ext uri="{BB962C8B-B14F-4D97-AF65-F5344CB8AC3E}">
        <p14:creationId xmlns:p14="http://schemas.microsoft.com/office/powerpoint/2010/main" val="2646949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 y="0"/>
            <a:ext cx="12049125" cy="6858000"/>
          </a:xfrm>
        </p:spPr>
        <p:txBody>
          <a:bodyPr>
            <a:normAutofit fontScale="85000" lnSpcReduction="20000"/>
          </a:bodyPr>
          <a:lstStyle/>
          <a:p>
            <a:r>
              <a:rPr lang="en-US" dirty="0"/>
              <a:t>3. MPI </a:t>
            </a:r>
            <a:r>
              <a:rPr lang="en-US" dirty="0" smtClean="0"/>
              <a:t>Approach</a:t>
            </a:r>
          </a:p>
          <a:p>
            <a:r>
              <a:rPr lang="en-US" dirty="0"/>
              <a:t>The main steps are:</a:t>
            </a:r>
          </a:p>
          <a:p>
            <a:r>
              <a:rPr lang="en-US" b="1" dirty="0"/>
              <a:t>Step 1: Start MPI</a:t>
            </a:r>
          </a:p>
          <a:p>
            <a:r>
              <a:rPr lang="en-US" dirty="0" err="1"/>
              <a:t>MPI_Init</a:t>
            </a:r>
            <a:r>
              <a:rPr lang="en-US" dirty="0"/>
              <a:t>(NULL, NULL</a:t>
            </a:r>
            <a:r>
              <a:rPr lang="en-US" dirty="0" smtClean="0"/>
              <a:t>);</a:t>
            </a:r>
          </a:p>
          <a:p>
            <a:r>
              <a:rPr lang="en-US" dirty="0"/>
              <a:t>Step 2: Find number of </a:t>
            </a:r>
            <a:r>
              <a:rPr lang="en-US" dirty="0" smtClean="0"/>
              <a:t>processes</a:t>
            </a:r>
          </a:p>
          <a:p>
            <a:r>
              <a:rPr lang="en-US" dirty="0" err="1"/>
              <a:t>MPI_Comm_size</a:t>
            </a:r>
            <a:r>
              <a:rPr lang="en-US" dirty="0"/>
              <a:t>(MPI_COMM_WORLD, &amp;</a:t>
            </a:r>
            <a:r>
              <a:rPr lang="en-US" dirty="0" err="1"/>
              <a:t>comm_sz</a:t>
            </a:r>
            <a:r>
              <a:rPr lang="en-US" dirty="0" smtClean="0"/>
              <a:t>);</a:t>
            </a:r>
          </a:p>
          <a:p>
            <a:r>
              <a:rPr lang="en-US" dirty="0"/>
              <a:t>For example</a:t>
            </a:r>
            <a:r>
              <a:rPr lang="en-US" dirty="0" smtClean="0"/>
              <a:t>:</a:t>
            </a:r>
          </a:p>
          <a:p>
            <a:r>
              <a:rPr lang="en-US" dirty="0" err="1"/>
              <a:t>comm_sz</a:t>
            </a:r>
            <a:r>
              <a:rPr lang="en-US" dirty="0"/>
              <a:t> = </a:t>
            </a:r>
            <a:r>
              <a:rPr lang="en-US" dirty="0" smtClean="0"/>
              <a:t>4</a:t>
            </a:r>
          </a:p>
          <a:p>
            <a:r>
              <a:rPr lang="en-US" dirty="0"/>
              <a:t>means there are 4 processes</a:t>
            </a:r>
            <a:r>
              <a:rPr lang="en-US" dirty="0" smtClean="0"/>
              <a:t>.</a:t>
            </a:r>
          </a:p>
          <a:p>
            <a:r>
              <a:rPr lang="en-US" dirty="0"/>
              <a:t>Step 3: Find the </a:t>
            </a:r>
            <a:r>
              <a:rPr lang="en-US" dirty="0" smtClean="0"/>
              <a:t>rank</a:t>
            </a:r>
          </a:p>
          <a:p>
            <a:r>
              <a:rPr lang="en-US" dirty="0" err="1"/>
              <a:t>MPI_Comm_rank</a:t>
            </a:r>
            <a:r>
              <a:rPr lang="en-US" dirty="0"/>
              <a:t>(MPI_COMM_WORLD, &amp;</a:t>
            </a:r>
            <a:r>
              <a:rPr lang="en-US" dirty="0" err="1"/>
              <a:t>my_rank</a:t>
            </a:r>
            <a:r>
              <a:rPr lang="en-US" dirty="0" smtClean="0"/>
              <a:t>);</a:t>
            </a:r>
          </a:p>
          <a:p>
            <a:r>
              <a:rPr lang="en-US" dirty="0"/>
              <a:t>Ranks will be</a:t>
            </a:r>
            <a:r>
              <a:rPr lang="en-US" dirty="0" smtClean="0"/>
              <a:t>:</a:t>
            </a:r>
          </a:p>
          <a:p>
            <a:r>
              <a:rPr lang="en-US" dirty="0"/>
              <a:t>0, 1, 2, </a:t>
            </a:r>
            <a:r>
              <a:rPr lang="en-US" dirty="0" smtClean="0"/>
              <a:t>3</a:t>
            </a:r>
          </a:p>
          <a:p>
            <a:r>
              <a:rPr lang="en-US" dirty="0"/>
              <a:t>Step 4: Divide the </a:t>
            </a:r>
            <a:r>
              <a:rPr lang="en-US" dirty="0" smtClean="0"/>
              <a:t>interval</a:t>
            </a:r>
          </a:p>
          <a:p>
            <a:r>
              <a:rPr lang="en-US" dirty="0"/>
              <a:t>Each process gets a portion of the interval.</a:t>
            </a:r>
          </a:p>
          <a:p>
            <a:r>
              <a:rPr lang="en-US" dirty="0"/>
              <a:t>If there are:</a:t>
            </a:r>
          </a:p>
          <a:p>
            <a:endParaRPr lang="en-US" dirty="0"/>
          </a:p>
        </p:txBody>
      </p:sp>
    </p:spTree>
    <p:extLst>
      <p:ext uri="{BB962C8B-B14F-4D97-AF65-F5344CB8AC3E}">
        <p14:creationId xmlns:p14="http://schemas.microsoft.com/office/powerpoint/2010/main" val="1964616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12192000" cy="6858000"/>
          </a:xfrm>
        </p:spPr>
        <p:txBody>
          <a:bodyPr>
            <a:normAutofit fontScale="85000" lnSpcReduction="20000"/>
          </a:bodyPr>
          <a:lstStyle/>
          <a:p>
            <a:r>
              <a:rPr lang="pt-BR" dirty="0"/>
              <a:t>n = 1000 trapezoids</a:t>
            </a:r>
          </a:p>
          <a:p>
            <a:r>
              <a:rPr lang="pt-BR" dirty="0"/>
              <a:t>p = 4 </a:t>
            </a:r>
            <a:r>
              <a:rPr lang="pt-BR" dirty="0" smtClean="0"/>
              <a:t>processes</a:t>
            </a:r>
          </a:p>
          <a:p>
            <a:r>
              <a:rPr lang="en-US" dirty="0"/>
              <a:t>then approximately</a:t>
            </a:r>
            <a:r>
              <a:rPr lang="en-US" dirty="0" smtClean="0"/>
              <a:t>:</a:t>
            </a:r>
          </a:p>
          <a:p>
            <a:r>
              <a:rPr lang="en-US" dirty="0"/>
              <a:t>Process 0 → 250 trapezoids</a:t>
            </a:r>
          </a:p>
          <a:p>
            <a:r>
              <a:rPr lang="en-US" dirty="0"/>
              <a:t>Process 1 → 250 trapezoids</a:t>
            </a:r>
          </a:p>
          <a:p>
            <a:r>
              <a:rPr lang="en-US" dirty="0"/>
              <a:t>Process 2 → 250 trapezoids</a:t>
            </a:r>
          </a:p>
          <a:p>
            <a:r>
              <a:rPr lang="en-US" dirty="0"/>
              <a:t>Process 3 → 250 </a:t>
            </a:r>
            <a:r>
              <a:rPr lang="en-US" dirty="0" smtClean="0"/>
              <a:t>trapezoids</a:t>
            </a:r>
          </a:p>
          <a:p>
            <a:r>
              <a:rPr lang="en-US" b="1" dirty="0"/>
              <a:t>Step 5: Calculate local integral</a:t>
            </a:r>
          </a:p>
          <a:p>
            <a:r>
              <a:rPr lang="en-US" dirty="0"/>
              <a:t>Each process calculates its own </a:t>
            </a:r>
            <a:r>
              <a:rPr lang="en-US" b="1" dirty="0"/>
              <a:t>local integral</a:t>
            </a:r>
            <a:r>
              <a:rPr lang="en-US" dirty="0"/>
              <a:t>.</a:t>
            </a:r>
          </a:p>
          <a:p>
            <a:r>
              <a:rPr lang="en-US" b="1" dirty="0"/>
              <a:t>Step 6: Combine the results</a:t>
            </a:r>
          </a:p>
          <a:p>
            <a:r>
              <a:rPr lang="en-US" dirty="0"/>
              <a:t>The local results are added together using:</a:t>
            </a:r>
          </a:p>
          <a:p>
            <a:r>
              <a:rPr lang="en-US" b="1" dirty="0"/>
              <a:t>Step 5: Calculate local integral</a:t>
            </a:r>
          </a:p>
          <a:p>
            <a:r>
              <a:rPr lang="en-US" dirty="0"/>
              <a:t>Each process calculates its own </a:t>
            </a:r>
            <a:r>
              <a:rPr lang="en-US" b="1" dirty="0"/>
              <a:t>local integral</a:t>
            </a:r>
            <a:r>
              <a:rPr lang="en-US" dirty="0"/>
              <a:t>.</a:t>
            </a:r>
          </a:p>
          <a:p>
            <a:r>
              <a:rPr lang="en-US" b="1" dirty="0"/>
              <a:t>Step 6: Combine the results</a:t>
            </a:r>
          </a:p>
          <a:p>
            <a:r>
              <a:rPr lang="en-US" dirty="0"/>
              <a:t>The local results are added together using</a:t>
            </a:r>
            <a:r>
              <a:rPr lang="en-US" dirty="0" smtClean="0"/>
              <a:t>:</a:t>
            </a:r>
          </a:p>
          <a:p>
            <a:r>
              <a:rPr lang="en-US" dirty="0" err="1"/>
              <a:t>MPI_Reduce</a:t>
            </a:r>
            <a:r>
              <a:rPr lang="en-US" dirty="0"/>
              <a:t>()</a:t>
            </a:r>
          </a:p>
          <a:p>
            <a:endParaRPr lang="en-US" dirty="0"/>
          </a:p>
          <a:p>
            <a:endParaRPr lang="en-US" dirty="0"/>
          </a:p>
        </p:txBody>
      </p:sp>
    </p:spTree>
    <p:extLst>
      <p:ext uri="{BB962C8B-B14F-4D97-AF65-F5344CB8AC3E}">
        <p14:creationId xmlns:p14="http://schemas.microsoft.com/office/powerpoint/2010/main" val="34205821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1925" y="0"/>
            <a:ext cx="11849100" cy="6581775"/>
          </a:xfrm>
        </p:spPr>
        <p:txBody>
          <a:bodyPr/>
          <a:lstStyle/>
          <a:p>
            <a:r>
              <a:rPr lang="en-US" dirty="0"/>
              <a:t>For example</a:t>
            </a:r>
            <a:r>
              <a:rPr lang="en-US" dirty="0" smtClean="0"/>
              <a:t>:</a:t>
            </a:r>
          </a:p>
          <a:p>
            <a:r>
              <a:rPr lang="en-US" dirty="0"/>
              <a:t>Process 0 → 2.5</a:t>
            </a:r>
          </a:p>
          <a:p>
            <a:r>
              <a:rPr lang="en-US" dirty="0"/>
              <a:t>Process 1 → 3.1</a:t>
            </a:r>
          </a:p>
          <a:p>
            <a:r>
              <a:rPr lang="en-US" dirty="0"/>
              <a:t>Process 2 → 4.2</a:t>
            </a:r>
          </a:p>
          <a:p>
            <a:r>
              <a:rPr lang="en-US" dirty="0"/>
              <a:t>Process 3 → 5.2</a:t>
            </a:r>
          </a:p>
          <a:p>
            <a:r>
              <a:rPr lang="en-US" dirty="0"/>
              <a:t>                  ↓</a:t>
            </a:r>
          </a:p>
          <a:p>
            <a:r>
              <a:rPr lang="en-US" dirty="0"/>
              <a:t>            </a:t>
            </a:r>
            <a:r>
              <a:rPr lang="en-US" dirty="0" err="1"/>
              <a:t>MPI_Reduce</a:t>
            </a:r>
            <a:r>
              <a:rPr lang="en-US" dirty="0"/>
              <a:t>()</a:t>
            </a:r>
          </a:p>
          <a:p>
            <a:r>
              <a:rPr lang="en-US" dirty="0"/>
              <a:t>                  ↓</a:t>
            </a:r>
          </a:p>
          <a:p>
            <a:r>
              <a:rPr lang="en-US" dirty="0"/>
              <a:t>               </a:t>
            </a:r>
            <a:r>
              <a:rPr lang="en-US" dirty="0" smtClean="0"/>
              <a:t>15.0</a:t>
            </a:r>
          </a:p>
          <a:p>
            <a:r>
              <a:rPr lang="en-US" dirty="0"/>
              <a:t>Step 7: Finish </a:t>
            </a:r>
            <a:r>
              <a:rPr lang="en-US" dirty="0" smtClean="0"/>
              <a:t>MPI</a:t>
            </a:r>
          </a:p>
          <a:p>
            <a:r>
              <a:rPr lang="en-US" dirty="0" err="1"/>
              <a:t>MPI_Finalize</a:t>
            </a:r>
            <a:r>
              <a:rPr lang="en-US" dirty="0" smtClean="0"/>
              <a:t>();</a:t>
            </a:r>
          </a:p>
          <a:p>
            <a:endParaRPr lang="en-US" dirty="0"/>
          </a:p>
        </p:txBody>
      </p:sp>
    </p:spTree>
    <p:extLst>
      <p:ext uri="{BB962C8B-B14F-4D97-AF65-F5344CB8AC3E}">
        <p14:creationId xmlns:p14="http://schemas.microsoft.com/office/powerpoint/2010/main" val="4145521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4. Important MPI functions</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838200" y="2840679"/>
            <a:ext cx="10515600" cy="2321230"/>
          </a:xfrm>
          <a:prstGeom prst="rect">
            <a:avLst/>
          </a:prstGeom>
        </p:spPr>
      </p:pic>
    </p:spTree>
    <p:extLst>
      <p:ext uri="{BB962C8B-B14F-4D97-AF65-F5344CB8AC3E}">
        <p14:creationId xmlns:p14="http://schemas.microsoft.com/office/powerpoint/2010/main" val="3845671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5. Main idea of the algorithm</a:t>
            </a:r>
            <a:br>
              <a:rPr lang="en-US" b="1" dirty="0"/>
            </a:b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The serial version does</a:t>
            </a:r>
            <a:r>
              <a:rPr lang="en-US" dirty="0" smtClean="0"/>
              <a:t>:</a:t>
            </a:r>
          </a:p>
          <a:p>
            <a:r>
              <a:rPr lang="en-US" dirty="0"/>
              <a:t>Calculate f(x) for all points</a:t>
            </a:r>
          </a:p>
          <a:p>
            <a:r>
              <a:rPr lang="en-US" dirty="0"/>
              <a:t>        ↓</a:t>
            </a:r>
          </a:p>
          <a:p>
            <a:r>
              <a:rPr lang="en-US" dirty="0"/>
              <a:t>Calculate all trapezoid areas</a:t>
            </a:r>
          </a:p>
          <a:p>
            <a:r>
              <a:rPr lang="en-US" dirty="0"/>
              <a:t>        ↓</a:t>
            </a:r>
          </a:p>
          <a:p>
            <a:r>
              <a:rPr lang="en-US" dirty="0"/>
              <a:t>Add all areas</a:t>
            </a:r>
          </a:p>
          <a:p>
            <a:r>
              <a:rPr lang="en-US" dirty="0"/>
              <a:t>        ↓</a:t>
            </a:r>
          </a:p>
          <a:p>
            <a:r>
              <a:rPr lang="en-US" dirty="0"/>
              <a:t>Final integral</a:t>
            </a:r>
          </a:p>
        </p:txBody>
      </p:sp>
    </p:spTree>
    <p:extLst>
      <p:ext uri="{BB962C8B-B14F-4D97-AF65-F5344CB8AC3E}">
        <p14:creationId xmlns:p14="http://schemas.microsoft.com/office/powerpoint/2010/main" val="1720615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a:t>The MPI version does</a:t>
            </a:r>
            <a:r>
              <a:rPr lang="en-US" dirty="0" smtClean="0"/>
              <a:t>:</a:t>
            </a:r>
          </a:p>
          <a:p>
            <a:r>
              <a:rPr lang="en-US" dirty="0"/>
              <a:t>Total work</a:t>
            </a:r>
          </a:p>
          <a:p>
            <a:r>
              <a:rPr lang="en-US" dirty="0"/>
              <a:t>                    ↓</a:t>
            </a:r>
          </a:p>
          <a:p>
            <a:r>
              <a:rPr lang="en-US" dirty="0"/>
              <a:t>        ┌───────────┼───────────┐</a:t>
            </a:r>
          </a:p>
          <a:p>
            <a:r>
              <a:rPr lang="en-US" dirty="0"/>
              <a:t>        ↓           ↓           ↓</a:t>
            </a:r>
          </a:p>
          <a:p>
            <a:r>
              <a:rPr lang="en-US" dirty="0"/>
              <a:t>       P0          P1          P2          P3</a:t>
            </a:r>
          </a:p>
          <a:p>
            <a:r>
              <a:rPr lang="en-US" dirty="0"/>
              <a:t>        ↓           ↓           ↓           ↓</a:t>
            </a:r>
          </a:p>
          <a:p>
            <a:r>
              <a:rPr lang="en-US" dirty="0"/>
              <a:t>     Local        </a:t>
            </a:r>
            <a:r>
              <a:rPr lang="en-US" dirty="0" err="1"/>
              <a:t>Local</a:t>
            </a:r>
            <a:r>
              <a:rPr lang="en-US" dirty="0"/>
              <a:t>       </a:t>
            </a:r>
            <a:r>
              <a:rPr lang="en-US" dirty="0" err="1"/>
              <a:t>Local</a:t>
            </a:r>
            <a:r>
              <a:rPr lang="en-US" dirty="0"/>
              <a:t>       </a:t>
            </a:r>
            <a:r>
              <a:rPr lang="en-US" dirty="0" err="1"/>
              <a:t>Local</a:t>
            </a:r>
            <a:endParaRPr lang="en-US" dirty="0"/>
          </a:p>
          <a:p>
            <a:r>
              <a:rPr lang="en-US" dirty="0"/>
              <a:t>      sum          </a:t>
            </a:r>
            <a:r>
              <a:rPr lang="en-US" dirty="0" err="1"/>
              <a:t>sum</a:t>
            </a:r>
            <a:r>
              <a:rPr lang="en-US" dirty="0"/>
              <a:t>         </a:t>
            </a:r>
            <a:r>
              <a:rPr lang="en-US" dirty="0" err="1"/>
              <a:t>sum</a:t>
            </a:r>
            <a:r>
              <a:rPr lang="en-US" dirty="0"/>
              <a:t>         </a:t>
            </a:r>
            <a:r>
              <a:rPr lang="en-US" dirty="0" err="1"/>
              <a:t>sum</a:t>
            </a:r>
            <a:endParaRPr lang="en-US" dirty="0"/>
          </a:p>
          <a:p>
            <a:r>
              <a:rPr lang="en-US" dirty="0"/>
              <a:t>        └───────────┬───────────┘</a:t>
            </a:r>
          </a:p>
          <a:p>
            <a:r>
              <a:rPr lang="en-US" dirty="0"/>
              <a:t>                    ↓</a:t>
            </a:r>
          </a:p>
          <a:p>
            <a:r>
              <a:rPr lang="en-US" dirty="0"/>
              <a:t>              </a:t>
            </a:r>
            <a:r>
              <a:rPr lang="en-US" dirty="0" err="1"/>
              <a:t>MPI_Reduce</a:t>
            </a:r>
            <a:endParaRPr lang="en-US" dirty="0"/>
          </a:p>
          <a:p>
            <a:r>
              <a:rPr lang="en-US" dirty="0"/>
              <a:t>                    ↓</a:t>
            </a:r>
          </a:p>
          <a:p>
            <a:r>
              <a:rPr lang="en-US" dirty="0"/>
              <a:t>              Final result</a:t>
            </a:r>
          </a:p>
        </p:txBody>
      </p:sp>
    </p:spTree>
    <p:extLst>
      <p:ext uri="{BB962C8B-B14F-4D97-AF65-F5344CB8AC3E}">
        <p14:creationId xmlns:p14="http://schemas.microsoft.com/office/powerpoint/2010/main" val="2174568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Distributed Memory Programming with MPI</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Each process has its own private memory</a:t>
            </a:r>
          </a:p>
          <a:p>
            <a:pPr>
              <a:spcAft>
                <a:spcPts val="1200"/>
              </a:spcAft>
              <a:defRPr sz="2100"/>
            </a:pPr>
            <a:r>
              <a:t>Processes communicate by sending and receiving messages</a:t>
            </a:r>
          </a:p>
          <a:p>
            <a:pPr>
              <a:spcAft>
                <a:spcPts val="1200"/>
              </a:spcAft>
              <a:defRPr sz="2100"/>
            </a:pPr>
            <a:r>
              <a:t>MPI = Message Passing Interface</a:t>
            </a:r>
          </a:p>
          <a:p>
            <a:pPr>
              <a:spcAft>
                <a:spcPts val="1200"/>
              </a:spcAft>
              <a:defRPr sz="2100"/>
            </a:pPr>
            <a:r>
              <a:t>Common in clusters and high-performance computing</a:t>
            </a:r>
          </a:p>
          <a:p>
            <a:pPr>
              <a:spcAft>
                <a:spcPts val="1200"/>
              </a:spcAft>
              <a:defRPr sz="2100"/>
            </a:pPr>
            <a:r>
              <a:t>Each process is identified by a unique rank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MPI Process Model</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MPI program starts multiple processes</a:t>
            </a:r>
          </a:p>
          <a:p>
            <a:pPr>
              <a:spcAft>
                <a:spcPts val="1200"/>
              </a:spcAft>
              <a:defRPr sz="2100"/>
            </a:pPr>
            <a:r>
              <a:t>MPI_Comm_size() → total number of processes</a:t>
            </a:r>
          </a:p>
          <a:p>
            <a:pPr>
              <a:spcAft>
                <a:spcPts val="1200"/>
              </a:spcAft>
              <a:defRPr sz="2100"/>
            </a:pPr>
            <a:r>
              <a:t>MPI_Comm_rank() → rank of current process</a:t>
            </a:r>
          </a:p>
          <a:p>
            <a:pPr>
              <a:spcAft>
                <a:spcPts val="1200"/>
              </a:spcAft>
              <a:defRPr sz="2100"/>
            </a:pPr>
            <a:r>
              <a:t>MPI_COMM_WORLD → default communicator</a:t>
            </a:r>
          </a:p>
          <a:p>
            <a:pPr>
              <a:spcAft>
                <a:spcPts val="1200"/>
              </a:spcAft>
              <a:defRPr sz="2100"/>
            </a:pPr>
            <a:r>
              <a:t>MPI_Send() and MPI_Recv() support point-to-point communication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Basic MPI Program Structure</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MPI_Init() → start MPI environment</a:t>
            </a:r>
          </a:p>
          <a:p>
            <a:pPr>
              <a:spcAft>
                <a:spcPts val="1200"/>
              </a:spcAft>
              <a:defRPr sz="2100"/>
            </a:pPr>
            <a:r>
              <a:t>MPI_Comm_size() → obtain number of processes</a:t>
            </a:r>
          </a:p>
          <a:p>
            <a:pPr>
              <a:spcAft>
                <a:spcPts val="1200"/>
              </a:spcAft>
              <a:defRPr sz="2100"/>
            </a:pPr>
            <a:r>
              <a:t>MPI_Comm_rank() → obtain process rank</a:t>
            </a:r>
          </a:p>
          <a:p>
            <a:pPr>
              <a:spcAft>
                <a:spcPts val="1200"/>
              </a:spcAft>
              <a:defRPr sz="2100"/>
            </a:pPr>
            <a:r>
              <a:t>Perform parallel computation and communication</a:t>
            </a:r>
          </a:p>
          <a:p>
            <a:pPr>
              <a:spcAft>
                <a:spcPts val="1200"/>
              </a:spcAft>
              <a:defRPr sz="2100"/>
            </a:pPr>
            <a:r>
              <a:t>MPI_Finalize() → terminate MPI environment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The Trapezoidal Rule</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Numerically approximates a definite integral</a:t>
            </a:r>
          </a:p>
          <a:p>
            <a:pPr>
              <a:spcAft>
                <a:spcPts val="1200"/>
              </a:spcAft>
              <a:defRPr sz="2100"/>
            </a:pPr>
            <a:r>
              <a:t>Divide interval [a,b] into n equal subintervals</a:t>
            </a:r>
          </a:p>
          <a:p>
            <a:pPr>
              <a:spcAft>
                <a:spcPts val="1200"/>
              </a:spcAft>
              <a:defRPr sz="2100"/>
            </a:pPr>
            <a:r>
              <a:t>h = (b − a) / n</a:t>
            </a:r>
          </a:p>
          <a:p>
            <a:pPr>
              <a:spcAft>
                <a:spcPts val="1200"/>
              </a:spcAft>
              <a:defRPr sz="2100"/>
            </a:pPr>
            <a:r>
              <a:t>Compute the area of each trapezoid</a:t>
            </a:r>
          </a:p>
          <a:p>
            <a:pPr>
              <a:spcAft>
                <a:spcPts val="1200"/>
              </a:spcAft>
              <a:defRPr sz="2100"/>
            </a:pPr>
            <a:r>
              <a:t>Add all areas to obtain the approximate integral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Trapezoidal Rule in MPI</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Divide the integration interval among processes</a:t>
            </a:r>
          </a:p>
          <a:p>
            <a:pPr>
              <a:spcAft>
                <a:spcPts val="1200"/>
              </a:spcAft>
              <a:defRPr sz="2100"/>
            </a:pPr>
            <a:r>
              <a:t>Each process computes a local integral</a:t>
            </a:r>
          </a:p>
          <a:p>
            <a:pPr>
              <a:spcAft>
                <a:spcPts val="1200"/>
              </a:spcAft>
              <a:defRPr sz="2100"/>
            </a:pPr>
            <a:r>
              <a:t>Local results are combined using MPI_Reduce()</a:t>
            </a:r>
          </a:p>
          <a:p>
            <a:pPr>
              <a:spcAft>
                <a:spcPts val="1200"/>
              </a:spcAft>
              <a:defRPr sz="2100"/>
            </a:pPr>
            <a:r>
              <a:t>Rank 0 can report the final result</a:t>
            </a:r>
          </a:p>
          <a:p>
            <a:pPr>
              <a:spcAft>
                <a:spcPts val="1200"/>
              </a:spcAft>
              <a:defRPr sz="2100"/>
            </a:pPr>
            <a:r>
              <a:t>Parallelism reduces computation time for large 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Dealing with I/O in MPI</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I/O = Input/Output</a:t>
            </a:r>
          </a:p>
          <a:p>
            <a:pPr>
              <a:spcAft>
                <a:spcPts val="1200"/>
              </a:spcAft>
              <a:defRPr sz="2100"/>
            </a:pPr>
            <a:r>
              <a:t>Uncoordinated simultaneous output can be confusing and slow</a:t>
            </a:r>
          </a:p>
          <a:p>
            <a:pPr>
              <a:spcAft>
                <a:spcPts val="1200"/>
              </a:spcAft>
              <a:defRPr sz="2100"/>
            </a:pPr>
            <a:r>
              <a:t>A common approach is to let rank 0 handle common input/output</a:t>
            </a:r>
          </a:p>
          <a:p>
            <a:pPr>
              <a:spcAft>
                <a:spcPts val="1200"/>
              </a:spcAft>
              <a:defRPr sz="2100"/>
            </a:pPr>
            <a:r>
              <a:t>For very large datasets, MPI supports parallel/distributed I/O</a:t>
            </a:r>
          </a:p>
          <a:p>
            <a:pPr>
              <a:spcAft>
                <a:spcPts val="1200"/>
              </a:spcAft>
              <a:defRPr sz="2100"/>
            </a:pPr>
            <a:r>
              <a:t>Minimize unnecessary file access and communication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Collective Communication</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Communication involving a group of processes</a:t>
            </a:r>
          </a:p>
          <a:p>
            <a:pPr>
              <a:spcAft>
                <a:spcPts val="1200"/>
              </a:spcAft>
              <a:defRPr sz="2100"/>
            </a:pPr>
            <a:r>
              <a:t>MPI_Bcast() → one process broadcasts data to all</a:t>
            </a:r>
          </a:p>
          <a:p>
            <a:pPr>
              <a:spcAft>
                <a:spcPts val="1200"/>
              </a:spcAft>
              <a:defRPr sz="2100"/>
            </a:pPr>
            <a:r>
              <a:t>MPI_Scatter() → distributes different portions of data</a:t>
            </a:r>
          </a:p>
          <a:p>
            <a:pPr>
              <a:spcAft>
                <a:spcPts val="1200"/>
              </a:spcAft>
              <a:defRPr sz="2100"/>
            </a:pPr>
            <a:r>
              <a:t>MPI_Gather() → collects data from processes</a:t>
            </a:r>
          </a:p>
          <a:p>
            <a:pPr>
              <a:spcAft>
                <a:spcPts val="1200"/>
              </a:spcAft>
              <a:defRPr sz="2100"/>
            </a:pPr>
            <a:r>
              <a:t>MPI_Reduce() → combines values at a root process</a:t>
            </a:r>
          </a:p>
          <a:p>
            <a:pPr>
              <a:spcAft>
                <a:spcPts val="1200"/>
              </a:spcAft>
              <a:defRPr sz="2100"/>
            </a:pPr>
            <a:r>
              <a:t>MPI_Allreduce() → combines and makes result available to all</a:t>
            </a:r>
          </a:p>
          <a:p>
            <a:pPr>
              <a:spcAft>
                <a:spcPts val="1200"/>
              </a:spcAft>
              <a:defRPr sz="2100"/>
            </a:pPr>
            <a:r>
              <a:t>MPI_Barrier() → synchronizes processes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MPI_Reduce in Trapezoidal Rule</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Each process calculates a local sum</a:t>
            </a:r>
          </a:p>
          <a:p>
            <a:pPr>
              <a:spcAft>
                <a:spcPts val="1200"/>
              </a:spcAft>
              <a:defRPr sz="2100"/>
            </a:pPr>
            <a:r>
              <a:t>MPI_Reduce() combines local sums</a:t>
            </a:r>
          </a:p>
          <a:p>
            <a:pPr>
              <a:spcAft>
                <a:spcPts val="1200"/>
              </a:spcAft>
              <a:defRPr sz="2100"/>
            </a:pPr>
            <a:r>
              <a:t>Typical operation: MPI_SUM</a:t>
            </a:r>
          </a:p>
          <a:p>
            <a:pPr>
              <a:spcAft>
                <a:spcPts val="1200"/>
              </a:spcAft>
              <a:defRPr sz="2100"/>
            </a:pPr>
            <a:r>
              <a:t>Result can be placed at root process</a:t>
            </a:r>
          </a:p>
          <a:p>
            <a:pPr>
              <a:spcAft>
                <a:spcPts val="1200"/>
              </a:spcAft>
              <a:defRPr sz="2100"/>
            </a:pPr>
            <a:r>
              <a:t>Useful for global totals such as the final integral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Performance Evaluation of MPI Programs</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Measure execution time using MPI_Wtime()</a:t>
            </a:r>
          </a:p>
          <a:p>
            <a:pPr>
              <a:spcAft>
                <a:spcPts val="1200"/>
              </a:spcAft>
              <a:defRPr sz="2100"/>
            </a:pPr>
            <a:r>
              <a:t>Speedup: Sₚ = T₁ / Tₚ</a:t>
            </a:r>
          </a:p>
          <a:p>
            <a:pPr>
              <a:spcAft>
                <a:spcPts val="1200"/>
              </a:spcAft>
              <a:defRPr sz="2100"/>
            </a:pPr>
            <a:r>
              <a:t>Efficiency: Eₚ = Sₚ / p</a:t>
            </a:r>
          </a:p>
          <a:p>
            <a:pPr>
              <a:spcAft>
                <a:spcPts val="1200"/>
              </a:spcAft>
              <a:defRPr sz="2100"/>
            </a:pPr>
            <a:r>
              <a:t>Evaluate scalability as process count increases</a:t>
            </a:r>
          </a:p>
          <a:p>
            <a:pPr>
              <a:spcAft>
                <a:spcPts val="1200"/>
              </a:spcAft>
              <a:defRPr sz="2100"/>
            </a:pPr>
            <a:r>
              <a:t>Consider communication overhead and synchronization</a:t>
            </a:r>
          </a:p>
          <a:p>
            <a:pPr>
              <a:spcAft>
                <a:spcPts val="1200"/>
              </a:spcAft>
              <a:defRPr sz="2100"/>
            </a:pPr>
            <a:r>
              <a:t>Check load balancing among processes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Communication Overhead and Load Balancing</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Communication includes message transfer and synchronization</a:t>
            </a:r>
          </a:p>
          <a:p>
            <a:pPr>
              <a:spcAft>
                <a:spcPts val="1200"/>
              </a:spcAft>
              <a:defRPr sz="2100"/>
            </a:pPr>
            <a:r>
              <a:t>Latency affects the start of communication</a:t>
            </a:r>
          </a:p>
          <a:p>
            <a:pPr>
              <a:spcAft>
                <a:spcPts val="1200"/>
              </a:spcAft>
              <a:defRPr sz="2100"/>
            </a:pPr>
            <a:r>
              <a:t>Bandwidth affects the rate of data transfer</a:t>
            </a:r>
          </a:p>
          <a:p>
            <a:pPr>
              <a:spcAft>
                <a:spcPts val="1200"/>
              </a:spcAft>
              <a:defRPr sz="2100"/>
            </a:pPr>
            <a:r>
              <a:t>Good load balancing gives each process similar work</a:t>
            </a:r>
          </a:p>
          <a:p>
            <a:pPr>
              <a:spcAft>
                <a:spcPts val="1200"/>
              </a:spcAft>
              <a:defRPr sz="2100"/>
            </a:pPr>
            <a:r>
              <a:t>Too much communication or imbalance can reduce speedup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Parallel Sorting Algorithm</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Divide unsorted data among processes</a:t>
            </a:r>
          </a:p>
          <a:p>
            <a:pPr>
              <a:spcAft>
                <a:spcPts val="1200"/>
              </a:spcAft>
              <a:defRPr sz="2100"/>
            </a:pPr>
            <a:r>
              <a:t>Each process sorts its local portion</a:t>
            </a:r>
          </a:p>
          <a:p>
            <a:pPr>
              <a:spcAft>
                <a:spcPts val="1200"/>
              </a:spcAft>
              <a:defRPr sz="2100"/>
            </a:pPr>
            <a:r>
              <a:t>Collect or exchange sorted portions</a:t>
            </a:r>
          </a:p>
          <a:p>
            <a:pPr>
              <a:spcAft>
                <a:spcPts val="1200"/>
              </a:spcAft>
              <a:defRPr sz="2100"/>
            </a:pPr>
            <a:r>
              <a:t>Merge the sorted portions to obtain the final sorted sequence</a:t>
            </a:r>
          </a:p>
          <a:p>
            <a:pPr>
              <a:spcAft>
                <a:spcPts val="1200"/>
              </a:spcAft>
              <a:defRPr sz="2100"/>
            </a:pPr>
            <a:r>
              <a:t>MPI_Scatter() and MPI_Gather() can support the data distribution and collection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Parallel Sorting Example</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Input: [8, 3, 7, 2, 6, 1, 5, 4]</a:t>
            </a:r>
          </a:p>
          <a:p>
            <a:pPr>
              <a:spcAft>
                <a:spcPts val="1200"/>
              </a:spcAft>
              <a:defRPr sz="2100"/>
            </a:pPr>
            <a:r>
              <a:t>P0 → [8,3] → [3,8]</a:t>
            </a:r>
          </a:p>
          <a:p>
            <a:pPr>
              <a:spcAft>
                <a:spcPts val="1200"/>
              </a:spcAft>
              <a:defRPr sz="2100"/>
            </a:pPr>
            <a:r>
              <a:t>P1 → [7,2] → [2,7]</a:t>
            </a:r>
          </a:p>
          <a:p>
            <a:pPr>
              <a:spcAft>
                <a:spcPts val="1200"/>
              </a:spcAft>
              <a:defRPr sz="2100"/>
            </a:pPr>
            <a:r>
              <a:t>P2 → [6,1] → [1,6]</a:t>
            </a:r>
          </a:p>
          <a:p>
            <a:pPr>
              <a:spcAft>
                <a:spcPts val="1200"/>
              </a:spcAft>
              <a:defRPr sz="2100"/>
            </a:pPr>
            <a:r>
              <a:t>P3 → [5,4] → [4,5]</a:t>
            </a:r>
          </a:p>
          <a:p>
            <a:pPr>
              <a:spcAft>
                <a:spcPts val="1200"/>
              </a:spcAft>
              <a:defRPr sz="2100"/>
            </a:pPr>
            <a:r>
              <a:t>Final merged result: [1,2,3,4,5,6,7,8]</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MPI-Derived Datatypes</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Allow complex data layouts to be described as one MPI datatype</a:t>
            </a:r>
          </a:p>
          <a:p>
            <a:pPr>
              <a:spcAft>
                <a:spcPts val="1200"/>
              </a:spcAft>
              <a:defRPr sz="2100"/>
            </a:pPr>
            <a:r>
              <a:t>Useful for non-contiguous data and mixed data types</a:t>
            </a:r>
          </a:p>
          <a:p>
            <a:pPr>
              <a:spcAft>
                <a:spcPts val="1200"/>
              </a:spcAft>
              <a:defRPr sz="2100"/>
            </a:pPr>
            <a:r>
              <a:t>Can reduce repeated communication and manual packing</a:t>
            </a:r>
          </a:p>
          <a:p>
            <a:pPr>
              <a:spcAft>
                <a:spcPts val="1200"/>
              </a:spcAft>
              <a:defRPr sz="2100"/>
            </a:pPr>
            <a:r>
              <a:t>Examples: contiguous, vector, indexed, and struct datatypes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Common Derived Datatype Functions</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MPI_Type_contiguous() → consecutive elements</a:t>
            </a:r>
          </a:p>
          <a:p>
            <a:pPr>
              <a:spcAft>
                <a:spcPts val="1200"/>
              </a:spcAft>
              <a:defRPr sz="2100"/>
            </a:pPr>
            <a:r>
              <a:t>MPI_Type_vector() → regularly spaced elements</a:t>
            </a:r>
          </a:p>
          <a:p>
            <a:pPr>
              <a:spcAft>
                <a:spcPts val="1200"/>
              </a:spcAft>
              <a:defRPr sz="2100"/>
            </a:pPr>
            <a:r>
              <a:t>MPI_Type_indexed() → irregularly spaced elements</a:t>
            </a:r>
          </a:p>
          <a:p>
            <a:pPr>
              <a:spcAft>
                <a:spcPts val="1200"/>
              </a:spcAft>
              <a:defRPr sz="2100"/>
            </a:pPr>
            <a:r>
              <a:t>MPI_Type_create_struct() → mixed fields/types</a:t>
            </a:r>
          </a:p>
          <a:p>
            <a:pPr>
              <a:spcAft>
                <a:spcPts val="1200"/>
              </a:spcAft>
              <a:defRPr sz="2100"/>
            </a:pPr>
            <a:r>
              <a:t>MPI_Type_commit() → make datatype ready for use</a:t>
            </a:r>
          </a:p>
          <a:p>
            <a:pPr>
              <a:spcAft>
                <a:spcPts val="1200"/>
              </a:spcAft>
              <a:defRPr sz="2100"/>
            </a:pPr>
            <a:r>
              <a:t>MPI_Type_free() → release the datatype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731520"/>
          </a:xfrm>
          <a:prstGeom prst="rect">
            <a:avLst/>
          </a:prstGeom>
          <a:noFill/>
        </p:spPr>
        <p:txBody>
          <a:bodyPr wrap="none">
            <a:spAutoFit/>
          </a:bodyPr>
          <a:lstStyle/>
          <a:p>
            <a:pPr>
              <a:defRPr sz="3000" b="1"/>
            </a:pPr>
            <a:r>
              <a:t>Key Takeaways</a:t>
            </a:r>
          </a:p>
        </p:txBody>
      </p:sp>
      <p:sp>
        <p:nvSpPr>
          <p:cNvPr id="3" name="TextBox 2"/>
          <p:cNvSpPr txBox="1"/>
          <p:nvPr/>
        </p:nvSpPr>
        <p:spPr>
          <a:xfrm>
            <a:off x="777240" y="1234440"/>
            <a:ext cx="10698480" cy="5029200"/>
          </a:xfrm>
          <a:prstGeom prst="rect">
            <a:avLst/>
          </a:prstGeom>
          <a:noFill/>
        </p:spPr>
        <p:txBody>
          <a:bodyPr wrap="square">
            <a:spAutoFit/>
          </a:bodyPr>
          <a:lstStyle/>
          <a:p>
            <a:pPr>
              <a:spcAft>
                <a:spcPts val="1200"/>
              </a:spcAft>
              <a:defRPr sz="2100"/>
            </a:pPr>
            <a:r>
              <a:t>MPI enables distributed-memory parallel programming</a:t>
            </a:r>
          </a:p>
          <a:p>
            <a:pPr>
              <a:spcAft>
                <a:spcPts val="1200"/>
              </a:spcAft>
              <a:defRPr sz="2100"/>
            </a:pPr>
            <a:r>
              <a:t>Trapezoidal integration demonstrates parallel numerical computation</a:t>
            </a:r>
          </a:p>
          <a:p>
            <a:pPr>
              <a:spcAft>
                <a:spcPts val="1200"/>
              </a:spcAft>
              <a:defRPr sz="2100"/>
            </a:pPr>
            <a:r>
              <a:t>Collective communication coordinates groups of processes</a:t>
            </a:r>
          </a:p>
          <a:p>
            <a:pPr>
              <a:spcAft>
                <a:spcPts val="1200"/>
              </a:spcAft>
              <a:defRPr sz="2100"/>
            </a:pPr>
            <a:r>
              <a:t>Performance depends on time, speedup, efficiency, communication and load balance</a:t>
            </a:r>
          </a:p>
          <a:p>
            <a:pPr>
              <a:spcAft>
                <a:spcPts val="1200"/>
              </a:spcAft>
              <a:defRPr sz="2100"/>
            </a:pPr>
            <a:r>
              <a:t>Parallel sorting divides sorting work across processes</a:t>
            </a:r>
          </a:p>
          <a:p>
            <a:pPr>
              <a:spcAft>
                <a:spcPts val="1200"/>
              </a:spcAft>
              <a:defRPr sz="2100"/>
            </a:pPr>
            <a:r>
              <a:t>Derived datatypes simplify communication of complex memory layouts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TotalTime>
  <Words>2286</Words>
  <Application>Microsoft Office PowerPoint</Application>
  <PresentationFormat>Widescreen</PresentationFormat>
  <Paragraphs>405</Paragraphs>
  <Slides>42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PowerPoint Presentation</vt:lpstr>
      <vt:lpstr>PowerPoint Presentation</vt:lpstr>
      <vt:lpstr>MODULE 3</vt:lpstr>
      <vt:lpstr>DEFINITION </vt:lpstr>
      <vt:lpstr>PowerPoint Presentation</vt:lpstr>
      <vt:lpstr>PowerPoint Presentation</vt:lpstr>
      <vt:lpstr>PowerPoint Presentation</vt:lpstr>
      <vt:lpstr>PowerPoint Presentation</vt:lpstr>
      <vt:lpstr>PowerPoint Presentation</vt:lpstr>
      <vt:lpstr>PowerPoint Presentation</vt:lpstr>
      <vt:lpstr>6. Simple example</vt:lpstr>
      <vt:lpstr>PowerPoint Presentation</vt:lpstr>
      <vt:lpstr>PowerPoint Presentation</vt:lpstr>
      <vt:lpstr>       8. Example: Adding numbers using MPI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Important MPI functions </vt:lpstr>
      <vt:lpstr>5. Main idea of the algorithm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DELL</dc:creator>
  <cp:keywords/>
  <dc:description>generated using python-pptx</dc:description>
  <cp:lastModifiedBy>DELL</cp:lastModifiedBy>
  <cp:revision>3</cp:revision>
  <dcterms:created xsi:type="dcterms:W3CDTF">2013-01-27T09:14:16Z</dcterms:created>
  <dcterms:modified xsi:type="dcterms:W3CDTF">2026-08-18T08:22:29Z</dcterms:modified>
  <cp:category/>
</cp:coreProperties>
</file>