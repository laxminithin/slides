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2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56" r:id="rId10"/>
    <p:sldId id="357" r:id="rId11"/>
    <p:sldId id="358" r:id="rId12"/>
    <p:sldId id="372" r:id="rId13"/>
    <p:sldId id="359" r:id="rId14"/>
    <p:sldId id="324" r:id="rId15"/>
    <p:sldId id="360" r:id="rId16"/>
    <p:sldId id="361" r:id="rId17"/>
    <p:sldId id="363" r:id="rId18"/>
    <p:sldId id="326" r:id="rId19"/>
    <p:sldId id="364" r:id="rId20"/>
    <p:sldId id="327" r:id="rId21"/>
    <p:sldId id="365" r:id="rId22"/>
    <p:sldId id="366" r:id="rId23"/>
    <p:sldId id="328" r:id="rId24"/>
    <p:sldId id="329" r:id="rId25"/>
    <p:sldId id="330" r:id="rId26"/>
    <p:sldId id="331" r:id="rId27"/>
    <p:sldId id="367" r:id="rId28"/>
    <p:sldId id="368" r:id="rId29"/>
    <p:sldId id="369" r:id="rId30"/>
    <p:sldId id="370" r:id="rId31"/>
    <p:sldId id="333" r:id="rId32"/>
    <p:sldId id="334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371" r:id="rId43"/>
    <p:sldId id="266" r:id="rId44"/>
    <p:sldId id="335" r:id="rId45"/>
    <p:sldId id="267" r:id="rId46"/>
    <p:sldId id="269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9" r:id="rId55"/>
    <p:sldId id="280" r:id="rId56"/>
    <p:sldId id="281" r:id="rId57"/>
    <p:sldId id="282" r:id="rId58"/>
    <p:sldId id="283" r:id="rId59"/>
    <p:sldId id="268" r:id="rId60"/>
    <p:sldId id="285" r:id="rId61"/>
    <p:sldId id="286" r:id="rId62"/>
    <p:sldId id="287" r:id="rId63"/>
    <p:sldId id="288" r:id="rId64"/>
    <p:sldId id="289" r:id="rId65"/>
    <p:sldId id="290" r:id="rId66"/>
    <p:sldId id="291" r:id="rId67"/>
    <p:sldId id="292" r:id="rId68"/>
    <p:sldId id="293" r:id="rId69"/>
    <p:sldId id="294" r:id="rId70"/>
    <p:sldId id="312" r:id="rId71"/>
    <p:sldId id="313" r:id="rId72"/>
    <p:sldId id="314" r:id="rId73"/>
    <p:sldId id="373" r:id="rId74"/>
    <p:sldId id="295" r:id="rId75"/>
    <p:sldId id="296" r:id="rId76"/>
    <p:sldId id="297" r:id="rId77"/>
    <p:sldId id="374" r:id="rId78"/>
    <p:sldId id="298" r:id="rId79"/>
    <p:sldId id="299" r:id="rId80"/>
    <p:sldId id="300" r:id="rId81"/>
    <p:sldId id="301" r:id="rId82"/>
    <p:sldId id="302" r:id="rId83"/>
    <p:sldId id="303" r:id="rId84"/>
    <p:sldId id="304" r:id="rId85"/>
    <p:sldId id="340" r:id="rId86"/>
    <p:sldId id="341" r:id="rId87"/>
    <p:sldId id="342" r:id="rId88"/>
    <p:sldId id="343" r:id="rId89"/>
    <p:sldId id="337" r:id="rId90"/>
    <p:sldId id="338" r:id="rId91"/>
    <p:sldId id="339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05" r:id="rId100"/>
    <p:sldId id="306" r:id="rId101"/>
    <p:sldId id="307" r:id="rId102"/>
    <p:sldId id="311" r:id="rId103"/>
    <p:sldId id="308" r:id="rId104"/>
    <p:sldId id="375" r:id="rId105"/>
    <p:sldId id="309" r:id="rId106"/>
    <p:sldId id="352" r:id="rId107"/>
    <p:sldId id="353" r:id="rId108"/>
    <p:sldId id="354" r:id="rId109"/>
    <p:sldId id="355" r:id="rId110"/>
    <p:sldId id="376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508F8-1460-48E5-B03C-A4924545D1E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0C95C-8060-4EE6-8B30-9D6AC15B0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66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0C95C-8060-4EE6-8B30-9D6AC15B0503}" type="slidenum">
              <a:rPr lang="en-IN" smtClean="0"/>
              <a:t>106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461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C95C-8060-4EE6-8B30-9D6AC15B0503}" type="slidenum">
              <a:rPr lang="en-IN" smtClean="0"/>
              <a:t>109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39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5EA2FB-44B8-0D1B-83BF-3C548F22F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B7B133D-D3C9-54EE-79DB-539A90935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90C978-A851-93E4-7AB0-1FC8FBC9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B5F154-BA44-2684-D4B6-2D5E0543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993A90-C054-7270-C104-2F38CE68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1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EA322F-4D47-2EBB-8108-D180F8B3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13C5AF-5ADA-2A33-DAEA-C68F412E3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A7CCBA-71B4-A110-20EB-BE32F5A1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030E76-9FB1-C419-46C4-A77B9CE7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74423E-437A-EC51-FA3A-D5ED9828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3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25102A-3D39-E3E7-E217-3C39FED4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BA0476-92B5-E801-6369-50FB00D5A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99A0F-3774-169A-352E-9C639896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EBC66A-229F-4BF5-29F9-C8021670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8B02CE-41F0-8B43-57EA-7F3AB7E7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77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FD73E7-1EFC-FD21-9CE3-1EA182C7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5EC403-14E4-5786-3802-E4282528B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8B008B5-5876-FE7F-1CA2-9FB754FEC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2B7019-35D8-DADD-0D0F-FB591813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9BF2642-5D2A-70DC-4988-D1C4C3E8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4AD3D3-6DC4-6D99-9D1F-0C58B202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38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E39560-4889-BCA4-0415-D3C16E5F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14507D-42B2-EC3C-1590-7E8518ED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805D99E-92C0-CE46-414A-D3AC61873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721781F-146E-819C-5DEA-41AB2ED85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852BB40-8A83-B755-227F-24532F4CE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541F776-E348-06A6-78CC-57512C40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1A1F722-80A3-419D-2F5B-49960578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94FFC46-36BE-8352-8242-A2AEA551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78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57A212-13B6-19E5-AFBB-26ABC33E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9B4A76E-BE98-FF81-6CB7-697AE85F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BF7454-6CAB-82F3-4F59-62C762A4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BD8A704-FB32-0434-4595-AFAFFE86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F9DEFFA-8027-16AF-60C6-8F6C7953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4F8274F-B459-EA3D-4CAB-A1F62518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DD881C8-6B2E-A75B-9309-1B88E7D4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3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56A852-82F1-D8FB-2899-3EC4295B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5E2BDE-4E83-6D86-EC43-1B8FDC90F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68DAB6D-866A-3375-8DC3-147BED0E3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EC1FB3-4376-CA4E-3C4A-BB85A0AF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E4D5BA1-632B-9D20-D98B-A3DFD18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4395D2-2E09-0151-E849-514388AF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4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2545CD-BFBD-BE4C-3A3C-0B860FC8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FA9558E-A3C6-51D8-1761-4462C89C6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136AB08-0115-22B1-6BC1-89FE2A621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06CD375-0484-E56C-692F-2FD005E7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9A553E7-A30F-C005-CF00-62078CFB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C4A1140-CF32-2DA1-D22C-A55F8885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41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44B3A4-F180-8C5A-F4E0-9B254FE7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6C206B5-23F6-BDED-DFB4-CE9AC9925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7FB2F0-08F5-11EC-581F-6C66E0E5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C0C6A-3F3E-05C4-A603-FC069DBF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39CD17-059E-4865-E9BB-A70AFAA2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7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0DA10E-E32A-8A79-E2B7-9816B5557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C5CC6CD-C1A9-E042-82C2-DA713FF20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8DBEE5-7DCB-4047-55D5-17BCB64E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7E58A25-7BE2-A54A-C4F3-3DCDC8ED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CD1348-28E8-F82E-0E73-F3B6D948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56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392E37F-205D-9F03-A958-91E4EC58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2D93CF9-959F-6A93-791C-433A7ACA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0E6EFE-43D9-CB08-FF26-B594F2390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2417A-B1B9-4EE6-97EA-274C9A9F7DDB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78DB58-5F36-0421-B9EA-1668B0B7B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B2B5D9-0003-83DD-2632-1C1185FA4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1CD2-253F-4F97-BD12-D229BF1A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96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ptel.ac.in/courses/10610216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message%20passing%20extra.docx" TargetMode="Externa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C56952-258F-257F-9BA9-BF91976E2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E38792D-2D28-7F42-7526-73434D2E4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CODE:BCS702</a:t>
            </a:r>
          </a:p>
        </p:txBody>
      </p:sp>
    </p:spTree>
    <p:extLst>
      <p:ext uri="{BB962C8B-B14F-4D97-AF65-F5344CB8AC3E}">
        <p14:creationId xmlns:p14="http://schemas.microsoft.com/office/powerpoint/2010/main" val="329874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BA520F-EF8C-6165-30FF-7B0D34B2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DF06D8-5C2B-ED9B-4060-72013D18A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Hours of Pedagogy: 40 hours Theory + 8-10 Lab slots</a:t>
            </a:r>
          </a:p>
          <a:p>
            <a:r>
              <a:rPr lang="en-US" dirty="0"/>
              <a:t>Credits: 04</a:t>
            </a:r>
          </a:p>
          <a:p>
            <a:r>
              <a:rPr lang="en-US" dirty="0"/>
              <a:t>CIE Marks: 50</a:t>
            </a:r>
          </a:p>
          <a:p>
            <a:r>
              <a:rPr lang="en-US" dirty="0"/>
              <a:t>SEE Marks: 50</a:t>
            </a:r>
          </a:p>
          <a:p>
            <a:r>
              <a:rPr lang="en-US" dirty="0"/>
              <a:t>Total Marks: 100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2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97C9A3-9CC1-369B-8C47-57D5D934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Learning Resource Textbooks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C43328-DAF1-70B7-C60D-C83CDD16F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1. Peter S Pacheco, Matthew Malensek – An Introduction to Parallel Programming, second edition, Morgan Kauffman.</a:t>
            </a:r>
          </a:p>
          <a:p>
            <a:pPr algn="just"/>
            <a:r>
              <a:rPr lang="en-US" dirty="0"/>
              <a:t>2. Michael J Quinn – Parallel Programming in C with MPI and </a:t>
            </a:r>
            <a:r>
              <a:rPr lang="en-US" dirty="0" err="1"/>
              <a:t>OpenMp</a:t>
            </a:r>
            <a:r>
              <a:rPr lang="en-US" dirty="0"/>
              <a:t>, </a:t>
            </a:r>
            <a:r>
              <a:rPr lang="en-US" dirty="0" err="1"/>
              <a:t>McGrawHill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87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03220-BC5B-3D17-DF97-7B571172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en-US" b="1" dirty="0"/>
              <a:t>Reference Books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45604E-E008-9FB7-9178-954371B1F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00480"/>
            <a:ext cx="11927840" cy="5720080"/>
          </a:xfrm>
        </p:spPr>
        <p:txBody>
          <a:bodyPr/>
          <a:lstStyle/>
          <a:p>
            <a:pPr algn="just"/>
            <a:r>
              <a:rPr lang="en-US" dirty="0"/>
              <a:t>1. Calvin Lin, Lawrence Snyder – Principles of Parallel Programming, Pearson</a:t>
            </a:r>
          </a:p>
          <a:p>
            <a:pPr algn="just"/>
            <a:r>
              <a:rPr lang="en-US" dirty="0"/>
              <a:t>2. Barbara Chapman – Using OpenMP: Portable Shared Memory Parallel </a:t>
            </a:r>
            <a:r>
              <a:rPr lang="en-US" dirty="0" smtClean="0"/>
              <a:t>Programming, Scientific </a:t>
            </a:r>
            <a:r>
              <a:rPr lang="en-US" dirty="0"/>
              <a:t>and Engineering Computation</a:t>
            </a:r>
          </a:p>
          <a:p>
            <a:pPr algn="just"/>
            <a:r>
              <a:rPr lang="en-US" dirty="0"/>
              <a:t>3. William Gropp, Ewing Lusk – Using </a:t>
            </a:r>
            <a:r>
              <a:rPr lang="en-US" dirty="0" err="1"/>
              <a:t>MPI:Portable</a:t>
            </a:r>
            <a:r>
              <a:rPr lang="en-US" dirty="0"/>
              <a:t> Parallel Programing, Third </a:t>
            </a:r>
            <a:r>
              <a:rPr lang="en-US" dirty="0" smtClean="0"/>
              <a:t>edition, Scientific </a:t>
            </a:r>
            <a:r>
              <a:rPr lang="en-US" dirty="0"/>
              <a:t>and Engineering Computation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06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65EF6-FEDD-5EAF-557D-40CC2850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Web links and Video Lectures (e-Resources):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6CF925-8D41-4AF2-7016-5511E1D6C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Introduction to parallel programming: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nptel.ac.in/courses/106102163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45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83B634-446E-CA9D-C1B7-BE6BB930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2FF05D-B822-4DA0-5567-2C53870CB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course will enable to,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Explore the need for parallel programming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Explain how to parallelize on MIMD systems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to apply MPI library and parallelize the suitable programs</a:t>
            </a:r>
          </a:p>
          <a:p>
            <a:pPr algn="just"/>
            <a:r>
              <a:rPr lang="en-US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to apply </a:t>
            </a:r>
            <a:r>
              <a:rPr lang="en-US" dirty="0" err="1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pragma and directives to parallelize the suitable programs</a:t>
            </a:r>
          </a:p>
          <a:p>
            <a:pPr algn="just"/>
            <a:r>
              <a:rPr lang="en-US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to design CUDA </a:t>
            </a:r>
            <a:r>
              <a:rPr lang="en-US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/>
              <a:t>Compute Unified Device Architecture)</a:t>
            </a:r>
            <a:r>
              <a:rPr lang="en-US" dirty="0" smtClean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)program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51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E81902-1388-6DB9-34F2-6C30FA48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Course Outcomes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C28F35-C0EC-5ED1-0B0C-E4478039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" y="1036320"/>
            <a:ext cx="12161520" cy="5821680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END OF THE COURSE, THE STUDENT WILL BE ABLE TO: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-EXPLAIN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NEED FOR PARALLEL PROGRAMMING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-DEMONSTRATE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PARALLELISM IN MIMD SYSTEM.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-APPLY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MPI LIBRARY TO PARALLELIZE THE CODE TO SOLVE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GIVEN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PROBLEM.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-APPLY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OPENMP PRAGMA AND DIRECTIVES TO PARALLELIZE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SOLVE THE GIVEN PROBLEM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-DESIGN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CUDA PROGRAM FOR THE GIVEN PROBLEM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35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52AE9A-079D-0C26-C7BA-77AD5A26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1 -syllabus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04F01B-F5AE-C87A-B683-B16A3466F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381760"/>
            <a:ext cx="11257280" cy="52527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sz="3000" dirty="0" smtClean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sz="3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programming, Parallel hardware and parallel </a:t>
            </a:r>
            <a:endParaRPr lang="en-US" sz="3000" dirty="0" smtClean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3000" dirty="0" smtClean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software </a:t>
            </a:r>
            <a:r>
              <a:rPr lang="en-US" sz="3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</a:p>
          <a:p>
            <a:pPr algn="just"/>
            <a:r>
              <a:rPr lang="en-US" dirty="0"/>
              <a:t>Classifications of parallel computers</a:t>
            </a:r>
          </a:p>
          <a:p>
            <a:pPr algn="just"/>
            <a:r>
              <a:rPr lang="en-US" dirty="0"/>
              <a:t>SIMD systems</a:t>
            </a:r>
          </a:p>
          <a:p>
            <a:pPr algn="just"/>
            <a:r>
              <a:rPr lang="en-US" dirty="0"/>
              <a:t>MIMD systems</a:t>
            </a:r>
          </a:p>
          <a:p>
            <a:pPr algn="just"/>
            <a:r>
              <a:rPr lang="en-US" dirty="0"/>
              <a:t>Interconnection networks</a:t>
            </a:r>
          </a:p>
          <a:p>
            <a:pPr algn="just"/>
            <a:r>
              <a:rPr lang="en-US" dirty="0"/>
              <a:t>Cache coherence,</a:t>
            </a:r>
          </a:p>
          <a:p>
            <a:pPr algn="just"/>
            <a:r>
              <a:rPr lang="en-US" dirty="0"/>
              <a:t>Shared-memory vs. distributed-memory</a:t>
            </a:r>
          </a:p>
          <a:p>
            <a:pPr algn="just"/>
            <a:r>
              <a:rPr lang="en-US" dirty="0"/>
              <a:t>Coordinating the processes/threads</a:t>
            </a:r>
          </a:p>
          <a:p>
            <a:pPr algn="just"/>
            <a:r>
              <a:rPr lang="en-US" dirty="0"/>
              <a:t>Shared-memory</a:t>
            </a:r>
          </a:p>
          <a:p>
            <a:pPr algn="just"/>
            <a:r>
              <a:rPr lang="en-US" dirty="0" smtClean="0"/>
              <a:t>Distributed-memory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96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E81D83-3052-85F2-D22A-8CE927F5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630555"/>
          </a:xfrm>
        </p:spPr>
        <p:txBody>
          <a:bodyPr>
            <a:normAutofit fontScale="90000"/>
          </a:bodyPr>
          <a:lstStyle/>
          <a:p>
            <a:r>
              <a:rPr lang="en-IN" dirty="0"/>
              <a:t>Evolution of Microprocessor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065E7F-EC96-4D03-81D2-B7B09114B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40" y="873760"/>
            <a:ext cx="11511280" cy="572008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1986–2003: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Microprocessor performance improved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50% per year on average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-This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driven by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-higher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speeds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processor designs,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-semiconductor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advancements.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-During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period, most computers used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SINGLE-CORE PROCESSORS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rate of improvement 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SINGLE-CORE PROCESSOR performance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slowed significantly because of challenges such as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-power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-heat dissipation, and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-physical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of increasing clock speeds.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2015–2017: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Single-core performance increased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4% per year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difficult to achieve major speed improvements through faster individual processors alone.</a:t>
            </a:r>
          </a:p>
        </p:txBody>
      </p:sp>
    </p:spTree>
    <p:extLst>
      <p:ext uri="{BB962C8B-B14F-4D97-AF65-F5344CB8AC3E}">
        <p14:creationId xmlns:p14="http://schemas.microsoft.com/office/powerpoint/2010/main" val="332800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59EDF7-6020-0B0F-EBF7-BA549D80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Contd..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CD396A-91D5-F87F-410F-A7E5EF24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76960"/>
            <a:ext cx="11440160" cy="547624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2005: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major microprocessor manufacturers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 their focus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ever-faster single-core processors, they began designing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 processors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placing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complete processing cores on a single integrated circuit (chip)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Multi-core processors allow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 of programs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overall system performance and enabling applications to perform multiple operations simultaneously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31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894013-48DA-4708-680E-A0C66AA2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21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Effect of Multi-Core Processors on Software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7AA1D1-7B68-901C-0680-8D47A1F1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772161"/>
            <a:ext cx="12120880" cy="5831839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shift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multi-core processors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created a major challenge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software developers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Simply adding more processors (cores)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does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 automatically make existing programs run faster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older programs are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serial programs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meaning they were designed to execute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one instruction at a time on a single processor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programs are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 aware of multiple processors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so they cannot divide their work among different cores.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 a result, when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serial program runs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multi-core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it usually uses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only one 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while the other cores remain idle.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Therefore, the program's performance on a multi-core processor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almost the same as its performance on a single-core processor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(assuming the cores have similar speed).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0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 for single and Multi-core processor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60" y="1107440"/>
            <a:ext cx="11582400" cy="57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5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B2F11-0BEB-C2AB-4835-9F954F76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6A13DF-95A7-FCF7-DCDA-544A6ED2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1280"/>
            <a:ext cx="12192000" cy="5415279"/>
          </a:xfrm>
        </p:spPr>
        <p:txBody>
          <a:bodyPr>
            <a:normAutofit/>
          </a:bodyPr>
          <a:lstStyle/>
          <a:p>
            <a:r>
              <a:rPr lang="en-US" dirty="0"/>
              <a:t>To take advantage of </a:t>
            </a:r>
            <a:r>
              <a:rPr lang="en-US" b="1" dirty="0"/>
              <a:t>multiple processors</a:t>
            </a:r>
            <a:r>
              <a:rPr lang="en-US" dirty="0"/>
              <a:t>, software must be written or redesigned as a </a:t>
            </a:r>
            <a:r>
              <a:rPr lang="en-US" b="1" dirty="0"/>
              <a:t>parallel program</a:t>
            </a:r>
            <a:r>
              <a:rPr lang="en-US" dirty="0"/>
              <a:t>, where the work is divided into multiple tasks that can run simultaneously on different cores.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Serial Program:</a:t>
            </a:r>
            <a:r>
              <a:rPr lang="en-US" dirty="0"/>
              <a:t> One person writes 100 pages alone → takes 100 hours. </a:t>
            </a:r>
          </a:p>
          <a:p>
            <a:r>
              <a:rPr lang="en-US" b="1" dirty="0"/>
              <a:t>Parallel Program:</a:t>
            </a:r>
            <a:r>
              <a:rPr lang="en-US" dirty="0"/>
              <a:t> Four people each write 25 pages at the same time → finishes much faster (about 25 hours).</a:t>
            </a:r>
          </a:p>
          <a:p>
            <a:r>
              <a:rPr lang="en-US" b="1" dirty="0">
                <a:solidFill>
                  <a:srgbClr val="FF0000"/>
                </a:solidFill>
              </a:rPr>
              <a:t>Conclusion:</a:t>
            </a:r>
            <a:r>
              <a:rPr lang="en-US" dirty="0">
                <a:solidFill>
                  <a:srgbClr val="FF0000"/>
                </a:solidFill>
              </a:rPr>
              <a:t> Multi-core processors improve performance </a:t>
            </a:r>
            <a:r>
              <a:rPr lang="en-US" b="1" dirty="0">
                <a:solidFill>
                  <a:srgbClr val="FF0000"/>
                </a:solidFill>
              </a:rPr>
              <a:t>only if the software is designed for parallel execution</a:t>
            </a:r>
            <a:r>
              <a:rPr lang="en-US" dirty="0">
                <a:solidFill>
                  <a:srgbClr val="FF0000"/>
                </a:solidFill>
              </a:rPr>
              <a:t>. Otherwise, adding more cores provides little or no speed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339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17F476-D227-9B21-4CD0-04959C13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" y="1"/>
            <a:ext cx="11353800" cy="955040"/>
          </a:xfrm>
        </p:spPr>
        <p:txBody>
          <a:bodyPr>
            <a:normAutofit/>
          </a:bodyPr>
          <a:lstStyle/>
          <a:p>
            <a:r>
              <a:rPr lang="en-US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Increased Computational Power -</a:t>
            </a:r>
            <a:r>
              <a:rPr lang="en-IN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2F8E07C-9B28-B9A5-F385-B8991842A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955041"/>
            <a:ext cx="12110720" cy="590295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Genome Decoding: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computers made it possible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and analyze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genome in a practical amount of 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computing enables more accurate and detailed imaging techniques such 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scans and MRI, helping doctors diagnose diseases more effectively.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engines can process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billions of web pages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return highly accurate results within seconds.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Games: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games feature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graphics, advanced physics, and intelligent 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increased processing power.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90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8BED6C-A61C-D885-F1CE-E745F8EE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071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Other Important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20CB24-2808-48E2-15B0-693028620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640714"/>
            <a:ext cx="12090400" cy="621728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Modeling: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Earth's climate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weather patterns and study climate change.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Folding: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proteins fold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essential for studying diseases and developing new medicines.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Discovery: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identification and testing of potential drugs using computer simulations.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Research: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energy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batteries, and simulating nuclear fusion and renewable energy technologies.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and analyzing massive datasets in fields such as business, finance, healthcare, and artificial intelligence.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207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C077FB-56C2-4498-0AFD-4BA6529D9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294640"/>
            <a:ext cx="11470640" cy="64516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huge improvement in the performance of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single-processor computers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mainly due to the increasing number of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(tiny electronic switches) that could be placed on a 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integrated circuit (chip).</a:t>
            </a:r>
          </a:p>
          <a:p>
            <a:pPr marL="0" indent="0" algn="just">
              <a:buNone/>
            </a:pP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As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 became smaller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could:</a:t>
            </a:r>
          </a:p>
          <a:p>
            <a:pPr algn="just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faster, making the processor run </a:t>
            </a: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higher speeds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transistors to fit on the same </a:t>
            </a:r>
            <a:r>
              <a:rPr lang="en-US" sz="3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ncreasing </a:t>
            </a: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power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endParaRPr lang="en-US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Faster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 consume more electrical power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Most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electrical power is </a:t>
            </a:r>
            <a:r>
              <a:rPr lang="en-US"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into 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If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chip becomes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hot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it can:</a:t>
            </a:r>
          </a:p>
          <a:p>
            <a:pPr marL="0" indent="0" algn="just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-Produce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errors, </a:t>
            </a:r>
            <a:endParaRPr lang="en-US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-Become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unstable, 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</a:p>
          <a:p>
            <a:pPr marL="0" indent="0" algn="just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-even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work reliably.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612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962632-C5A9-1E77-169D-B07BA4AD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365125"/>
            <a:ext cx="11272520" cy="6407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 short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6555A-37F8-7C95-AF15-CBF336196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1005840"/>
            <a:ext cx="12110720" cy="5171123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transistors → More transistors + Faster processors → Better performance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Faster processors → Higher power consumption → More heat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heat → Reduced reliability of the processor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98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5682D-5A00-AB2E-BB16-1505B501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31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Contd..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2CC10F-A47E-39A6-34C7-72E69CCF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680720"/>
            <a:ext cx="11775440" cy="59944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Because increasing the speed of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processor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creates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much heat and consumes too much power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computer designers use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means performing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tasks at the same 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instead of making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processor do everything faster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designing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very fast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complicated processor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manufacturers place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processors (called cores)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 a single chip.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complete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 (Central Processing Unit)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can execute instructions independently. 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Since,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cores work simultaneously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computer can perform more work in the same amount of time.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chips are called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multicore processors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48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3B0C25-835F-6381-7D47-ABB812EE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TERMINOLOGIES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604CA55-F869-2A5C-5EFD-920CED6AA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535" y="1976944"/>
            <a:ext cx="116714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Parallelism: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Executing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tasks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simultaneously.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individual CPU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inside a processor chip.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Multicore Processor: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processor containing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 or more CPU cores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 one chip.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Single-Core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traditional processor with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only one CPU/core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70001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03AEAC-EFA0-E354-DE29-4E2F584E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Why we need to write parallel programs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E9863E-C44D-F0BD-E03A-811D1CE77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412240"/>
            <a:ext cx="11348720" cy="5191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1.Rewrite serial programs as parallel programs</a:t>
            </a:r>
          </a:p>
          <a:p>
            <a:r>
              <a:rPr lang="en-US" dirty="0"/>
              <a:t>A </a:t>
            </a:r>
            <a:r>
              <a:rPr lang="en-US" b="1" dirty="0"/>
              <a:t>serial program</a:t>
            </a:r>
            <a:r>
              <a:rPr lang="en-US" dirty="0"/>
              <a:t> executes one instruction after another using a single core. </a:t>
            </a:r>
          </a:p>
          <a:p>
            <a:r>
              <a:rPr lang="en-US" dirty="0"/>
              <a:t>A </a:t>
            </a:r>
            <a:r>
              <a:rPr lang="en-US" b="1" dirty="0"/>
              <a:t>parallel program</a:t>
            </a:r>
            <a:r>
              <a:rPr lang="en-US" dirty="0"/>
              <a:t> divides </a:t>
            </a:r>
            <a:r>
              <a:rPr lang="en-US" dirty="0">
                <a:solidFill>
                  <a:srgbClr val="FF0000"/>
                </a:solidFill>
              </a:rPr>
              <a:t>the work into multiple tasks </a:t>
            </a:r>
            <a:r>
              <a:rPr lang="en-US" dirty="0"/>
              <a:t>that can run simultaneously on different cores. </a:t>
            </a:r>
          </a:p>
          <a:p>
            <a:r>
              <a:rPr lang="en-US" dirty="0"/>
              <a:t>This allows the program </a:t>
            </a:r>
            <a:r>
              <a:rPr lang="en-US" dirty="0">
                <a:solidFill>
                  <a:srgbClr val="FF0000"/>
                </a:solidFill>
              </a:rPr>
              <a:t>to make full use of multicore processors</a:t>
            </a:r>
            <a:r>
              <a:rPr lang="en-US" dirty="0"/>
              <a:t>, resulting in faster execution.</a:t>
            </a:r>
          </a:p>
          <a:p>
            <a:r>
              <a:rPr lang="en-US" dirty="0">
                <a:highlight>
                  <a:srgbClr val="00FFFF"/>
                </a:highlight>
              </a:rPr>
              <a:t>E</a:t>
            </a:r>
            <a:r>
              <a:rPr lang="en-US" dirty="0" smtClean="0">
                <a:highlight>
                  <a:srgbClr val="00FFFF"/>
                </a:highlight>
              </a:rPr>
              <a:t>xample</a:t>
            </a:r>
            <a:endParaRPr lang="en-US" dirty="0">
              <a:highlight>
                <a:srgbClr val="00FFFF"/>
              </a:highlight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Serial:</a:t>
            </a:r>
            <a:r>
              <a:rPr lang="en-US" altLang="en-US" dirty="0">
                <a:latin typeface="Arial" panose="020B0604020202020204" pitchFamily="34" charset="0"/>
              </a:rPr>
              <a:t> One worker completes 100 tasks one by one.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Parallel:</a:t>
            </a:r>
            <a:r>
              <a:rPr lang="en-US" altLang="en-US" dirty="0">
                <a:latin typeface="Arial" panose="020B0604020202020204" pitchFamily="34" charset="0"/>
              </a:rPr>
              <a:t> Four workers each complete 25 tasks at the same time.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080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E3AAE0-49F4-130A-48B9-2B0AAFFB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0424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0B2196-92C3-663B-D700-5EF510FF5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975360"/>
            <a:ext cx="12090400" cy="588263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2.Use translation programs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utomatic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manually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rewriting existing serial programs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we can use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translation programs (parallelizing compilers or tools)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programs automatically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a serial program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convert suitable parts into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code.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programmer effort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although automatic translation is difficult because the tool must determine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instructions can safely execute simultaneously.</a:t>
            </a: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776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6F2A74-6407-05BD-4000-3FE7CAD8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parallel programs?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E4EA360-3520-958F-8386-319956D42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240" y="883743"/>
            <a:ext cx="11917679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utilize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CPU cores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 performance and reduce execution time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overcome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limits of increasing single-core processor speed.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reduce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 consumption and heat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compared to simply increasing clock speed. </a:t>
            </a:r>
          </a:p>
        </p:txBody>
      </p:sp>
    </p:spTree>
    <p:extLst>
      <p:ext uri="{BB962C8B-B14F-4D97-AF65-F5344CB8AC3E}">
        <p14:creationId xmlns:p14="http://schemas.microsoft.com/office/powerpoint/2010/main" val="73037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EAE319-7197-63B9-D424-FFF5EA6D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75ADEC-27AF-66D6-BB87-9C0CD5AC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2880"/>
            <a:ext cx="12192000" cy="4724083"/>
          </a:xfrm>
        </p:spPr>
        <p:txBody>
          <a:bodyPr/>
          <a:lstStyle/>
          <a:p>
            <a:r>
              <a:rPr lang="en-US" dirty="0"/>
              <a:t>suppose that we need to compute </a:t>
            </a:r>
            <a:r>
              <a:rPr lang="en-US" i="1" dirty="0"/>
              <a:t>n values and add them </a:t>
            </a:r>
            <a:r>
              <a:rPr lang="en-US" dirty="0"/>
              <a:t>together.</a:t>
            </a:r>
          </a:p>
          <a:p>
            <a:r>
              <a:rPr lang="en-US" dirty="0"/>
              <a:t> serial code:</a:t>
            </a:r>
          </a:p>
          <a:p>
            <a:r>
              <a:rPr lang="en-US" dirty="0"/>
              <a:t>sum = 0;</a:t>
            </a:r>
          </a:p>
          <a:p>
            <a:r>
              <a:rPr lang="nn-NO" b="1" dirty="0"/>
              <a:t> for ( i = 0; i &lt; n ; i ++) {</a:t>
            </a:r>
          </a:p>
          <a:p>
            <a:r>
              <a:rPr lang="en-US" dirty="0"/>
              <a:t>    x = </a:t>
            </a:r>
            <a:r>
              <a:rPr lang="en-US" dirty="0" err="1"/>
              <a:t>Compute_next_value</a:t>
            </a:r>
            <a:r>
              <a:rPr lang="en-US" dirty="0"/>
              <a:t> ( . . . ) ;</a:t>
            </a:r>
          </a:p>
          <a:p>
            <a:r>
              <a:rPr lang="en-US" dirty="0"/>
              <a:t>    sum += x ;</a:t>
            </a:r>
          </a:p>
          <a:p>
            <a:r>
              <a:rPr lang="en-US" dirty="0"/>
              <a:t>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875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AB7A6F-AE19-6678-CB9D-A07311BC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664162-47A0-55AB-D123-E1B4B2A3D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my_sum</a:t>
            </a:r>
            <a:r>
              <a:rPr lang="en-US" dirty="0"/>
              <a:t> = 0;</a:t>
            </a:r>
          </a:p>
          <a:p>
            <a:r>
              <a:rPr lang="en-US" dirty="0" err="1"/>
              <a:t>my_first_i</a:t>
            </a:r>
            <a:r>
              <a:rPr lang="en-US" dirty="0"/>
              <a:t> = . . . ;</a:t>
            </a:r>
          </a:p>
          <a:p>
            <a:r>
              <a:rPr lang="en-US" dirty="0" err="1"/>
              <a:t>my_last_i</a:t>
            </a:r>
            <a:r>
              <a:rPr lang="en-US" dirty="0"/>
              <a:t> = . . . ;</a:t>
            </a:r>
          </a:p>
          <a:p>
            <a:r>
              <a:rPr lang="en-US" b="1" dirty="0"/>
              <a:t>for ( </a:t>
            </a:r>
            <a:r>
              <a:rPr lang="en-US" b="1" dirty="0" err="1"/>
              <a:t>my_i</a:t>
            </a:r>
            <a:r>
              <a:rPr lang="en-US" b="1" dirty="0"/>
              <a:t> = </a:t>
            </a:r>
            <a:r>
              <a:rPr lang="en-US" b="1" dirty="0" err="1"/>
              <a:t>my_first_i</a:t>
            </a:r>
            <a:r>
              <a:rPr lang="en-US" b="1" dirty="0"/>
              <a:t> ; </a:t>
            </a:r>
            <a:r>
              <a:rPr lang="en-US" b="1" dirty="0" err="1"/>
              <a:t>my_i</a:t>
            </a:r>
            <a:r>
              <a:rPr lang="en-US" b="1" dirty="0"/>
              <a:t> &lt; </a:t>
            </a:r>
            <a:r>
              <a:rPr lang="en-US" b="1" dirty="0" err="1"/>
              <a:t>my_last_i</a:t>
            </a:r>
            <a:r>
              <a:rPr lang="en-US" b="1" dirty="0"/>
              <a:t> ; </a:t>
            </a:r>
            <a:r>
              <a:rPr lang="en-US" b="1" dirty="0" err="1"/>
              <a:t>my_i</a:t>
            </a:r>
            <a:r>
              <a:rPr lang="en-US" b="1" dirty="0"/>
              <a:t> ++) {</a:t>
            </a:r>
          </a:p>
          <a:p>
            <a:r>
              <a:rPr lang="en-US" dirty="0"/>
              <a:t> </a:t>
            </a:r>
            <a:r>
              <a:rPr lang="en-US" dirty="0" err="1"/>
              <a:t>my_x</a:t>
            </a:r>
            <a:r>
              <a:rPr lang="en-US" dirty="0"/>
              <a:t> = </a:t>
            </a:r>
            <a:r>
              <a:rPr lang="en-US" dirty="0" err="1"/>
              <a:t>Compute_next_value</a:t>
            </a:r>
            <a:r>
              <a:rPr lang="en-US" dirty="0"/>
              <a:t> ( . . . ) ;</a:t>
            </a:r>
          </a:p>
          <a:p>
            <a:r>
              <a:rPr lang="en-US" dirty="0"/>
              <a:t> </a:t>
            </a:r>
            <a:r>
              <a:rPr lang="en-US" dirty="0" err="1"/>
              <a:t>my_sum</a:t>
            </a:r>
            <a:r>
              <a:rPr lang="en-US" dirty="0"/>
              <a:t> += </a:t>
            </a:r>
            <a:r>
              <a:rPr lang="en-US" dirty="0" err="1"/>
              <a:t>my_x</a:t>
            </a:r>
            <a:r>
              <a:rPr lang="en-US" dirty="0"/>
              <a:t> ;</a:t>
            </a:r>
          </a:p>
          <a:p>
            <a:r>
              <a:rPr lang="en-US" dirty="0"/>
              <a:t>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596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8FB37F-AB31-C2D3-903B-C28BCFC9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A541B3-5389-A0BA-D2CC-324F42754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values stored in </a:t>
            </a:r>
            <a:r>
              <a:rPr lang="en-US" dirty="0" err="1"/>
              <a:t>my_sum</a:t>
            </a:r>
            <a:r>
              <a:rPr lang="en-US" dirty="0"/>
              <a:t> might be</a:t>
            </a:r>
          </a:p>
          <a:p>
            <a:pPr algn="just"/>
            <a:r>
              <a:rPr lang="en-US" b="1" dirty="0"/>
              <a:t>Core 0 1 2 3 4 5 6 7</a:t>
            </a:r>
          </a:p>
          <a:p>
            <a:pPr algn="just"/>
            <a:r>
              <a:rPr lang="en-US" dirty="0" err="1"/>
              <a:t>my_sum</a:t>
            </a:r>
            <a:r>
              <a:rPr lang="en-US" dirty="0"/>
              <a:t> 8 19 7 15 7 13 12 14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we’re assuming the cores are identified by nonnegative integers in the range 0</a:t>
            </a:r>
            <a:r>
              <a:rPr lang="en-US" i="1" dirty="0"/>
              <a:t>, 1, . . . , p −1, where p is the number of cores.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623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480134-8326-31B8-F684-5F4D6F6D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Multiple cores forming a global sum.</a:t>
            </a:r>
            <a:endParaRPr lang="en-IN" dirty="0"/>
          </a:p>
        </p:txBody>
      </p:sp>
      <p:pic>
        <p:nvPicPr>
          <p:cNvPr id="4" name="Content Placeholder 4" descr="Core.jpg">
            <a:extLst>
              <a:ext uri="{FF2B5EF4-FFF2-40B4-BE49-F238E27FC236}">
                <a16:creationId xmlns:a16="http://schemas.microsoft.com/office/drawing/2014/main" xmlns="" id="{2175E67A-B351-9E48-71C7-A23793E0A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3760" y="1335088"/>
            <a:ext cx="6878639" cy="5167312"/>
          </a:xfrm>
        </p:spPr>
      </p:pic>
      <p:sp>
        <p:nvSpPr>
          <p:cNvPr id="3" name="Rectangle 2"/>
          <p:cNvSpPr/>
          <p:nvPr/>
        </p:nvSpPr>
        <p:spPr>
          <a:xfrm>
            <a:off x="345440" y="1690688"/>
            <a:ext cx="4500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(tree reduction), a common technique used in parallel computing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CUDA</a:t>
            </a:r>
            <a:r>
              <a:rPr lang="en-US" sz="2400" dirty="0" smtClean="0"/>
              <a:t> -Compute </a:t>
            </a:r>
            <a:r>
              <a:rPr lang="en-US" sz="2400" dirty="0"/>
              <a:t>Unified Device Architecture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smtClean="0"/>
              <a:t> </a:t>
            </a:r>
            <a:r>
              <a:rPr lang="en-US" sz="2400" dirty="0"/>
              <a:t>Open Multi-Processing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MPI-</a:t>
            </a:r>
            <a:r>
              <a:rPr lang="en-US" sz="2400" dirty="0"/>
              <a:t> Message Passing Interface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-</a:t>
            </a:r>
            <a:r>
              <a:rPr lang="en-US" sz="2400" dirty="0"/>
              <a:t> Graphics Processing Unit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the global sum of values distributed across multiple cores.</a:t>
            </a:r>
          </a:p>
        </p:txBody>
      </p:sp>
    </p:spTree>
    <p:extLst>
      <p:ext uri="{BB962C8B-B14F-4D97-AF65-F5344CB8AC3E}">
        <p14:creationId xmlns:p14="http://schemas.microsoft.com/office/powerpoint/2010/main" val="3773504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Core0 = 8</a:t>
            </a:r>
          </a:p>
          <a:p>
            <a:r>
              <a:rPr lang="en-US" dirty="0"/>
              <a:t>Core1 = 19</a:t>
            </a:r>
          </a:p>
          <a:p>
            <a:r>
              <a:rPr lang="en-US" dirty="0"/>
              <a:t>Core2 = 7</a:t>
            </a:r>
          </a:p>
          <a:p>
            <a:r>
              <a:rPr lang="en-US" dirty="0"/>
              <a:t>Core3 = 15</a:t>
            </a:r>
          </a:p>
          <a:p>
            <a:r>
              <a:rPr lang="en-US" dirty="0"/>
              <a:t>Core4 = 7</a:t>
            </a:r>
          </a:p>
          <a:p>
            <a:r>
              <a:rPr lang="en-US" dirty="0"/>
              <a:t>Core5 = 13</a:t>
            </a:r>
          </a:p>
          <a:p>
            <a:r>
              <a:rPr lang="en-US" dirty="0"/>
              <a:t>Core6 = 12</a:t>
            </a:r>
          </a:p>
          <a:p>
            <a:r>
              <a:rPr lang="en-US" dirty="0"/>
              <a:t>Core7 = 14</a:t>
            </a:r>
          </a:p>
        </p:txBody>
      </p:sp>
    </p:spTree>
    <p:extLst>
      <p:ext uri="{BB962C8B-B14F-4D97-AF65-F5344CB8AC3E}">
        <p14:creationId xmlns:p14="http://schemas.microsoft.com/office/powerpoint/2010/main" val="991542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Core0 = 8</a:t>
            </a:r>
          </a:p>
          <a:p>
            <a:r>
              <a:rPr lang="en-US" dirty="0"/>
              <a:t>Core1 = 19</a:t>
            </a:r>
          </a:p>
          <a:p>
            <a:r>
              <a:rPr lang="en-US" dirty="0"/>
              <a:t>Core2 = 7</a:t>
            </a:r>
          </a:p>
          <a:p>
            <a:r>
              <a:rPr lang="en-US" dirty="0"/>
              <a:t>Core3 = 15</a:t>
            </a:r>
          </a:p>
          <a:p>
            <a:r>
              <a:rPr lang="en-US" dirty="0"/>
              <a:t>Core4 = 7</a:t>
            </a:r>
          </a:p>
          <a:p>
            <a:r>
              <a:rPr lang="en-US" dirty="0"/>
              <a:t>Core5 = 13</a:t>
            </a:r>
          </a:p>
          <a:p>
            <a:r>
              <a:rPr lang="en-US" dirty="0"/>
              <a:t>Core6 = 12</a:t>
            </a:r>
          </a:p>
          <a:p>
            <a:r>
              <a:rPr lang="en-US" dirty="0"/>
              <a:t>Core7 = 14</a:t>
            </a:r>
          </a:p>
        </p:txBody>
      </p:sp>
    </p:spTree>
    <p:extLst>
      <p:ext uri="{BB962C8B-B14F-4D97-AF65-F5344CB8AC3E}">
        <p14:creationId xmlns:p14="http://schemas.microsoft.com/office/powerpoint/2010/main" val="1007708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Step 2: First Reduction Stage (Pairwise Addition)</a:t>
            </a:r>
          </a:p>
          <a:p>
            <a:r>
              <a:rPr lang="en-US" dirty="0"/>
              <a:t>Each pair of neighboring cores performs an addition.</a:t>
            </a:r>
          </a:p>
          <a:p>
            <a:r>
              <a:rPr lang="en-US" dirty="0"/>
              <a:t>Arrows indicate that one core </a:t>
            </a:r>
            <a:r>
              <a:rPr lang="en-US" b="1" dirty="0"/>
              <a:t>sends its value</a:t>
            </a:r>
            <a:r>
              <a:rPr lang="en-US" dirty="0"/>
              <a:t> to another core, which performs the addition.</a:t>
            </a:r>
          </a:p>
          <a:p>
            <a:r>
              <a:rPr lang="en-US" b="1" dirty="0"/>
              <a:t>Pair 1</a:t>
            </a:r>
          </a:p>
          <a:p>
            <a:r>
              <a:rPr lang="en-US" dirty="0"/>
              <a:t>Core1 sends </a:t>
            </a:r>
            <a:r>
              <a:rPr lang="en-US" b="1" dirty="0"/>
              <a:t>19</a:t>
            </a:r>
            <a:r>
              <a:rPr lang="en-US" dirty="0"/>
              <a:t> to Core0.</a:t>
            </a:r>
          </a:p>
          <a:p>
            <a:r>
              <a:rPr lang="en-US" dirty="0"/>
              <a:t>Core0 = 8 + 19 = </a:t>
            </a:r>
            <a:r>
              <a:rPr lang="en-US" dirty="0" smtClean="0"/>
              <a:t>27</a:t>
            </a:r>
          </a:p>
          <a:p>
            <a:r>
              <a:rPr lang="en-US" b="1" dirty="0"/>
              <a:t>Pair 2</a:t>
            </a:r>
          </a:p>
          <a:p>
            <a:r>
              <a:rPr lang="en-US" dirty="0"/>
              <a:t>Core3 sends </a:t>
            </a:r>
            <a:r>
              <a:rPr lang="en-US" b="1" dirty="0"/>
              <a:t>15</a:t>
            </a:r>
            <a:r>
              <a:rPr lang="en-US" dirty="0"/>
              <a:t> to Core2.</a:t>
            </a:r>
          </a:p>
          <a:p>
            <a:r>
              <a:rPr lang="en-US" dirty="0"/>
              <a:t>Core2 = 7 + 15 = 22</a:t>
            </a:r>
          </a:p>
        </p:txBody>
      </p:sp>
    </p:spTree>
    <p:extLst>
      <p:ext uri="{BB962C8B-B14F-4D97-AF65-F5344CB8AC3E}">
        <p14:creationId xmlns:p14="http://schemas.microsoft.com/office/powerpoint/2010/main" val="284800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Pair 3</a:t>
            </a:r>
          </a:p>
          <a:p>
            <a:r>
              <a:rPr lang="en-US" dirty="0"/>
              <a:t>Core5 sends </a:t>
            </a:r>
            <a:r>
              <a:rPr lang="en-US" b="1" dirty="0"/>
              <a:t>13</a:t>
            </a:r>
            <a:r>
              <a:rPr lang="en-US" dirty="0"/>
              <a:t> to Core4.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42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72AD2-1E66-8D5D-BCA2-AF82644C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How do we do parallelism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65218E-A70E-118F-1B88-9657BB833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188720"/>
            <a:ext cx="12070080" cy="566928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Depend on the basic idea of </a:t>
            </a:r>
            <a:r>
              <a:rPr lang="en-US" i="1" dirty="0"/>
              <a:t>partitioning the work to be done among the cores. </a:t>
            </a:r>
          </a:p>
          <a:p>
            <a:pPr algn="just"/>
            <a:r>
              <a:rPr lang="en-US" i="1" dirty="0"/>
              <a:t>There are two </a:t>
            </a:r>
            <a:r>
              <a:rPr lang="en-US" dirty="0"/>
              <a:t>widely used approaches: 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b="1" dirty="0" smtClean="0">
                <a:solidFill>
                  <a:srgbClr val="FF0000"/>
                </a:solidFill>
              </a:rPr>
              <a:t>ask-parallelism 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ata-parallelism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/>
              <a:t>In task-parallelism, we partition the </a:t>
            </a:r>
            <a:r>
              <a:rPr lang="en-US" dirty="0">
                <a:solidFill>
                  <a:srgbClr val="FF0000"/>
                </a:solidFill>
              </a:rPr>
              <a:t>various tasks carried out in solving the problem among the cores. </a:t>
            </a:r>
          </a:p>
          <a:p>
            <a:pPr algn="just"/>
            <a:r>
              <a:rPr lang="en-US" dirty="0"/>
              <a:t>In data-parallelism, we partition </a:t>
            </a:r>
            <a:r>
              <a:rPr lang="en-US" dirty="0">
                <a:solidFill>
                  <a:srgbClr val="FF0000"/>
                </a:solidFill>
              </a:rPr>
              <a:t>the data used in solving the problem among the cores, and each core carries out more or less similar operations on its part of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398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46D697-9AFE-2E74-D0FD-E5F9DBEC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What we do in course?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7E4889-2FCA-B228-3BDF-8AA35FE50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09040"/>
            <a:ext cx="11572240" cy="54559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purpose is to learn the basics of programming parallel computers using the C language </a:t>
            </a:r>
          </a:p>
          <a:p>
            <a:r>
              <a:rPr lang="en-US" dirty="0"/>
              <a:t> </a:t>
            </a:r>
            <a:r>
              <a:rPr lang="en-US" dirty="0" smtClean="0"/>
              <a:t>Four </a:t>
            </a:r>
            <a:r>
              <a:rPr lang="en-US" dirty="0"/>
              <a:t>different </a:t>
            </a:r>
            <a:r>
              <a:rPr lang="en-US" b="1" dirty="0"/>
              <a:t>APIs or application program interfaces: the Message-Passing Interface or MPI, POSIX threads or </a:t>
            </a:r>
            <a:r>
              <a:rPr lang="en-US" b="1" dirty="0" err="1"/>
              <a:t>Pthreads</a:t>
            </a:r>
            <a:r>
              <a:rPr lang="en-US" b="1" dirty="0"/>
              <a:t>, OpenMP, and </a:t>
            </a:r>
            <a:r>
              <a:rPr lang="en-US" b="1" dirty="0" smtClean="0"/>
              <a:t>CUDA(</a:t>
            </a:r>
            <a:r>
              <a:rPr lang="en-US" dirty="0"/>
              <a:t>Compute Unified Device Architecture</a:t>
            </a:r>
            <a:r>
              <a:rPr lang="en-US" b="1" dirty="0" smtClean="0"/>
              <a:t>).</a:t>
            </a:r>
            <a:endParaRPr lang="en-US" dirty="0"/>
          </a:p>
          <a:p>
            <a:pPr lvl="0"/>
            <a:r>
              <a:rPr lang="en-US" b="1" dirty="0"/>
              <a:t>MPI:</a:t>
            </a:r>
            <a:r>
              <a:rPr lang="en-US" dirty="0"/>
              <a:t> Uses </a:t>
            </a:r>
            <a:r>
              <a:rPr lang="en-US" b="1" dirty="0"/>
              <a:t>multiple processes</a:t>
            </a:r>
            <a:r>
              <a:rPr lang="en-US" dirty="0"/>
              <a:t> with </a:t>
            </a:r>
            <a:r>
              <a:rPr lang="en-US" b="1" dirty="0"/>
              <a:t>message passing</a:t>
            </a:r>
            <a:r>
              <a:rPr lang="en-US" dirty="0"/>
              <a:t>; ideal for distributed-memory systems and supercomputers. </a:t>
            </a:r>
          </a:p>
          <a:p>
            <a:pPr lvl="0"/>
            <a:r>
              <a:rPr lang="en-US" b="1" dirty="0" err="1"/>
              <a:t>Pthreads</a:t>
            </a:r>
            <a:r>
              <a:rPr lang="en-US" b="1" dirty="0"/>
              <a:t>:</a:t>
            </a:r>
            <a:r>
              <a:rPr lang="en-US" dirty="0"/>
              <a:t> Uses </a:t>
            </a:r>
            <a:r>
              <a:rPr lang="en-US" b="1" dirty="0"/>
              <a:t>multiple threads</a:t>
            </a:r>
            <a:r>
              <a:rPr lang="en-US" dirty="0"/>
              <a:t> in a </a:t>
            </a:r>
            <a:r>
              <a:rPr lang="en-US" b="1" dirty="0"/>
              <a:t>shared-memory</a:t>
            </a:r>
            <a:r>
              <a:rPr lang="en-US" dirty="0"/>
              <a:t> process; offers fine-grained control but requires manual synchronization. </a:t>
            </a:r>
          </a:p>
          <a:p>
            <a:pPr lvl="0"/>
            <a:r>
              <a:rPr lang="en-US" b="1" dirty="0" err="1"/>
              <a:t>OpenMP</a:t>
            </a:r>
            <a:r>
              <a:rPr lang="en-US" b="1" dirty="0"/>
              <a:t>:</a:t>
            </a:r>
            <a:r>
              <a:rPr lang="en-US" dirty="0"/>
              <a:t> Uses </a:t>
            </a:r>
            <a:r>
              <a:rPr lang="en-US" b="1" dirty="0"/>
              <a:t>compiler directives</a:t>
            </a:r>
            <a:r>
              <a:rPr lang="en-US" dirty="0"/>
              <a:t> to automatically create and manage threads for shared-memory multicore CPUs. </a:t>
            </a:r>
          </a:p>
          <a:p>
            <a:pPr lvl="0"/>
            <a:r>
              <a:rPr lang="en-US" b="1" dirty="0"/>
              <a:t>CUDA:</a:t>
            </a:r>
            <a:r>
              <a:rPr lang="en-US" dirty="0"/>
              <a:t> Uses </a:t>
            </a:r>
            <a:r>
              <a:rPr lang="en-US" b="1" dirty="0"/>
              <a:t>GPU cores</a:t>
            </a:r>
            <a:r>
              <a:rPr lang="en-US" dirty="0"/>
              <a:t> to execute </a:t>
            </a:r>
            <a:r>
              <a:rPr lang="en-US" b="1" dirty="0"/>
              <a:t>thousands of threads in parallel</a:t>
            </a:r>
            <a:r>
              <a:rPr lang="en-US" dirty="0"/>
              <a:t>, making it well suited for </a:t>
            </a:r>
            <a:r>
              <a:rPr lang="en-US" b="1" dirty="0"/>
              <a:t>AI, graphics, and other compute-intensive applications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939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B46E5F-DD75-E88B-331B-A58A4167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9B9B3B-AD49-70CA-84B6-18656634C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 is a type of computation in which many calculations or processes are carried out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10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D41761-0F2A-6CDF-E43E-15905483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111125"/>
            <a:ext cx="10515600" cy="8540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Parallel Computing?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2160"/>
            <a:ext cx="11836400" cy="60045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What is Parallel Computing</a:t>
            </a:r>
            <a:r>
              <a:rPr lang="en-US" dirty="0" smtClean="0"/>
              <a:t>?</a:t>
            </a:r>
          </a:p>
          <a:p>
            <a:pPr algn="just"/>
            <a:r>
              <a:rPr lang="en-US" dirty="0" smtClean="0"/>
              <a:t>Parallel </a:t>
            </a:r>
            <a:r>
              <a:rPr lang="en-US" dirty="0"/>
              <a:t>Computing is a computing technique in which </a:t>
            </a:r>
            <a:r>
              <a:rPr lang="en-US" dirty="0">
                <a:solidFill>
                  <a:srgbClr val="FF0000"/>
                </a:solidFill>
              </a:rPr>
              <a:t>multiple processors or multiple CPU cores </a:t>
            </a:r>
            <a:r>
              <a:rPr lang="en-US" dirty="0"/>
              <a:t>work together simultaneously to solve a single problem. Instead of executing </a:t>
            </a:r>
            <a:r>
              <a:rPr lang="en-US" dirty="0">
                <a:solidFill>
                  <a:srgbClr val="FF0000"/>
                </a:solidFill>
              </a:rPr>
              <a:t>one instruction at a time</a:t>
            </a:r>
            <a:r>
              <a:rPr lang="en-US" dirty="0" smtClean="0"/>
              <a:t>,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	 </a:t>
            </a:r>
            <a:r>
              <a:rPr lang="en-US" dirty="0">
                <a:solidFill>
                  <a:srgbClr val="FF0000"/>
                </a:solidFill>
              </a:rPr>
              <a:t>the problem is divided into smaller independent tasks</a:t>
            </a:r>
            <a:r>
              <a:rPr lang="en-US" dirty="0"/>
              <a:t>, and </a:t>
            </a:r>
            <a:r>
              <a:rPr lang="en-US" dirty="0" smtClean="0"/>
              <a:t> 			</a:t>
            </a:r>
            <a:r>
              <a:rPr lang="en-US" dirty="0" smtClean="0">
                <a:solidFill>
                  <a:srgbClr val="FF0000"/>
                </a:solidFill>
              </a:rPr>
              <a:t>each </a:t>
            </a:r>
            <a:r>
              <a:rPr lang="en-US" dirty="0">
                <a:solidFill>
                  <a:srgbClr val="FF0000"/>
                </a:solidFill>
              </a:rPr>
              <a:t>task is executed concurrently by different </a:t>
            </a:r>
            <a:r>
              <a:rPr lang="en-US" dirty="0" smtClean="0">
                <a:solidFill>
                  <a:srgbClr val="FF0000"/>
                </a:solidFill>
              </a:rPr>
              <a:t>processors.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This </a:t>
            </a:r>
            <a:r>
              <a:rPr lang="en-US" dirty="0"/>
              <a:t>significantly reduces the total execution time and improves system performance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Definition- </a:t>
            </a:r>
          </a:p>
          <a:p>
            <a:pPr algn="just"/>
            <a:r>
              <a:rPr lang="en-US" dirty="0" smtClean="0"/>
              <a:t>Parallel </a:t>
            </a:r>
            <a:r>
              <a:rPr lang="en-US" dirty="0"/>
              <a:t>Computing is </a:t>
            </a:r>
            <a:r>
              <a:rPr lang="en-US" dirty="0">
                <a:solidFill>
                  <a:srgbClr val="FF0000"/>
                </a:solidFill>
              </a:rPr>
              <a:t>the process of performing multiple computations </a:t>
            </a:r>
            <a:r>
              <a:rPr lang="en-US" dirty="0"/>
              <a:t>or executing multiple instructions simultaneously by using two or more processors or cores </a:t>
            </a:r>
            <a:r>
              <a:rPr lang="en-US" dirty="0">
                <a:solidFill>
                  <a:srgbClr val="FF0000"/>
                </a:solidFill>
              </a:rPr>
              <a:t>to solve a computational problem faster.</a:t>
            </a:r>
          </a:p>
        </p:txBody>
      </p:sp>
    </p:spTree>
    <p:extLst>
      <p:ext uri="{BB962C8B-B14F-4D97-AF65-F5344CB8AC3E}">
        <p14:creationId xmlns:p14="http://schemas.microsoft.com/office/powerpoint/2010/main" val="3388308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241353-2138-B1C0-9806-800B533FF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Serial Computing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E947E62-F966-54A9-7C90-2467295EA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40" y="1188720"/>
            <a:ext cx="10347960" cy="5516880"/>
          </a:xfrm>
        </p:spPr>
      </p:pic>
    </p:spTree>
    <p:extLst>
      <p:ext uri="{BB962C8B-B14F-4D97-AF65-F5344CB8AC3E}">
        <p14:creationId xmlns:p14="http://schemas.microsoft.com/office/powerpoint/2010/main" val="132188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563BE8-641E-6611-A8D1-51694CF5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Computing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F4214794-6497-AF11-B75F-F8E2D0D4F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080" y="1538288"/>
            <a:ext cx="10403840" cy="4313872"/>
          </a:xfrm>
        </p:spPr>
      </p:pic>
    </p:spTree>
    <p:extLst>
      <p:ext uri="{BB962C8B-B14F-4D97-AF65-F5344CB8AC3E}">
        <p14:creationId xmlns:p14="http://schemas.microsoft.com/office/powerpoint/2010/main" val="1615321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A781B-748A-7182-1627-663C6003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1DB9EBD-522A-46DF-B1F5-952ECF994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800" y="1290320"/>
            <a:ext cx="10292079" cy="4592161"/>
          </a:xfrm>
        </p:spPr>
      </p:pic>
    </p:spTree>
    <p:extLst>
      <p:ext uri="{BB962C8B-B14F-4D97-AF65-F5344CB8AC3E}">
        <p14:creationId xmlns:p14="http://schemas.microsoft.com/office/powerpoint/2010/main" val="5428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8619C8-FC69-6F11-97C0-7CF922E5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263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OF PARALLEL COMPUTING?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842BA5-5002-CE7B-2CEC-5DA90C33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995680"/>
            <a:ext cx="12100560" cy="58623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Parallel computing is used to </a:t>
            </a:r>
            <a:r>
              <a:rPr lang="en-US" b="1" dirty="0"/>
              <a:t>solve problems faster and more efficiently</a:t>
            </a:r>
            <a:r>
              <a:rPr lang="en-US" dirty="0"/>
              <a:t> by doing many tasks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1</a:t>
            </a:r>
            <a:r>
              <a:rPr lang="en-IN" b="1" dirty="0" smtClean="0">
                <a:solidFill>
                  <a:srgbClr val="FF0000"/>
                </a:solidFill>
              </a:rPr>
              <a:t>. Speed </a:t>
            </a:r>
            <a:r>
              <a:rPr lang="en-IN" b="1" dirty="0">
                <a:solidFill>
                  <a:srgbClr val="FF0000"/>
                </a:solidFill>
              </a:rPr>
              <a:t>up </a:t>
            </a:r>
            <a:r>
              <a:rPr lang="en-IN" b="1" dirty="0" smtClean="0">
                <a:solidFill>
                  <a:srgbClr val="FF0000"/>
                </a:solidFill>
              </a:rPr>
              <a:t>Execution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Solve Bigger </a:t>
            </a:r>
            <a:r>
              <a:rPr lang="en-US" b="1" dirty="0" smtClean="0">
                <a:solidFill>
                  <a:srgbClr val="FF0000"/>
                </a:solidFill>
              </a:rPr>
              <a:t>Problems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.</a:t>
            </a:r>
            <a:r>
              <a:rPr lang="en-US" b="1" dirty="0">
                <a:solidFill>
                  <a:srgbClr val="FF0000"/>
                </a:solidFill>
              </a:rPr>
              <a:t> Efficient Resource </a:t>
            </a:r>
            <a:r>
              <a:rPr lang="en-US" b="1" dirty="0" smtClean="0">
                <a:solidFill>
                  <a:srgbClr val="FF0000"/>
                </a:solidFill>
              </a:rPr>
              <a:t>Use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dirty="0" smtClean="0">
                <a:solidFill>
                  <a:srgbClr val="FF0000"/>
                </a:solidFill>
              </a:rPr>
              <a:t>. Real-Time </a:t>
            </a:r>
            <a:r>
              <a:rPr lang="en-US" b="1" dirty="0">
                <a:solidFill>
                  <a:srgbClr val="FF0000"/>
                </a:solidFill>
              </a:rPr>
              <a:t>Processing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5.</a:t>
            </a:r>
            <a:r>
              <a:rPr lang="en-US" b="1" dirty="0">
                <a:solidFill>
                  <a:srgbClr val="FF0000"/>
                </a:solidFill>
              </a:rPr>
              <a:t> Energy </a:t>
            </a:r>
            <a:r>
              <a:rPr lang="en-US" b="1" dirty="0" smtClean="0">
                <a:solidFill>
                  <a:srgbClr val="FF0000"/>
                </a:solidFill>
              </a:rPr>
              <a:t>Efficiency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6. </a:t>
            </a:r>
            <a:r>
              <a:rPr lang="en-US" b="1" dirty="0" smtClean="0">
                <a:solidFill>
                  <a:srgbClr val="FF0000"/>
                </a:solidFill>
              </a:rPr>
              <a:t>Scalability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7. Enables Complex </a:t>
            </a:r>
            <a:r>
              <a:rPr lang="en-US" b="1" dirty="0" smtClean="0">
                <a:solidFill>
                  <a:srgbClr val="FF0000"/>
                </a:solidFill>
              </a:rPr>
              <a:t>Simulations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1.Speed up </a:t>
            </a:r>
            <a:r>
              <a:rPr lang="en-IN" dirty="0" smtClean="0">
                <a:solidFill>
                  <a:srgbClr val="FF0000"/>
                </a:solidFill>
              </a:rPr>
              <a:t>Execution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US" b="1" dirty="0"/>
              <a:t>Main benefit:</a:t>
            </a:r>
            <a:r>
              <a:rPr lang="en-US" dirty="0"/>
              <a:t> Tasks run faster by splitting them across multiple processors.</a:t>
            </a:r>
          </a:p>
          <a:p>
            <a:r>
              <a:rPr lang="en-US" dirty="0"/>
              <a:t>Example: A simulation that takes </a:t>
            </a:r>
            <a:r>
              <a:rPr lang="en-US" dirty="0">
                <a:solidFill>
                  <a:srgbClr val="FF0000"/>
                </a:solidFill>
              </a:rPr>
              <a:t>10 hours </a:t>
            </a:r>
            <a:r>
              <a:rPr lang="en-US" dirty="0"/>
              <a:t>on </a:t>
            </a:r>
            <a:r>
              <a:rPr lang="en-US" dirty="0">
                <a:solidFill>
                  <a:srgbClr val="00B050"/>
                </a:solidFill>
              </a:rPr>
              <a:t>one CPU </a:t>
            </a:r>
            <a:r>
              <a:rPr lang="en-US" dirty="0"/>
              <a:t>might take </a:t>
            </a:r>
            <a:r>
              <a:rPr lang="en-US" dirty="0">
                <a:solidFill>
                  <a:srgbClr val="FF0000"/>
                </a:solidFill>
              </a:rPr>
              <a:t>1 hour on 10 CPUs.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65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8894F1-B500-D16F-CAC6-6CD2FC1A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USE OF PARALLEL COMPUTING?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640B40-C69F-1B25-9DFB-0DC72F599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944880"/>
            <a:ext cx="12070080" cy="52320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Solve Bigger Problems</a:t>
            </a:r>
          </a:p>
          <a:p>
            <a:pPr algn="just"/>
            <a:r>
              <a:rPr lang="en-US" dirty="0"/>
              <a:t>Some problems are </a:t>
            </a:r>
            <a:r>
              <a:rPr lang="en-US" b="1" dirty="0"/>
              <a:t>too large</a:t>
            </a:r>
            <a:r>
              <a:rPr lang="en-US" dirty="0"/>
              <a:t> for a </a:t>
            </a:r>
            <a:r>
              <a:rPr lang="en-US" dirty="0">
                <a:solidFill>
                  <a:srgbClr val="FF0000"/>
                </a:solidFill>
              </a:rPr>
              <a:t>single machine </a:t>
            </a:r>
            <a:r>
              <a:rPr lang="en-US" dirty="0"/>
              <a:t>to handle (e.g., climate models, DNA sequencing).</a:t>
            </a:r>
          </a:p>
          <a:p>
            <a:pPr algn="just"/>
            <a:r>
              <a:rPr lang="en-US" dirty="0"/>
              <a:t>Parallel systems can process </a:t>
            </a:r>
            <a:r>
              <a:rPr lang="en-US" b="1" dirty="0"/>
              <a:t>massive datasets</a:t>
            </a:r>
            <a:r>
              <a:rPr lang="en-US" dirty="0"/>
              <a:t> by dividing the load.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FF0000"/>
                </a:solidFill>
              </a:rPr>
              <a:t>3.</a:t>
            </a:r>
            <a:r>
              <a:rPr lang="en-US" b="1" dirty="0">
                <a:solidFill>
                  <a:srgbClr val="FF0000"/>
                </a:solidFill>
              </a:rPr>
              <a:t> Efficient Resource Use</a:t>
            </a:r>
          </a:p>
          <a:p>
            <a:pPr algn="just"/>
            <a:r>
              <a:rPr lang="en-US" dirty="0"/>
              <a:t>Multi-core CPUs, GPUs, and cloud resources are </a:t>
            </a:r>
            <a:r>
              <a:rPr lang="en-US" b="1" dirty="0"/>
              <a:t>common and affordable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Parallel computing makes full use of available hardware.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16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251218-3869-D573-098B-764E8533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23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WHY USE OF PARALLEL COMPUTING?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1B71BE-9ED1-5FB9-B004-F217544F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" y="650240"/>
            <a:ext cx="12019280" cy="552672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4.Real-Time Processing</a:t>
            </a:r>
          </a:p>
          <a:p>
            <a:r>
              <a:rPr lang="en-US" dirty="0"/>
              <a:t>Needed in areas like </a:t>
            </a:r>
            <a:r>
              <a:rPr lang="en-US" b="1" dirty="0"/>
              <a:t>medical imaging</a:t>
            </a:r>
            <a:r>
              <a:rPr lang="en-US" dirty="0"/>
              <a:t>, </a:t>
            </a:r>
            <a:r>
              <a:rPr lang="en-US" b="1" dirty="0"/>
              <a:t>robotics</a:t>
            </a:r>
            <a:r>
              <a:rPr lang="en-US" dirty="0"/>
              <a:t>, or </a:t>
            </a:r>
            <a:r>
              <a:rPr lang="en-US" b="1" dirty="0"/>
              <a:t>self-driving cars</a:t>
            </a:r>
            <a:r>
              <a:rPr lang="en-US" dirty="0"/>
              <a:t>, where quick decisions are vital.</a:t>
            </a:r>
          </a:p>
          <a:p>
            <a:r>
              <a:rPr lang="en-US" dirty="0"/>
              <a:t>Parallelism ensures results are available </a:t>
            </a:r>
            <a:r>
              <a:rPr lang="en-US" b="1" dirty="0"/>
              <a:t>in real time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5.</a:t>
            </a:r>
            <a:r>
              <a:rPr lang="en-US" b="1" dirty="0">
                <a:solidFill>
                  <a:srgbClr val="FF0000"/>
                </a:solidFill>
              </a:rPr>
              <a:t> Energy Efficiency</a:t>
            </a:r>
          </a:p>
          <a:p>
            <a:r>
              <a:rPr lang="en-US" dirty="0"/>
              <a:t>Instead of </a:t>
            </a:r>
            <a:r>
              <a:rPr lang="en-US" dirty="0">
                <a:solidFill>
                  <a:srgbClr val="FF0000"/>
                </a:solidFill>
              </a:rPr>
              <a:t>overloading</a:t>
            </a:r>
            <a:r>
              <a:rPr lang="en-US" dirty="0"/>
              <a:t> one processor, tasks can be shared across many, reducing </a:t>
            </a:r>
            <a:r>
              <a:rPr lang="en-US" b="1" dirty="0"/>
              <a:t>heat</a:t>
            </a:r>
            <a:r>
              <a:rPr lang="en-US" dirty="0"/>
              <a:t> and </a:t>
            </a:r>
            <a:r>
              <a:rPr lang="en-US" b="1" dirty="0"/>
              <a:t>power consumption</a:t>
            </a:r>
            <a:r>
              <a:rPr lang="en-US" dirty="0"/>
              <a:t> per task.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99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40EDFA-DAFA-10A5-DE31-74D513F8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OF PARALLEL COMPUTING?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251B31-0101-22EF-4FF8-7B157A1AD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6.</a:t>
            </a:r>
            <a:r>
              <a:rPr lang="en-US" b="1" dirty="0">
                <a:solidFill>
                  <a:srgbClr val="FF0000"/>
                </a:solidFill>
              </a:rPr>
              <a:t>Scalability</a:t>
            </a:r>
          </a:p>
          <a:p>
            <a:r>
              <a:rPr lang="en-US" dirty="0"/>
              <a:t>As data grows (big data, AI, etc.), parallel computing can </a:t>
            </a:r>
            <a:r>
              <a:rPr lang="en-US" b="1" dirty="0"/>
              <a:t>scale</a:t>
            </a:r>
            <a:r>
              <a:rPr lang="en-US" dirty="0"/>
              <a:t> with demand by adding more processors or nodes.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7. Enables Complex Simulations</a:t>
            </a:r>
          </a:p>
          <a:p>
            <a:r>
              <a:rPr lang="en-US" dirty="0"/>
              <a:t>Physics, chemistry, biology, and finance simulations often need </a:t>
            </a:r>
            <a:r>
              <a:rPr lang="en-US" b="1" dirty="0"/>
              <a:t>high computational power</a:t>
            </a:r>
            <a:r>
              <a:rPr lang="en-US" dirty="0"/>
              <a:t>.</a:t>
            </a:r>
          </a:p>
          <a:p>
            <a:r>
              <a:rPr lang="en-US" dirty="0"/>
              <a:t>Parallel computing enables these simulations to run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6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1760"/>
            <a:ext cx="12100560" cy="6746240"/>
          </a:xfrm>
        </p:spPr>
        <p:txBody>
          <a:bodyPr>
            <a:normAutofit/>
          </a:bodyPr>
          <a:lstStyle/>
          <a:p>
            <a:r>
              <a:rPr lang="en-US" b="1" dirty="0"/>
              <a:t>Characteristics of Parallel Computing</a:t>
            </a:r>
          </a:p>
          <a:p>
            <a:r>
              <a:rPr lang="en-US" dirty="0"/>
              <a:t>A problem is divided into </a:t>
            </a:r>
            <a:r>
              <a:rPr lang="en-US" dirty="0">
                <a:solidFill>
                  <a:srgbClr val="FF0000"/>
                </a:solidFill>
              </a:rPr>
              <a:t>multiple smaller sub-problems</a:t>
            </a:r>
            <a:r>
              <a:rPr lang="en-US" dirty="0"/>
              <a:t>. 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sub-problem</a:t>
            </a:r>
            <a:r>
              <a:rPr lang="en-US" dirty="0"/>
              <a:t> is assigned to a different processor or CPU core. </a:t>
            </a:r>
          </a:p>
          <a:p>
            <a:r>
              <a:rPr lang="en-US" dirty="0">
                <a:solidFill>
                  <a:srgbClr val="FF0000"/>
                </a:solidFill>
              </a:rPr>
              <a:t>Multiple instructions </a:t>
            </a:r>
            <a:r>
              <a:rPr lang="en-US" dirty="0"/>
              <a:t>are executed simultaneously. </a:t>
            </a:r>
          </a:p>
          <a:p>
            <a:r>
              <a:rPr lang="en-US" dirty="0">
                <a:solidFill>
                  <a:srgbClr val="FF0000"/>
                </a:solidFill>
              </a:rPr>
              <a:t>Processors communicate and synchronize </a:t>
            </a:r>
            <a:r>
              <a:rPr lang="en-US" dirty="0"/>
              <a:t>when required. </a:t>
            </a:r>
          </a:p>
          <a:p>
            <a:r>
              <a:rPr lang="en-US" dirty="0"/>
              <a:t>The partial results are combined to produce the final output. </a:t>
            </a:r>
          </a:p>
          <a:p>
            <a:r>
              <a:rPr lang="en-US" dirty="0"/>
              <a:t>It </a:t>
            </a:r>
            <a:r>
              <a:rPr lang="en-US" dirty="0">
                <a:solidFill>
                  <a:srgbClr val="FF0000"/>
                </a:solidFill>
              </a:rPr>
              <a:t>improves execution speed, efficiency, and resource utilization</a:t>
            </a:r>
            <a:r>
              <a:rPr lang="en-US" dirty="0" smtClean="0"/>
              <a:t>.</a:t>
            </a:r>
          </a:p>
          <a:p>
            <a:r>
              <a:rPr lang="en-US" b="1" dirty="0"/>
              <a:t>Working of Parallel Computing</a:t>
            </a:r>
          </a:p>
          <a:p>
            <a:r>
              <a:rPr lang="en-US" dirty="0"/>
              <a:t>The main problem is split into </a:t>
            </a:r>
            <a:r>
              <a:rPr lang="en-US" dirty="0">
                <a:solidFill>
                  <a:srgbClr val="FF0000"/>
                </a:solidFill>
              </a:rPr>
              <a:t>smaller tasks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FF0000"/>
                </a:solidFill>
              </a:rPr>
              <a:t>Each processor or core executes its assigned task </a:t>
            </a:r>
            <a:r>
              <a:rPr lang="en-US" dirty="0"/>
              <a:t>at the same time. </a:t>
            </a:r>
          </a:p>
          <a:p>
            <a:r>
              <a:rPr lang="en-US" dirty="0"/>
              <a:t>After completing their tasks, the processors combine their results. </a:t>
            </a:r>
          </a:p>
          <a:p>
            <a:r>
              <a:rPr lang="en-US" dirty="0"/>
              <a:t>The combined result forms the final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5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85D814-9D04-02DE-8D7D-AA592EE3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76517"/>
            <a:ext cx="11973560" cy="64484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ARCHITECTURE CONCEPTS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6F479CB-E1E7-BFF0-9038-C49B049EB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" y="853440"/>
            <a:ext cx="11826240" cy="5516880"/>
          </a:xfrm>
        </p:spPr>
      </p:pic>
    </p:spTree>
    <p:extLst>
      <p:ext uri="{BB962C8B-B14F-4D97-AF65-F5344CB8AC3E}">
        <p14:creationId xmlns:p14="http://schemas.microsoft.com/office/powerpoint/2010/main" val="267888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1B71215-E0B8-899D-651D-3B66263A4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von Neumann architecture</a:t>
            </a:r>
            <a:endParaRPr lang="en-IN" b="1" dirty="0"/>
          </a:p>
        </p:txBody>
      </p:sp>
      <p:pic>
        <p:nvPicPr>
          <p:cNvPr id="4" name="Content Placeholder 3" descr="Core1.jpg">
            <a:extLst>
              <a:ext uri="{FF2B5EF4-FFF2-40B4-BE49-F238E27FC236}">
                <a16:creationId xmlns:a16="http://schemas.microsoft.com/office/drawing/2014/main" xmlns="" id="{571A4D77-63A8-62A7-9BA6-E647B1847F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1690688"/>
            <a:ext cx="5181600" cy="408506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E4F4F17-FEE3-D46B-2479-A4D94A7A9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82920" cy="3843655"/>
          </a:xfrm>
        </p:spPr>
        <p:txBody>
          <a:bodyPr/>
          <a:lstStyle/>
          <a:p>
            <a:r>
              <a:rPr lang="en-US" dirty="0"/>
              <a:t>The “classical” von Neumann architecture consists of </a:t>
            </a:r>
            <a:endParaRPr lang="en-US" dirty="0" smtClean="0"/>
          </a:p>
          <a:p>
            <a:r>
              <a:rPr lang="en-US" dirty="0" smtClean="0"/>
              <a:t>main </a:t>
            </a:r>
            <a:r>
              <a:rPr lang="en-US" dirty="0"/>
              <a:t>memory,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central processing unit (CPU) or processor or core,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an interconnection between the memory and the CPU.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60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B341A6-3400-844B-CC37-C2B9ED5C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/>
          <a:lstStyle/>
          <a:p>
            <a:r>
              <a:rPr lang="en-US" b="1" dirty="0"/>
              <a:t>ARCHITECTURE CONCEPTS CONTD..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994BB7CE-4F4A-B415-7685-E32680ACB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310640"/>
            <a:ext cx="11673840" cy="5445760"/>
          </a:xfrm>
        </p:spPr>
      </p:pic>
    </p:spTree>
    <p:extLst>
      <p:ext uri="{BB962C8B-B14F-4D97-AF65-F5344CB8AC3E}">
        <p14:creationId xmlns:p14="http://schemas.microsoft.com/office/powerpoint/2010/main" val="417648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992694-6922-8D9F-80CA-BB525229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965"/>
            <a:ext cx="10515600" cy="752475"/>
          </a:xfrm>
        </p:spPr>
        <p:txBody>
          <a:bodyPr/>
          <a:lstStyle/>
          <a:p>
            <a:r>
              <a:rPr lang="en-US" b="1" dirty="0"/>
              <a:t>Parallel Hardware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7FC8C5-29B5-C01A-453F-6C66E44AA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853440"/>
            <a:ext cx="12019280" cy="60045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Parallel hardware refers to the </a:t>
            </a:r>
            <a:r>
              <a:rPr lang="en-US" b="1" dirty="0">
                <a:solidFill>
                  <a:srgbClr val="FF0000"/>
                </a:solidFill>
              </a:rPr>
              <a:t>physical components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(processors, memory, interconnects)</a:t>
            </a:r>
            <a:r>
              <a:rPr lang="en-US" dirty="0"/>
              <a:t> that </a:t>
            </a:r>
            <a:r>
              <a:rPr lang="en-US" b="1" dirty="0">
                <a:solidFill>
                  <a:srgbClr val="0070C0"/>
                </a:solidFill>
              </a:rPr>
              <a:t>enable parallel computing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by allowing multiple operations to occur </a:t>
            </a:r>
            <a:r>
              <a:rPr lang="en-US" b="1" dirty="0"/>
              <a:t>at the same time</a:t>
            </a:r>
            <a:r>
              <a:rPr lang="en-US" dirty="0" smtClean="0"/>
              <a:t>.</a:t>
            </a:r>
          </a:p>
          <a:p>
            <a:r>
              <a:rPr lang="en-US" b="1" dirty="0"/>
              <a:t>1. Multi-Core </a:t>
            </a:r>
            <a:r>
              <a:rPr lang="en-US" b="1" dirty="0" smtClean="0"/>
              <a:t>Processors</a:t>
            </a:r>
          </a:p>
          <a:p>
            <a:r>
              <a:rPr lang="en-US" b="1" dirty="0"/>
              <a:t>2. Graphics Processing Units (GPUs</a:t>
            </a:r>
            <a:r>
              <a:rPr lang="en-US" b="1" dirty="0" smtClean="0"/>
              <a:t>)</a:t>
            </a:r>
          </a:p>
          <a:p>
            <a:r>
              <a:rPr lang="en-US" b="1" dirty="0"/>
              <a:t>3. Multiprocessor </a:t>
            </a:r>
            <a:r>
              <a:rPr lang="en-US" b="1" dirty="0" smtClean="0"/>
              <a:t>Systems</a:t>
            </a:r>
          </a:p>
          <a:p>
            <a:r>
              <a:rPr lang="en-US" b="1" dirty="0"/>
              <a:t>4. </a:t>
            </a:r>
            <a:r>
              <a:rPr lang="en-US" b="1" dirty="0" smtClean="0"/>
              <a:t>Clusters</a:t>
            </a:r>
          </a:p>
          <a:p>
            <a:r>
              <a:rPr lang="en-US" b="1" dirty="0"/>
              <a:t>5. </a:t>
            </a:r>
            <a:r>
              <a:rPr lang="en-US" b="1" dirty="0" smtClean="0"/>
              <a:t>Supercomputers</a:t>
            </a:r>
          </a:p>
          <a:p>
            <a:r>
              <a:rPr lang="en-US" b="1" dirty="0"/>
              <a:t>6. Field-Programmable Gate Arrays (FPGAs</a:t>
            </a:r>
            <a:r>
              <a:rPr lang="en-US" b="1" dirty="0" smtClean="0"/>
              <a:t>)</a:t>
            </a:r>
          </a:p>
          <a:p>
            <a:r>
              <a:rPr lang="en-US" b="1" dirty="0"/>
              <a:t>7. </a:t>
            </a:r>
            <a:r>
              <a:rPr lang="en-US" b="1" dirty="0" smtClean="0"/>
              <a:t>Interconnects</a:t>
            </a:r>
            <a:endParaRPr lang="en-US" dirty="0"/>
          </a:p>
          <a:p>
            <a:r>
              <a:rPr lang="en-US" b="1" dirty="0"/>
              <a:t> 1. Multi-Core Processors</a:t>
            </a:r>
          </a:p>
          <a:p>
            <a:r>
              <a:rPr lang="en-US" dirty="0"/>
              <a:t>A </a:t>
            </a:r>
            <a:r>
              <a:rPr lang="en-US" b="1" dirty="0"/>
              <a:t>single chip</a:t>
            </a:r>
            <a:r>
              <a:rPr lang="en-US" dirty="0"/>
              <a:t> with multiple cores (CPUs).</a:t>
            </a:r>
          </a:p>
          <a:p>
            <a:r>
              <a:rPr lang="en-US" dirty="0"/>
              <a:t>Each core can execute </a:t>
            </a:r>
            <a:r>
              <a:rPr lang="en-US" dirty="0">
                <a:solidFill>
                  <a:srgbClr val="FF0000"/>
                </a:solidFill>
              </a:rPr>
              <a:t>tasks independently</a:t>
            </a:r>
            <a:r>
              <a:rPr lang="en-US" dirty="0"/>
              <a:t>.</a:t>
            </a:r>
          </a:p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Quad-core or Octa-core CPUs in laptops and phones.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9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B995F5-67E9-304D-C96A-E7D40A60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ABC453-8ECC-6C0B-3070-C015B3E2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995680"/>
            <a:ext cx="10967720" cy="5181283"/>
          </a:xfrm>
        </p:spPr>
        <p:txBody>
          <a:bodyPr/>
          <a:lstStyle/>
          <a:p>
            <a:r>
              <a:rPr lang="en-US" b="1" dirty="0"/>
              <a:t>2. Graphics Processing Units (GPUs)</a:t>
            </a:r>
          </a:p>
          <a:p>
            <a:r>
              <a:rPr lang="en-US" dirty="0"/>
              <a:t>Thousands of smaller cores designed for </a:t>
            </a:r>
            <a:r>
              <a:rPr lang="en-US" b="1" dirty="0"/>
              <a:t>parallel data processing</a:t>
            </a:r>
            <a:r>
              <a:rPr lang="en-US" dirty="0"/>
              <a:t>.</a:t>
            </a:r>
          </a:p>
          <a:p>
            <a:r>
              <a:rPr lang="en-US" dirty="0"/>
              <a:t>Ideal for tasks like </a:t>
            </a:r>
            <a:r>
              <a:rPr lang="en-US" b="1" dirty="0"/>
              <a:t>image processing</a:t>
            </a:r>
            <a:r>
              <a:rPr lang="en-US" dirty="0"/>
              <a:t>, </a:t>
            </a:r>
            <a:r>
              <a:rPr lang="en-US" b="1" dirty="0"/>
              <a:t>machine learning</a:t>
            </a:r>
            <a:r>
              <a:rPr lang="en-US" dirty="0"/>
              <a:t>, and </a:t>
            </a:r>
            <a:r>
              <a:rPr lang="en-US" b="1" dirty="0"/>
              <a:t>simulations</a:t>
            </a:r>
            <a:r>
              <a:rPr lang="en-US" dirty="0"/>
              <a:t>.</a:t>
            </a:r>
          </a:p>
          <a:p>
            <a:r>
              <a:rPr lang="en-US" dirty="0"/>
              <a:t>Example: NVIDIA CUDA-enabled GPUs.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42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F601CD-5759-A662-AE9F-E779954F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368989-4600-E81A-585C-538E6743A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046480"/>
            <a:ext cx="12100560" cy="5811520"/>
          </a:xfrm>
        </p:spPr>
        <p:txBody>
          <a:bodyPr/>
          <a:lstStyle/>
          <a:p>
            <a:r>
              <a:rPr lang="en-US" b="1" dirty="0"/>
              <a:t>3. Multiprocessor Systems</a:t>
            </a:r>
          </a:p>
          <a:p>
            <a:r>
              <a:rPr lang="en-US" dirty="0">
                <a:solidFill>
                  <a:srgbClr val="FF0000"/>
                </a:solidFill>
              </a:rPr>
              <a:t>Multiple CPUs </a:t>
            </a:r>
            <a:r>
              <a:rPr lang="en-US" dirty="0"/>
              <a:t>in one system.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processor</a:t>
            </a:r>
            <a:r>
              <a:rPr lang="en-US" dirty="0"/>
              <a:t> can work on </a:t>
            </a:r>
            <a:r>
              <a:rPr lang="en-US" dirty="0">
                <a:solidFill>
                  <a:srgbClr val="FF0000"/>
                </a:solidFill>
              </a:rPr>
              <a:t>a separate task or collaborate on one large task.</a:t>
            </a:r>
          </a:p>
          <a:p>
            <a:r>
              <a:rPr lang="en-US" dirty="0"/>
              <a:t>Example: Dual-processor servers.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87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136024-56E7-C062-23E9-BB51E4F8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4758AB-7AC2-0562-9500-C3A04EDE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Clusters</a:t>
            </a:r>
          </a:p>
          <a:p>
            <a:r>
              <a:rPr lang="en-US" dirty="0"/>
              <a:t>A group of </a:t>
            </a:r>
            <a:r>
              <a:rPr lang="en-US" b="1" dirty="0"/>
              <a:t>networked computers</a:t>
            </a:r>
            <a:r>
              <a:rPr lang="en-US" dirty="0"/>
              <a:t> (nodes) working together on a problem.</a:t>
            </a:r>
          </a:p>
          <a:p>
            <a:r>
              <a:rPr lang="en-US" dirty="0"/>
              <a:t>Each node runs </a:t>
            </a:r>
            <a:r>
              <a:rPr lang="en-US" dirty="0">
                <a:solidFill>
                  <a:srgbClr val="FF0000"/>
                </a:solidFill>
              </a:rPr>
              <a:t>part of the program.</a:t>
            </a:r>
          </a:p>
          <a:p>
            <a:r>
              <a:rPr lang="en-US" dirty="0"/>
              <a:t>Used in </a:t>
            </a:r>
            <a:r>
              <a:rPr lang="en-US" b="1" dirty="0"/>
              <a:t>scientific computing</a:t>
            </a:r>
            <a:r>
              <a:rPr lang="en-US" dirty="0"/>
              <a:t> and </a:t>
            </a:r>
            <a:r>
              <a:rPr lang="en-US" b="1" dirty="0"/>
              <a:t>data centers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97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D55795-E04A-B52D-2EF2-76CA118B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DB5327-B4EC-DEB9-1FC9-E4218D1AC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Supercomputers</a:t>
            </a:r>
          </a:p>
          <a:p>
            <a:r>
              <a:rPr lang="en-US" dirty="0"/>
              <a:t>Extremely powerful systems made up of </a:t>
            </a:r>
            <a:r>
              <a:rPr lang="en-US" b="1" dirty="0"/>
              <a:t>thousands of processors or nodes</a:t>
            </a:r>
            <a:r>
              <a:rPr lang="en-US" dirty="0"/>
              <a:t>.</a:t>
            </a:r>
          </a:p>
          <a:p>
            <a:r>
              <a:rPr lang="en-US" dirty="0"/>
              <a:t>Used for </a:t>
            </a:r>
            <a:r>
              <a:rPr lang="en-US" dirty="0">
                <a:solidFill>
                  <a:srgbClr val="FF0000"/>
                </a:solidFill>
              </a:rPr>
              <a:t>weather forecasting, nuclear simulations, AI research,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94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08F550-C0E9-8420-27E6-9D437EDE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6FC0D6-CC41-938D-FA25-0134C5B0B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Field-Programmable Gate Arrays (FPGAs)</a:t>
            </a:r>
          </a:p>
          <a:p>
            <a:r>
              <a:rPr lang="en-US" dirty="0"/>
              <a:t>Hardware that can be </a:t>
            </a:r>
            <a:r>
              <a:rPr lang="en-US" b="1" dirty="0"/>
              <a:t>programmed</a:t>
            </a:r>
            <a:r>
              <a:rPr lang="en-US" dirty="0"/>
              <a:t> after manufacturing </a:t>
            </a:r>
            <a:r>
              <a:rPr lang="en-US" dirty="0">
                <a:solidFill>
                  <a:srgbClr val="FF0000"/>
                </a:solidFill>
              </a:rPr>
              <a:t>to execute specific parallel tasks efficiently.</a:t>
            </a:r>
          </a:p>
          <a:p>
            <a:r>
              <a:rPr lang="en-US" dirty="0"/>
              <a:t>Used in </a:t>
            </a:r>
            <a:r>
              <a:rPr lang="en-US" b="1" dirty="0"/>
              <a:t>signal processing</a:t>
            </a:r>
            <a:r>
              <a:rPr lang="en-US" dirty="0"/>
              <a:t>, </a:t>
            </a:r>
            <a:r>
              <a:rPr lang="en-US" b="1" dirty="0"/>
              <a:t>AI inference</a:t>
            </a:r>
            <a:r>
              <a:rPr lang="en-US" dirty="0"/>
              <a:t>, and </a:t>
            </a:r>
            <a:r>
              <a:rPr lang="en-US" b="1" dirty="0"/>
              <a:t>hardware acceleration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61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C7C2B6-0B1F-76B1-0FB1-A8084610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Hardware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5097E3-F10D-26F8-7E72-5E700E22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280160"/>
            <a:ext cx="11865774" cy="4896803"/>
          </a:xfrm>
        </p:spPr>
        <p:txBody>
          <a:bodyPr/>
          <a:lstStyle/>
          <a:p>
            <a:r>
              <a:rPr lang="en-US" b="1" dirty="0" smtClean="0"/>
              <a:t>7. Interconnects</a:t>
            </a:r>
          </a:p>
          <a:p>
            <a:r>
              <a:rPr lang="en-US" dirty="0" smtClean="0"/>
              <a:t>Fast </a:t>
            </a:r>
            <a:r>
              <a:rPr lang="en-US" dirty="0"/>
              <a:t>communication hardware like </a:t>
            </a:r>
            <a:r>
              <a:rPr lang="en-US" b="1" dirty="0"/>
              <a:t>InfiniBand</a:t>
            </a:r>
            <a:r>
              <a:rPr lang="en-US" dirty="0"/>
              <a:t> or </a:t>
            </a:r>
            <a:r>
              <a:rPr lang="en-US" b="1" dirty="0"/>
              <a:t>Ethernet</a:t>
            </a:r>
            <a:r>
              <a:rPr lang="en-US" dirty="0"/>
              <a:t> used in clusters and supercomputers</a:t>
            </a:r>
            <a:r>
              <a:rPr lang="en-US" dirty="0" smtClean="0"/>
              <a:t>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Interconnects </a:t>
            </a:r>
            <a:r>
              <a:rPr lang="en-US" dirty="0"/>
              <a:t>are communication links that </a:t>
            </a:r>
            <a:r>
              <a:rPr lang="en-US" b="1" dirty="0"/>
              <a:t>connect processors, memory, and storage devices.</a:t>
            </a:r>
          </a:p>
          <a:p>
            <a:r>
              <a:rPr lang="en-US" dirty="0"/>
              <a:t>Helps in </a:t>
            </a:r>
            <a:r>
              <a:rPr lang="en-US" b="1" dirty="0"/>
              <a:t>data transfer</a:t>
            </a:r>
            <a:r>
              <a:rPr lang="en-US" dirty="0"/>
              <a:t> between parallel nodes.</a:t>
            </a: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9F30C2E0-9B92-97FC-4588-7954FF527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722896"/>
              </p:ext>
            </p:extLst>
          </p:nvPr>
        </p:nvGraphicFramePr>
        <p:xfrm>
          <a:off x="838200" y="3980974"/>
          <a:ext cx="10515600" cy="2665348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0631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  <a:p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31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Transfers data between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31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Connects components in a circular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317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multiple communication paths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317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Hypercube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in supercomputers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62000" y="4005940"/>
            <a:ext cx="112256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99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518910-72A5-2CFB-14A0-610B5424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1"/>
            <a:ext cx="10515600" cy="914400"/>
          </a:xfrm>
        </p:spPr>
        <p:txBody>
          <a:bodyPr/>
          <a:lstStyle/>
          <a:p>
            <a:r>
              <a:rPr lang="en-US" b="1" dirty="0"/>
              <a:t>Parallel Software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F7BDBD-9ECC-4CB7-468D-3CD65F13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32560"/>
            <a:ext cx="11353800" cy="5425440"/>
          </a:xfrm>
        </p:spPr>
        <p:txBody>
          <a:bodyPr/>
          <a:lstStyle/>
          <a:p>
            <a:r>
              <a:rPr lang="en-US" b="1" dirty="0"/>
              <a:t>Parallel software</a:t>
            </a:r>
            <a:r>
              <a:rPr lang="en-US" dirty="0"/>
              <a:t> is designed to </a:t>
            </a:r>
            <a:r>
              <a:rPr lang="en-US" b="1" dirty="0"/>
              <a:t>run tasks simultaneously</a:t>
            </a:r>
            <a:r>
              <a:rPr lang="en-US" dirty="0"/>
              <a:t> using multiple processing units (CPUs, cores, or GPUs). </a:t>
            </a:r>
          </a:p>
          <a:p>
            <a:r>
              <a:rPr lang="en-US" dirty="0"/>
              <a:t>It includes </a:t>
            </a:r>
            <a:r>
              <a:rPr lang="en-US" b="1" dirty="0">
                <a:solidFill>
                  <a:srgbClr val="FF0000"/>
                </a:solidFill>
              </a:rPr>
              <a:t>languages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libraries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b="1" dirty="0">
                <a:solidFill>
                  <a:srgbClr val="FF0000"/>
                </a:solidFill>
              </a:rPr>
              <a:t>frameworks</a:t>
            </a:r>
            <a:r>
              <a:rPr lang="en-US" dirty="0"/>
              <a:t> that help developers write efficient parallel code</a:t>
            </a:r>
            <a:r>
              <a:rPr lang="en-US" dirty="0" smtClean="0"/>
              <a:t>.</a:t>
            </a:r>
          </a:p>
          <a:p>
            <a:pPr lvl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 Parallel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Programming 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Parallel Programming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lvl="1"/>
            <a:r>
              <a:rPr lang="en-US" altLang="en-US" b="1" dirty="0">
                <a:latin typeface="Arial" panose="020B0604020202020204" pitchFamily="34" charset="0"/>
              </a:rPr>
              <a:t>3</a:t>
            </a:r>
            <a:r>
              <a:rPr lang="en-US" altLang="en-US" b="1" dirty="0" smtClean="0">
                <a:latin typeface="Arial" panose="020B0604020202020204" pitchFamily="34" charset="0"/>
              </a:rPr>
              <a:t>. Popular </a:t>
            </a:r>
            <a:r>
              <a:rPr lang="en-US" altLang="en-US" b="1" dirty="0">
                <a:latin typeface="Arial" panose="020B0604020202020204" pitchFamily="34" charset="0"/>
              </a:rPr>
              <a:t>Parallel Libraries &amp; </a:t>
            </a:r>
            <a:r>
              <a:rPr lang="en-US" altLang="en-US" b="1" dirty="0" smtClean="0">
                <a:latin typeface="Arial" panose="020B0604020202020204" pitchFamily="34" charset="0"/>
              </a:rPr>
              <a:t>Tools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Operating System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Debugging and Performance Tools</a:t>
            </a:r>
          </a:p>
          <a:p>
            <a:pPr lvl="1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92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C7E5D1-75E5-C57E-800F-4D978B46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1.Parallel Programming Languages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11C4857-7A53-85EB-5094-14CDB58763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580" y="1690688"/>
            <a:ext cx="1180084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languages have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built-in support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parallelism: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C/C++ with OpenMP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Adds simple directives to enable multi-threading.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Fortran with OpenMP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Used in scientific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(with libraries like multiprocessing,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concurrent.futures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(via Thread, Executor Service, or parallel streams).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48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F8544C-52D8-DA39-C6A5-0F57F35E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95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2. Parallel Programming Models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CF3353-6A5A-A1DA-B1BE-23E9F813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894080"/>
            <a:ext cx="11623040" cy="55575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These define how tasks are split and managed: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Thread-based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(Shared Memory): Tasks (threads) run in the same memory space.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Message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Passing (Distributed Memory): Each task has separate memory and communicates via messages (e.g., MPI).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 Data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Parallelism: Same operation on different parts of data.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Task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Parallelism: Different tasks running simultaneously.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49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DD34E-41C4-D5AF-F711-C5D83E96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111125"/>
            <a:ext cx="10515600" cy="671195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Arial" panose="020B0604020202020204" pitchFamily="34" charset="0"/>
              </a:rPr>
              <a:t>3.Popular Parallel Libraries &amp; Tools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6E15151-8267-AE12-9E55-8BDCFF947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90352"/>
              </p:ext>
            </p:extLst>
          </p:nvPr>
        </p:nvGraphicFramePr>
        <p:xfrm>
          <a:off x="375921" y="782320"/>
          <a:ext cx="11541759" cy="6039394"/>
        </p:xfrm>
        <a:graphic>
          <a:graphicData uri="http://schemas.openxmlformats.org/drawingml/2006/table">
            <a:tbl>
              <a:tblPr/>
              <a:tblGrid>
                <a:gridCol w="3679613">
                  <a:extLst>
                    <a:ext uri="{9D8B030D-6E8A-4147-A177-3AD203B41FA5}">
                      <a16:colId xmlns:a16="http://schemas.microsoft.com/office/drawing/2014/main" xmlns="" val="4277712695"/>
                    </a:ext>
                  </a:extLst>
                </a:gridCol>
                <a:gridCol w="3679613">
                  <a:extLst>
                    <a:ext uri="{9D8B030D-6E8A-4147-A177-3AD203B41FA5}">
                      <a16:colId xmlns:a16="http://schemas.microsoft.com/office/drawing/2014/main" xmlns="" val="4002899359"/>
                    </a:ext>
                  </a:extLst>
                </a:gridCol>
                <a:gridCol w="4182533">
                  <a:extLst>
                    <a:ext uri="{9D8B030D-6E8A-4147-A177-3AD203B41FA5}">
                      <a16:colId xmlns:a16="http://schemas.microsoft.com/office/drawing/2014/main" xmlns="" val="752123850"/>
                    </a:ext>
                  </a:extLst>
                </a:gridCol>
              </a:tblGrid>
              <a:tr h="594505">
                <a:tc>
                  <a:txBody>
                    <a:bodyPr/>
                    <a:lstStyle/>
                    <a:p>
                      <a:pPr>
                        <a:tabLst>
                          <a:tab pos="2397125" algn="l"/>
                        </a:tabLst>
                      </a:pPr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Tool/Library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0646370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OpenMP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Multi-threading in C/C++/Fortran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Shared memory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76499698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 (Message Passing Interface)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 programs on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68606468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CUDA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GPU programming (NVIDIA)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High-performance computing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70932197"/>
                  </a:ext>
                </a:extLst>
              </a:tr>
              <a:tr h="1040384">
                <a:tc>
                  <a:txBody>
                    <a:bodyPr/>
                    <a:lstStyle/>
                    <a:p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OpenCL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Cross-platform GPU/CPU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Heterogeneous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60036580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Dask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 computing in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data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93602955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TensorFlow &amp; PyTorch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learning on GPUs/TPUs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AI/ML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6325263"/>
                  </a:ext>
                </a:extLst>
              </a:tr>
              <a:tr h="594505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Spark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data platforms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65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4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70EB0F-B07B-F1BD-9919-48BD1D71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90805"/>
            <a:ext cx="10515600" cy="7727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Parallel Software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898C4C-A5C4-8505-FE9C-FBF2383C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1026160"/>
            <a:ext cx="11775440" cy="5740400"/>
          </a:xfrm>
        </p:spPr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Operating System Support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Modern OSes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support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multi-threading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 scheduling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resource management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parallel software.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Debugging and Performance Tools</a:t>
            </a: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Valgrind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Debugging parallel C/C++ code.</a:t>
            </a: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VTune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NVIDIA Nsight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Perf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Performance profiling.</a:t>
            </a: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Visual Studio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Parallel debugging support for C#/C++.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6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702B6-053E-04E6-7BCF-0A19A252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0"/>
            <a:ext cx="10515600" cy="8235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OF PARALLEL COMPUTERS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0A9497-E4BF-7515-B947-17558451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036320"/>
            <a:ext cx="11897360" cy="57404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INSTRUCTION AND DATA 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SISD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(Single Instruction stream, Single Data stream)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sequential computers (e.g., uniprocessor systems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SIMD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(Single Instruction stream, Multiple Data streams)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Executes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same instruction on multiple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points simultaneously (e.g., GPUs, vector processors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r>
              <a:rPr lang="en-US" sz="2400" dirty="0"/>
              <a:t>3.</a:t>
            </a:r>
            <a:r>
              <a:rPr lang="en-US" sz="2400" b="1" dirty="0"/>
              <a:t> MISD</a:t>
            </a:r>
            <a:r>
              <a:rPr lang="en-US" sz="2400" dirty="0"/>
              <a:t> (Multiple Instruction streams, Single Data stream)</a:t>
            </a:r>
          </a:p>
          <a:p>
            <a:r>
              <a:rPr lang="en-US" sz="2400" dirty="0"/>
              <a:t>Rare in practice; used in fault-tolerant systems or pipeline processing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4.</a:t>
            </a:r>
            <a:r>
              <a:rPr lang="en-US" sz="2400" b="1" dirty="0"/>
              <a:t> MIMD</a:t>
            </a:r>
            <a:r>
              <a:rPr lang="en-US" sz="2400" dirty="0"/>
              <a:t> (Multiple Instruction streams, Multiple Data streams)</a:t>
            </a:r>
          </a:p>
          <a:p>
            <a:r>
              <a:rPr lang="en-US" sz="2400" dirty="0"/>
              <a:t>Most general form; multiple processors independently execute different instructions on different data (e.g., multicore CPUs, clusters).</a:t>
            </a:r>
            <a:endParaRPr lang="en-IN" sz="2400" dirty="0"/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02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26B70A-2CC2-EC14-7EA5-5CB72A4F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CONCEPTS CONTD..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FAD37A4-6C00-97E2-55A0-B427F3BF0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440" y="1419701"/>
            <a:ext cx="10754360" cy="4970939"/>
          </a:xfrm>
        </p:spPr>
      </p:pic>
    </p:spTree>
    <p:extLst>
      <p:ext uri="{BB962C8B-B14F-4D97-AF65-F5344CB8AC3E}">
        <p14:creationId xmlns:p14="http://schemas.microsoft.com/office/powerpoint/2010/main" val="173211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34C82A5-D14B-0501-B09A-22BBF03A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SINGLE INSTRUCTION, SINGLE DATA(SISD)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1C4E6CF8-A12A-BBA0-3F65-BC45E5E34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" y="1690688"/>
            <a:ext cx="10949940" cy="4830212"/>
          </a:xfrm>
        </p:spPr>
      </p:pic>
    </p:spTree>
    <p:extLst>
      <p:ext uri="{BB962C8B-B14F-4D97-AF65-F5344CB8AC3E}">
        <p14:creationId xmlns:p14="http://schemas.microsoft.com/office/powerpoint/2010/main" val="18284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197BBD-44CE-E889-6C1A-ABD84ED1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8235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INSTRUCTION, MULTIPLE DATA(SIMD)</a:t>
            </a:r>
            <a:endParaRPr lang="en-I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584D89D8-1A67-A01B-F487-F2AD74445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50" y="843915"/>
            <a:ext cx="12011850" cy="6034405"/>
          </a:xfrm>
        </p:spPr>
      </p:pic>
    </p:spTree>
    <p:extLst>
      <p:ext uri="{BB962C8B-B14F-4D97-AF65-F5344CB8AC3E}">
        <p14:creationId xmlns:p14="http://schemas.microsoft.com/office/powerpoint/2010/main" val="166872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6AC597-400C-9D8B-6725-9B591870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0"/>
            <a:ext cx="10515600" cy="7016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INSTRUCTION,SINGLE DATA(MISD)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9834B65-AD2A-4216-FDED-8658264C2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640" y="701676"/>
            <a:ext cx="11678920" cy="5841364"/>
          </a:xfrm>
        </p:spPr>
      </p:pic>
    </p:spTree>
    <p:extLst>
      <p:ext uri="{BB962C8B-B14F-4D97-AF65-F5344CB8AC3E}">
        <p14:creationId xmlns:p14="http://schemas.microsoft.com/office/powerpoint/2010/main" val="390998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50C394-2621-FCA5-CF81-C1FFA7A0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80645"/>
            <a:ext cx="10515600" cy="74231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INSTRUCTION, MUTIPLE DATA-MIMD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256DA59-C3FE-A19F-DFE7-E2FA4ECD7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60" y="731520"/>
            <a:ext cx="11912600" cy="5963919"/>
          </a:xfrm>
        </p:spPr>
      </p:pic>
    </p:spTree>
    <p:extLst>
      <p:ext uri="{BB962C8B-B14F-4D97-AF65-F5344CB8AC3E}">
        <p14:creationId xmlns:p14="http://schemas.microsoft.com/office/powerpoint/2010/main" val="290011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AB1A3E-ED74-2DE4-603E-4FBFD2EB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111125"/>
            <a:ext cx="10515600" cy="7016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SIMD SYSTEMS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58F5AA-A036-67E0-4364-CBD59EE23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812800"/>
            <a:ext cx="11978640" cy="6045200"/>
          </a:xfrm>
        </p:spPr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SIMD Systems (Single Instruction, Multiple Data)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type of computer architecture used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parallel processing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where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single instruction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executed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data points simultaneously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a key concept in parallel computing and high-performance computing (HPC), particularly useful in applications like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processing, multimedia, scientific simulations, and machine learning.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62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777C3-4591-DC77-8D44-F937973B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" y="141605"/>
            <a:ext cx="11353800" cy="8235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SIMD (Single Instruction, Multiple Data)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D4274E-1D36-2871-18DA-13803DCD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" y="965200"/>
            <a:ext cx="12192000" cy="5892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SIMD (Single Instruction, Multiple Data)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parallel computing model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allows multiple processing elements to perform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operation on multiple data points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once.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add two arrays of numbers element-wise, a SIMD system can add multiple pairs at once instead of one at a time.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Components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 Unit (CU)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Fetches and decodes the single instruction.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Multiple Processing Elements (PEs)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Perform operations 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pieces of data in parallel.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Memory Unit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Supplies data to PEs and stores the results.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5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A439F-64BB-6E7F-137D-E3730089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Real-World Examples- SIMD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1FFCD-5D69-171D-9459-D7114880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690880"/>
            <a:ext cx="11231880" cy="548608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GPUs (Graphics Processing Units)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the same operation (e.g., color transformation) on thousands of pixels simultaneously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Intel SSE/AVX Instructions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Used in modern CPUs to process multiple data with a single instruction.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Neural Network Accelerators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SIMD principles help in matrix multiplications for training/inference.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87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462EE2-43A0-B28E-8D49-12E19215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SIMD-Applications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4DBFA4-EC3C-C44F-828A-0E9B34221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843280"/>
            <a:ext cx="11704320" cy="586232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Image and video processing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Audio signal processing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Scientific computing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(inference and training)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Cryptography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06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FFD6A-6FE6-DFA1-C93E-F3D33C1D2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151765"/>
            <a:ext cx="10515600" cy="6508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MIMD SYSTEMS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CE6803-2D3A-9F68-1CA4-3723E3BFA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802640"/>
            <a:ext cx="11912600" cy="5933440"/>
          </a:xfrm>
        </p:spPr>
        <p:txBody>
          <a:bodyPr/>
          <a:lstStyle/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MIMD Systems (Multiple Instruction, Multiple Data)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MIMD is a powerful computer architecture model used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parallel computing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where multiple processors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different instructions on different data sets simultaneously.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represents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flexible and general-purpose form of parallelism.</a:t>
            </a:r>
          </a:p>
          <a:p>
            <a:pPr algn="just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6685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041271-A902-47E1-15BE-53E133B6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Key Components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ADF234-8B35-00EE-31F6-E7FC7AE74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843280"/>
            <a:ext cx="11099800" cy="5333683"/>
          </a:xfrm>
        </p:spPr>
        <p:txBody>
          <a:bodyPr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Multiple Processors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Each with its own control unit.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Independent Instruction Streams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Each processor fetches and executes its own code.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Separate or Shared Memory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May use a common memory (shared-memory systems) or local memory (distributed-memory systems).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Interconnection Network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Connects processors to memory and/or each 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967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F64E17-E884-2257-01E4-E76EF3B0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Shared Memory interconnect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F438C9-D117-BDDC-A77C-C248D319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6960"/>
            <a:ext cx="12009120" cy="5100003"/>
          </a:xfrm>
        </p:spPr>
        <p:txBody>
          <a:bodyPr/>
          <a:lstStyle/>
          <a:p>
            <a:pPr algn="just"/>
            <a:r>
              <a:rPr lang="en-US" dirty="0"/>
              <a:t>shared memory systems to use a </a:t>
            </a:r>
            <a:r>
              <a:rPr lang="en-US" dirty="0">
                <a:solidFill>
                  <a:srgbClr val="FF0000"/>
                </a:solidFill>
              </a:rPr>
              <a:t>bus </a:t>
            </a:r>
            <a:r>
              <a:rPr lang="en-US" dirty="0"/>
              <a:t>to connect </a:t>
            </a:r>
            <a:r>
              <a:rPr lang="en-US" b="1" dirty="0"/>
              <a:t>processors and memory.</a:t>
            </a:r>
          </a:p>
          <a:p>
            <a:pPr algn="just"/>
            <a:r>
              <a:rPr lang="en-US" dirty="0"/>
              <a:t>Buses have the virtue of low cost and </a:t>
            </a:r>
            <a:r>
              <a:rPr lang="en-US" dirty="0" smtClean="0"/>
              <a:t>flexibility as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size of shared-memory systems has increased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buses </a:t>
            </a:r>
            <a:r>
              <a:rPr lang="en-US" dirty="0"/>
              <a:t>are being replaced by </a:t>
            </a:r>
            <a:r>
              <a:rPr lang="en-US" i="1" dirty="0">
                <a:solidFill>
                  <a:srgbClr val="FF0000"/>
                </a:solidFill>
              </a:rPr>
              <a:t>switched interconnects</a:t>
            </a:r>
            <a:r>
              <a:rPr lang="en-US" i="1" dirty="0"/>
              <a:t>.</a:t>
            </a:r>
          </a:p>
          <a:p>
            <a:pPr algn="just"/>
            <a:r>
              <a:rPr lang="en-US" dirty="0"/>
              <a:t>S</a:t>
            </a:r>
            <a:r>
              <a:rPr lang="en-US" dirty="0" smtClean="0"/>
              <a:t>witched </a:t>
            </a:r>
            <a:r>
              <a:rPr lang="en-US" dirty="0"/>
              <a:t>interconnects use </a:t>
            </a:r>
            <a:r>
              <a:rPr lang="en-US" dirty="0">
                <a:solidFill>
                  <a:srgbClr val="FF0000"/>
                </a:solidFill>
              </a:rPr>
              <a:t>switches to control the routing of data </a:t>
            </a:r>
            <a:r>
              <a:rPr lang="en-US" dirty="0"/>
              <a:t>among the connected devices. </a:t>
            </a:r>
          </a:p>
          <a:p>
            <a:pPr algn="just"/>
            <a:r>
              <a:rPr lang="en-US" dirty="0"/>
              <a:t>A crossbar is a relatively simple and powerful switched interconnect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877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9E688D-3662-D642-2F97-452665EF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0AEEA7-F48C-8E77-5C74-9C4A87B4F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1544320"/>
            <a:ext cx="11814048" cy="463264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Crossbars </a:t>
            </a:r>
            <a:r>
              <a:rPr lang="en-US" dirty="0"/>
              <a:t>allow </a:t>
            </a:r>
            <a:r>
              <a:rPr lang="en-US" b="1" dirty="0"/>
              <a:t>simultaneous communication among different devices</a:t>
            </a:r>
            <a:r>
              <a:rPr lang="en-US" dirty="0"/>
              <a:t>, so they are much faster than buses. </a:t>
            </a:r>
          </a:p>
          <a:p>
            <a:r>
              <a:rPr lang="en-US" dirty="0"/>
              <a:t>However, the </a:t>
            </a:r>
            <a:r>
              <a:rPr lang="en-US" dirty="0">
                <a:solidFill>
                  <a:srgbClr val="FF0000"/>
                </a:solidFill>
              </a:rPr>
              <a:t>cost </a:t>
            </a:r>
            <a:r>
              <a:rPr lang="en-US" dirty="0"/>
              <a:t>of the switches and links is </a:t>
            </a:r>
            <a:r>
              <a:rPr lang="en-US" dirty="0">
                <a:solidFill>
                  <a:srgbClr val="FF0000"/>
                </a:solidFill>
              </a:rPr>
              <a:t>relatively high.</a:t>
            </a:r>
          </a:p>
          <a:p>
            <a:r>
              <a:rPr lang="en-US" dirty="0"/>
              <a:t>A small </a:t>
            </a:r>
            <a:r>
              <a:rPr lang="en-US" dirty="0">
                <a:solidFill>
                  <a:srgbClr val="FF0000"/>
                </a:solidFill>
              </a:rPr>
              <a:t>bus-based system </a:t>
            </a:r>
            <a:r>
              <a:rPr lang="en-US" dirty="0"/>
              <a:t>will be much </a:t>
            </a:r>
            <a:r>
              <a:rPr lang="en-US" dirty="0">
                <a:solidFill>
                  <a:srgbClr val="FF0000"/>
                </a:solidFill>
              </a:rPr>
              <a:t>less expensive </a:t>
            </a:r>
            <a:r>
              <a:rPr lang="en-US" dirty="0"/>
              <a:t>than a </a:t>
            </a:r>
            <a:r>
              <a:rPr lang="en-US" dirty="0">
                <a:solidFill>
                  <a:srgbClr val="FF0000"/>
                </a:solidFill>
              </a:rPr>
              <a:t>crossbar-based system </a:t>
            </a:r>
            <a:r>
              <a:rPr lang="en-US" dirty="0"/>
              <a:t>of the same size.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3083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598324-4CCB-CC71-BF98-8FEC0805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Bar interconnect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Crossbar Switch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1" y="1825624"/>
            <a:ext cx="10129520" cy="425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350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920" y="0"/>
            <a:ext cx="10515600" cy="72199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MIMD Architectures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920" y="873760"/>
            <a:ext cx="5989320" cy="5756909"/>
          </a:xfrm>
        </p:spPr>
        <p:txBody>
          <a:bodyPr/>
          <a:lstStyle/>
          <a:p>
            <a:pPr algn="just"/>
            <a:r>
              <a:rPr lang="en-US" dirty="0"/>
              <a:t>MIMD (Multiple Instruction, Multiple Data) is a parallel computing architecture where </a:t>
            </a:r>
            <a:r>
              <a:rPr lang="en-US" dirty="0">
                <a:solidFill>
                  <a:srgbClr val="FF0000"/>
                </a:solidFill>
              </a:rPr>
              <a:t>multiple independent processors simultaneously execute different instructions on different data sets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It enables </a:t>
            </a:r>
            <a:endParaRPr lang="en-US" dirty="0" smtClean="0"/>
          </a:p>
          <a:p>
            <a:pPr lvl="1" algn="just"/>
            <a:r>
              <a:rPr lang="en-US" dirty="0" smtClean="0"/>
              <a:t>true </a:t>
            </a:r>
            <a:r>
              <a:rPr lang="en-US" dirty="0" smtClean="0">
                <a:solidFill>
                  <a:srgbClr val="FF0000"/>
                </a:solidFill>
              </a:rPr>
              <a:t>multitasking</a:t>
            </a:r>
            <a:r>
              <a:rPr lang="en-US" dirty="0"/>
              <a:t>,</a:t>
            </a:r>
            <a:endParaRPr lang="en-US" dirty="0" smtClean="0"/>
          </a:p>
          <a:p>
            <a:pPr lvl="1" algn="just"/>
            <a:r>
              <a:rPr lang="en-US" dirty="0" smtClean="0">
                <a:solidFill>
                  <a:srgbClr val="FF0000"/>
                </a:solidFill>
              </a:rPr>
              <a:t>high-concurrency </a:t>
            </a:r>
            <a:r>
              <a:rPr lang="en-US" dirty="0">
                <a:solidFill>
                  <a:srgbClr val="FF0000"/>
                </a:solidFill>
              </a:rPr>
              <a:t>processing</a:t>
            </a:r>
            <a:r>
              <a:rPr lang="en-US" dirty="0" smtClean="0">
                <a:solidFill>
                  <a:srgbClr val="FF0000"/>
                </a:solidFill>
              </a:rPr>
              <a:t>,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commonly implemented in modern multicore CPUs</a:t>
            </a:r>
            <a:r>
              <a:rPr lang="en-US" dirty="0" smtClean="0">
                <a:solidFill>
                  <a:srgbClr val="FF0000"/>
                </a:solidFill>
              </a:rPr>
              <a:t>,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server farms, and </a:t>
            </a:r>
            <a:endParaRPr lang="en-US" dirty="0" smtClean="0">
              <a:solidFill>
                <a:srgbClr val="FF0000"/>
              </a:solidFill>
            </a:endParaRPr>
          </a:p>
          <a:p>
            <a:pPr lvl="1" algn="just"/>
            <a:r>
              <a:rPr lang="en-US" dirty="0" smtClean="0">
                <a:solidFill>
                  <a:srgbClr val="FF0000"/>
                </a:solidFill>
              </a:rPr>
              <a:t>distributed </a:t>
            </a:r>
            <a:r>
              <a:rPr lang="en-US" dirty="0">
                <a:solidFill>
                  <a:srgbClr val="FF0000"/>
                </a:solidFill>
              </a:rPr>
              <a:t>cloud computing systems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81" y="203200"/>
            <a:ext cx="5613400" cy="64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025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451D58-6968-7320-EEB0-0163F664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11125"/>
            <a:ext cx="10012680" cy="76263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MIMD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E21C96-3058-6A0B-D0B3-D4F0EF32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73760"/>
            <a:ext cx="12039600" cy="5781040"/>
          </a:xfrm>
        </p:spPr>
        <p:txBody>
          <a:bodyPr/>
          <a:lstStyle/>
          <a:p>
            <a:pPr algn="just"/>
            <a:r>
              <a:rPr lang="en-US" dirty="0"/>
              <a:t>MIMD systems are primarily categorized into two memory models: </a:t>
            </a:r>
          </a:p>
          <a:p>
            <a:pPr algn="just"/>
            <a:r>
              <a:rPr lang="en-US" b="1" dirty="0"/>
              <a:t>Shared Memory (Tightly Coupled):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All </a:t>
            </a:r>
            <a:r>
              <a:rPr lang="en-US" dirty="0"/>
              <a:t>processors share </a:t>
            </a:r>
            <a:r>
              <a:rPr lang="en-US" dirty="0">
                <a:solidFill>
                  <a:srgbClr val="FF0000"/>
                </a:solidFill>
              </a:rPr>
              <a:t>a single global memory space.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Coordination </a:t>
            </a:r>
            <a:r>
              <a:rPr lang="en-US" dirty="0"/>
              <a:t>happens through </a:t>
            </a:r>
            <a:r>
              <a:rPr lang="en-US" dirty="0">
                <a:solidFill>
                  <a:srgbClr val="FF0000"/>
                </a:solidFill>
              </a:rPr>
              <a:t>shared variables</a:t>
            </a:r>
            <a:r>
              <a:rPr lang="en-US" dirty="0"/>
              <a:t>, making it easy to program but harder to scale. </a:t>
            </a:r>
          </a:p>
          <a:p>
            <a:pPr algn="just"/>
            <a:r>
              <a:rPr lang="en-US" b="1" dirty="0"/>
              <a:t>Distributed Memory (Loosely Coupled):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processor has </a:t>
            </a:r>
            <a:r>
              <a:rPr lang="en-US" dirty="0">
                <a:solidFill>
                  <a:srgbClr val="FF0000"/>
                </a:solidFill>
              </a:rPr>
              <a:t>its own private memory </a:t>
            </a:r>
            <a:r>
              <a:rPr lang="en-US" dirty="0"/>
              <a:t>and communicates with others </a:t>
            </a:r>
            <a:r>
              <a:rPr lang="en-US" dirty="0">
                <a:solidFill>
                  <a:srgbClr val="FF0000"/>
                </a:solidFill>
              </a:rPr>
              <a:t>via message passing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allows for </a:t>
            </a:r>
            <a:r>
              <a:rPr lang="en-US" dirty="0">
                <a:solidFill>
                  <a:srgbClr val="FF0000"/>
                </a:solidFill>
              </a:rPr>
              <a:t>massive scalability </a:t>
            </a:r>
            <a:r>
              <a:rPr lang="en-US" dirty="0"/>
              <a:t>but increases </a:t>
            </a:r>
            <a:r>
              <a:rPr lang="en-US" dirty="0">
                <a:solidFill>
                  <a:srgbClr val="FF0000"/>
                </a:solidFill>
              </a:rPr>
              <a:t>programming complexity</a:t>
            </a:r>
            <a:r>
              <a:rPr lang="en-US" dirty="0"/>
              <a:t>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158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AFA5C2-C2D4-CE4D-A2A4-6A6C37D1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8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Real-World Examples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E2CAE4-1ABC-9202-8771-DE7E5E895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60" y="73779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Multi-core CPUs</a:t>
            </a:r>
            <a:r>
              <a:rPr lang="en-IN" dirty="0"/>
              <a:t> (e.g., Intel Core i9, AMD </a:t>
            </a:r>
            <a:r>
              <a:rPr lang="en-IN" dirty="0" err="1"/>
              <a:t>Ryzen</a:t>
            </a:r>
            <a:r>
              <a:rPr lang="en-IN" dirty="0"/>
              <a:t>)</a:t>
            </a:r>
          </a:p>
          <a:p>
            <a:r>
              <a:rPr lang="en-IN" b="1" dirty="0"/>
              <a:t>Clusters and Supercomputers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 smtClean="0"/>
              <a:t>(</a:t>
            </a:r>
            <a:r>
              <a:rPr lang="en-IN" dirty="0"/>
              <a:t>e.g., IBM Blue Gene, Cray)</a:t>
            </a:r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IN" b="1" dirty="0" smtClean="0"/>
              <a:t>Cloud </a:t>
            </a:r>
            <a:r>
              <a:rPr lang="en-IN" b="1" dirty="0"/>
              <a:t>computing platforms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 smtClean="0"/>
              <a:t>(</a:t>
            </a:r>
            <a:r>
              <a:rPr lang="en-IN" dirty="0"/>
              <a:t>e.g., AWS EC2 instances running parallel tasks)</a:t>
            </a:r>
          </a:p>
          <a:p>
            <a:r>
              <a:rPr lang="en-IN" b="1" dirty="0"/>
              <a:t>Parallel databases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0"/>
            <a:ext cx="2148840" cy="2148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1238885"/>
            <a:ext cx="2141080" cy="21437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2521505"/>
            <a:ext cx="3901440" cy="3809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920" y="4570825"/>
            <a:ext cx="4450080" cy="203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202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CBA3C1-8550-EF2B-1922-48D5A8A3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Interconnection Networks in Parallel Systems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B063CE-DEF1-8AF4-750C-143C0C4C0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Interconnection networks</a:t>
            </a:r>
            <a:r>
              <a:rPr lang="en-US" dirty="0"/>
              <a:t> are the backbone of </a:t>
            </a:r>
            <a:r>
              <a:rPr lang="en-US" b="1" dirty="0"/>
              <a:t>parallel computer architectures</a:t>
            </a:r>
            <a:r>
              <a:rPr lang="en-US" dirty="0"/>
              <a:t> — they define how processors, memory units, and other components </a:t>
            </a:r>
            <a:r>
              <a:rPr lang="en-US" b="1" dirty="0"/>
              <a:t>communicate and exchange data</a:t>
            </a:r>
            <a:r>
              <a:rPr lang="en-US" dirty="0"/>
              <a:t> with each other.</a:t>
            </a:r>
          </a:p>
          <a:p>
            <a:r>
              <a:rPr lang="en-US" dirty="0"/>
              <a:t>In </a:t>
            </a:r>
            <a:r>
              <a:rPr lang="en-US" b="1" dirty="0"/>
              <a:t>MIMD</a:t>
            </a:r>
            <a:r>
              <a:rPr lang="en-US" dirty="0"/>
              <a:t> or </a:t>
            </a:r>
            <a:r>
              <a:rPr lang="en-US" b="1" dirty="0"/>
              <a:t>SIMD</a:t>
            </a:r>
            <a:r>
              <a:rPr lang="en-US" dirty="0"/>
              <a:t> systems, interconnection networks play a critical role in performance, scalability, and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8883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00" y="182879"/>
            <a:ext cx="12009120" cy="673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57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0548E8-6075-E035-A0B1-D1486932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3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Purpose of Interconnection Networks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A6CD96-81D2-3BC6-C3EE-31C74060D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2960"/>
            <a:ext cx="12192000" cy="59131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Facilitate </a:t>
            </a:r>
            <a:r>
              <a:rPr lang="en-US" b="1" dirty="0"/>
              <a:t>data transfer</a:t>
            </a:r>
            <a:r>
              <a:rPr lang="en-US" dirty="0"/>
              <a:t> between processors and memory modules.</a:t>
            </a:r>
          </a:p>
          <a:p>
            <a:r>
              <a:rPr lang="en-US" dirty="0"/>
              <a:t>Enable </a:t>
            </a:r>
            <a:r>
              <a:rPr lang="en-US" b="1" dirty="0"/>
              <a:t>synchronization</a:t>
            </a:r>
            <a:r>
              <a:rPr lang="en-US" dirty="0"/>
              <a:t> and </a:t>
            </a:r>
            <a:r>
              <a:rPr lang="en-US" b="1" dirty="0"/>
              <a:t>coordination</a:t>
            </a:r>
            <a:r>
              <a:rPr lang="en-US" dirty="0"/>
              <a:t> among processing units.</a:t>
            </a:r>
          </a:p>
          <a:p>
            <a:r>
              <a:rPr lang="en-US" dirty="0"/>
              <a:t>Provide a path for </a:t>
            </a:r>
            <a:r>
              <a:rPr lang="en-US" b="1" dirty="0"/>
              <a:t>message passing</a:t>
            </a:r>
            <a:r>
              <a:rPr lang="en-US" dirty="0"/>
              <a:t> or </a:t>
            </a:r>
            <a:r>
              <a:rPr lang="en-US" b="1" dirty="0"/>
              <a:t>memory access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The interconnect </a:t>
            </a:r>
            <a:r>
              <a:rPr lang="en-US" dirty="0"/>
              <a:t>plays a decisive role in the performance of </a:t>
            </a:r>
            <a:r>
              <a:rPr lang="en-US" dirty="0">
                <a:solidFill>
                  <a:srgbClr val="FF0000"/>
                </a:solidFill>
              </a:rPr>
              <a:t>both distributed- and shared-memory systems</a:t>
            </a:r>
          </a:p>
          <a:p>
            <a:pPr algn="just"/>
            <a:r>
              <a:rPr lang="en-US" dirty="0"/>
              <a:t>the processors and memory have virtually unlimited performance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processors take too </a:t>
            </a:r>
            <a:r>
              <a:rPr lang="en-US" dirty="0">
                <a:solidFill>
                  <a:srgbClr val="FF0000"/>
                </a:solidFill>
              </a:rPr>
              <a:t>much time </a:t>
            </a:r>
            <a:r>
              <a:rPr lang="en-US" dirty="0"/>
              <a:t>to exchange data with one another, the whole program </a:t>
            </a:r>
            <a:r>
              <a:rPr lang="en-US" dirty="0">
                <a:solidFill>
                  <a:srgbClr val="FF0000"/>
                </a:solidFill>
              </a:rPr>
              <a:t>becomes slow</a:t>
            </a:r>
            <a:r>
              <a:rPr lang="en-US" dirty="0"/>
              <a:t>, even if the processors themselves are very fast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Examples </a:t>
            </a:r>
            <a:r>
              <a:rPr lang="en-US" dirty="0"/>
              <a:t>of Interconnection networks: </a:t>
            </a:r>
            <a:r>
              <a:rPr lang="en-US" dirty="0" smtClean="0"/>
              <a:t>Bus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Imagine </a:t>
            </a:r>
            <a:r>
              <a:rPr lang="en-US" dirty="0">
                <a:solidFill>
                  <a:srgbClr val="FF0000"/>
                </a:solidFill>
              </a:rPr>
              <a:t>four people </a:t>
            </a:r>
            <a:r>
              <a:rPr lang="en-US" dirty="0"/>
              <a:t>working together on a project. If they spend more time talking and sharing information than actually working, the project will take longer to finish.</a:t>
            </a:r>
          </a:p>
          <a:p>
            <a:r>
              <a:rPr lang="en-US" dirty="0"/>
              <a:t>The same thing happens in parallel computing. A slow interconnect creates a </a:t>
            </a:r>
            <a:r>
              <a:rPr lang="en-US" b="1" dirty="0"/>
              <a:t>communication bottleneck</a:t>
            </a:r>
            <a:r>
              <a:rPr lang="en-US" dirty="0"/>
              <a:t>, which reduces the overall performance of the system.</a:t>
            </a:r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9242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9F3B57-E3A6-C704-829E-A91EB376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2320"/>
          </a:xfrm>
        </p:spPr>
        <p:txBody>
          <a:bodyPr/>
          <a:lstStyle/>
          <a:p>
            <a:r>
              <a:rPr lang="en-IN" dirty="0"/>
              <a:t>Types of Interconnection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AF70A6-6307-F869-7DAF-6DB343C6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63600"/>
            <a:ext cx="11775440" cy="5760720"/>
          </a:xfrm>
        </p:spPr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b="1" dirty="0"/>
              <a:t>Static (Deterministic / Direct)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networks-connections are fixed and follow specific pattern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			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Hypercube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880" y="1366360"/>
            <a:ext cx="8503920" cy="499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35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34B1A1-290F-B978-28C3-72D6E557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STATIC INTERCONNECTION NETWORKS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Parallel Network Topologies">
            <a:extLst>
              <a:ext uri="{FF2B5EF4-FFF2-40B4-BE49-F238E27FC236}">
                <a16:creationId xmlns:a16="http://schemas.microsoft.com/office/drawing/2014/main" xmlns="" id="{87DDEEB5-A396-9F00-D215-B03D4EB4E4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944880"/>
            <a:ext cx="12192000" cy="591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190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2543DC-2E0A-47DC-2E7C-AA4E1532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Dynamic (Indirect / Multistage) Networks</a:t>
            </a:r>
            <a:b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46A4C8-1E98-B825-0BB5-D000A3F7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" y="873760"/>
            <a:ext cx="11130280" cy="5303203"/>
          </a:xfrm>
        </p:spPr>
        <p:txBody>
          <a:bodyPr/>
          <a:lstStyle/>
          <a:p>
            <a:r>
              <a:rPr lang="en-US" dirty="0"/>
              <a:t>Connections are established via </a:t>
            </a:r>
            <a:r>
              <a:rPr lang="en-US" b="1" dirty="0"/>
              <a:t>switches or routers</a:t>
            </a:r>
            <a:r>
              <a:rPr lang="en-US" dirty="0"/>
              <a:t>, allowing </a:t>
            </a:r>
            <a:r>
              <a:rPr lang="en-US" b="1" dirty="0"/>
              <a:t>dynamic paths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798160"/>
            <a:ext cx="10962640" cy="488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028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A25A89AA-EAA7-6BA1-8D95-0CBCBA09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OMEGA AND CROSSBAR </a:t>
            </a:r>
            <a:endParaRPr lang="en-IN" dirty="0"/>
          </a:p>
        </p:txBody>
      </p:sp>
      <p:pic>
        <p:nvPicPr>
          <p:cNvPr id="3074" name="Picture 2" descr="Introduction to Omega Network ...">
            <a:extLst>
              <a:ext uri="{FF2B5EF4-FFF2-40B4-BE49-F238E27FC236}">
                <a16:creationId xmlns:a16="http://schemas.microsoft.com/office/drawing/2014/main" xmlns="" id="{A1DF0635-B730-2091-7CD7-B6FC3BFF31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1690688"/>
            <a:ext cx="5105401" cy="446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857E9D30-DF5F-3AF8-571F-5AA20B0473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2840" y="1690688"/>
            <a:ext cx="5593080" cy="4161472"/>
          </a:xfrm>
        </p:spPr>
      </p:pic>
    </p:spTree>
    <p:extLst>
      <p:ext uri="{BB962C8B-B14F-4D97-AF65-F5344CB8AC3E}">
        <p14:creationId xmlns:p14="http://schemas.microsoft.com/office/powerpoint/2010/main" val="34035159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700F7F0-7882-AFAE-CE61-906674F0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65125"/>
            <a:ext cx="10378440" cy="7727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COHERENCE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BA9CC74-8E8F-8023-B4AD-5118EB4E6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391920"/>
            <a:ext cx="10957560" cy="478504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Cache coherence</a:t>
            </a:r>
            <a:r>
              <a:rPr lang="en-US" dirty="0"/>
              <a:t> is a crucial concept in </a:t>
            </a:r>
            <a:r>
              <a:rPr lang="en-US" b="1" dirty="0"/>
              <a:t>shared-memory multiprocessor systems</a:t>
            </a:r>
            <a:r>
              <a:rPr lang="en-US" dirty="0"/>
              <a:t> (especially MIMD), where each processor has its own </a:t>
            </a:r>
            <a:r>
              <a:rPr lang="en-US" b="1" dirty="0"/>
              <a:t>local cache</a:t>
            </a:r>
            <a:r>
              <a:rPr lang="en-US" dirty="0"/>
              <a:t> but </a:t>
            </a:r>
            <a:r>
              <a:rPr lang="en-US" b="1" dirty="0"/>
              <a:t>shares the same main memory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challenge: how to </a:t>
            </a:r>
            <a:r>
              <a:rPr lang="en-US" b="1" dirty="0"/>
              <a:t>keep data consistent</a:t>
            </a:r>
            <a:r>
              <a:rPr lang="en-US" dirty="0"/>
              <a:t> across all caches when multiple processors access and modify shared variables.</a:t>
            </a:r>
          </a:p>
          <a:p>
            <a:pPr algn="just"/>
            <a:r>
              <a:rPr lang="en-US" b="1" dirty="0"/>
              <a:t>What is Cache Coherence?</a:t>
            </a:r>
          </a:p>
          <a:p>
            <a:pPr algn="just"/>
            <a:r>
              <a:rPr lang="en-US" b="1" dirty="0"/>
              <a:t>Cache coherence</a:t>
            </a:r>
            <a:r>
              <a:rPr lang="en-US" dirty="0"/>
              <a:t> ensures that:</a:t>
            </a:r>
          </a:p>
          <a:p>
            <a:pPr algn="just"/>
            <a:r>
              <a:rPr lang="en-US" b="1" dirty="0"/>
              <a:t>All processors see </a:t>
            </a:r>
            <a:r>
              <a:rPr lang="en-US" b="1" dirty="0">
                <a:solidFill>
                  <a:srgbClr val="FF0000"/>
                </a:solidFill>
              </a:rPr>
              <a:t>a consistent view of memory.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If one processor updates a memory location, </a:t>
            </a:r>
            <a:r>
              <a:rPr lang="en-US" b="1" dirty="0"/>
              <a:t>others see the updated value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7964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F5F52-3522-2813-4E41-3E8167B3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Cache Coherence Needed?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C016427-BE71-8F39-8EDF-D3F90207B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2650" y="1072992"/>
            <a:ext cx="1197934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coherence is the discipline that ensures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local caches in a multicore or multiprocessor system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processor modifies a shared memory location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coherence </a:t>
            </a:r>
            <a:endParaRPr lang="en-US" alt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 that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other processors see the updated value </a:t>
            </a:r>
            <a:endParaRPr lang="en-US" alt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rather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stale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processor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caches a variable X = 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caches X = 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P1 writes X = 10 to its cache.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P2 still sees X = 5 — now memory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incoherent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wrong results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parallel programs.</a:t>
            </a:r>
          </a:p>
        </p:txBody>
      </p:sp>
    </p:spTree>
    <p:extLst>
      <p:ext uri="{BB962C8B-B14F-4D97-AF65-F5344CB8AC3E}">
        <p14:creationId xmlns:p14="http://schemas.microsoft.com/office/powerpoint/2010/main" val="42146565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243903-63A0-AF34-3104-85CC2A74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90805"/>
            <a:ext cx="10515600" cy="7626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Snooping Cache Coherence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14E89F-76AA-27CB-0D41-BFD65311D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680720"/>
            <a:ext cx="11470640" cy="58724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approaches to ensure cache coherence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Snooping cache coherence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Directory based cache </a:t>
            </a:r>
            <a:r>
              <a:rPr lang="en-US" dirty="0" smtClean="0"/>
              <a:t>coherence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Snooping cache coherence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Snooping" refers to each cache controller </a:t>
            </a:r>
            <a:r>
              <a:rPr lang="en-US" b="1" dirty="0">
                <a:solidFill>
                  <a:srgbClr val="FF0000"/>
                </a:solidFill>
              </a:rPr>
              <a:t>monitoring (or snooping)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communication bus for any memory transactions initiated by other processors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Directory based cache </a:t>
            </a:r>
            <a:r>
              <a:rPr lang="en-US" dirty="0" smtClean="0"/>
              <a:t>coherence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Directory-based cache coherence is a method used </a:t>
            </a:r>
            <a:r>
              <a:rPr lang="en-US" b="1" dirty="0">
                <a:solidFill>
                  <a:srgbClr val="FF0000"/>
                </a:solidFill>
              </a:rPr>
              <a:t>in parallel computing to keep the data stored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the caches of different processors consistent.</a:t>
            </a:r>
          </a:p>
          <a:p>
            <a:r>
              <a:rPr lang="en-US" dirty="0"/>
              <a:t>A </a:t>
            </a:r>
            <a:r>
              <a:rPr lang="en-US" b="1" dirty="0"/>
              <a:t>directory</a:t>
            </a:r>
            <a:r>
              <a:rPr lang="en-US" dirty="0"/>
              <a:t> (a special table) </a:t>
            </a:r>
            <a:r>
              <a:rPr lang="en-US" b="1" dirty="0"/>
              <a:t>keeps track </a:t>
            </a:r>
            <a:r>
              <a:rPr lang="en-US" dirty="0"/>
              <a:t>of which processors have copies of a particular data item. Whenever a processor changes the data, the directory informs the other processors so that they </a:t>
            </a:r>
            <a:r>
              <a:rPr lang="en-US" dirty="0">
                <a:solidFill>
                  <a:srgbClr val="FF0000"/>
                </a:solidFill>
              </a:rPr>
              <a:t>update or remove their old copies.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715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4F4E16-3607-7699-5605-2B3AC5FD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1125"/>
            <a:ext cx="10515600" cy="6610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Contd..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FE54EA-AD62-26FA-D3C1-1610C2057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63600"/>
            <a:ext cx="11277600" cy="53133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 processor reads or writes to memory,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all caches 'snoop' on the bus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determine if they have a copy of that memory block, and react accordingly.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Write-Update (Write-Broadcast)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of invalidating, the processor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broadcasts the new 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other caches.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caches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their copies.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0334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99DCC2-A7F3-F111-5E92-691CE37E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75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268ACD-7D9A-EA72-69C8-32695BB88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880"/>
            <a:ext cx="12192000" cy="5232083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an independent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program in execution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with its own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memory space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execution context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Has its own memory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(code, data, heap, and stack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segments) 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managed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OS scheduler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heavyweight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than threads.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762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2320AA-7366-8044-F47E-0F8E8973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605"/>
            <a:ext cx="10515600" cy="6000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Threads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CB5346-3B44-964A-3C78-A5DE6257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24560"/>
            <a:ext cx="12120880" cy="5252403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smallest unit of execution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within a process. All threads in a process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share the same memory space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but have their own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Shares memory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other threads in the same process.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Faster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context switching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Lightweight compared to processes.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communicate easily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other threads (since they share memory)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multi-core systems.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108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DCF4D6-7C17-3E93-360F-9867E3CE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90805"/>
            <a:ext cx="10515600" cy="7118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Coordinating the processes/threads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754D00-BE02-BEF1-6488-9BD60691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" y="731520"/>
            <a:ext cx="11257280" cy="5445443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Divide the work among the processes/threads in such a way that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each process/thread gets roughly the same amount of work, 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and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amount of communication required is minimized.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Arrange for the processes/threads to synchronize.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Arrange for communication among the processes/threads.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7467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552529-24B5-3566-235B-D757CFFB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21285"/>
            <a:ext cx="10515600" cy="5899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Contd..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7FBFCD-F112-4C74-F6D9-447EF0AF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3760"/>
            <a:ext cx="11993880" cy="5831840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double x [ n ] , y [ n ] ;</a:t>
            </a:r>
          </a:p>
          <a:p>
            <a:pPr algn="just"/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for ( i n t i = 0; i &lt; n ; i ++)</a:t>
            </a:r>
          </a:p>
          <a:p>
            <a:pPr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x [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+= y [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] ;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parallelize this, we only need to assign elements of the arrays to the processes/ threads.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if we have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processes/threads,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might make process/ thread 0 responsible for elements 0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. . . , </a:t>
            </a:r>
            <a:endParaRPr lang="en-US" i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n/p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− 1,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process/thread 1 would be responsible for elements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n/p, . . . ,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n/p − 1, and so on.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5489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159C41-4827-667D-A516-131B1C99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Shared Memory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54001" y="1190804"/>
            <a:ext cx="11247120" cy="556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Shared-memory programs use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threads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 thread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controls the execution of the program.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worker threads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the assigned tasks.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Whenever a new task arrives, the master thread creates (forks) a worker thread.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worker thread executes the task.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the task is completed, the worker thread terminates and joins the master thread.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resources are used efficiently because threads exist only while they are required. </a:t>
            </a:r>
          </a:p>
        </p:txBody>
      </p:sp>
    </p:spTree>
    <p:extLst>
      <p:ext uri="{BB962C8B-B14F-4D97-AF65-F5344CB8AC3E}">
        <p14:creationId xmlns:p14="http://schemas.microsoft.com/office/powerpoint/2010/main" val="36286493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3001D1-C795-0622-2E49-2D1024D3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Static Thread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43E328-A282-9FA2-70A4-08E1E0369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955040"/>
            <a:ext cx="11978640" cy="5902960"/>
          </a:xfrm>
        </p:spPr>
        <p:txBody>
          <a:bodyPr/>
          <a:lstStyle/>
          <a:p>
            <a:pPr algn="just"/>
            <a:r>
              <a:rPr lang="en-US" dirty="0"/>
              <a:t> An alternative to the dynamic paradigm is the static thread paradigm. </a:t>
            </a:r>
          </a:p>
          <a:p>
            <a:r>
              <a:rPr lang="en-US" dirty="0" smtClean="0"/>
              <a:t>The </a:t>
            </a:r>
            <a:r>
              <a:rPr lang="en-US" b="1" dirty="0"/>
              <a:t>master thread</a:t>
            </a:r>
            <a:r>
              <a:rPr lang="en-US" dirty="0"/>
              <a:t> performs the initial setup. </a:t>
            </a:r>
          </a:p>
          <a:p>
            <a:r>
              <a:rPr lang="en-US" dirty="0"/>
              <a:t>The master thread creates (</a:t>
            </a:r>
            <a:r>
              <a:rPr lang="en-US" b="1" dirty="0"/>
              <a:t>forks</a:t>
            </a:r>
            <a:r>
              <a:rPr lang="en-US" dirty="0"/>
              <a:t>) all worker threads at once. </a:t>
            </a:r>
          </a:p>
          <a:p>
            <a:r>
              <a:rPr lang="en-US" dirty="0"/>
              <a:t>The worker threads execute their assigned tasks. </a:t>
            </a:r>
          </a:p>
          <a:p>
            <a:r>
              <a:rPr lang="en-US" dirty="0"/>
              <a:t>The worker threads continue running until all the work is completed. </a:t>
            </a:r>
          </a:p>
          <a:p>
            <a:r>
              <a:rPr lang="en-US" dirty="0"/>
              <a:t>After the work is finished, all the threads join the master thread. </a:t>
            </a:r>
          </a:p>
          <a:p>
            <a:r>
              <a:rPr lang="en-US" dirty="0"/>
              <a:t>Finally, the master thread performs cleanup operations, such as releasing memory, and then terminates. 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8953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21AFCD-370C-3BF3-0404-231CCA0A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1"/>
            <a:ext cx="10515600" cy="833120"/>
          </a:xfrm>
        </p:spPr>
        <p:txBody>
          <a:bodyPr/>
          <a:lstStyle/>
          <a:p>
            <a:r>
              <a:rPr lang="en-US" dirty="0"/>
              <a:t>Nondeterminism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BC6DCA-AFB8-AD06-FFCA-D15D646C8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3121"/>
            <a:ext cx="12192000" cy="5923279"/>
          </a:xfrm>
        </p:spPr>
        <p:txBody>
          <a:bodyPr/>
          <a:lstStyle/>
          <a:p>
            <a:r>
              <a:rPr lang="en-US" dirty="0"/>
              <a:t>Nondeterminism is a situation in which a program produces </a:t>
            </a:r>
            <a:r>
              <a:rPr lang="en-US" dirty="0">
                <a:solidFill>
                  <a:srgbClr val="FF0000"/>
                </a:solidFill>
              </a:rPr>
              <a:t>different outputs even when it is executed multiple times with the same input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parallel computing, </a:t>
            </a:r>
            <a:r>
              <a:rPr lang="en-US" dirty="0">
                <a:solidFill>
                  <a:srgbClr val="FF0000"/>
                </a:solidFill>
              </a:rPr>
              <a:t>several threads run simultaneously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the exact order </a:t>
            </a:r>
            <a:r>
              <a:rPr lang="en-US" dirty="0"/>
              <a:t>in which they execute is unpredictable. Because of this, the final result may vary from one execution </a:t>
            </a:r>
            <a:r>
              <a:rPr lang="en-US" dirty="0" smtClean="0"/>
              <a:t>to another.</a:t>
            </a:r>
          </a:p>
          <a:p>
            <a:r>
              <a:rPr lang="en-US" dirty="0" smtClean="0"/>
              <a:t>Definition</a:t>
            </a:r>
          </a:p>
          <a:p>
            <a:r>
              <a:rPr lang="en-US" dirty="0" smtClean="0"/>
              <a:t>Nondeterminism </a:t>
            </a:r>
            <a:r>
              <a:rPr lang="en-US" dirty="0"/>
              <a:t>is the inability to predict the exact </a:t>
            </a:r>
            <a:r>
              <a:rPr lang="en-US" dirty="0">
                <a:solidFill>
                  <a:srgbClr val="FF0000"/>
                </a:solidFill>
              </a:rPr>
              <a:t>order of execution of threads or processes in a parallel program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5069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B6C133-E089-F15B-F095-95A56FE2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0E7151-FA20-522E-132B-D8DDBFC62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very simple example, suppose we have two threads, one with ID or rank 0 and the other with ID or rank 1. Suppose also that each is storing a private variable </a:t>
            </a:r>
            <a:r>
              <a:rPr lang="en-US" dirty="0" err="1"/>
              <a:t>my_x</a:t>
            </a:r>
            <a:r>
              <a:rPr lang="en-US" dirty="0"/>
              <a:t>, thread 0’s value for </a:t>
            </a:r>
            <a:r>
              <a:rPr lang="en-US" dirty="0" err="1"/>
              <a:t>my_x</a:t>
            </a:r>
            <a:r>
              <a:rPr lang="en-US" dirty="0"/>
              <a:t> is 7, and thread 1’s is 19.</a:t>
            </a:r>
          </a:p>
          <a:p>
            <a:r>
              <a:rPr lang="en-US" dirty="0" err="1">
                <a:solidFill>
                  <a:srgbClr val="00B050"/>
                </a:solidFill>
              </a:rPr>
              <a:t>printf</a:t>
            </a:r>
            <a:r>
              <a:rPr lang="en-US" dirty="0">
                <a:solidFill>
                  <a:srgbClr val="00B050"/>
                </a:solidFill>
              </a:rPr>
              <a:t>("Thread %d &gt; </a:t>
            </a:r>
            <a:r>
              <a:rPr lang="en-US" dirty="0" err="1">
                <a:solidFill>
                  <a:srgbClr val="00B050"/>
                </a:solidFill>
              </a:rPr>
              <a:t>my_x</a:t>
            </a:r>
            <a:r>
              <a:rPr lang="en-US" dirty="0">
                <a:solidFill>
                  <a:srgbClr val="00B050"/>
                </a:solidFill>
              </a:rPr>
              <a:t> = %d\n", </a:t>
            </a:r>
            <a:r>
              <a:rPr lang="en-US" dirty="0" err="1">
                <a:solidFill>
                  <a:srgbClr val="00B050"/>
                </a:solidFill>
              </a:rPr>
              <a:t>my_rank</a:t>
            </a:r>
            <a:r>
              <a:rPr lang="en-US" dirty="0">
                <a:solidFill>
                  <a:srgbClr val="00B050"/>
                </a:solidFill>
              </a:rPr>
              <a:t> , </a:t>
            </a:r>
            <a:r>
              <a:rPr lang="en-US" dirty="0" err="1">
                <a:solidFill>
                  <a:srgbClr val="00B050"/>
                </a:solidFill>
              </a:rPr>
              <a:t>my_x</a:t>
            </a:r>
            <a:r>
              <a:rPr lang="en-US" dirty="0">
                <a:solidFill>
                  <a:srgbClr val="00B050"/>
                </a:solidFill>
              </a:rPr>
              <a:t>); </a:t>
            </a:r>
          </a:p>
          <a:p>
            <a:r>
              <a:rPr lang="en-US" dirty="0"/>
              <a:t>Then the output could be </a:t>
            </a:r>
          </a:p>
          <a:p>
            <a:r>
              <a:rPr lang="en-US" dirty="0">
                <a:solidFill>
                  <a:srgbClr val="FF0000"/>
                </a:solidFill>
              </a:rPr>
              <a:t>Thread 0 &gt; </a:t>
            </a:r>
            <a:r>
              <a:rPr lang="en-US" dirty="0" err="1">
                <a:solidFill>
                  <a:srgbClr val="FF0000"/>
                </a:solidFill>
              </a:rPr>
              <a:t>my_x</a:t>
            </a:r>
            <a:r>
              <a:rPr lang="en-US" dirty="0">
                <a:solidFill>
                  <a:srgbClr val="FF0000"/>
                </a:solidFill>
              </a:rPr>
              <a:t> = 7 Thread 1 &gt; </a:t>
            </a:r>
            <a:r>
              <a:rPr lang="en-US" dirty="0" err="1">
                <a:solidFill>
                  <a:srgbClr val="FF0000"/>
                </a:solidFill>
              </a:rPr>
              <a:t>my_x</a:t>
            </a:r>
            <a:r>
              <a:rPr lang="en-US" dirty="0">
                <a:solidFill>
                  <a:srgbClr val="FF0000"/>
                </a:solidFill>
              </a:rPr>
              <a:t> = 19 </a:t>
            </a:r>
          </a:p>
          <a:p>
            <a:r>
              <a:rPr lang="en-US" dirty="0"/>
              <a:t>but it could also be </a:t>
            </a:r>
          </a:p>
          <a:p>
            <a:r>
              <a:rPr lang="en-US" dirty="0">
                <a:solidFill>
                  <a:srgbClr val="FF0000"/>
                </a:solidFill>
              </a:rPr>
              <a:t>Thread 1 &gt; </a:t>
            </a:r>
            <a:r>
              <a:rPr lang="en-US" dirty="0" err="1">
                <a:solidFill>
                  <a:srgbClr val="FF0000"/>
                </a:solidFill>
              </a:rPr>
              <a:t>my_x</a:t>
            </a:r>
            <a:r>
              <a:rPr lang="en-US" dirty="0">
                <a:solidFill>
                  <a:srgbClr val="FF0000"/>
                </a:solidFill>
              </a:rPr>
              <a:t> = 19 Thread 0 &gt; </a:t>
            </a:r>
            <a:r>
              <a:rPr lang="en-US" dirty="0" err="1">
                <a:solidFill>
                  <a:srgbClr val="FF0000"/>
                </a:solidFill>
              </a:rPr>
              <a:t>my_x</a:t>
            </a:r>
            <a:r>
              <a:rPr lang="en-US" dirty="0">
                <a:solidFill>
                  <a:srgbClr val="FF0000"/>
                </a:solidFill>
              </a:rPr>
              <a:t> = 7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174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F51103-12C0-9482-E3B6-9B41FFD8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A3ECBA-8754-BAA0-9FD3-7B305BBB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each thread computes an int, which it stores in a private variable </a:t>
            </a:r>
            <a:r>
              <a:rPr lang="en-US" dirty="0" err="1"/>
              <a:t>my_val</a:t>
            </a:r>
            <a:r>
              <a:rPr lang="en-US" dirty="0"/>
              <a:t>. </a:t>
            </a:r>
          </a:p>
          <a:p>
            <a:r>
              <a:rPr lang="en-US" dirty="0"/>
              <a:t>Suppose also that we want to add the values stored in </a:t>
            </a:r>
            <a:r>
              <a:rPr lang="en-US" dirty="0" err="1"/>
              <a:t>my_val</a:t>
            </a:r>
            <a:r>
              <a:rPr lang="en-US" dirty="0"/>
              <a:t> into a shared-memory location x that has been initialized to 0. </a:t>
            </a:r>
          </a:p>
          <a:p>
            <a:r>
              <a:rPr lang="en-US" dirty="0"/>
              <a:t>Both threads therefore want to execute code that looks something like this: </a:t>
            </a:r>
            <a:r>
              <a:rPr lang="en-US" dirty="0" err="1"/>
              <a:t>my_val</a:t>
            </a:r>
            <a:r>
              <a:rPr lang="en-US" dirty="0"/>
              <a:t> = </a:t>
            </a:r>
            <a:r>
              <a:rPr lang="en-US" dirty="0" err="1"/>
              <a:t>Compute_val</a:t>
            </a:r>
            <a:r>
              <a:rPr lang="en-US" dirty="0"/>
              <a:t>(</a:t>
            </a:r>
            <a:r>
              <a:rPr lang="en-US" dirty="0" err="1"/>
              <a:t>my_rank</a:t>
            </a:r>
            <a:r>
              <a:rPr lang="en-US" dirty="0"/>
              <a:t>); x += </a:t>
            </a:r>
            <a:r>
              <a:rPr lang="en-US" dirty="0" err="1"/>
              <a:t>my_val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260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B97B94-CD55-5999-7104-9F73A7E0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B6EC751-61EE-8BC2-AD1C-5FB697F25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0" y="2123440"/>
            <a:ext cx="11043920" cy="4084320"/>
          </a:xfrm>
        </p:spPr>
      </p:pic>
    </p:spTree>
    <p:extLst>
      <p:ext uri="{BB962C8B-B14F-4D97-AF65-F5344CB8AC3E}">
        <p14:creationId xmlns:p14="http://schemas.microsoft.com/office/powerpoint/2010/main" val="42547017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EE64D3-7BA5-39A4-B989-C9D18E9C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2C53DD-84D0-686B-729A-25815D2A5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896744"/>
            <a:ext cx="12090400" cy="4961255"/>
          </a:xfrm>
        </p:spPr>
        <p:txBody>
          <a:bodyPr/>
          <a:lstStyle/>
          <a:p>
            <a:r>
              <a:rPr lang="en-US" dirty="0"/>
              <a:t>A block of code that can only be executed by one thread at a time is called a critical section</a:t>
            </a:r>
          </a:p>
          <a:p>
            <a:r>
              <a:rPr lang="en-US" dirty="0"/>
              <a:t>When threads or processes attempt </a:t>
            </a:r>
            <a:r>
              <a:rPr lang="en-US" dirty="0">
                <a:solidFill>
                  <a:srgbClr val="FF0000"/>
                </a:solidFill>
              </a:rPr>
              <a:t>to simultaneously access a shared resource</a:t>
            </a:r>
            <a:r>
              <a:rPr lang="en-US" dirty="0"/>
              <a:t>, and the accesses can result in an error, we often say the program has a race condition, because the threads or processes are in a “race” to carry out an 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19937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504F56-2E2A-8D01-BB94-CBD76DA8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E559E5-4D13-C64F-293D-54FB78D77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r>
              <a:rPr lang="en-US" dirty="0"/>
              <a:t>we need to ensure that if one thread is executing the code in the critical section, then the other threads are excluded.</a:t>
            </a:r>
          </a:p>
          <a:p>
            <a:r>
              <a:rPr lang="en-US" dirty="0"/>
              <a:t> The most commonly used mechanism for ensuring mutual exclusion is a mutual exclusion lock or </a:t>
            </a:r>
            <a:r>
              <a:rPr lang="en-US" dirty="0" err="1"/>
              <a:t>mutex</a:t>
            </a:r>
            <a:r>
              <a:rPr lang="en-US" dirty="0" smtClean="0"/>
              <a:t>, or </a:t>
            </a:r>
            <a:r>
              <a:rPr lang="en-US" dirty="0"/>
              <a:t>simply lock. </a:t>
            </a:r>
          </a:p>
          <a:p>
            <a:r>
              <a:rPr lang="en-US" dirty="0"/>
              <a:t>A mutex is a special type of object that has support in the underlying hardware. The basic idea is that each critical section is protected by a lock.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E39DDD-9AD8-1410-5273-E42E22E2B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30774"/>
            <a:ext cx="10124440" cy="180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355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819EAD-70F3-DAC0-4532-E4A7224D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60400"/>
          </a:xfrm>
        </p:spPr>
        <p:txBody>
          <a:bodyPr>
            <a:normAutofit/>
          </a:bodyPr>
          <a:lstStyle/>
          <a:p>
            <a:r>
              <a:rPr lang="en-US" sz="3600" b="1" dirty="0"/>
              <a:t>SHARED MEMORY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E212ED-9F75-F368-90B3-0E34838F1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3600"/>
            <a:ext cx="12110720" cy="53133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Shared memory</a:t>
            </a:r>
            <a:r>
              <a:rPr lang="en-US" dirty="0"/>
              <a:t> is a memory architecture where </a:t>
            </a:r>
            <a:r>
              <a:rPr lang="en-US" b="1" dirty="0"/>
              <a:t>multiple processors or threads</a:t>
            </a:r>
            <a:r>
              <a:rPr lang="en-US" dirty="0"/>
              <a:t> can </a:t>
            </a:r>
            <a:r>
              <a:rPr lang="en-US" b="1" dirty="0"/>
              <a:t>access the same memory space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It is one of the most common models used in </a:t>
            </a:r>
            <a:r>
              <a:rPr lang="en-US" b="1" dirty="0"/>
              <a:t>parallel computing</a:t>
            </a:r>
            <a:r>
              <a:rPr lang="en-US" dirty="0"/>
              <a:t>, especially in </a:t>
            </a:r>
            <a:r>
              <a:rPr lang="en-US" b="1" dirty="0"/>
              <a:t>multi-core</a:t>
            </a:r>
            <a:r>
              <a:rPr lang="en-US" dirty="0"/>
              <a:t> and </a:t>
            </a:r>
            <a:r>
              <a:rPr lang="en-US" b="1" dirty="0"/>
              <a:t>symmetric multiprocessor (SMP)</a:t>
            </a:r>
            <a:r>
              <a:rPr lang="en-US" dirty="0"/>
              <a:t> systems.</a:t>
            </a:r>
          </a:p>
          <a:p>
            <a:pPr algn="just"/>
            <a:r>
              <a:rPr lang="en-US" b="1" dirty="0"/>
              <a:t>What is Shared Memory?</a:t>
            </a:r>
          </a:p>
          <a:p>
            <a:pPr algn="just"/>
            <a:r>
              <a:rPr lang="en-US" dirty="0"/>
              <a:t>In a </a:t>
            </a:r>
            <a:r>
              <a:rPr lang="en-US" b="1" dirty="0"/>
              <a:t>shared memory system</a:t>
            </a:r>
            <a:r>
              <a:rPr lang="en-US" dirty="0"/>
              <a:t>, all processors </a:t>
            </a:r>
            <a:r>
              <a:rPr lang="en-US" b="1" dirty="0">
                <a:solidFill>
                  <a:srgbClr val="FF0000"/>
                </a:solidFill>
              </a:rPr>
              <a:t>share a single global memory</a:t>
            </a:r>
            <a:r>
              <a:rPr lang="en-US" dirty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US" dirty="0"/>
              <a:t>Each processor has access </a:t>
            </a:r>
            <a:r>
              <a:rPr lang="en-US" dirty="0">
                <a:solidFill>
                  <a:srgbClr val="FF0000"/>
                </a:solidFill>
              </a:rPr>
              <a:t>to the same variables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data structures in memory,</a:t>
            </a:r>
            <a:r>
              <a:rPr lang="en-US" dirty="0"/>
              <a:t> which allows easy communication and data sharing.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081" y="4612640"/>
            <a:ext cx="5638800" cy="1959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0720" y="5151120"/>
            <a:ext cx="334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Fig:Shared</a:t>
            </a:r>
            <a:r>
              <a:rPr lang="en-US" b="1" dirty="0" smtClean="0"/>
              <a:t> memory </a:t>
            </a:r>
            <a:r>
              <a:rPr lang="en-US" b="1" dirty="0" err="1" smtClean="0"/>
              <a:t>Archtecture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665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6C3EA-7497-E263-9CBE-CFF154AE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47" y="214685"/>
            <a:ext cx="10515600" cy="588589"/>
          </a:xfrm>
        </p:spPr>
        <p:txBody>
          <a:bodyPr>
            <a:normAutofit/>
          </a:bodyPr>
          <a:lstStyle/>
          <a:p>
            <a:r>
              <a:rPr lang="en-US" sz="3600" b="1" dirty="0"/>
              <a:t>Types of Shared Memory Systems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D0B24E-B8B6-41E7-62D3-6E1F8DE1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803274"/>
            <a:ext cx="12110720" cy="584136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Uniform Memory Access (UMA)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processors access memory with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equal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latency(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time taken for data to travel from the source to the destination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amount of data that can be transferred in a given period of time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Simpler hardware.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Traditional SMP systems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(symmetric multiprocessor 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UMA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the time to access all the memory locations will be the same for all the cores</a:t>
            </a:r>
          </a:p>
          <a:p>
            <a:pPr algn="just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8656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8D7774-D649-319B-970E-7F1797C7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4"/>
          </a:xfrm>
        </p:spPr>
        <p:txBody>
          <a:bodyPr/>
          <a:lstStyle/>
          <a:p>
            <a:r>
              <a:rPr lang="en-US" dirty="0"/>
              <a:t>UMA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0A53A8B-78C4-9B83-3664-0B5938F11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219" y="1089330"/>
            <a:ext cx="9580880" cy="4736624"/>
          </a:xfrm>
        </p:spPr>
      </p:pic>
    </p:spTree>
    <p:extLst>
      <p:ext uri="{BB962C8B-B14F-4D97-AF65-F5344CB8AC3E}">
        <p14:creationId xmlns:p14="http://schemas.microsoft.com/office/powerpoint/2010/main" val="296888659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EC1926-97D6-4562-5475-82EEF4D5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365125"/>
            <a:ext cx="10515600" cy="6915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NUMA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ADAAB9-8103-1A7A-89FD-9E59F87F9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056640"/>
            <a:ext cx="11795760" cy="4829175"/>
          </a:xfrm>
        </p:spPr>
        <p:txBody>
          <a:bodyPr/>
          <a:lstStyle/>
          <a:p>
            <a:r>
              <a:rPr lang="en-US" dirty="0"/>
              <a:t>NUMA-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memory location to which a core is </a:t>
            </a:r>
            <a:r>
              <a:rPr lang="en-US" b="1" dirty="0"/>
              <a:t>directly connected</a:t>
            </a:r>
            <a:r>
              <a:rPr lang="en-US" dirty="0"/>
              <a:t>, can be accessed more quickly than a memory location that must be accessed through another chip.</a:t>
            </a:r>
          </a:p>
          <a:p>
            <a:pPr algn="just"/>
            <a:r>
              <a:rPr lang="en-US" dirty="0"/>
              <a:t>"</a:t>
            </a:r>
            <a:r>
              <a:rPr lang="en-US" dirty="0" smtClean="0"/>
              <a:t>NUMA" </a:t>
            </a:r>
            <a:r>
              <a:rPr lang="en-US" dirty="0"/>
              <a:t>most commonly refers to </a:t>
            </a:r>
            <a:r>
              <a:rPr lang="en-US" b="1" dirty="0"/>
              <a:t>Non-Uniform Memory Access</a:t>
            </a:r>
            <a:r>
              <a:rPr lang="en-US" dirty="0"/>
              <a:t>, a computer memory design where </a:t>
            </a:r>
            <a:r>
              <a:rPr lang="en-US" dirty="0">
                <a:solidFill>
                  <a:srgbClr val="FF0000"/>
                </a:solidFill>
              </a:rPr>
              <a:t>a processor can access its own local memory faster than memory local to another processor.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heavily used in high-performance servers and data centers to optimize processing speeds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0079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D0E16F-B912-0A90-17B1-3DBE190A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17C3F20-46DD-7C71-E18B-AF7F97881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410" y="1325660"/>
            <a:ext cx="8947785" cy="4593431"/>
          </a:xfrm>
        </p:spPr>
      </p:pic>
    </p:spTree>
    <p:extLst>
      <p:ext uri="{BB962C8B-B14F-4D97-AF65-F5344CB8AC3E}">
        <p14:creationId xmlns:p14="http://schemas.microsoft.com/office/powerpoint/2010/main" val="2620839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b="1" dirty="0" smtClean="0"/>
              <a:t>Difference between UMA and NUMA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814297"/>
              </p:ext>
            </p:extLst>
          </p:nvPr>
        </p:nvGraphicFramePr>
        <p:xfrm>
          <a:off x="71120" y="1056640"/>
          <a:ext cx="12120879" cy="5679442"/>
        </p:xfrm>
        <a:graphic>
          <a:graphicData uri="http://schemas.openxmlformats.org/drawingml/2006/table">
            <a:tbl>
              <a:tblPr/>
              <a:tblGrid>
                <a:gridCol w="4040293"/>
                <a:gridCol w="4040293"/>
                <a:gridCol w="4040293"/>
              </a:tblGrid>
              <a:tr h="1115906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UMA (Uniform Memory Access)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NUMA (Non-Uniform Memory Access)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 dirty="0"/>
                        <a:t>Full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Uniform Memory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Non-Uniform Memory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 dirty="0"/>
                        <a:t>Memory access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Equal for all processors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Different for different processors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 dirty="0"/>
                        <a:t>Memory organization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Shared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Distributed shared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2707">
                <a:tc>
                  <a:txBody>
                    <a:bodyPr/>
                    <a:lstStyle/>
                    <a:p>
                      <a:r>
                        <a:rPr lang="en-US" sz="2000" b="1" dirty="0"/>
                        <a:t>Processor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Every processor accesses memory at the same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Access speed depends on the memory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Suitable for small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Suitable for large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Simple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More complex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Limited 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Highly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547">
                <a:tc>
                  <a:txBody>
                    <a:bodyPr/>
                    <a:lstStyle/>
                    <a:p>
                      <a:r>
                        <a:rPr lang="en-US" sz="2000" b="1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Less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More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66115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43F6A0-8A50-7377-7D75-774A0F88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569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2.DISTRIBUTED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BFAFAC-8B24-D3FA-F63F-2474F039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036320"/>
            <a:ext cx="12019280" cy="566927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Distributed memory</a:t>
            </a:r>
            <a:r>
              <a:rPr lang="en-US" dirty="0"/>
              <a:t> is a computer architecture where </a:t>
            </a:r>
            <a:r>
              <a:rPr lang="en-US" b="1" dirty="0"/>
              <a:t>each processor has its own private memory</a:t>
            </a:r>
            <a:r>
              <a:rPr lang="en-US" dirty="0"/>
              <a:t>, and processors </a:t>
            </a:r>
            <a:r>
              <a:rPr lang="en-US" b="1" dirty="0">
                <a:solidFill>
                  <a:srgbClr val="FF0000"/>
                </a:solidFill>
              </a:rPr>
              <a:t>communicate explicitly</a:t>
            </a:r>
            <a:r>
              <a:rPr lang="en-US" dirty="0">
                <a:solidFill>
                  <a:srgbClr val="FF0000"/>
                </a:solidFill>
              </a:rPr>
              <a:t> by passing messages. </a:t>
            </a:r>
          </a:p>
          <a:p>
            <a:pPr algn="just"/>
            <a:r>
              <a:rPr lang="en-US" dirty="0"/>
              <a:t>It's widely used in </a:t>
            </a:r>
            <a:r>
              <a:rPr lang="en-US" b="1" dirty="0"/>
              <a:t>large-scale parallel systems</a:t>
            </a:r>
            <a:r>
              <a:rPr lang="en-US" dirty="0"/>
              <a:t>, such as </a:t>
            </a:r>
            <a:r>
              <a:rPr lang="en-US" b="1" dirty="0"/>
              <a:t>clusters</a:t>
            </a:r>
            <a:r>
              <a:rPr lang="en-US" dirty="0"/>
              <a:t>, </a:t>
            </a:r>
            <a:r>
              <a:rPr lang="en-US" b="1" dirty="0"/>
              <a:t>supercomputers</a:t>
            </a:r>
            <a:r>
              <a:rPr lang="en-US" dirty="0"/>
              <a:t>, and </a:t>
            </a:r>
            <a:r>
              <a:rPr lang="en-US" b="1" dirty="0"/>
              <a:t>cloud-based architectures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most widely available distributed-memory systems are called clusters.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They are composed of a collection of commodity systems—for example, PCs—connected by a commodity interconnection network—for example, Ethernet.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grid provides the infrastructure </a:t>
            </a:r>
            <a:r>
              <a:rPr lang="en-US" dirty="0"/>
              <a:t>necessary to turn large networks of geographically distributed computers into a unified distributed-memory system.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6628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C3F526-FD73-DBBE-786A-62358726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C1CB9A-AEFC-244C-DDA4-0D345C7E2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1825624"/>
            <a:ext cx="11783832" cy="4734201"/>
          </a:xfrm>
        </p:spPr>
        <p:txBody>
          <a:bodyPr/>
          <a:lstStyle/>
          <a:p>
            <a:pPr algn="just"/>
            <a:r>
              <a:rPr lang="en-US" dirty="0"/>
              <a:t> </a:t>
            </a:r>
            <a:r>
              <a:rPr lang="en-US" dirty="0" smtClean="0"/>
              <a:t>Distributed-memory </a:t>
            </a:r>
            <a:r>
              <a:rPr lang="en-US" dirty="0"/>
              <a:t>programs are usually executed by starting </a:t>
            </a:r>
            <a:r>
              <a:rPr lang="en-US" dirty="0">
                <a:solidFill>
                  <a:srgbClr val="FF0000"/>
                </a:solidFill>
              </a:rPr>
              <a:t>multiple processes rather than multiple threads.</a:t>
            </a:r>
          </a:p>
          <a:p>
            <a:pPr algn="just"/>
            <a:r>
              <a:rPr lang="en-US" dirty="0"/>
              <a:t> This is because typical </a:t>
            </a:r>
            <a:r>
              <a:rPr lang="en-US" dirty="0" smtClean="0"/>
              <a:t>“</a:t>
            </a:r>
            <a:r>
              <a:rPr lang="en-US" b="1" dirty="0"/>
              <a:t>T</a:t>
            </a:r>
            <a:r>
              <a:rPr lang="en-US" b="1" dirty="0" smtClean="0"/>
              <a:t>hreads </a:t>
            </a:r>
            <a:r>
              <a:rPr lang="en-US" b="1" dirty="0"/>
              <a:t>of execution</a:t>
            </a:r>
            <a:r>
              <a:rPr lang="en-US" dirty="0"/>
              <a:t>” in a distributed-memory program may run on </a:t>
            </a:r>
            <a:r>
              <a:rPr lang="en-US" dirty="0">
                <a:solidFill>
                  <a:srgbClr val="FF0000"/>
                </a:solidFill>
              </a:rPr>
              <a:t>independent </a:t>
            </a:r>
            <a:r>
              <a:rPr lang="en-US" dirty="0" smtClean="0">
                <a:solidFill>
                  <a:srgbClr val="FF0000"/>
                </a:solidFill>
              </a:rPr>
              <a:t>CPUs </a:t>
            </a:r>
            <a:r>
              <a:rPr lang="en-US" dirty="0" smtClean="0"/>
              <a:t>with </a:t>
            </a:r>
            <a:r>
              <a:rPr lang="en-US" dirty="0">
                <a:solidFill>
                  <a:srgbClr val="FF0000"/>
                </a:solidFill>
              </a:rPr>
              <a:t>independent operating systems</a:t>
            </a:r>
            <a:r>
              <a:rPr lang="en-US" dirty="0"/>
              <a:t>, and there may be no software infrastructure for starting a single “distributed” process and having that process fork one or more threads on each node of the system</a:t>
            </a:r>
            <a:r>
              <a:rPr lang="en-US" dirty="0" smtClean="0"/>
              <a:t>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977" y="4410075"/>
            <a:ext cx="6029325" cy="24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0960" y="5273040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Fig:Distributed-memory</a:t>
            </a:r>
            <a:r>
              <a:rPr lang="en-US" sz="2400" b="1" dirty="0" smtClean="0"/>
              <a:t> </a:t>
            </a:r>
            <a:r>
              <a:rPr lang="en-US" sz="2400" b="1" dirty="0" err="1"/>
              <a:t>Archtecture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133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8E7373-B9FD-B497-C326-6CD44C6B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Message-passing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AA274E-DBBC-1E08-940D-B891C9693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message-passing API provides (at a minimum) </a:t>
            </a:r>
            <a:r>
              <a:rPr lang="en-US" dirty="0">
                <a:solidFill>
                  <a:srgbClr val="FF0000"/>
                </a:solidFill>
              </a:rPr>
              <a:t>a send and a receive function.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Processes </a:t>
            </a:r>
            <a:r>
              <a:rPr lang="en-US" dirty="0"/>
              <a:t>typically identify each other by ranks in the range 0,1,...,p− 1, where p is the number of processes. </a:t>
            </a:r>
            <a:endParaRPr lang="en-US" dirty="0" smtClean="0"/>
          </a:p>
          <a:p>
            <a:r>
              <a:rPr lang="en-US" dirty="0" smtClean="0"/>
              <a:t>So</a:t>
            </a:r>
            <a:r>
              <a:rPr lang="en-US" dirty="0"/>
              <a:t>, for example, process 1 might send a message to process 0 with the following pseudocode: </a:t>
            </a:r>
          </a:p>
        </p:txBody>
      </p:sp>
    </p:spTree>
    <p:extLst>
      <p:ext uri="{BB962C8B-B14F-4D97-AF65-F5344CB8AC3E}">
        <p14:creationId xmlns:p14="http://schemas.microsoft.com/office/powerpoint/2010/main" val="30806452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DA1989-B96C-2FF3-3F3D-50F1F1CE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56BDFD-7CB1-75A5-0B5C-B00C2291A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char message[100];//A character array named message is </a:t>
            </a:r>
            <a:r>
              <a:rPr lang="en-US" dirty="0" err="1"/>
              <a:t>created.It</a:t>
            </a:r>
            <a:r>
              <a:rPr lang="en-US" dirty="0"/>
              <a:t> can store up to 100 characters.</a:t>
            </a:r>
          </a:p>
          <a:p>
            <a:endParaRPr lang="en-US" dirty="0"/>
          </a:p>
          <a:p>
            <a:r>
              <a:rPr lang="en-US" dirty="0" err="1"/>
              <a:t>my_rank</a:t>
            </a:r>
            <a:r>
              <a:rPr lang="en-US" dirty="0"/>
              <a:t> = </a:t>
            </a:r>
            <a:r>
              <a:rPr lang="en-US" dirty="0" err="1"/>
              <a:t>Get_rank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my_rank</a:t>
            </a:r>
            <a:r>
              <a:rPr lang="en-US" dirty="0"/>
              <a:t> == 1) {</a:t>
            </a:r>
          </a:p>
          <a:p>
            <a:r>
              <a:rPr lang="en-US" dirty="0"/>
              <a:t>    </a:t>
            </a:r>
            <a:r>
              <a:rPr lang="en-US" dirty="0" err="1"/>
              <a:t>sprintf</a:t>
            </a:r>
            <a:r>
              <a:rPr lang="en-US" dirty="0"/>
              <a:t>(message, "Greetings from process 1");</a:t>
            </a:r>
          </a:p>
          <a:p>
            <a:r>
              <a:rPr lang="en-US" dirty="0"/>
              <a:t>    Send(message, MSG_CHAR, 100, 0);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else if (</a:t>
            </a:r>
            <a:r>
              <a:rPr lang="en-US" dirty="0" err="1"/>
              <a:t>my_rank</a:t>
            </a:r>
            <a:r>
              <a:rPr lang="en-US" dirty="0"/>
              <a:t> == 0) {</a:t>
            </a:r>
          </a:p>
          <a:p>
            <a:r>
              <a:rPr lang="en-US" dirty="0"/>
              <a:t>    Receive(message, MSG_CHAR, 100, 1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</a:t>
            </a:r>
            <a:r>
              <a:rPr lang="en-US" dirty="0" err="1"/>
              <a:t>printf</a:t>
            </a:r>
            <a:r>
              <a:rPr lang="en-US" dirty="0"/>
              <a:t>("Process 0 &gt; Received: %s\n", message);</a:t>
            </a:r>
          </a:p>
          <a:p>
            <a:r>
              <a:rPr lang="en-US" dirty="0" smtClean="0"/>
              <a:t>} </a:t>
            </a:r>
            <a:r>
              <a:rPr lang="en-US" dirty="0">
                <a:hlinkClick r:id="rId2" action="ppaction://hlinkfile"/>
              </a:rPr>
              <a:t>message passing extra.docx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0278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697C69-8877-A0AE-4F46-7AC995D0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One-sided communication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7C0E28-DA31-F63B-AC01-C97F978F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32560"/>
            <a:ext cx="11531600" cy="5140959"/>
          </a:xfrm>
        </p:spPr>
        <p:txBody>
          <a:bodyPr/>
          <a:lstStyle/>
          <a:p>
            <a:r>
              <a:rPr lang="en-US" dirty="0" smtClean="0"/>
              <a:t>. </a:t>
            </a:r>
            <a:r>
              <a:rPr lang="en-US" b="1" dirty="0"/>
              <a:t>One-sided communication</a:t>
            </a:r>
            <a:r>
              <a:rPr lang="en-US" dirty="0"/>
              <a:t> is a communication method in which </a:t>
            </a:r>
            <a:r>
              <a:rPr lang="en-US" b="1" dirty="0"/>
              <a:t>only one process performs the communication operation</a:t>
            </a:r>
            <a:r>
              <a:rPr lang="en-US" dirty="0"/>
              <a:t>, while the other process does not actively participate at that moment.</a:t>
            </a:r>
          </a:p>
          <a:p>
            <a:r>
              <a:rPr lang="en-US" dirty="0"/>
              <a:t>In simple terms:</a:t>
            </a:r>
          </a:p>
          <a:p>
            <a:r>
              <a:rPr lang="en-US" dirty="0"/>
              <a:t>The sender can directly place data into the receiver's memory. </a:t>
            </a:r>
          </a:p>
          <a:p>
            <a:r>
              <a:rPr lang="en-US" dirty="0"/>
              <a:t>The receiver does not have to execute a corresponding receive operation. </a:t>
            </a:r>
          </a:p>
          <a:p>
            <a:r>
              <a:rPr lang="en-US" b="1" dirty="0"/>
              <a:t>Why is it called "one-sided"?</a:t>
            </a:r>
          </a:p>
          <a:p>
            <a:r>
              <a:rPr lang="en-US" dirty="0"/>
              <a:t>Only one process performs the operation.</a:t>
            </a:r>
          </a:p>
          <a:p>
            <a:r>
              <a:rPr lang="en-US" dirty="0"/>
              <a:t>Process A ─────────► Process B</a:t>
            </a:r>
          </a:p>
          <a:p>
            <a:r>
              <a:rPr lang="en-US" dirty="0"/>
              <a:t>   (Put/Get)          (No action required)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86670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524270"/>
              </p:ext>
            </p:extLst>
          </p:nvPr>
        </p:nvGraphicFramePr>
        <p:xfrm>
          <a:off x="635000" y="234283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Writes data into another process's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Reads data from another process's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Accumulate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Updates data in another process's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1832094"/>
            <a:ext cx="4944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Types of one-sided communication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58338"/>
              </p:ext>
            </p:extLst>
          </p:nvPr>
        </p:nvGraphicFramePr>
        <p:xfrm>
          <a:off x="706120" y="4426146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One-sided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Two-sided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Sender participation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Receiver participation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Synchronization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MPI_Put(), MPI_Get()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MPI_Send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MPI_Receive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5871" y="3947278"/>
            <a:ext cx="831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One-sided communication versus two-sided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52028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8520</TotalTime>
  <Words>5799</Words>
  <Application>Microsoft Office PowerPoint</Application>
  <PresentationFormat>Widescreen</PresentationFormat>
  <Paragraphs>685</Paragraphs>
  <Slides>110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6" baseType="lpstr">
      <vt:lpstr>Arial</vt:lpstr>
      <vt:lpstr>Calibri</vt:lpstr>
      <vt:lpstr>Calibri Light</vt:lpstr>
      <vt:lpstr>Times New Roman</vt:lpstr>
      <vt:lpstr>Wingdings</vt:lpstr>
      <vt:lpstr>Office Theme</vt:lpstr>
      <vt:lpstr>PARALLEL COMPUTING    </vt:lpstr>
      <vt:lpstr>Course Information</vt:lpstr>
      <vt:lpstr>Suggested Learning Resource Textbooks</vt:lpstr>
      <vt:lpstr>Reference Books</vt:lpstr>
      <vt:lpstr>Web links and Video Lectures (e-Resources):</vt:lpstr>
      <vt:lpstr>COURSE OBJECTIVES</vt:lpstr>
      <vt:lpstr>Course Outcomes</vt:lpstr>
      <vt:lpstr>Module 1 -syllabus</vt:lpstr>
      <vt:lpstr>Evolution of Microprocessor Performance</vt:lpstr>
      <vt:lpstr>Contd..</vt:lpstr>
      <vt:lpstr>Effect of Multi-Core Processors on Software</vt:lpstr>
      <vt:lpstr>Diagram for single and Multi-core processor</vt:lpstr>
      <vt:lpstr>Key point</vt:lpstr>
      <vt:lpstr>Importance of Increased Computational Power -Key Contributions</vt:lpstr>
      <vt:lpstr>Other Important Applications</vt:lpstr>
      <vt:lpstr>PowerPoint Presentation</vt:lpstr>
      <vt:lpstr>In short</vt:lpstr>
      <vt:lpstr>Contd..</vt:lpstr>
      <vt:lpstr>TERMINOLOGIES</vt:lpstr>
      <vt:lpstr>Why we need to write parallel programs</vt:lpstr>
      <vt:lpstr>PowerPoint Presentation</vt:lpstr>
      <vt:lpstr>Why do we need parallel programs?</vt:lpstr>
      <vt:lpstr>Example</vt:lpstr>
      <vt:lpstr>Single core</vt:lpstr>
      <vt:lpstr>Multiple Core</vt:lpstr>
      <vt:lpstr>Multiple cores forming a global sum.</vt:lpstr>
      <vt:lpstr>PowerPoint Presentation</vt:lpstr>
      <vt:lpstr>PowerPoint Presentation</vt:lpstr>
      <vt:lpstr>PowerPoint Presentation</vt:lpstr>
      <vt:lpstr>PowerPoint Presentation</vt:lpstr>
      <vt:lpstr>How do we do parallelism</vt:lpstr>
      <vt:lpstr>What we do in course?</vt:lpstr>
      <vt:lpstr>Parallel Computing</vt:lpstr>
      <vt:lpstr>What is Parallel Computing?</vt:lpstr>
      <vt:lpstr>Serial Computing</vt:lpstr>
      <vt:lpstr>Parallel Computing</vt:lpstr>
      <vt:lpstr>Parallel Computing</vt:lpstr>
      <vt:lpstr>USE OF PARALLEL COMPUTING?</vt:lpstr>
      <vt:lpstr>USE OF PARALLEL COMPUTING?</vt:lpstr>
      <vt:lpstr>WHY USE OF PARALLEL COMPUTING?</vt:lpstr>
      <vt:lpstr>WHY USE OF PARALLEL COMPUTING?</vt:lpstr>
      <vt:lpstr>PowerPoint Presentation</vt:lpstr>
      <vt:lpstr>ARCHITECTURE CONCEPTS</vt:lpstr>
      <vt:lpstr>The von Neumann architecture</vt:lpstr>
      <vt:lpstr>ARCHITECTURE CONCEPTS CONTD..</vt:lpstr>
      <vt:lpstr>Parallel Hardware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Hardware</vt:lpstr>
      <vt:lpstr>Parallel Software</vt:lpstr>
      <vt:lpstr>1.Parallel Programming Languages</vt:lpstr>
      <vt:lpstr>2. Parallel Programming Models </vt:lpstr>
      <vt:lpstr>3.Popular Parallel Libraries &amp; Tools</vt:lpstr>
      <vt:lpstr>Parallel Software</vt:lpstr>
      <vt:lpstr>CLASSIFICATION OF PARALLEL COMPUTERS</vt:lpstr>
      <vt:lpstr>ARCHITECTURE CONCEPTS CONTD..</vt:lpstr>
      <vt:lpstr>SINGLE INSTRUCTION, SINGLE DATA(SISD)</vt:lpstr>
      <vt:lpstr>SINGLE INSTRUCTION, MULTIPLE DATA(SIMD)</vt:lpstr>
      <vt:lpstr>MULTIPLE INSTRUCTION,SINGLE DATA(MISD)</vt:lpstr>
      <vt:lpstr>MULTIPLE INSTRUCTION, MUTIPLE DATA-MIMD</vt:lpstr>
      <vt:lpstr>SIMD SYSTEMS</vt:lpstr>
      <vt:lpstr>SIMD (Single Instruction, Multiple Data)</vt:lpstr>
      <vt:lpstr>Real-World Examples- SIMD </vt:lpstr>
      <vt:lpstr>SIMD-Applications </vt:lpstr>
      <vt:lpstr>MIMD SYSTEMS</vt:lpstr>
      <vt:lpstr>Key Components </vt:lpstr>
      <vt:lpstr>Shared Memory interconnect</vt:lpstr>
      <vt:lpstr>Contd..</vt:lpstr>
      <vt:lpstr>Cross Bar interconnect System</vt:lpstr>
      <vt:lpstr>MIMD Architectures</vt:lpstr>
      <vt:lpstr>Types of MIMD Architectures</vt:lpstr>
      <vt:lpstr>Real-World Examples </vt:lpstr>
      <vt:lpstr>Interconnection Networks in Parallel Systems </vt:lpstr>
      <vt:lpstr>PowerPoint Presentation</vt:lpstr>
      <vt:lpstr>Purpose of Interconnection Networks </vt:lpstr>
      <vt:lpstr>Types of Interconnection Networks</vt:lpstr>
      <vt:lpstr>STATIC INTERCONNECTION NETWORKS</vt:lpstr>
      <vt:lpstr>Dynamic (Indirect / Multistage) Networks </vt:lpstr>
      <vt:lpstr>OMEGA AND CROSSBAR </vt:lpstr>
      <vt:lpstr>CACHE COHERENCE</vt:lpstr>
      <vt:lpstr>Why is Cache Coherence Needed?  </vt:lpstr>
      <vt:lpstr>Snooping Cache Coherence</vt:lpstr>
      <vt:lpstr>Contd..</vt:lpstr>
      <vt:lpstr>Process</vt:lpstr>
      <vt:lpstr>Threads</vt:lpstr>
      <vt:lpstr>Coordinating the processes/threads</vt:lpstr>
      <vt:lpstr>Contd..</vt:lpstr>
      <vt:lpstr>Shared Memory</vt:lpstr>
      <vt:lpstr>Static Thread</vt:lpstr>
      <vt:lpstr>Nondeterminism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SHARED MEMORY</vt:lpstr>
      <vt:lpstr>Types of Shared Memory Systems</vt:lpstr>
      <vt:lpstr>UMA </vt:lpstr>
      <vt:lpstr>NUMA</vt:lpstr>
      <vt:lpstr>NUMA</vt:lpstr>
      <vt:lpstr>Difference between UMA and NUMA</vt:lpstr>
      <vt:lpstr>2.DISTRIBUTED MEMORY</vt:lpstr>
      <vt:lpstr>PowerPoint Presentation</vt:lpstr>
      <vt:lpstr>Message-passing  </vt:lpstr>
      <vt:lpstr>PowerPoint Presentation</vt:lpstr>
      <vt:lpstr>One-sided communication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COMPUTING</dc:title>
  <dc:creator>Admin</dc:creator>
  <cp:lastModifiedBy>DELL</cp:lastModifiedBy>
  <cp:revision>252</cp:revision>
  <dcterms:created xsi:type="dcterms:W3CDTF">2025-07-24T06:58:29Z</dcterms:created>
  <dcterms:modified xsi:type="dcterms:W3CDTF">2026-08-07T05:30:51Z</dcterms:modified>
</cp:coreProperties>
</file>