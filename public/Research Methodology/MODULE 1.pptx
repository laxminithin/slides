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4"/>
  </p:sldMasterIdLst>
  <p:notesMasterIdLst>
    <p:notesMasterId r:id="rId51"/>
  </p:notesMasterIdLst>
  <p:handoutMasterIdLst>
    <p:handoutMasterId r:id="rId52"/>
  </p:handoutMasterIdLst>
  <p:sldIdLst>
    <p:sldId id="256" r:id="rId5"/>
    <p:sldId id="337" r:id="rId6"/>
    <p:sldId id="462" r:id="rId7"/>
    <p:sldId id="414" r:id="rId8"/>
    <p:sldId id="415" r:id="rId9"/>
    <p:sldId id="416" r:id="rId10"/>
    <p:sldId id="417" r:id="rId11"/>
    <p:sldId id="418" r:id="rId12"/>
    <p:sldId id="419" r:id="rId13"/>
    <p:sldId id="427" r:id="rId14"/>
    <p:sldId id="420" r:id="rId15"/>
    <p:sldId id="421" r:id="rId16"/>
    <p:sldId id="422" r:id="rId17"/>
    <p:sldId id="463" r:id="rId18"/>
    <p:sldId id="425" r:id="rId19"/>
    <p:sldId id="426" r:id="rId20"/>
    <p:sldId id="429" r:id="rId21"/>
    <p:sldId id="430" r:id="rId22"/>
    <p:sldId id="431" r:id="rId23"/>
    <p:sldId id="432" r:id="rId24"/>
    <p:sldId id="433" r:id="rId25"/>
    <p:sldId id="434" r:id="rId26"/>
    <p:sldId id="435" r:id="rId27"/>
    <p:sldId id="438" r:id="rId28"/>
    <p:sldId id="439" r:id="rId29"/>
    <p:sldId id="441" r:id="rId30"/>
    <p:sldId id="437" r:id="rId31"/>
    <p:sldId id="443" r:id="rId32"/>
    <p:sldId id="444" r:id="rId33"/>
    <p:sldId id="445" r:id="rId34"/>
    <p:sldId id="446" r:id="rId35"/>
    <p:sldId id="447" r:id="rId36"/>
    <p:sldId id="448" r:id="rId37"/>
    <p:sldId id="465" r:id="rId38"/>
    <p:sldId id="464" r:id="rId39"/>
    <p:sldId id="449" r:id="rId40"/>
    <p:sldId id="450" r:id="rId41"/>
    <p:sldId id="451" r:id="rId42"/>
    <p:sldId id="452" r:id="rId43"/>
    <p:sldId id="453" r:id="rId44"/>
    <p:sldId id="454" r:id="rId45"/>
    <p:sldId id="455" r:id="rId46"/>
    <p:sldId id="456" r:id="rId47"/>
    <p:sldId id="457" r:id="rId48"/>
    <p:sldId id="458" r:id="rId49"/>
    <p:sldId id="459" r:id="rId5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lcome" id="{E75E278A-FF0E-49A4-B170-79828D63BBAD}">
          <p14:sldIdLst>
            <p14:sldId id="256"/>
            <p14:sldId id="337"/>
            <p14:sldId id="462"/>
            <p14:sldId id="414"/>
            <p14:sldId id="415"/>
            <p14:sldId id="416"/>
            <p14:sldId id="417"/>
            <p14:sldId id="418"/>
            <p14:sldId id="419"/>
            <p14:sldId id="427"/>
            <p14:sldId id="420"/>
            <p14:sldId id="421"/>
            <p14:sldId id="422"/>
            <p14:sldId id="463"/>
            <p14:sldId id="425"/>
            <p14:sldId id="426"/>
            <p14:sldId id="429"/>
            <p14:sldId id="430"/>
            <p14:sldId id="431"/>
            <p14:sldId id="432"/>
            <p14:sldId id="433"/>
            <p14:sldId id="434"/>
            <p14:sldId id="435"/>
            <p14:sldId id="438"/>
            <p14:sldId id="439"/>
            <p14:sldId id="441"/>
            <p14:sldId id="437"/>
            <p14:sldId id="443"/>
            <p14:sldId id="444"/>
            <p14:sldId id="445"/>
            <p14:sldId id="446"/>
            <p14:sldId id="447"/>
            <p14:sldId id="448"/>
            <p14:sldId id="465"/>
            <p14:sldId id="464"/>
            <p14:sldId id="449"/>
            <p14:sldId id="450"/>
            <p14:sldId id="451"/>
            <p14:sldId id="452"/>
            <p14:sldId id="453"/>
            <p14:sldId id="454"/>
            <p14:sldId id="455"/>
            <p14:sldId id="456"/>
            <p14:sldId id="457"/>
            <p14:sldId id="458"/>
            <p14:sldId id="45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4726"/>
    <a:srgbClr val="404040"/>
    <a:srgbClr val="FF9B45"/>
    <a:srgbClr val="DD462F"/>
    <a:srgbClr val="F8CFB6"/>
    <a:srgbClr val="F8CAB6"/>
    <a:srgbClr val="923922"/>
    <a:srgbClr val="F5F5F5"/>
    <a:srgbClr val="F2F2F2"/>
    <a:srgbClr val="D2B4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824" autoAdjust="0"/>
    <p:restoredTop sz="88762" autoAdjust="0"/>
  </p:normalViewPr>
  <p:slideViewPr>
    <p:cSldViewPr snapToGrid="0">
      <p:cViewPr varScale="1">
        <p:scale>
          <a:sx n="59" d="100"/>
          <a:sy n="59" d="100"/>
        </p:scale>
        <p:origin x="1146" y="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slide" Target="slides/slide37.xml"/><Relationship Id="rId54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commentAuthors" Target="comment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theme" Target="theme/theme1.xml"/><Relationship Id="rId8" Type="http://schemas.openxmlformats.org/officeDocument/2006/relationships/slide" Target="slides/slide4.xml"/><Relationship Id="rId51" Type="http://schemas.openxmlformats.org/officeDocument/2006/relationships/notesMaster" Target="notesMasters/notesMaster1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680FBE-A8DF-4758-9AC4-3A9E1039168F}" type="datetimeFigureOut">
              <a:rPr lang="en-US" smtClean="0"/>
              <a:t>9/17/2025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679768-A2FC-4D08-91F6-8DCE6C566B3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02551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13577B-6902-467D-A26C-08A0DD5E4E03}" type="datetimeFigureOut">
              <a:rPr lang="en-US" smtClean="0"/>
              <a:t>9/17/2025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61EA0F-A667-4B49-8422-0062BC55E24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99049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96953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87408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83183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11151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9260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12470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1281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27620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702627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702227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30535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933466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186815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220724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340347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89113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215860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126098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85481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894510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67027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865469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396881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808869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205534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247440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039715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569669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523814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897503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601967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571702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898191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153834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512373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01973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169500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538614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41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5639210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42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1069969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43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189289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44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2655279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45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1661670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46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23008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</p:spPr>
        <p:txBody>
          <a:bodyPr anchor="b" anchorCtr="0">
            <a:norm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539496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Click to edit Master text styles</a:t>
            </a:r>
          </a:p>
          <a:p>
            <a:pPr marL="0" lvl="1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Second level</a:t>
            </a:r>
          </a:p>
          <a:p>
            <a:pPr marL="0" lvl="2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Third level</a:t>
            </a:r>
          </a:p>
          <a:p>
            <a:pPr marL="0" lvl="3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Fourth level</a:t>
            </a:r>
          </a:p>
          <a:p>
            <a:pPr marL="0" lvl="4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A476D18C-03CF-4E9B-95BB-3A73E675E16F}" type="datetime1">
              <a:rPr lang="en-US" smtClean="0"/>
              <a:t>9/17/2025</a:t>
            </a:fld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smtClean="0"/>
              <a:t>Dept. of ISE, VVIET MYSORE</a:t>
            </a:r>
            <a:endParaRPr 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0" name="Rectangle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Click to edit Master text styles</a:t>
            </a:r>
          </a:p>
          <a:p>
            <a:pPr marL="0" lvl="1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Second level</a:t>
            </a:r>
          </a:p>
          <a:p>
            <a:pPr marL="0" lvl="2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Third level</a:t>
            </a:r>
          </a:p>
          <a:p>
            <a:pPr marL="0" lvl="3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Fourth level</a:t>
            </a:r>
          </a:p>
          <a:p>
            <a:pPr marL="0" lvl="4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4956B6E7-A57E-ACB1-F511-1228453CD6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9388DC6-6C81-41E2-AE93-B34495D081F9}" type="datetime1">
              <a:rPr lang="en-US" smtClean="0"/>
              <a:t>9/17/2025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="" xmlns:a16="http://schemas.microsoft.com/office/drawing/2014/main" id="{75CED211-4FE2-C831-AA1F-F11194B5D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Dept. of ISE, VVIET MYSORE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="" xmlns:a16="http://schemas.microsoft.com/office/drawing/2014/main" id="{A88A0FB0-888A-37C2-CA08-0C579E0F9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6173C-0530-465B-9778-46CF6433679C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9" name="Title 8">
            <a:extLst>
              <a:ext uri="{FF2B5EF4-FFF2-40B4-BE49-F238E27FC236}">
                <a16:creationId xmlns="" xmlns:a16="http://schemas.microsoft.com/office/drawing/2014/main" id="{9B80127C-7314-EB48-FABB-3D22F2131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15284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9496" y="1435608"/>
            <a:ext cx="44165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E850F240-E442-4222-AA9F-0954742D0659}" type="datetime1">
              <a:rPr lang="en-US" smtClean="0"/>
              <a:t>9/17/2025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smtClean="0"/>
              <a:t>Dept. of ISE, VVIET MYSORE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75904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</p:sldLayoutIdLst>
  <p:hf sldNum="0" hdr="0" dt="0"/>
  <p:txStyles>
    <p:titleStyle>
      <a:lvl1pPr algn="l" defTabSz="914400" rtl="0" eaLnBrk="1" latinLnBrk="0" hangingPunct="1"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Tx/>
        <a:buNone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16002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6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8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03516" y="1703174"/>
            <a:ext cx="10515600" cy="2387600"/>
          </a:xfrm>
        </p:spPr>
        <p:txBody>
          <a:bodyPr anchor="ctr" anchorCtr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4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MODULE 1 </a:t>
            </a:r>
            <a:br>
              <a:rPr lang="en-US" sz="4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4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Research Methodology</a:t>
            </a:r>
            <a:endParaRPr lang="en-US" sz="4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4294967295"/>
          </p:nvPr>
        </p:nvSpPr>
        <p:spPr>
          <a:xfrm>
            <a:off x="838200" y="2962069"/>
            <a:ext cx="9582736" cy="11377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  <a:latin typeface="+mj-lt"/>
              </a:rPr>
              <a:t>	</a:t>
            </a:r>
          </a:p>
        </p:txBody>
      </p:sp>
      <p:pic>
        <p:nvPicPr>
          <p:cNvPr id="4" name="Picture 3" descr="PowerPoint program icon"/>
          <p:cNvPicPr>
            <a:picLocks noChangeAspect="1"/>
          </p:cNvPicPr>
          <p:nvPr/>
        </p:nvPicPr>
        <p:blipFill>
          <a:blip r:embed="rId3"/>
          <a:srcRect/>
          <a:stretch/>
        </p:blipFill>
        <p:spPr bwMode="invGray">
          <a:xfrm>
            <a:off x="670216" y="5193062"/>
            <a:ext cx="822960" cy="8229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343901" y="4196451"/>
            <a:ext cx="302622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Prepared By:</a:t>
            </a:r>
          </a:p>
          <a:p>
            <a:r>
              <a:rPr lang="en-US" sz="2400" b="1" dirty="0" smtClean="0"/>
              <a:t>Akash D</a:t>
            </a:r>
          </a:p>
          <a:p>
            <a:r>
              <a:rPr lang="en-US" sz="2400" b="1" dirty="0" smtClean="0"/>
              <a:t>Assistant Professor </a:t>
            </a:r>
          </a:p>
          <a:p>
            <a:r>
              <a:rPr lang="en-US" sz="2400" b="1" dirty="0" smtClean="0"/>
              <a:t>Dept. of ISE</a:t>
            </a:r>
          </a:p>
          <a:p>
            <a:r>
              <a:rPr lang="en-US" sz="2400" b="1" dirty="0" smtClean="0"/>
              <a:t>VVIET, MYSORE</a:t>
            </a:r>
            <a:endParaRPr lang="en-IN" sz="2400" b="1"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936174" y="779667"/>
            <a:ext cx="10363200" cy="571504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GB" sz="2400" b="1" dirty="0" smtClean="0">
                <a:latin typeface="Cambria" pitchFamily="18" charset="0"/>
                <a:ea typeface="Cambria" pitchFamily="18" charset="0"/>
                <a:cs typeface="Times New Roman" pitchFamily="18" charset="0"/>
              </a:rPr>
              <a:t>           VIDYA VIKAS INSTITUTE OF ENGINEERING AND TECHNOLOGY</a:t>
            </a:r>
          </a:p>
          <a:p>
            <a:pPr algn="ctr">
              <a:lnSpc>
                <a:spcPct val="150000"/>
              </a:lnSpc>
            </a:pPr>
            <a:r>
              <a:rPr lang="en-GB" sz="2000" b="1" dirty="0">
                <a:latin typeface="Cambria" pitchFamily="18" charset="0"/>
                <a:ea typeface="Cambria" pitchFamily="18" charset="0"/>
              </a:rPr>
              <a:t>DEPARTMENT OF INFORMATION SCIENCE  AND ENGINEERING </a:t>
            </a:r>
            <a:endParaRPr lang="en-US" sz="2000" b="1" dirty="0">
              <a:latin typeface="Cambria" pitchFamily="18" charset="0"/>
              <a:ea typeface="Cambria" pitchFamily="18" charset="0"/>
              <a:cs typeface="Times New Roman" pitchFamily="18" charset="0"/>
            </a:endParaRPr>
          </a:p>
        </p:txBody>
      </p:sp>
      <p:pic>
        <p:nvPicPr>
          <p:cNvPr id="7" name="Picture 6" descr="clg_logo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3516" y="458636"/>
            <a:ext cx="1083834" cy="751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608E2EDF-A84E-6469-C02C-45F628C0FC88}"/>
              </a:ext>
            </a:extLst>
          </p:cNvPr>
          <p:cNvSpPr txBox="1"/>
          <p:nvPr/>
        </p:nvSpPr>
        <p:spPr>
          <a:xfrm>
            <a:off x="2514601" y="173198"/>
            <a:ext cx="65305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</a:t>
            </a:r>
            <a:r>
              <a:rPr lang="en-I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IN" sz="3000" b="1" i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Dept. of ISE, VVIET MYSORE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604156" y="990600"/>
            <a:ext cx="11005458" cy="46209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just">
              <a:lnSpc>
                <a:spcPct val="200000"/>
              </a:lnSpc>
            </a:pPr>
            <a:r>
              <a:rPr lang="en-US" altLang="en-US" sz="2000" b="1" u="sng" dirty="0">
                <a:solidFill>
                  <a:srgbClr val="FE7314"/>
                </a:solidFill>
                <a:latin typeface="Times New Roman" panose="02020603050405020304" pitchFamily="18" charset="0"/>
              </a:rPr>
              <a:t>Meaning of </a:t>
            </a:r>
            <a:r>
              <a:rPr lang="en-US" altLang="en-US" sz="2400" b="1" u="sng" dirty="0">
                <a:solidFill>
                  <a:srgbClr val="FE7314"/>
                </a:solidFill>
                <a:latin typeface="Times New Roman" panose="02020603050405020304" pitchFamily="18" charset="0"/>
              </a:rPr>
              <a:t>Research</a:t>
            </a:r>
            <a:endParaRPr lang="en-US" altLang="en-US" sz="2000" b="1" u="sng" dirty="0">
              <a:solidFill>
                <a:srgbClr val="FE7314"/>
              </a:solidFill>
              <a:latin typeface="Times New Roman" panose="02020603050405020304" pitchFamily="18" charset="0"/>
            </a:endParaRPr>
          </a:p>
          <a:p>
            <a:pPr algn="just" eaLnBrk="1" hangingPunct="1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en-US" sz="2400" dirty="0" smtClean="0">
                <a:latin typeface="Times New Roman" panose="02020603050405020304" pitchFamily="18" charset="0"/>
              </a:rPr>
              <a:t>Research </a:t>
            </a:r>
            <a:r>
              <a:rPr lang="en-US" altLang="en-US" sz="2400" dirty="0">
                <a:latin typeface="Times New Roman" panose="02020603050405020304" pitchFamily="18" charset="0"/>
              </a:rPr>
              <a:t>is an E</a:t>
            </a:r>
            <a:r>
              <a:rPr lang="en-US" altLang="en-US" sz="2400" dirty="0" smtClean="0">
                <a:latin typeface="Times New Roman" panose="02020603050405020304" pitchFamily="18" charset="0"/>
              </a:rPr>
              <a:t>ndeavour </a:t>
            </a:r>
            <a:r>
              <a:rPr lang="en-US" altLang="en-US" sz="2400" dirty="0">
                <a:latin typeface="Times New Roman" panose="02020603050405020304" pitchFamily="18" charset="0"/>
              </a:rPr>
              <a:t>to discover answers to intellectual and practical problems through the application of scientific method. </a:t>
            </a:r>
          </a:p>
          <a:p>
            <a:pPr algn="just" eaLnBrk="1" hangingPunct="1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en-US" sz="2400" dirty="0" smtClean="0">
                <a:latin typeface="Times New Roman" panose="02020603050405020304" pitchFamily="18" charset="0"/>
              </a:rPr>
              <a:t>“</a:t>
            </a:r>
            <a:r>
              <a:rPr lang="en-US" altLang="en-US" sz="2400" dirty="0">
                <a:latin typeface="Times New Roman" panose="02020603050405020304" pitchFamily="18" charset="0"/>
              </a:rPr>
              <a:t>Research is a </a:t>
            </a:r>
            <a:r>
              <a:rPr lang="en-US" altLang="en-US" sz="2400" dirty="0" smtClean="0">
                <a:latin typeface="Times New Roman" panose="02020603050405020304" pitchFamily="18" charset="0"/>
              </a:rPr>
              <a:t>systematic </a:t>
            </a:r>
            <a:r>
              <a:rPr lang="en-US" altLang="en-US" sz="2400" dirty="0">
                <a:latin typeface="Times New Roman" panose="02020603050405020304" pitchFamily="18" charset="0"/>
              </a:rPr>
              <a:t>effort to gain new knowledge”.                               </a:t>
            </a:r>
            <a:endParaRPr lang="en-US" altLang="en-US" sz="2400" dirty="0" smtClean="0">
              <a:latin typeface="Times New Roman" panose="02020603050405020304" pitchFamily="18" charset="0"/>
            </a:endParaRPr>
          </a:p>
          <a:p>
            <a:pPr algn="just" eaLnBrk="1" hangingPunct="1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en-US" sz="2400" dirty="0" smtClean="0">
                <a:latin typeface="Times New Roman" panose="02020603050405020304" pitchFamily="18" charset="0"/>
              </a:rPr>
              <a:t>Research </a:t>
            </a:r>
            <a:r>
              <a:rPr lang="en-US" altLang="en-US" sz="2400" dirty="0">
                <a:latin typeface="Times New Roman" panose="02020603050405020304" pitchFamily="18" charset="0"/>
              </a:rPr>
              <a:t>is the systematic process of collecting and analyzing information (data) in order to increase our understanding of the </a:t>
            </a:r>
            <a:r>
              <a:rPr lang="en-US" altLang="en-US" sz="2400" dirty="0" smtClean="0">
                <a:latin typeface="Times New Roman" panose="02020603050405020304" pitchFamily="18" charset="0"/>
              </a:rPr>
              <a:t>phenomenon(fact) </a:t>
            </a:r>
            <a:r>
              <a:rPr lang="en-US" altLang="en-US" sz="2400" dirty="0">
                <a:latin typeface="Times New Roman" panose="02020603050405020304" pitchFamily="18" charset="0"/>
              </a:rPr>
              <a:t>about which we are concerned or interested</a:t>
            </a:r>
            <a:r>
              <a:rPr lang="en-US" altLang="en-US" sz="2400" dirty="0">
                <a:solidFill>
                  <a:schemeClr val="accent2"/>
                </a:solidFill>
                <a:latin typeface="Times New Roman" panose="02020603050405020304" pitchFamily="18" charset="0"/>
              </a:rPr>
              <a:t>.</a:t>
            </a:r>
          </a:p>
          <a:p>
            <a:pPr algn="just" eaLnBrk="1" hangingPunct="1">
              <a:buFont typeface="Wingdings" panose="05000000000000000000" pitchFamily="2" charset="2"/>
              <a:buChar char="v"/>
            </a:pPr>
            <a:endParaRPr lang="en-US" altLang="en-US" sz="2000" b="1" dirty="0">
              <a:latin typeface="Times New Roman" panose="02020603050405020304" pitchFamily="18" charset="0"/>
            </a:endParaRPr>
          </a:p>
          <a:p>
            <a:pPr algn="just" eaLnBrk="1" hangingPunct="1">
              <a:buFont typeface="Wingdings" panose="05000000000000000000" pitchFamily="2" charset="2"/>
              <a:buChar char="v"/>
            </a:pPr>
            <a:endParaRPr lang="en-US" altLang="en-US" sz="2000" dirty="0"/>
          </a:p>
        </p:txBody>
      </p:sp>
      <p:sp>
        <p:nvSpPr>
          <p:cNvPr id="9" name="Text Box 6"/>
          <p:cNvSpPr txBox="1">
            <a:spLocks noChangeArrowheads="1"/>
          </p:cNvSpPr>
          <p:nvPr/>
        </p:nvSpPr>
        <p:spPr bwMode="auto">
          <a:xfrm>
            <a:off x="963385" y="3482038"/>
            <a:ext cx="84582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just">
              <a:buFont typeface="Wingdings" panose="05000000000000000000" pitchFamily="2" charset="2"/>
              <a:buChar char="v"/>
            </a:pPr>
            <a:endParaRPr lang="en-US" altLang="en-US" sz="2000" b="1" dirty="0">
              <a:solidFill>
                <a:schemeClr val="accent2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24749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608E2EDF-A84E-6469-C02C-45F628C0FC88}"/>
              </a:ext>
            </a:extLst>
          </p:cNvPr>
          <p:cNvSpPr txBox="1"/>
          <p:nvPr/>
        </p:nvSpPr>
        <p:spPr>
          <a:xfrm>
            <a:off x="2514601" y="107884"/>
            <a:ext cx="65305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</a:t>
            </a:r>
            <a:r>
              <a:rPr lang="en-I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IN" sz="3000" b="1" i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4648200" y="6432556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Dept. of SE, VVIET MYSORE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468096" y="1200147"/>
            <a:ext cx="375556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r"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algn="r"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algn="r"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algn="r"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algn="r"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 sz="2800" b="1" dirty="0">
                <a:solidFill>
                  <a:srgbClr val="FE7314"/>
                </a:solidFill>
                <a:latin typeface="Times New Roman" panose="02020603050405020304" pitchFamily="18" charset="0"/>
              </a:rPr>
              <a:t>Objectives of Research</a:t>
            </a:r>
          </a:p>
        </p:txBody>
      </p:sp>
      <p:sp>
        <p:nvSpPr>
          <p:cNvPr id="5" name="Rectangle 7"/>
          <p:cNvSpPr>
            <a:spLocks noChangeArrowheads="1"/>
          </p:cNvSpPr>
          <p:nvPr/>
        </p:nvSpPr>
        <p:spPr bwMode="auto">
          <a:xfrm>
            <a:off x="544291" y="1643737"/>
            <a:ext cx="11099861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algn="r"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algn="r"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algn="r"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algn="r"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sz="2400" b="1" u="sng" dirty="0" smtClean="0">
                <a:latin typeface="Times New Roman" panose="02020603050405020304" pitchFamily="18" charset="0"/>
              </a:rPr>
              <a:t>A </a:t>
            </a:r>
            <a:r>
              <a:rPr lang="en-US" sz="2400" b="1" u="sng" dirty="0">
                <a:latin typeface="Times New Roman" panose="02020603050405020304" pitchFamily="18" charset="0"/>
              </a:rPr>
              <a:t>clear, specific statement of what the researcher aims to achieve in a study.</a:t>
            </a:r>
            <a:endParaRPr lang="en-US" altLang="en-US" sz="2400" b="1" u="sng" dirty="0">
              <a:latin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en-US" sz="2400" b="1" dirty="0" smtClean="0">
                <a:latin typeface="Times New Roman" panose="02020603050405020304" pitchFamily="18" charset="0"/>
              </a:rPr>
              <a:t>1. Exploratory </a:t>
            </a:r>
            <a:r>
              <a:rPr lang="en-US" altLang="en-US" sz="2400" b="1" dirty="0">
                <a:latin typeface="Times New Roman" panose="02020603050405020304" pitchFamily="18" charset="0"/>
              </a:rPr>
              <a:t>or </a:t>
            </a:r>
            <a:r>
              <a:rPr lang="en-US" altLang="en-US" sz="2400" b="1" dirty="0" err="1">
                <a:latin typeface="Times New Roman" panose="02020603050405020304" pitchFamily="18" charset="0"/>
              </a:rPr>
              <a:t>Formulative</a:t>
            </a:r>
            <a:r>
              <a:rPr lang="en-US" altLang="en-US" sz="2400" b="1" dirty="0">
                <a:latin typeface="Times New Roman" panose="02020603050405020304" pitchFamily="18" charset="0"/>
              </a:rPr>
              <a:t> </a:t>
            </a:r>
            <a:r>
              <a:rPr lang="en-US" altLang="en-US" sz="2400" b="1" dirty="0" smtClean="0">
                <a:latin typeface="Times New Roman" panose="02020603050405020304" pitchFamily="18" charset="0"/>
              </a:rPr>
              <a:t>Research - </a:t>
            </a:r>
            <a:r>
              <a:rPr lang="en-US" altLang="en-US" sz="2400" dirty="0" smtClean="0">
                <a:latin typeface="Times New Roman" panose="02020603050405020304" pitchFamily="18" charset="0"/>
              </a:rPr>
              <a:t>To </a:t>
            </a:r>
            <a:r>
              <a:rPr lang="en-US" altLang="en-US" sz="2400" dirty="0">
                <a:latin typeface="Times New Roman" panose="02020603050405020304" pitchFamily="18" charset="0"/>
              </a:rPr>
              <a:t>gain familiarity with a phenomenon or to achieve new insights into </a:t>
            </a:r>
            <a:r>
              <a:rPr lang="en-US" altLang="en-US" sz="2400" dirty="0" smtClean="0">
                <a:latin typeface="Times New Roman" panose="02020603050405020304" pitchFamily="18" charset="0"/>
              </a:rPr>
              <a:t>it.</a:t>
            </a:r>
            <a:endParaRPr lang="en-US" altLang="en-US" sz="2400" b="1" dirty="0" smtClean="0">
              <a:latin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en-US" sz="2400" b="1" dirty="0" smtClean="0">
                <a:latin typeface="Times New Roman" panose="02020603050405020304" pitchFamily="18" charset="0"/>
              </a:rPr>
              <a:t>Example: </a:t>
            </a:r>
            <a:r>
              <a:rPr lang="en-US" altLang="en-US" sz="2400" dirty="0" smtClean="0">
                <a:latin typeface="Times New Roman" panose="02020603050405020304" pitchFamily="18" charset="0"/>
              </a:rPr>
              <a:t>A </a:t>
            </a:r>
            <a:r>
              <a:rPr lang="en-US" altLang="en-US" sz="2400" dirty="0">
                <a:latin typeface="Times New Roman" panose="02020603050405020304" pitchFamily="18" charset="0"/>
              </a:rPr>
              <a:t>researcher interviews startup founders to understand the challenges of AI-based businesses, without a fixed hypothesis</a:t>
            </a:r>
            <a:r>
              <a:rPr lang="en-US" altLang="en-US" sz="2400" dirty="0" smtClean="0">
                <a:latin typeface="Times New Roman" panose="02020603050405020304" pitchFamily="18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altLang="en-US" sz="2400" b="1" dirty="0" smtClean="0">
                <a:latin typeface="Times New Roman" panose="02020603050405020304" pitchFamily="18" charset="0"/>
              </a:rPr>
              <a:t>2. Descriptive Research - </a:t>
            </a:r>
            <a:r>
              <a:rPr lang="en-US" altLang="en-US" sz="2400" dirty="0" smtClean="0">
                <a:latin typeface="Times New Roman" panose="02020603050405020304" pitchFamily="18" charset="0"/>
              </a:rPr>
              <a:t>To </a:t>
            </a:r>
            <a:r>
              <a:rPr lang="en-US" altLang="en-US" sz="2400" dirty="0">
                <a:latin typeface="Times New Roman" panose="02020603050405020304" pitchFamily="18" charset="0"/>
              </a:rPr>
              <a:t>portray accurately the characteristics of a particular individual, situation or </a:t>
            </a:r>
            <a:r>
              <a:rPr lang="en-US" altLang="en-US" sz="2400" dirty="0" smtClean="0">
                <a:latin typeface="Times New Roman" panose="02020603050405020304" pitchFamily="18" charset="0"/>
              </a:rPr>
              <a:t>a group</a:t>
            </a:r>
            <a:endParaRPr lang="en-US" altLang="en-US" sz="2400" b="1" dirty="0" smtClean="0">
              <a:latin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en-US" sz="2400" b="1" dirty="0">
                <a:latin typeface="Times New Roman" panose="02020603050405020304" pitchFamily="18" charset="0"/>
              </a:rPr>
              <a:t>Example: </a:t>
            </a:r>
            <a:r>
              <a:rPr lang="en-US" altLang="en-US" sz="2400" b="1" dirty="0" smtClean="0">
                <a:latin typeface="Times New Roman" panose="02020603050405020304" pitchFamily="18" charset="0"/>
              </a:rPr>
              <a:t> </a:t>
            </a:r>
            <a:r>
              <a:rPr lang="en-US" altLang="en-US" sz="2400" dirty="0" smtClean="0">
                <a:latin typeface="Times New Roman" panose="02020603050405020304" pitchFamily="18" charset="0"/>
              </a:rPr>
              <a:t>A </a:t>
            </a:r>
            <a:r>
              <a:rPr lang="en-US" altLang="en-US" sz="2400" dirty="0">
                <a:latin typeface="Times New Roman" panose="02020603050405020304" pitchFamily="18" charset="0"/>
              </a:rPr>
              <a:t>survey is conducted to describe the average daily screen time of college students.</a:t>
            </a:r>
          </a:p>
        </p:txBody>
      </p:sp>
    </p:spTree>
    <p:extLst>
      <p:ext uri="{BB962C8B-B14F-4D97-AF65-F5344CB8AC3E}">
        <p14:creationId xmlns:p14="http://schemas.microsoft.com/office/powerpoint/2010/main" val="4772782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608E2EDF-A84E-6469-C02C-45F628C0FC88}"/>
              </a:ext>
            </a:extLst>
          </p:cNvPr>
          <p:cNvSpPr txBox="1"/>
          <p:nvPr/>
        </p:nvSpPr>
        <p:spPr>
          <a:xfrm>
            <a:off x="2514601" y="173198"/>
            <a:ext cx="65305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</a:t>
            </a:r>
            <a:r>
              <a:rPr lang="en-I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IN" sz="3000" b="1" i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Dept. of SE, VVIET MYSORE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582396" y="1246415"/>
            <a:ext cx="375556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r"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algn="r"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algn="r"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algn="r"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algn="r"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 sz="2800" b="1" u="sng" dirty="0">
                <a:solidFill>
                  <a:srgbClr val="FE7314"/>
                </a:solidFill>
                <a:latin typeface="Times New Roman" panose="02020603050405020304" pitchFamily="18" charset="0"/>
              </a:rPr>
              <a:t>Objectives of Research</a:t>
            </a:r>
          </a:p>
        </p:txBody>
      </p:sp>
      <p:sp>
        <p:nvSpPr>
          <p:cNvPr id="5" name="Rectangle 7"/>
          <p:cNvSpPr>
            <a:spLocks noChangeArrowheads="1"/>
          </p:cNvSpPr>
          <p:nvPr/>
        </p:nvSpPr>
        <p:spPr bwMode="auto">
          <a:xfrm>
            <a:off x="582396" y="1769635"/>
            <a:ext cx="10956471" cy="38535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algn="r"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algn="r"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algn="r"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algn="r"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altLang="en-US" sz="2200" b="1" dirty="0" smtClean="0">
                <a:latin typeface="Times New Roman" panose="02020603050405020304" pitchFamily="18" charset="0"/>
              </a:rPr>
              <a:t>3. Diagnostic Research  - </a:t>
            </a:r>
            <a:r>
              <a:rPr lang="en-US" altLang="en-US" sz="2200" dirty="0" smtClean="0">
                <a:latin typeface="Times New Roman" panose="02020603050405020304" pitchFamily="18" charset="0"/>
              </a:rPr>
              <a:t>To </a:t>
            </a:r>
            <a:r>
              <a:rPr lang="en-US" altLang="en-US" sz="2200" dirty="0">
                <a:latin typeface="Times New Roman" panose="02020603050405020304" pitchFamily="18" charset="0"/>
              </a:rPr>
              <a:t>determine the frequency with which something occurs or with which it is associated with something </a:t>
            </a:r>
            <a:r>
              <a:rPr lang="en-US" altLang="en-US" sz="2200" dirty="0" smtClean="0">
                <a:latin typeface="Times New Roman" panose="02020603050405020304" pitchFamily="18" charset="0"/>
              </a:rPr>
              <a:t>else </a:t>
            </a:r>
          </a:p>
          <a:p>
            <a:pPr algn="just">
              <a:lnSpc>
                <a:spcPct val="150000"/>
              </a:lnSpc>
            </a:pPr>
            <a:r>
              <a:rPr lang="en-US" altLang="en-US" sz="2200" b="1" dirty="0" smtClean="0">
                <a:latin typeface="Times New Roman" panose="02020603050405020304" pitchFamily="18" charset="0"/>
              </a:rPr>
              <a:t>Example </a:t>
            </a:r>
            <a:r>
              <a:rPr lang="en-US" altLang="en-US" sz="2200" b="1" dirty="0">
                <a:latin typeface="Times New Roman" panose="02020603050405020304" pitchFamily="18" charset="0"/>
              </a:rPr>
              <a:t>: </a:t>
            </a:r>
            <a:r>
              <a:rPr lang="en-US" altLang="en-US" sz="2200" dirty="0">
                <a:latin typeface="Times New Roman" panose="02020603050405020304" pitchFamily="18" charset="0"/>
              </a:rPr>
              <a:t>A public health study measures how often flu cases occur in a city and whether they are linked to weather changes</a:t>
            </a:r>
            <a:r>
              <a:rPr lang="en-US" altLang="en-US" sz="2200" dirty="0" smtClean="0">
                <a:latin typeface="Times New Roman" panose="02020603050405020304" pitchFamily="18" charset="0"/>
              </a:rPr>
              <a:t>.</a:t>
            </a:r>
          </a:p>
          <a:p>
            <a:pPr algn="just">
              <a:lnSpc>
                <a:spcPct val="150000"/>
              </a:lnSpc>
            </a:pPr>
            <a:endParaRPr lang="en-US" altLang="en-US" sz="2200" b="1" dirty="0">
              <a:latin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en-US" sz="2200" b="1" dirty="0" smtClean="0">
                <a:latin typeface="Times New Roman" panose="02020603050405020304" pitchFamily="18" charset="0"/>
              </a:rPr>
              <a:t>4. </a:t>
            </a:r>
            <a:r>
              <a:rPr lang="en-US" altLang="en-US" sz="2200" b="1" dirty="0">
                <a:latin typeface="Times New Roman" panose="02020603050405020304" pitchFamily="18" charset="0"/>
              </a:rPr>
              <a:t>Hypothesis-Testing </a:t>
            </a:r>
            <a:r>
              <a:rPr lang="en-US" altLang="en-US" sz="2200" b="1" dirty="0" smtClean="0">
                <a:latin typeface="Times New Roman" panose="02020603050405020304" pitchFamily="18" charset="0"/>
              </a:rPr>
              <a:t>Research - </a:t>
            </a:r>
            <a:r>
              <a:rPr lang="en-US" altLang="en-US" sz="2200" dirty="0" smtClean="0">
                <a:latin typeface="Times New Roman" panose="02020603050405020304" pitchFamily="18" charset="0"/>
              </a:rPr>
              <a:t>To test a hypothesis of a causal relationship between variables </a:t>
            </a:r>
            <a:endParaRPr lang="en-US" altLang="en-US" sz="2200" b="1" dirty="0" smtClean="0">
              <a:latin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en-US" sz="2200" b="1" dirty="0" smtClean="0">
                <a:latin typeface="Times New Roman" panose="02020603050405020304" pitchFamily="18" charset="0"/>
              </a:rPr>
              <a:t>Example: </a:t>
            </a:r>
            <a:r>
              <a:rPr lang="en-US" altLang="en-US" sz="2200" dirty="0" smtClean="0">
                <a:latin typeface="Times New Roman" panose="02020603050405020304" pitchFamily="18" charset="0"/>
              </a:rPr>
              <a:t>Testing whether a new teaching method improves students’ math scores compared to the traditional method.</a:t>
            </a:r>
            <a:endParaRPr lang="en-US" altLang="en-US" sz="2200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5598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608E2EDF-A84E-6469-C02C-45F628C0FC88}"/>
              </a:ext>
            </a:extLst>
          </p:cNvPr>
          <p:cNvSpPr txBox="1"/>
          <p:nvPr/>
        </p:nvSpPr>
        <p:spPr>
          <a:xfrm>
            <a:off x="2514601" y="173198"/>
            <a:ext cx="65305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</a:t>
            </a:r>
            <a:r>
              <a:rPr lang="en-I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IN" sz="3000" b="1" i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Dept. of ISE, VVIET MYSORE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99949" y="1236919"/>
            <a:ext cx="10972800" cy="50321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objective of engineering </a:t>
            </a:r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research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solve new and important problems, and since the conclusion at the end of one‘s research outcome has to be new, but when one starts,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conclusion is unknown. 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can sometimes be convoluted and difficult to follow.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Knowing where and how to find different types of information helps one solve engineering problems,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both academic and professional career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main aim of the research is to apply scientific approaches to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seek answers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open questions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although each research study is particularly suited for a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certain approach.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5504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608E2EDF-A84E-6469-C02C-45F628C0FC88}"/>
              </a:ext>
            </a:extLst>
          </p:cNvPr>
          <p:cNvSpPr txBox="1"/>
          <p:nvPr/>
        </p:nvSpPr>
        <p:spPr>
          <a:xfrm>
            <a:off x="2514601" y="173198"/>
            <a:ext cx="65305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</a:t>
            </a:r>
            <a:r>
              <a:rPr lang="en-I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IN" sz="3000" b="1" i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Dept. of ISE, VVIET MYSORE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45431" y="1366863"/>
            <a:ext cx="11028948" cy="39039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4. The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engineering research should be to develop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theoretical or applied knowledge and not necessarily limited to obtaining abilities to obtain the desired result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5. 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should be framed such that in the event of not being able to achieve the desired result that is being sought,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can fall back to understanding why it is not possible, because that is also a contribution toward ongoing research in solving that problem.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15966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608E2EDF-A84E-6469-C02C-45F628C0FC88}"/>
              </a:ext>
            </a:extLst>
          </p:cNvPr>
          <p:cNvSpPr txBox="1"/>
          <p:nvPr/>
        </p:nvSpPr>
        <p:spPr>
          <a:xfrm>
            <a:off x="2514601" y="173198"/>
            <a:ext cx="65305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</a:t>
            </a:r>
            <a:r>
              <a:rPr lang="en-I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IN" sz="3000" b="1" i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Dept. of ISE, VVIET MYSORE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5431" y="1084266"/>
            <a:ext cx="11000874" cy="55861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 IN ENGINEERING RESEARCH</a:t>
            </a:r>
          </a:p>
          <a:p>
            <a:pPr algn="just">
              <a:lnSpc>
                <a:spcPct val="15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possible motives may be the result of one or more of the following desires: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Studies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have shown that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intrinsic motivations like interest, challenge, </a:t>
            </a:r>
            <a:r>
              <a:rPr lang="en-IN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learning</a:t>
            </a:r>
            <a:endParaRPr lang="en-IN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Extrinsic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motivating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factors like rewards for good work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 money, fame, </a:t>
            </a:r>
            <a:r>
              <a:rPr lang="en-IN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awards, praise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status are very strong motivators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but may </a:t>
            </a:r>
            <a:r>
              <a:rPr lang="en-IN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block creativity</a:t>
            </a:r>
            <a:r>
              <a:rPr lang="en-IN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outcome may enable obtaining a patent which is a good way to become rich and famous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Influences from others like competition, collaboration, commitment, and encouragement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also motivating factors in research. For example: my friends are all doing research and so should I, or, a person that I dislike is doing well and I want to do better. </a:t>
            </a:r>
            <a:endParaRPr 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36773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608E2EDF-A84E-6469-C02C-45F628C0FC88}"/>
              </a:ext>
            </a:extLst>
          </p:cNvPr>
          <p:cNvSpPr txBox="1"/>
          <p:nvPr/>
        </p:nvSpPr>
        <p:spPr>
          <a:xfrm>
            <a:off x="2514601" y="173198"/>
            <a:ext cx="65305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</a:t>
            </a:r>
            <a:r>
              <a:rPr lang="en-I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IN" sz="3000" b="1" i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Dept. of ISE, VVIET MYSORE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40417" y="1035586"/>
            <a:ext cx="10924675" cy="54014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 motivation in solving unsolved problems, intellectual joy, service to community, </a:t>
            </a:r>
            <a:r>
              <a:rPr lang="en-US" sz="23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 respectability 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all driving factors. </a:t>
            </a:r>
            <a:endParaRPr lang="en-US" sz="23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following factors would be a mix of extrinsic and intrinsic aspects: </a:t>
            </a:r>
            <a:endParaRPr lang="en-US" sz="23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Wanting 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do better than what has been achieved in the world </a:t>
            </a:r>
            <a:endParaRPr lang="en-US" sz="23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Improve 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state of the art in technology </a:t>
            </a:r>
            <a:endParaRPr lang="en-US" sz="23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Contribute 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the improvement of society </a:t>
            </a:r>
            <a:endParaRPr lang="en-US" sz="23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Fulfillment 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the historical legacy in the immediate socio-cultural context. </a:t>
            </a:r>
            <a:endParaRPr lang="en-US" sz="23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Several other factors like government directives, funding opportunities in certain areas, and terms of employment, can motivate people to get involved in engineering research. </a:t>
            </a:r>
            <a:endParaRPr lang="en-IN" sz="23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67503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608E2EDF-A84E-6469-C02C-45F628C0FC88}"/>
              </a:ext>
            </a:extLst>
          </p:cNvPr>
          <p:cNvSpPr txBox="1"/>
          <p:nvPr/>
        </p:nvSpPr>
        <p:spPr>
          <a:xfrm>
            <a:off x="2514601" y="173198"/>
            <a:ext cx="65305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</a:t>
            </a:r>
            <a:r>
              <a:rPr lang="en-I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IN" sz="3000" b="1" i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Dept. of ISE, VVIET MYSORE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45958" y="1354017"/>
            <a:ext cx="10900611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b="1" dirty="0">
                <a:latin typeface="Times New Roman" pitchFamily="18" charset="0"/>
                <a:cs typeface="Times New Roman" panose="02020603050405020304" pitchFamily="18" charset="0"/>
              </a:rPr>
              <a:t>TYPES OF </a:t>
            </a:r>
            <a:r>
              <a:rPr lang="en-US" sz="2400" b="1" dirty="0" smtClean="0">
                <a:latin typeface="Times New Roman" pitchFamily="18" charset="0"/>
                <a:cs typeface="Times New Roman" panose="02020603050405020304" pitchFamily="18" charset="0"/>
              </a:rPr>
              <a:t>RESEARCH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2400" dirty="0" smtClean="0">
                <a:latin typeface="Times New Roman" pitchFamily="18" charset="0"/>
                <a:cs typeface="Times New Roman" panose="02020603050405020304" pitchFamily="18" charset="0"/>
              </a:rPr>
              <a:t>Descriptive </a:t>
            </a:r>
            <a:r>
              <a:rPr lang="en-US" sz="2400" dirty="0">
                <a:latin typeface="Times New Roman" pitchFamily="18" charset="0"/>
                <a:cs typeface="Times New Roman" panose="02020603050405020304" pitchFamily="18" charset="0"/>
              </a:rPr>
              <a:t>vs Analytical Research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itchFamily="18" charset="0"/>
                <a:cs typeface="Times New Roman" panose="02020603050405020304" pitchFamily="18" charset="0"/>
              </a:rPr>
              <a:t>Applied vs Fundamental Research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itchFamily="18" charset="0"/>
                <a:cs typeface="Times New Roman" panose="02020603050405020304" pitchFamily="18" charset="0"/>
              </a:rPr>
              <a:t>Quantitative vs Qualitative Research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itchFamily="18" charset="0"/>
                <a:cs typeface="Times New Roman" panose="02020603050405020304" pitchFamily="18" charset="0"/>
              </a:rPr>
              <a:t>Conceptual vs Empirical </a:t>
            </a:r>
            <a:r>
              <a:rPr lang="en-US" sz="2400" dirty="0" smtClean="0">
                <a:latin typeface="Times New Roman" pitchFamily="18" charset="0"/>
                <a:cs typeface="Times New Roman" panose="02020603050405020304" pitchFamily="18" charset="0"/>
              </a:rPr>
              <a:t>Research</a:t>
            </a:r>
            <a:endParaRPr lang="en-US" sz="2400" dirty="0">
              <a:latin typeface="Times New Roman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3887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608E2EDF-A84E-6469-C02C-45F628C0FC88}"/>
              </a:ext>
            </a:extLst>
          </p:cNvPr>
          <p:cNvSpPr txBox="1"/>
          <p:nvPr/>
        </p:nvSpPr>
        <p:spPr>
          <a:xfrm>
            <a:off x="2514601" y="173198"/>
            <a:ext cx="65305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</a:t>
            </a:r>
            <a:r>
              <a:rPr lang="en-I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IN" sz="3000" b="1" i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Dept. of ISE, VVIET MYSORE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17356" y="1109086"/>
            <a:ext cx="10900611" cy="5170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Descriptive vs Analytical </a:t>
            </a:r>
            <a:r>
              <a:rPr lang="en-IN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Research</a:t>
            </a:r>
            <a:endParaRPr lang="en-IN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IN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Descriptive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 fact finding investigation which is </a:t>
            </a:r>
            <a:r>
              <a:rPr lang="en-I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aimed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describing the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characteristics of individual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situation or a group (or) describing the state of affairs as it exists at present</a:t>
            </a:r>
            <a:r>
              <a:rPr lang="en-I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survey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describing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satisfaction levels with online learning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algn="just">
              <a:lnSpc>
                <a:spcPct val="150000"/>
              </a:lnSpc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IN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Analytical Research </a:t>
            </a:r>
            <a:r>
              <a:rPr lang="en-I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 primarily concerned with testing hypothesis and specifying and interpreting relationships, by </a:t>
            </a:r>
            <a:r>
              <a:rPr lang="en-IN" sz="2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analyzing</a:t>
            </a:r>
            <a:r>
              <a:rPr lang="en-IN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the facts or information already available. </a:t>
            </a:r>
          </a:p>
          <a:p>
            <a:pPr algn="just">
              <a:lnSpc>
                <a:spcPct val="150000"/>
              </a:lnSpc>
            </a:pP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study analyzing the relationship between online participation and student academic performance.</a:t>
            </a:r>
            <a:endParaRPr lang="en-IN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22821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608E2EDF-A84E-6469-C02C-45F628C0FC88}"/>
              </a:ext>
            </a:extLst>
          </p:cNvPr>
          <p:cNvSpPr txBox="1"/>
          <p:nvPr/>
        </p:nvSpPr>
        <p:spPr>
          <a:xfrm>
            <a:off x="2514601" y="173198"/>
            <a:ext cx="65305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</a:t>
            </a:r>
            <a:r>
              <a:rPr lang="en-I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IN" sz="3000" b="1" i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Dept. of ISE, VVIET MYSORE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90232" y="1012473"/>
            <a:ext cx="11139060" cy="54014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Applied versus Fundamental: </a:t>
            </a:r>
            <a:endParaRPr lang="en-US" sz="23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3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Applied 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Action Research is carried out 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find solution to a real life problem requiring an action or policy decision</a:t>
            </a:r>
            <a:r>
              <a:rPr lang="en-US" sz="23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23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Developing a memory-improving app based on brain research.</a:t>
            </a:r>
            <a:r>
              <a:rPr lang="en-US" sz="2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Directly benefits society, industry, or an organization</a:t>
            </a:r>
            <a:r>
              <a:rPr lang="en-US" sz="2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50000"/>
              </a:lnSpc>
            </a:pP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3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Fundamental 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is also known as 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or pure research 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undertaken for the 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sake of knowledge 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without any intention to apply it in </a:t>
            </a:r>
            <a:r>
              <a:rPr lang="en-US" sz="2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practice. It 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undertaken out of intellectual curiosity and is not necessarily problem-oriented</a:t>
            </a:r>
            <a:r>
              <a:rPr lang="en-US" sz="2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23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  <a:r>
              <a:rPr lang="en-US" sz="2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Studying 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the human brain stores memories (no immediate application</a:t>
            </a:r>
            <a:r>
              <a:rPr lang="en-US" sz="2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25396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608E2EDF-A84E-6469-C02C-45F628C0FC88}"/>
              </a:ext>
            </a:extLst>
          </p:cNvPr>
          <p:cNvSpPr txBox="1"/>
          <p:nvPr/>
        </p:nvSpPr>
        <p:spPr>
          <a:xfrm>
            <a:off x="2514601" y="173198"/>
            <a:ext cx="65305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</a:t>
            </a:r>
            <a:r>
              <a:rPr lang="en-I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IN" sz="3000" b="1" i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Dept. of ISE, VVIET MYSORE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29388" y="1186117"/>
            <a:ext cx="10948737" cy="59554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Quantitative versus Qualitative</a:t>
            </a:r>
            <a:r>
              <a:rPr lang="en-US" sz="23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3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3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Quantitative 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employed for 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measuring the quantity or amount of a particular 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phenomena by the use of statistical analysis.</a:t>
            </a:r>
          </a:p>
          <a:p>
            <a:pPr algn="just">
              <a:lnSpc>
                <a:spcPct val="150000"/>
              </a:lnSpc>
            </a:pPr>
            <a:r>
              <a:rPr lang="en-US" sz="23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  <a:r>
              <a:rPr lang="en-US" sz="2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Measuring the effectiveness of a new teaching method on student grades using statistical analysis.</a:t>
            </a:r>
          </a:p>
          <a:p>
            <a:pPr algn="just">
              <a:lnSpc>
                <a:spcPct val="150000"/>
              </a:lnSpc>
            </a:pP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3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Qualitative Research </a:t>
            </a:r>
            <a:r>
              <a:rPr lang="en-US" sz="2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 a non-quantitative type of analysis which is aimed at </a:t>
            </a:r>
            <a:r>
              <a:rPr lang="en-US" sz="23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finding out the quality of a particular phenomenon.</a:t>
            </a:r>
          </a:p>
          <a:p>
            <a:pPr algn="just">
              <a:lnSpc>
                <a:spcPct val="150000"/>
              </a:lnSpc>
            </a:pPr>
            <a:r>
              <a:rPr lang="en-US" sz="23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Exploring </a:t>
            </a:r>
            <a:r>
              <a:rPr lang="en-US" sz="2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perceptions and feelings about online learning through interviews.</a:t>
            </a:r>
            <a:endParaRPr lang="en-US" sz="23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24310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608E2EDF-A84E-6469-C02C-45F628C0FC88}"/>
              </a:ext>
            </a:extLst>
          </p:cNvPr>
          <p:cNvSpPr txBox="1"/>
          <p:nvPr/>
        </p:nvSpPr>
        <p:spPr>
          <a:xfrm>
            <a:off x="2514601" y="173198"/>
            <a:ext cx="65305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</a:t>
            </a:r>
            <a:r>
              <a:rPr lang="en-I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IN" sz="3000" b="1" i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Dept. of ISE, VVIET MYSORE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12200" y="1017715"/>
            <a:ext cx="11069052" cy="58400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Conceptual vs. </a:t>
            </a:r>
            <a:r>
              <a:rPr lang="en-US" sz="23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Empirical</a:t>
            </a:r>
          </a:p>
          <a:p>
            <a:pPr algn="just">
              <a:lnSpc>
                <a:spcPct val="150000"/>
              </a:lnSpc>
            </a:pPr>
            <a:r>
              <a:rPr lang="en-US" sz="23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Conceptual </a:t>
            </a:r>
            <a:r>
              <a:rPr lang="en-US" sz="2300" b="1" dirty="0">
                <a:latin typeface="Times New Roman" pitchFamily="18" charset="0"/>
                <a:cs typeface="Times New Roman" panose="02020603050405020304" pitchFamily="18" charset="0"/>
              </a:rPr>
              <a:t>Research </a:t>
            </a:r>
            <a:r>
              <a:rPr lang="en-US" sz="2300" dirty="0">
                <a:latin typeface="Times New Roman" pitchFamily="18" charset="0"/>
                <a:cs typeface="Times New Roman" panose="02020603050405020304" pitchFamily="18" charset="0"/>
              </a:rPr>
              <a:t>is generally used by </a:t>
            </a:r>
            <a:r>
              <a:rPr lang="en-US" sz="2300" b="1" dirty="0">
                <a:latin typeface="Times New Roman" pitchFamily="18" charset="0"/>
                <a:cs typeface="Times New Roman" panose="02020603050405020304" pitchFamily="18" charset="0"/>
              </a:rPr>
              <a:t>philosophers and thinkers</a:t>
            </a:r>
            <a:r>
              <a:rPr lang="en-US" sz="2300" dirty="0">
                <a:latin typeface="Times New Roman" pitchFamily="18" charset="0"/>
                <a:cs typeface="Times New Roman" panose="02020603050405020304" pitchFamily="18" charset="0"/>
              </a:rPr>
              <a:t> to develop new concepts or </a:t>
            </a:r>
            <a:r>
              <a:rPr lang="en-US" sz="2300" dirty="0" smtClean="0">
                <a:latin typeface="Times New Roman" pitchFamily="18" charset="0"/>
                <a:cs typeface="Times New Roman" panose="02020603050405020304" pitchFamily="18" charset="0"/>
              </a:rPr>
              <a:t>to </a:t>
            </a:r>
            <a:r>
              <a:rPr lang="en-US" sz="2300" b="1" dirty="0" smtClean="0">
                <a:latin typeface="Times New Roman" pitchFamily="18" charset="0"/>
                <a:cs typeface="Times New Roman" panose="02020603050405020304" pitchFamily="18" charset="0"/>
              </a:rPr>
              <a:t>reinterpret</a:t>
            </a:r>
            <a:r>
              <a:rPr lang="en-US" sz="2300" dirty="0" smtClean="0">
                <a:latin typeface="Times New Roman" pitchFamily="18" charset="0"/>
                <a:cs typeface="Times New Roman" panose="02020603050405020304" pitchFamily="18" charset="0"/>
              </a:rPr>
              <a:t> </a:t>
            </a:r>
            <a:r>
              <a:rPr lang="en-US" sz="2300" dirty="0">
                <a:latin typeface="Times New Roman" pitchFamily="18" charset="0"/>
                <a:cs typeface="Times New Roman" panose="02020603050405020304" pitchFamily="18" charset="0"/>
              </a:rPr>
              <a:t>existing </a:t>
            </a:r>
            <a:r>
              <a:rPr lang="en-US" sz="2300" dirty="0" smtClean="0">
                <a:latin typeface="Times New Roman" pitchFamily="18" charset="0"/>
                <a:cs typeface="Times New Roman" panose="02020603050405020304" pitchFamily="18" charset="0"/>
              </a:rPr>
              <a:t>ones.</a:t>
            </a:r>
          </a:p>
          <a:p>
            <a:pPr algn="just">
              <a:lnSpc>
                <a:spcPct val="150000"/>
              </a:lnSpc>
            </a:pPr>
            <a:r>
              <a:rPr lang="en-US" sz="2300" b="1" dirty="0" smtClean="0">
                <a:latin typeface="Times New Roman" pitchFamily="18" charset="0"/>
                <a:cs typeface="Times New Roman" panose="02020603050405020304" pitchFamily="18" charset="0"/>
              </a:rPr>
              <a:t>Example: 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Developing a theory of student motivation by analyzing and synthesizing existing ideas, 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without collecting new data</a:t>
            </a:r>
            <a:r>
              <a:rPr lang="en-US" sz="2300" b="1" dirty="0" smtClean="0">
                <a:latin typeface="Times New Roman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50000"/>
              </a:lnSpc>
            </a:pPr>
            <a:endParaRPr lang="en-US" sz="2200" b="1" dirty="0" smtClean="0">
              <a:latin typeface="Times New Roman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300" b="1" dirty="0" smtClean="0">
                <a:latin typeface="Times New Roman" pitchFamily="18" charset="0"/>
                <a:cs typeface="Times New Roman" panose="02020603050405020304" pitchFamily="18" charset="0"/>
              </a:rPr>
              <a:t>Empirical </a:t>
            </a:r>
            <a:r>
              <a:rPr lang="en-US" sz="2300" b="1" dirty="0">
                <a:latin typeface="Times New Roman" pitchFamily="18" charset="0"/>
                <a:cs typeface="Times New Roman" panose="02020603050405020304" pitchFamily="18" charset="0"/>
              </a:rPr>
              <a:t>Research </a:t>
            </a:r>
            <a:r>
              <a:rPr lang="en-US" sz="2300" dirty="0">
                <a:latin typeface="Times New Roman" pitchFamily="18" charset="0"/>
                <a:cs typeface="Times New Roman" panose="02020603050405020304" pitchFamily="18" charset="0"/>
              </a:rPr>
              <a:t>is a </a:t>
            </a:r>
            <a:r>
              <a:rPr lang="en-US" sz="2300" b="1" dirty="0">
                <a:latin typeface="Times New Roman" pitchFamily="18" charset="0"/>
                <a:cs typeface="Times New Roman" panose="02020603050405020304" pitchFamily="18" charset="0"/>
              </a:rPr>
              <a:t>data based research </a:t>
            </a:r>
            <a:r>
              <a:rPr lang="en-US" sz="2300" dirty="0">
                <a:latin typeface="Times New Roman" pitchFamily="18" charset="0"/>
                <a:cs typeface="Times New Roman" panose="02020603050405020304" pitchFamily="18" charset="0"/>
              </a:rPr>
              <a:t>which depends on experience or observation alone. It is aimed at coming up with conclusions without due regard for system and theory</a:t>
            </a:r>
            <a:r>
              <a:rPr lang="en-US" sz="2300" dirty="0" smtClean="0">
                <a:latin typeface="Times New Roman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2300" b="1" dirty="0" smtClean="0">
                <a:latin typeface="Times New Roman" pitchFamily="18" charset="0"/>
                <a:cs typeface="Times New Roman" panose="02020603050405020304" pitchFamily="18" charset="0"/>
              </a:rPr>
              <a:t>Example: </a:t>
            </a:r>
            <a:r>
              <a:rPr lang="en-US" sz="2300" dirty="0">
                <a:latin typeface="Times New Roman" pitchFamily="18" charset="0"/>
                <a:cs typeface="Times New Roman" panose="02020603050405020304" pitchFamily="18" charset="0"/>
              </a:rPr>
              <a:t>Conducting an experiment to study the impact of teacher feedback on student performance by </a:t>
            </a:r>
            <a:r>
              <a:rPr lang="en-US" sz="2300" b="1" dirty="0">
                <a:latin typeface="Times New Roman" pitchFamily="18" charset="0"/>
                <a:cs typeface="Times New Roman" panose="02020603050405020304" pitchFamily="18" charset="0"/>
              </a:rPr>
              <a:t>collecting and analyzing actual data.</a:t>
            </a:r>
          </a:p>
          <a:p>
            <a:pPr marL="360363" indent="457200" algn="just">
              <a:lnSpc>
                <a:spcPct val="150000"/>
              </a:lnSpc>
            </a:pP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76406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608E2EDF-A84E-6469-C02C-45F628C0FC88}"/>
              </a:ext>
            </a:extLst>
          </p:cNvPr>
          <p:cNvSpPr txBox="1"/>
          <p:nvPr/>
        </p:nvSpPr>
        <p:spPr>
          <a:xfrm>
            <a:off x="2514601" y="173198"/>
            <a:ext cx="65305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</a:t>
            </a:r>
            <a:r>
              <a:rPr lang="en-I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IN" sz="3000" b="1" i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Dept. of ISE, VVIET MYSORE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609600" y="1066800"/>
            <a:ext cx="10940716" cy="533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855663" lvl="1" indent="-449263" algn="just" eaLnBrk="1" hangingPunct="1">
              <a:lnSpc>
                <a:spcPct val="150000"/>
              </a:lnSpc>
              <a:spcBef>
                <a:spcPct val="20000"/>
              </a:spcBef>
              <a:buClr>
                <a:srgbClr val="F1FB33"/>
              </a:buClr>
              <a:buFont typeface="Wingdings" pitchFamily="2" charset="2"/>
              <a:buChar char="Æ"/>
              <a:defRPr/>
            </a:pPr>
            <a:endParaRPr lang="en-US" sz="2000" dirty="0" smtClean="0">
              <a:latin typeface="Times New Roman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27955" y="1112482"/>
            <a:ext cx="11228616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other types of </a:t>
            </a:r>
            <a:r>
              <a:rPr lang="en-I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research</a:t>
            </a:r>
            <a:endParaRPr lang="en-US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One-time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Surveying engineering students in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2025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measure interest in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government job.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Longitudinal Research: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Tracking the performance of solar panels installed in a city over 10 years.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Research: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the effect of varying coolant flow rates on the efficiency of a car engine while keeping fuel type constant.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Historical Research: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Studying the evolution of bridge construction techniques from 1900 to 2025 to improve modern designs.</a:t>
            </a:r>
          </a:p>
        </p:txBody>
      </p:sp>
    </p:spTree>
    <p:extLst>
      <p:ext uri="{BB962C8B-B14F-4D97-AF65-F5344CB8AC3E}">
        <p14:creationId xmlns:p14="http://schemas.microsoft.com/office/powerpoint/2010/main" val="19876887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608E2EDF-A84E-6469-C02C-45F628C0FC88}"/>
              </a:ext>
            </a:extLst>
          </p:cNvPr>
          <p:cNvSpPr txBox="1"/>
          <p:nvPr/>
        </p:nvSpPr>
        <p:spPr>
          <a:xfrm>
            <a:off x="3517261" y="254840"/>
            <a:ext cx="445987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US" sz="3200" b="1" u="sng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itchFamily="18" charset="0"/>
              </a:rPr>
              <a:t>RESEARCH PROCESS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3848102" y="6285594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en-US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Dept. of ISE, VVIET MYSORE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9"/>
          <p:cNvSpPr>
            <a:spLocks noChangeArrowheads="1"/>
          </p:cNvSpPr>
          <p:nvPr/>
        </p:nvSpPr>
        <p:spPr bwMode="auto">
          <a:xfrm>
            <a:off x="2865805" y="2215242"/>
            <a:ext cx="1257300" cy="2895600"/>
          </a:xfrm>
          <a:prstGeom prst="rect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r"/>
            <a:endParaRPr lang="en-US" alt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1608505" y="2977242"/>
            <a:ext cx="914400" cy="1143000"/>
          </a:xfrm>
          <a:prstGeom prst="rect">
            <a:avLst/>
          </a:prstGeom>
          <a:solidFill>
            <a:srgbClr val="FDF9E5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</a:rPr>
              <a:t>Define </a:t>
            </a:r>
          </a:p>
          <a:p>
            <a:pPr algn="ctr" eaLnBrk="1" hangingPunct="1"/>
            <a:r>
              <a:rPr lang="en-US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</a:rPr>
              <a:t>Research</a:t>
            </a:r>
          </a:p>
          <a:p>
            <a:pPr algn="ctr" eaLnBrk="1" hangingPunct="1"/>
            <a:r>
              <a:rPr lang="en-US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</a:rPr>
              <a:t>Problem</a:t>
            </a:r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3018205" y="2367642"/>
            <a:ext cx="952500" cy="1143000"/>
          </a:xfrm>
          <a:prstGeom prst="rect">
            <a:avLst/>
          </a:prstGeom>
          <a:solidFill>
            <a:srgbClr val="FDF9E5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 sz="1600" b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</a:rPr>
              <a:t>Review </a:t>
            </a:r>
          </a:p>
          <a:p>
            <a:pPr algn="ctr" eaLnBrk="1" hangingPunct="1"/>
            <a:r>
              <a:rPr lang="en-US" altLang="en-US" sz="1600" b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</a:rPr>
              <a:t>Concepts</a:t>
            </a:r>
          </a:p>
          <a:p>
            <a:pPr algn="ctr" eaLnBrk="1" hangingPunct="1"/>
            <a:r>
              <a:rPr lang="en-US" altLang="en-US" sz="1600" b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</a:rPr>
              <a:t>And </a:t>
            </a:r>
          </a:p>
          <a:p>
            <a:pPr algn="ctr" eaLnBrk="1" hangingPunct="1"/>
            <a:r>
              <a:rPr lang="en-US" altLang="en-US" sz="1600" b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</a:rPr>
              <a:t>theories</a:t>
            </a:r>
          </a:p>
        </p:txBody>
      </p:sp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3018205" y="3739242"/>
            <a:ext cx="952500" cy="1143000"/>
          </a:xfrm>
          <a:prstGeom prst="rect">
            <a:avLst/>
          </a:prstGeom>
          <a:solidFill>
            <a:srgbClr val="FDF9E5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 sz="1600" b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</a:rPr>
              <a:t>Review </a:t>
            </a:r>
          </a:p>
          <a:p>
            <a:pPr algn="ctr" eaLnBrk="1" hangingPunct="1"/>
            <a:r>
              <a:rPr lang="en-US" altLang="en-US" sz="1600" b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</a:rPr>
              <a:t>Previous</a:t>
            </a:r>
          </a:p>
          <a:p>
            <a:pPr algn="ctr" eaLnBrk="1" hangingPunct="1"/>
            <a:r>
              <a:rPr lang="en-US" altLang="en-US" sz="1600" b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</a:rPr>
              <a:t>Research</a:t>
            </a:r>
          </a:p>
          <a:p>
            <a:pPr algn="ctr" eaLnBrk="1" hangingPunct="1"/>
            <a:r>
              <a:rPr lang="en-US" altLang="en-US" sz="1600" b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</a:rPr>
              <a:t>findings</a:t>
            </a:r>
          </a:p>
        </p:txBody>
      </p:sp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4542205" y="2901042"/>
            <a:ext cx="952500" cy="1143000"/>
          </a:xfrm>
          <a:prstGeom prst="rect">
            <a:avLst/>
          </a:prstGeom>
          <a:solidFill>
            <a:srgbClr val="FDF9E5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</a:rPr>
              <a:t>Formulate</a:t>
            </a:r>
          </a:p>
          <a:p>
            <a:pPr algn="ctr" eaLnBrk="1" hangingPunct="1"/>
            <a:r>
              <a:rPr lang="en-US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</a:rPr>
              <a:t>hypothesis</a:t>
            </a:r>
          </a:p>
        </p:txBody>
      </p:sp>
      <p:sp>
        <p:nvSpPr>
          <p:cNvPr id="12" name="Rectangle 10"/>
          <p:cNvSpPr>
            <a:spLocks noChangeArrowheads="1"/>
          </p:cNvSpPr>
          <p:nvPr/>
        </p:nvSpPr>
        <p:spPr bwMode="auto">
          <a:xfrm>
            <a:off x="5875705" y="2748642"/>
            <a:ext cx="990600" cy="13716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</a:rPr>
              <a:t>Design</a:t>
            </a:r>
          </a:p>
          <a:p>
            <a:pPr algn="ctr" eaLnBrk="1" hangingPunct="1"/>
            <a:r>
              <a:rPr lang="en-US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</a:rPr>
              <a:t>Research</a:t>
            </a:r>
          </a:p>
          <a:p>
            <a:pPr algn="ctr" eaLnBrk="1" hangingPunct="1"/>
            <a:r>
              <a:rPr lang="en-US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</a:rPr>
              <a:t>(Including</a:t>
            </a:r>
          </a:p>
          <a:p>
            <a:pPr algn="ctr" eaLnBrk="1" hangingPunct="1"/>
            <a:r>
              <a:rPr lang="en-US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</a:rPr>
              <a:t>Sample</a:t>
            </a:r>
          </a:p>
          <a:p>
            <a:pPr algn="ctr" eaLnBrk="1" hangingPunct="1"/>
            <a:r>
              <a:rPr lang="en-US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</a:rPr>
              <a:t>Design)</a:t>
            </a:r>
          </a:p>
        </p:txBody>
      </p:sp>
      <p:sp>
        <p:nvSpPr>
          <p:cNvPr id="13" name="Rectangle 11"/>
          <p:cNvSpPr>
            <a:spLocks noChangeArrowheads="1"/>
          </p:cNvSpPr>
          <p:nvPr/>
        </p:nvSpPr>
        <p:spPr bwMode="auto">
          <a:xfrm>
            <a:off x="7171105" y="2824842"/>
            <a:ext cx="990600" cy="11430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</a:rPr>
              <a:t>Collect</a:t>
            </a:r>
          </a:p>
          <a:p>
            <a:pPr algn="ctr" eaLnBrk="1" hangingPunct="1"/>
            <a:r>
              <a:rPr lang="en-US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</a:rPr>
              <a:t>Data</a:t>
            </a:r>
          </a:p>
          <a:p>
            <a:pPr algn="ctr" eaLnBrk="1" hangingPunct="1"/>
            <a:r>
              <a:rPr lang="en-US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</a:rPr>
              <a:t>(Execution)</a:t>
            </a:r>
          </a:p>
        </p:txBody>
      </p:sp>
      <p:sp>
        <p:nvSpPr>
          <p:cNvPr id="14" name="Rectangle 12"/>
          <p:cNvSpPr>
            <a:spLocks noChangeArrowheads="1"/>
          </p:cNvSpPr>
          <p:nvPr/>
        </p:nvSpPr>
        <p:spPr bwMode="auto">
          <a:xfrm>
            <a:off x="8466505" y="2672442"/>
            <a:ext cx="990600" cy="15240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 sz="16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</a:rPr>
              <a:t>Analyse</a:t>
            </a:r>
            <a:endParaRPr lang="en-US" altLang="en-US" sz="1600" b="1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</a:endParaRPr>
          </a:p>
          <a:p>
            <a:pPr algn="ctr" eaLnBrk="1" hangingPunct="1"/>
            <a:r>
              <a:rPr lang="en-US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</a:rPr>
              <a:t>Data</a:t>
            </a:r>
          </a:p>
          <a:p>
            <a:pPr algn="ctr" eaLnBrk="1" hangingPunct="1"/>
            <a:r>
              <a:rPr lang="en-US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</a:rPr>
              <a:t>(Test</a:t>
            </a:r>
          </a:p>
          <a:p>
            <a:pPr algn="ctr" eaLnBrk="1" hangingPunct="1"/>
            <a:r>
              <a:rPr lang="en-US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</a:rPr>
              <a:t>Hypothesis</a:t>
            </a:r>
          </a:p>
          <a:p>
            <a:pPr algn="ctr" eaLnBrk="1" hangingPunct="1"/>
            <a:r>
              <a:rPr lang="en-US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</a:rPr>
              <a:t>if any)</a:t>
            </a:r>
          </a:p>
          <a:p>
            <a:pPr algn="ctr" eaLnBrk="1" hangingPunct="1"/>
            <a:endParaRPr lang="en-US" altLang="en-US" sz="1600" b="1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</a:endParaRPr>
          </a:p>
        </p:txBody>
      </p:sp>
      <p:sp>
        <p:nvSpPr>
          <p:cNvPr id="15" name="Line 13"/>
          <p:cNvSpPr>
            <a:spLocks noChangeShapeType="1"/>
          </p:cNvSpPr>
          <p:nvPr/>
        </p:nvSpPr>
        <p:spPr bwMode="auto">
          <a:xfrm>
            <a:off x="2522905" y="3205842"/>
            <a:ext cx="381000" cy="0"/>
          </a:xfrm>
          <a:prstGeom prst="line">
            <a:avLst/>
          </a:prstGeom>
          <a:noFill/>
          <a:ln w="38100">
            <a:solidFill>
              <a:schemeClr val="tx1">
                <a:lumMod val="95000"/>
                <a:lumOff val="5000"/>
              </a:schemeClr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6" name="Line 14"/>
          <p:cNvSpPr>
            <a:spLocks noChangeShapeType="1"/>
          </p:cNvSpPr>
          <p:nvPr/>
        </p:nvSpPr>
        <p:spPr bwMode="auto">
          <a:xfrm>
            <a:off x="2522905" y="3815442"/>
            <a:ext cx="381000" cy="0"/>
          </a:xfrm>
          <a:prstGeom prst="line">
            <a:avLst/>
          </a:prstGeom>
          <a:noFill/>
          <a:ln w="38100">
            <a:solidFill>
              <a:schemeClr val="tx1">
                <a:lumMod val="95000"/>
                <a:lumOff val="5000"/>
              </a:schemeClr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7" name="Line 15"/>
          <p:cNvSpPr>
            <a:spLocks noChangeShapeType="1"/>
          </p:cNvSpPr>
          <p:nvPr/>
        </p:nvSpPr>
        <p:spPr bwMode="auto">
          <a:xfrm>
            <a:off x="5494705" y="3434442"/>
            <a:ext cx="381000" cy="0"/>
          </a:xfrm>
          <a:prstGeom prst="line">
            <a:avLst/>
          </a:prstGeom>
          <a:noFill/>
          <a:ln w="38100">
            <a:solidFill>
              <a:schemeClr val="tx1">
                <a:lumMod val="95000"/>
                <a:lumOff val="5000"/>
              </a:schemeClr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8" name="Line 16"/>
          <p:cNvSpPr>
            <a:spLocks noChangeShapeType="1"/>
          </p:cNvSpPr>
          <p:nvPr/>
        </p:nvSpPr>
        <p:spPr bwMode="auto">
          <a:xfrm>
            <a:off x="4123105" y="3815442"/>
            <a:ext cx="381000" cy="0"/>
          </a:xfrm>
          <a:prstGeom prst="line">
            <a:avLst/>
          </a:prstGeom>
          <a:noFill/>
          <a:ln w="38100">
            <a:solidFill>
              <a:schemeClr val="tx1">
                <a:lumMod val="95000"/>
                <a:lumOff val="5000"/>
              </a:schemeClr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9" name="Rectangle 17"/>
          <p:cNvSpPr>
            <a:spLocks noChangeArrowheads="1"/>
          </p:cNvSpPr>
          <p:nvPr/>
        </p:nvSpPr>
        <p:spPr bwMode="auto">
          <a:xfrm>
            <a:off x="9761905" y="2901042"/>
            <a:ext cx="914400" cy="11430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</a:rPr>
              <a:t>Interpret</a:t>
            </a:r>
          </a:p>
          <a:p>
            <a:pPr algn="ctr" eaLnBrk="1" hangingPunct="1"/>
            <a:r>
              <a:rPr lang="en-US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</a:rPr>
              <a:t>and</a:t>
            </a:r>
          </a:p>
          <a:p>
            <a:pPr algn="ctr" eaLnBrk="1" hangingPunct="1"/>
            <a:r>
              <a:rPr lang="en-US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</a:rPr>
              <a:t>report</a:t>
            </a:r>
          </a:p>
        </p:txBody>
      </p:sp>
      <p:sp>
        <p:nvSpPr>
          <p:cNvPr id="20" name="Line 18"/>
          <p:cNvSpPr>
            <a:spLocks noChangeShapeType="1"/>
          </p:cNvSpPr>
          <p:nvPr/>
        </p:nvSpPr>
        <p:spPr bwMode="auto">
          <a:xfrm>
            <a:off x="6866305" y="3434442"/>
            <a:ext cx="304800" cy="0"/>
          </a:xfrm>
          <a:prstGeom prst="line">
            <a:avLst/>
          </a:prstGeom>
          <a:noFill/>
          <a:ln w="38100">
            <a:solidFill>
              <a:schemeClr val="tx1">
                <a:lumMod val="95000"/>
                <a:lumOff val="5000"/>
              </a:schemeClr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1" name="Line 19"/>
          <p:cNvSpPr>
            <a:spLocks noChangeShapeType="1"/>
          </p:cNvSpPr>
          <p:nvPr/>
        </p:nvSpPr>
        <p:spPr bwMode="auto">
          <a:xfrm>
            <a:off x="8161705" y="3205842"/>
            <a:ext cx="304800" cy="0"/>
          </a:xfrm>
          <a:prstGeom prst="line">
            <a:avLst/>
          </a:prstGeom>
          <a:noFill/>
          <a:ln w="38100">
            <a:solidFill>
              <a:schemeClr val="tx1">
                <a:lumMod val="95000"/>
                <a:lumOff val="5000"/>
              </a:schemeClr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2" name="Line 20"/>
          <p:cNvSpPr>
            <a:spLocks noChangeShapeType="1"/>
          </p:cNvSpPr>
          <p:nvPr/>
        </p:nvSpPr>
        <p:spPr bwMode="auto">
          <a:xfrm>
            <a:off x="9457105" y="3205842"/>
            <a:ext cx="304800" cy="0"/>
          </a:xfrm>
          <a:prstGeom prst="line">
            <a:avLst/>
          </a:prstGeom>
          <a:noFill/>
          <a:ln w="38100">
            <a:solidFill>
              <a:schemeClr val="tx1">
                <a:lumMod val="95000"/>
                <a:lumOff val="5000"/>
              </a:schemeClr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3" name="Line 21"/>
          <p:cNvSpPr>
            <a:spLocks noChangeShapeType="1"/>
          </p:cNvSpPr>
          <p:nvPr/>
        </p:nvSpPr>
        <p:spPr bwMode="auto">
          <a:xfrm>
            <a:off x="4123105" y="3282042"/>
            <a:ext cx="381000" cy="0"/>
          </a:xfrm>
          <a:prstGeom prst="line">
            <a:avLst/>
          </a:prstGeom>
          <a:noFill/>
          <a:ln w="38100">
            <a:solidFill>
              <a:schemeClr val="tx1">
                <a:lumMod val="95000"/>
                <a:lumOff val="5000"/>
              </a:schemeClr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4" name="Line 22"/>
          <p:cNvSpPr>
            <a:spLocks noChangeShapeType="1"/>
          </p:cNvSpPr>
          <p:nvPr/>
        </p:nvSpPr>
        <p:spPr bwMode="auto">
          <a:xfrm>
            <a:off x="6332905" y="1986642"/>
            <a:ext cx="0" cy="762000"/>
          </a:xfrm>
          <a:prstGeom prst="line">
            <a:avLst/>
          </a:prstGeom>
          <a:noFill/>
          <a:ln w="38100">
            <a:solidFill>
              <a:schemeClr val="tx1">
                <a:lumMod val="95000"/>
                <a:lumOff val="5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5" name="Line 23"/>
          <p:cNvSpPr>
            <a:spLocks noChangeShapeType="1"/>
          </p:cNvSpPr>
          <p:nvPr/>
        </p:nvSpPr>
        <p:spPr bwMode="auto">
          <a:xfrm>
            <a:off x="1865179" y="1529442"/>
            <a:ext cx="8305800" cy="0"/>
          </a:xfrm>
          <a:prstGeom prst="line">
            <a:avLst/>
          </a:prstGeom>
          <a:noFill/>
          <a:ln w="38100">
            <a:solidFill>
              <a:schemeClr val="tx1">
                <a:lumMod val="95000"/>
                <a:lumOff val="5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6" name="Line 24"/>
          <p:cNvSpPr>
            <a:spLocks noChangeShapeType="1"/>
          </p:cNvSpPr>
          <p:nvPr/>
        </p:nvSpPr>
        <p:spPr bwMode="auto">
          <a:xfrm>
            <a:off x="10219105" y="1529442"/>
            <a:ext cx="0" cy="1371600"/>
          </a:xfrm>
          <a:prstGeom prst="line">
            <a:avLst/>
          </a:prstGeom>
          <a:noFill/>
          <a:ln w="38100">
            <a:solidFill>
              <a:schemeClr val="tx1">
                <a:lumMod val="95000"/>
                <a:lumOff val="5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7" name="Line 25"/>
          <p:cNvSpPr>
            <a:spLocks noChangeShapeType="1"/>
          </p:cNvSpPr>
          <p:nvPr/>
        </p:nvSpPr>
        <p:spPr bwMode="auto">
          <a:xfrm>
            <a:off x="1989505" y="4120242"/>
            <a:ext cx="0" cy="1752600"/>
          </a:xfrm>
          <a:prstGeom prst="line">
            <a:avLst/>
          </a:prstGeom>
          <a:noFill/>
          <a:ln w="38100">
            <a:solidFill>
              <a:schemeClr val="tx1">
                <a:lumMod val="95000"/>
                <a:lumOff val="5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8" name="Line 26"/>
          <p:cNvSpPr>
            <a:spLocks noChangeShapeType="1"/>
          </p:cNvSpPr>
          <p:nvPr/>
        </p:nvSpPr>
        <p:spPr bwMode="auto">
          <a:xfrm flipV="1">
            <a:off x="1989505" y="5856513"/>
            <a:ext cx="8305800" cy="0"/>
          </a:xfrm>
          <a:prstGeom prst="line">
            <a:avLst/>
          </a:prstGeom>
          <a:noFill/>
          <a:ln w="38100">
            <a:solidFill>
              <a:schemeClr val="tx1">
                <a:lumMod val="95000"/>
                <a:lumOff val="5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9" name="Line 27"/>
          <p:cNvSpPr>
            <a:spLocks noChangeShapeType="1"/>
          </p:cNvSpPr>
          <p:nvPr/>
        </p:nvSpPr>
        <p:spPr bwMode="auto">
          <a:xfrm flipV="1">
            <a:off x="10295305" y="4044042"/>
            <a:ext cx="0" cy="1828800"/>
          </a:xfrm>
          <a:prstGeom prst="line">
            <a:avLst/>
          </a:prstGeom>
          <a:noFill/>
          <a:ln w="38100">
            <a:solidFill>
              <a:schemeClr val="tx1">
                <a:lumMod val="95000"/>
                <a:lumOff val="5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0" name="Line 28"/>
          <p:cNvSpPr>
            <a:spLocks noChangeShapeType="1"/>
          </p:cNvSpPr>
          <p:nvPr/>
        </p:nvSpPr>
        <p:spPr bwMode="auto">
          <a:xfrm flipH="1">
            <a:off x="8161705" y="3739242"/>
            <a:ext cx="381000" cy="0"/>
          </a:xfrm>
          <a:prstGeom prst="line">
            <a:avLst/>
          </a:prstGeom>
          <a:noFill/>
          <a:ln w="38100">
            <a:solidFill>
              <a:schemeClr val="tx1">
                <a:lumMod val="95000"/>
                <a:lumOff val="5000"/>
              </a:schemeClr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1" name="Line 29"/>
          <p:cNvSpPr>
            <a:spLocks noChangeShapeType="1"/>
          </p:cNvSpPr>
          <p:nvPr/>
        </p:nvSpPr>
        <p:spPr bwMode="auto">
          <a:xfrm flipH="1">
            <a:off x="9380905" y="3739242"/>
            <a:ext cx="381000" cy="0"/>
          </a:xfrm>
          <a:prstGeom prst="line">
            <a:avLst/>
          </a:prstGeom>
          <a:noFill/>
          <a:ln w="38100">
            <a:solidFill>
              <a:schemeClr val="tx1">
                <a:lumMod val="95000"/>
                <a:lumOff val="5000"/>
              </a:schemeClr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2" name="Oval 30"/>
          <p:cNvSpPr>
            <a:spLocks noChangeArrowheads="1"/>
          </p:cNvSpPr>
          <p:nvPr/>
        </p:nvSpPr>
        <p:spPr bwMode="auto">
          <a:xfrm>
            <a:off x="5875705" y="1377042"/>
            <a:ext cx="381000" cy="381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b="1">
                <a:solidFill>
                  <a:schemeClr val="tx1">
                    <a:lumMod val="85000"/>
                    <a:lumOff val="15000"/>
                  </a:schemeClr>
                </a:solidFill>
              </a:rPr>
              <a:t>FF</a:t>
            </a:r>
          </a:p>
        </p:txBody>
      </p:sp>
      <p:sp>
        <p:nvSpPr>
          <p:cNvPr id="33" name="Oval 31"/>
          <p:cNvSpPr>
            <a:spLocks noChangeArrowheads="1"/>
          </p:cNvSpPr>
          <p:nvPr/>
        </p:nvSpPr>
        <p:spPr bwMode="auto">
          <a:xfrm>
            <a:off x="5875705" y="5644242"/>
            <a:ext cx="381000" cy="381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b="1">
                <a:solidFill>
                  <a:schemeClr val="tx1">
                    <a:lumMod val="85000"/>
                    <a:lumOff val="15000"/>
                  </a:schemeClr>
                </a:solidFill>
              </a:rPr>
              <a:t>F</a:t>
            </a:r>
          </a:p>
        </p:txBody>
      </p:sp>
      <p:sp>
        <p:nvSpPr>
          <p:cNvPr id="34" name="Oval 32"/>
          <p:cNvSpPr>
            <a:spLocks noChangeArrowheads="1"/>
          </p:cNvSpPr>
          <p:nvPr/>
        </p:nvSpPr>
        <p:spPr bwMode="auto">
          <a:xfrm>
            <a:off x="8161705" y="3891642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b="1">
                <a:solidFill>
                  <a:schemeClr val="tx1">
                    <a:lumMod val="85000"/>
                    <a:lumOff val="15000"/>
                  </a:schemeClr>
                </a:solidFill>
              </a:rPr>
              <a:t>F</a:t>
            </a:r>
          </a:p>
        </p:txBody>
      </p:sp>
      <p:sp>
        <p:nvSpPr>
          <p:cNvPr id="35" name="Oval 33"/>
          <p:cNvSpPr>
            <a:spLocks noChangeArrowheads="1"/>
          </p:cNvSpPr>
          <p:nvPr/>
        </p:nvSpPr>
        <p:spPr bwMode="auto">
          <a:xfrm>
            <a:off x="9457105" y="3891642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b="1">
                <a:solidFill>
                  <a:schemeClr val="tx1">
                    <a:lumMod val="85000"/>
                    <a:lumOff val="15000"/>
                  </a:schemeClr>
                </a:solidFill>
              </a:rPr>
              <a:t>F</a:t>
            </a:r>
          </a:p>
        </p:txBody>
      </p:sp>
      <p:sp>
        <p:nvSpPr>
          <p:cNvPr id="36" name="Line 34"/>
          <p:cNvSpPr>
            <a:spLocks noChangeShapeType="1"/>
          </p:cNvSpPr>
          <p:nvPr/>
        </p:nvSpPr>
        <p:spPr bwMode="auto">
          <a:xfrm>
            <a:off x="8847505" y="1986642"/>
            <a:ext cx="0" cy="685800"/>
          </a:xfrm>
          <a:prstGeom prst="line">
            <a:avLst/>
          </a:prstGeom>
          <a:noFill/>
          <a:ln w="38100">
            <a:solidFill>
              <a:schemeClr val="tx1">
                <a:lumMod val="95000"/>
                <a:lumOff val="5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7" name="Line 35"/>
          <p:cNvSpPr>
            <a:spLocks noChangeShapeType="1"/>
          </p:cNvSpPr>
          <p:nvPr/>
        </p:nvSpPr>
        <p:spPr bwMode="auto">
          <a:xfrm>
            <a:off x="1913305" y="1529442"/>
            <a:ext cx="0" cy="1447800"/>
          </a:xfrm>
          <a:prstGeom prst="line">
            <a:avLst/>
          </a:prstGeom>
          <a:noFill/>
          <a:ln w="38100">
            <a:solidFill>
              <a:schemeClr val="tx1">
                <a:lumMod val="95000"/>
                <a:lumOff val="5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8" name="Line 36"/>
          <p:cNvSpPr>
            <a:spLocks noChangeShapeType="1"/>
          </p:cNvSpPr>
          <p:nvPr/>
        </p:nvSpPr>
        <p:spPr bwMode="auto">
          <a:xfrm>
            <a:off x="6332905" y="1986642"/>
            <a:ext cx="2514600" cy="0"/>
          </a:xfrm>
          <a:prstGeom prst="line">
            <a:avLst/>
          </a:prstGeom>
          <a:noFill/>
          <a:ln w="38100">
            <a:solidFill>
              <a:schemeClr val="tx1">
                <a:lumMod val="95000"/>
                <a:lumOff val="5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9" name="Oval 37"/>
          <p:cNvSpPr>
            <a:spLocks noChangeArrowheads="1"/>
          </p:cNvSpPr>
          <p:nvPr/>
        </p:nvSpPr>
        <p:spPr bwMode="auto">
          <a:xfrm>
            <a:off x="7323505" y="1834242"/>
            <a:ext cx="381000" cy="381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b="1">
                <a:solidFill>
                  <a:schemeClr val="tx1">
                    <a:lumMod val="85000"/>
                    <a:lumOff val="15000"/>
                  </a:schemeClr>
                </a:solidFill>
              </a:rPr>
              <a:t>FF</a:t>
            </a:r>
          </a:p>
        </p:txBody>
      </p:sp>
      <p:sp>
        <p:nvSpPr>
          <p:cNvPr id="40" name="Rectangle 38"/>
          <p:cNvSpPr>
            <a:spLocks noChangeArrowheads="1"/>
          </p:cNvSpPr>
          <p:nvPr/>
        </p:nvSpPr>
        <p:spPr bwMode="auto">
          <a:xfrm>
            <a:off x="1989505" y="4348842"/>
            <a:ext cx="457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 sz="2000" b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</a:rPr>
              <a:t>I</a:t>
            </a:r>
          </a:p>
        </p:txBody>
      </p:sp>
      <p:sp>
        <p:nvSpPr>
          <p:cNvPr id="41" name="Rectangle 39"/>
          <p:cNvSpPr>
            <a:spLocks noChangeArrowheads="1"/>
          </p:cNvSpPr>
          <p:nvPr/>
        </p:nvSpPr>
        <p:spPr bwMode="auto">
          <a:xfrm>
            <a:off x="3894505" y="5415642"/>
            <a:ext cx="457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 sz="2000" b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</a:rPr>
              <a:t>II</a:t>
            </a:r>
          </a:p>
        </p:txBody>
      </p:sp>
      <p:sp>
        <p:nvSpPr>
          <p:cNvPr id="42" name="Rectangle 40"/>
          <p:cNvSpPr>
            <a:spLocks noChangeArrowheads="1"/>
          </p:cNvSpPr>
          <p:nvPr/>
        </p:nvSpPr>
        <p:spPr bwMode="auto">
          <a:xfrm>
            <a:off x="4732705" y="4348842"/>
            <a:ext cx="5334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 sz="2000" b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</a:rPr>
              <a:t>III</a:t>
            </a:r>
          </a:p>
        </p:txBody>
      </p:sp>
      <p:sp>
        <p:nvSpPr>
          <p:cNvPr id="43" name="Rectangle 41"/>
          <p:cNvSpPr>
            <a:spLocks noChangeArrowheads="1"/>
          </p:cNvSpPr>
          <p:nvPr/>
        </p:nvSpPr>
        <p:spPr bwMode="auto">
          <a:xfrm>
            <a:off x="6104305" y="4348842"/>
            <a:ext cx="5334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 sz="2000" b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</a:rPr>
              <a:t>IV</a:t>
            </a:r>
          </a:p>
        </p:txBody>
      </p:sp>
      <p:sp>
        <p:nvSpPr>
          <p:cNvPr id="44" name="Rectangle 43"/>
          <p:cNvSpPr>
            <a:spLocks noChangeArrowheads="1"/>
          </p:cNvSpPr>
          <p:nvPr/>
        </p:nvSpPr>
        <p:spPr bwMode="auto">
          <a:xfrm>
            <a:off x="7399705" y="4348842"/>
            <a:ext cx="5334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</a:rPr>
              <a:t>V</a:t>
            </a:r>
          </a:p>
        </p:txBody>
      </p:sp>
      <p:sp>
        <p:nvSpPr>
          <p:cNvPr id="45" name="Rectangle 44"/>
          <p:cNvSpPr>
            <a:spLocks noChangeArrowheads="1"/>
          </p:cNvSpPr>
          <p:nvPr/>
        </p:nvSpPr>
        <p:spPr bwMode="auto">
          <a:xfrm>
            <a:off x="8618905" y="4425042"/>
            <a:ext cx="5334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</a:rPr>
              <a:t>VI</a:t>
            </a:r>
          </a:p>
        </p:txBody>
      </p:sp>
      <p:sp>
        <p:nvSpPr>
          <p:cNvPr id="46" name="Rectangle 45"/>
          <p:cNvSpPr>
            <a:spLocks noChangeArrowheads="1"/>
          </p:cNvSpPr>
          <p:nvPr/>
        </p:nvSpPr>
        <p:spPr bwMode="auto">
          <a:xfrm>
            <a:off x="9685705" y="4425042"/>
            <a:ext cx="685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 sz="2000" b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</a:rPr>
              <a:t>VII</a:t>
            </a:r>
          </a:p>
        </p:txBody>
      </p:sp>
      <p:sp>
        <p:nvSpPr>
          <p:cNvPr id="47" name="Oval 46"/>
          <p:cNvSpPr>
            <a:spLocks noChangeArrowheads="1"/>
          </p:cNvSpPr>
          <p:nvPr/>
        </p:nvSpPr>
        <p:spPr bwMode="auto">
          <a:xfrm>
            <a:off x="7171105" y="6019797"/>
            <a:ext cx="381000" cy="381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</a:t>
            </a:r>
          </a:p>
        </p:txBody>
      </p:sp>
      <p:sp>
        <p:nvSpPr>
          <p:cNvPr id="48" name="Oval 47"/>
          <p:cNvSpPr>
            <a:spLocks noChangeArrowheads="1"/>
          </p:cNvSpPr>
          <p:nvPr/>
        </p:nvSpPr>
        <p:spPr bwMode="auto">
          <a:xfrm>
            <a:off x="7171105" y="6444340"/>
            <a:ext cx="381000" cy="381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FF</a:t>
            </a:r>
          </a:p>
        </p:txBody>
      </p:sp>
      <p:sp>
        <p:nvSpPr>
          <p:cNvPr id="49" name="Rectangle 48"/>
          <p:cNvSpPr>
            <a:spLocks noChangeArrowheads="1"/>
          </p:cNvSpPr>
          <p:nvPr/>
        </p:nvSpPr>
        <p:spPr bwMode="auto">
          <a:xfrm>
            <a:off x="7628305" y="5970812"/>
            <a:ext cx="20574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</a:rPr>
              <a:t>Feed Back</a:t>
            </a:r>
          </a:p>
        </p:txBody>
      </p:sp>
      <p:sp>
        <p:nvSpPr>
          <p:cNvPr id="50" name="Line 49"/>
          <p:cNvSpPr>
            <a:spLocks noChangeShapeType="1"/>
          </p:cNvSpPr>
          <p:nvPr/>
        </p:nvSpPr>
        <p:spPr bwMode="auto">
          <a:xfrm>
            <a:off x="7726279" y="6166755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1" name="Line 50"/>
          <p:cNvSpPr>
            <a:spLocks noChangeShapeType="1"/>
          </p:cNvSpPr>
          <p:nvPr/>
        </p:nvSpPr>
        <p:spPr bwMode="auto">
          <a:xfrm>
            <a:off x="7628305" y="6711042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2" name="Rectangle 51"/>
          <p:cNvSpPr>
            <a:spLocks noChangeArrowheads="1"/>
          </p:cNvSpPr>
          <p:nvPr/>
        </p:nvSpPr>
        <p:spPr bwMode="auto">
          <a:xfrm>
            <a:off x="7856905" y="6433455"/>
            <a:ext cx="20574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</a:rPr>
              <a:t>Feed Forward</a:t>
            </a:r>
          </a:p>
        </p:txBody>
      </p:sp>
      <p:sp>
        <p:nvSpPr>
          <p:cNvPr id="53" name="Rectangle 52"/>
          <p:cNvSpPr>
            <a:spLocks noChangeArrowheads="1"/>
          </p:cNvSpPr>
          <p:nvPr/>
        </p:nvSpPr>
        <p:spPr bwMode="auto">
          <a:xfrm>
            <a:off x="2294305" y="1605642"/>
            <a:ext cx="25908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 b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</a:rPr>
              <a:t>Review the literature</a:t>
            </a:r>
          </a:p>
        </p:txBody>
      </p:sp>
    </p:spTree>
    <p:extLst>
      <p:ext uri="{BB962C8B-B14F-4D97-AF65-F5344CB8AC3E}">
        <p14:creationId xmlns:p14="http://schemas.microsoft.com/office/powerpoint/2010/main" val="31503097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608E2EDF-A84E-6469-C02C-45F628C0FC88}"/>
              </a:ext>
            </a:extLst>
          </p:cNvPr>
          <p:cNvSpPr txBox="1"/>
          <p:nvPr/>
        </p:nvSpPr>
        <p:spPr>
          <a:xfrm>
            <a:off x="2514601" y="173198"/>
            <a:ext cx="65305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</a:t>
            </a:r>
            <a:r>
              <a:rPr lang="en-I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IN" sz="3000" b="1" i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Dept. of ISE, VVIET MYSORE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048000" y="2967335"/>
            <a:ext cx="6096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36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DEFINING</a:t>
            </a:r>
            <a:endParaRPr lang="en-US" sz="3600" b="1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defRPr/>
            </a:pPr>
            <a:r>
              <a:rPr lang="en-US" sz="3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THE </a:t>
            </a:r>
          </a:p>
          <a:p>
            <a:pPr algn="ctr">
              <a:defRPr/>
            </a:pPr>
            <a:r>
              <a:rPr lang="en-US" sz="3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 PROBLEM</a:t>
            </a:r>
          </a:p>
        </p:txBody>
      </p:sp>
      <p:sp>
        <p:nvSpPr>
          <p:cNvPr id="5" name="Oval 5"/>
          <p:cNvSpPr>
            <a:spLocks noChangeArrowheads="1"/>
          </p:cNvSpPr>
          <p:nvPr/>
        </p:nvSpPr>
        <p:spPr bwMode="auto">
          <a:xfrm>
            <a:off x="5129465" y="1720516"/>
            <a:ext cx="1600200" cy="609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b="1" dirty="0">
                <a:solidFill>
                  <a:srgbClr val="57232F"/>
                </a:solidFill>
              </a:rPr>
              <a:t>STEP-1</a:t>
            </a:r>
          </a:p>
        </p:txBody>
      </p:sp>
    </p:spTree>
    <p:extLst>
      <p:ext uri="{BB962C8B-B14F-4D97-AF65-F5344CB8AC3E}">
        <p14:creationId xmlns:p14="http://schemas.microsoft.com/office/powerpoint/2010/main" val="22566451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608E2EDF-A84E-6469-C02C-45F628C0FC88}"/>
              </a:ext>
            </a:extLst>
          </p:cNvPr>
          <p:cNvSpPr txBox="1"/>
          <p:nvPr/>
        </p:nvSpPr>
        <p:spPr>
          <a:xfrm>
            <a:off x="2514601" y="173198"/>
            <a:ext cx="65305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</a:t>
            </a:r>
            <a:r>
              <a:rPr lang="en-I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IN" sz="3000" b="1" i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Dept. of ISE, VVIET MYSORE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/>
        </p:nvSpPr>
        <p:spPr bwMode="auto">
          <a:xfrm>
            <a:off x="457200" y="1600200"/>
            <a:ext cx="11141242" cy="453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just">
              <a:lnSpc>
                <a:spcPct val="150000"/>
              </a:lnSpc>
              <a:defRPr/>
            </a:pPr>
            <a:endParaRPr lang="en-US" sz="2800" dirty="0">
              <a:latin typeface="Times New Roman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38843" y="1194245"/>
            <a:ext cx="11141242" cy="246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a research problem?</a:t>
            </a:r>
          </a:p>
          <a:p>
            <a:pPr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term ‘problem’ means a question or issue to be examined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Research Problem refers to some difficulty 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 need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a researcher experiences in the context of either theoretical or practical situation and wants to obtain a solution for the same.</a:t>
            </a:r>
          </a:p>
          <a:p>
            <a:pPr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5778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608E2EDF-A84E-6469-C02C-45F628C0FC88}"/>
              </a:ext>
            </a:extLst>
          </p:cNvPr>
          <p:cNvSpPr txBox="1"/>
          <p:nvPr/>
        </p:nvSpPr>
        <p:spPr>
          <a:xfrm>
            <a:off x="2514601" y="173198"/>
            <a:ext cx="65305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</a:t>
            </a:r>
            <a:r>
              <a:rPr lang="en-I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IN" sz="3000" b="1" i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Dept. of ISE, VVIET MYSORE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-32081" y="1565795"/>
            <a:ext cx="823761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DO WE KNOW WE HAVE A RESEARCH PROBLEM?</a:t>
            </a:r>
          </a:p>
        </p:txBody>
      </p:sp>
      <p:sp>
        <p:nvSpPr>
          <p:cNvPr id="4" name="Rectangle 3"/>
          <p:cNvSpPr/>
          <p:nvPr/>
        </p:nvSpPr>
        <p:spPr>
          <a:xfrm>
            <a:off x="906382" y="2136339"/>
            <a:ext cx="10282987" cy="3268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Customer complaints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Conversation with company employees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Observation of inappropriate behaviour or 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conditions in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firm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Deviation from the business plan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Success of the firm’s competitor’s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Relevant reading of published material (trends, 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regulations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Company records and reports.</a:t>
            </a:r>
          </a:p>
        </p:txBody>
      </p:sp>
    </p:spTree>
    <p:extLst>
      <p:ext uri="{BB962C8B-B14F-4D97-AF65-F5344CB8AC3E}">
        <p14:creationId xmlns:p14="http://schemas.microsoft.com/office/powerpoint/2010/main" val="18894635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608E2EDF-A84E-6469-C02C-45F628C0FC88}"/>
              </a:ext>
            </a:extLst>
          </p:cNvPr>
          <p:cNvSpPr txBox="1"/>
          <p:nvPr/>
        </p:nvSpPr>
        <p:spPr>
          <a:xfrm>
            <a:off x="2514601" y="173198"/>
            <a:ext cx="65305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</a:t>
            </a:r>
            <a:r>
              <a:rPr lang="en-I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IN" sz="3000" b="1" i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Dept. of ISE, VVIET MYSORE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97831" y="1276492"/>
            <a:ext cx="10587789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first step in the research process – definition of the problem involves two activities: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Identification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 Selection of the Problem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Formulation of the Problem</a:t>
            </a:r>
          </a:p>
        </p:txBody>
      </p:sp>
    </p:spTree>
    <p:extLst>
      <p:ext uri="{BB962C8B-B14F-4D97-AF65-F5344CB8AC3E}">
        <p14:creationId xmlns:p14="http://schemas.microsoft.com/office/powerpoint/2010/main" val="16615488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608E2EDF-A84E-6469-C02C-45F628C0FC88}"/>
              </a:ext>
            </a:extLst>
          </p:cNvPr>
          <p:cNvSpPr txBox="1"/>
          <p:nvPr/>
        </p:nvSpPr>
        <p:spPr>
          <a:xfrm>
            <a:off x="2514601" y="173198"/>
            <a:ext cx="65305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</a:t>
            </a:r>
            <a:r>
              <a:rPr lang="en-I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IN" sz="3000" b="1" i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Dept. of ISE, VVIET MYSORE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01581" y="1252427"/>
            <a:ext cx="10732169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IDENTIFICATION / SELECTION OF THE RESEARCH PROBLEM</a:t>
            </a:r>
          </a:p>
          <a:p>
            <a:pPr>
              <a:lnSpc>
                <a:spcPct val="150000"/>
              </a:lnSpc>
            </a:pP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step involves identification of a few problems and selection of one out of them, after evaluating the alternatives against certain selection criteria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endParaRPr lang="en-US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SOURCES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PROBLEMS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Reading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Academic Experience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Daily Experience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Exposure to Field Situations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Consultations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5922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608E2EDF-A84E-6469-C02C-45F628C0FC88}"/>
              </a:ext>
            </a:extLst>
          </p:cNvPr>
          <p:cNvSpPr txBox="1"/>
          <p:nvPr/>
        </p:nvSpPr>
        <p:spPr>
          <a:xfrm>
            <a:off x="2514601" y="173198"/>
            <a:ext cx="65305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</a:t>
            </a:r>
            <a:r>
              <a:rPr lang="en-I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IN" sz="3000" b="1" i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Dept. of ISE, VVIET MYSORE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25642" y="1582341"/>
            <a:ext cx="10948737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 / FORMULATION OF THE RESEARCH PROBLEM</a:t>
            </a:r>
          </a:p>
          <a:p>
            <a:pPr>
              <a:lnSpc>
                <a:spcPct val="150000"/>
              </a:lnSpc>
            </a:pPr>
            <a:endParaRPr lang="en-IN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Formulation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the process of refining the research ideas into research questions and objectives.</a:t>
            </a:r>
          </a:p>
          <a:p>
            <a:pPr algn="just">
              <a:lnSpc>
                <a:spcPct val="150000"/>
              </a:lnSpc>
            </a:pPr>
            <a:endParaRPr lang="en-IN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Formulation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means translating and transforming the selected research problem/topic/idea into a scientifically researchable question. It is concerned with specifying exactly what the research problem is.</a:t>
            </a:r>
          </a:p>
          <a:p>
            <a:pPr>
              <a:lnSpc>
                <a:spcPct val="150000"/>
              </a:lnSpc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8999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608E2EDF-A84E-6469-C02C-45F628C0FC88}"/>
              </a:ext>
            </a:extLst>
          </p:cNvPr>
          <p:cNvSpPr txBox="1"/>
          <p:nvPr/>
        </p:nvSpPr>
        <p:spPr>
          <a:xfrm>
            <a:off x="2514601" y="173198"/>
            <a:ext cx="65305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</a:t>
            </a:r>
            <a:r>
              <a:rPr lang="en-I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IN" sz="3000" b="1" i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Dept. of ISE, VVIET MYSORE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49705" y="1167934"/>
            <a:ext cx="11044990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en-IN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CRITERIA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A GOOD RESEARCH </a:t>
            </a:r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</a:p>
          <a:p>
            <a:pPr>
              <a:lnSpc>
                <a:spcPct val="150000"/>
              </a:lnSpc>
            </a:pP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Clear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Unambiguous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Empirical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Verifiable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Interesting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Novel and Original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Availability of Guidance</a:t>
            </a:r>
          </a:p>
        </p:txBody>
      </p:sp>
    </p:spTree>
    <p:extLst>
      <p:ext uri="{BB962C8B-B14F-4D97-AF65-F5344CB8AC3E}">
        <p14:creationId xmlns:p14="http://schemas.microsoft.com/office/powerpoint/2010/main" val="13280249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608E2EDF-A84E-6469-C02C-45F628C0FC88}"/>
              </a:ext>
            </a:extLst>
          </p:cNvPr>
          <p:cNvSpPr txBox="1"/>
          <p:nvPr/>
        </p:nvSpPr>
        <p:spPr>
          <a:xfrm>
            <a:off x="2514601" y="173198"/>
            <a:ext cx="65305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</a:t>
            </a:r>
            <a:r>
              <a:rPr lang="en-I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IN" sz="3000" b="1" i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Dept. of ISE, VVIET MYSORE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49705" y="1246006"/>
            <a:ext cx="10972800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ESTABLISHMENT OF RESEARCH OBJECTIVES</a:t>
            </a:r>
          </a:p>
          <a:p>
            <a:pPr algn="just">
              <a:lnSpc>
                <a:spcPct val="150000"/>
              </a:lnSpc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Objectives should be clear and achievable, as they directly assist in answering the research problem.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objectives may be specified in the form of either statements or questions.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Generally, they are written as statements, using the word “to”. (For example, ‘to discover …’, ‘to determine …’, ‘to establish …’, etc. )  </a:t>
            </a:r>
          </a:p>
        </p:txBody>
      </p:sp>
    </p:spTree>
    <p:extLst>
      <p:ext uri="{BB962C8B-B14F-4D97-AF65-F5344CB8AC3E}">
        <p14:creationId xmlns:p14="http://schemas.microsoft.com/office/powerpoint/2010/main" val="34423720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608E2EDF-A84E-6469-C02C-45F628C0FC88}"/>
              </a:ext>
            </a:extLst>
          </p:cNvPr>
          <p:cNvSpPr txBox="1"/>
          <p:nvPr/>
        </p:nvSpPr>
        <p:spPr>
          <a:xfrm>
            <a:off x="2514601" y="173198"/>
            <a:ext cx="65305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</a:t>
            </a:r>
            <a:r>
              <a:rPr lang="en-I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IN" sz="3000" b="1" i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Dept. of ISE, VVIET MYSORE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97832" y="1402691"/>
            <a:ext cx="10876547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</a:t>
            </a:r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Review</a:t>
            </a:r>
          </a:p>
          <a:p>
            <a:pPr algn="just">
              <a:lnSpc>
                <a:spcPct val="150000"/>
              </a:lnSpc>
            </a:pPr>
            <a:endParaRPr lang="en-IN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is the documentation of a comprehensive review of the published and unpublished work from secondary sources of data in the areas of specific interest to the researcher.</a:t>
            </a:r>
          </a:p>
          <a:p>
            <a:pPr algn="just">
              <a:lnSpc>
                <a:spcPct val="150000"/>
              </a:lnSpc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main aim is to find out problems that are already investigated and those that need further investigation.</a:t>
            </a:r>
          </a:p>
        </p:txBody>
      </p:sp>
    </p:spTree>
    <p:extLst>
      <p:ext uri="{BB962C8B-B14F-4D97-AF65-F5344CB8AC3E}">
        <p14:creationId xmlns:p14="http://schemas.microsoft.com/office/powerpoint/2010/main" val="7972523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608E2EDF-A84E-6469-C02C-45F628C0FC88}"/>
              </a:ext>
            </a:extLst>
          </p:cNvPr>
          <p:cNvSpPr txBox="1"/>
          <p:nvPr/>
        </p:nvSpPr>
        <p:spPr>
          <a:xfrm>
            <a:off x="2514601" y="173198"/>
            <a:ext cx="65305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</a:t>
            </a:r>
            <a:r>
              <a:rPr lang="en-I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IN" sz="3000" b="1" i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Dept. of ISE, VVIET MYSORE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25642" y="1228364"/>
            <a:ext cx="10852484" cy="51244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to conduct the Literature Survey?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the relevant sources.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Extract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Record relevant information.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Write-up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Literature Review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Sources Of Literature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Books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Journals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Electronic Databases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Bibliographic Databases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 Databases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Govt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and Industry Reports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Dissertations / Thesis</a:t>
            </a:r>
          </a:p>
          <a:p>
            <a:pPr>
              <a:lnSpc>
                <a:spcPct val="150000"/>
              </a:lnSpc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3700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608E2EDF-A84E-6469-C02C-45F628C0FC88}"/>
              </a:ext>
            </a:extLst>
          </p:cNvPr>
          <p:cNvSpPr txBox="1"/>
          <p:nvPr/>
        </p:nvSpPr>
        <p:spPr>
          <a:xfrm>
            <a:off x="2514601" y="173198"/>
            <a:ext cx="65305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</a:t>
            </a:r>
            <a:r>
              <a:rPr lang="en-I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IN" sz="3000" b="1" i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Dept. of ISE, VVIET MYSORE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49705" y="1257764"/>
            <a:ext cx="10959909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of data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the data have been collected, the researcher turns to the task of analyzing them. 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of data requires a number of closely related operations such as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establishment of categories, the application of these categories to raw data through coding, tabulation and then drawing statistical inferences. </a:t>
            </a:r>
            <a:endParaRPr lang="en-US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unwieldy data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should necessarily be condensed into 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few manageable groups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tables for further analysis.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Thus, researcher should classify the raw data into some purposeful and usable categories. 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64394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608E2EDF-A84E-6469-C02C-45F628C0FC88}"/>
              </a:ext>
            </a:extLst>
          </p:cNvPr>
          <p:cNvSpPr txBox="1"/>
          <p:nvPr/>
        </p:nvSpPr>
        <p:spPr>
          <a:xfrm>
            <a:off x="2514601" y="173198"/>
            <a:ext cx="65305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</a:t>
            </a:r>
            <a:r>
              <a:rPr lang="en-I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IN" sz="3000" b="1" i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Dept. of ISE, VVIET MYSORE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25379" y="1225689"/>
            <a:ext cx="11141241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Hypothesis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Testing: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hypothesis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statement or assumption that a researcher makes about a population parameter (e.g.,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"students who attend more classes score higher in exams").</a:t>
            </a:r>
          </a:p>
          <a:p>
            <a:pPr algn="just"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Hypothesis testing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involves analyzing data (facts) to determine if there is enough evidence to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reject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this assumption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50000"/>
              </a:lnSpc>
            </a:pPr>
            <a:endParaRPr lang="en-US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Do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facts support the hypothesis or contradict it?: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collecting data, the researcher compares the facts (data) with the hypothesis.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data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expected outcome of the hypothesis, the hypothesis may be supported.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data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deviates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significantly from what was expected, the hypothesis may be rejected.</a:t>
            </a:r>
          </a:p>
          <a:p>
            <a:pPr algn="just">
              <a:lnSpc>
                <a:spcPct val="150000"/>
              </a:lnSpc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1045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608E2EDF-A84E-6469-C02C-45F628C0FC88}"/>
              </a:ext>
            </a:extLst>
          </p:cNvPr>
          <p:cNvSpPr txBox="1"/>
          <p:nvPr/>
        </p:nvSpPr>
        <p:spPr>
          <a:xfrm>
            <a:off x="2514601" y="173198"/>
            <a:ext cx="65305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</a:t>
            </a:r>
            <a:r>
              <a:rPr lang="en-I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IN" sz="3000" b="1" i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Dept. of ISE, VVIET MYSORE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49300" y="1451741"/>
            <a:ext cx="1084580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Preparation of the report or the thesis: </a:t>
            </a:r>
            <a:endParaRPr lang="en-US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Finally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 researcher has to prepare the report of what has been done by him.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Writing of report must be done with great care keeping in view the following: </a:t>
            </a:r>
            <a:endParaRPr lang="en-US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layout of the report should be as follows: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the preliminary pages; (ii) the main text, and </a:t>
            </a:r>
            <a:endParaRPr lang="en-US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(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iii) the end matter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preliminary pages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report should carry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followed by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acknowledgements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foreword. Then there should be 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of contents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followed by 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 of tables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 of graphs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charts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if any, given in the report.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88076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608E2EDF-A84E-6469-C02C-45F628C0FC88}"/>
              </a:ext>
            </a:extLst>
          </p:cNvPr>
          <p:cNvSpPr txBox="1"/>
          <p:nvPr/>
        </p:nvSpPr>
        <p:spPr>
          <a:xfrm>
            <a:off x="2514601" y="173198"/>
            <a:ext cx="65305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</a:t>
            </a:r>
            <a:r>
              <a:rPr lang="en-I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IN" sz="3000" b="1" i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Dept. of ISE, VVIET MYSORE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22300" y="1305342"/>
            <a:ext cx="11023600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main text of the report should have the following parts: </a:t>
            </a:r>
            <a:endParaRPr lang="en-US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should contain a clear statement of 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of the research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explanation of the methodology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adopted in accomplishing the research. 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the study along with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various limitations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should as well be stated in this part. 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Summary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findings: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introduction there would appear a statement of findings and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recommendations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non-technical language.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findings are extensive, they should be summarized. 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74684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608E2EDF-A84E-6469-C02C-45F628C0FC88}"/>
              </a:ext>
            </a:extLst>
          </p:cNvPr>
          <p:cNvSpPr txBox="1"/>
          <p:nvPr/>
        </p:nvSpPr>
        <p:spPr>
          <a:xfrm>
            <a:off x="2514601" y="173198"/>
            <a:ext cx="65305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</a:t>
            </a:r>
            <a:r>
              <a:rPr lang="en-I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IN" sz="3000" b="1" i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Dept. of ISE, VVIET MYSORE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73100" y="1289988"/>
            <a:ext cx="10934700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report: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main body of the report should be presented in logical sequence and broken-down into readily identifiable sections. 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Towards the end of the main text, researcher should again put down the results of his research clearly and precisely. In fact, it is the final summing up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50000"/>
              </a:lnSpc>
            </a:pPr>
            <a:endParaRPr lang="en-US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At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end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the report,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appendices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should be enlisted in respect of all technical data.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Bibliography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i.e., list of books, journals, reports, etc., consulted, should also be given in the end. Index should also be given specially in a published research report.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8708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608E2EDF-A84E-6469-C02C-45F628C0FC88}"/>
              </a:ext>
            </a:extLst>
          </p:cNvPr>
          <p:cNvSpPr txBox="1"/>
          <p:nvPr/>
        </p:nvSpPr>
        <p:spPr>
          <a:xfrm>
            <a:off x="2514601" y="107884"/>
            <a:ext cx="65305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</a:t>
            </a:r>
            <a:r>
              <a:rPr lang="en-I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IN" sz="3000" b="1" i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Dept. of ISE, VVIET MYSORE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25173" y="1237734"/>
            <a:ext cx="766799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/>
              <a:t>FINDING AND SOLVING A WORTHWHILE </a:t>
            </a:r>
            <a:r>
              <a:rPr lang="en-US" sz="2400" b="1" dirty="0" smtClean="0"/>
              <a:t>PROBLEM</a:t>
            </a:r>
            <a:endParaRPr lang="en-IN" sz="2400" b="1" dirty="0"/>
          </a:p>
        </p:txBody>
      </p:sp>
      <p:sp>
        <p:nvSpPr>
          <p:cNvPr id="4" name="Rectangle 3"/>
          <p:cNvSpPr/>
          <p:nvPr/>
        </p:nvSpPr>
        <p:spPr>
          <a:xfrm>
            <a:off x="622300" y="1794639"/>
            <a:ext cx="109855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researcher may start out with the research problems stated by the Supervisor or posed by others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that are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yet to be solved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Alternately, it may involve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rethinking of a basic theory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or need to be formulated or put together from the information provided in a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group of papers suggested by the Supervisor.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scholars are faced with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task of finding an appropriate problem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on which to begin their research.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Skills needed to accomplish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such a task at the outset, while taking care of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possible implications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are critically important but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often not taught.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09114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608E2EDF-A84E-6469-C02C-45F628C0FC88}"/>
              </a:ext>
            </a:extLst>
          </p:cNvPr>
          <p:cNvSpPr txBox="1"/>
          <p:nvPr/>
        </p:nvSpPr>
        <p:spPr>
          <a:xfrm>
            <a:off x="2514601" y="173198"/>
            <a:ext cx="65305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</a:t>
            </a:r>
            <a:r>
              <a:rPr lang="en-I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IN" sz="3000" b="1" i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Dept. of ISE, VVIET MYSORE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47700" y="1099181"/>
            <a:ext cx="10883900" cy="5170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However,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initial spark is ideally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required before the process of literature survey may duly begin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Sometimes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oral presentation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somebody which is followed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asking questions or </a:t>
            </a:r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introspection(self analysis)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this perspective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reading papers do not. </a:t>
            </a:r>
            <a:endParaRPr lang="en-US" sz="22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At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 times, a development in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another subject may have produced a tool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a result which has direct implications to the researcher‘s subject and may lead to problem identification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researcher has to be convinced that the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is worthwhile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before beginning to tackle it because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efforts come when the work is worth doing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the problem and/or solution has a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chance of being accepted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the research community.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10313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608E2EDF-A84E-6469-C02C-45F628C0FC88}"/>
              </a:ext>
            </a:extLst>
          </p:cNvPr>
          <p:cNvSpPr txBox="1"/>
          <p:nvPr/>
        </p:nvSpPr>
        <p:spPr>
          <a:xfrm>
            <a:off x="2514601" y="173198"/>
            <a:ext cx="65305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</a:t>
            </a:r>
            <a:r>
              <a:rPr lang="en-I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IN" sz="3000" b="1" i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Dept. of ISE, VVIET MYSORE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24326" y="1137281"/>
            <a:ext cx="10987313" cy="51098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all problems that one solves will be great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sometimes major advancements are made through solutions to small problems dealt with effectively.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problems are universally considered hard and open,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have deep implications and connections to different concepts. </a:t>
            </a:r>
            <a:endParaRPr 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reality is that most researchers in their lifetime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 not get into such problems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However, hard problems get solved only because people tackle them</a:t>
            </a:r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question a researcher has to grapple with whether the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investment is worth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given that the likely outcome is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negative.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ven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case of failure to solve the intended hard problem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there may be partial/side results that serve the immediate need of producing some results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dissertation</a:t>
            </a:r>
            <a:endParaRPr lang="en-IN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3517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608E2EDF-A84E-6469-C02C-45F628C0FC88}"/>
              </a:ext>
            </a:extLst>
          </p:cNvPr>
          <p:cNvSpPr txBox="1"/>
          <p:nvPr/>
        </p:nvSpPr>
        <p:spPr>
          <a:xfrm>
            <a:off x="2514601" y="173198"/>
            <a:ext cx="65305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</a:t>
            </a:r>
            <a:r>
              <a:rPr lang="en-I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IN" sz="3000" b="1" i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Dept. of ISE, VVIET MYSORE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24326" y="1137281"/>
            <a:ext cx="10987313" cy="5170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dissertations,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especially in science and engineering, include experiments that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did not produce the expected results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but they still provide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valuable knowledge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for example, proving that a certain approach is 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effective can save others from repeating the same mistake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2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research in a dissertation can have:</a:t>
            </a:r>
          </a:p>
          <a:p>
            <a:pPr marL="358775" algn="just">
              <a:lnSpc>
                <a:spcPct val="150000"/>
              </a:lnSpc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 results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achieving the set objectives.</a:t>
            </a:r>
          </a:p>
          <a:p>
            <a:pPr marL="358775" algn="just">
              <a:lnSpc>
                <a:spcPct val="150000"/>
              </a:lnSpc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Partial success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meeting some objectives but not all.</a:t>
            </a:r>
          </a:p>
          <a:p>
            <a:pPr marL="358775" algn="just">
              <a:lnSpc>
                <a:spcPct val="150000"/>
              </a:lnSpc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Failure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objectives not met, but valuable insights and reasons documented.</a:t>
            </a:r>
          </a:p>
          <a:p>
            <a:pPr marL="358775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64247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608E2EDF-A84E-6469-C02C-45F628C0FC88}"/>
              </a:ext>
            </a:extLst>
          </p:cNvPr>
          <p:cNvSpPr txBox="1"/>
          <p:nvPr/>
        </p:nvSpPr>
        <p:spPr>
          <a:xfrm>
            <a:off x="2514601" y="173198"/>
            <a:ext cx="65305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</a:t>
            </a:r>
            <a:r>
              <a:rPr lang="en-I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IN" sz="3000" b="1" i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Dept. of ISE, VVIET MYSORE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06185" y="1018704"/>
            <a:ext cx="10907486" cy="49229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Space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Mission with Risk of Failure</a:t>
            </a:r>
          </a:p>
          <a:p>
            <a:pPr>
              <a:lnSpc>
                <a:spcPct val="200000"/>
              </a:lnSpc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Chandrayaan-2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Mission (2019)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Land a rover on the Moon’s south pole.</a:t>
            </a:r>
          </a:p>
          <a:p>
            <a:pPr>
              <a:lnSpc>
                <a:spcPct val="20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Orbiter successful, but lander 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Vikram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crashed during descent.</a:t>
            </a:r>
          </a:p>
          <a:p>
            <a:pPr>
              <a:lnSpc>
                <a:spcPct val="20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Outcome: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Orbiter continues sending valuable data.</a:t>
            </a: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Failures identified and corrected in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Chandrayaan-3 (2023)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which succeeded.</a:t>
            </a:r>
          </a:p>
          <a:p>
            <a:pPr>
              <a:lnSpc>
                <a:spcPct val="20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Point: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Even unsuccessful missions contribute important knowledge that enables future success.</a:t>
            </a:r>
          </a:p>
        </p:txBody>
      </p:sp>
    </p:spTree>
    <p:extLst>
      <p:ext uri="{BB962C8B-B14F-4D97-AF65-F5344CB8AC3E}">
        <p14:creationId xmlns:p14="http://schemas.microsoft.com/office/powerpoint/2010/main" val="19251166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608E2EDF-A84E-6469-C02C-45F628C0FC88}"/>
              </a:ext>
            </a:extLst>
          </p:cNvPr>
          <p:cNvSpPr txBox="1"/>
          <p:nvPr/>
        </p:nvSpPr>
        <p:spPr>
          <a:xfrm>
            <a:off x="2514601" y="173198"/>
            <a:ext cx="65305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</a:t>
            </a:r>
            <a:r>
              <a:rPr lang="en-I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IN" sz="3000" b="1" i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Dept. of ISE, VVIET MYSORE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46100" y="1223115"/>
            <a:ext cx="10960100" cy="51098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recommended steps to solve a research problem </a:t>
            </a:r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problem,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restate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as if it‘s your own,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visualize the problem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drawing figures, and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if something more is needed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One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must start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systematically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explore possible strategies to solve the problem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a simpler version of it while looking for patterns. </a:t>
            </a:r>
            <a:endParaRPr 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Execute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plan to see if it works, and if it does not then start over with another approach.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Having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dived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into the problem and returned to it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times, one might have a flash of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 or a new idea to solve the problem. </a:t>
            </a:r>
            <a:endParaRPr 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Looking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 and </a:t>
            </a:r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reflecting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in understanding and assimilating the strategy, and is a sort of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investment into the future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2718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608E2EDF-A84E-6469-C02C-45F628C0FC88}"/>
              </a:ext>
            </a:extLst>
          </p:cNvPr>
          <p:cNvSpPr txBox="1"/>
          <p:nvPr/>
        </p:nvSpPr>
        <p:spPr>
          <a:xfrm>
            <a:off x="2514601" y="107884"/>
            <a:ext cx="65305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</a:t>
            </a:r>
            <a:r>
              <a:rPr lang="en-I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IN" sz="3000" b="1" i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Dept. of ISE, VVIET MYSORE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52448" y="1264138"/>
            <a:ext cx="11087103" cy="49398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ETHICS IN ENGINEERING </a:t>
            </a:r>
            <a:r>
              <a:rPr lang="en-US" sz="21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RESEARCH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Ethics 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generally refers to a </a:t>
            </a: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of rules distinguishing acceptable 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unacceptable conduct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distinguishing right from </a:t>
            </a:r>
            <a:r>
              <a:rPr lang="en-US" sz="21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wrong.</a:t>
            </a:r>
            <a:endParaRPr lang="en-US" sz="21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Ethical 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principles can be used </a:t>
            </a:r>
            <a:r>
              <a:rPr lang="en-US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US" sz="21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evaluation, proposition or interpretation of laws</a:t>
            </a:r>
            <a:r>
              <a:rPr lang="en-US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Although ethics are not laws, but </a:t>
            </a: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laws often follow ethics 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because ethics are our </a:t>
            </a:r>
            <a:r>
              <a:rPr lang="en-US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shared 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values. </a:t>
            </a:r>
            <a:endParaRPr lang="en-US" sz="21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norms 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the ethical conduct of research have been there since the adoption of the </a:t>
            </a: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Nuremberg Code in 1947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sz="21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According to </a:t>
            </a:r>
            <a:r>
              <a:rPr lang="en-US" sz="21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Whitbeck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 </a:t>
            </a:r>
            <a:r>
              <a:rPr lang="en-US" sz="21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ISSUES related </a:t>
            </a: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research credit dates 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 to the establishment of the </a:t>
            </a: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British Royal Society (BRS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in the seventeenth century to </a:t>
            </a: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refine the methods and practices of modern science.</a:t>
            </a:r>
            <a:endParaRPr lang="en-IN" sz="2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0933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608E2EDF-A84E-6469-C02C-45F628C0FC88}"/>
              </a:ext>
            </a:extLst>
          </p:cNvPr>
          <p:cNvSpPr txBox="1"/>
          <p:nvPr/>
        </p:nvSpPr>
        <p:spPr>
          <a:xfrm>
            <a:off x="2514601" y="173198"/>
            <a:ext cx="65305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</a:t>
            </a:r>
            <a:r>
              <a:rPr lang="en-I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IN" sz="3000" b="1" i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Dept. of ISE, VVIET MYSORE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22514" y="1163317"/>
            <a:ext cx="10972800" cy="56784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event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altered the timing and credit issues </a:t>
            </a:r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BRS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gave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 to whoever first submitted findings for publication,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rather than trying to find out who had first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discovered.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Whitbeck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raised two simple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 significant questions to address the tricky issue of authorship in research: </a:t>
            </a:r>
            <a:endParaRPr 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	o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Who should be included as an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author</a:t>
            </a:r>
          </a:p>
          <a:p>
            <a:pPr algn="just">
              <a:lnSpc>
                <a:spcPct val="15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appropriate order of listing of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authors.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issues around individuals who may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 deeply involved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during the conduct of the research work, but may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contribute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drafting phase</a:t>
            </a:r>
            <a:endParaRPr 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ethics examines the appropriate application of research outcomes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while responsible conduct of research deals with the way the work is undertaken.</a:t>
            </a:r>
            <a:endParaRPr 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450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608E2EDF-A84E-6469-C02C-45F628C0FC88}"/>
              </a:ext>
            </a:extLst>
          </p:cNvPr>
          <p:cNvSpPr txBox="1"/>
          <p:nvPr/>
        </p:nvSpPr>
        <p:spPr>
          <a:xfrm>
            <a:off x="2514601" y="173198"/>
            <a:ext cx="65305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</a:t>
            </a:r>
            <a:r>
              <a:rPr lang="en-I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IN" sz="3000" b="1" i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Dept. of ISE, VVIET MYSORE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79909" y="1301232"/>
            <a:ext cx="10841465" cy="41088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ETHICS IN ENGINEERING RESEARCH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PRACTICE</a:t>
            </a:r>
          </a:p>
          <a:p>
            <a:pPr algn="just">
              <a:lnSpc>
                <a:spcPct val="150000"/>
              </a:lnSpc>
            </a:pPr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How ethical principles are applied during the actual process of conducting research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Technological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developments raise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whole range of ethical concerns such as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privacy issues and data related to surveillance systems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so engineering researchers need to make ethical decisions and are answerable for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their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as outcomes. </a:t>
            </a:r>
            <a:endParaRPr 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reason that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ethics matter in data used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engineering research is usually because there is impact on humans. Certain practices may be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acceptable / unacceptability.</a:t>
            </a:r>
            <a:endParaRPr lang="en-IN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9701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608E2EDF-A84E-6469-C02C-45F628C0FC88}"/>
              </a:ext>
            </a:extLst>
          </p:cNvPr>
          <p:cNvSpPr txBox="1"/>
          <p:nvPr/>
        </p:nvSpPr>
        <p:spPr>
          <a:xfrm>
            <a:off x="2514601" y="173198"/>
            <a:ext cx="65305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</a:t>
            </a:r>
            <a:r>
              <a:rPr lang="en-I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IN" sz="3000" b="1" i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Dept. of ISE, VVIET MYSORE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73768" y="1390925"/>
            <a:ext cx="10948737" cy="50013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have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unprecedented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access to data today, and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unprecedented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options for analysis of these data and consequences in engineering research related to such data. Are there things that are possible to do with this data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that we agree we should not </a:t>
            </a:r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do?</a:t>
            </a: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 ethics gives us the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rule book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tells us, how to decide what is okay to do and what is not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2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Researchers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 many choices that matter from an ethical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perspective</a:t>
            </a:r>
          </a:p>
          <a:p>
            <a:pPr marL="80010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setting the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ethically right requirements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the very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outset</a:t>
            </a:r>
          </a:p>
          <a:p>
            <a:pPr marL="80010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During the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</a:t>
            </a:r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process</a:t>
            </a:r>
          </a:p>
          <a:p>
            <a:pPr marL="80010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ifferent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alternatives fulfilling similar functions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2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37573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608E2EDF-A84E-6469-C02C-45F628C0FC88}"/>
              </a:ext>
            </a:extLst>
          </p:cNvPr>
          <p:cNvSpPr txBox="1"/>
          <p:nvPr/>
        </p:nvSpPr>
        <p:spPr>
          <a:xfrm>
            <a:off x="2514601" y="173198"/>
            <a:ext cx="65305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</a:t>
            </a:r>
            <a:r>
              <a:rPr lang="en-I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IN" sz="3000" b="1" i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Dept. of ISE, VVIET MYSORE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65414" y="1401552"/>
            <a:ext cx="10564586" cy="20628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outcomes often have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unintended and undesirable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side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effects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possible, the designs should be made inherently safe such that they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avoid dangers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or come with safety factors, and multiple independent safety barriers, or </a:t>
            </a:r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if possible a supervisory mechanism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take control if the primary process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fails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79524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608E2EDF-A84E-6469-C02C-45F628C0FC88}"/>
              </a:ext>
            </a:extLst>
          </p:cNvPr>
          <p:cNvSpPr txBox="1"/>
          <p:nvPr/>
        </p:nvSpPr>
        <p:spPr>
          <a:xfrm>
            <a:off x="2514601" y="173198"/>
            <a:ext cx="65305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</a:t>
            </a:r>
            <a:r>
              <a:rPr lang="en-I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IN" sz="3000" b="1" i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Dept. of ISE, VVIET MYSORE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04157" y="1350805"/>
            <a:ext cx="10989129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MISCONDUCT </a:t>
            </a:r>
            <a:endParaRPr lang="en-US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Misconduct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refers to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unethical, improper, or unacceptable behavior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goes against established rules, standards, or guidelines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IN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TYPES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RESEARCH MISCONDUCT </a:t>
            </a:r>
            <a:endParaRPr lang="en-IN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Fabrication</a:t>
            </a: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Making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 data or results that never occurred.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Creating false data for an experiment and reporting it as real</a:t>
            </a: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Falsification</a:t>
            </a: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Manipulating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processes or changing data to misrepresent the findings.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Altering experimental results to make them appear more favorable</a:t>
            </a: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51744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608E2EDF-A84E-6469-C02C-45F628C0FC88}"/>
              </a:ext>
            </a:extLst>
          </p:cNvPr>
          <p:cNvSpPr txBox="1"/>
          <p:nvPr/>
        </p:nvSpPr>
        <p:spPr>
          <a:xfrm>
            <a:off x="2514601" y="173198"/>
            <a:ext cx="65305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</a:t>
            </a:r>
            <a:r>
              <a:rPr lang="en-I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IN" sz="3000" b="1" i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Dept. of ISE, VVIET MYSORE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04157" y="1350803"/>
            <a:ext cx="10989129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Plagiarism</a:t>
            </a: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someone else's ideas, words, or research without proper credit.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Copying parts of a research paper from another author without citation</a:t>
            </a: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077913" lvl="0" indent="-5143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AutoNum type="romanLcParenBoth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Original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 comes to know and informs everyone concerned. 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77913" lvl="0" indent="-5143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AutoNum type="romanLcParenBoth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Sometimes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reviewer finds out about it during the review process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077913" lvl="0" indent="-5143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AutoNum type="romanLcParenBoth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readers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who come across the article or book, while doing research</a:t>
            </a:r>
            <a:endParaRPr lang="en-US" alt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Other Misconduct</a:t>
            </a: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Meaning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Violations of ethical standards in research not covered by fabrication, falsification, or plagiarism.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Failing to obtain proper ethical approval for research involving human subjects.</a:t>
            </a:r>
          </a:p>
          <a:p>
            <a:endParaRPr lang="en-IN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7645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608E2EDF-A84E-6469-C02C-45F628C0FC88}"/>
              </a:ext>
            </a:extLst>
          </p:cNvPr>
          <p:cNvSpPr txBox="1"/>
          <p:nvPr/>
        </p:nvSpPr>
        <p:spPr>
          <a:xfrm>
            <a:off x="2514601" y="173198"/>
            <a:ext cx="65305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</a:t>
            </a:r>
            <a:r>
              <a:rPr lang="en-I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IN" sz="3000" b="1" i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Dept. of ISE, VVIET MYSORE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30305" y="1235916"/>
            <a:ext cx="11111966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ETHICAL ISSUES RELATED TO AUTHORSHIP </a:t>
            </a:r>
            <a:endParaRPr lang="en-US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Credit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research contributions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attributed in three major ways in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publications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by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authorship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(of the intended publication),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citation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(of previously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published),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through 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written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acknowledgment  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(of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some inputs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the present research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person is expected to be listed as an author only when associated as a significant contributor in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design, data interpretation, or writing of the paper.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Including ―guest‖ or ―gift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‖ (co-authorship bestowed on someone with little or no contribution to the work) authors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dilutes the contribution of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those who actually did the work, inappropriately inflates credentials of the listed authors, and is ethically a red flag highlighting research misconduct.</a:t>
            </a:r>
          </a:p>
          <a:p>
            <a:pPr>
              <a:lnSpc>
                <a:spcPct val="150000"/>
              </a:lnSpc>
            </a:pP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30289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608E2EDF-A84E-6469-C02C-45F628C0FC88}"/>
              </a:ext>
            </a:extLst>
          </p:cNvPr>
          <p:cNvSpPr txBox="1"/>
          <p:nvPr/>
        </p:nvSpPr>
        <p:spPr>
          <a:xfrm>
            <a:off x="2514601" y="173198"/>
            <a:ext cx="65305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</a:t>
            </a:r>
            <a:r>
              <a:rPr lang="en-I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IN" sz="3000" b="1" i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Dept. of ISE, VVIET MYSORE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87829" y="1351394"/>
            <a:ext cx="11005457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Sometimes, the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author </a:t>
            </a:r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perform misconduct 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by giving recognition co-authorship a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junior faculty or 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student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boost their chances of employment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promotion, which can be termed 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 Career-boost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authorship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There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also an unfortunate malpractice of co-authorship that can be described as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Career-preservation authorship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All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listed authors have the full obligation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all contents of a research article, and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 naturally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they should also be made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aware of a journal submission by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corresponding author.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imperative that their consent is sought with respect to the content and that they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 agreeable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the submission.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37980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608E2EDF-A84E-6469-C02C-45F628C0FC88}"/>
              </a:ext>
            </a:extLst>
          </p:cNvPr>
          <p:cNvSpPr txBox="1"/>
          <p:nvPr/>
        </p:nvSpPr>
        <p:spPr>
          <a:xfrm>
            <a:off x="2514601" y="173198"/>
            <a:ext cx="65305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</a:t>
            </a:r>
            <a:r>
              <a:rPr lang="en-I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IN" sz="3000" b="1" i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Dept. of ISE, VVIET MYSORE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89857" y="1466868"/>
            <a:ext cx="10956472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Double submission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an important ethical issue related to authorship, which 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involves submission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a paper to two forums simultaneously.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motivation is to </a:t>
            </a:r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increase publication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possibility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possibly decrease time to publication. </a:t>
            </a:r>
            <a:endParaRPr lang="en-IN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Reputed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journals 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want to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publish original papers,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i.e., papers which have not appeared elsewhere, and </a:t>
            </a:r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strongly discourage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double submission.</a:t>
            </a:r>
          </a:p>
        </p:txBody>
      </p:sp>
    </p:spTree>
    <p:extLst>
      <p:ext uri="{BB962C8B-B14F-4D97-AF65-F5344CB8AC3E}">
        <p14:creationId xmlns:p14="http://schemas.microsoft.com/office/powerpoint/2010/main" val="40438462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ust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10001108_Win32 v2" id="{08D89365-2E4C-432D-9349-8DF9B80AEEA1}" vid="{010FF314-90DF-4A21-BD0D-ADCBA34234A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5563EE24-83AF-4B4D-B45B-11D1ECD4364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2FC9C26-AD58-4393-99DE-F67958CF6A2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A3EE4EA-81C0-48D0-BEBD-A2EFD6B38B42}">
  <ds:schemaRefs>
    <ds:schemaRef ds:uri="http://schemas.microsoft.com/office/2006/documentManagement/types"/>
    <ds:schemaRef ds:uri="http://schemas.microsoft.com/office/2006/metadata/properties"/>
    <ds:schemaRef ds:uri="http://schemas.openxmlformats.org/package/2006/metadata/core-properties"/>
    <ds:schemaRef ds:uri="16c05727-aa75-4e4a-9b5f-8a80a1165891"/>
    <ds:schemaRef ds:uri="http://schemas.microsoft.com/sharepoint/v3"/>
    <ds:schemaRef ds:uri="http://schemas.microsoft.com/office/infopath/2007/PartnerControls"/>
    <ds:schemaRef ds:uri="http://purl.org/dc/terms/"/>
    <ds:schemaRef ds:uri="230e9df3-be65-4c73-a93b-d1236ebd677e"/>
    <ds:schemaRef ds:uri="http://purl.org/dc/dcmitype/"/>
    <ds:schemaRef ds:uri="71af3243-3dd4-4a8d-8c0d-dd76da1f02a5"/>
    <ds:schemaRef ds:uri="http://www.w3.org/XML/1998/namespace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{F1A5AC0F-1BC2-4D44-8787-7D702E007E71}tf10001108_win32</Template>
  <TotalTime>15500</TotalTime>
  <Words>4115</Words>
  <Application>Microsoft Office PowerPoint</Application>
  <PresentationFormat>Widescreen</PresentationFormat>
  <Paragraphs>433</Paragraphs>
  <Slides>46</Slides>
  <Notes>46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4" baseType="lpstr">
      <vt:lpstr>Arial</vt:lpstr>
      <vt:lpstr>Calibri</vt:lpstr>
      <vt:lpstr>Cambria</vt:lpstr>
      <vt:lpstr>Segoe UI</vt:lpstr>
      <vt:lpstr>Segoe UI Light</vt:lpstr>
      <vt:lpstr>Times New Roman</vt:lpstr>
      <vt:lpstr>Wingdings</vt:lpstr>
      <vt:lpstr>Custom</vt:lpstr>
      <vt:lpstr>MODULE 1  Introduction Research Methodology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3 Django Admin</dc:title>
  <dc:creator>Isaac Abraham</dc:creator>
  <cp:keywords/>
  <cp:lastModifiedBy>acer</cp:lastModifiedBy>
  <cp:revision>424</cp:revision>
  <dcterms:created xsi:type="dcterms:W3CDTF">2024-04-13T11:45:02Z</dcterms:created>
  <dcterms:modified xsi:type="dcterms:W3CDTF">2025-09-17T10:23:42Z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